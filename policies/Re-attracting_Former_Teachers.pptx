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plus institutional evaluations and reputable press where noted. Each policy slide carries its source links; verification notes are in the speaker notes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target groups, as defined in the brief. A policy may target one group or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instrument categories used to classify every policy in the deck. Secondary instruments are named on each policy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tells the reader how far a policy reaches: a whole country, a state or region, or one district or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Instruments lit: Information &amp; nudges, Flexible re-certification, Flexible positions, Support &amp; training — Target: Switchers, Leavers, Retired.
Sources: NSW Government media release 'Retired teachers return to classrooms' (1,500+ contacted since November 2023, 260+ interested, 145 linked with schools in 600+ schools) and the department's 'Returning teachers' page (help with re-accreditation). The 60% share returning from retirement is taken from the OECD team's spreadsheet entry, attributed to the department; no follow-up figures after May 2024 were found. Status checked in September 2026: the department's 'Returning teachers' page and the teaching authority's re-accreditation route for returning teachers are still live, so the pathway is treated as ongoing; only the reporting stopped after May 2024.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Instruments lit: Support &amp; training, Financial incentives, Information &amp; nudges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Status checked in September 2026: the registration page is still live, but no announcement was found on funding after the June 2025 placement deadline, so the title says 'since 2022' rather than a closed range.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Instruments lit: Information &amp; nudges, Financial incentives — Target: Retired.
Austria — Information &amp; nudges — Target: Retired.
Who runs it: the Bildungsdirektionen, the education directorates that administer schools in each province; the Vienna directorate ran the letter campaign.
Channel: letters, sent in December 2022 to about 300 retired teachers, extended to all retired teachers up to age 67 (ORF Vienna).
Response: ORF Vienna reports that three accepted. From February 2023 the directorate instructed school principals to hold the conversation in person with staff approaching retirement age, about staying on rather than returning.
Take-up: Wiener Zeitung reports 42 teachers returning from retirement across Austria's compulsory schools in 2022/23, against a workforce of more than 70,000.
Barriers: 2025 article in the European Journal of Teacher Education on pension and service-crediting rules.
Both take-up figures come from press reporting of directorate statements, not from published statistics; ORF national coverage at https://oesterreich.orf.at/stories/3198263/ and the Vorarlberg post at https://vorarlberg.orf.at/stories/3198241/.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Instruments lit: Flexible positions, Flexible re-certification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Instruments lit: Financial incentives, Flexible positions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Instruments lit: Financial incentives, Information &amp; nudges, Flexible positions — Target: Retired.
The measure is carried in the Règles budgétaires de fonctionnement for the centres de services scolaires as mesure 15178, 'Incitatifs financiers portant sur le retour des retraités de l'enseignement'; the measure number comes from search-indexed budget-rules PDFs that could not be opened here and should be checked against the current year's Règles budgétaires. Primary source: Gouvernement du Québec page 'Retour à l'emploi des retraités du réseau de l'éducation' (announced 21 September 2020 by Minister Jean-François Roberge; pay at the scale held at departure from day one instead of from the 20th day; daily maximum about CAD 412 vs CAD 212.15 usual supply rate; no penalty on pension; 700 retirees returned in 2020-21). The original limit to teachers retired since 1 July 2015 was lifted by arrêté ministériel. The letters from Minister Bernard Drainville are reported by press: one in June 2023 to teachers retired five years or less, and one signed 25 August 2025; the 5,000+ figure for 2024-25 is Le Devoir, 29 August 2025, citing the ministry. Press also reports that some school service centres place retirees last on the supply list because they cost more (Le Devoir, 1 December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Instruments lit: Flexible positions, Financial incentives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Instruments lit: Financial incentives, Flexible positions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Instruments lit: Financial incentives, Information &amp; nudges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Instruments lit: Information &amp; nudges, Financial incentives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Instruments lit: Financial incentives, Flexible positions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Instruments lit: Financial incentives, Support &amp; training — Target: Switchers, Leavers.
Primary source: text of the 'Regeling tegemoetkoming herintreders primair onderwijs' on wetten.overheid.nl (BWBR0040130), plus the OCW newsletter of 3 July 2019 announcing a new application round, and the amending regulation in Staatscourant 2019 nr. 28510, which moved the expiry from 1 January 2020 to 1 January 2022 and extended the application period; applications closed 1 November 2020. The newsletter of July 2019 reports that more than a hundred returners had used the grant by then.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Instruments lit: Flexible re-certification, Financial incentives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Instruments lit: Financial incentives, Flexible positions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Instruments lit: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Instruments lit: Flexible positions, Information &amp; nudges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Instruments lit: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Instruments lit: Support &amp; training, Information &amp; nudges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Instruments lit: Information &amp; nudges, Support &amp; training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Instruments lit: Support &amp; training, Information &amp; nudges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Instruments lit: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Written in the past tense: the programme is documented through its 2017 evaluation and its current status in the district could not be confirmed.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Instruments lit: Flexible positions, Support &amp; training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Instruments lit: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Updated September 2026: HB 385 reached its sunset date of 30 June 2026, so the slide is written in the past tense; Senate Bill 150, passed in the 2026 session, now governs full-time re-employment of retired Georgia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Instruments lit: Financial incentives, Flexible positions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Instruments lit: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Instruments lit: Flexible positions, Support &amp; training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Instruments lit: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Instruments lit: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Instruments lit: Flexible re-certification, Financial incentives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Blank policy slide, same layout as the deck. Replace every grey placeholder.
Flag: delete the grey box and drop in a flag image of the same size (1.05 x 0.79 inches), then put a thin light border around it.
Instrument dots: in order, Financial incentives, Information &amp; nudges, Support &amp; training, Flexible positions, Flexible re-certification. Copy a lit dot from any slide over the ones this policy uses and leave the rest grey.
Target groups: the grey line under the dots. Any combination of Switchers, Leavers and Retired.
Scale: Large for a national policy, Medium for a state, region, province or canton, Small for a district, a city or a single institution. Colours: Large 1F4E46, Medium C8892B, Small B3542E.
Fonts: Cambria for the title, Calibri for everything else. Text colours: 24313A and B3542E.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Index of every policy in the deck. Each policy name links to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Index of every policy in the deck. Each policy name links to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nsw.gov.au/media-releases/retired-teachers-return-to-classrooms" TargetMode="External"/><Relationship Id="rId3" Type="http://schemas.openxmlformats.org/officeDocument/2006/relationships/hyperlink" Target="https://education.nsw.gov.au/teach-nsw/find-teaching-jobs/returning-teachers" TargetMode="External"/><Relationship Id="rId1"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vic.gov.au/teacher-re-engagement-initiative"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ien.orf.at/stories/3200562/" TargetMode="External"/><Relationship Id="rId3" Type="http://schemas.openxmlformats.org/officeDocument/2006/relationships/hyperlink" Target="https://www.wienerzeitung.at/nachrichten/politik/oesterreich/2175563-Nur-42-Pflichtschullehrer-kamen-aus-Pension-zurueck.html" TargetMode="External"/><Relationship Id="rId4" Type="http://schemas.openxmlformats.org/officeDocument/2006/relationships/hyperlink" Target="https://www.tandfonline.com/doi/full/10.1080/02619768.2025.2531930" TargetMode="External"/><Relationship Id="rId1"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image" Target="../media/image-7-5.png"/><Relationship Id="rId9" Type="http://schemas.openxmlformats.org/officeDocument/2006/relationships/image" Target="../media/image-7-6.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bahamas.gov.bs/news-press-release/the-ministry-of-education-aiming-to-attract-more-bahamian-teachers" TargetMode="External"/><Relationship Id="rId3"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help.oct.ca/hc/en-us/articles/360025778433-If-I-retire-can-I-teach-occasionally" TargetMode="External"/><Relationship Id="rId3"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 Id="rId6" Type="http://schemas.openxmlformats.org/officeDocument/2006/relationships/image" Target="../media/image-9-4.png"/><Relationship Id="rId7" Type="http://schemas.openxmlformats.org/officeDocument/2006/relationships/image" Target="../media/image-9-5.png"/><Relationship Id="rId8" Type="http://schemas.openxmlformats.org/officeDocument/2006/relationships/image" Target="../media/image-9-6.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quebec.ca/en/government/work-government/jobs-education/teaching-general-education-youth-sector-vocational-training-adult-education/return-work-retired-teacher" TargetMode="External"/><Relationship Id="rId3"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10-4.png"/><Relationship Id="rId7" Type="http://schemas.openxmlformats.org/officeDocument/2006/relationships/image" Target="../media/image-10-5.png"/><Relationship Id="rId8" Type="http://schemas.openxmlformats.org/officeDocument/2006/relationships/image" Target="../media/image-10-6.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www.moe.gov.cn/srcsite/A10/s7151/201807/t20180719_343448.html" TargetMode="External"/><Relationship Id="rId3" Type="http://schemas.openxmlformats.org/officeDocument/2006/relationships/hyperlink" Target="https://www.gov.cn/zhengce/zhengceku/202408/content_6967278.htm" TargetMode="External"/><Relationship Id="rId1"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image" Target="../media/image-11-4.png"/><Relationship Id="rId7" Type="http://schemas.openxmlformats.org/officeDocument/2006/relationships/image" Target="../media/image-11-5.png"/><Relationship Id="rId8" Type="http://schemas.openxmlformats.org/officeDocument/2006/relationships/image" Target="../media/image-11-6.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questions.assemblee-nationale.fr/q16/16-2072QE.htm" TargetMode="External"/><Relationship Id="rId3" Type="http://schemas.openxmlformats.org/officeDocument/2006/relationships/hyperlink" Target="https://questions.assemblee-nationale.fr/q16/16-7305QE.htm" TargetMode="External"/><Relationship Id="rId1" Type="http://schemas.openxmlformats.org/officeDocument/2006/relationships/image" Target="../media/image-12-1.png"/><Relationship Id="rId4" Type="http://schemas.openxmlformats.org/officeDocument/2006/relationships/image" Target="../media/image-12-2.png"/><Relationship Id="rId5" Type="http://schemas.openxmlformats.org/officeDocument/2006/relationships/image" Target="../media/image-12-3.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3"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3-1.png"/><Relationship Id="rId4" Type="http://schemas.openxmlformats.org/officeDocument/2006/relationships/image" Target="../media/image-13-2.png"/><Relationship Id="rId5" Type="http://schemas.openxmlformats.org/officeDocument/2006/relationships/image" Target="../media/image-13-3.png"/><Relationship Id="rId6" Type="http://schemas.openxmlformats.org/officeDocument/2006/relationships/image" Target="../media/image-13-4.png"/><Relationship Id="rId7" Type="http://schemas.openxmlformats.org/officeDocument/2006/relationships/image" Target="../media/image-13-5.png"/><Relationship Id="rId8" Type="http://schemas.openxmlformats.org/officeDocument/2006/relationships/image" Target="../media/image-13-6.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3"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4-1.png"/><Relationship Id="rId4" Type="http://schemas.openxmlformats.org/officeDocument/2006/relationships/image" Target="../media/image-14-2.png"/><Relationship Id="rId5" Type="http://schemas.openxmlformats.org/officeDocument/2006/relationships/image" Target="../media/image-14-3.png"/><Relationship Id="rId6" Type="http://schemas.openxmlformats.org/officeDocument/2006/relationships/image" Target="../media/image-14-4.png"/><Relationship Id="rId7" Type="http://schemas.openxmlformats.org/officeDocument/2006/relationships/image" Target="../media/image-14-5.png"/><Relationship Id="rId8" Type="http://schemas.openxmlformats.org/officeDocument/2006/relationships/image" Target="../media/image-14-6.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5-1.png"/><Relationship Id="rId3"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image" Target="../media/image-15-6.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etten.overheid.nl/1.3:c:BWBR0040130&amp;g=2020-07-01&amp;z=2025-10-18" TargetMode="External"/><Relationship Id="rId3" Type="http://schemas.openxmlformats.org/officeDocument/2006/relationships/hyperlink" Target="https://www.nieuwsbrievenminocw.nl/actueel/nieuws/2019/07/03/subsidie-voor-herintreders" TargetMode="External"/><Relationship Id="rId1" Type="http://schemas.openxmlformats.org/officeDocument/2006/relationships/image" Target="../media/image-16-1.png"/><Relationship Id="rId4" Type="http://schemas.openxmlformats.org/officeDocument/2006/relationships/image" Target="../media/image-16-2.png"/><Relationship Id="rId5" Type="http://schemas.openxmlformats.org/officeDocument/2006/relationships/image" Target="../media/image-16-3.png"/><Relationship Id="rId6" Type="http://schemas.openxmlformats.org/officeDocument/2006/relationships/image" Target="../media/image-16-4.png"/><Relationship Id="rId7" Type="http://schemas.openxmlformats.org/officeDocument/2006/relationships/image" Target="../media/image-16-5.png"/><Relationship Id="rId8" Type="http://schemas.openxmlformats.org/officeDocument/2006/relationships/image" Target="../media/image-16-6.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orkforce.education.govt.nz/current-teachers/returning-teaching/returning-teaching-after-break" TargetMode="External"/><Relationship Id="rId3" Type="http://schemas.openxmlformats.org/officeDocument/2006/relationships/hyperlink" Target="https://www.beehive.govt.nz/release/backing-teachers-teacher-registrations-funded" TargetMode="External"/><Relationship Id="rId1" Type="http://schemas.openxmlformats.org/officeDocument/2006/relationships/image" Target="../media/image-17-1.png"/><Relationship Id="rId4" Type="http://schemas.openxmlformats.org/officeDocument/2006/relationships/image" Target="../media/image-17-2.png"/><Relationship Id="rId5" Type="http://schemas.openxmlformats.org/officeDocument/2006/relationships/image" Target="../media/image-17-3.png"/><Relationship Id="rId6" Type="http://schemas.openxmlformats.org/officeDocument/2006/relationships/image" Target="../media/image-17-4.png"/><Relationship Id="rId7" Type="http://schemas.openxmlformats.org/officeDocument/2006/relationships/image" Target="../media/image-17-5.png"/><Relationship Id="rId8" Type="http://schemas.openxmlformats.org/officeDocument/2006/relationships/image" Target="../media/image-17-6.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diariodarepublica.pt/dr/detalhe/decreto-lei/51-2024-885927817" TargetMode="External"/><Relationship Id="rId3"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8-1.png"/><Relationship Id="rId4" Type="http://schemas.openxmlformats.org/officeDocument/2006/relationships/image" Target="../media/image-18-2.png"/><Relationship Id="rId5" Type="http://schemas.openxmlformats.org/officeDocument/2006/relationships/image" Target="../media/image-18-3.png"/><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moe.gov.sg/careers/adjunct-and-relief-schemes/flexi-adjunct-teaching-scheme" TargetMode="External"/><Relationship Id="rId3"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9-1.png"/><Relationship Id="rId4" Type="http://schemas.openxmlformats.org/officeDocument/2006/relationships/image" Target="../media/image-19-2.png"/><Relationship Id="rId5" Type="http://schemas.openxmlformats.org/officeDocument/2006/relationships/image" Target="../media/image-19-3.png"/><Relationship Id="rId6" Type="http://schemas.openxmlformats.org/officeDocument/2006/relationships/image" Target="../media/image-19-4.png"/><Relationship Id="rId7" Type="http://schemas.openxmlformats.org/officeDocument/2006/relationships/image" Target="../media/image-19-5.png"/><Relationship Id="rId8" Type="http://schemas.openxmlformats.org/officeDocument/2006/relationships/image" Target="../media/image-19-6.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alnet.unirioja.es/servlet/articulo?codigo=8153125" TargetMode="External"/><Relationship Id="rId3" Type="http://schemas.openxmlformats.org/officeDocument/2006/relationships/hyperlink" Target="https://zaguan.unizar.es/record/79095/files/BOOK-2019-021.pdf" TargetMode="External"/><Relationship Id="rId1" Type="http://schemas.openxmlformats.org/officeDocument/2006/relationships/image" Target="../media/image-20-1.png"/><Relationship Id="rId4" Type="http://schemas.openxmlformats.org/officeDocument/2006/relationships/image" Target="../media/image-20-2.png"/><Relationship Id="rId5" Type="http://schemas.openxmlformats.org/officeDocument/2006/relationships/image" Target="../media/image-20-3.png"/><Relationship Id="rId6" Type="http://schemas.openxmlformats.org/officeDocument/2006/relationships/image" Target="../media/image-20-4.png"/><Relationship Id="rId7" Type="http://schemas.openxmlformats.org/officeDocument/2006/relationships/image" Target="../media/image-20-5.png"/><Relationship Id="rId8" Type="http://schemas.openxmlformats.org/officeDocument/2006/relationships/image" Target="../media/image-20-6.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skolverket.se/skolutveckling/kurser-och-utbildningar/atervandande-larare-och-forskollarare---webbaserad-utbildning" TargetMode="External"/><Relationship Id="rId3"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21-1.png"/><Relationship Id="rId4" Type="http://schemas.openxmlformats.org/officeDocument/2006/relationships/image" Target="../media/image-21-2.png"/><Relationship Id="rId5" Type="http://schemas.openxmlformats.org/officeDocument/2006/relationships/image" Target="../media/image-21-3.png"/><Relationship Id="rId6" Type="http://schemas.openxmlformats.org/officeDocument/2006/relationships/image" Target="../media/image-21-4.png"/><Relationship Id="rId7" Type="http://schemas.openxmlformats.org/officeDocument/2006/relationships/image" Target="../media/image-21-5.png"/><Relationship Id="rId8" Type="http://schemas.openxmlformats.org/officeDocument/2006/relationships/image" Target="../media/image-21-6.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2-1.png"/><Relationship Id="rId3"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image" Target="../media/image-22-4.png"/><Relationship Id="rId6" Type="http://schemas.openxmlformats.org/officeDocument/2006/relationships/image" Target="../media/image-22-5.png"/><Relationship Id="rId7" Type="http://schemas.openxmlformats.org/officeDocument/2006/relationships/image" Target="../media/image-22-6.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getintoteaching.education.gov.uk/returning-to-teaching" TargetMode="External"/><Relationship Id="rId3" Type="http://schemas.openxmlformats.org/officeDocument/2006/relationships/hyperlink" Target="https://publications.parliament.uk/pa/cm5901/cmselect/cmeduc/627/report.html" TargetMode="External"/><Relationship Id="rId1" Type="http://schemas.openxmlformats.org/officeDocument/2006/relationships/image" Target="../media/image-23-1.png"/><Relationship Id="rId4" Type="http://schemas.openxmlformats.org/officeDocument/2006/relationships/image" Target="../media/image-23-2.png"/><Relationship Id="rId5" Type="http://schemas.openxmlformats.org/officeDocument/2006/relationships/image" Target="../media/image-23-3.png"/><Relationship Id="rId6" Type="http://schemas.openxmlformats.org/officeDocument/2006/relationships/image" Target="../media/image-23-4.png"/><Relationship Id="rId7" Type="http://schemas.openxmlformats.org/officeDocument/2006/relationships/image" Target="../media/image-23-5.png"/><Relationship Id="rId8" Type="http://schemas.openxmlformats.org/officeDocument/2006/relationships/image" Target="../media/image-23-6.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assets.publishing.service.gov.uk/media/5b33aeef40f0b67f6744de9d/Evaluation_of_the_Return_to_Teaching_pilot_programme.pdf" TargetMode="External"/><Relationship Id="rId3" Type="http://schemas.openxmlformats.org/officeDocument/2006/relationships/hyperlink" Target="https://www.gov.uk/government/publications/returners-engagement-programme" TargetMode="External"/><Relationship Id="rId1" Type="http://schemas.openxmlformats.org/officeDocument/2006/relationships/image" Target="../media/image-24-1.png"/><Relationship Id="rId4" Type="http://schemas.openxmlformats.org/officeDocument/2006/relationships/image" Target="../media/image-24-2.png"/><Relationship Id="rId5" Type="http://schemas.openxmlformats.org/officeDocument/2006/relationships/image" Target="../media/image-24-3.png"/><Relationship Id="rId6" Type="http://schemas.openxmlformats.org/officeDocument/2006/relationships/image" Target="../media/image-24-4.png"/><Relationship Id="rId7" Type="http://schemas.openxmlformats.org/officeDocument/2006/relationships/image" Target="../media/image-24-5.png"/><Relationship Id="rId8" Type="http://schemas.openxmlformats.org/officeDocument/2006/relationships/image" Target="../media/image-24-6.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5-1.png"/><Relationship Id="rId3" Type="http://schemas.openxmlformats.org/officeDocument/2006/relationships/image" Target="../media/image-25-2.png"/><Relationship Id="rId4" Type="http://schemas.openxmlformats.org/officeDocument/2006/relationships/image" Target="../media/image-25-3.png"/><Relationship Id="rId5" Type="http://schemas.openxmlformats.org/officeDocument/2006/relationships/image" Target="../media/image-25-4.png"/><Relationship Id="rId6" Type="http://schemas.openxmlformats.org/officeDocument/2006/relationships/image" Target="../media/image-25-5.png"/><Relationship Id="rId7" Type="http://schemas.openxmlformats.org/officeDocument/2006/relationships/image" Target="../media/image-25-6.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journals.sagepub.com/doi/abs/10.3102/0002831214565787" TargetMode="External"/><Relationship Id="rId3" Type="http://schemas.openxmlformats.org/officeDocument/2006/relationships/hyperlink" Target="https://ies.ed.gov/ncee/wwc/Study/86426" TargetMode="External"/><Relationship Id="rId1" Type="http://schemas.openxmlformats.org/officeDocument/2006/relationships/image" Target="../media/image-26-1.png"/><Relationship Id="rId4" Type="http://schemas.openxmlformats.org/officeDocument/2006/relationships/image" Target="../media/image-26-2.png"/><Relationship Id="rId5" Type="http://schemas.openxmlformats.org/officeDocument/2006/relationships/image" Target="../media/image-26-3.png"/><Relationship Id="rId6" Type="http://schemas.openxmlformats.org/officeDocument/2006/relationships/image" Target="../media/image-26-4.png"/><Relationship Id="rId7" Type="http://schemas.openxmlformats.org/officeDocument/2006/relationships/image" Target="../media/image-26-5.png"/><Relationship Id="rId8" Type="http://schemas.openxmlformats.org/officeDocument/2006/relationships/image" Target="../media/image-26-6.png"/><Relationship Id="rId9" Type="http://schemas.openxmlformats.org/officeDocument/2006/relationships/slideLayout" Target="../slideLayouts/slideLayout1.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trsga.com/retiree/working-after-retirement/hb-385-employment/" TargetMode="External"/><Relationship Id="rId3" Type="http://schemas.openxmlformats.org/officeDocument/2006/relationships/hyperlink" Target="https://www.audits.ga.gov/ReportSearch/download/32615" TargetMode="External"/><Relationship Id="rId1" Type="http://schemas.openxmlformats.org/officeDocument/2006/relationships/image" Target="../media/image-27-1.png"/><Relationship Id="rId4" Type="http://schemas.openxmlformats.org/officeDocument/2006/relationships/image" Target="../media/image-27-2.png"/><Relationship Id="rId5" Type="http://schemas.openxmlformats.org/officeDocument/2006/relationships/image" Target="../media/image-27-3.png"/><Relationship Id="rId6" Type="http://schemas.openxmlformats.org/officeDocument/2006/relationships/image" Target="../media/image-27-4.png"/><Relationship Id="rId7" Type="http://schemas.openxmlformats.org/officeDocument/2006/relationships/image" Target="../media/image-27-5.png"/><Relationship Id="rId8" Type="http://schemas.openxmlformats.org/officeDocument/2006/relationships/image" Target="../media/image-27-6.png"/><Relationship Id="rId9" Type="http://schemas.openxmlformats.org/officeDocument/2006/relationships/slideLayout" Target="../slideLayouts/slideLayout1.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trsl.org/retirees/returning-to-work-rtw" TargetMode="External"/><Relationship Id="rId3"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8-1.png"/><Relationship Id="rId4" Type="http://schemas.openxmlformats.org/officeDocument/2006/relationships/image" Target="../media/image-28-2.png"/><Relationship Id="rId5" Type="http://schemas.openxmlformats.org/officeDocument/2006/relationships/image" Target="../media/image-28-3.png"/><Relationship Id="rId6" Type="http://schemas.openxmlformats.org/officeDocument/2006/relationships/image" Target="../media/image-28-4.png"/><Relationship Id="rId7" Type="http://schemas.openxmlformats.org/officeDocument/2006/relationships/image" Target="../media/image-28-5.png"/><Relationship Id="rId8" Type="http://schemas.openxmlformats.org/officeDocument/2006/relationships/image" Target="../media/image-28-6.png"/><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michigan.gov/orsschools/pa-147-of-2023-faqs" TargetMode="External"/><Relationship Id="rId3" Type="http://schemas.openxmlformats.org/officeDocument/2006/relationships/hyperlink" Target="https://mea.org/changes-to-post-retirement-return-to-work-rules-signed-into-law/" TargetMode="External"/><Relationship Id="rId1" Type="http://schemas.openxmlformats.org/officeDocument/2006/relationships/image" Target="../media/image-29-1.png"/><Relationship Id="rId4" Type="http://schemas.openxmlformats.org/officeDocument/2006/relationships/image" Target="../media/image-29-2.png"/><Relationship Id="rId5" Type="http://schemas.openxmlformats.org/officeDocument/2006/relationships/image" Target="../media/image-29-3.png"/><Relationship Id="rId6" Type="http://schemas.openxmlformats.org/officeDocument/2006/relationships/image" Target="../media/image-29-4.png"/><Relationship Id="rId7" Type="http://schemas.openxmlformats.org/officeDocument/2006/relationships/image" Target="../media/image-29-5.png"/><Relationship Id="rId8" Type="http://schemas.openxmlformats.org/officeDocument/2006/relationships/image" Target="../media/image-29-6.png"/><Relationship Id="rId9" Type="http://schemas.openxmlformats.org/officeDocument/2006/relationships/slideLayout" Target="../slideLayouts/slideLayout1.xml"/><Relationship Id="rId1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aarp.org/experience-corps/our-impact/experience-corps-research-studies.html" TargetMode="External"/><Relationship Id="rId3" Type="http://schemas.openxmlformats.org/officeDocument/2006/relationships/hyperlink" Target="https://www.aarp.org/experience-corps/" TargetMode="External"/><Relationship Id="rId1" Type="http://schemas.openxmlformats.org/officeDocument/2006/relationships/image" Target="../media/image-30-1.png"/><Relationship Id="rId4" Type="http://schemas.openxmlformats.org/officeDocument/2006/relationships/image" Target="../media/image-30-2.png"/><Relationship Id="rId5" Type="http://schemas.openxmlformats.org/officeDocument/2006/relationships/image" Target="../media/image-30-3.png"/><Relationship Id="rId6" Type="http://schemas.openxmlformats.org/officeDocument/2006/relationships/image" Target="../media/image-30-4.png"/><Relationship Id="rId7" Type="http://schemas.openxmlformats.org/officeDocument/2006/relationships/image" Target="../media/image-30-5.png"/><Relationship Id="rId8" Type="http://schemas.openxmlformats.org/officeDocument/2006/relationships/image" Target="../media/image-30-6.png"/><Relationship Id="rId9" Type="http://schemas.openxmlformats.org/officeDocument/2006/relationships/slideLayout" Target="../slideLayouts/slideLayout1.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hed.nm.gov/news/retired-educators-now-eligible-to-return-to-work-without-losing-pension-benefits" TargetMode="External"/><Relationship Id="rId3"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31-1.png"/><Relationship Id="rId4" Type="http://schemas.openxmlformats.org/officeDocument/2006/relationships/image" Target="../media/image-31-2.png"/><Relationship Id="rId5" Type="http://schemas.openxmlformats.org/officeDocument/2006/relationships/image" Target="../media/image-31-3.png"/><Relationship Id="rId6" Type="http://schemas.openxmlformats.org/officeDocument/2006/relationships/image" Target="../media/image-31-4.png"/><Relationship Id="rId7" Type="http://schemas.openxmlformats.org/officeDocument/2006/relationships/image" Target="../media/image-31-5.png"/><Relationship Id="rId8" Type="http://schemas.openxmlformats.org/officeDocument/2006/relationships/image" Target="../media/image-31-6.png"/><Relationship Id="rId9" Type="http://schemas.openxmlformats.org/officeDocument/2006/relationships/slideLayout" Target="../slideLayouts/slideLayout1.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files.eric.ed.gov/fulltext/EJ1425366.pdf" TargetMode="External"/><Relationship Id="rId3" Type="http://schemas.openxmlformats.org/officeDocument/2006/relationships/hyperlink" Target="https://dialnet.unirioja.es/servlet/articulo?codigo=9286932" TargetMode="External"/><Relationship Id="rId1" Type="http://schemas.openxmlformats.org/officeDocument/2006/relationships/image" Target="../media/image-32-1.png"/><Relationship Id="rId4" Type="http://schemas.openxmlformats.org/officeDocument/2006/relationships/image" Target="../media/image-32-2.png"/><Relationship Id="rId5" Type="http://schemas.openxmlformats.org/officeDocument/2006/relationships/image" Target="../media/image-32-3.png"/><Relationship Id="rId6" Type="http://schemas.openxmlformats.org/officeDocument/2006/relationships/image" Target="../media/image-32-4.png"/><Relationship Id="rId7" Type="http://schemas.openxmlformats.org/officeDocument/2006/relationships/image" Target="../media/image-32-5.png"/><Relationship Id="rId8" Type="http://schemas.openxmlformats.org/officeDocument/2006/relationships/image" Target="../media/image-32-6.png"/><Relationship Id="rId9" Type="http://schemas.openxmlformats.org/officeDocument/2006/relationships/slideLayout" Target="../slideLayouts/slideLayout1.xml"/><Relationship Id="rId10"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doe.virginia.gov/teaching-learning-assessment/teaching-in-virginia/turning-the-tide" TargetMode="External"/><Relationship Id="rId3"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3-1.png"/><Relationship Id="rId4" Type="http://schemas.openxmlformats.org/officeDocument/2006/relationships/image" Target="../media/image-33-2.png"/><Relationship Id="rId5" Type="http://schemas.openxmlformats.org/officeDocument/2006/relationships/image" Target="../media/image-33-3.png"/><Relationship Id="rId6" Type="http://schemas.openxmlformats.org/officeDocument/2006/relationships/image" Target="../media/image-33-4.png"/><Relationship Id="rId7" Type="http://schemas.openxmlformats.org/officeDocument/2006/relationships/image" Target="../media/image-33-5.png"/><Relationship Id="rId8" Type="http://schemas.openxmlformats.org/officeDocument/2006/relationships/image" Target="../media/image-33-6.png"/><Relationship Id="rId9" Type="http://schemas.openxmlformats.org/officeDocument/2006/relationships/slideLayout" Target="../slideLayouts/slideLayout1.xml"/><Relationship Id="rId10"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 Target="slide5.xml"/><Relationship Id="rId2" Type="http://schemas.openxmlformats.org/officeDocument/2006/relationships/slide" Target="slide6.xml"/><Relationship Id="rId3" Type="http://schemas.openxmlformats.org/officeDocument/2006/relationships/slide" Target="slide7.xml"/><Relationship Id="rId4" Type="http://schemas.openxmlformats.org/officeDocument/2006/relationships/slide" Target="slide8.xml"/><Relationship Id="rId5" Type="http://schemas.openxmlformats.org/officeDocument/2006/relationships/slide" Target="slide9.xml"/><Relationship Id="rId6" Type="http://schemas.openxmlformats.org/officeDocument/2006/relationships/slide" Target="slide10.xml"/><Relationship Id="rId7" Type="http://schemas.openxmlformats.org/officeDocument/2006/relationships/slide" Target="slide11.xml"/><Relationship Id="rId8" Type="http://schemas.openxmlformats.org/officeDocument/2006/relationships/slide" Target="slide12.xml"/><Relationship Id="rId9" Type="http://schemas.openxmlformats.org/officeDocument/2006/relationships/slide" Target="slide13.xml"/><Relationship Id="rId10" Type="http://schemas.openxmlformats.org/officeDocument/2006/relationships/slide" Target="slide14.xml"/><Relationship Id="rId11" Type="http://schemas.openxmlformats.org/officeDocument/2006/relationships/slide" Target="slide15.xml"/><Relationship Id="rId12" Type="http://schemas.openxmlformats.org/officeDocument/2006/relationships/slide" Target="slide16.xml"/><Relationship Id="rId13" Type="http://schemas.openxmlformats.org/officeDocument/2006/relationships/slide" Target="slide17.xml"/><Relationship Id="rId14" Type="http://schemas.openxmlformats.org/officeDocument/2006/relationships/slide" Target="slide18.xml"/><Relationship Id="rId15" Type="http://schemas.openxmlformats.org/officeDocument/2006/relationships/slide" Target="slide19.xml"/><Relationship Id="rId16" Type="http://schemas.openxmlformats.org/officeDocument/2006/relationships/slideLayout" Target="../slideLayouts/slideLayout1.xml"/><Relationship Id="rId1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 Target="slide20.xml"/><Relationship Id="rId2" Type="http://schemas.openxmlformats.org/officeDocument/2006/relationships/slide" Target="slide21.xml"/><Relationship Id="rId3" Type="http://schemas.openxmlformats.org/officeDocument/2006/relationships/slide" Target="slide22.xml"/><Relationship Id="rId4" Type="http://schemas.openxmlformats.org/officeDocument/2006/relationships/slide" Target="slide23.xml"/><Relationship Id="rId5" Type="http://schemas.openxmlformats.org/officeDocument/2006/relationships/slide" Target="slide24.xml"/><Relationship Id="rId6" Type="http://schemas.openxmlformats.org/officeDocument/2006/relationships/slide" Target="slide25.xml"/><Relationship Id="rId7" Type="http://schemas.openxmlformats.org/officeDocument/2006/relationships/slide" Target="slide26.xml"/><Relationship Id="rId8" Type="http://schemas.openxmlformats.org/officeDocument/2006/relationships/slide" Target="slide27.xml"/><Relationship Id="rId9" Type="http://schemas.openxmlformats.org/officeDocument/2006/relationships/slide" Target="slide28.xml"/><Relationship Id="rId10" Type="http://schemas.openxmlformats.org/officeDocument/2006/relationships/slide" Target="slide29.xml"/><Relationship Id="rId11" Type="http://schemas.openxmlformats.org/officeDocument/2006/relationships/slide" Target="slide30.xml"/><Relationship Id="rId12" Type="http://schemas.openxmlformats.org/officeDocument/2006/relationships/slide" Target="slide31.xml"/><Relationship Id="rId13" Type="http://schemas.openxmlformats.org/officeDocument/2006/relationships/slide" Target="slide32.xml"/><Relationship Id="rId14" Type="http://schemas.openxmlformats.org/officeDocument/2006/relationships/slide" Target="slide33.xml"/><Relationship Id="rId15" Type="http://schemas.openxmlformats.org/officeDocument/2006/relationships/slideLayout" Target="../slideLayouts/slideLayout1.xml"/><Relationship Id="rId16"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Shape 0"/>
          <p:cNvSpPr/>
          <p:nvPr/>
        </p:nvSpPr>
        <p:spPr>
          <a:xfrm>
            <a:off x="0" y="0"/>
            <a:ext cx="12191695" cy="1444752"/>
          </a:xfrm>
          <a:prstGeom prst="rect">
            <a:avLst/>
          </a:prstGeom>
          <a:solidFill>
            <a:srgbClr val="FFFFFF"/>
          </a:solidFill>
          <a:ln w="12700">
            <a:solidFill>
              <a:srgbClr val="FFFFFF"/>
            </a:solidFill>
            <a:prstDash val="solid"/>
          </a:ln>
        </p:spPr>
      </p:sp>
      <p:pic>
        <p:nvPicPr>
          <p:cNvPr id="3" name="Image 0" descr="preencoded.png">    </p:cNvPr>
          <p:cNvPicPr>
            <a:picLocks noChangeAspect="1"/>
          </p:cNvPicPr>
          <p:nvPr/>
        </p:nvPicPr>
        <p:blipFill>
          <a:blip r:embed="rId1"/>
          <a:stretch>
            <a:fillRect/>
          </a:stretch>
        </p:blipFill>
        <p:spPr>
          <a:xfrm>
            <a:off x="640080" y="429768"/>
            <a:ext cx="1828800" cy="466344"/>
          </a:xfrm>
          <a:prstGeom prst="rect">
            <a:avLst/>
          </a:prstGeom>
        </p:spPr>
      </p:pic>
      <p:sp>
        <p:nvSpPr>
          <p:cNvPr id="4" name="Text 1"/>
          <p:cNvSpPr txBox="1"/>
          <p:nvPr/>
        </p:nvSpPr>
        <p:spPr>
          <a:xfrm>
            <a:off x="640080" y="896112"/>
            <a:ext cx="5486400" cy="292608"/>
          </a:xfrm>
          <a:prstGeom prst="rect">
            <a:avLst/>
          </a:prstGeom>
          <a:noFill/>
          <a:ln/>
        </p:spPr>
        <p:txBody>
          <a:bodyPr wrap="square" lIns="0" tIns="0" rIns="0" bIns="0" rtlCol="0" anchor="ctr"/>
          <a:lstStyle/>
          <a:p>
            <a:pPr indent="0" marL="0">
              <a:buNone/>
            </a:pPr>
            <a:r>
              <a:rPr lang="en-US" sz="1400" dirty="0">
                <a:solidFill>
                  <a:srgbClr val="24313A"/>
                </a:solidFill>
                <a:latin typeface="Garamond" pitchFamily="34" charset="0"/>
                <a:ea typeface="Garamond" pitchFamily="34" charset="-122"/>
                <a:cs typeface="Garamond" pitchFamily="34" charset="-120"/>
              </a:rPr>
              <a:t>Directorate for Education and Skills</a:t>
            </a:r>
            <a:endParaRPr lang="en-US" sz="1400" dirty="0"/>
          </a:p>
        </p:txBody>
      </p:sp>
      <p:sp>
        <p:nvSpPr>
          <p:cNvPr id="5" name="Text 2"/>
          <p:cNvSpPr txBox="1"/>
          <p:nvPr/>
        </p:nvSpPr>
        <p:spPr>
          <a:xfrm>
            <a:off x="731520" y="1828800"/>
            <a:ext cx="10698480" cy="10515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Re-attracting Former Teachers</a:t>
            </a:r>
            <a:endParaRPr lang="en-US" sz="4400" dirty="0"/>
          </a:p>
        </p:txBody>
      </p:sp>
      <p:sp>
        <p:nvSpPr>
          <p:cNvPr id="6" name="Text 3"/>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100" dirty="0">
                <a:solidFill>
                  <a:srgbClr val="CFE3D9"/>
                </a:solidFill>
                <a:latin typeface="Calibri" pitchFamily="34" charset="0"/>
                <a:ea typeface="Calibri" pitchFamily="34" charset="-122"/>
                <a:cs typeface="Calibri" pitchFamily="34" charset="-120"/>
              </a:rPr>
              <a:t>Various international policies and experiences</a:t>
            </a:r>
            <a:endParaRPr lang="en-US" sz="2100" dirty="0"/>
          </a:p>
        </p:txBody>
      </p:sp>
      <p:sp>
        <p:nvSpPr>
          <p:cNvPr id="7" name="Text 4"/>
          <p:cNvSpPr txBox="1"/>
          <p:nvPr/>
        </p:nvSpPr>
        <p:spPr>
          <a:xfrm>
            <a:off x="850392" y="4754880"/>
            <a:ext cx="9144000" cy="365760"/>
          </a:xfrm>
          <a:prstGeom prst="rect">
            <a:avLst/>
          </a:prstGeom>
          <a:noFill/>
          <a:ln/>
        </p:spPr>
        <p:txBody>
          <a:bodyPr wrap="square" lIns="0" tIns="0" rIns="0" bIns="0" rtlCol="0" anchor="ctr"/>
          <a:lstStyle/>
          <a:p>
            <a:pPr indent="0" marL="0">
              <a:buNone/>
            </a:pPr>
            <a:r>
              <a:rPr lang="en-US" sz="1600" b="1" dirty="0">
                <a:solidFill>
                  <a:srgbClr val="CFE3D9"/>
                </a:solidFill>
                <a:latin typeface="Cambria" pitchFamily="34" charset="0"/>
                <a:ea typeface="Cambria" pitchFamily="34" charset="-122"/>
                <a:cs typeface="Cambria" pitchFamily="34" charset="-120"/>
              </a:rPr>
              <a:t>José Manuel Torres &amp;  José Elías Durán Roa </a:t>
            </a:r>
            <a:endParaRPr lang="en-US" sz="1600" dirty="0"/>
          </a:p>
          <a:p>
            <a:pPr indent="0" marL="0">
              <a:buNone/>
            </a:pPr>
            <a:r>
              <a:rPr lang="en-US" sz="1600" dirty="0">
                <a:solidFill>
                  <a:srgbClr val="CFE3D9"/>
                </a:solidFill>
                <a:latin typeface="Cambria" pitchFamily="34" charset="0"/>
                <a:ea typeface="Cambria" pitchFamily="34" charset="-122"/>
                <a:cs typeface="Cambria" pitchFamily="34" charset="-120"/>
              </a:rPr>
              <a:t>September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Who we mean by former teachers</a:t>
            </a:r>
            <a:endParaRPr lang="en-US" sz="3000" dirty="0"/>
          </a:p>
        </p:txBody>
      </p:sp>
      <p:sp>
        <p:nvSpPr>
          <p:cNvPr id="3" name="Shape 1"/>
          <p:cNvSpPr/>
          <p:nvPr/>
        </p:nvSpPr>
        <p:spPr>
          <a:xfrm>
            <a:off x="822960" y="1874520"/>
            <a:ext cx="731520" cy="731520"/>
          </a:xfrm>
          <a:prstGeom prst="ellipse">
            <a:avLst/>
          </a:prstGeom>
          <a:solidFill>
            <a:srgbClr val="F79646"/>
          </a:solidFill>
          <a:ln w="12700">
            <a:solidFill>
              <a:srgbClr val="F79646"/>
            </a:solidFill>
            <a:prstDash val="solid"/>
          </a:ln>
        </p:spPr>
      </p:sp>
      <p:pic>
        <p:nvPicPr>
          <p:cNvPr id="4" name="Image 0"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5" name="Text 2"/>
          <p:cNvSpPr txBox="1"/>
          <p:nvPr/>
        </p:nvSpPr>
        <p:spPr>
          <a:xfrm>
            <a:off x="1828800" y="1837944"/>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(a) Switchers</a:t>
            </a:r>
            <a:endParaRPr lang="en-US" sz="1900" dirty="0"/>
          </a:p>
        </p:txBody>
      </p:sp>
      <p:sp>
        <p:nvSpPr>
          <p:cNvPr id="6" name="Text 3"/>
          <p:cNvSpPr txBox="1"/>
          <p:nvPr/>
        </p:nvSpPr>
        <p:spPr>
          <a:xfrm>
            <a:off x="1828800" y="2221992"/>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to work in another sector.</a:t>
            </a:r>
            <a:endParaRPr lang="en-US" sz="1400" dirty="0"/>
          </a:p>
        </p:txBody>
      </p:sp>
      <p:sp>
        <p:nvSpPr>
          <p:cNvPr id="7" name="Shape 4"/>
          <p:cNvSpPr/>
          <p:nvPr/>
        </p:nvSpPr>
        <p:spPr>
          <a:xfrm>
            <a:off x="822960" y="3081528"/>
            <a:ext cx="731520" cy="731520"/>
          </a:xfrm>
          <a:prstGeom prst="ellipse">
            <a:avLst/>
          </a:prstGeom>
          <a:solidFill>
            <a:srgbClr val="F79646"/>
          </a:solidFill>
          <a:ln w="12700">
            <a:solidFill>
              <a:srgbClr val="F79646"/>
            </a:solidFill>
            <a:prstDash val="solid"/>
          </a:ln>
        </p:spPr>
      </p:sp>
      <p:pic>
        <p:nvPicPr>
          <p:cNvPr id="8" name="Image 1" descr="preencoded.png">    </p:cNvPr>
          <p:cNvPicPr>
            <a:picLocks noChangeAspect="1"/>
          </p:cNvPicPr>
          <p:nvPr/>
        </p:nvPicPr>
        <p:blipFill>
          <a:blip r:embed="rId2"/>
          <a:stretch>
            <a:fillRect/>
          </a:stretch>
        </p:blipFill>
        <p:spPr>
          <a:xfrm>
            <a:off x="998525" y="3257093"/>
            <a:ext cx="380390" cy="380390"/>
          </a:xfrm>
          <a:prstGeom prst="rect">
            <a:avLst/>
          </a:prstGeom>
        </p:spPr>
      </p:pic>
      <p:sp>
        <p:nvSpPr>
          <p:cNvPr id="9" name="Text 5"/>
          <p:cNvSpPr txBox="1"/>
          <p:nvPr/>
        </p:nvSpPr>
        <p:spPr>
          <a:xfrm>
            <a:off x="1828800" y="3044952"/>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(b) Leavers</a:t>
            </a:r>
            <a:endParaRPr lang="en-US" sz="1900" dirty="0"/>
          </a:p>
        </p:txBody>
      </p:sp>
      <p:sp>
        <p:nvSpPr>
          <p:cNvPr id="10" name="Text 6"/>
          <p:cNvSpPr txBox="1"/>
          <p:nvPr/>
        </p:nvSpPr>
        <p:spPr>
          <a:xfrm>
            <a:off x="1828800" y="3429000"/>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400" dirty="0"/>
          </a:p>
        </p:txBody>
      </p:sp>
      <p:sp>
        <p:nvSpPr>
          <p:cNvPr id="11" name="Shape 7"/>
          <p:cNvSpPr/>
          <p:nvPr/>
        </p:nvSpPr>
        <p:spPr>
          <a:xfrm>
            <a:off x="822960" y="4288536"/>
            <a:ext cx="731520" cy="731520"/>
          </a:xfrm>
          <a:prstGeom prst="ellipse">
            <a:avLst/>
          </a:prstGeom>
          <a:solidFill>
            <a:srgbClr val="F79646"/>
          </a:solidFill>
          <a:ln w="12700">
            <a:solidFill>
              <a:srgbClr val="F79646"/>
            </a:solidFill>
            <a:prstDash val="solid"/>
          </a:ln>
        </p:spPr>
      </p:sp>
      <p:pic>
        <p:nvPicPr>
          <p:cNvPr id="12" name="Image 2" descr="preencoded.png">    </p:cNvPr>
          <p:cNvPicPr>
            <a:picLocks noChangeAspect="1"/>
          </p:cNvPicPr>
          <p:nvPr/>
        </p:nvPicPr>
        <p:blipFill>
          <a:blip r:embed="rId3"/>
          <a:stretch>
            <a:fillRect/>
          </a:stretch>
        </p:blipFill>
        <p:spPr>
          <a:xfrm>
            <a:off x="998525" y="4464101"/>
            <a:ext cx="380390" cy="380390"/>
          </a:xfrm>
          <a:prstGeom prst="rect">
            <a:avLst/>
          </a:prstGeom>
        </p:spPr>
      </p:pic>
      <p:sp>
        <p:nvSpPr>
          <p:cNvPr id="13" name="Text 8"/>
          <p:cNvSpPr txBox="1"/>
          <p:nvPr/>
        </p:nvSpPr>
        <p:spPr>
          <a:xfrm>
            <a:off x="1828800" y="4251960"/>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(c) Retired</a:t>
            </a:r>
            <a:endParaRPr lang="en-US" sz="1900" dirty="0"/>
          </a:p>
        </p:txBody>
      </p:sp>
      <p:sp>
        <p:nvSpPr>
          <p:cNvPr id="14" name="Text 9"/>
          <p:cNvSpPr txBox="1"/>
          <p:nvPr/>
        </p:nvSpPr>
        <p:spPr>
          <a:xfrm>
            <a:off x="1828800" y="4636008"/>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Retired from teaching.</a:t>
            </a:r>
            <a:endParaRPr lang="en-US" sz="1400" dirty="0"/>
          </a:p>
        </p:txBody>
      </p:sp>
      <p:sp>
        <p:nvSpPr>
          <p:cNvPr id="15" name="Text 10"/>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Five policy instruments</a:t>
            </a:r>
            <a:endParaRPr lang="en-US" sz="3000" dirty="0"/>
          </a:p>
        </p:txBody>
      </p:sp>
      <p:sp>
        <p:nvSpPr>
          <p:cNvPr id="3" name="Text 1"/>
          <p:cNvSpPr txBox="1"/>
          <p:nvPr/>
        </p:nvSpPr>
        <p:spPr>
          <a:xfrm>
            <a:off x="667512" y="1024128"/>
            <a:ext cx="10789920" cy="320040"/>
          </a:xfrm>
          <a:prstGeom prst="rect">
            <a:avLst/>
          </a:prstGeom>
          <a:noFill/>
          <a:ln/>
        </p:spPr>
        <p:txBody>
          <a:bodyPr wrap="square" lIns="0" tIns="0" rIns="0" bIns="0" rtlCol="0" anchor="ctr"/>
          <a:lstStyle/>
          <a:p>
            <a:pPr indent="0" marL="0">
              <a:buNone/>
            </a:pPr>
            <a:r>
              <a:rPr lang="en-US" sz="1400" dirty="0">
                <a:solidFill>
                  <a:srgbClr val="B3542E"/>
                </a:solidFill>
                <a:latin typeface="Calibri" pitchFamily="34" charset="0"/>
                <a:ea typeface="Calibri" pitchFamily="34" charset="-122"/>
                <a:cs typeface="Calibri" pitchFamily="34" charset="-120"/>
              </a:rPr>
              <a:t>Classified by the instrument used to re-attract teachers</a:t>
            </a:r>
            <a:endParaRPr lang="en-US" sz="1400" dirty="0"/>
          </a:p>
        </p:txBody>
      </p:sp>
      <p:sp>
        <p:nvSpPr>
          <p:cNvPr id="4" name="Shape 2"/>
          <p:cNvSpPr/>
          <p:nvPr/>
        </p:nvSpPr>
        <p:spPr>
          <a:xfrm>
            <a:off x="822960" y="1691640"/>
            <a:ext cx="621792" cy="621792"/>
          </a:xfrm>
          <a:prstGeom prst="ellipse">
            <a:avLst/>
          </a:prstGeom>
          <a:solidFill>
            <a:srgbClr val="F79646"/>
          </a:solidFill>
          <a:ln w="12700">
            <a:solidFill>
              <a:srgbClr val="F79646"/>
            </a:solidFill>
            <a:prstDash val="solid"/>
          </a:ln>
        </p:spPr>
      </p:sp>
      <p:pic>
        <p:nvPicPr>
          <p:cNvPr id="5" name="Image 0" descr="preencoded.png">    </p:cNvPr>
          <p:cNvPicPr>
            <a:picLocks noChangeAspect="1"/>
          </p:cNvPicPr>
          <p:nvPr/>
        </p:nvPicPr>
        <p:blipFill>
          <a:blip r:embed="rId1"/>
          <a:stretch>
            <a:fillRect/>
          </a:stretch>
        </p:blipFill>
        <p:spPr>
          <a:xfrm>
            <a:off x="972190" y="1840870"/>
            <a:ext cx="323332" cy="323332"/>
          </a:xfrm>
          <a:prstGeom prst="rect">
            <a:avLst/>
          </a:prstGeom>
        </p:spPr>
      </p:pic>
      <p:sp>
        <p:nvSpPr>
          <p:cNvPr id="6" name="Text 3"/>
          <p:cNvSpPr txBox="1"/>
          <p:nvPr/>
        </p:nvSpPr>
        <p:spPr>
          <a:xfrm>
            <a:off x="1691640" y="16459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Financial incentives</a:t>
            </a:r>
            <a:endParaRPr lang="en-US" sz="1650" dirty="0"/>
          </a:p>
        </p:txBody>
      </p:sp>
      <p:sp>
        <p:nvSpPr>
          <p:cNvPr id="7" name="Text 4"/>
          <p:cNvSpPr txBox="1"/>
          <p:nvPr/>
        </p:nvSpPr>
        <p:spPr>
          <a:xfrm>
            <a:off x="1691640" y="19659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a:t>
            </a:r>
            <a:endParaRPr lang="en-US" sz="1300" dirty="0"/>
          </a:p>
        </p:txBody>
      </p:sp>
      <p:sp>
        <p:nvSpPr>
          <p:cNvPr id="8" name="Shape 5"/>
          <p:cNvSpPr/>
          <p:nvPr/>
        </p:nvSpPr>
        <p:spPr>
          <a:xfrm>
            <a:off x="822960" y="2606040"/>
            <a:ext cx="621792" cy="621792"/>
          </a:xfrm>
          <a:prstGeom prst="ellipse">
            <a:avLst/>
          </a:prstGeom>
          <a:solidFill>
            <a:srgbClr val="F79646"/>
          </a:solidFill>
          <a:ln w="12700">
            <a:solidFill>
              <a:srgbClr val="F79646"/>
            </a:solidFill>
            <a:prstDash val="solid"/>
          </a:ln>
        </p:spPr>
      </p:sp>
      <p:pic>
        <p:nvPicPr>
          <p:cNvPr id="9" name="Image 1" descr="preencoded.png">    </p:cNvPr>
          <p:cNvPicPr>
            <a:picLocks noChangeAspect="1"/>
          </p:cNvPicPr>
          <p:nvPr/>
        </p:nvPicPr>
        <p:blipFill>
          <a:blip r:embed="rId2"/>
          <a:stretch>
            <a:fillRect/>
          </a:stretch>
        </p:blipFill>
        <p:spPr>
          <a:xfrm>
            <a:off x="972190" y="2755270"/>
            <a:ext cx="323332" cy="323332"/>
          </a:xfrm>
          <a:prstGeom prst="rect">
            <a:avLst/>
          </a:prstGeom>
        </p:spPr>
      </p:pic>
      <p:sp>
        <p:nvSpPr>
          <p:cNvPr id="10" name="Text 6"/>
          <p:cNvSpPr txBox="1"/>
          <p:nvPr/>
        </p:nvSpPr>
        <p:spPr>
          <a:xfrm>
            <a:off x="1691640" y="25603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Information &amp; nudges</a:t>
            </a:r>
            <a:endParaRPr lang="en-US" sz="1650" dirty="0"/>
          </a:p>
        </p:txBody>
      </p:sp>
      <p:sp>
        <p:nvSpPr>
          <p:cNvPr id="11" name="Text 7"/>
          <p:cNvSpPr txBox="1"/>
          <p:nvPr/>
        </p:nvSpPr>
        <p:spPr>
          <a:xfrm>
            <a:off x="1691640" y="28803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Informing, reminding or prompting the decision to return: information sessions, peer mentoring, calls or e-mails.</a:t>
            </a:r>
            <a:endParaRPr lang="en-US" sz="1300" dirty="0"/>
          </a:p>
        </p:txBody>
      </p:sp>
      <p:sp>
        <p:nvSpPr>
          <p:cNvPr id="12" name="Shape 8"/>
          <p:cNvSpPr/>
          <p:nvPr/>
        </p:nvSpPr>
        <p:spPr>
          <a:xfrm>
            <a:off x="822960" y="3520440"/>
            <a:ext cx="621792" cy="621792"/>
          </a:xfrm>
          <a:prstGeom prst="ellipse">
            <a:avLst/>
          </a:prstGeom>
          <a:solidFill>
            <a:srgbClr val="F79646"/>
          </a:solidFill>
          <a:ln w="12700">
            <a:solidFill>
              <a:srgbClr val="F79646"/>
            </a:solidFill>
            <a:prstDash val="solid"/>
          </a:ln>
        </p:spPr>
      </p:sp>
      <p:pic>
        <p:nvPicPr>
          <p:cNvPr id="13" name="Image 2" descr="preencoded.png">    </p:cNvPr>
          <p:cNvPicPr>
            <a:picLocks noChangeAspect="1"/>
          </p:cNvPicPr>
          <p:nvPr/>
        </p:nvPicPr>
        <p:blipFill>
          <a:blip r:embed="rId3"/>
          <a:stretch>
            <a:fillRect/>
          </a:stretch>
        </p:blipFill>
        <p:spPr>
          <a:xfrm>
            <a:off x="972190" y="3669670"/>
            <a:ext cx="323332" cy="323332"/>
          </a:xfrm>
          <a:prstGeom prst="rect">
            <a:avLst/>
          </a:prstGeom>
        </p:spPr>
      </p:pic>
      <p:sp>
        <p:nvSpPr>
          <p:cNvPr id="14" name="Text 9"/>
          <p:cNvSpPr txBox="1"/>
          <p:nvPr/>
        </p:nvSpPr>
        <p:spPr>
          <a:xfrm>
            <a:off x="1691640" y="34747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Support &amp; training</a:t>
            </a:r>
            <a:endParaRPr lang="en-US" sz="1650" dirty="0"/>
          </a:p>
        </p:txBody>
      </p:sp>
      <p:sp>
        <p:nvSpPr>
          <p:cNvPr id="15" name="Text 10"/>
          <p:cNvSpPr txBox="1"/>
          <p:nvPr/>
        </p:nvSpPr>
        <p:spPr>
          <a:xfrm>
            <a:off x="1691640" y="37947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300" dirty="0"/>
          </a:p>
        </p:txBody>
      </p:sp>
      <p:sp>
        <p:nvSpPr>
          <p:cNvPr id="16" name="Shape 11"/>
          <p:cNvSpPr/>
          <p:nvPr/>
        </p:nvSpPr>
        <p:spPr>
          <a:xfrm>
            <a:off x="822960" y="4434840"/>
            <a:ext cx="621792" cy="621792"/>
          </a:xfrm>
          <a:prstGeom prst="ellipse">
            <a:avLst/>
          </a:prstGeom>
          <a:solidFill>
            <a:srgbClr val="F79646"/>
          </a:solidFill>
          <a:ln w="12700">
            <a:solidFill>
              <a:srgbClr val="F79646"/>
            </a:solidFill>
            <a:prstDash val="solid"/>
          </a:ln>
        </p:spPr>
      </p:sp>
      <p:pic>
        <p:nvPicPr>
          <p:cNvPr id="17" name="Image 3" descr="preencoded.png">    </p:cNvPr>
          <p:cNvPicPr>
            <a:picLocks noChangeAspect="1"/>
          </p:cNvPicPr>
          <p:nvPr/>
        </p:nvPicPr>
        <p:blipFill>
          <a:blip r:embed="rId4"/>
          <a:stretch>
            <a:fillRect/>
          </a:stretch>
        </p:blipFill>
        <p:spPr>
          <a:xfrm>
            <a:off x="972190" y="4584070"/>
            <a:ext cx="323332" cy="323332"/>
          </a:xfrm>
          <a:prstGeom prst="rect">
            <a:avLst/>
          </a:prstGeom>
        </p:spPr>
      </p:pic>
      <p:sp>
        <p:nvSpPr>
          <p:cNvPr id="18" name="Text 12"/>
          <p:cNvSpPr txBox="1"/>
          <p:nvPr/>
        </p:nvSpPr>
        <p:spPr>
          <a:xfrm>
            <a:off x="1691640" y="43891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positions</a:t>
            </a:r>
            <a:endParaRPr lang="en-US" sz="1650" dirty="0"/>
          </a:p>
        </p:txBody>
      </p:sp>
      <p:sp>
        <p:nvSpPr>
          <p:cNvPr id="19" name="Text 13"/>
          <p:cNvSpPr txBox="1"/>
          <p:nvPr/>
        </p:nvSpPr>
        <p:spPr>
          <a:xfrm>
            <a:off x="1691640" y="47091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or part time work.</a:t>
            </a:r>
            <a:endParaRPr lang="en-US" sz="1300" dirty="0"/>
          </a:p>
        </p:txBody>
      </p:sp>
      <p:sp>
        <p:nvSpPr>
          <p:cNvPr id="20" name="Shape 14"/>
          <p:cNvSpPr/>
          <p:nvPr/>
        </p:nvSpPr>
        <p:spPr>
          <a:xfrm>
            <a:off x="822960" y="5349240"/>
            <a:ext cx="621792" cy="621792"/>
          </a:xfrm>
          <a:prstGeom prst="ellipse">
            <a:avLst/>
          </a:prstGeom>
          <a:solidFill>
            <a:srgbClr val="F79646"/>
          </a:solidFill>
          <a:ln w="12700">
            <a:solidFill>
              <a:srgbClr val="F79646"/>
            </a:solidFill>
            <a:prstDash val="solid"/>
          </a:ln>
        </p:spPr>
      </p:sp>
      <p:pic>
        <p:nvPicPr>
          <p:cNvPr id="21" name="Image 4" descr="preencoded.png">    </p:cNvPr>
          <p:cNvPicPr>
            <a:picLocks noChangeAspect="1"/>
          </p:cNvPicPr>
          <p:nvPr/>
        </p:nvPicPr>
        <p:blipFill>
          <a:blip r:embed="rId5"/>
          <a:stretch>
            <a:fillRect/>
          </a:stretch>
        </p:blipFill>
        <p:spPr>
          <a:xfrm>
            <a:off x="972190" y="5498470"/>
            <a:ext cx="323332" cy="323332"/>
          </a:xfrm>
          <a:prstGeom prst="rect">
            <a:avLst/>
          </a:prstGeom>
        </p:spPr>
      </p:pic>
      <p:sp>
        <p:nvSpPr>
          <p:cNvPr id="22" name="Text 15"/>
          <p:cNvSpPr txBox="1"/>
          <p:nvPr/>
        </p:nvSpPr>
        <p:spPr>
          <a:xfrm>
            <a:off x="1691640" y="53035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re-certification</a:t>
            </a:r>
            <a:endParaRPr lang="en-US" sz="1650" dirty="0"/>
          </a:p>
        </p:txBody>
      </p:sp>
      <p:sp>
        <p:nvSpPr>
          <p:cNvPr id="23" name="Text 16"/>
          <p:cNvSpPr txBox="1"/>
          <p:nvPr/>
        </p:nvSpPr>
        <p:spPr>
          <a:xfrm>
            <a:off x="1691640" y="56235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Lowering administrative or training : fewer compulsory course days, simplified procedures, limited teaching hours while re-certifying.</a:t>
            </a:r>
            <a:endParaRPr lang="en-US" sz="1300" dirty="0"/>
          </a:p>
        </p:txBody>
      </p:sp>
      <p:sp>
        <p:nvSpPr>
          <p:cNvPr id="24" name="Text 17"/>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Scale</a:t>
            </a:r>
            <a:endParaRPr lang="en-US" sz="3000" dirty="0"/>
          </a:p>
        </p:txBody>
      </p:sp>
      <p:sp>
        <p:nvSpPr>
          <p:cNvPr id="3" name="Shape 1"/>
          <p:cNvSpPr/>
          <p:nvPr/>
        </p:nvSpPr>
        <p:spPr>
          <a:xfrm>
            <a:off x="868680" y="2231136"/>
            <a:ext cx="256032" cy="256032"/>
          </a:xfrm>
          <a:prstGeom prst="ellipse">
            <a:avLst/>
          </a:prstGeom>
          <a:solidFill>
            <a:srgbClr val="1F4E46"/>
          </a:solidFill>
          <a:ln w="12700">
            <a:solidFill>
              <a:srgbClr val="1F4E46"/>
            </a:solidFill>
            <a:prstDash val="solid"/>
          </a:ln>
        </p:spPr>
      </p:sp>
      <p:sp>
        <p:nvSpPr>
          <p:cNvPr id="4" name="Text 2"/>
          <p:cNvSpPr txBox="1"/>
          <p:nvPr/>
        </p:nvSpPr>
        <p:spPr>
          <a:xfrm>
            <a:off x="1325880" y="2148840"/>
            <a:ext cx="2011680" cy="420624"/>
          </a:xfrm>
          <a:prstGeom prst="rect">
            <a:avLst/>
          </a:prstGeom>
          <a:noFill/>
          <a:ln/>
        </p:spPr>
        <p:txBody>
          <a:bodyPr wrap="square" lIns="0" tIns="0" rIns="0" bIns="0" rtlCol="0" anchor="ctr"/>
          <a:lstStyle/>
          <a:p>
            <a:pPr indent="0" marL="0">
              <a:buNone/>
            </a:pPr>
            <a:r>
              <a:rPr lang="en-US" sz="2000" b="1" dirty="0">
                <a:solidFill>
                  <a:srgbClr val="1F4E46"/>
                </a:solidFill>
                <a:latin typeface="Calibri" pitchFamily="34" charset="0"/>
                <a:ea typeface="Calibri" pitchFamily="34" charset="-122"/>
                <a:cs typeface="Calibri" pitchFamily="34" charset="-120"/>
              </a:rPr>
              <a:t>Large</a:t>
            </a:r>
            <a:endParaRPr lang="en-US" sz="2000" dirty="0"/>
          </a:p>
        </p:txBody>
      </p:sp>
      <p:sp>
        <p:nvSpPr>
          <p:cNvPr id="5" name="Text 3"/>
          <p:cNvSpPr txBox="1"/>
          <p:nvPr/>
        </p:nvSpPr>
        <p:spPr>
          <a:xfrm>
            <a:off x="3291840" y="214884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National policy</a:t>
            </a:r>
            <a:endParaRPr lang="en-US" sz="1500" dirty="0"/>
          </a:p>
        </p:txBody>
      </p:sp>
      <p:sp>
        <p:nvSpPr>
          <p:cNvPr id="6" name="Shape 4"/>
          <p:cNvSpPr/>
          <p:nvPr/>
        </p:nvSpPr>
        <p:spPr>
          <a:xfrm>
            <a:off x="868680" y="3099816"/>
            <a:ext cx="256032" cy="256032"/>
          </a:xfrm>
          <a:prstGeom prst="ellipse">
            <a:avLst/>
          </a:prstGeom>
          <a:solidFill>
            <a:srgbClr val="C8892B"/>
          </a:solidFill>
          <a:ln w="12700">
            <a:solidFill>
              <a:srgbClr val="C8892B"/>
            </a:solidFill>
            <a:prstDash val="solid"/>
          </a:ln>
        </p:spPr>
      </p:sp>
      <p:sp>
        <p:nvSpPr>
          <p:cNvPr id="7" name="Text 5"/>
          <p:cNvSpPr txBox="1"/>
          <p:nvPr/>
        </p:nvSpPr>
        <p:spPr>
          <a:xfrm>
            <a:off x="1325880" y="3017520"/>
            <a:ext cx="2011680" cy="420624"/>
          </a:xfrm>
          <a:prstGeom prst="rect">
            <a:avLst/>
          </a:prstGeom>
          <a:noFill/>
          <a:ln/>
        </p:spPr>
        <p:txBody>
          <a:bodyPr wrap="square" lIns="0" tIns="0" rIns="0" bIns="0" rtlCol="0" anchor="ctr"/>
          <a:lstStyle/>
          <a:p>
            <a:pPr indent="0" marL="0">
              <a:buNone/>
            </a:pPr>
            <a:r>
              <a:rPr lang="en-US" sz="2000" b="1" dirty="0">
                <a:solidFill>
                  <a:srgbClr val="C8892B"/>
                </a:solidFill>
                <a:latin typeface="Calibri" pitchFamily="34" charset="0"/>
                <a:ea typeface="Calibri" pitchFamily="34" charset="-122"/>
                <a:cs typeface="Calibri" pitchFamily="34" charset="-120"/>
              </a:rPr>
              <a:t>Medium</a:t>
            </a:r>
            <a:endParaRPr lang="en-US" sz="2000" dirty="0"/>
          </a:p>
        </p:txBody>
      </p:sp>
      <p:sp>
        <p:nvSpPr>
          <p:cNvPr id="8" name="Text 6"/>
          <p:cNvSpPr txBox="1"/>
          <p:nvPr/>
        </p:nvSpPr>
        <p:spPr>
          <a:xfrm>
            <a:off x="3291840" y="301752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State, region, province or canton</a:t>
            </a:r>
            <a:endParaRPr lang="en-US" sz="1500" dirty="0"/>
          </a:p>
        </p:txBody>
      </p:sp>
      <p:sp>
        <p:nvSpPr>
          <p:cNvPr id="9" name="Shape 7"/>
          <p:cNvSpPr/>
          <p:nvPr/>
        </p:nvSpPr>
        <p:spPr>
          <a:xfrm>
            <a:off x="868680" y="3968496"/>
            <a:ext cx="256032" cy="256032"/>
          </a:xfrm>
          <a:prstGeom prst="ellipse">
            <a:avLst/>
          </a:prstGeom>
          <a:solidFill>
            <a:srgbClr val="B3542E"/>
          </a:solidFill>
          <a:ln w="12700">
            <a:solidFill>
              <a:srgbClr val="B3542E"/>
            </a:solidFill>
            <a:prstDash val="solid"/>
          </a:ln>
        </p:spPr>
      </p:sp>
      <p:sp>
        <p:nvSpPr>
          <p:cNvPr id="10" name="Text 8"/>
          <p:cNvSpPr txBox="1"/>
          <p:nvPr/>
        </p:nvSpPr>
        <p:spPr>
          <a:xfrm>
            <a:off x="1325880" y="3886200"/>
            <a:ext cx="2011680" cy="420624"/>
          </a:xfrm>
          <a:prstGeom prst="rect">
            <a:avLst/>
          </a:prstGeom>
          <a:noFill/>
          <a:ln/>
        </p:spPr>
        <p:txBody>
          <a:bodyPr wrap="square" lIns="0" tIns="0" rIns="0" bIns="0" rtlCol="0" anchor="ctr"/>
          <a:lstStyle/>
          <a:p>
            <a:pPr indent="0" marL="0">
              <a:buNone/>
            </a:pPr>
            <a:r>
              <a:rPr lang="en-US" sz="2000" b="1" dirty="0">
                <a:solidFill>
                  <a:srgbClr val="B3542E"/>
                </a:solidFill>
                <a:latin typeface="Calibri" pitchFamily="34" charset="0"/>
                <a:ea typeface="Calibri" pitchFamily="34" charset="-122"/>
                <a:cs typeface="Calibri" pitchFamily="34" charset="-120"/>
              </a:rPr>
              <a:t>Small</a:t>
            </a:r>
            <a:endParaRPr lang="en-US" sz="2000" dirty="0"/>
          </a:p>
        </p:txBody>
      </p:sp>
      <p:sp>
        <p:nvSpPr>
          <p:cNvPr id="11" name="Text 9"/>
          <p:cNvSpPr txBox="1"/>
          <p:nvPr/>
        </p:nvSpPr>
        <p:spPr>
          <a:xfrm>
            <a:off x="3291840" y="388620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District, city or a single institution</a:t>
            </a:r>
            <a:endParaRPr lang="en-US" sz="1500" dirty="0"/>
          </a:p>
        </p:txBody>
      </p:sp>
      <p:sp>
        <p:nvSpPr>
          <p:cNvPr id="12" name="Text 10"/>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department calls back recent leavers (since 2023)</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of Education contacted teachers who had resigned in the previous five years and asked them to consider coming back. Those interested were offered assistance to renew their accreditation and a placement in casual or temporary work, with the possibility of moving to a permanent post later. The initiative was launched shortly after teachers in that district received one of the largest pay rises in decades and a significant cut in administrative work. More than 1,500 former teachers were contacted; by May 2024, 260 had expressed interest and 145 were placed across more than 600 schools, about sixty percent of them coming out of retirement. As the best of our knowledge the pathway is still open.</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0" name="Shape 7"/>
          <p:cNvSpPr/>
          <p:nvPr/>
        </p:nvSpPr>
        <p:spPr>
          <a:xfrm>
            <a:off x="8695944" y="5815584"/>
            <a:ext cx="475488" cy="47548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1F4E46"/>
          </a:solidFill>
          <a:ln w="12700">
            <a:solidFill>
              <a:srgbClr val="1F4E46"/>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since 2022</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Qualified teachers who stopped teaching at least a year ago are offered up to forty paid days in a public school to get used to the classroom again before they apply for a real post. After a teacher registers, a team from the Department of Education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It began in late 2022, drew more than 1,100 expressions of interest in its first months and was given 12 million Australian dollars (about 7.2 million euros) in the 2023/24 state budget, which funded placements up to June 2025.</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0" name="Shape 7"/>
          <p:cNvSpPr/>
          <p:nvPr/>
        </p:nvSpPr>
        <p:spPr>
          <a:xfrm>
            <a:off x="8695944" y="5815584"/>
            <a:ext cx="475488" cy="47548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3"/>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4"/>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5"/>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6"/>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7"/>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regional education directorates, which run the schools in each province, wrote to teachers who had already retired and asked them to come back. In Vienna about 300 letters went out and, according to the public broadcaster (ORF), only three teachers accepted. The directorate then passed the job to school principals, who put the question in person to staff approaching retirement age, usually offering reduced hours to stay on. Returners keep the full pension and sign a separate contract paid on the beginner's salary scale. Take-up has stayed very low across the country, and an academic study points to pension and seniority rules as the main barrier.</a:t>
            </a:r>
            <a:endParaRPr lang="en-US" sz="1500" dirty="0"/>
          </a:p>
        </p:txBody>
      </p:sp>
      <p:sp>
        <p:nvSpPr>
          <p:cNvPr id="8" name="Text 5"/>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ien.orf.at/stories/3200562/" history="1" highlightClick="0" endSnd="0">
                  <a:extLst>
                    <a:ext uri="{A12FA001-AC4F-418D-AE19-62706E023703}">
                      <ahyp:hlinkClr xmlns:ahyp="http://schemas.microsoft.com/office/drawing/2018/hyperlinkcolor" val="tx"/>
                    </a:ext>
                  </a:extLst>
                </a:hlinkClick>
              </a:rPr>
              <a:t>https://wien.orf.at/stories/3200562/</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wienerzeitung.at/nachrichten/politik/oesterreich/2175563-Nur-42-Pflichtschullehrer-kamen-aus-Pension-zurueck.html" history="1" highlightClick="0" endSnd="0">
                  <a:extLst>
                    <a:ext uri="{A12FA001-AC4F-418D-AE19-62706E023703}">
                      <ahyp:hlinkClr xmlns:ahyp="http://schemas.microsoft.com/office/drawing/2018/hyperlinkcolor" val="tx"/>
                    </a:ext>
                  </a:extLst>
                </a:hlinkClick>
              </a:rPr>
              <a:t>https://www.wienerzeitung.at/nachrichten/politik/oesterreich/2175563-Nur-42-Pflichtschullehrer-kamen-aus-Pension-zurueck.html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9" name="Shape 6"/>
          <p:cNvSpPr/>
          <p:nvPr/>
        </p:nvSpPr>
        <p:spPr>
          <a:xfrm>
            <a:off x="8695944" y="5815584"/>
            <a:ext cx="475488" cy="47548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5"/>
          <a:stretch>
            <a:fillRect/>
          </a:stretch>
        </p:blipFill>
        <p:spPr>
          <a:xfrm>
            <a:off x="8810061" y="5929701"/>
            <a:ext cx="247254" cy="247254"/>
          </a:xfrm>
          <a:prstGeom prst="rect">
            <a:avLst/>
          </a:prstGeom>
        </p:spPr>
      </p:pic>
      <p:sp>
        <p:nvSpPr>
          <p:cNvPr id="11" name="Shape 7"/>
          <p:cNvSpPr/>
          <p:nvPr/>
        </p:nvSpPr>
        <p:spPr>
          <a:xfrm>
            <a:off x="9336024" y="5815584"/>
            <a:ext cx="475488" cy="475488"/>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6"/>
          <a:stretch>
            <a:fillRect/>
          </a:stretch>
        </p:blipFill>
        <p:spPr>
          <a:xfrm>
            <a:off x="9450141" y="5929701"/>
            <a:ext cx="247254" cy="247254"/>
          </a:xfrm>
          <a:prstGeom prst="rect">
            <a:avLst/>
          </a:prstGeom>
        </p:spPr>
      </p:pic>
      <p:sp>
        <p:nvSpPr>
          <p:cNvPr id="13" name="Shape 8"/>
          <p:cNvSpPr/>
          <p:nvPr/>
        </p:nvSpPr>
        <p:spPr>
          <a:xfrm>
            <a:off x="9976104" y="5815584"/>
            <a:ext cx="475488" cy="47548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7"/>
          <a:stretch>
            <a:fillRect/>
          </a:stretch>
        </p:blipFill>
        <p:spPr>
          <a:xfrm>
            <a:off x="10090221" y="5929701"/>
            <a:ext cx="247254" cy="247254"/>
          </a:xfrm>
          <a:prstGeom prst="rect">
            <a:avLst/>
          </a:prstGeom>
        </p:spPr>
      </p:pic>
      <p:sp>
        <p:nvSpPr>
          <p:cNvPr id="15" name="Shape 9"/>
          <p:cNvSpPr/>
          <p:nvPr/>
        </p:nvSpPr>
        <p:spPr>
          <a:xfrm>
            <a:off x="10616184" y="5815584"/>
            <a:ext cx="475488" cy="47548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8"/>
          <a:stretch>
            <a:fillRect/>
          </a:stretch>
        </p:blipFill>
        <p:spPr>
          <a:xfrm>
            <a:off x="10730301" y="5929701"/>
            <a:ext cx="247254" cy="247254"/>
          </a:xfrm>
          <a:prstGeom prst="rect">
            <a:avLst/>
          </a:prstGeom>
        </p:spPr>
      </p:pic>
      <p:sp>
        <p:nvSpPr>
          <p:cNvPr id="17" name="Shape 10"/>
          <p:cNvSpPr/>
          <p:nvPr/>
        </p:nvSpPr>
        <p:spPr>
          <a:xfrm>
            <a:off x="11256264" y="5815584"/>
            <a:ext cx="475488" cy="47548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9"/>
          <a:stretch>
            <a:fillRect/>
          </a:stretch>
        </p:blipFill>
        <p:spPr>
          <a:xfrm>
            <a:off x="11370381" y="5929701"/>
            <a:ext cx="247254" cy="247254"/>
          </a:xfrm>
          <a:prstGeom prst="rect">
            <a:avLst/>
          </a:prstGeom>
        </p:spPr>
      </p:pic>
      <p:sp>
        <p:nvSpPr>
          <p:cNvPr id="19" name="Text 11"/>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reserve of former teachers (announced July 2026)</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is turning its supply-teacher platform into a permanent register where retired teachers, former teachers now working in other careers and recent graduates sign up in advance, so that a school can call one of them in when a post falls vacant or a teacher is absent. A task force drawn from several agencies checks records and accreditation quickly, so a reservist can start without the usual delay. The point of the design is that the pool exists before the gap appears, rather than being assembled each time. It was announced in July 2026, when the country was short of about 300 teachers across 162 schools spread over 24 islands, and no regulations, enrolment figures or results have been published yet.</a:t>
            </a:r>
            <a:endParaRPr lang="en-US" sz="1500" dirty="0"/>
          </a:p>
        </p:txBody>
      </p:sp>
      <p:sp>
        <p:nvSpPr>
          <p:cNvPr id="8" name="Text 5"/>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9" name="Shape 6"/>
          <p:cNvSpPr/>
          <p:nvPr/>
        </p:nvSpPr>
        <p:spPr>
          <a:xfrm>
            <a:off x="8695944" y="5815584"/>
            <a:ext cx="475488" cy="475488"/>
          </a:xfrm>
          <a:prstGeom prst="ellipse">
            <a:avLst/>
          </a:prstGeom>
          <a:solidFill>
            <a:srgbClr val="DCE6E0"/>
          </a:solidFill>
          <a:ln w="12700">
            <a:solidFill>
              <a:srgbClr val="DCE6E0"/>
            </a:solidFill>
            <a:prstDash val="solid"/>
          </a:ln>
        </p:spPr>
      </p:sp>
      <p:pic>
        <p:nvPicPr>
          <p:cNvPr id="10"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1" name="Shape 7"/>
          <p:cNvSpPr/>
          <p:nvPr/>
        </p:nvSpPr>
        <p:spPr>
          <a:xfrm>
            <a:off x="9336024" y="5815584"/>
            <a:ext cx="475488" cy="47548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3" name="Shape 8"/>
          <p:cNvSpPr/>
          <p:nvPr/>
        </p:nvSpPr>
        <p:spPr>
          <a:xfrm>
            <a:off x="9976104" y="5815584"/>
            <a:ext cx="475488" cy="47548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5" name="Shape 9"/>
          <p:cNvSpPr/>
          <p:nvPr/>
        </p:nvSpPr>
        <p:spPr>
          <a:xfrm>
            <a:off x="10616184" y="5815584"/>
            <a:ext cx="475488" cy="47548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7" name="Shape 10"/>
          <p:cNvSpPr/>
          <p:nvPr/>
        </p:nvSpPr>
        <p:spPr>
          <a:xfrm>
            <a:off x="11256264" y="5815584"/>
            <a:ext cx="475488" cy="475488"/>
          </a:xfrm>
          <a:prstGeom prst="ellipse">
            <a:avLst/>
          </a:prstGeom>
          <a:solidFill>
            <a:srgbClr val="1F4E46"/>
          </a:solidFill>
          <a:ln w="12700">
            <a:solidFill>
              <a:srgbClr val="1F4E46"/>
            </a:solidFill>
            <a:prstDash val="solid"/>
          </a:ln>
        </p:spPr>
      </p:sp>
      <p:pic>
        <p:nvPicPr>
          <p:cNvPr id="18"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19" name="Text 11"/>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may work for a school board for up to fifty days in a school year and still draw the full pension; past that limit the pension stops for the rest of the year. The provincial government and the teachers' federation, which sponsor the pension plan together, have lifted the cap to ninety-five days when schools ran short of staff, as they did during and after the pandemic. Boards then had to report how they used retirees, so that the extra days did not take work from occasional teachers at the start of their careers. Teacher unions have argued that leaning on retirees is not a lasting answer to shortages.</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0" name="Shape 7"/>
          <p:cNvSpPr/>
          <p:nvPr/>
        </p:nvSpPr>
        <p:spPr>
          <a:xfrm>
            <a:off x="8695944" y="5815584"/>
            <a:ext cx="475488" cy="47548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Measure 15178, financial incentives for the return of retired teachers (2020, made permanent)</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Measure 15178 of the operating budget rules that the Ministry of Education sets each year for the school service centres pays retired teachers who take supply work at the salary step and experience they had reached when they retired, from their first day back; the ordinary rules pay the flat supply rate and recognise that step only from the twentieth day, and the pension keeps running in full in both cases. In practice the daily rate roughly doubles, to about 410 Canadian dollars (some 275 euros). It was announced in September 2020 for teachers who had retired since 2015, opened by ministerial order to those who had left earlier, and then made permanent; the minister has twice written personally to retired teachers to point it out, in 2023 and again in 2025. More than 5,000 were working in schools in 2022-23.</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0" name="Shape 7"/>
          <p:cNvSpPr/>
          <p:nvPr/>
        </p:nvSpPr>
        <p:spPr>
          <a:xfrm>
            <a:off x="8695944" y="5815584"/>
            <a:ext cx="475488" cy="47548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principals, senior teachers and ‘special-grade’ teachers aged 65 or under are posted to rural primary and lower-secondary schools in poor and remote counties, for at least one school year, where they teach classes, coach the school's young teachers and advise the head on running the school. They apply to a call issued by their province, keep their pension and receive an allowance from the central government of 20,000 yuan a year (about 2,500 euros) that covers a stipend, travel and insurance. The Ministries of Education and Finance have run the plan since 2018, aiming at 10,000 posts in its first three years, and recruited 7,000 teachers in the 2024 round alone.</a:t>
            </a:r>
            <a:endParaRPr lang="en-US" sz="1500" dirty="0"/>
          </a:p>
        </p:txBody>
      </p:sp>
      <p:sp>
        <p:nvSpPr>
          <p:cNvPr id="8" name="Text 5"/>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9" name="Shape 6"/>
          <p:cNvSpPr/>
          <p:nvPr/>
        </p:nvSpPr>
        <p:spPr>
          <a:xfrm>
            <a:off x="8695944" y="5815584"/>
            <a:ext cx="475488" cy="47548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1" name="Shape 7"/>
          <p:cNvSpPr/>
          <p:nvPr/>
        </p:nvSpPr>
        <p:spPr>
          <a:xfrm>
            <a:off x="9336024" y="5815584"/>
            <a:ext cx="475488" cy="47548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3" name="Shape 8"/>
          <p:cNvSpPr/>
          <p:nvPr/>
        </p:nvSpPr>
        <p:spPr>
          <a:xfrm>
            <a:off x="9976104" y="5815584"/>
            <a:ext cx="475488" cy="47548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5" name="Shape 9"/>
          <p:cNvSpPr/>
          <p:nvPr/>
        </p:nvSpPr>
        <p:spPr>
          <a:xfrm>
            <a:off x="10616184" y="5815584"/>
            <a:ext cx="475488" cy="47548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7" name="Shape 10"/>
          <p:cNvSpPr/>
          <p:nvPr/>
        </p:nvSpPr>
        <p:spPr>
          <a:xfrm>
            <a:off x="11256264" y="5815584"/>
            <a:ext cx="475488" cy="47548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19" name="Text 11"/>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general rules on drawing a pension while working let retired public-school teachers take a contract or substitute post and receive both the salary and the pension, once six months have passed since the pension took effect. A written answer from the Ministry of Education to the National Assembly confirmed that this applies to retired civil servants and contract teachers alike, including at the last school where they served. School authorities use it to cover posts in shortage subjects, and deputies have pressed the government to make it easier to call retired teachers in for replacements. It is a rule that removes an obstacle rather than a programme that recruits, and no figures on how many teachers come back are published.</a:t>
            </a:r>
            <a:endParaRPr lang="en-US" sz="1500" dirty="0"/>
          </a:p>
        </p:txBody>
      </p:sp>
      <p:sp>
        <p:nvSpPr>
          <p:cNvPr id="8" name="Text 5"/>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9" name="Shape 6"/>
          <p:cNvSpPr/>
          <p:nvPr/>
        </p:nvSpPr>
        <p:spPr>
          <a:xfrm>
            <a:off x="8695944" y="5815584"/>
            <a:ext cx="475488" cy="47548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1" name="Shape 7"/>
          <p:cNvSpPr/>
          <p:nvPr/>
        </p:nvSpPr>
        <p:spPr>
          <a:xfrm>
            <a:off x="9336024" y="5815584"/>
            <a:ext cx="475488" cy="47548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3" name="Shape 8"/>
          <p:cNvSpPr/>
          <p:nvPr/>
        </p:nvSpPr>
        <p:spPr>
          <a:xfrm>
            <a:off x="9976104" y="5815584"/>
            <a:ext cx="475488" cy="47548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5" name="Shape 9"/>
          <p:cNvSpPr/>
          <p:nvPr/>
        </p:nvSpPr>
        <p:spPr>
          <a:xfrm>
            <a:off x="10616184" y="5815584"/>
            <a:ext cx="475488" cy="47548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7" name="Shape 10"/>
          <p:cNvSpPr/>
          <p:nvPr/>
        </p:nvSpPr>
        <p:spPr>
          <a:xfrm>
            <a:off x="11256264" y="5815584"/>
            <a:ext cx="475488" cy="47548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19" name="Text 11"/>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Earnings ceiling for retired teachers raised, then abolished (2022 and 2024)</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used to lose part of the pension once pay and pension together passed a set share of their former salary, which is why few of them taught after retiring. The state parliament raised that ceiling in 2022, enough for a pensioner to teach around nine or ten hours a week with nothing deducted, and increased overtime pay for serving teachers at the same time. In 2024 the ceiling for retired teachers was dropped completely, so a pensioner can now teach as many hours as a school needs and still draw the full pension.</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0" name="Shape 7"/>
          <p:cNvSpPr/>
          <p:nvPr/>
        </p:nvSpPr>
        <p:spPr>
          <a:xfrm>
            <a:off x="8695944" y="5815584"/>
            <a:ext cx="475488" cy="47548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Minister of Education wrote personally to every teacher about to retire, with an information sheet and a registration guide setting out two ways to stay in the classroom: a civil-servant teacher can ask to put off retirement by up to three years, or any teacher can retire and be re-hired at once on a fixed-term contract while drawing the pension, under the relaxed earnings rules. The letter thanks them for their service and asks for their help with schools facing rising pupil numbers. It carries no money of its own; its purpose is that nobody signs the retirement paperwork without knowing the options. It was sent in November 2023.</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0" name="Shape 7"/>
          <p:cNvSpPr/>
          <p:nvPr/>
        </p:nvSpPr>
        <p:spPr>
          <a:xfrm>
            <a:off x="8695944" y="5815584"/>
            <a:ext cx="475488" cy="47548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first fifty days a retired teacher works in a calendar year are exempt from abatement, the rule that cuts a public-service pension when pension and new salary together pass the pay the person had when they retired. Within those fifty days a retiree can cover absences as a substitute, or take a fixed-term contract, and keep the pension in full; every working day counts as one whatever the hours, and abatement is assessed only from the fifty-first. The Department of Education introduced the waiver by circular in 2021 to ease the shortage of substitutes, and has renewed it twice, most recently for 2026 and 2027.</a:t>
            </a:r>
            <a:endParaRPr lang="en-US" sz="1500" dirty="0"/>
          </a:p>
        </p:txBody>
      </p:sp>
      <p:sp>
        <p:nvSpPr>
          <p:cNvPr id="8" name="Text 5"/>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9" name="Shape 6"/>
          <p:cNvSpPr/>
          <p:nvPr/>
        </p:nvSpPr>
        <p:spPr>
          <a:xfrm>
            <a:off x="8695944" y="5815584"/>
            <a:ext cx="475488" cy="47548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3"/>
          <a:stretch>
            <a:fillRect/>
          </a:stretch>
        </p:blipFill>
        <p:spPr>
          <a:xfrm>
            <a:off x="8810061" y="5929701"/>
            <a:ext cx="247254" cy="247254"/>
          </a:xfrm>
          <a:prstGeom prst="rect">
            <a:avLst/>
          </a:prstGeom>
        </p:spPr>
      </p:pic>
      <p:sp>
        <p:nvSpPr>
          <p:cNvPr id="11" name="Shape 7"/>
          <p:cNvSpPr/>
          <p:nvPr/>
        </p:nvSpPr>
        <p:spPr>
          <a:xfrm>
            <a:off x="9336024" y="5815584"/>
            <a:ext cx="475488" cy="47548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4"/>
          <a:stretch>
            <a:fillRect/>
          </a:stretch>
        </p:blipFill>
        <p:spPr>
          <a:xfrm>
            <a:off x="9450141" y="5929701"/>
            <a:ext cx="247254" cy="247254"/>
          </a:xfrm>
          <a:prstGeom prst="rect">
            <a:avLst/>
          </a:prstGeom>
        </p:spPr>
      </p:pic>
      <p:sp>
        <p:nvSpPr>
          <p:cNvPr id="13" name="Shape 8"/>
          <p:cNvSpPr/>
          <p:nvPr/>
        </p:nvSpPr>
        <p:spPr>
          <a:xfrm>
            <a:off x="9976104" y="5815584"/>
            <a:ext cx="475488" cy="47548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5"/>
          <a:stretch>
            <a:fillRect/>
          </a:stretch>
        </p:blipFill>
        <p:spPr>
          <a:xfrm>
            <a:off x="10090221" y="5929701"/>
            <a:ext cx="247254" cy="247254"/>
          </a:xfrm>
          <a:prstGeom prst="rect">
            <a:avLst/>
          </a:prstGeom>
        </p:spPr>
      </p:pic>
      <p:sp>
        <p:nvSpPr>
          <p:cNvPr id="15" name="Shape 9"/>
          <p:cNvSpPr/>
          <p:nvPr/>
        </p:nvSpPr>
        <p:spPr>
          <a:xfrm>
            <a:off x="10616184" y="5815584"/>
            <a:ext cx="475488" cy="47548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6"/>
          <a:stretch>
            <a:fillRect/>
          </a:stretch>
        </p:blipFill>
        <p:spPr>
          <a:xfrm>
            <a:off x="10730301" y="5929701"/>
            <a:ext cx="247254" cy="247254"/>
          </a:xfrm>
          <a:prstGeom prst="rect">
            <a:avLst/>
          </a:prstGeom>
        </p:spPr>
      </p:pic>
      <p:sp>
        <p:nvSpPr>
          <p:cNvPr id="17" name="Shape 10"/>
          <p:cNvSpPr/>
          <p:nvPr/>
        </p:nvSpPr>
        <p:spPr>
          <a:xfrm>
            <a:off x="11256264" y="5815584"/>
            <a:ext cx="475488" cy="47548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7"/>
          <a:stretch>
            <a:fillRect/>
          </a:stretch>
        </p:blipFill>
        <p:spPr>
          <a:xfrm>
            <a:off x="11370381" y="5929701"/>
            <a:ext cx="247254" cy="247254"/>
          </a:xfrm>
          <a:prstGeom prst="rect">
            <a:avLst/>
          </a:prstGeom>
        </p:spPr>
      </p:pic>
      <p:sp>
        <p:nvSpPr>
          <p:cNvPr id="19" name="Text 11"/>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2017–2022</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paid primary schools up to 2,500 euros for every qualified teacher it re-hired who had been out of primary teaching for at least a year, on a contract of six months or more. The money went to the school board, not the teacher, and had to be spent on the returner's first months back: coaching, refresher training, time alongside a colleague. It was aimed at the cost and effort that make a school hesitate to take on someone who has been away. It opened in November 2017 with a budget covering about 500 returners, was extended in 2019 with a further round of applications, and took applications until November 2020; the regulation itself expired at the beginning of 2022.</a:t>
            </a:r>
            <a:endParaRPr lang="en-US" sz="1500" dirty="0"/>
          </a:p>
        </p:txBody>
      </p:sp>
      <p:sp>
        <p:nvSpPr>
          <p:cNvPr id="8" name="Text 5"/>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9" name="Shape 6"/>
          <p:cNvSpPr/>
          <p:nvPr/>
        </p:nvSpPr>
        <p:spPr>
          <a:xfrm>
            <a:off x="8695944" y="5815584"/>
            <a:ext cx="475488" cy="47548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1" name="Shape 7"/>
          <p:cNvSpPr/>
          <p:nvPr/>
        </p:nvSpPr>
        <p:spPr>
          <a:xfrm>
            <a:off x="9336024" y="5815584"/>
            <a:ext cx="475488" cy="47548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3" name="Shape 8"/>
          <p:cNvSpPr/>
          <p:nvPr/>
        </p:nvSpPr>
        <p:spPr>
          <a:xfrm>
            <a:off x="9976104" y="5815584"/>
            <a:ext cx="475488" cy="475488"/>
          </a:xfrm>
          <a:prstGeom prst="ellipse">
            <a:avLst/>
          </a:prstGeom>
          <a:solidFill>
            <a:srgbClr val="1F4E46"/>
          </a:solidFill>
          <a:ln w="12700">
            <a:solidFill>
              <a:srgbClr val="1F4E46"/>
            </a:solidFill>
            <a:prstDash val="solid"/>
          </a:ln>
        </p:spPr>
      </p:sp>
      <p:pic>
        <p:nvPicPr>
          <p:cNvPr id="14"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5" name="Shape 9"/>
          <p:cNvSpPr/>
          <p:nvPr/>
        </p:nvSpPr>
        <p:spPr>
          <a:xfrm>
            <a:off x="10616184" y="5815584"/>
            <a:ext cx="475488" cy="47548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7" name="Shape 10"/>
          <p:cNvSpPr/>
          <p:nvPr/>
        </p:nvSpPr>
        <p:spPr>
          <a:xfrm>
            <a:off x="11256264" y="5815584"/>
            <a:ext cx="475488" cy="47548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19" name="Text 11"/>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without a refresher course, with registration fees paid (2024–2028)</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Registered teachers who had not taught for five years or more used to need a refresher course before getting a practising certificate back, and that requirement has gone. With a job offer in hand, a returner now renews the certificate directly, can do substitute teaching for up to twenty half-days while the renewal is processed, and agrees a short teaching plan with the school principal in place of the course. The government also pays the registration fees, so coming back costs the teacher nothing. Fees have been covered since October 2024 and are funded until June 2028; 352 teachers had returned by April 2025.</a:t>
            </a:r>
            <a:endParaRPr lang="en-US" sz="1500" dirty="0"/>
          </a:p>
        </p:txBody>
      </p:sp>
      <p:sp>
        <p:nvSpPr>
          <p:cNvPr id="8" name="Text 5"/>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9" name="Shape 6"/>
          <p:cNvSpPr/>
          <p:nvPr/>
        </p:nvSpPr>
        <p:spPr>
          <a:xfrm>
            <a:off x="8695944" y="5815584"/>
            <a:ext cx="475488" cy="47548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1" name="Shape 7"/>
          <p:cNvSpPr/>
          <p:nvPr/>
        </p:nvSpPr>
        <p:spPr>
          <a:xfrm>
            <a:off x="9336024" y="5815584"/>
            <a:ext cx="475488" cy="47548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3" name="Shape 8"/>
          <p:cNvSpPr/>
          <p:nvPr/>
        </p:nvSpPr>
        <p:spPr>
          <a:xfrm>
            <a:off x="9976104" y="5815584"/>
            <a:ext cx="475488" cy="47548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5" name="Shape 9"/>
          <p:cNvSpPr/>
          <p:nvPr/>
        </p:nvSpPr>
        <p:spPr>
          <a:xfrm>
            <a:off x="10616184" y="5815584"/>
            <a:ext cx="475488" cy="47548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7" name="Shape 10"/>
          <p:cNvSpPr/>
          <p:nvPr/>
        </p:nvSpPr>
        <p:spPr>
          <a:xfrm>
            <a:off x="11256264" y="5815584"/>
            <a:ext cx="475488" cy="475488"/>
          </a:xfrm>
          <a:prstGeom prst="ellipse">
            <a:avLst/>
          </a:prstGeom>
          <a:solidFill>
            <a:srgbClr val="1F4E46"/>
          </a:solidFill>
          <a:ln w="12700">
            <a:solidFill>
              <a:srgbClr val="1F4E46"/>
            </a:solidFill>
            <a:prstDash val="solid"/>
          </a:ln>
        </p:spPr>
      </p:sp>
      <p:pic>
        <p:nvPicPr>
          <p:cNvPr id="18"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19" name="Text 11"/>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Schools with an unfilled post in a shortage subject, or officially classed as under-staffed, may sign a fixed-term contract with a teacher who retired five years ago or less. The school applies through an online form of the schools' administration directorate and the ministry authorises the contract within a yearly quota agreed with the finance ministry. Returners keep the full pension and receive an extra payment tied to the first step of the teacher salary scale, in proportion to the hours taught each week. The decree-law creating it was published in August 2024, and about 63 of some 200 posts were filled in the first round.</a:t>
            </a:r>
            <a:endParaRPr lang="en-US" sz="1500" dirty="0"/>
          </a:p>
        </p:txBody>
      </p:sp>
      <p:sp>
        <p:nvSpPr>
          <p:cNvPr id="8" name="Text 5"/>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9" name="Shape 6"/>
          <p:cNvSpPr/>
          <p:nvPr/>
        </p:nvSpPr>
        <p:spPr>
          <a:xfrm>
            <a:off x="8695944" y="5815584"/>
            <a:ext cx="475488" cy="47548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1" name="Shape 7"/>
          <p:cNvSpPr/>
          <p:nvPr/>
        </p:nvSpPr>
        <p:spPr>
          <a:xfrm>
            <a:off x="9336024" y="5815584"/>
            <a:ext cx="475488" cy="47548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3" name="Shape 8"/>
          <p:cNvSpPr/>
          <p:nvPr/>
        </p:nvSpPr>
        <p:spPr>
          <a:xfrm>
            <a:off x="9976104" y="5815584"/>
            <a:ext cx="475488" cy="47548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5" name="Shape 9"/>
          <p:cNvSpPr/>
          <p:nvPr/>
        </p:nvSpPr>
        <p:spPr>
          <a:xfrm>
            <a:off x="10616184" y="5815584"/>
            <a:ext cx="475488" cy="47548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7" name="Shape 10"/>
          <p:cNvSpPr/>
          <p:nvPr/>
        </p:nvSpPr>
        <p:spPr>
          <a:xfrm>
            <a:off x="11256264" y="5815584"/>
            <a:ext cx="475488" cy="47548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19" name="Text 11"/>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Trained ex-teachers, retirees among them, register on a Ministry of Education portal from which schools hire them directly for spells lasting anywhere from a single day to ten weeks, for teaching alone or for a mix of teaching and other duties agreed case by case. They are paid a daily rate and begin to earn leave after ninety days of cumulative service. A companion scheme signs former ministry teachers to longer contracts, of one year to eighteen months. Between 2022 and 2024 about 220 teachers a year joined the flexible scheme within twelve months of leaving the service.</a:t>
            </a:r>
            <a:endParaRPr lang="en-US" sz="1500" dirty="0"/>
          </a:p>
        </p:txBody>
      </p:sp>
      <p:sp>
        <p:nvSpPr>
          <p:cNvPr id="8" name="Text 5"/>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9" name="Shape 6"/>
          <p:cNvSpPr/>
          <p:nvPr/>
        </p:nvSpPr>
        <p:spPr>
          <a:xfrm>
            <a:off x="8695944" y="5815584"/>
            <a:ext cx="475488" cy="475488"/>
          </a:xfrm>
          <a:prstGeom prst="ellipse">
            <a:avLst/>
          </a:prstGeom>
          <a:solidFill>
            <a:srgbClr val="DCE6E0"/>
          </a:solidFill>
          <a:ln w="12700">
            <a:solidFill>
              <a:srgbClr val="DCE6E0"/>
            </a:solidFill>
            <a:prstDash val="solid"/>
          </a:ln>
        </p:spPr>
      </p:sp>
      <p:pic>
        <p:nvPicPr>
          <p:cNvPr id="10"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1" name="Shape 7"/>
          <p:cNvSpPr/>
          <p:nvPr/>
        </p:nvSpPr>
        <p:spPr>
          <a:xfrm>
            <a:off x="9336024" y="5815584"/>
            <a:ext cx="475488" cy="47548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3" name="Shape 8"/>
          <p:cNvSpPr/>
          <p:nvPr/>
        </p:nvSpPr>
        <p:spPr>
          <a:xfrm>
            <a:off x="9976104" y="5815584"/>
            <a:ext cx="475488" cy="47548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5" name="Shape 9"/>
          <p:cNvSpPr/>
          <p:nvPr/>
        </p:nvSpPr>
        <p:spPr>
          <a:xfrm>
            <a:off x="10616184" y="5815584"/>
            <a:ext cx="475488" cy="47548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7" name="Shape 10"/>
          <p:cNvSpPr/>
          <p:nvPr/>
        </p:nvSpPr>
        <p:spPr>
          <a:xfrm>
            <a:off x="11256264" y="5815584"/>
            <a:ext cx="475488" cy="47548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19" name="Text 11"/>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Ten retired teachers from early-childhood and primary education mentored 57 students in the final years of their teaching degrees, as part of the Faculty of Education's student guidance plan. Each group met three times, on the teaching profession and its vocation, on further training and employability, and on the teaching career, with personal contact between mentor and students in between. The mentors were teachers with a recognised professional record, and the role brought them back into teacher education without a contract or a classroom. The experience was documented in a 2019 publication of the university.</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0" name="Shape 7"/>
          <p:cNvSpPr/>
          <p:nvPr/>
        </p:nvSpPr>
        <p:spPr>
          <a:xfrm>
            <a:off x="8695944" y="5815584"/>
            <a:ext cx="475488" cy="47548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B3542E"/>
          </a:solidFill>
          <a:ln w="12700">
            <a:solidFill>
              <a:srgbClr val="B3542E"/>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Small</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Online refresher course for returning teachers (National Agency for Education, since 2018)</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National Agency for Education put a free online course on its learning platform for qualified teachers and preschool teachers coming back after working elsewhere. The returner logs in, picks the school or the preschool track and takes only the modules they need, in any order, with a certificate for each one. The modules cover the curricula, laws and official guidelines that changed while they were away, which is what a teacher who has been out for years is least sure about. It was built at the government's request, has been available since October 2018, and is open to anyone with a Swedish teaching licence or a qualifying degree.</a:t>
            </a:r>
            <a:endParaRPr lang="en-US" sz="1500" dirty="0"/>
          </a:p>
        </p:txBody>
      </p:sp>
      <p:sp>
        <p:nvSpPr>
          <p:cNvPr id="8" name="Text 5"/>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9" name="Shape 6"/>
          <p:cNvSpPr/>
          <p:nvPr/>
        </p:nvSpPr>
        <p:spPr>
          <a:xfrm>
            <a:off x="8695944" y="5815584"/>
            <a:ext cx="475488" cy="475488"/>
          </a:xfrm>
          <a:prstGeom prst="ellipse">
            <a:avLst/>
          </a:prstGeom>
          <a:solidFill>
            <a:srgbClr val="DCE6E0"/>
          </a:solidFill>
          <a:ln w="12700">
            <a:solidFill>
              <a:srgbClr val="DCE6E0"/>
            </a:solidFill>
            <a:prstDash val="solid"/>
          </a:ln>
        </p:spPr>
      </p:sp>
      <p:pic>
        <p:nvPicPr>
          <p:cNvPr id="10"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1" name="Shape 7"/>
          <p:cNvSpPr/>
          <p:nvPr/>
        </p:nvSpPr>
        <p:spPr>
          <a:xfrm>
            <a:off x="9336024" y="5815584"/>
            <a:ext cx="475488" cy="47548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3" name="Shape 8"/>
          <p:cNvSpPr/>
          <p:nvPr/>
        </p:nvSpPr>
        <p:spPr>
          <a:xfrm>
            <a:off x="9976104" y="5815584"/>
            <a:ext cx="475488" cy="475488"/>
          </a:xfrm>
          <a:prstGeom prst="ellipse">
            <a:avLst/>
          </a:prstGeom>
          <a:solidFill>
            <a:srgbClr val="1F4E46"/>
          </a:solidFill>
          <a:ln w="12700">
            <a:solidFill>
              <a:srgbClr val="1F4E46"/>
            </a:solidFill>
            <a:prstDash val="solid"/>
          </a:ln>
        </p:spPr>
      </p:sp>
      <p:pic>
        <p:nvPicPr>
          <p:cNvPr id="14"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5" name="Shape 9"/>
          <p:cNvSpPr/>
          <p:nvPr/>
        </p:nvSpPr>
        <p:spPr>
          <a:xfrm>
            <a:off x="10616184" y="5815584"/>
            <a:ext cx="475488" cy="47548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7" name="Shape 10"/>
          <p:cNvSpPr/>
          <p:nvPr/>
        </p:nvSpPr>
        <p:spPr>
          <a:xfrm>
            <a:off x="11256264" y="5815584"/>
            <a:ext cx="475488" cy="47548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19" name="Text 11"/>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0" name="Shape 12"/>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1" name="Text 13"/>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2" name="Text 14"/>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Returners start with a counselling session and an assessment interview that set out what preparation the return needs, with the first hour free and the rest paid by the canton. In the first school year back, a teacher who has been away for eight years or more uses the university's induction programme free of charge: up to twenty-five hours of mentoring by an experienced colleague in their own school, individual and group supervision, coaching in their subject, and optional courses on grading, classroom management and working with parents. Returners are also encouraged to sit in on lessons before they start.</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0" name="Shape 7"/>
          <p:cNvSpPr/>
          <p:nvPr/>
        </p:nvSpPr>
        <p:spPr>
          <a:xfrm>
            <a:off x="8695944" y="5815584"/>
            <a:ext cx="475488" cy="47548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3"/>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4"/>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5"/>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6"/>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7"/>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Former teachers who ask are given a named adviser, who works with them one to one, by phone, text or e-mail and for as long as they need. The adviser goes through the skills they gained while away, helps with applications and interviews, points them to refresher courses and professional qualifications, and passes on vacancies and webinars. It runs through the ‘Get Into Teaching’ service and was the channel for the ‘Come back to teaching’ campaign in January 2022. Returners are a large part of teacher supply: about 17,500 came back in 2023, some 38 percent of all qualified entrants.</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0" name="Shape 7"/>
          <p:cNvSpPr/>
          <p:nvPr/>
        </p:nvSpPr>
        <p:spPr>
          <a:xfrm>
            <a:off x="8695944" y="5815584"/>
            <a:ext cx="475488" cy="47548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1" name="Shape 13"/>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for Education paid for refresher courses, time in classrooms and help with applications for qualified teachers returning to secondary maths, science and languages, first through a central pilot in 2015 and then, in 2016, by funding schools to run the support themselves, with a course of two to four weeks, a bursary for the returner and a payment to the school once the returner was hired. The first pilot drew heavy interest but converted little of it: of 5,729 registrations and 354 people supported, 27 were in permanent posts months later, and the independent evaluation judged it poor value for money. Its lessons went into the adviser service on the previous slide.</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0" name="Shape 7"/>
          <p:cNvSpPr/>
          <p:nvPr/>
        </p:nvSpPr>
        <p:spPr>
          <a:xfrm>
            <a:off x="8695944" y="5815584"/>
            <a:ext cx="475488" cy="47548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1" name="Shape 13"/>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district hired recently retired teachers part-time to mentor first- and second-year teachers in high-poverty elementary schools, meeting them weekly and sitting in on their lessons for two years. Its ordinary support for new teachers was a one-year pairing with a colleague, with no training for the mentor and no release time. The retirees were chosen among teachers with a strong record in the district, and the role gave them paid, part-time work back inside the school system. A randomised trial published in 2017 followed 77 new teachers in 11 schools and found a small gain in mathematics after the first year that did not hold, no effect on reading and no effect on whether the new teachers stayed.</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0" name="Shape 7"/>
          <p:cNvSpPr/>
          <p:nvPr/>
        </p:nvSpPr>
        <p:spPr>
          <a:xfrm>
            <a:off x="8695944" y="5815584"/>
            <a:ext cx="475488" cy="47548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3"/>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4"/>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5"/>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6"/>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7"/>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B3542E"/>
          </a:solidFill>
          <a:ln w="12700">
            <a:solidFill>
              <a:srgbClr val="B3542E"/>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Small</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and substitute teachers were hired as tutors to teach mathematics in small groups to first graders who had started school with weak number skills, for about thirty hours over the year on top of their normal lessons, after one day of training and two short follow-up sessions. The children who were tutored did significantly better on a broad mathematics test than those who were not. The tutors were engaged through a tutoring programme rather than employed by the school district, which also keeps the arrangement clear of the pension rules on re-employing retirees. The 2015 study covered 76 schools in four urban districts and 994 pupils.</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0" name="Shape 7"/>
          <p:cNvSpPr/>
          <p:nvPr/>
        </p:nvSpPr>
        <p:spPr>
          <a:xfrm>
            <a:off x="8695944" y="5815584"/>
            <a:ext cx="475488" cy="47548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Teachers who had retired with thirty or more years of service, and had been retired at least a year, could take a full-time classroom post in one of the three subjects of greatest need in their region and draw a full salary on top of the full pension. The regional education agency decided which subjects counted, usually special education, mathematics, science, English or elementary teaching. The district paid the pension contributions and the retiree earned no further pension rights. The narrow conditions kept numbers low: a state audit found about 350 retirees a year, under one percent of the state's teachers. The law expired on 30 June 2026 and was replaced by Senate Bill 150.</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0" name="Shape 7"/>
          <p:cNvSpPr/>
          <p:nvPr/>
        </p:nvSpPr>
        <p:spPr>
          <a:xfrm>
            <a:off x="8695944" y="5815584"/>
            <a:ext cx="475488" cy="47548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may take a post that has been declared a critical shortage, full-time or half-time, without the pension being suspended or reduced. The posts covered are classroom teachers, speech therapists and school counsellors. The retiree and the employer keep paying into the retirement system while the re-employment lasts, but the retiree earns no extra service credit or benefit from it. The state education department issued guidance for principals on how to use the rule. It is the most recent of several return-to-work laws passed since 2022, signed in May 2024.</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0" name="Shape 7"/>
          <p:cNvSpPr/>
          <p:nvPr/>
        </p:nvSpPr>
        <p:spPr>
          <a:xfrm>
            <a:off x="8695944" y="5815584"/>
            <a:ext cx="475488" cy="47548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wait before a school can re-hire a retired school employee fell from nine months to six, and the cap on what they may earn once those six months have passed was removed, so the pension keeps running whatever the salary. During the waiting period a retiree may already work, as long as earnings stay under a set ceiling, and may not return as superintendent. The law was passed in response to post-pandemic shortages and signed in October 2023. It is temporary and expires in October 2028, so the state will have to decide whether to keep it.</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0" name="Shape 7"/>
          <p:cNvSpPr/>
          <p:nvPr/>
        </p:nvSpPr>
        <p:spPr>
          <a:xfrm>
            <a:off x="8695944" y="5815584"/>
            <a:ext cx="475488" cy="47548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Volunteers over fifty, many of them retired teachers, are trained and placed in high-poverty public schools to tutor children who are behind in reading, in short weekly sessions with small groups. They commit for a school year and get training and continuing support from the programme. It has run since 1996 and now reaches several thousand children in 18 communities across the country. A randomised study found substantially greater gains in sounding out words and in reading comprehension among the children tutored, and a separate trial found the tutoring also protects the volunteers' own physical and cognitive health.</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0" name="Shape 7"/>
          <p:cNvSpPr/>
          <p:nvPr/>
        </p:nvSpPr>
        <p:spPr>
          <a:xfrm>
            <a:off x="8695944" y="5815584"/>
            <a:ext cx="475488" cy="47548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1F4E46"/>
          </a:solidFill>
          <a:ln w="12700">
            <a:solidFill>
              <a:srgbClr val="1F4E46"/>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Large</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and college lecturers may go back to work in a public school, college or university for up to three years with no limit on salary or hours and no loss of pension. They apply to the state's Educational Retirement Board and must be approved before starting, so every return is on record. The law was signed in March 2022 and announced to retirees that June, opening the classroom to the state's roughly 48,000 retired educators at a time of severe shortages.</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0" name="Shape 7"/>
          <p:cNvSpPr/>
          <p:nvPr/>
        </p:nvSpPr>
        <p:spPr>
          <a:xfrm>
            <a:off x="8695944" y="5815584"/>
            <a:ext cx="475488" cy="47548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could take a full-time classroom post and draw the state pension alongside the salary, which put returners about half as much again as a comparable colleague. Any district could hire a retired teacher back without penalty; it was a pension rule open to all rather than a programme with places. A 2024 study using state administrative data found that schools with many economically disadvantaged or Black pupils, the ones that struggle most to fill vacancies, hired a disproportionate share of these teachers. The provision ran from 1999 to 2009.</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0" name="Shape 7"/>
          <p:cNvSpPr/>
          <p:nvPr/>
        </p:nvSpPr>
        <p:spPr>
          <a:xfrm>
            <a:off x="8695944" y="5815584"/>
            <a:ext cx="475488" cy="47548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832104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governor's directive told the state superintendent to issue or renew teaching licences for retired and out-of-state teachers whose licences had lapsed, and the education department to work with the state retirement system so that retirees could fill any vacant school post. It built on a rule in force since 2001 under which a retiree who returns to a critical-shortage area draws a new salary on top of the pension. The same directive launched an online licensing system and a wider plan on the educator shortage, under which the department reports adding more than 17,000 endorsements to teacher licences between 2022 and 2025.</a:t>
            </a:r>
            <a:endParaRPr lang="en-US" sz="1500" dirty="0"/>
          </a:p>
        </p:txBody>
      </p:sp>
      <p:sp>
        <p:nvSpPr>
          <p:cNvPr id="9" name="Text 6"/>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0" name="Shape 7"/>
          <p:cNvSpPr/>
          <p:nvPr/>
        </p:nvSpPr>
        <p:spPr>
          <a:xfrm>
            <a:off x="8695944" y="5815584"/>
            <a:ext cx="475488" cy="47548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8810061" y="5929701"/>
            <a:ext cx="247254" cy="247254"/>
          </a:xfrm>
          <a:prstGeom prst="rect">
            <a:avLst/>
          </a:prstGeom>
        </p:spPr>
      </p:pic>
      <p:sp>
        <p:nvSpPr>
          <p:cNvPr id="12" name="Shape 8"/>
          <p:cNvSpPr/>
          <p:nvPr/>
        </p:nvSpPr>
        <p:spPr>
          <a:xfrm>
            <a:off x="9336024" y="5815584"/>
            <a:ext cx="475488" cy="47548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9450141" y="5929701"/>
            <a:ext cx="247254" cy="247254"/>
          </a:xfrm>
          <a:prstGeom prst="rect">
            <a:avLst/>
          </a:prstGeom>
        </p:spPr>
      </p:pic>
      <p:sp>
        <p:nvSpPr>
          <p:cNvPr id="14" name="Shape 9"/>
          <p:cNvSpPr/>
          <p:nvPr/>
        </p:nvSpPr>
        <p:spPr>
          <a:xfrm>
            <a:off x="9976104" y="5815584"/>
            <a:ext cx="475488" cy="47548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0090221" y="5929701"/>
            <a:ext cx="247254" cy="247254"/>
          </a:xfrm>
          <a:prstGeom prst="rect">
            <a:avLst/>
          </a:prstGeom>
        </p:spPr>
      </p:pic>
      <p:sp>
        <p:nvSpPr>
          <p:cNvPr id="16" name="Shape 10"/>
          <p:cNvSpPr/>
          <p:nvPr/>
        </p:nvSpPr>
        <p:spPr>
          <a:xfrm>
            <a:off x="10616184" y="5815584"/>
            <a:ext cx="475488" cy="47548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10730301" y="5929701"/>
            <a:ext cx="247254" cy="247254"/>
          </a:xfrm>
          <a:prstGeom prst="rect">
            <a:avLst/>
          </a:prstGeom>
        </p:spPr>
      </p:pic>
      <p:sp>
        <p:nvSpPr>
          <p:cNvPr id="18" name="Shape 11"/>
          <p:cNvSpPr/>
          <p:nvPr/>
        </p:nvSpPr>
        <p:spPr>
          <a:xfrm>
            <a:off x="11256264" y="5815584"/>
            <a:ext cx="475488" cy="475488"/>
          </a:xfrm>
          <a:prstGeom prst="ellipse">
            <a:avLst/>
          </a:prstGeom>
          <a:solidFill>
            <a:srgbClr val="1F4E46"/>
          </a:solidFill>
          <a:ln w="12700">
            <a:solidFill>
              <a:srgbClr val="1F4E46"/>
            </a:solidFill>
            <a:prstDash val="solid"/>
          </a:ln>
        </p:spPr>
      </p:sp>
      <p:pic>
        <p:nvPicPr>
          <p:cNvPr id="19" name="Image 5" descr="preencoded.png">    </p:cNvPr>
          <p:cNvPicPr>
            <a:picLocks noChangeAspect="1"/>
          </p:cNvPicPr>
          <p:nvPr/>
        </p:nvPicPr>
        <p:blipFill>
          <a:blip r:embed="rId8"/>
          <a:stretch>
            <a:fillRect/>
          </a:stretch>
        </p:blipFill>
        <p:spPr>
          <a:xfrm>
            <a:off x="11370381" y="5929701"/>
            <a:ext cx="247254" cy="247254"/>
          </a:xfrm>
          <a:prstGeom prst="rect">
            <a:avLst/>
          </a:prstGeom>
        </p:spPr>
      </p:pic>
      <p:sp>
        <p:nvSpPr>
          <p:cNvPr id="20" name="Text 12"/>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085832" y="384048"/>
            <a:ext cx="1645920" cy="429768"/>
          </a:xfrm>
          <a:prstGeom prst="roundRect">
            <a:avLst>
              <a:gd name="adj" fmla="val 42553"/>
            </a:avLst>
          </a:prstGeom>
          <a:solidFill>
            <a:srgbClr val="C8892B"/>
          </a:solidFill>
          <a:ln w="12700">
            <a:solidFill>
              <a:srgbClr val="C8892B"/>
            </a:solidFill>
            <a:prstDash val="solid"/>
          </a:ln>
        </p:spPr>
      </p:sp>
      <p:sp>
        <p:nvSpPr>
          <p:cNvPr id="22" name="Text 14"/>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a:t>
            </a:r>
            <a:endParaRPr lang="en-US" sz="1400" dirty="0"/>
          </a:p>
        </p:txBody>
      </p:sp>
      <p:sp>
        <p:nvSpPr>
          <p:cNvPr id="23" name="Text 15"/>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960120" cy="720090"/>
          </a:xfrm>
          <a:prstGeom prst="rect">
            <a:avLst/>
          </a:prstGeom>
          <a:solidFill>
            <a:srgbClr val="F4F7F5"/>
          </a:solidFill>
          <a:ln w="12700">
            <a:solidFill>
              <a:srgbClr val="CFDCD5"/>
            </a:solidFill>
            <a:prstDash val="solid"/>
          </a:ln>
        </p:spPr>
      </p:sp>
      <p:sp>
        <p:nvSpPr>
          <p:cNvPr id="3" name="Text 1"/>
          <p:cNvSpPr txBox="1"/>
          <p:nvPr/>
        </p:nvSpPr>
        <p:spPr>
          <a:xfrm>
            <a:off x="457200" y="384048"/>
            <a:ext cx="960120" cy="720090"/>
          </a:xfrm>
          <a:prstGeom prst="rect">
            <a:avLst/>
          </a:prstGeom>
          <a:noFill/>
          <a:ln/>
        </p:spPr>
        <p:txBody>
          <a:bodyPr wrap="square" lIns="0" tIns="0" rIns="0" bIns="0" rtlCol="0" anchor="ctr"/>
          <a:lstStyle/>
          <a:p>
            <a:pPr algn="ctr" indent="0" marL="0">
              <a:buNone/>
            </a:pPr>
            <a:r>
              <a:rPr lang="en-US" sz="1000" dirty="0">
                <a:solidFill>
                  <a:srgbClr val="8C9B95"/>
                </a:solidFill>
                <a:latin typeface="Calibri" pitchFamily="34" charset="0"/>
                <a:ea typeface="Calibri" pitchFamily="34" charset="-122"/>
                <a:cs typeface="Calibri" pitchFamily="34" charset="-120"/>
              </a:rPr>
              <a:t>flag</a:t>
            </a:r>
            <a:endParaRPr lang="en-US" sz="1000" dirty="0"/>
          </a:p>
        </p:txBody>
      </p:sp>
      <p:sp>
        <p:nvSpPr>
          <p:cNvPr id="4" name="Text 2"/>
          <p:cNvSpPr txBox="1"/>
          <p:nvPr/>
        </p:nvSpPr>
        <p:spPr>
          <a:xfrm>
            <a:off x="1600200" y="384048"/>
            <a:ext cx="832104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Country</a:t>
            </a:r>
            <a:endParaRPr lang="en-US" sz="2200" dirty="0"/>
          </a:p>
        </p:txBody>
      </p:sp>
      <p:sp>
        <p:nvSpPr>
          <p:cNvPr id="5" name="Text 3"/>
          <p:cNvSpPr txBox="1"/>
          <p:nvPr/>
        </p:nvSpPr>
        <p:spPr>
          <a:xfrm>
            <a:off x="1600200" y="841248"/>
            <a:ext cx="8321040" cy="310896"/>
          </a:xfrm>
          <a:prstGeom prst="rect">
            <a:avLst/>
          </a:prstGeom>
          <a:noFill/>
          <a:ln/>
        </p:spPr>
        <p:txBody>
          <a:bodyPr wrap="square" lIns="0" tIns="0" rIns="0" bIns="0" rtlCol="0" anchor="ctr"/>
          <a:lstStyle/>
          <a:p>
            <a:pPr indent="0" marL="0">
              <a:buNone/>
            </a:pPr>
            <a:r>
              <a:rPr lang="en-US" sz="1300" dirty="0">
                <a:solidFill>
                  <a:srgbClr val="8C9B95"/>
                </a:solidFill>
                <a:latin typeface="Calibri" pitchFamily="34" charset="0"/>
                <a:ea typeface="Calibri" pitchFamily="34" charset="-122"/>
                <a:cs typeface="Calibri" pitchFamily="34" charset="-120"/>
              </a:rPr>
              <a:t>Region or state (delete this line if the policy is national)</a:t>
            </a:r>
            <a:endParaRPr lang="en-US" sz="1300" dirty="0"/>
          </a:p>
        </p:txBody>
      </p:sp>
      <p:sp>
        <p:nvSpPr>
          <p:cNvPr id="6" name="Shape 4"/>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5"/>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Policy name, and the year or period</a:t>
            </a:r>
            <a:endParaRPr lang="en-US" sz="2100" dirty="0"/>
          </a:p>
        </p:txBody>
      </p:sp>
      <p:sp>
        <p:nvSpPr>
          <p:cNvPr id="8" name="Text 6"/>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8C9B95"/>
                </a:solidFill>
                <a:latin typeface="Calibri" pitchFamily="34" charset="0"/>
                <a:ea typeface="Calibri" pitchFamily="34" charset="-122"/>
                <a:cs typeface="Calibri" pitchFamily="34" charset="-120"/>
              </a:rPr>
              <a:t>Write four to six lines of plain prose. Open with what the policy actually does, who runs it and whom it is for, then how it works step by step, then what the returner gets. Put dates and figures at the end, and only the ones that carry the story. Do not repeat the country, the region or the policy name: they are already on the slide.</a:t>
            </a:r>
            <a:endParaRPr lang="en-US" sz="1500" dirty="0"/>
          </a:p>
        </p:txBody>
      </p:sp>
      <p:sp>
        <p:nvSpPr>
          <p:cNvPr id="9" name="Text 7"/>
          <p:cNvSpPr txBox="1"/>
          <p:nvPr/>
        </p:nvSpPr>
        <p:spPr>
          <a:xfrm>
            <a:off x="457200" y="5303520"/>
            <a:ext cx="8138160" cy="82296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dirty="0">
                <a:solidFill>
                  <a:srgbClr val="8C9B95"/>
                </a:solidFill>
                <a:latin typeface="Calibri" pitchFamily="34" charset="0"/>
                <a:ea typeface="Calibri" pitchFamily="34" charset="-122"/>
                <a:cs typeface="Calibri" pitchFamily="34" charset="-120"/>
              </a:rPr>
              <a:t>paste the link, and add a second line 'Source (see also):' if there is another</a:t>
            </a:r>
            <a:endParaRPr lang="en-US" sz="1000" dirty="0"/>
          </a:p>
        </p:txBody>
      </p:sp>
      <p:sp>
        <p:nvSpPr>
          <p:cNvPr id="10" name="Shape 8"/>
          <p:cNvSpPr/>
          <p:nvPr/>
        </p:nvSpPr>
        <p:spPr>
          <a:xfrm>
            <a:off x="8695944" y="5815584"/>
            <a:ext cx="475488" cy="475488"/>
          </a:xfrm>
          <a:prstGeom prst="ellipse">
            <a:avLst/>
          </a:prstGeom>
          <a:solidFill>
            <a:srgbClr val="DCE6E0"/>
          </a:solidFill>
          <a:ln w="12700">
            <a:solidFill>
              <a:srgbClr val="DCE6E0"/>
            </a:solidFill>
            <a:prstDash val="solid"/>
          </a:ln>
        </p:spPr>
      </p:sp>
      <p:pic>
        <p:nvPicPr>
          <p:cNvPr id="11" name="Image 0" descr="preencoded.png">    </p:cNvPr>
          <p:cNvPicPr>
            <a:picLocks noChangeAspect="1"/>
          </p:cNvPicPr>
          <p:nvPr/>
        </p:nvPicPr>
        <p:blipFill>
          <a:blip r:embed="rId1"/>
          <a:stretch>
            <a:fillRect/>
          </a:stretch>
        </p:blipFill>
        <p:spPr>
          <a:xfrm>
            <a:off x="8810061" y="5929701"/>
            <a:ext cx="247254" cy="247254"/>
          </a:xfrm>
          <a:prstGeom prst="rect">
            <a:avLst/>
          </a:prstGeom>
        </p:spPr>
      </p:pic>
      <p:sp>
        <p:nvSpPr>
          <p:cNvPr id="12" name="Shape 9"/>
          <p:cNvSpPr/>
          <p:nvPr/>
        </p:nvSpPr>
        <p:spPr>
          <a:xfrm>
            <a:off x="9336024" y="5815584"/>
            <a:ext cx="475488" cy="475488"/>
          </a:xfrm>
          <a:prstGeom prst="ellipse">
            <a:avLst/>
          </a:prstGeom>
          <a:solidFill>
            <a:srgbClr val="DCE6E0"/>
          </a:solidFill>
          <a:ln w="12700">
            <a:solidFill>
              <a:srgbClr val="DCE6E0"/>
            </a:solidFill>
            <a:prstDash val="solid"/>
          </a:ln>
        </p:spPr>
      </p:sp>
      <p:pic>
        <p:nvPicPr>
          <p:cNvPr id="13" name="Image 1" descr="preencoded.png">    </p:cNvPr>
          <p:cNvPicPr>
            <a:picLocks noChangeAspect="1"/>
          </p:cNvPicPr>
          <p:nvPr/>
        </p:nvPicPr>
        <p:blipFill>
          <a:blip r:embed="rId2"/>
          <a:stretch>
            <a:fillRect/>
          </a:stretch>
        </p:blipFill>
        <p:spPr>
          <a:xfrm>
            <a:off x="9450141" y="5929701"/>
            <a:ext cx="247254" cy="247254"/>
          </a:xfrm>
          <a:prstGeom prst="rect">
            <a:avLst/>
          </a:prstGeom>
        </p:spPr>
      </p:pic>
      <p:sp>
        <p:nvSpPr>
          <p:cNvPr id="14" name="Shape 10"/>
          <p:cNvSpPr/>
          <p:nvPr/>
        </p:nvSpPr>
        <p:spPr>
          <a:xfrm>
            <a:off x="9976104" y="5815584"/>
            <a:ext cx="475488" cy="475488"/>
          </a:xfrm>
          <a:prstGeom prst="ellipse">
            <a:avLst/>
          </a:prstGeom>
          <a:solidFill>
            <a:srgbClr val="DCE6E0"/>
          </a:solidFill>
          <a:ln w="12700">
            <a:solidFill>
              <a:srgbClr val="DCE6E0"/>
            </a:solidFill>
            <a:prstDash val="solid"/>
          </a:ln>
        </p:spPr>
      </p:sp>
      <p:pic>
        <p:nvPicPr>
          <p:cNvPr id="15" name="Image 2" descr="preencoded.png">    </p:cNvPr>
          <p:cNvPicPr>
            <a:picLocks noChangeAspect="1"/>
          </p:cNvPicPr>
          <p:nvPr/>
        </p:nvPicPr>
        <p:blipFill>
          <a:blip r:embed="rId3"/>
          <a:stretch>
            <a:fillRect/>
          </a:stretch>
        </p:blipFill>
        <p:spPr>
          <a:xfrm>
            <a:off x="10090221" y="5929701"/>
            <a:ext cx="247254" cy="247254"/>
          </a:xfrm>
          <a:prstGeom prst="rect">
            <a:avLst/>
          </a:prstGeom>
        </p:spPr>
      </p:pic>
      <p:sp>
        <p:nvSpPr>
          <p:cNvPr id="16" name="Shape 11"/>
          <p:cNvSpPr/>
          <p:nvPr/>
        </p:nvSpPr>
        <p:spPr>
          <a:xfrm>
            <a:off x="10616184" y="5815584"/>
            <a:ext cx="475488" cy="475488"/>
          </a:xfrm>
          <a:prstGeom prst="ellipse">
            <a:avLst/>
          </a:prstGeom>
          <a:solidFill>
            <a:srgbClr val="DCE6E0"/>
          </a:solidFill>
          <a:ln w="12700">
            <a:solidFill>
              <a:srgbClr val="DCE6E0"/>
            </a:solidFill>
            <a:prstDash val="solid"/>
          </a:ln>
        </p:spPr>
      </p:sp>
      <p:pic>
        <p:nvPicPr>
          <p:cNvPr id="17" name="Image 3" descr="preencoded.png">    </p:cNvPr>
          <p:cNvPicPr>
            <a:picLocks noChangeAspect="1"/>
          </p:cNvPicPr>
          <p:nvPr/>
        </p:nvPicPr>
        <p:blipFill>
          <a:blip r:embed="rId4"/>
          <a:stretch>
            <a:fillRect/>
          </a:stretch>
        </p:blipFill>
        <p:spPr>
          <a:xfrm>
            <a:off x="10730301" y="5929701"/>
            <a:ext cx="247254" cy="247254"/>
          </a:xfrm>
          <a:prstGeom prst="rect">
            <a:avLst/>
          </a:prstGeom>
        </p:spPr>
      </p:pic>
      <p:sp>
        <p:nvSpPr>
          <p:cNvPr id="18" name="Shape 12"/>
          <p:cNvSpPr/>
          <p:nvPr/>
        </p:nvSpPr>
        <p:spPr>
          <a:xfrm>
            <a:off x="11256264" y="5815584"/>
            <a:ext cx="475488" cy="475488"/>
          </a:xfrm>
          <a:prstGeom prst="ellipse">
            <a:avLst/>
          </a:prstGeom>
          <a:solidFill>
            <a:srgbClr val="DCE6E0"/>
          </a:solidFill>
          <a:ln w="12700">
            <a:solidFill>
              <a:srgbClr val="DCE6E0"/>
            </a:solidFill>
            <a:prstDash val="solid"/>
          </a:ln>
        </p:spPr>
      </p:sp>
      <p:pic>
        <p:nvPicPr>
          <p:cNvPr id="19" name="Image 4" descr="preencoded.png">    </p:cNvPr>
          <p:cNvPicPr>
            <a:picLocks noChangeAspect="1"/>
          </p:cNvPicPr>
          <p:nvPr/>
        </p:nvPicPr>
        <p:blipFill>
          <a:blip r:embed="rId5"/>
          <a:stretch>
            <a:fillRect/>
          </a:stretch>
        </p:blipFill>
        <p:spPr>
          <a:xfrm>
            <a:off x="11370381" y="5929701"/>
            <a:ext cx="247254" cy="247254"/>
          </a:xfrm>
          <a:prstGeom prst="rect">
            <a:avLst/>
          </a:prstGeom>
        </p:spPr>
      </p:pic>
      <p:sp>
        <p:nvSpPr>
          <p:cNvPr id="20" name="Text 13"/>
          <p:cNvSpPr txBox="1"/>
          <p:nvPr/>
        </p:nvSpPr>
        <p:spPr>
          <a:xfrm>
            <a:off x="7132320" y="6355080"/>
            <a:ext cx="4599432" cy="256032"/>
          </a:xfrm>
          <a:prstGeom prst="rect">
            <a:avLst/>
          </a:prstGeom>
          <a:noFill/>
          <a:ln/>
        </p:spPr>
        <p:txBody>
          <a:bodyPr wrap="square" lIns="0" tIns="0" rIns="0" bIns="0" rtlCol="0" anchor="ctr"/>
          <a:lstStyle/>
          <a:p>
            <a:pPr algn="r" indent="0" marL="0">
              <a:buNone/>
            </a:pPr>
            <a:r>
              <a:rPr lang="en-US" sz="1050" dirty="0">
                <a:solidFill>
                  <a:srgbClr val="8C9B95"/>
                </a:solidFill>
                <a:latin typeface="Calibri" pitchFamily="34" charset="0"/>
                <a:ea typeface="Calibri" pitchFamily="34" charset="-122"/>
                <a:cs typeface="Calibri" pitchFamily="34" charset="-120"/>
              </a:rPr>
              <a:t>Switchers / Leavers / Retired</a:t>
            </a:r>
            <a:endParaRPr lang="en-US" sz="1050" dirty="0"/>
          </a:p>
        </p:txBody>
      </p:sp>
      <p:sp>
        <p:nvSpPr>
          <p:cNvPr id="21" name="Shape 14"/>
          <p:cNvSpPr/>
          <p:nvPr/>
        </p:nvSpPr>
        <p:spPr>
          <a:xfrm>
            <a:off x="10085832" y="384048"/>
            <a:ext cx="1645920" cy="429768"/>
          </a:xfrm>
          <a:prstGeom prst="roundRect">
            <a:avLst>
              <a:gd name="adj" fmla="val 50000"/>
            </a:avLst>
          </a:prstGeom>
          <a:solidFill>
            <a:srgbClr val="8C9B95"/>
          </a:solidFill>
          <a:ln w="12700">
            <a:solidFill>
              <a:srgbClr val="8C9B95"/>
            </a:solidFill>
            <a:prstDash val="solid"/>
          </a:ln>
        </p:spPr>
      </p:sp>
      <p:sp>
        <p:nvSpPr>
          <p:cNvPr id="22" name="Text 15"/>
          <p:cNvSpPr txBox="1"/>
          <p:nvPr/>
        </p:nvSpPr>
        <p:spPr>
          <a:xfrm>
            <a:off x="10085832" y="384048"/>
            <a:ext cx="1645920" cy="42976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Scale</a:t>
            </a:r>
            <a:endParaRPr lang="en-US" sz="1400" dirty="0"/>
          </a:p>
        </p:txBody>
      </p:sp>
      <p:sp>
        <p:nvSpPr>
          <p:cNvPr id="23" name="Text 16"/>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Index: the 29 policies (1/2)</a:t>
            </a:r>
            <a:endParaRPr lang="en-US" sz="2800" dirty="0"/>
          </a:p>
        </p:txBody>
      </p:sp>
      <p:sp>
        <p:nvSpPr>
          <p:cNvPr id="3" name="Text 1"/>
          <p:cNvSpPr txBox="1"/>
          <p:nvPr/>
        </p:nvSpPr>
        <p:spPr>
          <a:xfrm>
            <a:off x="457200" y="804672"/>
            <a:ext cx="9144000" cy="274320"/>
          </a:xfrm>
          <a:prstGeom prst="rect">
            <a:avLst/>
          </a:prstGeom>
          <a:noFill/>
          <a:ln/>
        </p:spPr>
        <p:txBody>
          <a:bodyPr wrap="square" lIns="0" tIns="0" rIns="0" bIns="0" rtlCol="0" anchor="ctr"/>
          <a:lstStyle/>
          <a:p>
            <a:pPr indent="0" marL="0">
              <a:buNone/>
            </a:pPr>
            <a:r>
              <a:rPr lang="en-US" sz="1150" dirty="0">
                <a:solidFill>
                  <a:srgbClr val="B3542E"/>
                </a:solidFill>
                <a:latin typeface="Calibri" pitchFamily="34" charset="0"/>
                <a:ea typeface="Calibri" pitchFamily="34" charset="-122"/>
                <a:cs typeface="Calibri" pitchFamily="34" charset="-120"/>
              </a:rPr>
              <a:t>Click a policy to go to its slide</a:t>
            </a:r>
            <a:endParaRPr lang="en-US" sz="11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74552" cy="914400"/>
        </p:xfrm>
        <a:graphic>
          <a:graphicData uri="http://schemas.openxmlformats.org/drawingml/2006/table">
            <a:tbl>
              <a:tblPr/>
              <a:tblGrid>
                <a:gridCol w="2240280"/>
                <a:gridCol w="5715000"/>
                <a:gridCol w="2450592"/>
                <a:gridCol w="86868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(New South Wales)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 action="ppaction://hlinksldjump" tooltip="Go to slide 5">
                            <a:extLst>
                              <a:ext uri="{A12FA001-AC4F-418D-AE19-62706E023703}">
                                <ahyp:hlinkClr xmlns:ahyp="http://schemas.microsoft.com/office/drawing/2018/hyperlinkcolor" val="tx"/>
                              </a:ext>
                            </a:extLst>
                          </a:hlinkClick>
                        </a:rPr>
                        <a:t>Teachers Re-Engage: department calls back recent leavers (since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2" action="ppaction://hlinksldjump" tooltip="Go to slide 6">
                            <a:extLst>
                              <a:ext uri="{A12FA001-AC4F-418D-AE19-62706E023703}">
                                <ahyp:hlinkClr xmlns:ahyp="http://schemas.microsoft.com/office/drawing/2018/hyperlinkcolor" val="tx"/>
                              </a:ext>
                            </a:extLst>
                          </a:hlinkClick>
                        </a:rPr>
                        <a:t>Teacher Re-Engagement Initiative (TREI), since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3" action="ppaction://hlinksldjump" tooltip="Go to slide 7">
                            <a:extLst>
                              <a:ext uri="{A12FA001-AC4F-418D-AE19-62706E023703}">
                                <ahyp:hlinkClr xmlns:ahyp="http://schemas.microsoft.com/office/drawing/2018/hyperlinkcolor" val="tx"/>
                              </a:ext>
                            </a:extLst>
                          </a:hlinkClick>
                        </a:rPr>
                        <a:t>Regional education authorities recruit retired teachers back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Bahamas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4" action="ppaction://hlinksldjump" tooltip="Go to slide 8">
                            <a:extLst>
                              <a:ext uri="{A12FA001-AC4F-418D-AE19-62706E023703}">
                                <ahyp:hlinkClr xmlns:ahyp="http://schemas.microsoft.com/office/drawing/2018/hyperlinkcolor" val="tx"/>
                              </a:ext>
                            </a:extLst>
                          </a:hlinkClick>
                        </a:rPr>
                        <a:t>Teacher Reservist Program: reserve of former teachers (announced July 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(Ontario)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5" action="ppaction://hlinksldjump" tooltip="Go to slide 9">
                            <a:extLst>
                              <a:ext uri="{A12FA001-AC4F-418D-AE19-62706E023703}">
                                <ahyp:hlinkClr xmlns:ahyp="http://schemas.microsoft.com/office/drawing/2018/hyperlinkcolor" val="tx"/>
                              </a:ext>
                            </a:extLst>
                          </a:hlinkClick>
                        </a:rPr>
                        <a:t>Ontario Teachers' Pension Plan: the 50-day re-employment rule, raised to 95 days in shortages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6" action="ppaction://hlinksldjump" tooltip="Go to slide 10">
                            <a:extLst>
                              <a:ext uri="{A12FA001-AC4F-418D-AE19-62706E023703}">
                                <ahyp:hlinkClr xmlns:ahyp="http://schemas.microsoft.com/office/drawing/2018/hyperlinkcolor" val="tx"/>
                              </a:ext>
                            </a:extLst>
                          </a:hlinkClick>
                        </a:rPr>
                        <a:t>Measure 15178, financial incentives for the return of retired teachers (2020, made permanent)</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7" action="ppaction://hlinksldjump" tooltip="Go to slide 11">
                            <a:extLst>
                              <a:ext uri="{A12FA001-AC4F-418D-AE19-62706E023703}">
                                <ahyp:hlinkClr xmlns:ahyp="http://schemas.microsoft.com/office/drawing/2018/hyperlinkcolor" val="tx"/>
                              </a:ext>
                            </a:extLst>
                          </a:hlinkClick>
                        </a:rPr>
                        <a:t>Silver-Age Lecturing Plan: retired teachers posted to rural schools,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8" action="ppaction://hlinksldjump" tooltip="Go to slide 12">
                            <a:extLst>
                              <a:ext uri="{A12FA001-AC4F-418D-AE19-62706E023703}">
                                <ahyp:hlinkClr xmlns:ahyp="http://schemas.microsoft.com/office/drawing/2018/hyperlinkcolor" val="tx"/>
                              </a:ext>
                            </a:extLst>
                          </a:hlinkClick>
                        </a:rPr>
                        <a:t>Combining pension and pay: retired teachers rehired as contract or substitute staff</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9" action="ppaction://hlinksldjump" tooltip="Go to slide 13">
                            <a:extLst>
                              <a:ext uri="{A12FA001-AC4F-418D-AE19-62706E023703}">
                                <ahyp:hlinkClr xmlns:ahyp="http://schemas.microsoft.com/office/drawing/2018/hyperlinkcolor" val="tx"/>
                              </a:ext>
                            </a:extLst>
                          </a:hlinkClick>
                        </a:rPr>
                        <a:t>Earnings ceiling for retired teachers raised, then abolished (2022 and 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0" action="ppaction://hlinksldjump" tooltip="Go to slide 14">
                            <a:extLst>
                              <a:ext uri="{A12FA001-AC4F-418D-AE19-62706E023703}">
                                <ahyp:hlinkClr xmlns:ahyp="http://schemas.microsoft.com/office/drawing/2018/hyperlinkcolor" val="tx"/>
                              </a:ext>
                            </a:extLst>
                          </a:hlinkClick>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1" action="ppaction://hlinksldjump" tooltip="Go to slide 15">
                            <a:extLst>
                              <a:ext uri="{A12FA001-AC4F-418D-AE19-62706E023703}">
                                <ahyp:hlinkClr xmlns:ahyp="http://schemas.microsoft.com/office/drawing/2018/hyperlinkcolor" val="tx"/>
                              </a:ext>
                            </a:extLst>
                          </a:hlinkClick>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2" action="ppaction://hlinksldjump" tooltip="Go to slide 16">
                            <a:extLst>
                              <a:ext uri="{A12FA001-AC4F-418D-AE19-62706E023703}">
                                <ahyp:hlinkClr xmlns:ahyp="http://schemas.microsoft.com/office/drawing/2018/hyperlinkcolor" val="tx"/>
                              </a:ext>
                            </a:extLst>
                          </a:hlinkClick>
                        </a:rPr>
                        <a:t>Grant to primary schools for re-hiring former teachers, 2017–2022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3" action="ppaction://hlinksldjump" tooltip="Go to slide 17">
                            <a:extLst>
                              <a:ext uri="{A12FA001-AC4F-418D-AE19-62706E023703}">
                                <ahyp:hlinkClr xmlns:ahyp="http://schemas.microsoft.com/office/drawing/2018/hyperlinkcolor" val="tx"/>
                              </a:ext>
                            </a:extLst>
                          </a:hlinkClick>
                        </a:rPr>
                        <a:t>Return without a refresher course, with registration fees paid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4" action="ppaction://hlinksldjump" tooltip="Go to slide 18">
                            <a:extLst>
                              <a:ext uri="{A12FA001-AC4F-418D-AE19-62706E023703}">
                                <ahyp:hlinkClr xmlns:ahyp="http://schemas.microsoft.com/office/drawing/2018/hyperlinkcolor" val="tx"/>
                              </a:ext>
                            </a:extLst>
                          </a:hlinkClick>
                        </a:rPr>
                        <a:t>Decree-Law 51/2024: schools may hire retired teachers for shortage posts,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5" action="ppaction://hlinksldjump" tooltip="Go to slide 19">
                            <a:extLst>
                              <a:ext uri="{A12FA001-AC4F-418D-AE19-62706E023703}">
                                <ahyp:hlinkClr xmlns:ahyp="http://schemas.microsoft.com/office/drawing/2018/hyperlinkcolor" val="tx"/>
                              </a:ext>
                            </a:extLst>
                          </a:hlinkClick>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Index: the 29 policies (2/2)</a:t>
            </a:r>
            <a:endParaRPr lang="en-US" sz="2800" dirty="0"/>
          </a:p>
        </p:txBody>
      </p:sp>
      <p:sp>
        <p:nvSpPr>
          <p:cNvPr id="3" name="Text 1"/>
          <p:cNvSpPr txBox="1"/>
          <p:nvPr/>
        </p:nvSpPr>
        <p:spPr>
          <a:xfrm>
            <a:off x="457200" y="804672"/>
            <a:ext cx="9144000" cy="274320"/>
          </a:xfrm>
          <a:prstGeom prst="rect">
            <a:avLst/>
          </a:prstGeom>
          <a:noFill/>
          <a:ln/>
        </p:spPr>
        <p:txBody>
          <a:bodyPr wrap="square" lIns="0" tIns="0" rIns="0" bIns="0" rtlCol="0" anchor="ctr"/>
          <a:lstStyle/>
          <a:p>
            <a:pPr indent="0" marL="0">
              <a:buNone/>
            </a:pPr>
            <a:r>
              <a:rPr lang="en-US" sz="1150" dirty="0">
                <a:solidFill>
                  <a:srgbClr val="B3542E"/>
                </a:solidFill>
                <a:latin typeface="Calibri" pitchFamily="34" charset="0"/>
                <a:ea typeface="Calibri" pitchFamily="34" charset="-122"/>
                <a:cs typeface="Calibri" pitchFamily="34" charset="-120"/>
              </a:rPr>
              <a:t>Click a policy to go to its slide</a:t>
            </a:r>
            <a:endParaRPr lang="en-US" sz="11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74552" cy="914400"/>
        </p:xfrm>
        <a:graphic>
          <a:graphicData uri="http://schemas.openxmlformats.org/drawingml/2006/table">
            <a:tbl>
              <a:tblPr/>
              <a:tblGrid>
                <a:gridCol w="2240280"/>
                <a:gridCol w="5715000"/>
                <a:gridCol w="2450592"/>
                <a:gridCol w="86868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Spain (Zaragoza)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 action="ppaction://hlinksldjump" tooltip="Go to slide 20">
                            <a:extLst>
                              <a:ext uri="{A12FA001-AC4F-418D-AE19-62706E023703}">
                                <ahyp:hlinkClr xmlns:ahyp="http://schemas.microsoft.com/office/drawing/2018/hyperlinkcolor" val="tx"/>
                              </a:ext>
                            </a:extLst>
                          </a:hlinkClick>
                        </a:rPr>
                        <a:t>10 Mirrors: retired teachers mentor student teachers (University of Zaragoza, reported 2019)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B3542E"/>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2" action="ppaction://hlinksldjump" tooltip="Go to slide 21">
                            <a:extLst>
                              <a:ext uri="{A12FA001-AC4F-418D-AE19-62706E023703}">
                                <ahyp:hlinkClr xmlns:ahyp="http://schemas.microsoft.com/office/drawing/2018/hyperlinkcolor" val="tx"/>
                              </a:ext>
                            </a:extLst>
                          </a:hlinkClick>
                        </a:rPr>
                        <a:t>Online refresher course for returning teachers (National Agency for Education,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3" action="ppaction://hlinksldjump" tooltip="Go to slide 22">
                            <a:extLst>
                              <a:ext uri="{A12FA001-AC4F-418D-AE19-62706E023703}">
                                <ahyp:hlinkClr xmlns:ahyp="http://schemas.microsoft.com/office/drawing/2018/hyperlinkcolor" val="tx"/>
                              </a:ext>
                            </a:extLst>
                          </a:hlinkClick>
                        </a:rPr>
                        <a:t>Re-entry counselling and induction for returning teachers (Zurich University of Teacher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4" action="ppaction://hlinksldjump" tooltip="Go to slide 23">
                            <a:extLst>
                              <a:ext uri="{A12FA001-AC4F-418D-AE19-62706E023703}">
                                <ahyp:hlinkClr xmlns:ahyp="http://schemas.microsoft.com/office/drawing/2018/hyperlinkcolor" val="tx"/>
                              </a:ext>
                            </a:extLst>
                          </a:hlinkClick>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5" action="ppaction://hlinksldjump" tooltip="Go to slide 24">
                            <a:extLst>
                              <a:ext uri="{A12FA001-AC4F-418D-AE19-62706E023703}">
                                <ahyp:hlinkClr xmlns:ahyp="http://schemas.microsoft.com/office/drawing/2018/hyperlinkcolor" val="tx"/>
                              </a:ext>
                            </a:extLst>
                          </a:hlinkClick>
                        </a:rPr>
                        <a:t>Return to Teaching pilot (2015–16) and Returners Engagement Programme (2016–17)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6" action="ppaction://hlinksldjump" tooltip="Go to slide 25">
                            <a:extLst>
                              <a:ext uri="{A12FA001-AC4F-418D-AE19-62706E023703}">
                                <ahyp:hlinkClr xmlns:ahyp="http://schemas.microsoft.com/office/drawing/2018/hyperlinkcolor" val="tx"/>
                              </a:ext>
                            </a:extLst>
                          </a:hlinkClick>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B3542E"/>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(Four urban districts)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7" action="ppaction://hlinksldjump" tooltip="Go to slide 26">
                            <a:extLst>
                              <a:ext uri="{A12FA001-AC4F-418D-AE19-62706E023703}">
                                <ahyp:hlinkClr xmlns:ahyp="http://schemas.microsoft.com/office/drawing/2018/hyperlinkcolor" val="tx"/>
                              </a:ext>
                            </a:extLst>
                          </a:hlinkClick>
                        </a:rPr>
                        <a:t>Number Rockets: retired teachers as small-group maths tutors for first graders (2015 study)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8" action="ppaction://hlinksldjump" tooltip="Go to slide 27">
                            <a:extLst>
                              <a:ext uri="{A12FA001-AC4F-418D-AE19-62706E023703}">
                                <ahyp:hlinkClr xmlns:ahyp="http://schemas.microsoft.com/office/drawing/2018/hyperlinkcolor" val="tx"/>
                              </a:ext>
                            </a:extLst>
                          </a:hlinkClick>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(Louisiana)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9" action="ppaction://hlinksldjump" tooltip="Go to slide 28">
                            <a:extLst>
                              <a:ext uri="{A12FA001-AC4F-418D-AE19-62706E023703}">
                                <ahyp:hlinkClr xmlns:ahyp="http://schemas.microsoft.com/office/drawing/2018/hyperlinkcolor" val="tx"/>
                              </a:ext>
                            </a:extLst>
                          </a:hlinkClick>
                        </a:rPr>
                        <a:t>Act 394 of 2024: retired teachers rehired in critical shortage areas keep their pension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(Michigan)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0" action="ppaction://hlinksldjump" tooltip="Go to slide 29">
                            <a:extLst>
                              <a:ext uri="{A12FA001-AC4F-418D-AE19-62706E023703}">
                                <ahyp:hlinkClr xmlns:ahyp="http://schemas.microsoft.com/office/drawing/2018/hyperlinkcolor" val="tx"/>
                              </a:ext>
                            </a:extLst>
                          </a:hlinkClick>
                        </a:rPr>
                        <a:t>Public Act 147 of 2023: shorter wait and no earnings cap for retirees who return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(National (AARP Foundation))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1" action="ppaction://hlinksldjump" tooltip="Go to slide 30">
                            <a:extLst>
                              <a:ext uri="{A12FA001-AC4F-418D-AE19-62706E023703}">
                                <ahyp:hlinkClr xmlns:ahyp="http://schemas.microsoft.com/office/drawing/2018/hyperlinkcolor" val="tx"/>
                              </a:ext>
                            </a:extLst>
                          </a:hlinkClick>
                        </a:rPr>
                        <a:t>AARP Foundation Experience Corps: volunteers over 50 tutor early readers (since 1996)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1F4E46"/>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(New Mexico)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2" action="ppaction://hlinksldjump" tooltip="Go to slide 31">
                            <a:extLst>
                              <a:ext uri="{A12FA001-AC4F-418D-AE19-62706E023703}">
                                <ahyp:hlinkClr xmlns:ahyp="http://schemas.microsoft.com/office/drawing/2018/hyperlinkcolor" val="tx"/>
                              </a:ext>
                            </a:extLst>
                          </a:hlinkClick>
                        </a:rPr>
                        <a:t>Educational Retirees Returning to Work Act (House Bill 73,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(North Carolina)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3" action="ppaction://hlinksldjump" tooltip="Go to slide 32">
                            <a:extLst>
                              <a:ext uri="{A12FA001-AC4F-418D-AE19-62706E023703}">
                                <ahyp:hlinkClr xmlns:ahyp="http://schemas.microsoft.com/office/drawing/2018/hyperlinkcolor" val="tx"/>
                              </a:ext>
                            </a:extLst>
                          </a:hlinkClick>
                        </a:rPr>
                        <a:t>Return-to-work policy for retired teachers, 1999–2009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(Virginia)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u="sng" dirty="0">
                          <a:solidFill>
                            <a:srgbClr val="B3542E"/>
                          </a:solidFill>
                          <a:uFill>
                            <a:solidFill>
                              <a:srgbClr val="B3542E"/>
                            </a:solidFill>
                          </a:uFill>
                          <a:latin typeface="Calibri" pitchFamily="34" charset="0"/>
                          <a:ea typeface="Calibri" pitchFamily="34" charset="-122"/>
                          <a:cs typeface="Calibri" pitchFamily="34" charset="-120"/>
                          <a:hlinkClick r:id="rId14" action="ppaction://hlinksldjump" tooltip="Go to slide 33">
                            <a:extLst>
                              <a:ext uri="{A12FA001-AC4F-418D-AE19-62706E023703}">
                                <ahyp:hlinkClr xmlns:ahyp="http://schemas.microsoft.com/office/drawing/2018/hyperlinkcolor" val="tx"/>
                              </a:ext>
                            </a:extLst>
                          </a:hlinkClick>
                        </a:rPr>
                        <a:t>Executive Directive 3: lifting licence and pension obstacles for returning retirees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b="1" dirty="0">
                          <a:solidFill>
                            <a:srgbClr val="C8892B"/>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5" name="Text 2"/>
          <p:cNvSpPr txBox="1"/>
          <p:nvPr/>
        </p:nvSpPr>
        <p:spPr>
          <a:xfrm>
            <a:off x="457200" y="6473952"/>
            <a:ext cx="548640" cy="274320"/>
          </a:xfrm>
          <a:prstGeom prst="rect">
            <a:avLst/>
          </a:prstGeom>
          <a:noFill/>
          <a:ln/>
        </p:spPr>
        <p:txBody>
          <a:bodyPr wrap="square" lIns="0" tIns="0" rIns="0" bIns="0" rtlCol="0" anchor="ctr"/>
          <a:lstStyle/>
          <a:p>
            <a:pPr algn="l" indent="0" marL="0">
              <a:buNone/>
            </a:pPr>
            <a:r>
              <a:rPr lang="en-US" sz="900" dirty="0">
                <a:solidFill>
                  <a:srgbClr val="24313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2026-09-18T14:49:19Z</dcterms:created>
  <dcterms:modified xsi:type="dcterms:W3CDTF">2026-09-18T14:49:19Z</dcterms:modified>
</cp:coreProperties>
</file>