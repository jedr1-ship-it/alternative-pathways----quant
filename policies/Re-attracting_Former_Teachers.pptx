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Instruments lit: Information &amp; nudges, Flexible re-certification, Flexible positions, Support &amp; training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Instruments lit: Support &amp; training, Financial incentives, Information &amp; nudges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Instruments lit: Information &amp; nudges, Financial incentives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Instruments lit: Flexible positions, Flexible re-certification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Instruments lit: Financial incentives, Flexible positions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Instruments lit: Financial incentives, Information &amp; nudges, Flexible positions — Target: Retired.
The measure is carried in the Règles budgétaires de fonctionnement for the centres de services scolaires as mesure 15178, 'Incitatifs financiers portant sur le retour des retraités de l'enseignement'; the measure number comes from search-indexed budget-rules PDFs that could not be opened here and should be checked against the current year's Règles budgétaires. Primary source: Gouvernement du Québec page 'Retour à l'emploi des retraités du réseau de l'éducation' (announced 21 September 2020 by Minister Jean-François Roberge; pay at the scale held at departure from day one instead of from the 20th day; daily maximum about CAD 412 vs CAD 212.15 usual supply rate; no penalty on pension; 700 retirees returned in 2020-21). The original limit to teachers retired since 1 July 2015 was lifted by arrêté ministériel. The letters from Minister Bernard Drainville are reported by press: one in June 2023 to teachers retired five years or less, and one signed 25 August 2025; the 5,000+ figure for 2024-25 is Le Devoir, 29 August 2025, citing the ministry. Press also reports that some school service centres place retirees last on the supply list because they cost more (Le Devoir, 1 December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Instruments lit: Flexible positions, Financial incentives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Instruments lit: Financial incentives, Flexible positions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Financial incentives, Information &amp; nudges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Information &amp; nudges, Financial incentives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Instruments lit: Financial incentives, Flexible positions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Instruments lit: Financial incentives, Support &amp; training — Target: Switchers, Leavers.
Primary source: text of the 'Regeling tegemoetkoming herintreders primair onderwijs' on wetten.overheid.nl (BWBR0040130), plus the OCW newsletter of 3 July 2019 announcing a new application round, and the amending regulation in Staatscourant 2019 nr. 28510, which moved the expiry from 1 January 2020 to 1 January 2022 and extended the application period; applications closed 1 November 2020. The newsletter of July 2019 reports that more than a hundred returners had used the grant by then.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Instruments lit: Flexible re-certification, Financial incentives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Instruments lit: Financial incentives, Flexible positions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Instruments lit: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Instruments lit: Flexible positions, Information &amp; nudges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Instruments lit: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Instruments lit: Support &amp; training, Information &amp; nudges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Information &amp; nudges, Support &amp; training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Support &amp; training, Information &amp; nudges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Instruments lit: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Instruments lit: Flexible positions, Support &amp; training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Instruments lit: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Instruments lit: Financial incentives, Flexible positions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Instruments lit: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Instruments lit: Flexible positions, Support &amp; training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Instruments lit: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Instruments lit: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Instruments lit: Flexible re-certification, Financial incentives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in order, Financial incentives, Information &amp; nudges, Support &amp; training, Flexible positions, Flexible re-certification. Copy a lit dot from any slide over the ones this policy uses and leave the rest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nsw.gov.au/media-releases/retired-teachers-return-to-classrooms" TargetMode="External"/><Relationship Id="rId3"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vic.gov.au/teacher-re-engagement-initiative"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ien.orf.at/stories/3200562/" TargetMode="External"/><Relationship Id="rId3" Type="http://schemas.openxmlformats.org/officeDocument/2006/relationships/hyperlink" Target="https://www.wienerzeitung.at/nachrichten/politik/oesterreich/2175563-Nur-42-Pflichtschullehrer-kamen-aus-Pension-zurueck.html"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bahamas.gov.bs/news-press-release/the-ministry-of-education-aiming-to-attract-more-bahamian-teachers" TargetMode="External"/><Relationship Id="rId3"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help.oct.ca/hc/en-us/articles/360025778433-If-I-retire-can-I-teach-occasionally" TargetMode="External"/><Relationship Id="rId3"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9-6.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quebec.ca/en/government/work-government/jobs-education/teaching-general-education-youth-sector-vocational-training-adult-education/return-work-retired-teacher" TargetMode="External"/><Relationship Id="rId3"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www.moe.gov.cn/srcsite/A10/s7151/201807/t20180719_343448.html" TargetMode="External"/><Relationship Id="rId3"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questions.assemblee-nationale.fr/q16/16-2072QE.htm" TargetMode="External"/><Relationship Id="rId3" Type="http://schemas.openxmlformats.org/officeDocument/2006/relationships/hyperlink" Target="https://questions.assemblee-nationale.fr/q16/16-7305QE.htm" TargetMode="External"/><Relationship Id="rId1"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3"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image" Target="../media/image-13-5.png"/><Relationship Id="rId8" Type="http://schemas.openxmlformats.org/officeDocument/2006/relationships/image" Target="../media/image-13-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3"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image" Target="../media/image-14-5.png"/><Relationship Id="rId8" Type="http://schemas.openxmlformats.org/officeDocument/2006/relationships/image" Target="../media/image-14-6.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etten.overheid.nl/1.3:c:BWBR0040130&amp;g=2020-07-01&amp;z=2025-10-18" TargetMode="External"/><Relationship Id="rId3"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image" Target="../media/image-16-5.png"/><Relationship Id="rId8" Type="http://schemas.openxmlformats.org/officeDocument/2006/relationships/image" Target="../media/image-16-6.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orkforce.education.govt.nz/current-teachers/returning-teaching/returning-teaching-after-break" TargetMode="External"/><Relationship Id="rId3"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ariodarepublica.pt/dr/detalhe/decreto-lei/51-2024-885927817" TargetMode="External"/><Relationship Id="rId3"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moe.gov.sg/careers/adjunct-and-relief-schemes/flexi-adjunct-teaching-scheme" TargetMode="External"/><Relationship Id="rId3"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4" Type="http://schemas.openxmlformats.org/officeDocument/2006/relationships/image" Target="../media/image-19-2.png"/><Relationship Id="rId5" Type="http://schemas.openxmlformats.org/officeDocument/2006/relationships/image" Target="../media/image-19-3.png"/><Relationship Id="rId6" Type="http://schemas.openxmlformats.org/officeDocument/2006/relationships/image" Target="../media/image-19-4.png"/><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alnet.unirioja.es/servlet/articulo?codigo=8153125" TargetMode="External"/><Relationship Id="rId3" Type="http://schemas.openxmlformats.org/officeDocument/2006/relationships/hyperlink" Target="https://zaguan.unizar.es/record/79095/files/BOOK-2019-021.pdf" TargetMode="External"/><Relationship Id="rId1" Type="http://schemas.openxmlformats.org/officeDocument/2006/relationships/image" Target="../media/image-20-1.png"/><Relationship Id="rId4" Type="http://schemas.openxmlformats.org/officeDocument/2006/relationships/image" Target="../media/image-20-2.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5.png"/><Relationship Id="rId8" Type="http://schemas.openxmlformats.org/officeDocument/2006/relationships/image" Target="../media/image-20-6.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skolverket.se/skolutveckling/kurser-och-utbildningar/atervandande-larare-och-forskollarare---webbaserad-utbildning" TargetMode="External"/><Relationship Id="rId3"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image" Target="../media/image-21-3.png"/><Relationship Id="rId6" Type="http://schemas.openxmlformats.org/officeDocument/2006/relationships/image" Target="../media/image-21-4.png"/><Relationship Id="rId7" Type="http://schemas.openxmlformats.org/officeDocument/2006/relationships/image" Target="../media/image-21-5.png"/><Relationship Id="rId8" Type="http://schemas.openxmlformats.org/officeDocument/2006/relationships/image" Target="../media/image-21-6.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etintoteaching.education.gov.uk/returning-to-teaching" TargetMode="External"/><Relationship Id="rId3"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assets.publishing.service.gov.uk/media/5b33aeef40f0b67f6744de9d/Evaluation_of_the_Return_to_Teaching_pilot_programme.pdf" TargetMode="External"/><Relationship Id="rId3"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journals.sagepub.com/doi/abs/10.3102/0002831214565787" TargetMode="External"/><Relationship Id="rId3" Type="http://schemas.openxmlformats.org/officeDocument/2006/relationships/hyperlink" Target="https://ies.ed.gov/ncee/wwc/Study/86426" TargetMode="External"/><Relationship Id="rId1" Type="http://schemas.openxmlformats.org/officeDocument/2006/relationships/image" Target="../media/image-26-1.png"/><Relationship Id="rId4" Type="http://schemas.openxmlformats.org/officeDocument/2006/relationships/image" Target="../media/image-26-2.png"/><Relationship Id="rId5" Type="http://schemas.openxmlformats.org/officeDocument/2006/relationships/image" Target="../media/image-26-3.png"/><Relationship Id="rId6" Type="http://schemas.openxmlformats.org/officeDocument/2006/relationships/image" Target="../media/image-26-4.png"/><Relationship Id="rId7" Type="http://schemas.openxmlformats.org/officeDocument/2006/relationships/image" Target="../media/image-26-5.png"/><Relationship Id="rId8" Type="http://schemas.openxmlformats.org/officeDocument/2006/relationships/image" Target="../media/image-26-6.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trsga.com/retiree/working-after-retirement/hb-385-employment/" TargetMode="External"/><Relationship Id="rId3" Type="http://schemas.openxmlformats.org/officeDocument/2006/relationships/hyperlink" Target="https://www.audits.ga.gov/ReportSearch/download/32615" TargetMode="External"/><Relationship Id="rId1" Type="http://schemas.openxmlformats.org/officeDocument/2006/relationships/image" Target="../media/image-27-1.png"/><Relationship Id="rId4" Type="http://schemas.openxmlformats.org/officeDocument/2006/relationships/image" Target="../media/image-27-2.png"/><Relationship Id="rId5" Type="http://schemas.openxmlformats.org/officeDocument/2006/relationships/image" Target="../media/image-27-3.png"/><Relationship Id="rId6" Type="http://schemas.openxmlformats.org/officeDocument/2006/relationships/image" Target="../media/image-27-4.png"/><Relationship Id="rId7" Type="http://schemas.openxmlformats.org/officeDocument/2006/relationships/image" Target="../media/image-27-5.png"/><Relationship Id="rId8" Type="http://schemas.openxmlformats.org/officeDocument/2006/relationships/image" Target="../media/image-27-6.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trsl.org/retirees/returning-to-work-rtw" TargetMode="External"/><Relationship Id="rId3"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4" Type="http://schemas.openxmlformats.org/officeDocument/2006/relationships/image" Target="../media/image-28-2.png"/><Relationship Id="rId5" Type="http://schemas.openxmlformats.org/officeDocument/2006/relationships/image" Target="../media/image-28-3.png"/><Relationship Id="rId6" Type="http://schemas.openxmlformats.org/officeDocument/2006/relationships/image" Target="../media/image-28-4.png"/><Relationship Id="rId7" Type="http://schemas.openxmlformats.org/officeDocument/2006/relationships/image" Target="../media/image-28-5.png"/><Relationship Id="rId8" Type="http://schemas.openxmlformats.org/officeDocument/2006/relationships/image" Target="../media/image-28-6.pn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michigan.gov/orsschools/pa-147-of-2023-faqs" TargetMode="External"/><Relationship Id="rId3"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4" Type="http://schemas.openxmlformats.org/officeDocument/2006/relationships/image" Target="../media/image-29-2.png"/><Relationship Id="rId5" Type="http://schemas.openxmlformats.org/officeDocument/2006/relationships/image" Target="../media/image-29-3.png"/><Relationship Id="rId6" Type="http://schemas.openxmlformats.org/officeDocument/2006/relationships/image" Target="../media/image-29-4.png"/><Relationship Id="rId7" Type="http://schemas.openxmlformats.org/officeDocument/2006/relationships/image" Target="../media/image-29-5.png"/><Relationship Id="rId8" Type="http://schemas.openxmlformats.org/officeDocument/2006/relationships/image" Target="../media/image-29-6.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arp.org/experience-corps/our-impact/experience-corps-research-studies.html" TargetMode="External"/><Relationship Id="rId3" Type="http://schemas.openxmlformats.org/officeDocument/2006/relationships/hyperlink" Target="https://www.aarp.org/experience-corps/" TargetMode="External"/><Relationship Id="rId1"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 Id="rId6" Type="http://schemas.openxmlformats.org/officeDocument/2006/relationships/image" Target="../media/image-30-4.png"/><Relationship Id="rId7" Type="http://schemas.openxmlformats.org/officeDocument/2006/relationships/image" Target="../media/image-30-5.png"/><Relationship Id="rId8" Type="http://schemas.openxmlformats.org/officeDocument/2006/relationships/image" Target="../media/image-30-6.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hed.nm.gov/news/retired-educators-now-eligible-to-return-to-work-without-losing-pension-benefits" TargetMode="External"/><Relationship Id="rId3"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 Id="rId6" Type="http://schemas.openxmlformats.org/officeDocument/2006/relationships/image" Target="../media/image-31-4.png"/><Relationship Id="rId7" Type="http://schemas.openxmlformats.org/officeDocument/2006/relationships/image" Target="../media/image-31-5.png"/><Relationship Id="rId8" Type="http://schemas.openxmlformats.org/officeDocument/2006/relationships/image" Target="../media/image-31-6.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files.eric.ed.gov/fulltext/EJ1425366.pdf" TargetMode="External"/><Relationship Id="rId3" Type="http://schemas.openxmlformats.org/officeDocument/2006/relationships/hyperlink" Target="https://dialnet.unirioja.es/servlet/articulo?codigo=9286932" TargetMode="External"/><Relationship Id="rId1" Type="http://schemas.openxmlformats.org/officeDocument/2006/relationships/image" Target="../media/image-32-1.png"/><Relationship Id="rId4" Type="http://schemas.openxmlformats.org/officeDocument/2006/relationships/image" Target="../media/image-32-2.png"/><Relationship Id="rId5" Type="http://schemas.openxmlformats.org/officeDocument/2006/relationships/image" Target="../media/image-32-3.png"/><Relationship Id="rId6" Type="http://schemas.openxmlformats.org/officeDocument/2006/relationships/image" Target="../media/image-32-4.png"/><Relationship Id="rId7" Type="http://schemas.openxmlformats.org/officeDocument/2006/relationships/image" Target="../media/image-32-5.png"/><Relationship Id="rId8" Type="http://schemas.openxmlformats.org/officeDocument/2006/relationships/image" Target="../media/image-32-6.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doe.virginia.gov/teaching-learning-assessment/teaching-in-virginia/turning-the-tide" TargetMode="External"/><Relationship Id="rId3"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4" Type="http://schemas.openxmlformats.org/officeDocument/2006/relationships/image" Target="../media/image-33-2.png"/><Relationship Id="rId5" Type="http://schemas.openxmlformats.org/officeDocument/2006/relationships/image" Target="../media/image-33-3.png"/><Relationship Id="rId6" Type="http://schemas.openxmlformats.org/officeDocument/2006/relationships/image" Target="../media/image-33-4.png"/><Relationship Id="rId7" Type="http://schemas.openxmlformats.org/officeDocument/2006/relationships/image" Target="../media/image-33-5.png"/><Relationship Id="rId8" Type="http://schemas.openxmlformats.org/officeDocument/2006/relationships/image" Target="../media/image-33-6.pn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Shape 0"/>
          <p:cNvSpPr/>
          <p:nvPr/>
        </p:nvSpPr>
        <p:spPr>
          <a:xfrm>
            <a:off x="0" y="0"/>
            <a:ext cx="12191695" cy="1444752"/>
          </a:xfrm>
          <a:prstGeom prst="rect">
            <a:avLst/>
          </a:prstGeom>
          <a:solidFill>
            <a:srgbClr val="FFFFFF"/>
          </a:solidFill>
          <a:ln w="12700">
            <a:solidFill>
              <a:srgbClr val="FFFFFF"/>
            </a:solidFill>
            <a:prstDash val="solid"/>
          </a:ln>
        </p:spPr>
      </p:sp>
      <p:pic>
        <p:nvPicPr>
          <p:cNvPr id="3" name="Image 0" descr="preencoded.png">    </p:cNvPr>
          <p:cNvPicPr>
            <a:picLocks noChangeAspect="1"/>
          </p:cNvPicPr>
          <p:nvPr/>
        </p:nvPicPr>
        <p:blipFill>
          <a:blip r:embed="rId1"/>
          <a:stretch>
            <a:fillRect/>
          </a:stretch>
        </p:blipFill>
        <p:spPr>
          <a:xfrm>
            <a:off x="640080" y="429768"/>
            <a:ext cx="1828800" cy="466344"/>
          </a:xfrm>
          <a:prstGeom prst="rect">
            <a:avLst/>
          </a:prstGeom>
        </p:spPr>
      </p:pic>
      <p:sp>
        <p:nvSpPr>
          <p:cNvPr id="4" name="Text 1"/>
          <p:cNvSpPr txBox="1"/>
          <p:nvPr/>
        </p:nvSpPr>
        <p:spPr>
          <a:xfrm>
            <a:off x="640080" y="896112"/>
            <a:ext cx="5486400" cy="292608"/>
          </a:xfrm>
          <a:prstGeom prst="rect">
            <a:avLst/>
          </a:prstGeom>
          <a:noFill/>
          <a:ln/>
        </p:spPr>
        <p:txBody>
          <a:bodyPr wrap="square" lIns="0" tIns="0" rIns="0" bIns="0" rtlCol="0" anchor="ctr"/>
          <a:lstStyle/>
          <a:p>
            <a:pPr indent="0" marL="0">
              <a:buNone/>
            </a:pPr>
            <a:r>
              <a:rPr lang="en-US" sz="1400" dirty="0">
                <a:solidFill>
                  <a:srgbClr val="24313A"/>
                </a:solidFill>
                <a:latin typeface="Garamond" pitchFamily="34" charset="0"/>
                <a:ea typeface="Garamond" pitchFamily="34" charset="-122"/>
                <a:cs typeface="Garamond" pitchFamily="34" charset="-120"/>
              </a:rPr>
              <a:t>Directorate for Education and Skills</a:t>
            </a:r>
            <a:endParaRPr lang="en-US" sz="1400" dirty="0"/>
          </a:p>
        </p:txBody>
      </p:sp>
      <p:sp>
        <p:nvSpPr>
          <p:cNvPr id="5" name="Text 2"/>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6" name="Text 3"/>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Various international policies and experiences</a:t>
            </a:r>
            <a:endParaRPr lang="en-US" sz="2100" dirty="0"/>
          </a:p>
        </p:txBody>
      </p:sp>
      <p:sp>
        <p:nvSpPr>
          <p:cNvPr id="7" name="Text 4"/>
          <p:cNvSpPr txBox="1"/>
          <p:nvPr/>
        </p:nvSpPr>
        <p:spPr>
          <a:xfrm>
            <a:off x="850392" y="4754880"/>
            <a:ext cx="9144000" cy="365760"/>
          </a:xfrm>
          <a:prstGeom prst="rect">
            <a:avLst/>
          </a:prstGeom>
          <a:noFill/>
          <a:ln/>
        </p:spPr>
        <p:txBody>
          <a:bodyPr wrap="square" lIns="0" tIns="0" rIns="0" bIns="0" rtlCol="0" anchor="ctr"/>
          <a:lstStyle/>
          <a:p>
            <a:pPr indent="0" marL="0">
              <a:buNone/>
            </a:pPr>
            <a:r>
              <a:rPr lang="en-US" sz="1600" b="1" dirty="0">
                <a:solidFill>
                  <a:srgbClr val="CFE3D9"/>
                </a:solidFill>
                <a:latin typeface="Cambria" pitchFamily="34" charset="0"/>
                <a:ea typeface="Cambria" pitchFamily="34" charset="-122"/>
                <a:cs typeface="Cambria" pitchFamily="34" charset="-120"/>
              </a:rPr>
              <a:t>José Manuel Torres &amp;  José Elías Durán Roa </a:t>
            </a:r>
            <a:endParaRPr lang="en-US" sz="1600" dirty="0"/>
          </a:p>
          <a:p>
            <a:pPr indent="0" marL="0">
              <a:buNone/>
            </a:pPr>
            <a:r>
              <a:rPr lang="en-US" sz="1600" dirty="0">
                <a:solidFill>
                  <a:srgbClr val="CFE3D9"/>
                </a:solidFill>
                <a:latin typeface="Cambria" pitchFamily="34" charset="0"/>
                <a:ea typeface="Cambria" pitchFamily="34" charset="-122"/>
                <a:cs typeface="Cambria" pitchFamily="34" charset="-120"/>
              </a:rPr>
              <a:t>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used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peer mentoring,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or part time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department calls back recent leavers (since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in that district received one of the largest pay rises in decades and a significant cut in administrative work. More than 1,500 former teachers were contacted; by May 2024, 260 had expressed interest and 145 were placed across more than 600 schools, about sixty percent of them coming out of retirement. As the best of our knowledge the pathway is still open.</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only three teachers accepted. The directorate then passed the job to school principals, who put the question in person to staff approaching retirement age, usually offering reduced hours to stay on. Returners keep the full pension and sign a separate contract paid on the beginner's salary scale. Take-up has stayed very low across the country, and an academic study points to pension and seniority rules as the main barrier.</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5"/>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6"/>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7"/>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8"/>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9"/>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reserve of former teachers (announced July 2026)</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9" name="Shape 6"/>
          <p:cNvSpPr/>
          <p:nvPr/>
        </p:nvSpPr>
        <p:spPr>
          <a:xfrm>
            <a:off x="502920" y="5961888"/>
            <a:ext cx="384048" cy="38404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Measure 15178, financial incentives for the return of retired teachers (2020, made permanent)</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Measure 15178 of the operating budget rules that the Ministry of Education sets each year for the school service centres pays retired teachers who take supply work at the salary step and experience they had reached when they retired, from their first day back; the ordinary rules pay the flat supply rate and recognise that step only from the twentieth day, and the pension keeps running in full in both cases. In practice the daily rate roughly doubles, to about 410 Canadian dollars (some 275 euros). It was announced in September 2020 for teachers who had retired since 2015, opened by ministerial order to those who had left earlier, and then made permanent; the minister has twice written personally to retired teachers to point it out, in 2023 and again in 2025. More than 5,000 were working in schools in 2022-23.</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retired public-school teachers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primary schools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It opened in November 2017 with a budget covering about 500 returners, was extended in 2019 with a further round of applications, and took applications until November 2020; the regulation itself expired at the beginning of 2022.</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Registered teachers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Returners keep the full pension and receive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9" name="Shape 6"/>
          <p:cNvSpPr/>
          <p:nvPr/>
        </p:nvSpPr>
        <p:spPr>
          <a:xfrm>
            <a:off x="502920" y="5961888"/>
            <a:ext cx="384048" cy="38404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9" name="Shape 6"/>
          <p:cNvSpPr/>
          <p:nvPr/>
        </p:nvSpPr>
        <p:spPr>
          <a:xfrm>
            <a:off x="502920" y="5961888"/>
            <a:ext cx="384048" cy="38404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Returners start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Former teachers who ask are given a named adviser, who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and college lecturers may go back to work in a public school, college or university for up to three years with no limit on salary or hours and no loss of pension. They apply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could take a full-time classroom post and draw the state pension alongside the salary, which put returners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841248"/>
            <a:ext cx="731520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a:t>
            </a:r>
            <a:endParaRPr lang="en-US" sz="1500" dirty="0"/>
          </a:p>
        </p:txBody>
      </p:sp>
      <p:sp>
        <p:nvSpPr>
          <p:cNvPr id="9" name="Text 7"/>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0" descr="preencoded.png">    </p:cNvPr>
          <p:cNvPicPr>
            <a:picLocks noChangeAspect="1"/>
          </p:cNvPicPr>
          <p:nvPr/>
        </p:nvPicPr>
        <p:blipFill>
          <a:blip r:embed="rId1"/>
          <a:stretch>
            <a:fillRect/>
          </a:stretch>
        </p:blipFill>
        <p:spPr>
          <a:xfrm>
            <a:off x="595092" y="6054060"/>
            <a:ext cx="199705" cy="199705"/>
          </a:xfrm>
          <a:prstGeom prst="rect">
            <a:avLst/>
          </a:prstGeom>
        </p:spPr>
      </p:pic>
      <p:sp>
        <p:nvSpPr>
          <p:cNvPr id="12" name="Shape 9"/>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1" descr="preencoded.png">    </p:cNvPr>
          <p:cNvPicPr>
            <a:picLocks noChangeAspect="1"/>
          </p:cNvPicPr>
          <p:nvPr/>
        </p:nvPicPr>
        <p:blipFill>
          <a:blip r:embed="rId2"/>
          <a:stretch>
            <a:fillRect/>
          </a:stretch>
        </p:blipFill>
        <p:spPr>
          <a:xfrm>
            <a:off x="1134588" y="6054060"/>
            <a:ext cx="199705" cy="199705"/>
          </a:xfrm>
          <a:prstGeom prst="rect">
            <a:avLst/>
          </a:prstGeom>
        </p:spPr>
      </p:pic>
      <p:sp>
        <p:nvSpPr>
          <p:cNvPr id="14" name="Shape 10"/>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2" descr="preencoded.png">    </p:cNvPr>
          <p:cNvPicPr>
            <a:picLocks noChangeAspect="1"/>
          </p:cNvPicPr>
          <p:nvPr/>
        </p:nvPicPr>
        <p:blipFill>
          <a:blip r:embed="rId3"/>
          <a:stretch>
            <a:fillRect/>
          </a:stretch>
        </p:blipFill>
        <p:spPr>
          <a:xfrm>
            <a:off x="1674084" y="6054060"/>
            <a:ext cx="199705" cy="199705"/>
          </a:xfrm>
          <a:prstGeom prst="rect">
            <a:avLst/>
          </a:prstGeom>
        </p:spPr>
      </p:pic>
      <p:sp>
        <p:nvSpPr>
          <p:cNvPr id="16" name="Shape 11"/>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3" descr="preencoded.png">    </p:cNvPr>
          <p:cNvPicPr>
            <a:picLocks noChangeAspect="1"/>
          </p:cNvPicPr>
          <p:nvPr/>
        </p:nvPicPr>
        <p:blipFill>
          <a:blip r:embed="rId4"/>
          <a:stretch>
            <a:fillRect/>
          </a:stretch>
        </p:blipFill>
        <p:spPr>
          <a:xfrm>
            <a:off x="2213580" y="6054060"/>
            <a:ext cx="199705" cy="199705"/>
          </a:xfrm>
          <a:prstGeom prst="rect">
            <a:avLst/>
          </a:prstGeom>
        </p:spPr>
      </p:pic>
      <p:sp>
        <p:nvSpPr>
          <p:cNvPr id="18" name="Shape 12"/>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4" descr="preencoded.png">    </p:cNvPr>
          <p:cNvPicPr>
            <a:picLocks noChangeAspect="1"/>
          </p:cNvPicPr>
          <p:nvPr/>
        </p:nvPicPr>
        <p:blipFill>
          <a:blip r:embed="rId5"/>
          <a:stretch>
            <a:fillRect/>
          </a:stretch>
        </p:blipFill>
        <p:spPr>
          <a:xfrm>
            <a:off x="2753076" y="6054060"/>
            <a:ext cx="199705" cy="199705"/>
          </a:xfrm>
          <a:prstGeom prst="rect">
            <a:avLst/>
          </a:prstGeom>
        </p:spPr>
      </p:pic>
      <p:sp>
        <p:nvSpPr>
          <p:cNvPr id="20" name="Text 13"/>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4"/>
          <p:cNvSpPr/>
          <p:nvPr/>
        </p:nvSpPr>
        <p:spPr>
          <a:xfrm>
            <a:off x="10451592" y="5943600"/>
            <a:ext cx="1280160" cy="365760"/>
          </a:xfrm>
          <a:prstGeom prst="roundRect">
            <a:avLst>
              <a:gd name="adj" fmla="val 50000"/>
            </a:avLst>
          </a:prstGeom>
          <a:solidFill>
            <a:srgbClr val="8C9B95"/>
          </a:solidFill>
          <a:ln w="12700">
            <a:solidFill>
              <a:srgbClr val="8C9B95"/>
            </a:solidFill>
            <a:prstDash val="solid"/>
          </a:ln>
        </p:spPr>
      </p:sp>
      <p:sp>
        <p:nvSpPr>
          <p:cNvPr id="22" name="Text 15"/>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p>
        </p:txBody>
      </p:sp>
      <p:sp>
        <p:nvSpPr>
          <p:cNvPr id="23"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2026-09-18T14:31:54Z</dcterms:created>
  <dcterms:modified xsi:type="dcterms:W3CDTF">2026-09-18T14:31:54Z</dcterms:modified>
</cp:coreProperties>
</file>