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Deck built from official sources (laws, ministry and agency web pages) plus, where noted, institutional evaluations and reputable press. Each policy slide carries its main source link in the footer; secondary sources and verification notes are in the speaker notes of each slide. Direct HTTP access was not available in the build environment, so every URL was verified through search-engine indexing of the official pages on 17 September 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Definitions follow the brief: three target groups (switchers, leavers, retired) and five instrument categories (financial incentives; information &amp; nudges; support &amp; training; flexible positions; flexible re-certification).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Australia (Victoria) — Support &amp; training — Target: Switchers, Leavers, Retired.
Secondary instruments: financial (honorarium up to AUD 12,000) and information/nudges (re-engagement team contacts every registrant). Eligibility: VIT registration or Working with Children Check. Teachers returning from extended parental absence instead get a temporary resumption of up to 40 days on their substantive salary. Extra reference: Victorian Government 'Support for returning teachers' page, https://www.vic.gov.au/returning-teacher-support-services
Euro amounts in brackets are approximate conversions, rounded, for orientation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Canada (Quebec) — Financial incentives — Target: Retired.
Primary source: Gouvernement du Québec page 'Retour à l'emploi des retraités du réseau de l'éducation' (incentive introduced 21 September 2020, made permanent; 700 retirees in 2020-21; pay at the scale held at departure from day one; daily maximum about CAD 412 vs CAD 212.15 usual substitute rate; no penalty on pension). The 2023 letter (signed 25 August 2023 by Minister Bernard Drainville), the 5,000+ figure and the CAD 578 daily incentive for retirees at the top of the scale on contracts of at least one month are reported by Le Devoir (press source).
Euro amounts in brackets are approximate conversions, rounded, for orientation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China — Flexible positions — Target: Retired.
Primary sources: MoE/MoF notice of 19 July 2018 issuing the implementation plan (eligibility: mainly principals, teaching researchers, special-grade and backbone teachers, generally 65 or under; 10,000 recruits planned 2018-2020; first cohort autumn 2018), and the 2024 implementation notice (7,000 recruits; central funding of CNY 20,000 per person per year at compulsory-education level, used for work stipend, travel and accident insurance). The 2023 National Silver-Age Teachers Action Plan (10 ministries) sets a target of roughly 120,000 silver-age teachers across all education levels within about three years.
Euro amounts in brackets are approximate conversions, rounded, for orientation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Germany (Lower Saxony) — Financial incentives — Target: Retired.
Sources: Lower Saxony Ministry of Education press releases. The 2022 release (Lehrkräfte-Gewinnungspaket) reports the Landtag decision to raise the Hinzuverdienstgrenze from 125% to 150% of pensionable pay from 1 October 2022, initially limited to two years, letting pensioned teachers teach on average 9-10 hours without pension reduction, plus a 15% rise in overtime pay. The 2024/25 release states that the earnings ceiling for pensioned teachers was removed as of 31 October 2024. Context: a 2023 survey by Deutsches Schulportal found that 13 of 16 Länder actively approach retired teachers and that more than 5,000 teachers nationwide had been won to stay or return (https://deutsches-schulportal.de/bildungswesen/laenderueberblick-umfrage-lehrermangel-pensionierte-lehrer/).
Euro amounts in brackets are approximate conversions, rounded, for orientation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Germany (Lower Saxony) — Information &amp; nudges — Target: Retired.
Source: Ministry press release 'Umfangreicher Erfahrungsschatz – Kultusministerin Hamburg informiert Lehrkräfte kurz vor dem Ruhestand über Möglichkeiten der Weiterbeschäftigung' and the letter itself (PDF). The information sheet ('Anlage zum Brief') covers staying in service (deferral of up to three years for civil servants, on application before the end of the preceding school half-year) and fixed-term re-employment under the collective agreement immediately after retirement. This matches the 'leaflet with the retirement paperwork' type of nudge.
Euro amounts in brackets are approximate conversions, rounded, for orientation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Ireland — Financial incentives — Target: Retired.
Source: Department of Education (gov.ie) 'Working as a substitute while receiving a teacher's pension'. Circular numbers (0003/2021, 04/2024, 17/2026) as cited by the Department and by the Retired Teachers' Association of Ireland (https://rtaireland.ie/pension-abatement/). Abatement applies only where earnings plus pension exceed pensionable pay at retirement (uprated); it stops as soon as the retiree stops working.
Euro amounts in brackets are approximate conversions, rounded, for orientation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Japan — Flexible re-certification — Target: Switchers, Leavers.
Sources: MEXT explanatory document on the abolition of the licence renewal system (licences valid on 1 July 2022, including dormant ones, become licences without expiry, no procedure needed) and Saitama Prefectural Board of Education 'paper teacher seminar' page. The counts of boards of education running paper-teacher programmes (50 in FY2023, 58 planned in FY2024, about 70%) are MEXT figures reported by AERA (press source); treat as indicative. MEXT archive on the former renewal system: https://www.mext.go.jp/a_menu/shotou/koushin/
Euro amounts in brackets are approximate conversions, rounded, for orientation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Netherlands — Financial incentives — Target: Switchers, Leavers.
Primary source: text of the 'Regeling tegemoetkoming herintreders primair onderwijs' on wetten.overheid.nl (BWBR0040130), plus the OCW newsletter of 3 July 2019 announcing a new application round. Conditions: appointment from 1 August 2017, contract of at least six months, no work as a primary-school teacher in the 12 months before appointment; grant of up to EUR 2,500 per returner paid to the school board for guidance and support costs; EUR 1.25 million available until 31 December 2018 (max. 500 returners).
Euro amounts in brackets are approximate conversions, rounded, for orientation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New Zealand — Flexible re-certification — Target: Switchers, Leavers.
Sources: Ministry of Education 'Education Workforce' page 'Returning to teaching after a break' (no TER required even after five or more years away when there is a job offer; 20 half-days of relief teaching allowed while renewing; fees and levies covered until 30 June 2028) and the Government press release 'Backing teachers: Teacher registrations funded' (352 teachers supported to return since October 2024; NZD 53.3 million over three financial years from 1 July 2025).
Euro amounts in brackets are approximate conversions, rounded, for orientation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Portugal — Financial incentives — Target: Retired.
Primary sources: Decreto-Lei n.º 51/2024 of 28 August (Diário da República) and DGAE notice on the procedure for assigning teaching service to retired teachers. Key provisions: fixed-term public-employment contracts with retired/pensioned teachers holding professional qualification, for shortage recruitment groups or under-staffed schools, with authorisation from the member of Government responsible for education; not applicable to those retired for more than five years; annual quota fixed by joint order (Finance, Public Administration, Education); pension maintained plus an additional payment corresponding to the 1st index of the salary scale according to weekly teaching hours. The figure of 62 retirees comes from Público, 5 November 2024 (press source).
Euro amounts in brackets are approximate conversions, rounded, for orientation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Singapore — Flexible positions — Target: Switchers, Leavers, Retired.
Sources: MOE careers page for the Flexi-Adjunct Teaching Scheme (qualification: PGDE or Diploma in Education from NIE, other professional teaching qualifications considered; appointments from 1 day to 10 weeks; teaching or mixed duties; pro-rated leave after 90 days of cumulative service; registration via the Relief Employment Management System) and MOE parliamentary reply of 23 September 2025 (2022-2024: around 220 teachers on average engaged as Flexi-Adjunct Teachers within 12 months of leaving the Education Service). Launch year of the scheme not stated on the page.
Euro amounts in brackets are approximate conversions, rounded, for orientation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Sweden — Support &amp; training — Target: Switchers, Leavers.
Sources: Skolverket course page 'Återvändande lärare och förskollärare – webbaserad utbildning' (available since October 2018; two tracks; participants choose modules; certificate per module; aimed at returners with legitimation or a qualifying degree) and Skolverket's 2020 report on the government assignment. No participation figures found on the pages.
Euro amounts in brackets are approximate conversions, rounded, for orientation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Switzerland (Canton of Zurich) — Support &amp; training — Target: Switchers, Leavers.
Source: PH Zürich 'Wiedereinstieg' page (with the Wiedereinstiegsberatung offer). Teachers returning after at least eight years can use the induction (Berufseinführung) offer free of charge in their first school year, with financial participation of the Volksschulamt of the Canton of Zurich; the positioning assessment is subsidised by the Volksschulamt (first hour free, hours 2-6 charged); workplace mentoring (Fachbegleitung) up to 25 hours. No take-up figures published on the page.
Euro amounts in brackets are approximate conversions, rounded, for orientation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United Kingdom (England) — Information &amp; nudges — Target: Switchers, Leavers.
Sources: DfE 'Get Into Teaching' page 'Get support returning to teaching' (eligibility: previously taught or trained to teach in the UK; free one-to-one support with applications, courses such as NPQs, vacancies, webinars) and the House of Commons Education Committee report 'Teacher recruitment, training and retention' (returners 35-40% of entrants in recent years; about 17,500 FTE qualified returners in 2023, 38% of qualified entrants). The January 2022 'Come back to teaching' campaign is documented by local-authority pages (e.g. Warwickshire County Council).
Euro amounts in brackets are approximate conversions, rounded, for orientation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United States (Georgia) — Financial incentives — Target: Retired.
Sources: Teachers Retirement System of Georgia 'HB 385 Employment' page (30+ years of service, retired for one year, full-time classroom teacher in a highest-need area determined by the RESA, effective 1 July 2022 to 30 June 2026, employer pays contributions, no additional creditable service; HB 385 sunsets 30 June 2026 and SB 150 was passed in the 2026 session) and the Georgia Department of Audits and Accounts report 'Retired Teachers Return to Work' (about 350 full-time retirees employed each year, less than 1% of the workforce), summarised by Georgia Public Broadcasting, 7 May 2025.
Euro amounts in brackets are approximate conversions, rounded, for orientation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United States (Colorado) — Flexible positions — Target: Retired.
Source: Institute of Education Sciences, REL Central, 'Impacts of the Retired Mentors for New Teachers program' (DeCesare, McClelland &amp; Randel, 2017, REL 2017-225). Design: 77 classroom teachers across 11 schools randomly assigned to mentoring by retired, highly effective district educators or to the district's business-as-usual mentoring. Results: no effect on retention; effect size 0.06 on maths achievement (significant at end of year one, not at end of year two); no effect on reading. Programme start year not stated on the summary page.
Euro amounts in brackets are approximate conversions, rounded, for orientation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Summary table of all policies in the deck, in the same order as the slides.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image" Target="../media/image-1-6.png"/><Relationship Id="rId7" Type="http://schemas.openxmlformats.org/officeDocument/2006/relationships/image" Target="../media/image-1-7.png"/><Relationship Id="rId8" Type="http://schemas.openxmlformats.org/officeDocument/2006/relationships/image" Target="../media/image-1-8.png"/><Relationship Id="rId9" Type="http://schemas.openxmlformats.org/officeDocument/2006/relationships/image" Target="../media/image-1-9.png"/><Relationship Id="rId10" Type="http://schemas.openxmlformats.org/officeDocument/2006/relationships/image" Target="../media/image-1-10.png"/><Relationship Id="rId11" Type="http://schemas.openxmlformats.org/officeDocument/2006/relationships/image" Target="../media/image-1-11.png"/><Relationship Id="rId12" Type="http://schemas.openxmlformats.org/officeDocument/2006/relationships/image" Target="../media/image-1-12.png"/><Relationship Id="rId13" Type="http://schemas.openxmlformats.org/officeDocument/2006/relationships/image" Target="../media/image-1-13.png"/><Relationship Id="rId14" Type="http://schemas.openxmlformats.org/officeDocument/2006/relationships/image" Target="../media/image-1-14.png"/><Relationship Id="rId15" Type="http://schemas.openxmlformats.org/officeDocument/2006/relationships/slideLayout" Target="../slideLayouts/slideLayout1.xml"/><Relationship Id="rId1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image" Target="../media/image-2-7.png"/><Relationship Id="rId8" Type="http://schemas.openxmlformats.org/officeDocument/2006/relationships/image" Target="../media/image-2-8.png"/><Relationship Id="rId9" Type="http://schemas.openxmlformats.org/officeDocument/2006/relationships/slideLayout" Target="../slideLayouts/slideLayout1.xml"/><Relationship Id="rId10"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3" Type="http://schemas.openxmlformats.org/officeDocument/2006/relationships/hyperlink" Target="https://www.vic.gov.au/teacher-re-engagement-initiative" TargetMode="External"/><Relationship Id="rId1" Type="http://schemas.openxmlformats.org/officeDocument/2006/relationships/image" Target="../media/image-3-1.png"/><Relationship Id="rId2" Type="http://schemas.openxmlformats.org/officeDocument/2006/relationships/image" Target="../media/image-3-2.png"/><Relationship Id="rId4" Type="http://schemas.openxmlformats.org/officeDocument/2006/relationships/slideLayout" Target="../slideLayouts/slideLayout1.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3" Type="http://schemas.openxmlformats.org/officeDocument/2006/relationships/hyperlink" Target="https://www.quebec.ca/en/government/work-government/jobs-education/teaching-general-education-youth-sector-vocational-training-adult-education/return-work-retired-teacher" TargetMode="External"/><Relationship Id="rId4" Type="http://schemas.openxmlformats.org/officeDocument/2006/relationships/hyperlink" Target="https://www.ledevoir.com/actualites/education/912921/quebec-espere-nouveau-attirer-milliers-enseignants-retraites-ecoles" TargetMode="External"/><Relationship Id="rId1" Type="http://schemas.openxmlformats.org/officeDocument/2006/relationships/image" Target="../media/image-4-1.png"/><Relationship Id="rId2" Type="http://schemas.openxmlformats.org/officeDocument/2006/relationships/image" Target="../media/image-4-2.png"/><Relationship Id="rId5" Type="http://schemas.openxmlformats.org/officeDocument/2006/relationships/slideLayout" Target="../slideLayouts/slideLayout1.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3" Type="http://schemas.openxmlformats.org/officeDocument/2006/relationships/hyperlink" Target="http://www.moe.gov.cn/srcsite/A10/s7151/201807/t20180719_343448.html" TargetMode="External"/><Relationship Id="rId4" Type="http://schemas.openxmlformats.org/officeDocument/2006/relationships/hyperlink" Target="https://www.gov.cn/zhengce/zhengceku/202408/content_6967278.htm" TargetMode="External"/><Relationship Id="rId1" Type="http://schemas.openxmlformats.org/officeDocument/2006/relationships/image" Target="../media/image-5-1.png"/><Relationship Id="rId2" Type="http://schemas.openxmlformats.org/officeDocument/2006/relationships/image" Target="../media/image-5-2.png"/><Relationship Id="rId5" Type="http://schemas.openxmlformats.org/officeDocument/2006/relationships/slideLayout" Target="../slideLayouts/slideLayout1.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3" Type="http://schemas.openxmlformats.org/officeDocument/2006/relationships/hyperlink" Target="https://www.mk.niedersachsen.de/startseite/aktuelles/presseinformationen/lehrkrafte-gewinnungspaket-landtag-erhoht-hinzuverdienstgrenze-und-mehrarbeitsvergutung-tonne-unterrichten-lohnt-sich-215592.html" TargetMode="External"/><Relationship Id="rId4" Type="http://schemas.openxmlformats.org/officeDocument/2006/relationships/hyperlink" Target="https://www.mk.niedersachsen.de/startseite/aktuelles/presseinformationen/2-schulhalbjahr-2024-2025-unterrichtsversorgung-bleibt-stabil-238881.html" TargetMode="External"/><Relationship Id="rId1" Type="http://schemas.openxmlformats.org/officeDocument/2006/relationships/image" Target="../media/image-6-1.png"/><Relationship Id="rId2" Type="http://schemas.openxmlformats.org/officeDocument/2006/relationships/image" Target="../media/image-6-2.png"/><Relationship Id="rId5" Type="http://schemas.openxmlformats.org/officeDocument/2006/relationships/slideLayout" Target="../slideLayouts/slideLayout1.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3" Type="http://schemas.openxmlformats.org/officeDocument/2006/relationships/hyperlink" Target="https://www.mk.niedersachsen.de/startseite/aktuelles/kultusministerin_hamburg_schreibt_an_angehende_pensionare/umfangreicher-erfahrungsschatz-kultusministerin-hamburg-informiert-lehrkrafte-kurz-vor-dem-ruhestand-uber-moglichkeiten-der-weiterbeschaftigung-227231.html" TargetMode="External"/><Relationship Id="rId4" Type="http://schemas.openxmlformats.org/officeDocument/2006/relationships/hyperlink" Target="https://www.mk.niedersachsen.de/download/201317/Schreiben_an_angehende_Pensionaerinnen_und_Pensionaere.pdf" TargetMode="External"/><Relationship Id="rId1" Type="http://schemas.openxmlformats.org/officeDocument/2006/relationships/image" Target="../media/image-7-1.png"/><Relationship Id="rId2" Type="http://schemas.openxmlformats.org/officeDocument/2006/relationships/image" Target="../media/image-7-2.png"/><Relationship Id="rId5" Type="http://schemas.openxmlformats.org/officeDocument/2006/relationships/slideLayout" Target="../slideLayouts/slideLayout1.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3" Type="http://schemas.openxmlformats.org/officeDocument/2006/relationships/hyperlink" Target="https://www.gov.ie/en/department-of-education/publications/working-as-a-substitute-while-receiving-a-teachers-pension/" TargetMode="External"/><Relationship Id="rId1" Type="http://schemas.openxmlformats.org/officeDocument/2006/relationships/image" Target="../media/image-8-1.png"/><Relationship Id="rId2" Type="http://schemas.openxmlformats.org/officeDocument/2006/relationships/image" Target="../media/image-8-2.png"/><Relationship Id="rId4" Type="http://schemas.openxmlformats.org/officeDocument/2006/relationships/slideLayout" Target="../slideLayouts/slideLayout1.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3" Type="http://schemas.openxmlformats.org/officeDocument/2006/relationships/hyperlink" Target="https://www.mext.go.jp/content/20221028-mxt_kyoikujinzai02-000022570_3.pdf" TargetMode="External"/><Relationship Id="rId4" Type="http://schemas.openxmlformats.org/officeDocument/2006/relationships/hyperlink" Target="https://www.pref.saitama.lg.jp/f2213/paperteacher.html" TargetMode="External"/><Relationship Id="rId1" Type="http://schemas.openxmlformats.org/officeDocument/2006/relationships/image" Target="../media/image-9-1.png"/><Relationship Id="rId2" Type="http://schemas.openxmlformats.org/officeDocument/2006/relationships/image" Target="../media/image-9-2.png"/><Relationship Id="rId5" Type="http://schemas.openxmlformats.org/officeDocument/2006/relationships/slideLayout" Target="../slideLayouts/slideLayout1.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3" Type="http://schemas.openxmlformats.org/officeDocument/2006/relationships/hyperlink" Target="https://wetten.overheid.nl/1.3:c:BWBR0040130&amp;g=2020-07-01&amp;z=2025-10-18" TargetMode="External"/><Relationship Id="rId4" Type="http://schemas.openxmlformats.org/officeDocument/2006/relationships/hyperlink" Target="https://www.nieuwsbrievenminocw.nl/actueel/nieuws/2019/07/03/subsidie-voor-herintreders" TargetMode="External"/><Relationship Id="rId1" Type="http://schemas.openxmlformats.org/officeDocument/2006/relationships/image" Target="../media/image-10-1.png"/><Relationship Id="rId2" Type="http://schemas.openxmlformats.org/officeDocument/2006/relationships/image" Target="../media/image-10-2.png"/><Relationship Id="rId5" Type="http://schemas.openxmlformats.org/officeDocument/2006/relationships/slideLayout" Target="../slideLayouts/slideLayout1.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3" Type="http://schemas.openxmlformats.org/officeDocument/2006/relationships/hyperlink" Target="https://workforce.education.govt.nz/current-teachers/returning-teaching/returning-teaching-after-break" TargetMode="External"/><Relationship Id="rId4" Type="http://schemas.openxmlformats.org/officeDocument/2006/relationships/hyperlink" Target="https://www.beehive.govt.nz/release/backing-teachers-teacher-registrations-funded" TargetMode="External"/><Relationship Id="rId1" Type="http://schemas.openxmlformats.org/officeDocument/2006/relationships/image" Target="../media/image-11-1.png"/><Relationship Id="rId2" Type="http://schemas.openxmlformats.org/officeDocument/2006/relationships/image" Target="../media/image-11-2.png"/><Relationship Id="rId5" Type="http://schemas.openxmlformats.org/officeDocument/2006/relationships/slideLayout" Target="../slideLayouts/slideLayout1.xml"/><Relationship Id="rId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3" Type="http://schemas.openxmlformats.org/officeDocument/2006/relationships/hyperlink" Target="https://diariodarepublica.pt/dr/detalhe/decreto-lei/51-2024-885927817" TargetMode="External"/><Relationship Id="rId4" Type="http://schemas.openxmlformats.org/officeDocument/2006/relationships/hyperlink" Target="https://www.dgae.medu.pt/noticias/atribuicao-de-servico-docente-aos-aposentados-e-reformados" TargetMode="External"/><Relationship Id="rId1" Type="http://schemas.openxmlformats.org/officeDocument/2006/relationships/image" Target="../media/image-12-1.png"/><Relationship Id="rId2" Type="http://schemas.openxmlformats.org/officeDocument/2006/relationships/image" Target="../media/image-12-2.png"/><Relationship Id="rId5" Type="http://schemas.openxmlformats.org/officeDocument/2006/relationships/slideLayout" Target="../slideLayouts/slideLayout1.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3" Type="http://schemas.openxmlformats.org/officeDocument/2006/relationships/hyperlink" Target="https://www.moe.gov.sg/careers/adjunct-and-relief-schemes/flexi-adjunct-teaching-scheme" TargetMode="External"/><Relationship Id="rId4" Type="http://schemas.openxmlformats.org/officeDocument/2006/relationships/hyperlink" Target="https://www.moe.gov.sg/news/parliamentary-replies/20250923-statistics-on-teachers-who-joined-flexi-adjunct-teaching-scheme-and-median-duration-of-teachers-on-scheme" TargetMode="External"/><Relationship Id="rId1" Type="http://schemas.openxmlformats.org/officeDocument/2006/relationships/image" Target="../media/image-13-1.png"/><Relationship Id="rId2" Type="http://schemas.openxmlformats.org/officeDocument/2006/relationships/image" Target="../media/image-13-2.png"/><Relationship Id="rId5" Type="http://schemas.openxmlformats.org/officeDocument/2006/relationships/slideLayout" Target="../slideLayouts/slideLayout1.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3" Type="http://schemas.openxmlformats.org/officeDocument/2006/relationships/hyperlink" Target="https://www.skolverket.se/skolutveckling/kurser-och-utbildningar/atervandande-larare-och-forskollarare---webbaserad-utbildning" TargetMode="External"/><Relationship Id="rId4" Type="http://schemas.openxmlformats.org/officeDocument/2006/relationships/hyperlink" Target="https://www.skolverket.se/publikationsserier/regeringsuppdrag/2020/uppdrag-om-en-webbutbildning-for-atervandande-larare-och-forskollarare" TargetMode="External"/><Relationship Id="rId1" Type="http://schemas.openxmlformats.org/officeDocument/2006/relationships/image" Target="../media/image-14-1.png"/><Relationship Id="rId2" Type="http://schemas.openxmlformats.org/officeDocument/2006/relationships/image" Target="../media/image-14-2.png"/><Relationship Id="rId5" Type="http://schemas.openxmlformats.org/officeDocument/2006/relationships/slideLayout" Target="../slideLayouts/slideLayout1.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3" Type="http://schemas.openxmlformats.org/officeDocument/2006/relationships/hyperlink" Target="https://phzh.ch/de/weiterbildung/weiterbildung-fuer-die-volksschule/berufslaufbahn/wiedereinstieg/" TargetMode="External"/><Relationship Id="rId1" Type="http://schemas.openxmlformats.org/officeDocument/2006/relationships/image" Target="../media/image-15-1.png"/><Relationship Id="rId2" Type="http://schemas.openxmlformats.org/officeDocument/2006/relationships/image" Target="../media/image-15-2.png"/><Relationship Id="rId4" Type="http://schemas.openxmlformats.org/officeDocument/2006/relationships/slideLayout" Target="../slideLayouts/slideLayout1.xml"/><Relationship Id="rId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3" Type="http://schemas.openxmlformats.org/officeDocument/2006/relationships/hyperlink" Target="https://getintoteaching.education.gov.uk/returning-to-teaching" TargetMode="External"/><Relationship Id="rId4" Type="http://schemas.openxmlformats.org/officeDocument/2006/relationships/hyperlink" Target="https://publications.parliament.uk/pa/cm5901/cmselect/cmeduc/627/report.html" TargetMode="External"/><Relationship Id="rId1" Type="http://schemas.openxmlformats.org/officeDocument/2006/relationships/image" Target="../media/image-16-1.png"/><Relationship Id="rId2" Type="http://schemas.openxmlformats.org/officeDocument/2006/relationships/image" Target="../media/image-16-2.png"/><Relationship Id="rId5" Type="http://schemas.openxmlformats.org/officeDocument/2006/relationships/slideLayout" Target="../slideLayouts/slideLayout1.xml"/><Relationship Id="rId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3" Type="http://schemas.openxmlformats.org/officeDocument/2006/relationships/hyperlink" Target="https://www.trsga.com/retiree/working-after-retirement/hb-385-employment/" TargetMode="External"/><Relationship Id="rId4" Type="http://schemas.openxmlformats.org/officeDocument/2006/relationships/hyperlink" Target="https://www.audits.ga.gov/ReportSearch/download/32615" TargetMode="External"/><Relationship Id="rId1" Type="http://schemas.openxmlformats.org/officeDocument/2006/relationships/image" Target="../media/image-17-1.png"/><Relationship Id="rId2" Type="http://schemas.openxmlformats.org/officeDocument/2006/relationships/image" Target="../media/image-17-2.png"/><Relationship Id="rId5" Type="http://schemas.openxmlformats.org/officeDocument/2006/relationships/slideLayout" Target="../slideLayouts/slideLayout1.xml"/><Relationship Id="rId6"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3" Type="http://schemas.openxmlformats.org/officeDocument/2006/relationships/hyperlink" Target="https://ies.ed.gov/use-work/resource-library/report/descriptive-study/impacts-retired-mentors-new-teachers-program" TargetMode="External"/><Relationship Id="rId1" Type="http://schemas.openxmlformats.org/officeDocument/2006/relationships/image" Target="../media/image-18-1.png"/><Relationship Id="rId2" Type="http://schemas.openxmlformats.org/officeDocument/2006/relationships/image" Target="../media/image-18-2.png"/><Relationship Id="rId4" Type="http://schemas.openxmlformats.org/officeDocument/2006/relationships/slideLayout" Target="../slideLayouts/slideLayout1.xml"/><Relationship Id="rId5"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F4E46"/>
        </a:solidFill>
      </p:bgPr>
    </p:bg>
    <p:spTree>
      <p:nvGrpSpPr>
        <p:cNvPr id="1" name=""/>
        <p:cNvGrpSpPr/>
        <p:nvPr/>
      </p:nvGrpSpPr>
      <p:grpSpPr>
        <a:xfrm>
          <a:off x="0" y="0"/>
          <a:ext cx="0" cy="0"/>
          <a:chOff x="0" y="0"/>
          <a:chExt cx="0" cy="0"/>
        </a:xfrm>
      </p:grpSpPr>
      <p:sp>
        <p:nvSpPr>
          <p:cNvPr id="2" name="Text 0"/>
          <p:cNvSpPr txBox="1"/>
          <p:nvPr/>
        </p:nvSpPr>
        <p:spPr>
          <a:xfrm>
            <a:off x="731520" y="1143000"/>
            <a:ext cx="10698480" cy="1097280"/>
          </a:xfrm>
          <a:prstGeom prst="rect">
            <a:avLst/>
          </a:prstGeom>
          <a:noFill/>
          <a:ln/>
        </p:spPr>
        <p:txBody>
          <a:bodyPr wrap="square" lIns="0" tIns="0" rIns="0" bIns="0" rtlCol="0" anchor="b"/>
          <a:lstStyle/>
          <a:p>
            <a:pPr indent="0" marL="0">
              <a:buNone/>
            </a:pPr>
            <a:r>
              <a:rPr lang="en-US" sz="4600" b="1" dirty="0">
                <a:solidFill>
                  <a:srgbClr val="FFFFFF"/>
                </a:solidFill>
                <a:latin typeface="Cambria" pitchFamily="34" charset="0"/>
                <a:ea typeface="Cambria" pitchFamily="34" charset="-122"/>
                <a:cs typeface="Cambria" pitchFamily="34" charset="-120"/>
              </a:rPr>
              <a:t>Re-attracting Former Teachers</a:t>
            </a:r>
            <a:endParaRPr lang="en-US" sz="4600" dirty="0"/>
          </a:p>
        </p:txBody>
      </p:sp>
      <p:sp>
        <p:nvSpPr>
          <p:cNvPr id="3" name="Text 1"/>
          <p:cNvSpPr txBox="1"/>
          <p:nvPr/>
        </p:nvSpPr>
        <p:spPr>
          <a:xfrm>
            <a:off x="731520" y="2331720"/>
            <a:ext cx="10698480" cy="640080"/>
          </a:xfrm>
          <a:prstGeom prst="rect">
            <a:avLst/>
          </a:prstGeom>
          <a:noFill/>
          <a:ln/>
        </p:spPr>
        <p:txBody>
          <a:bodyPr wrap="square" lIns="0" tIns="0" rIns="0" bIns="0" rtlCol="0" anchor="ctr"/>
          <a:lstStyle/>
          <a:p>
            <a:pPr indent="0" marL="0">
              <a:buNone/>
            </a:pPr>
            <a:r>
              <a:rPr lang="en-US" sz="2200" dirty="0">
                <a:solidFill>
                  <a:srgbClr val="CFE3D9"/>
                </a:solidFill>
                <a:latin typeface="Calibri" pitchFamily="34" charset="0"/>
                <a:ea typeface="Calibri" pitchFamily="34" charset="-122"/>
                <a:cs typeface="Calibri" pitchFamily="34" charset="-120"/>
              </a:rPr>
              <a:t>Policies that bring them back into education</a:t>
            </a:r>
            <a:endParaRPr lang="en-US" sz="2200" dirty="0"/>
          </a:p>
        </p:txBody>
      </p:sp>
      <p:sp>
        <p:nvSpPr>
          <p:cNvPr id="4" name="Text 2"/>
          <p:cNvSpPr txBox="1"/>
          <p:nvPr/>
        </p:nvSpPr>
        <p:spPr>
          <a:xfrm>
            <a:off x="731520" y="4069080"/>
            <a:ext cx="9144000" cy="365760"/>
          </a:xfrm>
          <a:prstGeom prst="rect">
            <a:avLst/>
          </a:prstGeom>
          <a:noFill/>
          <a:ln/>
        </p:spPr>
        <p:txBody>
          <a:bodyPr wrap="square" lIns="0" tIns="0" rIns="0" bIns="0" rtlCol="0" anchor="ctr"/>
          <a:lstStyle/>
          <a:p>
            <a:pPr indent="0" marL="0">
              <a:buNone/>
            </a:pPr>
            <a:r>
              <a:rPr lang="en-US" sz="1300" dirty="0">
                <a:solidFill>
                  <a:srgbClr val="CFE3D9"/>
                </a:solidFill>
                <a:latin typeface="Calibri" pitchFamily="34" charset="0"/>
                <a:ea typeface="Calibri" pitchFamily="34" charset="-122"/>
                <a:cs typeface="Calibri" pitchFamily="34" charset="-120"/>
              </a:rPr>
              <a:t>José Manuel Torres – José Elías Durán Roa  ·  September 2026</a:t>
            </a:r>
            <a:endParaRPr lang="en-US" sz="1300" dirty="0"/>
          </a:p>
        </p:txBody>
      </p:sp>
      <p:pic>
        <p:nvPicPr>
          <p:cNvPr id="5" name="Image 0" descr="preencoded.png">    </p:cNvPr>
          <p:cNvPicPr>
            <a:picLocks noChangeAspect="1"/>
          </p:cNvPicPr>
          <p:nvPr/>
        </p:nvPicPr>
        <p:blipFill>
          <a:blip r:embed="rId1"/>
          <a:stretch>
            <a:fillRect/>
          </a:stretch>
        </p:blipFill>
        <p:spPr>
          <a:xfrm>
            <a:off x="655168" y="5074920"/>
            <a:ext cx="658368" cy="493776"/>
          </a:xfrm>
          <a:prstGeom prst="rect">
            <a:avLst/>
          </a:prstGeom>
        </p:spPr>
      </p:pic>
      <p:pic>
        <p:nvPicPr>
          <p:cNvPr id="6" name="Image 1" descr="preencoded.png">    </p:cNvPr>
          <p:cNvPicPr>
            <a:picLocks noChangeAspect="1"/>
          </p:cNvPicPr>
          <p:nvPr/>
        </p:nvPicPr>
        <p:blipFill>
          <a:blip r:embed="rId2"/>
          <a:stretch>
            <a:fillRect/>
          </a:stretch>
        </p:blipFill>
        <p:spPr>
          <a:xfrm>
            <a:off x="1441552" y="5074920"/>
            <a:ext cx="658368" cy="493776"/>
          </a:xfrm>
          <a:prstGeom prst="rect">
            <a:avLst/>
          </a:prstGeom>
        </p:spPr>
      </p:pic>
      <p:pic>
        <p:nvPicPr>
          <p:cNvPr id="7" name="Image 2" descr="preencoded.png">    </p:cNvPr>
          <p:cNvPicPr>
            <a:picLocks noChangeAspect="1"/>
          </p:cNvPicPr>
          <p:nvPr/>
        </p:nvPicPr>
        <p:blipFill>
          <a:blip r:embed="rId3"/>
          <a:stretch>
            <a:fillRect/>
          </a:stretch>
        </p:blipFill>
        <p:spPr>
          <a:xfrm>
            <a:off x="2227936" y="5074920"/>
            <a:ext cx="658368" cy="493776"/>
          </a:xfrm>
          <a:prstGeom prst="rect">
            <a:avLst/>
          </a:prstGeom>
        </p:spPr>
      </p:pic>
      <p:pic>
        <p:nvPicPr>
          <p:cNvPr id="8" name="Image 3" descr="preencoded.png">    </p:cNvPr>
          <p:cNvPicPr>
            <a:picLocks noChangeAspect="1"/>
          </p:cNvPicPr>
          <p:nvPr/>
        </p:nvPicPr>
        <p:blipFill>
          <a:blip r:embed="rId4"/>
          <a:stretch>
            <a:fillRect/>
          </a:stretch>
        </p:blipFill>
        <p:spPr>
          <a:xfrm>
            <a:off x="3014320" y="5074920"/>
            <a:ext cx="658368" cy="493776"/>
          </a:xfrm>
          <a:prstGeom prst="rect">
            <a:avLst/>
          </a:prstGeom>
        </p:spPr>
      </p:pic>
      <p:pic>
        <p:nvPicPr>
          <p:cNvPr id="9" name="Image 4" descr="preencoded.png">    </p:cNvPr>
          <p:cNvPicPr>
            <a:picLocks noChangeAspect="1"/>
          </p:cNvPicPr>
          <p:nvPr/>
        </p:nvPicPr>
        <p:blipFill>
          <a:blip r:embed="rId5"/>
          <a:stretch>
            <a:fillRect/>
          </a:stretch>
        </p:blipFill>
        <p:spPr>
          <a:xfrm>
            <a:off x="3800704" y="5074920"/>
            <a:ext cx="658368" cy="493776"/>
          </a:xfrm>
          <a:prstGeom prst="rect">
            <a:avLst/>
          </a:prstGeom>
        </p:spPr>
      </p:pic>
      <p:pic>
        <p:nvPicPr>
          <p:cNvPr id="10" name="Image 5" descr="preencoded.png">    </p:cNvPr>
          <p:cNvPicPr>
            <a:picLocks noChangeAspect="1"/>
          </p:cNvPicPr>
          <p:nvPr/>
        </p:nvPicPr>
        <p:blipFill>
          <a:blip r:embed="rId6"/>
          <a:stretch>
            <a:fillRect/>
          </a:stretch>
        </p:blipFill>
        <p:spPr>
          <a:xfrm>
            <a:off x="4587088" y="5074920"/>
            <a:ext cx="658368" cy="493776"/>
          </a:xfrm>
          <a:prstGeom prst="rect">
            <a:avLst/>
          </a:prstGeom>
        </p:spPr>
      </p:pic>
      <p:pic>
        <p:nvPicPr>
          <p:cNvPr id="11" name="Image 6" descr="preencoded.png">    </p:cNvPr>
          <p:cNvPicPr>
            <a:picLocks noChangeAspect="1"/>
          </p:cNvPicPr>
          <p:nvPr/>
        </p:nvPicPr>
        <p:blipFill>
          <a:blip r:embed="rId7"/>
          <a:stretch>
            <a:fillRect/>
          </a:stretch>
        </p:blipFill>
        <p:spPr>
          <a:xfrm>
            <a:off x="5373472" y="5074920"/>
            <a:ext cx="658368" cy="493776"/>
          </a:xfrm>
          <a:prstGeom prst="rect">
            <a:avLst/>
          </a:prstGeom>
        </p:spPr>
      </p:pic>
      <p:pic>
        <p:nvPicPr>
          <p:cNvPr id="12" name="Image 7" descr="preencoded.png">    </p:cNvPr>
          <p:cNvPicPr>
            <a:picLocks noChangeAspect="1"/>
          </p:cNvPicPr>
          <p:nvPr/>
        </p:nvPicPr>
        <p:blipFill>
          <a:blip r:embed="rId8"/>
          <a:stretch>
            <a:fillRect/>
          </a:stretch>
        </p:blipFill>
        <p:spPr>
          <a:xfrm>
            <a:off x="6159856" y="5074920"/>
            <a:ext cx="658368" cy="493776"/>
          </a:xfrm>
          <a:prstGeom prst="rect">
            <a:avLst/>
          </a:prstGeom>
        </p:spPr>
      </p:pic>
      <p:pic>
        <p:nvPicPr>
          <p:cNvPr id="13" name="Image 8" descr="preencoded.png">    </p:cNvPr>
          <p:cNvPicPr>
            <a:picLocks noChangeAspect="1"/>
          </p:cNvPicPr>
          <p:nvPr/>
        </p:nvPicPr>
        <p:blipFill>
          <a:blip r:embed="rId9"/>
          <a:stretch>
            <a:fillRect/>
          </a:stretch>
        </p:blipFill>
        <p:spPr>
          <a:xfrm>
            <a:off x="6946240" y="5074920"/>
            <a:ext cx="658368" cy="493776"/>
          </a:xfrm>
          <a:prstGeom prst="rect">
            <a:avLst/>
          </a:prstGeom>
        </p:spPr>
      </p:pic>
      <p:pic>
        <p:nvPicPr>
          <p:cNvPr id="14" name="Image 9" descr="preencoded.png">    </p:cNvPr>
          <p:cNvPicPr>
            <a:picLocks noChangeAspect="1"/>
          </p:cNvPicPr>
          <p:nvPr/>
        </p:nvPicPr>
        <p:blipFill>
          <a:blip r:embed="rId10"/>
          <a:stretch>
            <a:fillRect/>
          </a:stretch>
        </p:blipFill>
        <p:spPr>
          <a:xfrm>
            <a:off x="7732624" y="5074920"/>
            <a:ext cx="658368" cy="493776"/>
          </a:xfrm>
          <a:prstGeom prst="rect">
            <a:avLst/>
          </a:prstGeom>
        </p:spPr>
      </p:pic>
      <p:pic>
        <p:nvPicPr>
          <p:cNvPr id="15" name="Image 10" descr="preencoded.png">    </p:cNvPr>
          <p:cNvPicPr>
            <a:picLocks noChangeAspect="1"/>
          </p:cNvPicPr>
          <p:nvPr/>
        </p:nvPicPr>
        <p:blipFill>
          <a:blip r:embed="rId11"/>
          <a:stretch>
            <a:fillRect/>
          </a:stretch>
        </p:blipFill>
        <p:spPr>
          <a:xfrm>
            <a:off x="8519008" y="5074920"/>
            <a:ext cx="658368" cy="493776"/>
          </a:xfrm>
          <a:prstGeom prst="rect">
            <a:avLst/>
          </a:prstGeom>
        </p:spPr>
      </p:pic>
      <p:pic>
        <p:nvPicPr>
          <p:cNvPr id="16" name="Image 11" descr="preencoded.png">    </p:cNvPr>
          <p:cNvPicPr>
            <a:picLocks noChangeAspect="1"/>
          </p:cNvPicPr>
          <p:nvPr/>
        </p:nvPicPr>
        <p:blipFill>
          <a:blip r:embed="rId12"/>
          <a:stretch>
            <a:fillRect/>
          </a:stretch>
        </p:blipFill>
        <p:spPr>
          <a:xfrm>
            <a:off x="9305392" y="5074920"/>
            <a:ext cx="658368" cy="493776"/>
          </a:xfrm>
          <a:prstGeom prst="rect">
            <a:avLst/>
          </a:prstGeom>
        </p:spPr>
      </p:pic>
      <p:pic>
        <p:nvPicPr>
          <p:cNvPr id="17" name="Image 12" descr="preencoded.png">    </p:cNvPr>
          <p:cNvPicPr>
            <a:picLocks noChangeAspect="1"/>
          </p:cNvPicPr>
          <p:nvPr/>
        </p:nvPicPr>
        <p:blipFill>
          <a:blip r:embed="rId13"/>
          <a:stretch>
            <a:fillRect/>
          </a:stretch>
        </p:blipFill>
        <p:spPr>
          <a:xfrm>
            <a:off x="10091776" y="5074920"/>
            <a:ext cx="658368" cy="493776"/>
          </a:xfrm>
          <a:prstGeom prst="rect">
            <a:avLst/>
          </a:prstGeom>
        </p:spPr>
      </p:pic>
      <p:pic>
        <p:nvPicPr>
          <p:cNvPr id="18" name="Image 13" descr="preencoded.png">    </p:cNvPr>
          <p:cNvPicPr>
            <a:picLocks noChangeAspect="1"/>
          </p:cNvPicPr>
          <p:nvPr/>
        </p:nvPicPr>
        <p:blipFill>
          <a:blip r:embed="rId14"/>
          <a:stretch>
            <a:fillRect/>
          </a:stretch>
        </p:blipFill>
        <p:spPr>
          <a:xfrm>
            <a:off x="10878160" y="5074920"/>
            <a:ext cx="658368" cy="493776"/>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594360"/>
            <a:ext cx="7315200" cy="594360"/>
          </a:xfrm>
          <a:prstGeom prst="rect">
            <a:avLst/>
          </a:prstGeom>
          <a:noFill/>
          <a:ln/>
        </p:spPr>
        <p:txBody>
          <a:bodyPr wrap="square" lIns="0" tIns="0" rIns="0" bIns="0" rtlCol="0" anchor="ctr"/>
          <a:lstStyle/>
          <a:p>
            <a:pPr indent="0" marL="0">
              <a:buNone/>
            </a:pPr>
            <a:r>
              <a:rPr lang="en-US" sz="3200" b="1" dirty="0">
                <a:solidFill>
                  <a:srgbClr val="24313A"/>
                </a:solidFill>
                <a:latin typeface="Cambria" pitchFamily="34" charset="0"/>
                <a:ea typeface="Cambria" pitchFamily="34" charset="-122"/>
                <a:cs typeface="Cambria" pitchFamily="34" charset="-120"/>
              </a:rPr>
              <a:t>Definitions</a:t>
            </a:r>
            <a:endParaRPr lang="en-US" sz="3200" dirty="0"/>
          </a:p>
        </p:txBody>
      </p:sp>
      <p:sp>
        <p:nvSpPr>
          <p:cNvPr id="3" name="Shape 1"/>
          <p:cNvSpPr/>
          <p:nvPr/>
        </p:nvSpPr>
        <p:spPr>
          <a:xfrm>
            <a:off x="457200" y="1417320"/>
            <a:ext cx="4160520" cy="4892040"/>
          </a:xfrm>
          <a:prstGeom prst="roundRect">
            <a:avLst>
              <a:gd name="adj" fmla="val 2637"/>
            </a:avLst>
          </a:prstGeom>
          <a:solidFill>
            <a:srgbClr val="EAF2EE"/>
          </a:solidFill>
          <a:ln w="12700">
            <a:solidFill>
              <a:srgbClr val="EAF2EE"/>
            </a:solidFill>
            <a:prstDash val="solid"/>
          </a:ln>
        </p:spPr>
      </p:sp>
      <p:sp>
        <p:nvSpPr>
          <p:cNvPr id="4" name="Text 2"/>
          <p:cNvSpPr txBox="1"/>
          <p:nvPr/>
        </p:nvSpPr>
        <p:spPr>
          <a:xfrm>
            <a:off x="685800" y="1572768"/>
            <a:ext cx="3749040" cy="365760"/>
          </a:xfrm>
          <a:prstGeom prst="rect">
            <a:avLst/>
          </a:prstGeom>
          <a:noFill/>
          <a:ln/>
        </p:spPr>
        <p:txBody>
          <a:bodyPr wrap="square" lIns="0" tIns="0" rIns="0" bIns="0" rtlCol="0" anchor="ctr"/>
          <a:lstStyle/>
          <a:p>
            <a:pPr indent="0" marL="0">
              <a:buNone/>
            </a:pPr>
            <a:r>
              <a:rPr lang="en-US" sz="1500" b="1" dirty="0">
                <a:solidFill>
                  <a:srgbClr val="24313A"/>
                </a:solidFill>
                <a:latin typeface="Calibri" pitchFamily="34" charset="0"/>
                <a:ea typeface="Calibri" pitchFamily="34" charset="-122"/>
                <a:cs typeface="Calibri" pitchFamily="34" charset="-120"/>
              </a:rPr>
              <a:t>Target population: former teachers</a:t>
            </a:r>
            <a:endParaRPr lang="en-US" sz="1500" dirty="0"/>
          </a:p>
        </p:txBody>
      </p:sp>
      <p:sp>
        <p:nvSpPr>
          <p:cNvPr id="5" name="Shape 3"/>
          <p:cNvSpPr/>
          <p:nvPr/>
        </p:nvSpPr>
        <p:spPr>
          <a:xfrm>
            <a:off x="713232" y="2139696"/>
            <a:ext cx="502920" cy="502920"/>
          </a:xfrm>
          <a:prstGeom prst="ellipse">
            <a:avLst/>
          </a:prstGeom>
          <a:solidFill>
            <a:srgbClr val="1F4E46"/>
          </a:solidFill>
          <a:ln w="12700">
            <a:solidFill>
              <a:srgbClr val="1F4E46"/>
            </a:solidFill>
            <a:prstDash val="solid"/>
          </a:ln>
        </p:spPr>
      </p:sp>
      <p:pic>
        <p:nvPicPr>
          <p:cNvPr id="6" name="Image 0" descr="preencoded.png">    </p:cNvPr>
          <p:cNvPicPr>
            <a:picLocks noChangeAspect="1"/>
          </p:cNvPicPr>
          <p:nvPr/>
        </p:nvPicPr>
        <p:blipFill>
          <a:blip r:embed="rId1"/>
          <a:stretch>
            <a:fillRect/>
          </a:stretch>
        </p:blipFill>
        <p:spPr>
          <a:xfrm>
            <a:off x="833933" y="2260397"/>
            <a:ext cx="261518" cy="261518"/>
          </a:xfrm>
          <a:prstGeom prst="rect">
            <a:avLst/>
          </a:prstGeom>
        </p:spPr>
      </p:pic>
      <p:sp>
        <p:nvSpPr>
          <p:cNvPr id="7" name="Text 4"/>
          <p:cNvSpPr txBox="1"/>
          <p:nvPr/>
        </p:nvSpPr>
        <p:spPr>
          <a:xfrm>
            <a:off x="1371600" y="2103120"/>
            <a:ext cx="3108960" cy="292608"/>
          </a:xfrm>
          <a:prstGeom prst="rect">
            <a:avLst/>
          </a:prstGeom>
          <a:noFill/>
          <a:ln/>
        </p:spPr>
        <p:txBody>
          <a:bodyPr wrap="square" lIns="0" tIns="0" rIns="0" bIns="0" rtlCol="0" anchor="ctr"/>
          <a:lstStyle/>
          <a:p>
            <a:pPr indent="0" marL="0">
              <a:buNone/>
            </a:pPr>
            <a:r>
              <a:rPr lang="en-US" sz="1300" b="1" dirty="0">
                <a:solidFill>
                  <a:srgbClr val="24313A"/>
                </a:solidFill>
                <a:latin typeface="Calibri" pitchFamily="34" charset="0"/>
                <a:ea typeface="Calibri" pitchFamily="34" charset="-122"/>
                <a:cs typeface="Calibri" pitchFamily="34" charset="-120"/>
              </a:rPr>
              <a:t>(a) Switchers</a:t>
            </a:r>
            <a:endParaRPr lang="en-US" sz="1300" dirty="0"/>
          </a:p>
        </p:txBody>
      </p:sp>
      <p:sp>
        <p:nvSpPr>
          <p:cNvPr id="8" name="Text 5"/>
          <p:cNvSpPr txBox="1"/>
          <p:nvPr/>
        </p:nvSpPr>
        <p:spPr>
          <a:xfrm>
            <a:off x="1371600" y="2395728"/>
            <a:ext cx="3108960" cy="548640"/>
          </a:xfrm>
          <a:prstGeom prst="rect">
            <a:avLst/>
          </a:prstGeom>
          <a:noFill/>
          <a:ln/>
        </p:spPr>
        <p:txBody>
          <a:bodyPr wrap="square" lIns="0" tIns="0" rIns="0" bIns="0" rtlCol="0" anchor="t"/>
          <a:lstStyle/>
          <a:p>
            <a:pPr indent="0" marL="0">
              <a:buNone/>
            </a:pPr>
            <a:r>
              <a:rPr lang="en-US" sz="1150" dirty="0">
                <a:solidFill>
                  <a:srgbClr val="24313A"/>
                </a:solidFill>
                <a:latin typeface="Calibri" pitchFamily="34" charset="0"/>
                <a:ea typeface="Calibri" pitchFamily="34" charset="-122"/>
                <a:cs typeface="Calibri" pitchFamily="34" charset="-120"/>
              </a:rPr>
              <a:t>Left the teaching profession to work in another sector.</a:t>
            </a:r>
            <a:endParaRPr lang="en-US" sz="1150" dirty="0"/>
          </a:p>
        </p:txBody>
      </p:sp>
      <p:sp>
        <p:nvSpPr>
          <p:cNvPr id="9" name="Shape 6"/>
          <p:cNvSpPr/>
          <p:nvPr/>
        </p:nvSpPr>
        <p:spPr>
          <a:xfrm>
            <a:off x="713232" y="3072384"/>
            <a:ext cx="502920" cy="502920"/>
          </a:xfrm>
          <a:prstGeom prst="ellipse">
            <a:avLst/>
          </a:prstGeom>
          <a:solidFill>
            <a:srgbClr val="1F4E46"/>
          </a:solidFill>
          <a:ln w="12700">
            <a:solidFill>
              <a:srgbClr val="1F4E46"/>
            </a:solidFill>
            <a:prstDash val="solid"/>
          </a:ln>
        </p:spPr>
      </p:sp>
      <p:pic>
        <p:nvPicPr>
          <p:cNvPr id="10" name="Image 1" descr="preencoded.png">    </p:cNvPr>
          <p:cNvPicPr>
            <a:picLocks noChangeAspect="1"/>
          </p:cNvPicPr>
          <p:nvPr/>
        </p:nvPicPr>
        <p:blipFill>
          <a:blip r:embed="rId2"/>
          <a:stretch>
            <a:fillRect/>
          </a:stretch>
        </p:blipFill>
        <p:spPr>
          <a:xfrm>
            <a:off x="833933" y="3193085"/>
            <a:ext cx="261518" cy="261518"/>
          </a:xfrm>
          <a:prstGeom prst="rect">
            <a:avLst/>
          </a:prstGeom>
        </p:spPr>
      </p:pic>
      <p:sp>
        <p:nvSpPr>
          <p:cNvPr id="11" name="Text 7"/>
          <p:cNvSpPr txBox="1"/>
          <p:nvPr/>
        </p:nvSpPr>
        <p:spPr>
          <a:xfrm>
            <a:off x="1371600" y="3035808"/>
            <a:ext cx="3108960" cy="292608"/>
          </a:xfrm>
          <a:prstGeom prst="rect">
            <a:avLst/>
          </a:prstGeom>
          <a:noFill/>
          <a:ln/>
        </p:spPr>
        <p:txBody>
          <a:bodyPr wrap="square" lIns="0" tIns="0" rIns="0" bIns="0" rtlCol="0" anchor="ctr"/>
          <a:lstStyle/>
          <a:p>
            <a:pPr indent="0" marL="0">
              <a:buNone/>
            </a:pPr>
            <a:r>
              <a:rPr lang="en-US" sz="1300" b="1" dirty="0">
                <a:solidFill>
                  <a:srgbClr val="24313A"/>
                </a:solidFill>
                <a:latin typeface="Calibri" pitchFamily="34" charset="0"/>
                <a:ea typeface="Calibri" pitchFamily="34" charset="-122"/>
                <a:cs typeface="Calibri" pitchFamily="34" charset="-120"/>
              </a:rPr>
              <a:t>(b) Leavers</a:t>
            </a:r>
            <a:endParaRPr lang="en-US" sz="1300" dirty="0"/>
          </a:p>
        </p:txBody>
      </p:sp>
      <p:sp>
        <p:nvSpPr>
          <p:cNvPr id="12" name="Text 8"/>
          <p:cNvSpPr txBox="1"/>
          <p:nvPr/>
        </p:nvSpPr>
        <p:spPr>
          <a:xfrm>
            <a:off x="1371600" y="3328416"/>
            <a:ext cx="3108960" cy="548640"/>
          </a:xfrm>
          <a:prstGeom prst="rect">
            <a:avLst/>
          </a:prstGeom>
          <a:noFill/>
          <a:ln/>
        </p:spPr>
        <p:txBody>
          <a:bodyPr wrap="square" lIns="0" tIns="0" rIns="0" bIns="0" rtlCol="0" anchor="t"/>
          <a:lstStyle/>
          <a:p>
            <a:pPr indent="0" marL="0">
              <a:buNone/>
            </a:pPr>
            <a:r>
              <a:rPr lang="en-US" sz="1150" dirty="0">
                <a:solidFill>
                  <a:srgbClr val="24313A"/>
                </a:solidFill>
                <a:latin typeface="Calibri" pitchFamily="34" charset="0"/>
                <a:ea typeface="Calibri" pitchFamily="34" charset="-122"/>
                <a:cs typeface="Calibri" pitchFamily="34" charset="-120"/>
              </a:rPr>
              <a:t>Left the teaching profession and the labour market altogether (not employed).</a:t>
            </a:r>
            <a:endParaRPr lang="en-US" sz="1150" dirty="0"/>
          </a:p>
        </p:txBody>
      </p:sp>
      <p:sp>
        <p:nvSpPr>
          <p:cNvPr id="13" name="Shape 9"/>
          <p:cNvSpPr/>
          <p:nvPr/>
        </p:nvSpPr>
        <p:spPr>
          <a:xfrm>
            <a:off x="713232" y="4005072"/>
            <a:ext cx="502920" cy="502920"/>
          </a:xfrm>
          <a:prstGeom prst="ellipse">
            <a:avLst/>
          </a:prstGeom>
          <a:solidFill>
            <a:srgbClr val="1F4E46"/>
          </a:solidFill>
          <a:ln w="12700">
            <a:solidFill>
              <a:srgbClr val="1F4E46"/>
            </a:solidFill>
            <a:prstDash val="solid"/>
          </a:ln>
        </p:spPr>
      </p:sp>
      <p:pic>
        <p:nvPicPr>
          <p:cNvPr id="14" name="Image 2" descr="preencoded.png">    </p:cNvPr>
          <p:cNvPicPr>
            <a:picLocks noChangeAspect="1"/>
          </p:cNvPicPr>
          <p:nvPr/>
        </p:nvPicPr>
        <p:blipFill>
          <a:blip r:embed="rId3"/>
          <a:stretch>
            <a:fillRect/>
          </a:stretch>
        </p:blipFill>
        <p:spPr>
          <a:xfrm>
            <a:off x="833933" y="4125773"/>
            <a:ext cx="261518" cy="261518"/>
          </a:xfrm>
          <a:prstGeom prst="rect">
            <a:avLst/>
          </a:prstGeom>
        </p:spPr>
      </p:pic>
      <p:sp>
        <p:nvSpPr>
          <p:cNvPr id="15" name="Text 10"/>
          <p:cNvSpPr txBox="1"/>
          <p:nvPr/>
        </p:nvSpPr>
        <p:spPr>
          <a:xfrm>
            <a:off x="1371600" y="3968496"/>
            <a:ext cx="3108960" cy="292608"/>
          </a:xfrm>
          <a:prstGeom prst="rect">
            <a:avLst/>
          </a:prstGeom>
          <a:noFill/>
          <a:ln/>
        </p:spPr>
        <p:txBody>
          <a:bodyPr wrap="square" lIns="0" tIns="0" rIns="0" bIns="0" rtlCol="0" anchor="ctr"/>
          <a:lstStyle/>
          <a:p>
            <a:pPr indent="0" marL="0">
              <a:buNone/>
            </a:pPr>
            <a:r>
              <a:rPr lang="en-US" sz="1300" b="1" dirty="0">
                <a:solidFill>
                  <a:srgbClr val="24313A"/>
                </a:solidFill>
                <a:latin typeface="Calibri" pitchFamily="34" charset="0"/>
                <a:ea typeface="Calibri" pitchFamily="34" charset="-122"/>
                <a:cs typeface="Calibri" pitchFamily="34" charset="-120"/>
              </a:rPr>
              <a:t>(c) Retired</a:t>
            </a:r>
            <a:endParaRPr lang="en-US" sz="1300" dirty="0"/>
          </a:p>
        </p:txBody>
      </p:sp>
      <p:sp>
        <p:nvSpPr>
          <p:cNvPr id="16" name="Text 11"/>
          <p:cNvSpPr txBox="1"/>
          <p:nvPr/>
        </p:nvSpPr>
        <p:spPr>
          <a:xfrm>
            <a:off x="1371600" y="4261104"/>
            <a:ext cx="3108960" cy="548640"/>
          </a:xfrm>
          <a:prstGeom prst="rect">
            <a:avLst/>
          </a:prstGeom>
          <a:noFill/>
          <a:ln/>
        </p:spPr>
        <p:txBody>
          <a:bodyPr wrap="square" lIns="0" tIns="0" rIns="0" bIns="0" rtlCol="0" anchor="t"/>
          <a:lstStyle/>
          <a:p>
            <a:pPr indent="0" marL="0">
              <a:buNone/>
            </a:pPr>
            <a:r>
              <a:rPr lang="en-US" sz="1150" dirty="0">
                <a:solidFill>
                  <a:srgbClr val="24313A"/>
                </a:solidFill>
                <a:latin typeface="Calibri" pitchFamily="34" charset="0"/>
                <a:ea typeface="Calibri" pitchFamily="34" charset="-122"/>
                <a:cs typeface="Calibri" pitchFamily="34" charset="-120"/>
              </a:rPr>
              <a:t>Retired from teaching.</a:t>
            </a:r>
            <a:endParaRPr lang="en-US" sz="1150" dirty="0"/>
          </a:p>
        </p:txBody>
      </p:sp>
      <p:sp>
        <p:nvSpPr>
          <p:cNvPr id="17" name="Shape 12"/>
          <p:cNvSpPr/>
          <p:nvPr/>
        </p:nvSpPr>
        <p:spPr>
          <a:xfrm>
            <a:off x="4846320" y="1417320"/>
            <a:ext cx="6885432" cy="4892040"/>
          </a:xfrm>
          <a:prstGeom prst="roundRect">
            <a:avLst>
              <a:gd name="adj" fmla="val 2243"/>
            </a:avLst>
          </a:prstGeom>
          <a:solidFill>
            <a:srgbClr val="EAF2EE"/>
          </a:solidFill>
          <a:ln w="12700">
            <a:solidFill>
              <a:srgbClr val="EAF2EE"/>
            </a:solidFill>
            <a:prstDash val="solid"/>
          </a:ln>
        </p:spPr>
      </p:sp>
      <p:sp>
        <p:nvSpPr>
          <p:cNvPr id="18" name="Text 13"/>
          <p:cNvSpPr txBox="1"/>
          <p:nvPr/>
        </p:nvSpPr>
        <p:spPr>
          <a:xfrm>
            <a:off x="5074920" y="1572768"/>
            <a:ext cx="6492240" cy="365760"/>
          </a:xfrm>
          <a:prstGeom prst="rect">
            <a:avLst/>
          </a:prstGeom>
          <a:noFill/>
          <a:ln/>
        </p:spPr>
        <p:txBody>
          <a:bodyPr wrap="square" lIns="0" tIns="0" rIns="0" bIns="0" rtlCol="0" anchor="ctr"/>
          <a:lstStyle/>
          <a:p>
            <a:pPr indent="0" marL="0">
              <a:buNone/>
            </a:pPr>
            <a:r>
              <a:rPr lang="en-US" sz="1500" b="1" dirty="0">
                <a:solidFill>
                  <a:srgbClr val="24313A"/>
                </a:solidFill>
                <a:latin typeface="Calibri" pitchFamily="34" charset="0"/>
                <a:ea typeface="Calibri" pitchFamily="34" charset="-122"/>
                <a:cs typeface="Calibri" pitchFamily="34" charset="-120"/>
              </a:rPr>
              <a:t>Five categories: each policy is classified by the instrument it uses</a:t>
            </a:r>
            <a:endParaRPr lang="en-US" sz="1500" dirty="0"/>
          </a:p>
        </p:txBody>
      </p:sp>
      <p:sp>
        <p:nvSpPr>
          <p:cNvPr id="19" name="Shape 14"/>
          <p:cNvSpPr/>
          <p:nvPr/>
        </p:nvSpPr>
        <p:spPr>
          <a:xfrm>
            <a:off x="5102352" y="2139696"/>
            <a:ext cx="502920" cy="502920"/>
          </a:xfrm>
          <a:prstGeom prst="ellipse">
            <a:avLst/>
          </a:prstGeom>
          <a:solidFill>
            <a:srgbClr val="1F4E46"/>
          </a:solidFill>
          <a:ln w="12700">
            <a:solidFill>
              <a:srgbClr val="1F4E46"/>
            </a:solidFill>
            <a:prstDash val="solid"/>
          </a:ln>
        </p:spPr>
      </p:sp>
      <p:pic>
        <p:nvPicPr>
          <p:cNvPr id="20" name="Image 3" descr="preencoded.png">    </p:cNvPr>
          <p:cNvPicPr>
            <a:picLocks noChangeAspect="1"/>
          </p:cNvPicPr>
          <p:nvPr/>
        </p:nvPicPr>
        <p:blipFill>
          <a:blip r:embed="rId4"/>
          <a:stretch>
            <a:fillRect/>
          </a:stretch>
        </p:blipFill>
        <p:spPr>
          <a:xfrm>
            <a:off x="5223053" y="2260397"/>
            <a:ext cx="261518" cy="261518"/>
          </a:xfrm>
          <a:prstGeom prst="rect">
            <a:avLst/>
          </a:prstGeom>
        </p:spPr>
      </p:pic>
      <p:sp>
        <p:nvSpPr>
          <p:cNvPr id="21" name="Text 15"/>
          <p:cNvSpPr txBox="1"/>
          <p:nvPr/>
        </p:nvSpPr>
        <p:spPr>
          <a:xfrm>
            <a:off x="5760720" y="2103120"/>
            <a:ext cx="5806440" cy="274320"/>
          </a:xfrm>
          <a:prstGeom prst="rect">
            <a:avLst/>
          </a:prstGeom>
          <a:noFill/>
          <a:ln/>
        </p:spPr>
        <p:txBody>
          <a:bodyPr wrap="square" lIns="0" tIns="0" rIns="0" bIns="0" rtlCol="0" anchor="ctr"/>
          <a:lstStyle/>
          <a:p>
            <a:pPr indent="0" marL="0">
              <a:buNone/>
            </a:pPr>
            <a:r>
              <a:rPr lang="en-US" sz="1300" b="1" dirty="0">
                <a:solidFill>
                  <a:srgbClr val="24313A"/>
                </a:solidFill>
                <a:latin typeface="Calibri" pitchFamily="34" charset="0"/>
                <a:ea typeface="Calibri" pitchFamily="34" charset="-122"/>
                <a:cs typeface="Calibri" pitchFamily="34" charset="-120"/>
              </a:rPr>
              <a:t>Financial incentives</a:t>
            </a:r>
            <a:endParaRPr lang="en-US" sz="1300" dirty="0"/>
          </a:p>
        </p:txBody>
      </p:sp>
      <p:sp>
        <p:nvSpPr>
          <p:cNvPr id="22" name="Text 16"/>
          <p:cNvSpPr txBox="1"/>
          <p:nvPr/>
        </p:nvSpPr>
        <p:spPr>
          <a:xfrm>
            <a:off x="5760720" y="2377440"/>
            <a:ext cx="5806440" cy="530352"/>
          </a:xfrm>
          <a:prstGeom prst="rect">
            <a:avLst/>
          </a:prstGeom>
          <a:noFill/>
          <a:ln/>
        </p:spPr>
        <p:txBody>
          <a:bodyPr wrap="square" lIns="0" tIns="0" rIns="0" bIns="0" rtlCol="0" anchor="t"/>
          <a:lstStyle/>
          <a:p>
            <a:pPr indent="0" marL="0">
              <a:buNone/>
            </a:pPr>
            <a:r>
              <a:rPr lang="en-US" sz="1100" dirty="0">
                <a:solidFill>
                  <a:srgbClr val="24313A"/>
                </a:solidFill>
                <a:latin typeface="Calibri" pitchFamily="34" charset="0"/>
                <a:ea typeface="Calibri" pitchFamily="34" charset="-122"/>
                <a:cs typeface="Calibri" pitchFamily="34" charset="-120"/>
              </a:rPr>
              <a:t>Direct payments or legal changes with an economic effect: rules letting retirees draw salary plus pension, return bonuses for switchers or leavers, bonuses for schools that re-hire them.</a:t>
            </a:r>
            <a:endParaRPr lang="en-US" sz="1100" dirty="0"/>
          </a:p>
        </p:txBody>
      </p:sp>
      <p:sp>
        <p:nvSpPr>
          <p:cNvPr id="23" name="Shape 17"/>
          <p:cNvSpPr/>
          <p:nvPr/>
        </p:nvSpPr>
        <p:spPr>
          <a:xfrm>
            <a:off x="5102352" y="2962656"/>
            <a:ext cx="502920" cy="502920"/>
          </a:xfrm>
          <a:prstGeom prst="ellipse">
            <a:avLst/>
          </a:prstGeom>
          <a:solidFill>
            <a:srgbClr val="1F4E46"/>
          </a:solidFill>
          <a:ln w="12700">
            <a:solidFill>
              <a:srgbClr val="1F4E46"/>
            </a:solidFill>
            <a:prstDash val="solid"/>
          </a:ln>
        </p:spPr>
      </p:sp>
      <p:pic>
        <p:nvPicPr>
          <p:cNvPr id="24" name="Image 4" descr="preencoded.png">    </p:cNvPr>
          <p:cNvPicPr>
            <a:picLocks noChangeAspect="1"/>
          </p:cNvPicPr>
          <p:nvPr/>
        </p:nvPicPr>
        <p:blipFill>
          <a:blip r:embed="rId5"/>
          <a:stretch>
            <a:fillRect/>
          </a:stretch>
        </p:blipFill>
        <p:spPr>
          <a:xfrm>
            <a:off x="5223053" y="3083357"/>
            <a:ext cx="261518" cy="261518"/>
          </a:xfrm>
          <a:prstGeom prst="rect">
            <a:avLst/>
          </a:prstGeom>
        </p:spPr>
      </p:pic>
      <p:sp>
        <p:nvSpPr>
          <p:cNvPr id="25" name="Text 18"/>
          <p:cNvSpPr txBox="1"/>
          <p:nvPr/>
        </p:nvSpPr>
        <p:spPr>
          <a:xfrm>
            <a:off x="5760720" y="2926080"/>
            <a:ext cx="5806440" cy="274320"/>
          </a:xfrm>
          <a:prstGeom prst="rect">
            <a:avLst/>
          </a:prstGeom>
          <a:noFill/>
          <a:ln/>
        </p:spPr>
        <p:txBody>
          <a:bodyPr wrap="square" lIns="0" tIns="0" rIns="0" bIns="0" rtlCol="0" anchor="ctr"/>
          <a:lstStyle/>
          <a:p>
            <a:pPr indent="0" marL="0">
              <a:buNone/>
            </a:pPr>
            <a:r>
              <a:rPr lang="en-US" sz="1300" b="1" dirty="0">
                <a:solidFill>
                  <a:srgbClr val="24313A"/>
                </a:solidFill>
                <a:latin typeface="Calibri" pitchFamily="34" charset="0"/>
                <a:ea typeface="Calibri" pitchFamily="34" charset="-122"/>
                <a:cs typeface="Calibri" pitchFamily="34" charset="-120"/>
              </a:rPr>
              <a:t>Information &amp; nudges</a:t>
            </a:r>
            <a:endParaRPr lang="en-US" sz="1300" dirty="0"/>
          </a:p>
        </p:txBody>
      </p:sp>
      <p:sp>
        <p:nvSpPr>
          <p:cNvPr id="26" name="Text 19"/>
          <p:cNvSpPr txBox="1"/>
          <p:nvPr/>
        </p:nvSpPr>
        <p:spPr>
          <a:xfrm>
            <a:off x="5760720" y="3200400"/>
            <a:ext cx="5806440" cy="530352"/>
          </a:xfrm>
          <a:prstGeom prst="rect">
            <a:avLst/>
          </a:prstGeom>
          <a:noFill/>
          <a:ln/>
        </p:spPr>
        <p:txBody>
          <a:bodyPr wrap="square" lIns="0" tIns="0" rIns="0" bIns="0" rtlCol="0" anchor="t"/>
          <a:lstStyle/>
          <a:p>
            <a:pPr indent="0" marL="0">
              <a:buNone/>
            </a:pPr>
            <a:r>
              <a:rPr lang="en-US" sz="1100" dirty="0">
                <a:solidFill>
                  <a:srgbClr val="24313A"/>
                </a:solidFill>
                <a:latin typeface="Calibri" pitchFamily="34" charset="0"/>
                <a:ea typeface="Calibri" pitchFamily="34" charset="-122"/>
                <a:cs typeface="Calibri" pitchFamily="34" charset="-120"/>
              </a:rPr>
              <a:t>Informing, reminding or prompting the decision to return without changing economic incentives: information sessions, career guidance or peer mentoring, a leaflet with the retirement form, personalised letters, calls or e-mails.</a:t>
            </a:r>
            <a:endParaRPr lang="en-US" sz="1100" dirty="0"/>
          </a:p>
        </p:txBody>
      </p:sp>
      <p:sp>
        <p:nvSpPr>
          <p:cNvPr id="27" name="Shape 20"/>
          <p:cNvSpPr/>
          <p:nvPr/>
        </p:nvSpPr>
        <p:spPr>
          <a:xfrm>
            <a:off x="5102352" y="3785616"/>
            <a:ext cx="502920" cy="502920"/>
          </a:xfrm>
          <a:prstGeom prst="ellipse">
            <a:avLst/>
          </a:prstGeom>
          <a:solidFill>
            <a:srgbClr val="1F4E46"/>
          </a:solidFill>
          <a:ln w="12700">
            <a:solidFill>
              <a:srgbClr val="1F4E46"/>
            </a:solidFill>
            <a:prstDash val="solid"/>
          </a:ln>
        </p:spPr>
      </p:sp>
      <p:pic>
        <p:nvPicPr>
          <p:cNvPr id="28" name="Image 5" descr="preencoded.png">    </p:cNvPr>
          <p:cNvPicPr>
            <a:picLocks noChangeAspect="1"/>
          </p:cNvPicPr>
          <p:nvPr/>
        </p:nvPicPr>
        <p:blipFill>
          <a:blip r:embed="rId6"/>
          <a:stretch>
            <a:fillRect/>
          </a:stretch>
        </p:blipFill>
        <p:spPr>
          <a:xfrm>
            <a:off x="5223053" y="3906317"/>
            <a:ext cx="261518" cy="261518"/>
          </a:xfrm>
          <a:prstGeom prst="rect">
            <a:avLst/>
          </a:prstGeom>
        </p:spPr>
      </p:pic>
      <p:sp>
        <p:nvSpPr>
          <p:cNvPr id="29" name="Text 21"/>
          <p:cNvSpPr txBox="1"/>
          <p:nvPr/>
        </p:nvSpPr>
        <p:spPr>
          <a:xfrm>
            <a:off x="5760720" y="3749040"/>
            <a:ext cx="5806440" cy="274320"/>
          </a:xfrm>
          <a:prstGeom prst="rect">
            <a:avLst/>
          </a:prstGeom>
          <a:noFill/>
          <a:ln/>
        </p:spPr>
        <p:txBody>
          <a:bodyPr wrap="square" lIns="0" tIns="0" rIns="0" bIns="0" rtlCol="0" anchor="ctr"/>
          <a:lstStyle/>
          <a:p>
            <a:pPr indent="0" marL="0">
              <a:buNone/>
            </a:pPr>
            <a:r>
              <a:rPr lang="en-US" sz="1300" b="1" dirty="0">
                <a:solidFill>
                  <a:srgbClr val="24313A"/>
                </a:solidFill>
                <a:latin typeface="Calibri" pitchFamily="34" charset="0"/>
                <a:ea typeface="Calibri" pitchFamily="34" charset="-122"/>
                <a:cs typeface="Calibri" pitchFamily="34" charset="-120"/>
              </a:rPr>
              <a:t>Support &amp; training</a:t>
            </a:r>
            <a:endParaRPr lang="en-US" sz="1300" dirty="0"/>
          </a:p>
        </p:txBody>
      </p:sp>
      <p:sp>
        <p:nvSpPr>
          <p:cNvPr id="30" name="Text 22"/>
          <p:cNvSpPr txBox="1"/>
          <p:nvPr/>
        </p:nvSpPr>
        <p:spPr>
          <a:xfrm>
            <a:off x="5760720" y="4023360"/>
            <a:ext cx="5806440" cy="530352"/>
          </a:xfrm>
          <a:prstGeom prst="rect">
            <a:avLst/>
          </a:prstGeom>
          <a:noFill/>
          <a:ln/>
        </p:spPr>
        <p:txBody>
          <a:bodyPr wrap="square" lIns="0" tIns="0" rIns="0" bIns="0" rtlCol="0" anchor="t"/>
          <a:lstStyle/>
          <a:p>
            <a:pPr indent="0" marL="0">
              <a:buNone/>
            </a:pPr>
            <a:r>
              <a:rPr lang="en-US" sz="1100" dirty="0">
                <a:solidFill>
                  <a:srgbClr val="24313A"/>
                </a:solidFill>
                <a:latin typeface="Calibri" pitchFamily="34" charset="0"/>
                <a:ea typeface="Calibri" pitchFamily="34" charset="-122"/>
                <a:cs typeface="Calibri" pitchFamily="34" charset="-120"/>
              </a:rPr>
              <a:t>Refresher courses, return-to-teaching programmes, induction and coaching that make re-entry easier.</a:t>
            </a:r>
            <a:endParaRPr lang="en-US" sz="1100" dirty="0"/>
          </a:p>
        </p:txBody>
      </p:sp>
      <p:sp>
        <p:nvSpPr>
          <p:cNvPr id="31" name="Shape 23"/>
          <p:cNvSpPr/>
          <p:nvPr/>
        </p:nvSpPr>
        <p:spPr>
          <a:xfrm>
            <a:off x="5102352" y="4608576"/>
            <a:ext cx="502920" cy="502920"/>
          </a:xfrm>
          <a:prstGeom prst="ellipse">
            <a:avLst/>
          </a:prstGeom>
          <a:solidFill>
            <a:srgbClr val="1F4E46"/>
          </a:solidFill>
          <a:ln w="12700">
            <a:solidFill>
              <a:srgbClr val="1F4E46"/>
            </a:solidFill>
            <a:prstDash val="solid"/>
          </a:ln>
        </p:spPr>
      </p:sp>
      <p:pic>
        <p:nvPicPr>
          <p:cNvPr id="32" name="Image 6" descr="preencoded.png">    </p:cNvPr>
          <p:cNvPicPr>
            <a:picLocks noChangeAspect="1"/>
          </p:cNvPicPr>
          <p:nvPr/>
        </p:nvPicPr>
        <p:blipFill>
          <a:blip r:embed="rId7"/>
          <a:stretch>
            <a:fillRect/>
          </a:stretch>
        </p:blipFill>
        <p:spPr>
          <a:xfrm>
            <a:off x="5223053" y="4729277"/>
            <a:ext cx="261518" cy="261518"/>
          </a:xfrm>
          <a:prstGeom prst="rect">
            <a:avLst/>
          </a:prstGeom>
        </p:spPr>
      </p:pic>
      <p:sp>
        <p:nvSpPr>
          <p:cNvPr id="33" name="Text 24"/>
          <p:cNvSpPr txBox="1"/>
          <p:nvPr/>
        </p:nvSpPr>
        <p:spPr>
          <a:xfrm>
            <a:off x="5760720" y="4572000"/>
            <a:ext cx="5806440" cy="274320"/>
          </a:xfrm>
          <a:prstGeom prst="rect">
            <a:avLst/>
          </a:prstGeom>
          <a:noFill/>
          <a:ln/>
        </p:spPr>
        <p:txBody>
          <a:bodyPr wrap="square" lIns="0" tIns="0" rIns="0" bIns="0" rtlCol="0" anchor="ctr"/>
          <a:lstStyle/>
          <a:p>
            <a:pPr indent="0" marL="0">
              <a:buNone/>
            </a:pPr>
            <a:r>
              <a:rPr lang="en-US" sz="1300" b="1" dirty="0">
                <a:solidFill>
                  <a:srgbClr val="24313A"/>
                </a:solidFill>
                <a:latin typeface="Calibri" pitchFamily="34" charset="0"/>
                <a:ea typeface="Calibri" pitchFamily="34" charset="-122"/>
                <a:cs typeface="Calibri" pitchFamily="34" charset="-120"/>
              </a:rPr>
              <a:t>Flexible positions</a:t>
            </a:r>
            <a:endParaRPr lang="en-US" sz="1300" dirty="0"/>
          </a:p>
        </p:txBody>
      </p:sp>
      <p:sp>
        <p:nvSpPr>
          <p:cNvPr id="34" name="Text 25"/>
          <p:cNvSpPr txBox="1"/>
          <p:nvPr/>
        </p:nvSpPr>
        <p:spPr>
          <a:xfrm>
            <a:off x="5760720" y="4846320"/>
            <a:ext cx="5806440" cy="530352"/>
          </a:xfrm>
          <a:prstGeom prst="rect">
            <a:avLst/>
          </a:prstGeom>
          <a:noFill/>
          <a:ln/>
        </p:spPr>
        <p:txBody>
          <a:bodyPr wrap="square" lIns="0" tIns="0" rIns="0" bIns="0" rtlCol="0" anchor="t"/>
          <a:lstStyle/>
          <a:p>
            <a:pPr indent="0" marL="0">
              <a:buNone/>
            </a:pPr>
            <a:r>
              <a:rPr lang="en-US" sz="1100" dirty="0">
                <a:solidFill>
                  <a:srgbClr val="24313A"/>
                </a:solidFill>
                <a:latin typeface="Calibri" pitchFamily="34" charset="0"/>
                <a:ea typeface="Calibri" pitchFamily="34" charset="-122"/>
                <a:cs typeface="Calibri" pitchFamily="34" charset="-120"/>
              </a:rPr>
              <a:t>Roles other than a full-time teaching post: tutoring pupils, mentoring future or novice teachers, part-time or flexible substitute work.</a:t>
            </a:r>
            <a:endParaRPr lang="en-US" sz="1100" dirty="0"/>
          </a:p>
        </p:txBody>
      </p:sp>
      <p:sp>
        <p:nvSpPr>
          <p:cNvPr id="35" name="Shape 26"/>
          <p:cNvSpPr/>
          <p:nvPr/>
        </p:nvSpPr>
        <p:spPr>
          <a:xfrm>
            <a:off x="5102352" y="5431536"/>
            <a:ext cx="502920" cy="502920"/>
          </a:xfrm>
          <a:prstGeom prst="ellipse">
            <a:avLst/>
          </a:prstGeom>
          <a:solidFill>
            <a:srgbClr val="1F4E46"/>
          </a:solidFill>
          <a:ln w="12700">
            <a:solidFill>
              <a:srgbClr val="1F4E46"/>
            </a:solidFill>
            <a:prstDash val="solid"/>
          </a:ln>
        </p:spPr>
      </p:sp>
      <p:pic>
        <p:nvPicPr>
          <p:cNvPr id="36" name="Image 7" descr="preencoded.png">    </p:cNvPr>
          <p:cNvPicPr>
            <a:picLocks noChangeAspect="1"/>
          </p:cNvPicPr>
          <p:nvPr/>
        </p:nvPicPr>
        <p:blipFill>
          <a:blip r:embed="rId8"/>
          <a:stretch>
            <a:fillRect/>
          </a:stretch>
        </p:blipFill>
        <p:spPr>
          <a:xfrm>
            <a:off x="5223053" y="5552237"/>
            <a:ext cx="261518" cy="261518"/>
          </a:xfrm>
          <a:prstGeom prst="rect">
            <a:avLst/>
          </a:prstGeom>
        </p:spPr>
      </p:pic>
      <p:sp>
        <p:nvSpPr>
          <p:cNvPr id="37" name="Text 27"/>
          <p:cNvSpPr txBox="1"/>
          <p:nvPr/>
        </p:nvSpPr>
        <p:spPr>
          <a:xfrm>
            <a:off x="5760720" y="5394960"/>
            <a:ext cx="5806440" cy="274320"/>
          </a:xfrm>
          <a:prstGeom prst="rect">
            <a:avLst/>
          </a:prstGeom>
          <a:noFill/>
          <a:ln/>
        </p:spPr>
        <p:txBody>
          <a:bodyPr wrap="square" lIns="0" tIns="0" rIns="0" bIns="0" rtlCol="0" anchor="ctr"/>
          <a:lstStyle/>
          <a:p>
            <a:pPr indent="0" marL="0">
              <a:buNone/>
            </a:pPr>
            <a:r>
              <a:rPr lang="en-US" sz="1300" b="1" dirty="0">
                <a:solidFill>
                  <a:srgbClr val="24313A"/>
                </a:solidFill>
                <a:latin typeface="Calibri" pitchFamily="34" charset="0"/>
                <a:ea typeface="Calibri" pitchFamily="34" charset="-122"/>
                <a:cs typeface="Calibri" pitchFamily="34" charset="-120"/>
              </a:rPr>
              <a:t>Flexible re-certification</a:t>
            </a:r>
            <a:endParaRPr lang="en-US" sz="1300" dirty="0"/>
          </a:p>
        </p:txBody>
      </p:sp>
      <p:sp>
        <p:nvSpPr>
          <p:cNvPr id="38" name="Text 28"/>
          <p:cNvSpPr txBox="1"/>
          <p:nvPr/>
        </p:nvSpPr>
        <p:spPr>
          <a:xfrm>
            <a:off x="5760720" y="5669280"/>
            <a:ext cx="5806440" cy="530352"/>
          </a:xfrm>
          <a:prstGeom prst="rect">
            <a:avLst/>
          </a:prstGeom>
          <a:noFill/>
          <a:ln/>
        </p:spPr>
        <p:txBody>
          <a:bodyPr wrap="square" lIns="0" tIns="0" rIns="0" bIns="0" rtlCol="0" anchor="t"/>
          <a:lstStyle/>
          <a:p>
            <a:pPr indent="0" marL="0">
              <a:buNone/>
            </a:pPr>
            <a:r>
              <a:rPr lang="en-US" sz="1100" dirty="0">
                <a:solidFill>
                  <a:srgbClr val="24313A"/>
                </a:solidFill>
                <a:latin typeface="Calibri" pitchFamily="34" charset="0"/>
                <a:ea typeface="Calibri" pitchFamily="34" charset="-122"/>
                <a:cs typeface="Calibri" pitchFamily="34" charset="-120"/>
              </a:rPr>
              <a:t>Lowering administrative or training barriers where former teachers must re-certify: fewer compulsory course days, simplified procedures, limited teaching hours while re-certifying.</a:t>
            </a:r>
            <a:endParaRPr lang="en-US" sz="1100" dirty="0"/>
          </a:p>
        </p:txBody>
      </p:sp>
      <p:sp>
        <p:nvSpPr>
          <p:cNvPr id="39" name="Text 29"/>
          <p:cNvSpPr txBox="1"/>
          <p:nvPr/>
        </p:nvSpPr>
        <p:spPr>
          <a:xfrm>
            <a:off x="11185855" y="6473952"/>
            <a:ext cx="548640" cy="274320"/>
          </a:xfrm>
          <a:prstGeom prst="rect">
            <a:avLst/>
          </a:prstGeom>
          <a:noFill/>
          <a:ln/>
        </p:spPr>
        <p:txBody>
          <a:bodyPr wrap="square" lIns="0" tIns="0" rIns="0" bIns="0" rtlCol="0" anchor="ctr"/>
          <a:lstStyle/>
          <a:p>
            <a:pPr algn="r" indent="0" marL="0">
              <a:buNone/>
            </a:pPr>
            <a:r>
              <a:rPr lang="en-US" sz="900" dirty="0">
                <a:solidFill>
                  <a:srgbClr val="24313A"/>
                </a:solidFill>
                <a:latin typeface="Calibri" pitchFamily="34" charset="0"/>
                <a:ea typeface="Calibri" pitchFamily="34" charset="-122"/>
                <a:cs typeface="Calibr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384048"/>
            <a:ext cx="960120" cy="720090"/>
          </a:xfrm>
          <a:prstGeom prst="rect">
            <a:avLst/>
          </a:prstGeom>
        </p:spPr>
      </p:pic>
      <p:sp>
        <p:nvSpPr>
          <p:cNvPr id="3" name="Shape 0"/>
          <p:cNvSpPr/>
          <p:nvPr/>
        </p:nvSpPr>
        <p:spPr>
          <a:xfrm>
            <a:off x="457200" y="384048"/>
            <a:ext cx="960120" cy="720090"/>
          </a:xfrm>
          <a:prstGeom prst="rect">
            <a:avLst/>
          </a:prstGeom>
          <a:ln w="9525">
            <a:solidFill>
              <a:srgbClr val="CFDCD5"/>
            </a:solidFill>
            <a:prstDash val="solid"/>
          </a:ln>
        </p:spPr>
      </p:sp>
      <p:sp>
        <p:nvSpPr>
          <p:cNvPr id="4" name="Text 1"/>
          <p:cNvSpPr txBox="1"/>
          <p:nvPr/>
        </p:nvSpPr>
        <p:spPr>
          <a:xfrm>
            <a:off x="1600200" y="329184"/>
            <a:ext cx="621792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Australia</a:t>
            </a:r>
            <a:endParaRPr lang="en-US" sz="2200" dirty="0"/>
          </a:p>
        </p:txBody>
      </p:sp>
      <p:sp>
        <p:nvSpPr>
          <p:cNvPr id="5" name="Text 2"/>
          <p:cNvSpPr txBox="1"/>
          <p:nvPr/>
        </p:nvSpPr>
        <p:spPr>
          <a:xfrm>
            <a:off x="1600200" y="786384"/>
            <a:ext cx="6217920" cy="310896"/>
          </a:xfrm>
          <a:prstGeom prst="rect">
            <a:avLst/>
          </a:prstGeom>
          <a:noFill/>
          <a:ln/>
        </p:spPr>
        <p:txBody>
          <a:bodyPr wrap="square" lIns="0" tIns="0" rIns="0" bIns="0" rtlCol="0" anchor="t"/>
          <a:lstStyle/>
          <a:p>
            <a:pPr indent="0" marL="0">
              <a:buNone/>
            </a:pPr>
            <a:r>
              <a:rPr lang="en-US" sz="1300" dirty="0">
                <a:solidFill>
                  <a:srgbClr val="24313A"/>
                </a:solidFill>
                <a:latin typeface="Calibri" pitchFamily="34" charset="0"/>
                <a:ea typeface="Calibri" pitchFamily="34" charset="-122"/>
                <a:cs typeface="Calibri" pitchFamily="34" charset="-120"/>
              </a:rPr>
              <a:t>Victoria</a:t>
            </a:r>
            <a:endParaRPr lang="en-US" sz="1300" dirty="0"/>
          </a:p>
        </p:txBody>
      </p:sp>
      <p:sp>
        <p:nvSpPr>
          <p:cNvPr id="6" name="Shape 3"/>
          <p:cNvSpPr/>
          <p:nvPr/>
        </p:nvSpPr>
        <p:spPr>
          <a:xfrm>
            <a:off x="8257032" y="384048"/>
            <a:ext cx="3474720" cy="429768"/>
          </a:xfrm>
          <a:prstGeom prst="roundRect">
            <a:avLst>
              <a:gd name="adj" fmla="val 50000"/>
            </a:avLst>
          </a:prstGeom>
          <a:solidFill>
            <a:srgbClr val="EAF2EE"/>
          </a:solidFill>
          <a:ln w="12700">
            <a:solidFill>
              <a:srgbClr val="B3542E"/>
            </a:solidFill>
            <a:prstDash val="solid"/>
          </a:ln>
        </p:spPr>
      </p:sp>
      <p:sp>
        <p:nvSpPr>
          <p:cNvPr id="7" name="Text 4"/>
          <p:cNvSpPr txBox="1"/>
          <p:nvPr/>
        </p:nvSpPr>
        <p:spPr>
          <a:xfrm>
            <a:off x="8257032" y="384048"/>
            <a:ext cx="3474720" cy="429768"/>
          </a:xfrm>
          <a:prstGeom prst="rect">
            <a:avLst/>
          </a:prstGeom>
          <a:noFill/>
          <a:ln/>
        </p:spPr>
        <p:txBody>
          <a:bodyPr wrap="square" lIns="0" tIns="0" rIns="0" bIns="0" rtlCol="0" anchor="ctr"/>
          <a:lstStyle/>
          <a:p>
            <a:pPr algn="ctr" indent="0" marL="0">
              <a:buNone/>
            </a:pPr>
            <a:r>
              <a:rPr lang="en-US" sz="1350" b="1" dirty="0">
                <a:solidFill>
                  <a:srgbClr val="B3542E"/>
                </a:solidFill>
                <a:latin typeface="Calibri" pitchFamily="34" charset="0"/>
                <a:ea typeface="Calibri" pitchFamily="34" charset="-122"/>
                <a:cs typeface="Calibri" pitchFamily="34" charset="-120"/>
              </a:rPr>
              <a:t>Support &amp; training</a:t>
            </a:r>
            <a:endParaRPr lang="en-US" sz="1350" dirty="0"/>
          </a:p>
        </p:txBody>
      </p:sp>
      <p:sp>
        <p:nvSpPr>
          <p:cNvPr id="8" name="Text 5"/>
          <p:cNvSpPr txBox="1"/>
          <p:nvPr/>
        </p:nvSpPr>
        <p:spPr>
          <a:xfrm>
            <a:off x="7342632" y="850392"/>
            <a:ext cx="4389120" cy="274320"/>
          </a:xfrm>
          <a:prstGeom prst="rect">
            <a:avLst/>
          </a:prstGeom>
          <a:noFill/>
          <a:ln/>
        </p:spPr>
        <p:txBody>
          <a:bodyPr wrap="square" lIns="0" tIns="0" rIns="0" bIns="0" rtlCol="0" anchor="t"/>
          <a:lstStyle/>
          <a:p>
            <a:pPr algn="r" indent="0" marL="0">
              <a:buNone/>
            </a:pPr>
            <a:r>
              <a:rPr lang="en-US" sz="1100" dirty="0">
                <a:solidFill>
                  <a:srgbClr val="24313A"/>
                </a:solidFill>
                <a:latin typeface="Calibri" pitchFamily="34" charset="0"/>
                <a:ea typeface="Calibri" pitchFamily="34" charset="-122"/>
                <a:cs typeface="Calibri" pitchFamily="34" charset="-120"/>
              </a:rPr>
              <a:t>Target: Switchers / Leavers / Retired</a:t>
            </a:r>
            <a:endParaRPr lang="en-US" sz="1100" dirty="0"/>
          </a:p>
        </p:txBody>
      </p:sp>
      <p:sp>
        <p:nvSpPr>
          <p:cNvPr id="9" name="Shape 6"/>
          <p:cNvSpPr/>
          <p:nvPr/>
        </p:nvSpPr>
        <p:spPr>
          <a:xfrm>
            <a:off x="457200" y="1371600"/>
            <a:ext cx="11274552" cy="3858768"/>
          </a:xfrm>
          <a:prstGeom prst="roundRect">
            <a:avLst>
              <a:gd name="adj" fmla="val 2844"/>
            </a:avLst>
          </a:prstGeom>
          <a:solidFill>
            <a:srgbClr val="EAF2EE"/>
          </a:solidFill>
          <a:ln w="12700">
            <a:solidFill>
              <a:srgbClr val="EAF2EE"/>
            </a:solidFill>
            <a:prstDash val="solid"/>
          </a:ln>
        </p:spPr>
      </p:sp>
      <p:sp>
        <p:nvSpPr>
          <p:cNvPr id="10" name="Shape 7"/>
          <p:cNvSpPr/>
          <p:nvPr/>
        </p:nvSpPr>
        <p:spPr>
          <a:xfrm>
            <a:off x="777240" y="1691640"/>
            <a:ext cx="777240" cy="777240"/>
          </a:xfrm>
          <a:prstGeom prst="ellipse">
            <a:avLst/>
          </a:prstGeom>
          <a:solidFill>
            <a:srgbClr val="1F4E46"/>
          </a:solidFill>
          <a:ln w="12700">
            <a:solidFill>
              <a:srgbClr val="1F4E46"/>
            </a:solidFill>
            <a:prstDash val="solid"/>
          </a:ln>
        </p:spPr>
      </p:sp>
      <p:pic>
        <p:nvPicPr>
          <p:cNvPr id="11" name="Image 1" descr="preencoded.png">    </p:cNvPr>
          <p:cNvPicPr>
            <a:picLocks noChangeAspect="1"/>
          </p:cNvPicPr>
          <p:nvPr/>
        </p:nvPicPr>
        <p:blipFill>
          <a:blip r:embed="rId2"/>
          <a:stretch>
            <a:fillRect/>
          </a:stretch>
        </p:blipFill>
        <p:spPr>
          <a:xfrm>
            <a:off x="963778" y="1878178"/>
            <a:ext cx="404165" cy="404165"/>
          </a:xfrm>
          <a:prstGeom prst="rect">
            <a:avLst/>
          </a:prstGeom>
        </p:spPr>
      </p:pic>
      <p:sp>
        <p:nvSpPr>
          <p:cNvPr id="12" name="Text 8"/>
          <p:cNvSpPr txBox="1"/>
          <p:nvPr/>
        </p:nvSpPr>
        <p:spPr>
          <a:xfrm>
            <a:off x="1783080" y="1536192"/>
            <a:ext cx="9738360" cy="868680"/>
          </a:xfrm>
          <a:prstGeom prst="rect">
            <a:avLst/>
          </a:prstGeom>
          <a:noFill/>
          <a:ln/>
        </p:spPr>
        <p:txBody>
          <a:bodyPr wrap="square" lIns="0" tIns="0" rIns="0" bIns="0" rtlCol="0" anchor="t"/>
          <a:lstStyle/>
          <a:p>
            <a:pPr indent="0" marL="0">
              <a:buNone/>
            </a:pPr>
            <a:r>
              <a:rPr lang="en-US" sz="2100" b="1" dirty="0">
                <a:solidFill>
                  <a:srgbClr val="24313A"/>
                </a:solidFill>
                <a:latin typeface="Cambria" pitchFamily="34" charset="0"/>
                <a:ea typeface="Cambria" pitchFamily="34" charset="-122"/>
                <a:cs typeface="Cambria" pitchFamily="34" charset="-120"/>
              </a:rPr>
              <a:t>Teacher Re-Engagement Initiative (TREI), 2022–2025</a:t>
            </a:r>
            <a:endParaRPr lang="en-US" sz="2100" dirty="0"/>
          </a:p>
        </p:txBody>
      </p:sp>
      <p:sp>
        <p:nvSpPr>
          <p:cNvPr id="13" name="Text 9"/>
          <p:cNvSpPr txBox="1"/>
          <p:nvPr/>
        </p:nvSpPr>
        <p:spPr>
          <a:xfrm>
            <a:off x="1783080" y="2395728"/>
            <a:ext cx="9738360" cy="2450592"/>
          </a:xfrm>
          <a:prstGeom prst="rect">
            <a:avLst/>
          </a:prstGeom>
          <a:noFill/>
          <a:ln/>
        </p:spPr>
        <p:txBody>
          <a:bodyPr wrap="square" lIns="0" tIns="0" rIns="0" bIns="0" rtlCol="0" anchor="t"/>
          <a:lstStyle/>
          <a:p>
            <a:pPr indent="0" marL="0">
              <a:lnSpc>
                <a:spcPct val="106000"/>
              </a:lnSpc>
              <a:buNone/>
            </a:pPr>
            <a:r>
              <a:rPr lang="en-US" sz="1500" dirty="0">
                <a:solidFill>
                  <a:srgbClr val="24313A"/>
                </a:solidFill>
                <a:latin typeface="Calibri" pitchFamily="34" charset="0"/>
                <a:ea typeface="Calibri" pitchFamily="34" charset="-122"/>
                <a:cs typeface="Calibri" pitchFamily="34" charset="-120"/>
              </a:rPr>
              <a:t>The Teacher Re-Engagement Initiative is a scheme of the Department of Education of the state of Victoria for qualified teachers who stopped teaching at least a year ago, whether they retired or moved to another job. It lets them spend up to forty paid days in a public school to get used to the classroom again before they apply for a real post. After a teacher registers, a team from the department calls them, offers free coaching on writing a CV, preparing for interviews and the current curriculum, and finds them a school; during the forty days they observe lessons, teach and are guided by serving teachers. Those returning from retirement or a career break are paid up to 12,000 Australian dollars (about 7,200 euros) for the forty days. The initiative began in late 2022, received more than 1,100 expressions of interest in its first months and was given 12 million Australian dollars (about 7.2 million euros) in the 2023/24 state budget; placements ran until June 2025.</a:t>
            </a:r>
            <a:endParaRPr lang="en-US" sz="1500" dirty="0"/>
          </a:p>
        </p:txBody>
      </p:sp>
      <p:sp>
        <p:nvSpPr>
          <p:cNvPr id="14" name="Text 10"/>
          <p:cNvSpPr txBox="1"/>
          <p:nvPr/>
        </p:nvSpPr>
        <p:spPr>
          <a:xfrm>
            <a:off x="1783080" y="4864608"/>
            <a:ext cx="9738360" cy="274320"/>
          </a:xfrm>
          <a:prstGeom prst="rect">
            <a:avLst/>
          </a:prstGeom>
          <a:noFill/>
          <a:ln/>
        </p:spPr>
        <p:txBody>
          <a:bodyPr wrap="square" lIns="0" tIns="0" rIns="0" bIns="0" rtlCol="0" anchor="ctr"/>
          <a:lstStyle/>
          <a:p>
            <a:pPr indent="0" marL="0">
              <a:buNone/>
            </a:pPr>
            <a:r>
              <a:rPr lang="en-US" sz="1150" b="1" dirty="0">
                <a:solidFill>
                  <a:srgbClr val="24313A"/>
                </a:solidFill>
                <a:latin typeface="Calibri" pitchFamily="34" charset="0"/>
                <a:ea typeface="Calibri" pitchFamily="34" charset="-122"/>
                <a:cs typeface="Calibri" pitchFamily="34" charset="-120"/>
              </a:rPr>
              <a:t>Secondary instruments: </a:t>
            </a:r>
            <a:pPr indent="0" marL="0">
              <a:buNone/>
            </a:pPr>
            <a:r>
              <a:rPr lang="en-US" sz="1150" dirty="0">
                <a:solidFill>
                  <a:srgbClr val="24313A"/>
                </a:solidFill>
                <a:latin typeface="Calibri" pitchFamily="34" charset="0"/>
                <a:ea typeface="Calibri" pitchFamily="34" charset="-122"/>
                <a:cs typeface="Calibri" pitchFamily="34" charset="-120"/>
              </a:rPr>
              <a:t>Financial incentives · Information &amp; nudges</a:t>
            </a:r>
            <a:endParaRPr lang="en-US" sz="1150" dirty="0"/>
          </a:p>
        </p:txBody>
      </p:sp>
      <p:sp>
        <p:nvSpPr>
          <p:cNvPr id="15" name="Text 11"/>
          <p:cNvSpPr txBox="1"/>
          <p:nvPr/>
        </p:nvSpPr>
        <p:spPr>
          <a:xfrm>
            <a:off x="457200" y="5413248"/>
            <a:ext cx="11274552" cy="868680"/>
          </a:xfrm>
          <a:prstGeom prst="rect">
            <a:avLst/>
          </a:prstGeom>
          <a:noFill/>
          <a:ln/>
        </p:spPr>
        <p:txBody>
          <a:bodyPr wrap="square" lIns="0" tIns="0" rIns="0" bIns="0" rtlCol="0" anchor="t"/>
          <a:lstStyle/>
          <a:p>
            <a:pPr indent="0" marL="0">
              <a:buNone/>
            </a:pPr>
            <a:r>
              <a:rPr lang="en-US" sz="1000" b="1" dirty="0">
                <a:solidFill>
                  <a:srgbClr val="24313A"/>
                </a:solidFill>
                <a:latin typeface="Calibri" pitchFamily="34" charset="0"/>
                <a:ea typeface="Calibri" pitchFamily="34" charset="-122"/>
                <a:cs typeface="Calibri" pitchFamily="34" charset="-120"/>
              </a:rPr>
              <a:t>Source: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3" invalidUrl="" action="" tgtFrame="" tooltip="https://www.vic.gov.au/teacher-re-engagement-initiative" history="1" highlightClick="0" endSnd="0">
                  <a:extLst>
                    <a:ext uri="{A12FA001-AC4F-418D-AE19-62706E023703}">
                      <ahyp:hlinkClr xmlns:ahyp="http://schemas.microsoft.com/office/drawing/2018/hyperlinkcolor" val="tx"/>
                    </a:ext>
                  </a:extLst>
                </a:hlinkClick>
              </a:rPr>
              <a:t>https://www.vic.gov.au/teacher-re-engagement-initiative</a:t>
            </a:r>
            <a:endParaRPr lang="en-US" sz="1000" dirty="0"/>
          </a:p>
        </p:txBody>
      </p:sp>
      <p:sp>
        <p:nvSpPr>
          <p:cNvPr id="16" name="Text 12"/>
          <p:cNvSpPr txBox="1"/>
          <p:nvPr/>
        </p:nvSpPr>
        <p:spPr>
          <a:xfrm>
            <a:off x="11185855" y="6473952"/>
            <a:ext cx="548640" cy="274320"/>
          </a:xfrm>
          <a:prstGeom prst="rect">
            <a:avLst/>
          </a:prstGeom>
          <a:noFill/>
          <a:ln/>
        </p:spPr>
        <p:txBody>
          <a:bodyPr wrap="square" lIns="0" tIns="0" rIns="0" bIns="0" rtlCol="0" anchor="ctr"/>
          <a:lstStyle/>
          <a:p>
            <a:pPr algn="r" indent="0" marL="0">
              <a:buNone/>
            </a:pPr>
            <a:r>
              <a:rPr lang="en-US" sz="900" dirty="0">
                <a:solidFill>
                  <a:srgbClr val="24313A"/>
                </a:solidFill>
                <a:latin typeface="Calibri" pitchFamily="34" charset="0"/>
                <a:ea typeface="Calibri" pitchFamily="34" charset="-122"/>
                <a:cs typeface="Calibri"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384048"/>
            <a:ext cx="960120" cy="720090"/>
          </a:xfrm>
          <a:prstGeom prst="rect">
            <a:avLst/>
          </a:prstGeom>
        </p:spPr>
      </p:pic>
      <p:sp>
        <p:nvSpPr>
          <p:cNvPr id="3" name="Shape 0"/>
          <p:cNvSpPr/>
          <p:nvPr/>
        </p:nvSpPr>
        <p:spPr>
          <a:xfrm>
            <a:off x="457200" y="384048"/>
            <a:ext cx="960120" cy="720090"/>
          </a:xfrm>
          <a:prstGeom prst="rect">
            <a:avLst/>
          </a:prstGeom>
          <a:ln w="9525">
            <a:solidFill>
              <a:srgbClr val="CFDCD5"/>
            </a:solidFill>
            <a:prstDash val="solid"/>
          </a:ln>
        </p:spPr>
      </p:sp>
      <p:sp>
        <p:nvSpPr>
          <p:cNvPr id="4" name="Text 1"/>
          <p:cNvSpPr txBox="1"/>
          <p:nvPr/>
        </p:nvSpPr>
        <p:spPr>
          <a:xfrm>
            <a:off x="1600200" y="329184"/>
            <a:ext cx="621792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Canada</a:t>
            </a:r>
            <a:endParaRPr lang="en-US" sz="2200" dirty="0"/>
          </a:p>
        </p:txBody>
      </p:sp>
      <p:sp>
        <p:nvSpPr>
          <p:cNvPr id="5" name="Text 2"/>
          <p:cNvSpPr txBox="1"/>
          <p:nvPr/>
        </p:nvSpPr>
        <p:spPr>
          <a:xfrm>
            <a:off x="1600200" y="786384"/>
            <a:ext cx="6217920" cy="310896"/>
          </a:xfrm>
          <a:prstGeom prst="rect">
            <a:avLst/>
          </a:prstGeom>
          <a:noFill/>
          <a:ln/>
        </p:spPr>
        <p:txBody>
          <a:bodyPr wrap="square" lIns="0" tIns="0" rIns="0" bIns="0" rtlCol="0" anchor="t"/>
          <a:lstStyle/>
          <a:p>
            <a:pPr indent="0" marL="0">
              <a:buNone/>
            </a:pPr>
            <a:r>
              <a:rPr lang="en-US" sz="1300" dirty="0">
                <a:solidFill>
                  <a:srgbClr val="24313A"/>
                </a:solidFill>
                <a:latin typeface="Calibri" pitchFamily="34" charset="0"/>
                <a:ea typeface="Calibri" pitchFamily="34" charset="-122"/>
                <a:cs typeface="Calibri" pitchFamily="34" charset="-120"/>
              </a:rPr>
              <a:t>Quebec</a:t>
            </a:r>
            <a:endParaRPr lang="en-US" sz="1300" dirty="0"/>
          </a:p>
        </p:txBody>
      </p:sp>
      <p:sp>
        <p:nvSpPr>
          <p:cNvPr id="6" name="Shape 3"/>
          <p:cNvSpPr/>
          <p:nvPr/>
        </p:nvSpPr>
        <p:spPr>
          <a:xfrm>
            <a:off x="8257032" y="384048"/>
            <a:ext cx="3474720" cy="429768"/>
          </a:xfrm>
          <a:prstGeom prst="roundRect">
            <a:avLst>
              <a:gd name="adj" fmla="val 50000"/>
            </a:avLst>
          </a:prstGeom>
          <a:solidFill>
            <a:srgbClr val="EAF2EE"/>
          </a:solidFill>
          <a:ln w="12700">
            <a:solidFill>
              <a:srgbClr val="B3542E"/>
            </a:solidFill>
            <a:prstDash val="solid"/>
          </a:ln>
        </p:spPr>
      </p:sp>
      <p:sp>
        <p:nvSpPr>
          <p:cNvPr id="7" name="Text 4"/>
          <p:cNvSpPr txBox="1"/>
          <p:nvPr/>
        </p:nvSpPr>
        <p:spPr>
          <a:xfrm>
            <a:off x="8257032" y="384048"/>
            <a:ext cx="3474720" cy="429768"/>
          </a:xfrm>
          <a:prstGeom prst="rect">
            <a:avLst/>
          </a:prstGeom>
          <a:noFill/>
          <a:ln/>
        </p:spPr>
        <p:txBody>
          <a:bodyPr wrap="square" lIns="0" tIns="0" rIns="0" bIns="0" rtlCol="0" anchor="ctr"/>
          <a:lstStyle/>
          <a:p>
            <a:pPr algn="ctr" indent="0" marL="0">
              <a:buNone/>
            </a:pPr>
            <a:r>
              <a:rPr lang="en-US" sz="1350" b="1" dirty="0">
                <a:solidFill>
                  <a:srgbClr val="B3542E"/>
                </a:solidFill>
                <a:latin typeface="Calibri" pitchFamily="34" charset="0"/>
                <a:ea typeface="Calibri" pitchFamily="34" charset="-122"/>
                <a:cs typeface="Calibri" pitchFamily="34" charset="-120"/>
              </a:rPr>
              <a:t>Financial incentives</a:t>
            </a:r>
            <a:endParaRPr lang="en-US" sz="1350" dirty="0"/>
          </a:p>
        </p:txBody>
      </p:sp>
      <p:sp>
        <p:nvSpPr>
          <p:cNvPr id="8" name="Text 5"/>
          <p:cNvSpPr txBox="1"/>
          <p:nvPr/>
        </p:nvSpPr>
        <p:spPr>
          <a:xfrm>
            <a:off x="7342632" y="850392"/>
            <a:ext cx="4389120" cy="274320"/>
          </a:xfrm>
          <a:prstGeom prst="rect">
            <a:avLst/>
          </a:prstGeom>
          <a:noFill/>
          <a:ln/>
        </p:spPr>
        <p:txBody>
          <a:bodyPr wrap="square" lIns="0" tIns="0" rIns="0" bIns="0" rtlCol="0" anchor="t"/>
          <a:lstStyle/>
          <a:p>
            <a:pPr algn="r" indent="0" marL="0">
              <a:buNone/>
            </a:pPr>
            <a:r>
              <a:rPr lang="en-US" sz="1100" dirty="0">
                <a:solidFill>
                  <a:srgbClr val="24313A"/>
                </a:solidFill>
                <a:latin typeface="Calibri" pitchFamily="34" charset="0"/>
                <a:ea typeface="Calibri" pitchFamily="34" charset="-122"/>
                <a:cs typeface="Calibri" pitchFamily="34" charset="-120"/>
              </a:rPr>
              <a:t>Target: Retired</a:t>
            </a:r>
            <a:endParaRPr lang="en-US" sz="1100" dirty="0"/>
          </a:p>
        </p:txBody>
      </p:sp>
      <p:sp>
        <p:nvSpPr>
          <p:cNvPr id="9" name="Shape 6"/>
          <p:cNvSpPr/>
          <p:nvPr/>
        </p:nvSpPr>
        <p:spPr>
          <a:xfrm>
            <a:off x="457200" y="1371600"/>
            <a:ext cx="11274552" cy="3858768"/>
          </a:xfrm>
          <a:prstGeom prst="roundRect">
            <a:avLst>
              <a:gd name="adj" fmla="val 2844"/>
            </a:avLst>
          </a:prstGeom>
          <a:solidFill>
            <a:srgbClr val="EAF2EE"/>
          </a:solidFill>
          <a:ln w="12700">
            <a:solidFill>
              <a:srgbClr val="EAF2EE"/>
            </a:solidFill>
            <a:prstDash val="solid"/>
          </a:ln>
        </p:spPr>
      </p:sp>
      <p:sp>
        <p:nvSpPr>
          <p:cNvPr id="10" name="Shape 7"/>
          <p:cNvSpPr/>
          <p:nvPr/>
        </p:nvSpPr>
        <p:spPr>
          <a:xfrm>
            <a:off x="777240" y="1691640"/>
            <a:ext cx="777240" cy="777240"/>
          </a:xfrm>
          <a:prstGeom prst="ellipse">
            <a:avLst/>
          </a:prstGeom>
          <a:solidFill>
            <a:srgbClr val="1F4E46"/>
          </a:solidFill>
          <a:ln w="12700">
            <a:solidFill>
              <a:srgbClr val="1F4E46"/>
            </a:solidFill>
            <a:prstDash val="solid"/>
          </a:ln>
        </p:spPr>
      </p:sp>
      <p:pic>
        <p:nvPicPr>
          <p:cNvPr id="11" name="Image 1" descr="preencoded.png">    </p:cNvPr>
          <p:cNvPicPr>
            <a:picLocks noChangeAspect="1"/>
          </p:cNvPicPr>
          <p:nvPr/>
        </p:nvPicPr>
        <p:blipFill>
          <a:blip r:embed="rId2"/>
          <a:stretch>
            <a:fillRect/>
          </a:stretch>
        </p:blipFill>
        <p:spPr>
          <a:xfrm>
            <a:off x="963778" y="1878178"/>
            <a:ext cx="404165" cy="404165"/>
          </a:xfrm>
          <a:prstGeom prst="rect">
            <a:avLst/>
          </a:prstGeom>
        </p:spPr>
      </p:pic>
      <p:sp>
        <p:nvSpPr>
          <p:cNvPr id="12" name="Text 8"/>
          <p:cNvSpPr txBox="1"/>
          <p:nvPr/>
        </p:nvSpPr>
        <p:spPr>
          <a:xfrm>
            <a:off x="1783080" y="1536192"/>
            <a:ext cx="9738360" cy="868680"/>
          </a:xfrm>
          <a:prstGeom prst="rect">
            <a:avLst/>
          </a:prstGeom>
          <a:noFill/>
          <a:ln/>
        </p:spPr>
        <p:txBody>
          <a:bodyPr wrap="square" lIns="0" tIns="0" rIns="0" bIns="0" rtlCol="0" anchor="t"/>
          <a:lstStyle/>
          <a:p>
            <a:pPr indent="0" marL="0">
              <a:buNone/>
            </a:pPr>
            <a:r>
              <a:rPr lang="en-US" sz="2100" b="1" dirty="0">
                <a:solidFill>
                  <a:srgbClr val="24313A"/>
                </a:solidFill>
                <a:latin typeface="Cambria" pitchFamily="34" charset="0"/>
                <a:ea typeface="Cambria" pitchFamily="34" charset="-122"/>
                <a:cs typeface="Cambria" pitchFamily="34" charset="-120"/>
              </a:rPr>
              <a:t>Incentive pay for returning retired teachers (2020, made permanent) and ministerial letter campaign (2023)</a:t>
            </a:r>
            <a:endParaRPr lang="en-US" sz="2100" dirty="0"/>
          </a:p>
        </p:txBody>
      </p:sp>
      <p:sp>
        <p:nvSpPr>
          <p:cNvPr id="13" name="Text 9"/>
          <p:cNvSpPr txBox="1"/>
          <p:nvPr/>
        </p:nvSpPr>
        <p:spPr>
          <a:xfrm>
            <a:off x="1783080" y="2395728"/>
            <a:ext cx="9738360" cy="2450592"/>
          </a:xfrm>
          <a:prstGeom prst="rect">
            <a:avLst/>
          </a:prstGeom>
          <a:noFill/>
          <a:ln/>
        </p:spPr>
        <p:txBody>
          <a:bodyPr wrap="square" lIns="0" tIns="0" rIns="0" bIns="0" rtlCol="0" anchor="t"/>
          <a:lstStyle/>
          <a:p>
            <a:pPr indent="0" marL="0">
              <a:lnSpc>
                <a:spcPct val="106000"/>
              </a:lnSpc>
              <a:buNone/>
            </a:pPr>
            <a:r>
              <a:rPr lang="en-US" sz="1500" dirty="0">
                <a:solidFill>
                  <a:srgbClr val="24313A"/>
                </a:solidFill>
                <a:latin typeface="Calibri" pitchFamily="34" charset="0"/>
                <a:ea typeface="Calibri" pitchFamily="34" charset="-122"/>
                <a:cs typeface="Calibri" pitchFamily="34" charset="-120"/>
              </a:rPr>
              <a:t>Quebec pays retired teachers who come back to work in public schools much better than an ordinary substitute. From their first day of substitute teaching they are paid at the salary step they had reached when they retired, roughly 412 Canadian dollars a day (about 275 euros) instead of the usual substitute rate of 212 dollars (about 140 euros), and they keep their full pension. The measure was introduced on 21 September 2020, during the pandemic, brought 700 retirees back that school year and was later made permanent. In August 2023 the Minister of Education also wrote personally to every retired teacher inviting them to return; more than 5,000 retirees had worked in schools the previous year, mostly as substitutes or on part-time contracts, and the top daily rate was raised to 578 dollars (about 385 euros).</a:t>
            </a:r>
            <a:endParaRPr lang="en-US" sz="1500" dirty="0"/>
          </a:p>
        </p:txBody>
      </p:sp>
      <p:sp>
        <p:nvSpPr>
          <p:cNvPr id="14" name="Text 10"/>
          <p:cNvSpPr txBox="1"/>
          <p:nvPr/>
        </p:nvSpPr>
        <p:spPr>
          <a:xfrm>
            <a:off x="1783080" y="4864608"/>
            <a:ext cx="9738360" cy="274320"/>
          </a:xfrm>
          <a:prstGeom prst="rect">
            <a:avLst/>
          </a:prstGeom>
          <a:noFill/>
          <a:ln/>
        </p:spPr>
        <p:txBody>
          <a:bodyPr wrap="square" lIns="0" tIns="0" rIns="0" bIns="0" rtlCol="0" anchor="ctr"/>
          <a:lstStyle/>
          <a:p>
            <a:pPr indent="0" marL="0">
              <a:buNone/>
            </a:pPr>
            <a:r>
              <a:rPr lang="en-US" sz="1150" b="1" dirty="0">
                <a:solidFill>
                  <a:srgbClr val="24313A"/>
                </a:solidFill>
                <a:latin typeface="Calibri" pitchFamily="34" charset="0"/>
                <a:ea typeface="Calibri" pitchFamily="34" charset="-122"/>
                <a:cs typeface="Calibri" pitchFamily="34" charset="-120"/>
              </a:rPr>
              <a:t>Secondary instruments: </a:t>
            </a:r>
            <a:pPr indent="0" marL="0">
              <a:buNone/>
            </a:pPr>
            <a:r>
              <a:rPr lang="en-US" sz="1150" dirty="0">
                <a:solidFill>
                  <a:srgbClr val="24313A"/>
                </a:solidFill>
                <a:latin typeface="Calibri" pitchFamily="34" charset="0"/>
                <a:ea typeface="Calibri" pitchFamily="34" charset="-122"/>
                <a:cs typeface="Calibri" pitchFamily="34" charset="-120"/>
              </a:rPr>
              <a:t>Information &amp; nudges · Flexible positions</a:t>
            </a:r>
            <a:endParaRPr lang="en-US" sz="1150" dirty="0"/>
          </a:p>
        </p:txBody>
      </p:sp>
      <p:sp>
        <p:nvSpPr>
          <p:cNvPr id="15" name="Text 11"/>
          <p:cNvSpPr txBox="1"/>
          <p:nvPr/>
        </p:nvSpPr>
        <p:spPr>
          <a:xfrm>
            <a:off x="457200" y="5413248"/>
            <a:ext cx="11274552" cy="868680"/>
          </a:xfrm>
          <a:prstGeom prst="rect">
            <a:avLst/>
          </a:prstGeom>
          <a:noFill/>
          <a:ln/>
        </p:spPr>
        <p:txBody>
          <a:bodyPr wrap="square" lIns="0" tIns="0" rIns="0" bIns="0" rtlCol="0" anchor="t"/>
          <a:lstStyle/>
          <a:p>
            <a:pPr indent="0" marL="0">
              <a:buNone/>
            </a:pPr>
            <a:r>
              <a:rPr lang="en-US" sz="1000" b="1" dirty="0">
                <a:solidFill>
                  <a:srgbClr val="24313A"/>
                </a:solidFill>
                <a:latin typeface="Calibri" pitchFamily="34" charset="0"/>
                <a:ea typeface="Calibri" pitchFamily="34" charset="-122"/>
                <a:cs typeface="Calibri" pitchFamily="34" charset="-120"/>
              </a:rPr>
              <a:t>Source: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3" invalidUrl="" action="" tgtFrame="" tooltip="https://www.quebec.ca/en/government/work-government/jobs-education/teaching-general-education-youth-sector-vocational-training-adult-education/return-work-retired-teacher" history="1" highlightClick="0" endSnd="0">
                  <a:extLst>
                    <a:ext uri="{A12FA001-AC4F-418D-AE19-62706E023703}">
                      <ahyp:hlinkClr xmlns:ahyp="http://schemas.microsoft.com/office/drawing/2018/hyperlinkcolor" val="tx"/>
                    </a:ext>
                  </a:extLst>
                </a:hlinkClick>
              </a:rPr>
              <a:t>https://www.quebec.ca/en/government/work-government/jobs-education/teaching-general-education-youth-sector-vocational-training-adult-education/return-work-retired-teacher</a:t>
            </a:r>
            <a:endParaRPr lang="en-US" sz="1000" dirty="0"/>
          </a:p>
          <a:p>
            <a:pPr indent="0" marL="0">
              <a:buNone/>
            </a:pPr>
            <a:r>
              <a:rPr lang="en-US" sz="1000" b="1" dirty="0">
                <a:solidFill>
                  <a:srgbClr val="24313A"/>
                </a:solidFill>
                <a:latin typeface="Calibri" pitchFamily="34" charset="0"/>
                <a:ea typeface="Calibri" pitchFamily="34" charset="-122"/>
                <a:cs typeface="Calibri" pitchFamily="34" charset="-120"/>
              </a:rPr>
              <a:t>Source (see also):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4" invalidUrl="" action="" tgtFrame="" tooltip="https://www.ledevoir.com/actualites/education/912921/quebec-espere-nouveau-attirer-milliers-enseignants-retraites-ecoles" history="1" highlightClick="0" endSnd="0">
                  <a:extLst>
                    <a:ext uri="{A12FA001-AC4F-418D-AE19-62706E023703}">
                      <ahyp:hlinkClr xmlns:ahyp="http://schemas.microsoft.com/office/drawing/2018/hyperlinkcolor" val="tx"/>
                    </a:ext>
                  </a:extLst>
                </a:hlinkClick>
              </a:rPr>
              <a:t>https://www.ledevoir.com/actualites/education/912921/quebec-espere-nouveau-attirer-milliers-enseignants-retraites-ecoles</a:t>
            </a:r>
            <a:endParaRPr lang="en-US" sz="1000" dirty="0"/>
          </a:p>
        </p:txBody>
      </p:sp>
      <p:sp>
        <p:nvSpPr>
          <p:cNvPr id="16" name="Text 12"/>
          <p:cNvSpPr txBox="1"/>
          <p:nvPr/>
        </p:nvSpPr>
        <p:spPr>
          <a:xfrm>
            <a:off x="11185855" y="6473952"/>
            <a:ext cx="548640" cy="274320"/>
          </a:xfrm>
          <a:prstGeom prst="rect">
            <a:avLst/>
          </a:prstGeom>
          <a:noFill/>
          <a:ln/>
        </p:spPr>
        <p:txBody>
          <a:bodyPr wrap="square" lIns="0" tIns="0" rIns="0" bIns="0" rtlCol="0" anchor="ctr"/>
          <a:lstStyle/>
          <a:p>
            <a:pPr algn="r" indent="0" marL="0">
              <a:buNone/>
            </a:pPr>
            <a:r>
              <a:rPr lang="en-US" sz="900" dirty="0">
                <a:solidFill>
                  <a:srgbClr val="24313A"/>
                </a:solidFill>
                <a:latin typeface="Calibri" pitchFamily="34" charset="0"/>
                <a:ea typeface="Calibri" pitchFamily="34" charset="-122"/>
                <a:cs typeface="Calibri"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384048"/>
            <a:ext cx="960120" cy="720090"/>
          </a:xfrm>
          <a:prstGeom prst="rect">
            <a:avLst/>
          </a:prstGeom>
        </p:spPr>
      </p:pic>
      <p:sp>
        <p:nvSpPr>
          <p:cNvPr id="3" name="Shape 0"/>
          <p:cNvSpPr/>
          <p:nvPr/>
        </p:nvSpPr>
        <p:spPr>
          <a:xfrm>
            <a:off x="457200" y="384048"/>
            <a:ext cx="960120" cy="720090"/>
          </a:xfrm>
          <a:prstGeom prst="rect">
            <a:avLst/>
          </a:prstGeom>
          <a:ln w="9525">
            <a:solidFill>
              <a:srgbClr val="CFDCD5"/>
            </a:solidFill>
            <a:prstDash val="solid"/>
          </a:ln>
        </p:spPr>
      </p:sp>
      <p:sp>
        <p:nvSpPr>
          <p:cNvPr id="4" name="Text 1"/>
          <p:cNvSpPr txBox="1"/>
          <p:nvPr/>
        </p:nvSpPr>
        <p:spPr>
          <a:xfrm>
            <a:off x="1600200" y="329184"/>
            <a:ext cx="621792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China</a:t>
            </a:r>
            <a:endParaRPr lang="en-US" sz="2200" dirty="0"/>
          </a:p>
        </p:txBody>
      </p:sp>
      <p:sp>
        <p:nvSpPr>
          <p:cNvPr id="5" name="Shape 2"/>
          <p:cNvSpPr/>
          <p:nvPr/>
        </p:nvSpPr>
        <p:spPr>
          <a:xfrm>
            <a:off x="8257032" y="384048"/>
            <a:ext cx="3474720" cy="429768"/>
          </a:xfrm>
          <a:prstGeom prst="roundRect">
            <a:avLst>
              <a:gd name="adj" fmla="val 50000"/>
            </a:avLst>
          </a:prstGeom>
          <a:solidFill>
            <a:srgbClr val="EAF2EE"/>
          </a:solidFill>
          <a:ln w="12700">
            <a:solidFill>
              <a:srgbClr val="B3542E"/>
            </a:solidFill>
            <a:prstDash val="solid"/>
          </a:ln>
        </p:spPr>
      </p:sp>
      <p:sp>
        <p:nvSpPr>
          <p:cNvPr id="6" name="Text 3"/>
          <p:cNvSpPr txBox="1"/>
          <p:nvPr/>
        </p:nvSpPr>
        <p:spPr>
          <a:xfrm>
            <a:off x="8257032" y="384048"/>
            <a:ext cx="3474720" cy="429768"/>
          </a:xfrm>
          <a:prstGeom prst="rect">
            <a:avLst/>
          </a:prstGeom>
          <a:noFill/>
          <a:ln/>
        </p:spPr>
        <p:txBody>
          <a:bodyPr wrap="square" lIns="0" tIns="0" rIns="0" bIns="0" rtlCol="0" anchor="ctr"/>
          <a:lstStyle/>
          <a:p>
            <a:pPr algn="ctr" indent="0" marL="0">
              <a:buNone/>
            </a:pPr>
            <a:r>
              <a:rPr lang="en-US" sz="1350" b="1" dirty="0">
                <a:solidFill>
                  <a:srgbClr val="B3542E"/>
                </a:solidFill>
                <a:latin typeface="Calibri" pitchFamily="34" charset="0"/>
                <a:ea typeface="Calibri" pitchFamily="34" charset="-122"/>
                <a:cs typeface="Calibri" pitchFamily="34" charset="-120"/>
              </a:rPr>
              <a:t>Flexible positions</a:t>
            </a:r>
            <a:endParaRPr lang="en-US" sz="1350" dirty="0"/>
          </a:p>
        </p:txBody>
      </p:sp>
      <p:sp>
        <p:nvSpPr>
          <p:cNvPr id="7" name="Text 4"/>
          <p:cNvSpPr txBox="1"/>
          <p:nvPr/>
        </p:nvSpPr>
        <p:spPr>
          <a:xfrm>
            <a:off x="7342632" y="850392"/>
            <a:ext cx="4389120" cy="274320"/>
          </a:xfrm>
          <a:prstGeom prst="rect">
            <a:avLst/>
          </a:prstGeom>
          <a:noFill/>
          <a:ln/>
        </p:spPr>
        <p:txBody>
          <a:bodyPr wrap="square" lIns="0" tIns="0" rIns="0" bIns="0" rtlCol="0" anchor="t"/>
          <a:lstStyle/>
          <a:p>
            <a:pPr algn="r" indent="0" marL="0">
              <a:buNone/>
            </a:pPr>
            <a:r>
              <a:rPr lang="en-US" sz="1100" dirty="0">
                <a:solidFill>
                  <a:srgbClr val="24313A"/>
                </a:solidFill>
                <a:latin typeface="Calibri" pitchFamily="34" charset="0"/>
                <a:ea typeface="Calibri" pitchFamily="34" charset="-122"/>
                <a:cs typeface="Calibri" pitchFamily="34" charset="-120"/>
              </a:rPr>
              <a:t>Target: Retired</a:t>
            </a:r>
            <a:endParaRPr lang="en-US" sz="1100" dirty="0"/>
          </a:p>
        </p:txBody>
      </p:sp>
      <p:sp>
        <p:nvSpPr>
          <p:cNvPr id="8" name="Shape 5"/>
          <p:cNvSpPr/>
          <p:nvPr/>
        </p:nvSpPr>
        <p:spPr>
          <a:xfrm>
            <a:off x="457200" y="1371600"/>
            <a:ext cx="11274552" cy="3858768"/>
          </a:xfrm>
          <a:prstGeom prst="roundRect">
            <a:avLst>
              <a:gd name="adj" fmla="val 2844"/>
            </a:avLst>
          </a:prstGeom>
          <a:solidFill>
            <a:srgbClr val="EAF2EE"/>
          </a:solidFill>
          <a:ln w="12700">
            <a:solidFill>
              <a:srgbClr val="EAF2EE"/>
            </a:solidFill>
            <a:prstDash val="solid"/>
          </a:ln>
        </p:spPr>
      </p:sp>
      <p:sp>
        <p:nvSpPr>
          <p:cNvPr id="9" name="Shape 6"/>
          <p:cNvSpPr/>
          <p:nvPr/>
        </p:nvSpPr>
        <p:spPr>
          <a:xfrm>
            <a:off x="777240" y="1691640"/>
            <a:ext cx="777240" cy="777240"/>
          </a:xfrm>
          <a:prstGeom prst="ellipse">
            <a:avLst/>
          </a:prstGeom>
          <a:solidFill>
            <a:srgbClr val="1F4E46"/>
          </a:solidFill>
          <a:ln w="12700">
            <a:solidFill>
              <a:srgbClr val="1F4E46"/>
            </a:solidFill>
            <a:prstDash val="solid"/>
          </a:ln>
        </p:spPr>
      </p:sp>
      <p:pic>
        <p:nvPicPr>
          <p:cNvPr id="10" name="Image 1" descr="preencoded.png">    </p:cNvPr>
          <p:cNvPicPr>
            <a:picLocks noChangeAspect="1"/>
          </p:cNvPicPr>
          <p:nvPr/>
        </p:nvPicPr>
        <p:blipFill>
          <a:blip r:embed="rId2"/>
          <a:stretch>
            <a:fillRect/>
          </a:stretch>
        </p:blipFill>
        <p:spPr>
          <a:xfrm>
            <a:off x="963778" y="1878178"/>
            <a:ext cx="404165" cy="404165"/>
          </a:xfrm>
          <a:prstGeom prst="rect">
            <a:avLst/>
          </a:prstGeom>
        </p:spPr>
      </p:pic>
      <p:sp>
        <p:nvSpPr>
          <p:cNvPr id="11" name="Text 7"/>
          <p:cNvSpPr txBox="1"/>
          <p:nvPr/>
        </p:nvSpPr>
        <p:spPr>
          <a:xfrm>
            <a:off x="1783080" y="1536192"/>
            <a:ext cx="9738360" cy="868680"/>
          </a:xfrm>
          <a:prstGeom prst="rect">
            <a:avLst/>
          </a:prstGeom>
          <a:noFill/>
          <a:ln/>
        </p:spPr>
        <p:txBody>
          <a:bodyPr wrap="square" lIns="0" tIns="0" rIns="0" bIns="0" rtlCol="0" anchor="t"/>
          <a:lstStyle/>
          <a:p>
            <a:pPr indent="0" marL="0">
              <a:buNone/>
            </a:pPr>
            <a:r>
              <a:rPr lang="en-US" sz="2100" b="1" dirty="0">
                <a:solidFill>
                  <a:srgbClr val="24313A"/>
                </a:solidFill>
                <a:latin typeface="Cambria" pitchFamily="34" charset="0"/>
                <a:ea typeface="Cambria" pitchFamily="34" charset="-122"/>
                <a:cs typeface="Cambria" pitchFamily="34" charset="-120"/>
              </a:rPr>
              <a:t>Silver-Age Lecturing Plan: retired teachers posted to rural schools, 2018–</a:t>
            </a:r>
            <a:endParaRPr lang="en-US" sz="2100" dirty="0"/>
          </a:p>
        </p:txBody>
      </p:sp>
      <p:sp>
        <p:nvSpPr>
          <p:cNvPr id="12" name="Text 8"/>
          <p:cNvSpPr txBox="1"/>
          <p:nvPr/>
        </p:nvSpPr>
        <p:spPr>
          <a:xfrm>
            <a:off x="1783080" y="2395728"/>
            <a:ext cx="9738360" cy="2450592"/>
          </a:xfrm>
          <a:prstGeom prst="rect">
            <a:avLst/>
          </a:prstGeom>
          <a:noFill/>
          <a:ln/>
        </p:spPr>
        <p:txBody>
          <a:bodyPr wrap="square" lIns="0" tIns="0" rIns="0" bIns="0" rtlCol="0" anchor="t"/>
          <a:lstStyle/>
          <a:p>
            <a:pPr indent="0" marL="0">
              <a:lnSpc>
                <a:spcPct val="106000"/>
              </a:lnSpc>
              <a:buNone/>
            </a:pPr>
            <a:r>
              <a:rPr lang="en-US" sz="1500" dirty="0">
                <a:solidFill>
                  <a:srgbClr val="24313A"/>
                </a:solidFill>
                <a:latin typeface="Calibri" pitchFamily="34" charset="0"/>
                <a:ea typeface="Calibri" pitchFamily="34" charset="-122"/>
                <a:cs typeface="Calibri" pitchFamily="34" charset="-120"/>
              </a:rPr>
              <a:t>The Silver-Age Lecturing Plan sends retired teachers to work in poor rural schools. Retired principals, senior teachers and ‘special-grade’ teachers aged 65 or under apply to a call issued by their province and are posted for at least one school year to a rural primary or lower-secondary school, where they teach, coach the school's young teachers and advise the head on running the school. They keep their pension and receive an allowance from the central government of 20,000 yuan a year (about 2,500 euros) to cover a stipend, travel and insurance. The plan was launched in 2018 by the Ministries of Education and Finance with a target of 10,000 posts over three years; 7,000 teachers were recruited in the 2024 round alone, and in 2023 it was folded into a broader National Silver-Age Teachers Action Plan covering all levels of education.</a:t>
            </a:r>
            <a:endParaRPr lang="en-US" sz="1500" dirty="0"/>
          </a:p>
        </p:txBody>
      </p:sp>
      <p:sp>
        <p:nvSpPr>
          <p:cNvPr id="13" name="Text 9"/>
          <p:cNvSpPr txBox="1"/>
          <p:nvPr/>
        </p:nvSpPr>
        <p:spPr>
          <a:xfrm>
            <a:off x="1783080" y="4864608"/>
            <a:ext cx="9738360" cy="274320"/>
          </a:xfrm>
          <a:prstGeom prst="rect">
            <a:avLst/>
          </a:prstGeom>
          <a:noFill/>
          <a:ln/>
        </p:spPr>
        <p:txBody>
          <a:bodyPr wrap="square" lIns="0" tIns="0" rIns="0" bIns="0" rtlCol="0" anchor="ctr"/>
          <a:lstStyle/>
          <a:p>
            <a:pPr indent="0" marL="0">
              <a:buNone/>
            </a:pPr>
            <a:r>
              <a:rPr lang="en-US" sz="1150" b="1" dirty="0">
                <a:solidFill>
                  <a:srgbClr val="24313A"/>
                </a:solidFill>
                <a:latin typeface="Calibri" pitchFamily="34" charset="0"/>
                <a:ea typeface="Calibri" pitchFamily="34" charset="-122"/>
                <a:cs typeface="Calibri" pitchFamily="34" charset="-120"/>
              </a:rPr>
              <a:t>Secondary instruments: </a:t>
            </a:r>
            <a:pPr indent="0" marL="0">
              <a:buNone/>
            </a:pPr>
            <a:r>
              <a:rPr lang="en-US" sz="1150" dirty="0">
                <a:solidFill>
                  <a:srgbClr val="24313A"/>
                </a:solidFill>
                <a:latin typeface="Calibri" pitchFamily="34" charset="0"/>
                <a:ea typeface="Calibri" pitchFamily="34" charset="-122"/>
                <a:cs typeface="Calibri" pitchFamily="34" charset="-120"/>
              </a:rPr>
              <a:t>Financial incentives</a:t>
            </a:r>
            <a:endParaRPr lang="en-US" sz="1150" dirty="0"/>
          </a:p>
        </p:txBody>
      </p:sp>
      <p:sp>
        <p:nvSpPr>
          <p:cNvPr id="14" name="Text 10"/>
          <p:cNvSpPr txBox="1"/>
          <p:nvPr/>
        </p:nvSpPr>
        <p:spPr>
          <a:xfrm>
            <a:off x="457200" y="5413248"/>
            <a:ext cx="11274552" cy="868680"/>
          </a:xfrm>
          <a:prstGeom prst="rect">
            <a:avLst/>
          </a:prstGeom>
          <a:noFill/>
          <a:ln/>
        </p:spPr>
        <p:txBody>
          <a:bodyPr wrap="square" lIns="0" tIns="0" rIns="0" bIns="0" rtlCol="0" anchor="t"/>
          <a:lstStyle/>
          <a:p>
            <a:pPr indent="0" marL="0">
              <a:buNone/>
            </a:pPr>
            <a:r>
              <a:rPr lang="en-US" sz="1000" b="1" dirty="0">
                <a:solidFill>
                  <a:srgbClr val="24313A"/>
                </a:solidFill>
                <a:latin typeface="Calibri" pitchFamily="34" charset="0"/>
                <a:ea typeface="Calibri" pitchFamily="34" charset="-122"/>
                <a:cs typeface="Calibri" pitchFamily="34" charset="-120"/>
              </a:rPr>
              <a:t>Source: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3" invalidUrl="" action="" tgtFrame="" tooltip="http://www.moe.gov.cn/srcsite/A10/s7151/201807/t20180719_343448.html" history="1" highlightClick="0" endSnd="0">
                  <a:extLst>
                    <a:ext uri="{A12FA001-AC4F-418D-AE19-62706E023703}">
                      <ahyp:hlinkClr xmlns:ahyp="http://schemas.microsoft.com/office/drawing/2018/hyperlinkcolor" val="tx"/>
                    </a:ext>
                  </a:extLst>
                </a:hlinkClick>
              </a:rPr>
              <a:t>http://www.moe.gov.cn/srcsite/A10/s7151/201807/t20180719_343448.html</a:t>
            </a:r>
            <a:endParaRPr lang="en-US" sz="1000" dirty="0"/>
          </a:p>
          <a:p>
            <a:pPr indent="0" marL="0">
              <a:buNone/>
            </a:pPr>
            <a:r>
              <a:rPr lang="en-US" sz="1000" b="1" dirty="0">
                <a:solidFill>
                  <a:srgbClr val="24313A"/>
                </a:solidFill>
                <a:latin typeface="Calibri" pitchFamily="34" charset="0"/>
                <a:ea typeface="Calibri" pitchFamily="34" charset="-122"/>
                <a:cs typeface="Calibri" pitchFamily="34" charset="-120"/>
              </a:rPr>
              <a:t>Source (see also):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4" invalidUrl="" action="" tgtFrame="" tooltip="https://www.gov.cn/zhengce/zhengceku/202408/content_6967278.htm" history="1" highlightClick="0" endSnd="0">
                  <a:extLst>
                    <a:ext uri="{A12FA001-AC4F-418D-AE19-62706E023703}">
                      <ahyp:hlinkClr xmlns:ahyp="http://schemas.microsoft.com/office/drawing/2018/hyperlinkcolor" val="tx"/>
                    </a:ext>
                  </a:extLst>
                </a:hlinkClick>
              </a:rPr>
              <a:t>https://www.gov.cn/zhengce/zhengceku/202408/content_6967278.htm</a:t>
            </a:r>
            <a:endParaRPr lang="en-US" sz="1000" dirty="0"/>
          </a:p>
        </p:txBody>
      </p:sp>
      <p:sp>
        <p:nvSpPr>
          <p:cNvPr id="15" name="Text 11"/>
          <p:cNvSpPr txBox="1"/>
          <p:nvPr/>
        </p:nvSpPr>
        <p:spPr>
          <a:xfrm>
            <a:off x="11185855" y="6473952"/>
            <a:ext cx="548640" cy="274320"/>
          </a:xfrm>
          <a:prstGeom prst="rect">
            <a:avLst/>
          </a:prstGeom>
          <a:noFill/>
          <a:ln/>
        </p:spPr>
        <p:txBody>
          <a:bodyPr wrap="square" lIns="0" tIns="0" rIns="0" bIns="0" rtlCol="0" anchor="ctr"/>
          <a:lstStyle/>
          <a:p>
            <a:pPr algn="r" indent="0" marL="0">
              <a:buNone/>
            </a:pPr>
            <a:r>
              <a:rPr lang="en-US" sz="900" dirty="0">
                <a:solidFill>
                  <a:srgbClr val="24313A"/>
                </a:solidFill>
                <a:latin typeface="Calibri" pitchFamily="34" charset="0"/>
                <a:ea typeface="Calibri" pitchFamily="34" charset="-122"/>
                <a:cs typeface="Calibr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384048"/>
            <a:ext cx="960120" cy="720090"/>
          </a:xfrm>
          <a:prstGeom prst="rect">
            <a:avLst/>
          </a:prstGeom>
        </p:spPr>
      </p:pic>
      <p:sp>
        <p:nvSpPr>
          <p:cNvPr id="3" name="Shape 0"/>
          <p:cNvSpPr/>
          <p:nvPr/>
        </p:nvSpPr>
        <p:spPr>
          <a:xfrm>
            <a:off x="457200" y="384048"/>
            <a:ext cx="960120" cy="720090"/>
          </a:xfrm>
          <a:prstGeom prst="rect">
            <a:avLst/>
          </a:prstGeom>
          <a:ln w="9525">
            <a:solidFill>
              <a:srgbClr val="CFDCD5"/>
            </a:solidFill>
            <a:prstDash val="solid"/>
          </a:ln>
        </p:spPr>
      </p:sp>
      <p:sp>
        <p:nvSpPr>
          <p:cNvPr id="4" name="Text 1"/>
          <p:cNvSpPr txBox="1"/>
          <p:nvPr/>
        </p:nvSpPr>
        <p:spPr>
          <a:xfrm>
            <a:off x="1600200" y="329184"/>
            <a:ext cx="621792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Germany</a:t>
            </a:r>
            <a:endParaRPr lang="en-US" sz="2200" dirty="0"/>
          </a:p>
        </p:txBody>
      </p:sp>
      <p:sp>
        <p:nvSpPr>
          <p:cNvPr id="5" name="Text 2"/>
          <p:cNvSpPr txBox="1"/>
          <p:nvPr/>
        </p:nvSpPr>
        <p:spPr>
          <a:xfrm>
            <a:off x="1600200" y="786384"/>
            <a:ext cx="6217920" cy="310896"/>
          </a:xfrm>
          <a:prstGeom prst="rect">
            <a:avLst/>
          </a:prstGeom>
          <a:noFill/>
          <a:ln/>
        </p:spPr>
        <p:txBody>
          <a:bodyPr wrap="square" lIns="0" tIns="0" rIns="0" bIns="0" rtlCol="0" anchor="t"/>
          <a:lstStyle/>
          <a:p>
            <a:pPr indent="0" marL="0">
              <a:buNone/>
            </a:pPr>
            <a:r>
              <a:rPr lang="en-US" sz="1300" dirty="0">
                <a:solidFill>
                  <a:srgbClr val="24313A"/>
                </a:solidFill>
                <a:latin typeface="Calibri" pitchFamily="34" charset="0"/>
                <a:ea typeface="Calibri" pitchFamily="34" charset="-122"/>
                <a:cs typeface="Calibri" pitchFamily="34" charset="-120"/>
              </a:rPr>
              <a:t>Lower Saxony</a:t>
            </a:r>
            <a:endParaRPr lang="en-US" sz="1300" dirty="0"/>
          </a:p>
        </p:txBody>
      </p:sp>
      <p:sp>
        <p:nvSpPr>
          <p:cNvPr id="6" name="Shape 3"/>
          <p:cNvSpPr/>
          <p:nvPr/>
        </p:nvSpPr>
        <p:spPr>
          <a:xfrm>
            <a:off x="8257032" y="384048"/>
            <a:ext cx="3474720" cy="429768"/>
          </a:xfrm>
          <a:prstGeom prst="roundRect">
            <a:avLst>
              <a:gd name="adj" fmla="val 50000"/>
            </a:avLst>
          </a:prstGeom>
          <a:solidFill>
            <a:srgbClr val="EAF2EE"/>
          </a:solidFill>
          <a:ln w="12700">
            <a:solidFill>
              <a:srgbClr val="B3542E"/>
            </a:solidFill>
            <a:prstDash val="solid"/>
          </a:ln>
        </p:spPr>
      </p:sp>
      <p:sp>
        <p:nvSpPr>
          <p:cNvPr id="7" name="Text 4"/>
          <p:cNvSpPr txBox="1"/>
          <p:nvPr/>
        </p:nvSpPr>
        <p:spPr>
          <a:xfrm>
            <a:off x="8257032" y="384048"/>
            <a:ext cx="3474720" cy="429768"/>
          </a:xfrm>
          <a:prstGeom prst="rect">
            <a:avLst/>
          </a:prstGeom>
          <a:noFill/>
          <a:ln/>
        </p:spPr>
        <p:txBody>
          <a:bodyPr wrap="square" lIns="0" tIns="0" rIns="0" bIns="0" rtlCol="0" anchor="ctr"/>
          <a:lstStyle/>
          <a:p>
            <a:pPr algn="ctr" indent="0" marL="0">
              <a:buNone/>
            </a:pPr>
            <a:r>
              <a:rPr lang="en-US" sz="1350" b="1" dirty="0">
                <a:solidFill>
                  <a:srgbClr val="B3542E"/>
                </a:solidFill>
                <a:latin typeface="Calibri" pitchFamily="34" charset="0"/>
                <a:ea typeface="Calibri" pitchFamily="34" charset="-122"/>
                <a:cs typeface="Calibri" pitchFamily="34" charset="-120"/>
              </a:rPr>
              <a:t>Financial incentives</a:t>
            </a:r>
            <a:endParaRPr lang="en-US" sz="1350" dirty="0"/>
          </a:p>
        </p:txBody>
      </p:sp>
      <p:sp>
        <p:nvSpPr>
          <p:cNvPr id="8" name="Text 5"/>
          <p:cNvSpPr txBox="1"/>
          <p:nvPr/>
        </p:nvSpPr>
        <p:spPr>
          <a:xfrm>
            <a:off x="7342632" y="850392"/>
            <a:ext cx="4389120" cy="274320"/>
          </a:xfrm>
          <a:prstGeom prst="rect">
            <a:avLst/>
          </a:prstGeom>
          <a:noFill/>
          <a:ln/>
        </p:spPr>
        <p:txBody>
          <a:bodyPr wrap="square" lIns="0" tIns="0" rIns="0" bIns="0" rtlCol="0" anchor="t"/>
          <a:lstStyle/>
          <a:p>
            <a:pPr algn="r" indent="0" marL="0">
              <a:buNone/>
            </a:pPr>
            <a:r>
              <a:rPr lang="en-US" sz="1100" dirty="0">
                <a:solidFill>
                  <a:srgbClr val="24313A"/>
                </a:solidFill>
                <a:latin typeface="Calibri" pitchFamily="34" charset="0"/>
                <a:ea typeface="Calibri" pitchFamily="34" charset="-122"/>
                <a:cs typeface="Calibri" pitchFamily="34" charset="-120"/>
              </a:rPr>
              <a:t>Target: Retired</a:t>
            </a:r>
            <a:endParaRPr lang="en-US" sz="1100" dirty="0"/>
          </a:p>
        </p:txBody>
      </p:sp>
      <p:sp>
        <p:nvSpPr>
          <p:cNvPr id="9" name="Shape 6"/>
          <p:cNvSpPr/>
          <p:nvPr/>
        </p:nvSpPr>
        <p:spPr>
          <a:xfrm>
            <a:off x="457200" y="1371600"/>
            <a:ext cx="11274552" cy="3858768"/>
          </a:xfrm>
          <a:prstGeom prst="roundRect">
            <a:avLst>
              <a:gd name="adj" fmla="val 2844"/>
            </a:avLst>
          </a:prstGeom>
          <a:solidFill>
            <a:srgbClr val="EAF2EE"/>
          </a:solidFill>
          <a:ln w="12700">
            <a:solidFill>
              <a:srgbClr val="EAF2EE"/>
            </a:solidFill>
            <a:prstDash val="solid"/>
          </a:ln>
        </p:spPr>
      </p:sp>
      <p:sp>
        <p:nvSpPr>
          <p:cNvPr id="10" name="Shape 7"/>
          <p:cNvSpPr/>
          <p:nvPr/>
        </p:nvSpPr>
        <p:spPr>
          <a:xfrm>
            <a:off x="777240" y="1691640"/>
            <a:ext cx="777240" cy="777240"/>
          </a:xfrm>
          <a:prstGeom prst="ellipse">
            <a:avLst/>
          </a:prstGeom>
          <a:solidFill>
            <a:srgbClr val="1F4E46"/>
          </a:solidFill>
          <a:ln w="12700">
            <a:solidFill>
              <a:srgbClr val="1F4E46"/>
            </a:solidFill>
            <a:prstDash val="solid"/>
          </a:ln>
        </p:spPr>
      </p:sp>
      <p:pic>
        <p:nvPicPr>
          <p:cNvPr id="11" name="Image 1" descr="preencoded.png">    </p:cNvPr>
          <p:cNvPicPr>
            <a:picLocks noChangeAspect="1"/>
          </p:cNvPicPr>
          <p:nvPr/>
        </p:nvPicPr>
        <p:blipFill>
          <a:blip r:embed="rId2"/>
          <a:stretch>
            <a:fillRect/>
          </a:stretch>
        </p:blipFill>
        <p:spPr>
          <a:xfrm>
            <a:off x="963778" y="1878178"/>
            <a:ext cx="404165" cy="404165"/>
          </a:xfrm>
          <a:prstGeom prst="rect">
            <a:avLst/>
          </a:prstGeom>
        </p:spPr>
      </p:pic>
      <p:sp>
        <p:nvSpPr>
          <p:cNvPr id="12" name="Text 8"/>
          <p:cNvSpPr txBox="1"/>
          <p:nvPr/>
        </p:nvSpPr>
        <p:spPr>
          <a:xfrm>
            <a:off x="1783080" y="1536192"/>
            <a:ext cx="9738360" cy="868680"/>
          </a:xfrm>
          <a:prstGeom prst="rect">
            <a:avLst/>
          </a:prstGeom>
          <a:noFill/>
          <a:ln/>
        </p:spPr>
        <p:txBody>
          <a:bodyPr wrap="square" lIns="0" tIns="0" rIns="0" bIns="0" rtlCol="0" anchor="t"/>
          <a:lstStyle/>
          <a:p>
            <a:pPr indent="0" marL="0">
              <a:buNone/>
            </a:pPr>
            <a:r>
              <a:rPr lang="en-US" sz="2100" b="1" dirty="0">
                <a:solidFill>
                  <a:srgbClr val="24313A"/>
                </a:solidFill>
                <a:latin typeface="Cambria" pitchFamily="34" charset="0"/>
                <a:ea typeface="Cambria" pitchFamily="34" charset="-122"/>
                <a:cs typeface="Cambria" pitchFamily="34" charset="-120"/>
              </a:rPr>
              <a:t>Higher, then no, earnings ceiling for retired teachers who keep teaching, 2022–2024</a:t>
            </a:r>
            <a:endParaRPr lang="en-US" sz="2100" dirty="0"/>
          </a:p>
        </p:txBody>
      </p:sp>
      <p:sp>
        <p:nvSpPr>
          <p:cNvPr id="13" name="Text 9"/>
          <p:cNvSpPr txBox="1"/>
          <p:nvPr/>
        </p:nvSpPr>
        <p:spPr>
          <a:xfrm>
            <a:off x="1783080" y="2395728"/>
            <a:ext cx="9738360" cy="2450592"/>
          </a:xfrm>
          <a:prstGeom prst="rect">
            <a:avLst/>
          </a:prstGeom>
          <a:noFill/>
          <a:ln/>
        </p:spPr>
        <p:txBody>
          <a:bodyPr wrap="square" lIns="0" tIns="0" rIns="0" bIns="0" rtlCol="0" anchor="t"/>
          <a:lstStyle/>
          <a:p>
            <a:pPr indent="0" marL="0">
              <a:lnSpc>
                <a:spcPct val="106000"/>
              </a:lnSpc>
              <a:buNone/>
            </a:pPr>
            <a:r>
              <a:rPr lang="en-US" sz="1500" dirty="0">
                <a:solidFill>
                  <a:srgbClr val="24313A"/>
                </a:solidFill>
                <a:latin typeface="Calibri" pitchFamily="34" charset="0"/>
                <a:ea typeface="Calibri" pitchFamily="34" charset="-122"/>
                <a:cs typeface="Calibri" pitchFamily="34" charset="-120"/>
              </a:rPr>
              <a:t>In Lower Saxony a retired teacher who went back to teaching used to lose part of the pension as soon as pay and pension together exceeded a ceiling set by the state's pension law. To make returning worthwhile, the state parliament raised that ceiling step by step: from 100 to 125 percent of the teacher's former pay in 2019, and to 150 percent from 1 October 2022 as part of a teacher-recruitment package, which allowed a pensioner to teach about nine or ten hours a week without any deduction. Overtime pay for serving teachers was raised by 15 percent at the same time. Since 31 October 2024 the ceiling for retired teachers has been abolished altogether, so they can now earn as much as they like from teaching while keeping their full pension.</a:t>
            </a:r>
            <a:endParaRPr lang="en-US" sz="1500" dirty="0"/>
          </a:p>
        </p:txBody>
      </p:sp>
      <p:sp>
        <p:nvSpPr>
          <p:cNvPr id="14" name="Text 10"/>
          <p:cNvSpPr txBox="1"/>
          <p:nvPr/>
        </p:nvSpPr>
        <p:spPr>
          <a:xfrm>
            <a:off x="1783080" y="4864608"/>
            <a:ext cx="9738360" cy="274320"/>
          </a:xfrm>
          <a:prstGeom prst="rect">
            <a:avLst/>
          </a:prstGeom>
          <a:noFill/>
          <a:ln/>
        </p:spPr>
        <p:txBody>
          <a:bodyPr wrap="square" lIns="0" tIns="0" rIns="0" bIns="0" rtlCol="0" anchor="ctr"/>
          <a:lstStyle/>
          <a:p>
            <a:pPr indent="0" marL="0">
              <a:buNone/>
            </a:pPr>
            <a:r>
              <a:rPr lang="en-US" sz="1150" b="1" dirty="0">
                <a:solidFill>
                  <a:srgbClr val="24313A"/>
                </a:solidFill>
                <a:latin typeface="Calibri" pitchFamily="34" charset="0"/>
                <a:ea typeface="Calibri" pitchFamily="34" charset="-122"/>
                <a:cs typeface="Calibri" pitchFamily="34" charset="-120"/>
              </a:rPr>
              <a:t>Secondary instruments: </a:t>
            </a:r>
            <a:pPr indent="0" marL="0">
              <a:buNone/>
            </a:pPr>
            <a:r>
              <a:rPr lang="en-US" sz="1150" dirty="0">
                <a:solidFill>
                  <a:srgbClr val="24313A"/>
                </a:solidFill>
                <a:latin typeface="Calibri" pitchFamily="34" charset="0"/>
                <a:ea typeface="Calibri" pitchFamily="34" charset="-122"/>
                <a:cs typeface="Calibri" pitchFamily="34" charset="-120"/>
              </a:rPr>
              <a:t>Information &amp; nudges</a:t>
            </a:r>
            <a:endParaRPr lang="en-US" sz="1150" dirty="0"/>
          </a:p>
        </p:txBody>
      </p:sp>
      <p:sp>
        <p:nvSpPr>
          <p:cNvPr id="15" name="Text 11"/>
          <p:cNvSpPr txBox="1"/>
          <p:nvPr/>
        </p:nvSpPr>
        <p:spPr>
          <a:xfrm>
            <a:off x="457200" y="5413248"/>
            <a:ext cx="11274552" cy="868680"/>
          </a:xfrm>
          <a:prstGeom prst="rect">
            <a:avLst/>
          </a:prstGeom>
          <a:noFill/>
          <a:ln/>
        </p:spPr>
        <p:txBody>
          <a:bodyPr wrap="square" lIns="0" tIns="0" rIns="0" bIns="0" rtlCol="0" anchor="t"/>
          <a:lstStyle/>
          <a:p>
            <a:pPr indent="0" marL="0">
              <a:buNone/>
            </a:pPr>
            <a:r>
              <a:rPr lang="en-US" sz="1000" b="1" dirty="0">
                <a:solidFill>
                  <a:srgbClr val="24313A"/>
                </a:solidFill>
                <a:latin typeface="Calibri" pitchFamily="34" charset="0"/>
                <a:ea typeface="Calibri" pitchFamily="34" charset="-122"/>
                <a:cs typeface="Calibri" pitchFamily="34" charset="-120"/>
              </a:rPr>
              <a:t>Source: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3" invalidUrl="" action="" tgtFrame="" tooltip="https://www.mk.niedersachsen.de/startseite/aktuelles/presseinformationen/lehrkrafte-gewinnungspaket-landtag-erhoht-hinzuverdienstgrenze-und-mehrarbeitsvergutung-tonne-unterrichten-lohnt-sich-215592.html" history="1" highlightClick="0" endSnd="0">
                  <a:extLst>
                    <a:ext uri="{A12FA001-AC4F-418D-AE19-62706E023703}">
                      <ahyp:hlinkClr xmlns:ahyp="http://schemas.microsoft.com/office/drawing/2018/hyperlinkcolor" val="tx"/>
                    </a:ext>
                  </a:extLst>
                </a:hlinkClick>
              </a:rPr>
              <a:t>https://www.mk.niedersachsen.de/startseite/aktuelles/presseinformationen/lehrkrafte-gewinnungspaket-landtag-erhoht-hinzuverdienstgrenze-und-mehrarbeitsvergutung-tonne-unterrichten-lohnt-sich-215592.html</a:t>
            </a:r>
            <a:endParaRPr lang="en-US" sz="1000" dirty="0"/>
          </a:p>
          <a:p>
            <a:pPr indent="0" marL="0">
              <a:buNone/>
            </a:pPr>
            <a:r>
              <a:rPr lang="en-US" sz="1000" b="1" dirty="0">
                <a:solidFill>
                  <a:srgbClr val="24313A"/>
                </a:solidFill>
                <a:latin typeface="Calibri" pitchFamily="34" charset="0"/>
                <a:ea typeface="Calibri" pitchFamily="34" charset="-122"/>
                <a:cs typeface="Calibri" pitchFamily="34" charset="-120"/>
              </a:rPr>
              <a:t>Source (see also):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4" invalidUrl="" action="" tgtFrame="" tooltip="https://www.mk.niedersachsen.de/startseite/aktuelles/presseinformationen/2-schulhalbjahr-2024-2025-unterrichtsversorgung-bleibt-stabil-238881.html" history="1" highlightClick="0" endSnd="0">
                  <a:extLst>
                    <a:ext uri="{A12FA001-AC4F-418D-AE19-62706E023703}">
                      <ahyp:hlinkClr xmlns:ahyp="http://schemas.microsoft.com/office/drawing/2018/hyperlinkcolor" val="tx"/>
                    </a:ext>
                  </a:extLst>
                </a:hlinkClick>
              </a:rPr>
              <a:t>https://www.mk.niedersachsen.de/startseite/aktuelles/presseinformationen/2-schulhalbjahr-2024-2025-unterrichtsversorgung-bleibt-stabil-238881.html</a:t>
            </a:r>
            <a:endParaRPr lang="en-US" sz="1000" dirty="0"/>
          </a:p>
        </p:txBody>
      </p:sp>
      <p:sp>
        <p:nvSpPr>
          <p:cNvPr id="16" name="Text 12"/>
          <p:cNvSpPr txBox="1"/>
          <p:nvPr/>
        </p:nvSpPr>
        <p:spPr>
          <a:xfrm>
            <a:off x="11185855" y="6473952"/>
            <a:ext cx="548640" cy="274320"/>
          </a:xfrm>
          <a:prstGeom prst="rect">
            <a:avLst/>
          </a:prstGeom>
          <a:noFill/>
          <a:ln/>
        </p:spPr>
        <p:txBody>
          <a:bodyPr wrap="square" lIns="0" tIns="0" rIns="0" bIns="0" rtlCol="0" anchor="ctr"/>
          <a:lstStyle/>
          <a:p>
            <a:pPr algn="r" indent="0" marL="0">
              <a:buNone/>
            </a:pPr>
            <a:r>
              <a:rPr lang="en-US" sz="900" dirty="0">
                <a:solidFill>
                  <a:srgbClr val="24313A"/>
                </a:solidFill>
                <a:latin typeface="Calibri" pitchFamily="34" charset="0"/>
                <a:ea typeface="Calibri" pitchFamily="34" charset="-122"/>
                <a:cs typeface="Calibri"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384048"/>
            <a:ext cx="960120" cy="720090"/>
          </a:xfrm>
          <a:prstGeom prst="rect">
            <a:avLst/>
          </a:prstGeom>
        </p:spPr>
      </p:pic>
      <p:sp>
        <p:nvSpPr>
          <p:cNvPr id="3" name="Shape 0"/>
          <p:cNvSpPr/>
          <p:nvPr/>
        </p:nvSpPr>
        <p:spPr>
          <a:xfrm>
            <a:off x="457200" y="384048"/>
            <a:ext cx="960120" cy="720090"/>
          </a:xfrm>
          <a:prstGeom prst="rect">
            <a:avLst/>
          </a:prstGeom>
          <a:ln w="9525">
            <a:solidFill>
              <a:srgbClr val="CFDCD5"/>
            </a:solidFill>
            <a:prstDash val="solid"/>
          </a:ln>
        </p:spPr>
      </p:sp>
      <p:sp>
        <p:nvSpPr>
          <p:cNvPr id="4" name="Text 1"/>
          <p:cNvSpPr txBox="1"/>
          <p:nvPr/>
        </p:nvSpPr>
        <p:spPr>
          <a:xfrm>
            <a:off x="1600200" y="329184"/>
            <a:ext cx="621792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Germany</a:t>
            </a:r>
            <a:endParaRPr lang="en-US" sz="2200" dirty="0"/>
          </a:p>
        </p:txBody>
      </p:sp>
      <p:sp>
        <p:nvSpPr>
          <p:cNvPr id="5" name="Text 2"/>
          <p:cNvSpPr txBox="1"/>
          <p:nvPr/>
        </p:nvSpPr>
        <p:spPr>
          <a:xfrm>
            <a:off x="1600200" y="786384"/>
            <a:ext cx="6217920" cy="310896"/>
          </a:xfrm>
          <a:prstGeom prst="rect">
            <a:avLst/>
          </a:prstGeom>
          <a:noFill/>
          <a:ln/>
        </p:spPr>
        <p:txBody>
          <a:bodyPr wrap="square" lIns="0" tIns="0" rIns="0" bIns="0" rtlCol="0" anchor="t"/>
          <a:lstStyle/>
          <a:p>
            <a:pPr indent="0" marL="0">
              <a:buNone/>
            </a:pPr>
            <a:r>
              <a:rPr lang="en-US" sz="1300" dirty="0">
                <a:solidFill>
                  <a:srgbClr val="24313A"/>
                </a:solidFill>
                <a:latin typeface="Calibri" pitchFamily="34" charset="0"/>
                <a:ea typeface="Calibri" pitchFamily="34" charset="-122"/>
                <a:cs typeface="Calibri" pitchFamily="34" charset="-120"/>
              </a:rPr>
              <a:t>Lower Saxony</a:t>
            </a:r>
            <a:endParaRPr lang="en-US" sz="1300" dirty="0"/>
          </a:p>
        </p:txBody>
      </p:sp>
      <p:sp>
        <p:nvSpPr>
          <p:cNvPr id="6" name="Shape 3"/>
          <p:cNvSpPr/>
          <p:nvPr/>
        </p:nvSpPr>
        <p:spPr>
          <a:xfrm>
            <a:off x="8257032" y="384048"/>
            <a:ext cx="3474720" cy="429768"/>
          </a:xfrm>
          <a:prstGeom prst="roundRect">
            <a:avLst>
              <a:gd name="adj" fmla="val 50000"/>
            </a:avLst>
          </a:prstGeom>
          <a:solidFill>
            <a:srgbClr val="EAF2EE"/>
          </a:solidFill>
          <a:ln w="12700">
            <a:solidFill>
              <a:srgbClr val="B3542E"/>
            </a:solidFill>
            <a:prstDash val="solid"/>
          </a:ln>
        </p:spPr>
      </p:sp>
      <p:sp>
        <p:nvSpPr>
          <p:cNvPr id="7" name="Text 4"/>
          <p:cNvSpPr txBox="1"/>
          <p:nvPr/>
        </p:nvSpPr>
        <p:spPr>
          <a:xfrm>
            <a:off x="8257032" y="384048"/>
            <a:ext cx="3474720" cy="429768"/>
          </a:xfrm>
          <a:prstGeom prst="rect">
            <a:avLst/>
          </a:prstGeom>
          <a:noFill/>
          <a:ln/>
        </p:spPr>
        <p:txBody>
          <a:bodyPr wrap="square" lIns="0" tIns="0" rIns="0" bIns="0" rtlCol="0" anchor="ctr"/>
          <a:lstStyle/>
          <a:p>
            <a:pPr algn="ctr" indent="0" marL="0">
              <a:buNone/>
            </a:pPr>
            <a:r>
              <a:rPr lang="en-US" sz="1350" b="1" dirty="0">
                <a:solidFill>
                  <a:srgbClr val="B3542E"/>
                </a:solidFill>
                <a:latin typeface="Calibri" pitchFamily="34" charset="0"/>
                <a:ea typeface="Calibri" pitchFamily="34" charset="-122"/>
                <a:cs typeface="Calibri" pitchFamily="34" charset="-120"/>
              </a:rPr>
              <a:t>Information &amp; nudges</a:t>
            </a:r>
            <a:endParaRPr lang="en-US" sz="1350" dirty="0"/>
          </a:p>
        </p:txBody>
      </p:sp>
      <p:sp>
        <p:nvSpPr>
          <p:cNvPr id="8" name="Text 5"/>
          <p:cNvSpPr txBox="1"/>
          <p:nvPr/>
        </p:nvSpPr>
        <p:spPr>
          <a:xfrm>
            <a:off x="7342632" y="850392"/>
            <a:ext cx="4389120" cy="274320"/>
          </a:xfrm>
          <a:prstGeom prst="rect">
            <a:avLst/>
          </a:prstGeom>
          <a:noFill/>
          <a:ln/>
        </p:spPr>
        <p:txBody>
          <a:bodyPr wrap="square" lIns="0" tIns="0" rIns="0" bIns="0" rtlCol="0" anchor="t"/>
          <a:lstStyle/>
          <a:p>
            <a:pPr algn="r" indent="0" marL="0">
              <a:buNone/>
            </a:pPr>
            <a:r>
              <a:rPr lang="en-US" sz="1100" dirty="0">
                <a:solidFill>
                  <a:srgbClr val="24313A"/>
                </a:solidFill>
                <a:latin typeface="Calibri" pitchFamily="34" charset="0"/>
                <a:ea typeface="Calibri" pitchFamily="34" charset="-122"/>
                <a:cs typeface="Calibri" pitchFamily="34" charset="-120"/>
              </a:rPr>
              <a:t>Target: Retired</a:t>
            </a:r>
            <a:endParaRPr lang="en-US" sz="1100" dirty="0"/>
          </a:p>
        </p:txBody>
      </p:sp>
      <p:sp>
        <p:nvSpPr>
          <p:cNvPr id="9" name="Shape 6"/>
          <p:cNvSpPr/>
          <p:nvPr/>
        </p:nvSpPr>
        <p:spPr>
          <a:xfrm>
            <a:off x="457200" y="1371600"/>
            <a:ext cx="11274552" cy="3858768"/>
          </a:xfrm>
          <a:prstGeom prst="roundRect">
            <a:avLst>
              <a:gd name="adj" fmla="val 2844"/>
            </a:avLst>
          </a:prstGeom>
          <a:solidFill>
            <a:srgbClr val="EAF2EE"/>
          </a:solidFill>
          <a:ln w="12700">
            <a:solidFill>
              <a:srgbClr val="EAF2EE"/>
            </a:solidFill>
            <a:prstDash val="solid"/>
          </a:ln>
        </p:spPr>
      </p:sp>
      <p:sp>
        <p:nvSpPr>
          <p:cNvPr id="10" name="Shape 7"/>
          <p:cNvSpPr/>
          <p:nvPr/>
        </p:nvSpPr>
        <p:spPr>
          <a:xfrm>
            <a:off x="777240" y="1691640"/>
            <a:ext cx="777240" cy="777240"/>
          </a:xfrm>
          <a:prstGeom prst="ellipse">
            <a:avLst/>
          </a:prstGeom>
          <a:solidFill>
            <a:srgbClr val="1F4E46"/>
          </a:solidFill>
          <a:ln w="12700">
            <a:solidFill>
              <a:srgbClr val="1F4E46"/>
            </a:solidFill>
            <a:prstDash val="solid"/>
          </a:ln>
        </p:spPr>
      </p:sp>
      <p:pic>
        <p:nvPicPr>
          <p:cNvPr id="11" name="Image 1" descr="preencoded.png">    </p:cNvPr>
          <p:cNvPicPr>
            <a:picLocks noChangeAspect="1"/>
          </p:cNvPicPr>
          <p:nvPr/>
        </p:nvPicPr>
        <p:blipFill>
          <a:blip r:embed="rId2"/>
          <a:stretch>
            <a:fillRect/>
          </a:stretch>
        </p:blipFill>
        <p:spPr>
          <a:xfrm>
            <a:off x="963778" y="1878178"/>
            <a:ext cx="404165" cy="404165"/>
          </a:xfrm>
          <a:prstGeom prst="rect">
            <a:avLst/>
          </a:prstGeom>
        </p:spPr>
      </p:pic>
      <p:sp>
        <p:nvSpPr>
          <p:cNvPr id="12" name="Text 8"/>
          <p:cNvSpPr txBox="1"/>
          <p:nvPr/>
        </p:nvSpPr>
        <p:spPr>
          <a:xfrm>
            <a:off x="1783080" y="1536192"/>
            <a:ext cx="9738360" cy="868680"/>
          </a:xfrm>
          <a:prstGeom prst="rect">
            <a:avLst/>
          </a:prstGeom>
          <a:noFill/>
          <a:ln/>
        </p:spPr>
        <p:txBody>
          <a:bodyPr wrap="square" lIns="0" tIns="0" rIns="0" bIns="0" rtlCol="0" anchor="t"/>
          <a:lstStyle/>
          <a:p>
            <a:pPr indent="0" marL="0">
              <a:buNone/>
            </a:pPr>
            <a:r>
              <a:rPr lang="en-US" sz="2100" b="1" dirty="0">
                <a:solidFill>
                  <a:srgbClr val="24313A"/>
                </a:solidFill>
                <a:latin typeface="Cambria" pitchFamily="34" charset="0"/>
                <a:ea typeface="Cambria" pitchFamily="34" charset="-122"/>
                <a:cs typeface="Cambria" pitchFamily="34" charset="-120"/>
              </a:rPr>
              <a:t>Minister's letter to teachers approaching retirement (November 2023)</a:t>
            </a:r>
            <a:endParaRPr lang="en-US" sz="2100" dirty="0"/>
          </a:p>
        </p:txBody>
      </p:sp>
      <p:sp>
        <p:nvSpPr>
          <p:cNvPr id="13" name="Text 9"/>
          <p:cNvSpPr txBox="1"/>
          <p:nvPr/>
        </p:nvSpPr>
        <p:spPr>
          <a:xfrm>
            <a:off x="1783080" y="2395728"/>
            <a:ext cx="9738360" cy="2450592"/>
          </a:xfrm>
          <a:prstGeom prst="rect">
            <a:avLst/>
          </a:prstGeom>
          <a:noFill/>
          <a:ln/>
        </p:spPr>
        <p:txBody>
          <a:bodyPr wrap="square" lIns="0" tIns="0" rIns="0" bIns="0" rtlCol="0" anchor="t"/>
          <a:lstStyle/>
          <a:p>
            <a:pPr indent="0" marL="0">
              <a:lnSpc>
                <a:spcPct val="106000"/>
              </a:lnSpc>
              <a:buNone/>
            </a:pPr>
            <a:r>
              <a:rPr lang="en-US" sz="1500" dirty="0">
                <a:solidFill>
                  <a:srgbClr val="24313A"/>
                </a:solidFill>
                <a:latin typeface="Calibri" pitchFamily="34" charset="0"/>
                <a:ea typeface="Calibri" pitchFamily="34" charset="-122"/>
                <a:cs typeface="Calibri" pitchFamily="34" charset="-120"/>
              </a:rPr>
              <a:t>In November 2023 the Minister of Education of Lower Saxony, Julia Willie Hamburg, wrote a personal letter to every teacher who was about to retire. The letter thanks them for their years of service and asks them to keep helping the schools, which face rising pupil numbers, and it comes with an information sheet and a registration guide that explain the two ways of doing so: civil-servant teachers can ask to postpone their retirement by up to three years, and any teacher can retire and immediately be re-hired on a fixed-term contract while keeping the pension, thanks to the relaxed earnings rules described on the previous slide. The letter itself carries no money; it simply makes sure that every teacher knows the options before signing the retirement paperwork.</a:t>
            </a:r>
            <a:endParaRPr lang="en-US" sz="1500" dirty="0"/>
          </a:p>
        </p:txBody>
      </p:sp>
      <p:sp>
        <p:nvSpPr>
          <p:cNvPr id="14" name="Text 10"/>
          <p:cNvSpPr txBox="1"/>
          <p:nvPr/>
        </p:nvSpPr>
        <p:spPr>
          <a:xfrm>
            <a:off x="1783080" y="4864608"/>
            <a:ext cx="9738360" cy="274320"/>
          </a:xfrm>
          <a:prstGeom prst="rect">
            <a:avLst/>
          </a:prstGeom>
          <a:noFill/>
          <a:ln/>
        </p:spPr>
        <p:txBody>
          <a:bodyPr wrap="square" lIns="0" tIns="0" rIns="0" bIns="0" rtlCol="0" anchor="ctr"/>
          <a:lstStyle/>
          <a:p>
            <a:pPr indent="0" marL="0">
              <a:buNone/>
            </a:pPr>
            <a:r>
              <a:rPr lang="en-US" sz="1150" b="1" dirty="0">
                <a:solidFill>
                  <a:srgbClr val="24313A"/>
                </a:solidFill>
                <a:latin typeface="Calibri" pitchFamily="34" charset="0"/>
                <a:ea typeface="Calibri" pitchFamily="34" charset="-122"/>
                <a:cs typeface="Calibri" pitchFamily="34" charset="-120"/>
              </a:rPr>
              <a:t>Secondary instruments: </a:t>
            </a:r>
            <a:pPr indent="0" marL="0">
              <a:buNone/>
            </a:pPr>
            <a:r>
              <a:rPr lang="en-US" sz="1150" dirty="0">
                <a:solidFill>
                  <a:srgbClr val="24313A"/>
                </a:solidFill>
                <a:latin typeface="Calibri" pitchFamily="34" charset="0"/>
                <a:ea typeface="Calibri" pitchFamily="34" charset="-122"/>
                <a:cs typeface="Calibri" pitchFamily="34" charset="-120"/>
              </a:rPr>
              <a:t>Financial incentives</a:t>
            </a:r>
            <a:endParaRPr lang="en-US" sz="1150" dirty="0"/>
          </a:p>
        </p:txBody>
      </p:sp>
      <p:sp>
        <p:nvSpPr>
          <p:cNvPr id="15" name="Text 11"/>
          <p:cNvSpPr txBox="1"/>
          <p:nvPr/>
        </p:nvSpPr>
        <p:spPr>
          <a:xfrm>
            <a:off x="457200" y="5413248"/>
            <a:ext cx="11274552" cy="868680"/>
          </a:xfrm>
          <a:prstGeom prst="rect">
            <a:avLst/>
          </a:prstGeom>
          <a:noFill/>
          <a:ln/>
        </p:spPr>
        <p:txBody>
          <a:bodyPr wrap="square" lIns="0" tIns="0" rIns="0" bIns="0" rtlCol="0" anchor="t"/>
          <a:lstStyle/>
          <a:p>
            <a:pPr indent="0" marL="0">
              <a:buNone/>
            </a:pPr>
            <a:r>
              <a:rPr lang="en-US" sz="1000" b="1" dirty="0">
                <a:solidFill>
                  <a:srgbClr val="24313A"/>
                </a:solidFill>
                <a:latin typeface="Calibri" pitchFamily="34" charset="0"/>
                <a:ea typeface="Calibri" pitchFamily="34" charset="-122"/>
                <a:cs typeface="Calibri" pitchFamily="34" charset="-120"/>
              </a:rPr>
              <a:t>Source: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3" invalidUrl="" action="" tgtFrame="" tooltip="https://www.mk.niedersachsen.de/startseite/aktuelles/kultusministerin_hamburg_schreibt_an_angehende_pensionare/umfangreicher-erfahrungsschatz-kultusministerin-hamburg-informiert-lehrkrafte-kurz-vor-dem-ruhestand-uber-moglichkeiten-der-weiterbeschaftigung-227231.html" history="1" highlightClick="0" endSnd="0">
                  <a:extLst>
                    <a:ext uri="{A12FA001-AC4F-418D-AE19-62706E023703}">
                      <ahyp:hlinkClr xmlns:ahyp="http://schemas.microsoft.com/office/drawing/2018/hyperlinkcolor" val="tx"/>
                    </a:ext>
                  </a:extLst>
                </a:hlinkClick>
              </a:rPr>
              <a:t>https://www.mk.niedersachsen.de/startseite/aktuelles/kultusministerin_hamburg_schreibt_an_angehende_pensionare/umfangreicher-erfahrungsschatz-kultusministerin-hamburg-informiert-lehrkrafte-kurz-vor-dem-ruhestand-uber-moglichkeiten-der-weiterbeschaftigung-227231.html</a:t>
            </a:r>
            <a:endParaRPr lang="en-US" sz="1000" dirty="0"/>
          </a:p>
          <a:p>
            <a:pPr indent="0" marL="0">
              <a:buNone/>
            </a:pPr>
            <a:r>
              <a:rPr lang="en-US" sz="1000" b="1" dirty="0">
                <a:solidFill>
                  <a:srgbClr val="24313A"/>
                </a:solidFill>
                <a:latin typeface="Calibri" pitchFamily="34" charset="0"/>
                <a:ea typeface="Calibri" pitchFamily="34" charset="-122"/>
                <a:cs typeface="Calibri" pitchFamily="34" charset="-120"/>
              </a:rPr>
              <a:t>Source (see also):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4" invalidUrl="" action="" tgtFrame="" tooltip="https://www.mk.niedersachsen.de/download/201317/Schreiben_an_angehende_Pensionaerinnen_und_Pensionaere.pdf" history="1" highlightClick="0" endSnd="0">
                  <a:extLst>
                    <a:ext uri="{A12FA001-AC4F-418D-AE19-62706E023703}">
                      <ahyp:hlinkClr xmlns:ahyp="http://schemas.microsoft.com/office/drawing/2018/hyperlinkcolor" val="tx"/>
                    </a:ext>
                  </a:extLst>
                </a:hlinkClick>
              </a:rPr>
              <a:t>https://www.mk.niedersachsen.de/download/201317/Schreiben_an_angehende_Pensionaerinnen_und_Pensionaere.pdf</a:t>
            </a:r>
            <a:endParaRPr lang="en-US" sz="1000" dirty="0"/>
          </a:p>
        </p:txBody>
      </p:sp>
      <p:sp>
        <p:nvSpPr>
          <p:cNvPr id="16" name="Text 12"/>
          <p:cNvSpPr txBox="1"/>
          <p:nvPr/>
        </p:nvSpPr>
        <p:spPr>
          <a:xfrm>
            <a:off x="11185855" y="6473952"/>
            <a:ext cx="548640" cy="274320"/>
          </a:xfrm>
          <a:prstGeom prst="rect">
            <a:avLst/>
          </a:prstGeom>
          <a:noFill/>
          <a:ln/>
        </p:spPr>
        <p:txBody>
          <a:bodyPr wrap="square" lIns="0" tIns="0" rIns="0" bIns="0" rtlCol="0" anchor="ctr"/>
          <a:lstStyle/>
          <a:p>
            <a:pPr algn="r" indent="0" marL="0">
              <a:buNone/>
            </a:pPr>
            <a:r>
              <a:rPr lang="en-US" sz="900" dirty="0">
                <a:solidFill>
                  <a:srgbClr val="24313A"/>
                </a:solidFill>
                <a:latin typeface="Calibri" pitchFamily="34" charset="0"/>
                <a:ea typeface="Calibri" pitchFamily="34" charset="-122"/>
                <a:cs typeface="Calibri"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384048"/>
            <a:ext cx="960120" cy="720090"/>
          </a:xfrm>
          <a:prstGeom prst="rect">
            <a:avLst/>
          </a:prstGeom>
        </p:spPr>
      </p:pic>
      <p:sp>
        <p:nvSpPr>
          <p:cNvPr id="3" name="Shape 0"/>
          <p:cNvSpPr/>
          <p:nvPr/>
        </p:nvSpPr>
        <p:spPr>
          <a:xfrm>
            <a:off x="457200" y="384048"/>
            <a:ext cx="960120" cy="720090"/>
          </a:xfrm>
          <a:prstGeom prst="rect">
            <a:avLst/>
          </a:prstGeom>
          <a:ln w="9525">
            <a:solidFill>
              <a:srgbClr val="CFDCD5"/>
            </a:solidFill>
            <a:prstDash val="solid"/>
          </a:ln>
        </p:spPr>
      </p:sp>
      <p:sp>
        <p:nvSpPr>
          <p:cNvPr id="4" name="Text 1"/>
          <p:cNvSpPr txBox="1"/>
          <p:nvPr/>
        </p:nvSpPr>
        <p:spPr>
          <a:xfrm>
            <a:off x="1600200" y="329184"/>
            <a:ext cx="621792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Ireland</a:t>
            </a:r>
            <a:endParaRPr lang="en-US" sz="2200" dirty="0"/>
          </a:p>
        </p:txBody>
      </p:sp>
      <p:sp>
        <p:nvSpPr>
          <p:cNvPr id="5" name="Shape 2"/>
          <p:cNvSpPr/>
          <p:nvPr/>
        </p:nvSpPr>
        <p:spPr>
          <a:xfrm>
            <a:off x="8257032" y="384048"/>
            <a:ext cx="3474720" cy="429768"/>
          </a:xfrm>
          <a:prstGeom prst="roundRect">
            <a:avLst>
              <a:gd name="adj" fmla="val 50000"/>
            </a:avLst>
          </a:prstGeom>
          <a:solidFill>
            <a:srgbClr val="EAF2EE"/>
          </a:solidFill>
          <a:ln w="12700">
            <a:solidFill>
              <a:srgbClr val="B3542E"/>
            </a:solidFill>
            <a:prstDash val="solid"/>
          </a:ln>
        </p:spPr>
      </p:sp>
      <p:sp>
        <p:nvSpPr>
          <p:cNvPr id="6" name="Text 3"/>
          <p:cNvSpPr txBox="1"/>
          <p:nvPr/>
        </p:nvSpPr>
        <p:spPr>
          <a:xfrm>
            <a:off x="8257032" y="384048"/>
            <a:ext cx="3474720" cy="429768"/>
          </a:xfrm>
          <a:prstGeom prst="rect">
            <a:avLst/>
          </a:prstGeom>
          <a:noFill/>
          <a:ln/>
        </p:spPr>
        <p:txBody>
          <a:bodyPr wrap="square" lIns="0" tIns="0" rIns="0" bIns="0" rtlCol="0" anchor="ctr"/>
          <a:lstStyle/>
          <a:p>
            <a:pPr algn="ctr" indent="0" marL="0">
              <a:buNone/>
            </a:pPr>
            <a:r>
              <a:rPr lang="en-US" sz="1350" b="1" dirty="0">
                <a:solidFill>
                  <a:srgbClr val="B3542E"/>
                </a:solidFill>
                <a:latin typeface="Calibri" pitchFamily="34" charset="0"/>
                <a:ea typeface="Calibri" pitchFamily="34" charset="-122"/>
                <a:cs typeface="Calibri" pitchFamily="34" charset="-120"/>
              </a:rPr>
              <a:t>Financial incentives</a:t>
            </a:r>
            <a:endParaRPr lang="en-US" sz="1350" dirty="0"/>
          </a:p>
        </p:txBody>
      </p:sp>
      <p:sp>
        <p:nvSpPr>
          <p:cNvPr id="7" name="Text 4"/>
          <p:cNvSpPr txBox="1"/>
          <p:nvPr/>
        </p:nvSpPr>
        <p:spPr>
          <a:xfrm>
            <a:off x="7342632" y="850392"/>
            <a:ext cx="4389120" cy="274320"/>
          </a:xfrm>
          <a:prstGeom prst="rect">
            <a:avLst/>
          </a:prstGeom>
          <a:noFill/>
          <a:ln/>
        </p:spPr>
        <p:txBody>
          <a:bodyPr wrap="square" lIns="0" tIns="0" rIns="0" bIns="0" rtlCol="0" anchor="t"/>
          <a:lstStyle/>
          <a:p>
            <a:pPr algn="r" indent="0" marL="0">
              <a:buNone/>
            </a:pPr>
            <a:r>
              <a:rPr lang="en-US" sz="1100" dirty="0">
                <a:solidFill>
                  <a:srgbClr val="24313A"/>
                </a:solidFill>
                <a:latin typeface="Calibri" pitchFamily="34" charset="0"/>
                <a:ea typeface="Calibri" pitchFamily="34" charset="-122"/>
                <a:cs typeface="Calibri" pitchFamily="34" charset="-120"/>
              </a:rPr>
              <a:t>Target: Retired</a:t>
            </a:r>
            <a:endParaRPr lang="en-US" sz="1100" dirty="0"/>
          </a:p>
        </p:txBody>
      </p:sp>
      <p:sp>
        <p:nvSpPr>
          <p:cNvPr id="8" name="Shape 5"/>
          <p:cNvSpPr/>
          <p:nvPr/>
        </p:nvSpPr>
        <p:spPr>
          <a:xfrm>
            <a:off x="457200" y="1371600"/>
            <a:ext cx="11274552" cy="3858768"/>
          </a:xfrm>
          <a:prstGeom prst="roundRect">
            <a:avLst>
              <a:gd name="adj" fmla="val 2844"/>
            </a:avLst>
          </a:prstGeom>
          <a:solidFill>
            <a:srgbClr val="EAF2EE"/>
          </a:solidFill>
          <a:ln w="12700">
            <a:solidFill>
              <a:srgbClr val="EAF2EE"/>
            </a:solidFill>
            <a:prstDash val="solid"/>
          </a:ln>
        </p:spPr>
      </p:sp>
      <p:sp>
        <p:nvSpPr>
          <p:cNvPr id="9" name="Shape 6"/>
          <p:cNvSpPr/>
          <p:nvPr/>
        </p:nvSpPr>
        <p:spPr>
          <a:xfrm>
            <a:off x="777240" y="1691640"/>
            <a:ext cx="777240" cy="777240"/>
          </a:xfrm>
          <a:prstGeom prst="ellipse">
            <a:avLst/>
          </a:prstGeom>
          <a:solidFill>
            <a:srgbClr val="1F4E46"/>
          </a:solidFill>
          <a:ln w="12700">
            <a:solidFill>
              <a:srgbClr val="1F4E46"/>
            </a:solidFill>
            <a:prstDash val="solid"/>
          </a:ln>
        </p:spPr>
      </p:sp>
      <p:pic>
        <p:nvPicPr>
          <p:cNvPr id="10" name="Image 1" descr="preencoded.png">    </p:cNvPr>
          <p:cNvPicPr>
            <a:picLocks noChangeAspect="1"/>
          </p:cNvPicPr>
          <p:nvPr/>
        </p:nvPicPr>
        <p:blipFill>
          <a:blip r:embed="rId2"/>
          <a:stretch>
            <a:fillRect/>
          </a:stretch>
        </p:blipFill>
        <p:spPr>
          <a:xfrm>
            <a:off x="963778" y="1878178"/>
            <a:ext cx="404165" cy="404165"/>
          </a:xfrm>
          <a:prstGeom prst="rect">
            <a:avLst/>
          </a:prstGeom>
        </p:spPr>
      </p:pic>
      <p:sp>
        <p:nvSpPr>
          <p:cNvPr id="11" name="Text 7"/>
          <p:cNvSpPr txBox="1"/>
          <p:nvPr/>
        </p:nvSpPr>
        <p:spPr>
          <a:xfrm>
            <a:off x="1783080" y="1536192"/>
            <a:ext cx="9738360" cy="868680"/>
          </a:xfrm>
          <a:prstGeom prst="rect">
            <a:avLst/>
          </a:prstGeom>
          <a:noFill/>
          <a:ln/>
        </p:spPr>
        <p:txBody>
          <a:bodyPr wrap="square" lIns="0" tIns="0" rIns="0" bIns="0" rtlCol="0" anchor="t"/>
          <a:lstStyle/>
          <a:p>
            <a:pPr indent="0" marL="0">
              <a:buNone/>
            </a:pPr>
            <a:r>
              <a:rPr lang="en-US" sz="2100" b="1" dirty="0">
                <a:solidFill>
                  <a:srgbClr val="24313A"/>
                </a:solidFill>
                <a:latin typeface="Cambria" pitchFamily="34" charset="0"/>
                <a:ea typeface="Cambria" pitchFamily="34" charset="-122"/>
                <a:cs typeface="Cambria" pitchFamily="34" charset="-120"/>
              </a:rPr>
              <a:t>Waiver of pension abatement for retired teachers: 50 days a year (2021–2027)</a:t>
            </a:r>
            <a:endParaRPr lang="en-US" sz="2100" dirty="0"/>
          </a:p>
        </p:txBody>
      </p:sp>
      <p:sp>
        <p:nvSpPr>
          <p:cNvPr id="12" name="Text 8"/>
          <p:cNvSpPr txBox="1"/>
          <p:nvPr/>
        </p:nvSpPr>
        <p:spPr>
          <a:xfrm>
            <a:off x="1783080" y="2395728"/>
            <a:ext cx="9738360" cy="2450592"/>
          </a:xfrm>
          <a:prstGeom prst="rect">
            <a:avLst/>
          </a:prstGeom>
          <a:noFill/>
          <a:ln/>
        </p:spPr>
        <p:txBody>
          <a:bodyPr wrap="square" lIns="0" tIns="0" rIns="0" bIns="0" rtlCol="0" anchor="t"/>
          <a:lstStyle/>
          <a:p>
            <a:pPr indent="0" marL="0">
              <a:lnSpc>
                <a:spcPct val="106000"/>
              </a:lnSpc>
              <a:buNone/>
            </a:pPr>
            <a:r>
              <a:rPr lang="en-US" sz="1500" dirty="0">
                <a:solidFill>
                  <a:srgbClr val="24313A"/>
                </a:solidFill>
                <a:latin typeface="Calibri" pitchFamily="34" charset="0"/>
                <a:ea typeface="Calibri" pitchFamily="34" charset="-122"/>
                <a:cs typeface="Calibri" pitchFamily="34" charset="-120"/>
              </a:rPr>
              <a:t>In Ireland a retired teacher who goes back to work normally sees the pension reduced whenever pension and new salary together exceed the pay they had when they retired, a rule known as abatement. To ease the shortage of substitutes, the Department of Education introduced a waiver in 2021: the first fifty days a retired teacher works in a calendar year, as a substitute or on a fixed-term contract, do not count for abatement, so the pension is paid in full. Every day worked counts as one day, however many hours it lasts, and only from the fifty-first day is the usual rule applied. The waiver was set out in a departmental circular in 2021 and has since been renewed twice, for 2024 and 2025 and again for 2026 and 2027.</a:t>
            </a:r>
            <a:endParaRPr lang="en-US" sz="1500" dirty="0"/>
          </a:p>
        </p:txBody>
      </p:sp>
      <p:sp>
        <p:nvSpPr>
          <p:cNvPr id="13" name="Text 9"/>
          <p:cNvSpPr txBox="1"/>
          <p:nvPr/>
        </p:nvSpPr>
        <p:spPr>
          <a:xfrm>
            <a:off x="1783080" y="4864608"/>
            <a:ext cx="9738360" cy="274320"/>
          </a:xfrm>
          <a:prstGeom prst="rect">
            <a:avLst/>
          </a:prstGeom>
          <a:noFill/>
          <a:ln/>
        </p:spPr>
        <p:txBody>
          <a:bodyPr wrap="square" lIns="0" tIns="0" rIns="0" bIns="0" rtlCol="0" anchor="ctr"/>
          <a:lstStyle/>
          <a:p>
            <a:pPr indent="0" marL="0">
              <a:buNone/>
            </a:pPr>
            <a:r>
              <a:rPr lang="en-US" sz="1150" b="1" dirty="0">
                <a:solidFill>
                  <a:srgbClr val="24313A"/>
                </a:solidFill>
                <a:latin typeface="Calibri" pitchFamily="34" charset="0"/>
                <a:ea typeface="Calibri" pitchFamily="34" charset="-122"/>
                <a:cs typeface="Calibri" pitchFamily="34" charset="-120"/>
              </a:rPr>
              <a:t>Secondary instruments: </a:t>
            </a:r>
            <a:pPr indent="0" marL="0">
              <a:buNone/>
            </a:pPr>
            <a:r>
              <a:rPr lang="en-US" sz="1150" dirty="0">
                <a:solidFill>
                  <a:srgbClr val="24313A"/>
                </a:solidFill>
                <a:latin typeface="Calibri" pitchFamily="34" charset="0"/>
                <a:ea typeface="Calibri" pitchFamily="34" charset="-122"/>
                <a:cs typeface="Calibri" pitchFamily="34" charset="-120"/>
              </a:rPr>
              <a:t>Flexible positions</a:t>
            </a:r>
            <a:endParaRPr lang="en-US" sz="1150" dirty="0"/>
          </a:p>
        </p:txBody>
      </p:sp>
      <p:sp>
        <p:nvSpPr>
          <p:cNvPr id="14" name="Text 10"/>
          <p:cNvSpPr txBox="1"/>
          <p:nvPr/>
        </p:nvSpPr>
        <p:spPr>
          <a:xfrm>
            <a:off x="457200" y="5413248"/>
            <a:ext cx="11274552" cy="868680"/>
          </a:xfrm>
          <a:prstGeom prst="rect">
            <a:avLst/>
          </a:prstGeom>
          <a:noFill/>
          <a:ln/>
        </p:spPr>
        <p:txBody>
          <a:bodyPr wrap="square" lIns="0" tIns="0" rIns="0" bIns="0" rtlCol="0" anchor="t"/>
          <a:lstStyle/>
          <a:p>
            <a:pPr indent="0" marL="0">
              <a:buNone/>
            </a:pPr>
            <a:r>
              <a:rPr lang="en-US" sz="1000" b="1" dirty="0">
                <a:solidFill>
                  <a:srgbClr val="24313A"/>
                </a:solidFill>
                <a:latin typeface="Calibri" pitchFamily="34" charset="0"/>
                <a:ea typeface="Calibri" pitchFamily="34" charset="-122"/>
                <a:cs typeface="Calibri" pitchFamily="34" charset="-120"/>
              </a:rPr>
              <a:t>Source: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3" invalidUrl="" action="" tgtFrame="" tooltip="https://www.gov.ie/en/department-of-education/publications/working-as-a-substitute-while-receiving-a-teachers-pension/" history="1" highlightClick="0" endSnd="0">
                  <a:extLst>
                    <a:ext uri="{A12FA001-AC4F-418D-AE19-62706E023703}">
                      <ahyp:hlinkClr xmlns:ahyp="http://schemas.microsoft.com/office/drawing/2018/hyperlinkcolor" val="tx"/>
                    </a:ext>
                  </a:extLst>
                </a:hlinkClick>
              </a:rPr>
              <a:t>https://www.gov.ie/en/department-of-education/publications/working-as-a-substitute-while-receiving-a-teachers-pension/</a:t>
            </a:r>
            <a:endParaRPr lang="en-US" sz="1000" dirty="0"/>
          </a:p>
        </p:txBody>
      </p:sp>
      <p:sp>
        <p:nvSpPr>
          <p:cNvPr id="15" name="Text 11"/>
          <p:cNvSpPr txBox="1"/>
          <p:nvPr/>
        </p:nvSpPr>
        <p:spPr>
          <a:xfrm>
            <a:off x="11185855" y="6473952"/>
            <a:ext cx="548640" cy="274320"/>
          </a:xfrm>
          <a:prstGeom prst="rect">
            <a:avLst/>
          </a:prstGeom>
          <a:noFill/>
          <a:ln/>
        </p:spPr>
        <p:txBody>
          <a:bodyPr wrap="square" lIns="0" tIns="0" rIns="0" bIns="0" rtlCol="0" anchor="ctr"/>
          <a:lstStyle/>
          <a:p>
            <a:pPr algn="r" indent="0" marL="0">
              <a:buNone/>
            </a:pPr>
            <a:r>
              <a:rPr lang="en-US" sz="900" dirty="0">
                <a:solidFill>
                  <a:srgbClr val="24313A"/>
                </a:solidFill>
                <a:latin typeface="Calibri" pitchFamily="34" charset="0"/>
                <a:ea typeface="Calibri" pitchFamily="34" charset="-122"/>
                <a:cs typeface="Calibri"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384048"/>
            <a:ext cx="960120" cy="720090"/>
          </a:xfrm>
          <a:prstGeom prst="rect">
            <a:avLst/>
          </a:prstGeom>
        </p:spPr>
      </p:pic>
      <p:sp>
        <p:nvSpPr>
          <p:cNvPr id="3" name="Shape 0"/>
          <p:cNvSpPr/>
          <p:nvPr/>
        </p:nvSpPr>
        <p:spPr>
          <a:xfrm>
            <a:off x="457200" y="384048"/>
            <a:ext cx="960120" cy="720090"/>
          </a:xfrm>
          <a:prstGeom prst="rect">
            <a:avLst/>
          </a:prstGeom>
          <a:ln w="9525">
            <a:solidFill>
              <a:srgbClr val="CFDCD5"/>
            </a:solidFill>
            <a:prstDash val="solid"/>
          </a:ln>
        </p:spPr>
      </p:sp>
      <p:sp>
        <p:nvSpPr>
          <p:cNvPr id="4" name="Text 1"/>
          <p:cNvSpPr txBox="1"/>
          <p:nvPr/>
        </p:nvSpPr>
        <p:spPr>
          <a:xfrm>
            <a:off x="1600200" y="329184"/>
            <a:ext cx="621792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Japan</a:t>
            </a:r>
            <a:endParaRPr lang="en-US" sz="2200" dirty="0"/>
          </a:p>
        </p:txBody>
      </p:sp>
      <p:sp>
        <p:nvSpPr>
          <p:cNvPr id="5" name="Shape 2"/>
          <p:cNvSpPr/>
          <p:nvPr/>
        </p:nvSpPr>
        <p:spPr>
          <a:xfrm>
            <a:off x="8257032" y="384048"/>
            <a:ext cx="3474720" cy="429768"/>
          </a:xfrm>
          <a:prstGeom prst="roundRect">
            <a:avLst>
              <a:gd name="adj" fmla="val 50000"/>
            </a:avLst>
          </a:prstGeom>
          <a:solidFill>
            <a:srgbClr val="EAF2EE"/>
          </a:solidFill>
          <a:ln w="12700">
            <a:solidFill>
              <a:srgbClr val="B3542E"/>
            </a:solidFill>
            <a:prstDash val="solid"/>
          </a:ln>
        </p:spPr>
      </p:sp>
      <p:sp>
        <p:nvSpPr>
          <p:cNvPr id="6" name="Text 3"/>
          <p:cNvSpPr txBox="1"/>
          <p:nvPr/>
        </p:nvSpPr>
        <p:spPr>
          <a:xfrm>
            <a:off x="8257032" y="384048"/>
            <a:ext cx="3474720" cy="429768"/>
          </a:xfrm>
          <a:prstGeom prst="rect">
            <a:avLst/>
          </a:prstGeom>
          <a:noFill/>
          <a:ln/>
        </p:spPr>
        <p:txBody>
          <a:bodyPr wrap="square" lIns="0" tIns="0" rIns="0" bIns="0" rtlCol="0" anchor="ctr"/>
          <a:lstStyle/>
          <a:p>
            <a:pPr algn="ctr" indent="0" marL="0">
              <a:buNone/>
            </a:pPr>
            <a:r>
              <a:rPr lang="en-US" sz="1350" b="1" dirty="0">
                <a:solidFill>
                  <a:srgbClr val="B3542E"/>
                </a:solidFill>
                <a:latin typeface="Calibri" pitchFamily="34" charset="0"/>
                <a:ea typeface="Calibri" pitchFamily="34" charset="-122"/>
                <a:cs typeface="Calibri" pitchFamily="34" charset="-120"/>
              </a:rPr>
              <a:t>Flexible re-certification</a:t>
            </a:r>
            <a:endParaRPr lang="en-US" sz="1350" dirty="0"/>
          </a:p>
        </p:txBody>
      </p:sp>
      <p:sp>
        <p:nvSpPr>
          <p:cNvPr id="7" name="Text 4"/>
          <p:cNvSpPr txBox="1"/>
          <p:nvPr/>
        </p:nvSpPr>
        <p:spPr>
          <a:xfrm>
            <a:off x="7342632" y="850392"/>
            <a:ext cx="4389120" cy="274320"/>
          </a:xfrm>
          <a:prstGeom prst="rect">
            <a:avLst/>
          </a:prstGeom>
          <a:noFill/>
          <a:ln/>
        </p:spPr>
        <p:txBody>
          <a:bodyPr wrap="square" lIns="0" tIns="0" rIns="0" bIns="0" rtlCol="0" anchor="t"/>
          <a:lstStyle/>
          <a:p>
            <a:pPr algn="r" indent="0" marL="0">
              <a:buNone/>
            </a:pPr>
            <a:r>
              <a:rPr lang="en-US" sz="1100" dirty="0">
                <a:solidFill>
                  <a:srgbClr val="24313A"/>
                </a:solidFill>
                <a:latin typeface="Calibri" pitchFamily="34" charset="0"/>
                <a:ea typeface="Calibri" pitchFamily="34" charset="-122"/>
                <a:cs typeface="Calibri" pitchFamily="34" charset="-120"/>
              </a:rPr>
              <a:t>Target: Switchers / Leavers</a:t>
            </a:r>
            <a:endParaRPr lang="en-US" sz="1100" dirty="0"/>
          </a:p>
        </p:txBody>
      </p:sp>
      <p:sp>
        <p:nvSpPr>
          <p:cNvPr id="8" name="Shape 5"/>
          <p:cNvSpPr/>
          <p:nvPr/>
        </p:nvSpPr>
        <p:spPr>
          <a:xfrm>
            <a:off x="457200" y="1371600"/>
            <a:ext cx="11274552" cy="3858768"/>
          </a:xfrm>
          <a:prstGeom prst="roundRect">
            <a:avLst>
              <a:gd name="adj" fmla="val 2844"/>
            </a:avLst>
          </a:prstGeom>
          <a:solidFill>
            <a:srgbClr val="EAF2EE"/>
          </a:solidFill>
          <a:ln w="12700">
            <a:solidFill>
              <a:srgbClr val="EAF2EE"/>
            </a:solidFill>
            <a:prstDash val="solid"/>
          </a:ln>
        </p:spPr>
      </p:sp>
      <p:sp>
        <p:nvSpPr>
          <p:cNvPr id="9" name="Shape 6"/>
          <p:cNvSpPr/>
          <p:nvPr/>
        </p:nvSpPr>
        <p:spPr>
          <a:xfrm>
            <a:off x="777240" y="1691640"/>
            <a:ext cx="777240" cy="777240"/>
          </a:xfrm>
          <a:prstGeom prst="ellipse">
            <a:avLst/>
          </a:prstGeom>
          <a:solidFill>
            <a:srgbClr val="1F4E46"/>
          </a:solidFill>
          <a:ln w="12700">
            <a:solidFill>
              <a:srgbClr val="1F4E46"/>
            </a:solidFill>
            <a:prstDash val="solid"/>
          </a:ln>
        </p:spPr>
      </p:sp>
      <p:pic>
        <p:nvPicPr>
          <p:cNvPr id="10" name="Image 1" descr="preencoded.png">    </p:cNvPr>
          <p:cNvPicPr>
            <a:picLocks noChangeAspect="1"/>
          </p:cNvPicPr>
          <p:nvPr/>
        </p:nvPicPr>
        <p:blipFill>
          <a:blip r:embed="rId2"/>
          <a:stretch>
            <a:fillRect/>
          </a:stretch>
        </p:blipFill>
        <p:spPr>
          <a:xfrm>
            <a:off x="963778" y="1878178"/>
            <a:ext cx="404165" cy="404165"/>
          </a:xfrm>
          <a:prstGeom prst="rect">
            <a:avLst/>
          </a:prstGeom>
        </p:spPr>
      </p:pic>
      <p:sp>
        <p:nvSpPr>
          <p:cNvPr id="11" name="Text 7"/>
          <p:cNvSpPr txBox="1"/>
          <p:nvPr/>
        </p:nvSpPr>
        <p:spPr>
          <a:xfrm>
            <a:off x="1783080" y="1536192"/>
            <a:ext cx="9738360" cy="868680"/>
          </a:xfrm>
          <a:prstGeom prst="rect">
            <a:avLst/>
          </a:prstGeom>
          <a:noFill/>
          <a:ln/>
        </p:spPr>
        <p:txBody>
          <a:bodyPr wrap="square" lIns="0" tIns="0" rIns="0" bIns="0" rtlCol="0" anchor="t"/>
          <a:lstStyle/>
          <a:p>
            <a:pPr indent="0" marL="0">
              <a:buNone/>
            </a:pPr>
            <a:r>
              <a:rPr lang="en-US" sz="2100" b="1" dirty="0">
                <a:solidFill>
                  <a:srgbClr val="24313A"/>
                </a:solidFill>
                <a:latin typeface="Cambria" pitchFamily="34" charset="0"/>
                <a:ea typeface="Cambria" pitchFamily="34" charset="-122"/>
                <a:cs typeface="Cambria" pitchFamily="34" charset="-120"/>
              </a:rPr>
              <a:t>Abolition of the teacher licence renewal system (1 July 2022)</a:t>
            </a:r>
            <a:endParaRPr lang="en-US" sz="2100" dirty="0"/>
          </a:p>
        </p:txBody>
      </p:sp>
      <p:sp>
        <p:nvSpPr>
          <p:cNvPr id="12" name="Text 8"/>
          <p:cNvSpPr txBox="1"/>
          <p:nvPr/>
        </p:nvSpPr>
        <p:spPr>
          <a:xfrm>
            <a:off x="1783080" y="2395728"/>
            <a:ext cx="9738360" cy="2450592"/>
          </a:xfrm>
          <a:prstGeom prst="rect">
            <a:avLst/>
          </a:prstGeom>
          <a:noFill/>
          <a:ln/>
        </p:spPr>
        <p:txBody>
          <a:bodyPr wrap="square" lIns="0" tIns="0" rIns="0" bIns="0" rtlCol="0" anchor="t"/>
          <a:lstStyle/>
          <a:p>
            <a:pPr indent="0" marL="0">
              <a:lnSpc>
                <a:spcPct val="106000"/>
              </a:lnSpc>
              <a:buNone/>
            </a:pPr>
            <a:r>
              <a:rPr lang="en-US" sz="1500" dirty="0">
                <a:solidFill>
                  <a:srgbClr val="24313A"/>
                </a:solidFill>
                <a:latin typeface="Calibri" pitchFamily="34" charset="0"/>
                <a:ea typeface="Calibri" pitchFamily="34" charset="-122"/>
                <a:cs typeface="Calibri" pitchFamily="34" charset="-120"/>
              </a:rPr>
              <a:t>Between 2009 and 2022 a Japanese teaching licence expired every ten years unless the holder completed a thirty-hour renewal course, so teachers who had left the profession usually lost their licence and became what is known as ‘paper teachers’. In May 2022 the Diet amended the Educational Personnel Certification Act and the renewal system was abolished on 1 July 2022. Every licence that was valid on that date, including the dormant licences of people no longer teaching, became valid for life, with no procedure and no fee, which removed the main administrative barrier to returning. Boards of education have since built on this with seminars and consultation days for licence holders who left or never entered teaching, for example in Saitama, Chiba and Nagoya.</a:t>
            </a:r>
            <a:endParaRPr lang="en-US" sz="1500" dirty="0"/>
          </a:p>
        </p:txBody>
      </p:sp>
      <p:sp>
        <p:nvSpPr>
          <p:cNvPr id="13" name="Text 9"/>
          <p:cNvSpPr txBox="1"/>
          <p:nvPr/>
        </p:nvSpPr>
        <p:spPr>
          <a:xfrm>
            <a:off x="1783080" y="4864608"/>
            <a:ext cx="9738360" cy="274320"/>
          </a:xfrm>
          <a:prstGeom prst="rect">
            <a:avLst/>
          </a:prstGeom>
          <a:noFill/>
          <a:ln/>
        </p:spPr>
        <p:txBody>
          <a:bodyPr wrap="square" lIns="0" tIns="0" rIns="0" bIns="0" rtlCol="0" anchor="ctr"/>
          <a:lstStyle/>
          <a:p>
            <a:pPr indent="0" marL="0">
              <a:buNone/>
            </a:pPr>
            <a:r>
              <a:rPr lang="en-US" sz="1150" b="1" dirty="0">
                <a:solidFill>
                  <a:srgbClr val="24313A"/>
                </a:solidFill>
                <a:latin typeface="Calibri" pitchFamily="34" charset="0"/>
                <a:ea typeface="Calibri" pitchFamily="34" charset="-122"/>
                <a:cs typeface="Calibri" pitchFamily="34" charset="-120"/>
              </a:rPr>
              <a:t>Secondary instruments: </a:t>
            </a:r>
            <a:pPr indent="0" marL="0">
              <a:buNone/>
            </a:pPr>
            <a:r>
              <a:rPr lang="en-US" sz="1150" dirty="0">
                <a:solidFill>
                  <a:srgbClr val="24313A"/>
                </a:solidFill>
                <a:latin typeface="Calibri" pitchFamily="34" charset="0"/>
                <a:ea typeface="Calibri" pitchFamily="34" charset="-122"/>
                <a:cs typeface="Calibri" pitchFamily="34" charset="-120"/>
              </a:rPr>
              <a:t>Information &amp; nudges</a:t>
            </a:r>
            <a:endParaRPr lang="en-US" sz="1150" dirty="0"/>
          </a:p>
        </p:txBody>
      </p:sp>
      <p:sp>
        <p:nvSpPr>
          <p:cNvPr id="14" name="Text 10"/>
          <p:cNvSpPr txBox="1"/>
          <p:nvPr/>
        </p:nvSpPr>
        <p:spPr>
          <a:xfrm>
            <a:off x="457200" y="5413248"/>
            <a:ext cx="11274552" cy="868680"/>
          </a:xfrm>
          <a:prstGeom prst="rect">
            <a:avLst/>
          </a:prstGeom>
          <a:noFill/>
          <a:ln/>
        </p:spPr>
        <p:txBody>
          <a:bodyPr wrap="square" lIns="0" tIns="0" rIns="0" bIns="0" rtlCol="0" anchor="t"/>
          <a:lstStyle/>
          <a:p>
            <a:pPr indent="0" marL="0">
              <a:buNone/>
            </a:pPr>
            <a:r>
              <a:rPr lang="en-US" sz="1000" b="1" dirty="0">
                <a:solidFill>
                  <a:srgbClr val="24313A"/>
                </a:solidFill>
                <a:latin typeface="Calibri" pitchFamily="34" charset="0"/>
                <a:ea typeface="Calibri" pitchFamily="34" charset="-122"/>
                <a:cs typeface="Calibri" pitchFamily="34" charset="-120"/>
              </a:rPr>
              <a:t>Source: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3" invalidUrl="" action="" tgtFrame="" tooltip="https://www.mext.go.jp/content/20221028-mxt_kyoikujinzai02-000022570_3.pdf" history="1" highlightClick="0" endSnd="0">
                  <a:extLst>
                    <a:ext uri="{A12FA001-AC4F-418D-AE19-62706E023703}">
                      <ahyp:hlinkClr xmlns:ahyp="http://schemas.microsoft.com/office/drawing/2018/hyperlinkcolor" val="tx"/>
                    </a:ext>
                  </a:extLst>
                </a:hlinkClick>
              </a:rPr>
              <a:t>https://www.mext.go.jp/content/20221028-mxt_kyoikujinzai02-000022570_3.pdf</a:t>
            </a:r>
            <a:endParaRPr lang="en-US" sz="1000" dirty="0"/>
          </a:p>
          <a:p>
            <a:pPr indent="0" marL="0">
              <a:buNone/>
            </a:pPr>
            <a:r>
              <a:rPr lang="en-US" sz="1000" b="1" dirty="0">
                <a:solidFill>
                  <a:srgbClr val="24313A"/>
                </a:solidFill>
                <a:latin typeface="Calibri" pitchFamily="34" charset="0"/>
                <a:ea typeface="Calibri" pitchFamily="34" charset="-122"/>
                <a:cs typeface="Calibri" pitchFamily="34" charset="-120"/>
              </a:rPr>
              <a:t>Source (see also):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4" invalidUrl="" action="" tgtFrame="" tooltip="https://www.pref.saitama.lg.jp/f2213/paperteacher.html" history="1" highlightClick="0" endSnd="0">
                  <a:extLst>
                    <a:ext uri="{A12FA001-AC4F-418D-AE19-62706E023703}">
                      <ahyp:hlinkClr xmlns:ahyp="http://schemas.microsoft.com/office/drawing/2018/hyperlinkcolor" val="tx"/>
                    </a:ext>
                  </a:extLst>
                </a:hlinkClick>
              </a:rPr>
              <a:t>https://www.pref.saitama.lg.jp/f2213/paperteacher.html</a:t>
            </a:r>
            <a:endParaRPr lang="en-US" sz="1000" dirty="0"/>
          </a:p>
        </p:txBody>
      </p:sp>
      <p:sp>
        <p:nvSpPr>
          <p:cNvPr id="15" name="Text 11"/>
          <p:cNvSpPr txBox="1"/>
          <p:nvPr/>
        </p:nvSpPr>
        <p:spPr>
          <a:xfrm>
            <a:off x="11185855" y="6473952"/>
            <a:ext cx="548640" cy="274320"/>
          </a:xfrm>
          <a:prstGeom prst="rect">
            <a:avLst/>
          </a:prstGeom>
          <a:noFill/>
          <a:ln/>
        </p:spPr>
        <p:txBody>
          <a:bodyPr wrap="square" lIns="0" tIns="0" rIns="0" bIns="0" rtlCol="0" anchor="ctr"/>
          <a:lstStyle/>
          <a:p>
            <a:pPr algn="r" indent="0" marL="0">
              <a:buNone/>
            </a:pPr>
            <a:r>
              <a:rPr lang="en-US" sz="900" dirty="0">
                <a:solidFill>
                  <a:srgbClr val="24313A"/>
                </a:solidFill>
                <a:latin typeface="Calibri" pitchFamily="34" charset="0"/>
                <a:ea typeface="Calibri" pitchFamily="34" charset="-122"/>
                <a:cs typeface="Calibri"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384048"/>
            <a:ext cx="960120" cy="720090"/>
          </a:xfrm>
          <a:prstGeom prst="rect">
            <a:avLst/>
          </a:prstGeom>
        </p:spPr>
      </p:pic>
      <p:sp>
        <p:nvSpPr>
          <p:cNvPr id="3" name="Shape 0"/>
          <p:cNvSpPr/>
          <p:nvPr/>
        </p:nvSpPr>
        <p:spPr>
          <a:xfrm>
            <a:off x="457200" y="384048"/>
            <a:ext cx="960120" cy="720090"/>
          </a:xfrm>
          <a:prstGeom prst="rect">
            <a:avLst/>
          </a:prstGeom>
          <a:ln w="9525">
            <a:solidFill>
              <a:srgbClr val="CFDCD5"/>
            </a:solidFill>
            <a:prstDash val="solid"/>
          </a:ln>
        </p:spPr>
      </p:sp>
      <p:sp>
        <p:nvSpPr>
          <p:cNvPr id="4" name="Text 1"/>
          <p:cNvSpPr txBox="1"/>
          <p:nvPr/>
        </p:nvSpPr>
        <p:spPr>
          <a:xfrm>
            <a:off x="1600200" y="329184"/>
            <a:ext cx="621792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Netherlands</a:t>
            </a:r>
            <a:endParaRPr lang="en-US" sz="2200" dirty="0"/>
          </a:p>
        </p:txBody>
      </p:sp>
      <p:sp>
        <p:nvSpPr>
          <p:cNvPr id="5" name="Shape 2"/>
          <p:cNvSpPr/>
          <p:nvPr/>
        </p:nvSpPr>
        <p:spPr>
          <a:xfrm>
            <a:off x="8257032" y="384048"/>
            <a:ext cx="3474720" cy="429768"/>
          </a:xfrm>
          <a:prstGeom prst="roundRect">
            <a:avLst>
              <a:gd name="adj" fmla="val 50000"/>
            </a:avLst>
          </a:prstGeom>
          <a:solidFill>
            <a:srgbClr val="EAF2EE"/>
          </a:solidFill>
          <a:ln w="12700">
            <a:solidFill>
              <a:srgbClr val="B3542E"/>
            </a:solidFill>
            <a:prstDash val="solid"/>
          </a:ln>
        </p:spPr>
      </p:sp>
      <p:sp>
        <p:nvSpPr>
          <p:cNvPr id="6" name="Text 3"/>
          <p:cNvSpPr txBox="1"/>
          <p:nvPr/>
        </p:nvSpPr>
        <p:spPr>
          <a:xfrm>
            <a:off x="8257032" y="384048"/>
            <a:ext cx="3474720" cy="429768"/>
          </a:xfrm>
          <a:prstGeom prst="rect">
            <a:avLst/>
          </a:prstGeom>
          <a:noFill/>
          <a:ln/>
        </p:spPr>
        <p:txBody>
          <a:bodyPr wrap="square" lIns="0" tIns="0" rIns="0" bIns="0" rtlCol="0" anchor="ctr"/>
          <a:lstStyle/>
          <a:p>
            <a:pPr algn="ctr" indent="0" marL="0">
              <a:buNone/>
            </a:pPr>
            <a:r>
              <a:rPr lang="en-US" sz="1350" b="1" dirty="0">
                <a:solidFill>
                  <a:srgbClr val="B3542E"/>
                </a:solidFill>
                <a:latin typeface="Calibri" pitchFamily="34" charset="0"/>
                <a:ea typeface="Calibri" pitchFamily="34" charset="-122"/>
                <a:cs typeface="Calibri" pitchFamily="34" charset="-120"/>
              </a:rPr>
              <a:t>Financial incentives</a:t>
            </a:r>
            <a:endParaRPr lang="en-US" sz="1350" dirty="0"/>
          </a:p>
        </p:txBody>
      </p:sp>
      <p:sp>
        <p:nvSpPr>
          <p:cNvPr id="7" name="Text 4"/>
          <p:cNvSpPr txBox="1"/>
          <p:nvPr/>
        </p:nvSpPr>
        <p:spPr>
          <a:xfrm>
            <a:off x="7342632" y="850392"/>
            <a:ext cx="4389120" cy="274320"/>
          </a:xfrm>
          <a:prstGeom prst="rect">
            <a:avLst/>
          </a:prstGeom>
          <a:noFill/>
          <a:ln/>
        </p:spPr>
        <p:txBody>
          <a:bodyPr wrap="square" lIns="0" tIns="0" rIns="0" bIns="0" rtlCol="0" anchor="t"/>
          <a:lstStyle/>
          <a:p>
            <a:pPr algn="r" indent="0" marL="0">
              <a:buNone/>
            </a:pPr>
            <a:r>
              <a:rPr lang="en-US" sz="1100" dirty="0">
                <a:solidFill>
                  <a:srgbClr val="24313A"/>
                </a:solidFill>
                <a:latin typeface="Calibri" pitchFamily="34" charset="0"/>
                <a:ea typeface="Calibri" pitchFamily="34" charset="-122"/>
                <a:cs typeface="Calibri" pitchFamily="34" charset="-120"/>
              </a:rPr>
              <a:t>Target: Switchers / Leavers</a:t>
            </a:r>
            <a:endParaRPr lang="en-US" sz="1100" dirty="0"/>
          </a:p>
        </p:txBody>
      </p:sp>
      <p:sp>
        <p:nvSpPr>
          <p:cNvPr id="8" name="Shape 5"/>
          <p:cNvSpPr/>
          <p:nvPr/>
        </p:nvSpPr>
        <p:spPr>
          <a:xfrm>
            <a:off x="457200" y="1371600"/>
            <a:ext cx="11274552" cy="3858768"/>
          </a:xfrm>
          <a:prstGeom prst="roundRect">
            <a:avLst>
              <a:gd name="adj" fmla="val 2844"/>
            </a:avLst>
          </a:prstGeom>
          <a:solidFill>
            <a:srgbClr val="EAF2EE"/>
          </a:solidFill>
          <a:ln w="12700">
            <a:solidFill>
              <a:srgbClr val="EAF2EE"/>
            </a:solidFill>
            <a:prstDash val="solid"/>
          </a:ln>
        </p:spPr>
      </p:sp>
      <p:sp>
        <p:nvSpPr>
          <p:cNvPr id="9" name="Shape 6"/>
          <p:cNvSpPr/>
          <p:nvPr/>
        </p:nvSpPr>
        <p:spPr>
          <a:xfrm>
            <a:off x="777240" y="1691640"/>
            <a:ext cx="777240" cy="777240"/>
          </a:xfrm>
          <a:prstGeom prst="ellipse">
            <a:avLst/>
          </a:prstGeom>
          <a:solidFill>
            <a:srgbClr val="1F4E46"/>
          </a:solidFill>
          <a:ln w="12700">
            <a:solidFill>
              <a:srgbClr val="1F4E46"/>
            </a:solidFill>
            <a:prstDash val="solid"/>
          </a:ln>
        </p:spPr>
      </p:sp>
      <p:pic>
        <p:nvPicPr>
          <p:cNvPr id="10" name="Image 1" descr="preencoded.png">    </p:cNvPr>
          <p:cNvPicPr>
            <a:picLocks noChangeAspect="1"/>
          </p:cNvPicPr>
          <p:nvPr/>
        </p:nvPicPr>
        <p:blipFill>
          <a:blip r:embed="rId2"/>
          <a:stretch>
            <a:fillRect/>
          </a:stretch>
        </p:blipFill>
        <p:spPr>
          <a:xfrm>
            <a:off x="963778" y="1878178"/>
            <a:ext cx="404165" cy="404165"/>
          </a:xfrm>
          <a:prstGeom prst="rect">
            <a:avLst/>
          </a:prstGeom>
        </p:spPr>
      </p:pic>
      <p:sp>
        <p:nvSpPr>
          <p:cNvPr id="11" name="Text 7"/>
          <p:cNvSpPr txBox="1"/>
          <p:nvPr/>
        </p:nvSpPr>
        <p:spPr>
          <a:xfrm>
            <a:off x="1783080" y="1536192"/>
            <a:ext cx="9738360" cy="868680"/>
          </a:xfrm>
          <a:prstGeom prst="rect">
            <a:avLst/>
          </a:prstGeom>
          <a:noFill/>
          <a:ln/>
        </p:spPr>
        <p:txBody>
          <a:bodyPr wrap="square" lIns="0" tIns="0" rIns="0" bIns="0" rtlCol="0" anchor="t"/>
          <a:lstStyle/>
          <a:p>
            <a:pPr indent="0" marL="0">
              <a:buNone/>
            </a:pPr>
            <a:r>
              <a:rPr lang="en-US" sz="2100" b="1" dirty="0">
                <a:solidFill>
                  <a:srgbClr val="24313A"/>
                </a:solidFill>
                <a:latin typeface="Cambria" pitchFamily="34" charset="0"/>
                <a:ea typeface="Cambria" pitchFamily="34" charset="-122"/>
                <a:cs typeface="Cambria" pitchFamily="34" charset="-120"/>
              </a:rPr>
              <a:t>Grant to primary schools for re-hiring former teachers, 2017–2020</a:t>
            </a:r>
            <a:endParaRPr lang="en-US" sz="2100" dirty="0"/>
          </a:p>
        </p:txBody>
      </p:sp>
      <p:sp>
        <p:nvSpPr>
          <p:cNvPr id="12" name="Text 8"/>
          <p:cNvSpPr txBox="1"/>
          <p:nvPr/>
        </p:nvSpPr>
        <p:spPr>
          <a:xfrm>
            <a:off x="1783080" y="2395728"/>
            <a:ext cx="9738360" cy="2450592"/>
          </a:xfrm>
          <a:prstGeom prst="rect">
            <a:avLst/>
          </a:prstGeom>
          <a:noFill/>
          <a:ln/>
        </p:spPr>
        <p:txBody>
          <a:bodyPr wrap="square" lIns="0" tIns="0" rIns="0" bIns="0" rtlCol="0" anchor="t"/>
          <a:lstStyle/>
          <a:p>
            <a:pPr indent="0" marL="0">
              <a:lnSpc>
                <a:spcPct val="106000"/>
              </a:lnSpc>
              <a:buNone/>
            </a:pPr>
            <a:r>
              <a:rPr lang="en-US" sz="1500" dirty="0">
                <a:solidFill>
                  <a:srgbClr val="24313A"/>
                </a:solidFill>
                <a:latin typeface="Calibri" pitchFamily="34" charset="0"/>
                <a:ea typeface="Calibri" pitchFamily="34" charset="-122"/>
                <a:cs typeface="Calibri" pitchFamily="34" charset="-120"/>
              </a:rPr>
              <a:t>Between November 2017 and January 2020 the Dutch Ministry of Education paid primary schools a grant for every former teacher they re-hired. A school board qualified if it hired a qualified teacher who had not worked in primary education for at least twelve months, on a contract of at least six months. The grant was up to 2,500 euros per returner and had to be spent on that person's guidance and support during the first months back, such as coaching or refresher training, so that both the teacher and the school found the return easier. The first round set aside 1.25 million euros, enough for 500 returners, and a further application round opened in 2019. The scheme is now closed.</a:t>
            </a:r>
            <a:endParaRPr lang="en-US" sz="1500" dirty="0"/>
          </a:p>
        </p:txBody>
      </p:sp>
      <p:sp>
        <p:nvSpPr>
          <p:cNvPr id="13" name="Text 9"/>
          <p:cNvSpPr txBox="1"/>
          <p:nvPr/>
        </p:nvSpPr>
        <p:spPr>
          <a:xfrm>
            <a:off x="1783080" y="4864608"/>
            <a:ext cx="9738360" cy="274320"/>
          </a:xfrm>
          <a:prstGeom prst="rect">
            <a:avLst/>
          </a:prstGeom>
          <a:noFill/>
          <a:ln/>
        </p:spPr>
        <p:txBody>
          <a:bodyPr wrap="square" lIns="0" tIns="0" rIns="0" bIns="0" rtlCol="0" anchor="ctr"/>
          <a:lstStyle/>
          <a:p>
            <a:pPr indent="0" marL="0">
              <a:buNone/>
            </a:pPr>
            <a:r>
              <a:rPr lang="en-US" sz="1150" b="1" dirty="0">
                <a:solidFill>
                  <a:srgbClr val="24313A"/>
                </a:solidFill>
                <a:latin typeface="Calibri" pitchFamily="34" charset="0"/>
                <a:ea typeface="Calibri" pitchFamily="34" charset="-122"/>
                <a:cs typeface="Calibri" pitchFamily="34" charset="-120"/>
              </a:rPr>
              <a:t>Secondary instruments: </a:t>
            </a:r>
            <a:pPr indent="0" marL="0">
              <a:buNone/>
            </a:pPr>
            <a:r>
              <a:rPr lang="en-US" sz="1150" dirty="0">
                <a:solidFill>
                  <a:srgbClr val="24313A"/>
                </a:solidFill>
                <a:latin typeface="Calibri" pitchFamily="34" charset="0"/>
                <a:ea typeface="Calibri" pitchFamily="34" charset="-122"/>
                <a:cs typeface="Calibri" pitchFamily="34" charset="-120"/>
              </a:rPr>
              <a:t>Support &amp; training</a:t>
            </a:r>
            <a:endParaRPr lang="en-US" sz="1150" dirty="0"/>
          </a:p>
        </p:txBody>
      </p:sp>
      <p:sp>
        <p:nvSpPr>
          <p:cNvPr id="14" name="Text 10"/>
          <p:cNvSpPr txBox="1"/>
          <p:nvPr/>
        </p:nvSpPr>
        <p:spPr>
          <a:xfrm>
            <a:off x="457200" y="5413248"/>
            <a:ext cx="11274552" cy="868680"/>
          </a:xfrm>
          <a:prstGeom prst="rect">
            <a:avLst/>
          </a:prstGeom>
          <a:noFill/>
          <a:ln/>
        </p:spPr>
        <p:txBody>
          <a:bodyPr wrap="square" lIns="0" tIns="0" rIns="0" bIns="0" rtlCol="0" anchor="t"/>
          <a:lstStyle/>
          <a:p>
            <a:pPr indent="0" marL="0">
              <a:buNone/>
            </a:pPr>
            <a:r>
              <a:rPr lang="en-US" sz="1000" b="1" dirty="0">
                <a:solidFill>
                  <a:srgbClr val="24313A"/>
                </a:solidFill>
                <a:latin typeface="Calibri" pitchFamily="34" charset="0"/>
                <a:ea typeface="Calibri" pitchFamily="34" charset="-122"/>
                <a:cs typeface="Calibri" pitchFamily="34" charset="-120"/>
              </a:rPr>
              <a:t>Source: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3" invalidUrl="" action="" tgtFrame="" tooltip="https://wetten.overheid.nl/1.3:c:BWBR0040130&amp;g=2020-07-01&amp;z=2025-10-18" history="1" highlightClick="0" endSnd="0">
                  <a:extLst>
                    <a:ext uri="{A12FA001-AC4F-418D-AE19-62706E023703}">
                      <ahyp:hlinkClr xmlns:ahyp="http://schemas.microsoft.com/office/drawing/2018/hyperlinkcolor" val="tx"/>
                    </a:ext>
                  </a:extLst>
                </a:hlinkClick>
              </a:rPr>
              <a:t>https://wetten.overheid.nl/1.3:c:BWBR0040130&amp;g=2020-07-01&amp;z=2025-10-18</a:t>
            </a:r>
            <a:endParaRPr lang="en-US" sz="1000" dirty="0"/>
          </a:p>
          <a:p>
            <a:pPr indent="0" marL="0">
              <a:buNone/>
            </a:pPr>
            <a:r>
              <a:rPr lang="en-US" sz="1000" b="1" dirty="0">
                <a:solidFill>
                  <a:srgbClr val="24313A"/>
                </a:solidFill>
                <a:latin typeface="Calibri" pitchFamily="34" charset="0"/>
                <a:ea typeface="Calibri" pitchFamily="34" charset="-122"/>
                <a:cs typeface="Calibri" pitchFamily="34" charset="-120"/>
              </a:rPr>
              <a:t>Source (see also):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4" invalidUrl="" action="" tgtFrame="" tooltip="https://www.nieuwsbrievenminocw.nl/actueel/nieuws/2019/07/03/subsidie-voor-herintreders" history="1" highlightClick="0" endSnd="0">
                  <a:extLst>
                    <a:ext uri="{A12FA001-AC4F-418D-AE19-62706E023703}">
                      <ahyp:hlinkClr xmlns:ahyp="http://schemas.microsoft.com/office/drawing/2018/hyperlinkcolor" val="tx"/>
                    </a:ext>
                  </a:extLst>
                </a:hlinkClick>
              </a:rPr>
              <a:t>https://www.nieuwsbrievenminocw.nl/actueel/nieuws/2019/07/03/subsidie-voor-herintreders</a:t>
            </a:r>
            <a:endParaRPr lang="en-US" sz="1000" dirty="0"/>
          </a:p>
        </p:txBody>
      </p:sp>
      <p:sp>
        <p:nvSpPr>
          <p:cNvPr id="15" name="Text 11"/>
          <p:cNvSpPr txBox="1"/>
          <p:nvPr/>
        </p:nvSpPr>
        <p:spPr>
          <a:xfrm>
            <a:off x="11185855" y="6473952"/>
            <a:ext cx="548640" cy="274320"/>
          </a:xfrm>
          <a:prstGeom prst="rect">
            <a:avLst/>
          </a:prstGeom>
          <a:noFill/>
          <a:ln/>
        </p:spPr>
        <p:txBody>
          <a:bodyPr wrap="square" lIns="0" tIns="0" rIns="0" bIns="0" rtlCol="0" anchor="ctr"/>
          <a:lstStyle/>
          <a:p>
            <a:pPr algn="r" indent="0" marL="0">
              <a:buNone/>
            </a:pPr>
            <a:r>
              <a:rPr lang="en-US" sz="900" dirty="0">
                <a:solidFill>
                  <a:srgbClr val="24313A"/>
                </a:solidFill>
                <a:latin typeface="Calibri" pitchFamily="34" charset="0"/>
                <a:ea typeface="Calibri" pitchFamily="34" charset="-122"/>
                <a:cs typeface="Calibri"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384048"/>
            <a:ext cx="960120" cy="720090"/>
          </a:xfrm>
          <a:prstGeom prst="rect">
            <a:avLst/>
          </a:prstGeom>
        </p:spPr>
      </p:pic>
      <p:sp>
        <p:nvSpPr>
          <p:cNvPr id="3" name="Shape 0"/>
          <p:cNvSpPr/>
          <p:nvPr/>
        </p:nvSpPr>
        <p:spPr>
          <a:xfrm>
            <a:off x="457200" y="384048"/>
            <a:ext cx="960120" cy="720090"/>
          </a:xfrm>
          <a:prstGeom prst="rect">
            <a:avLst/>
          </a:prstGeom>
          <a:ln w="9525">
            <a:solidFill>
              <a:srgbClr val="CFDCD5"/>
            </a:solidFill>
            <a:prstDash val="solid"/>
          </a:ln>
        </p:spPr>
      </p:sp>
      <p:sp>
        <p:nvSpPr>
          <p:cNvPr id="4" name="Text 1"/>
          <p:cNvSpPr txBox="1"/>
          <p:nvPr/>
        </p:nvSpPr>
        <p:spPr>
          <a:xfrm>
            <a:off x="1600200" y="329184"/>
            <a:ext cx="621792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New Zealand</a:t>
            </a:r>
            <a:endParaRPr lang="en-US" sz="2200" dirty="0"/>
          </a:p>
        </p:txBody>
      </p:sp>
      <p:sp>
        <p:nvSpPr>
          <p:cNvPr id="5" name="Shape 2"/>
          <p:cNvSpPr/>
          <p:nvPr/>
        </p:nvSpPr>
        <p:spPr>
          <a:xfrm>
            <a:off x="8257032" y="384048"/>
            <a:ext cx="3474720" cy="429768"/>
          </a:xfrm>
          <a:prstGeom prst="roundRect">
            <a:avLst>
              <a:gd name="adj" fmla="val 50000"/>
            </a:avLst>
          </a:prstGeom>
          <a:solidFill>
            <a:srgbClr val="EAF2EE"/>
          </a:solidFill>
          <a:ln w="12700">
            <a:solidFill>
              <a:srgbClr val="B3542E"/>
            </a:solidFill>
            <a:prstDash val="solid"/>
          </a:ln>
        </p:spPr>
      </p:sp>
      <p:sp>
        <p:nvSpPr>
          <p:cNvPr id="6" name="Text 3"/>
          <p:cNvSpPr txBox="1"/>
          <p:nvPr/>
        </p:nvSpPr>
        <p:spPr>
          <a:xfrm>
            <a:off x="8257032" y="384048"/>
            <a:ext cx="3474720" cy="429768"/>
          </a:xfrm>
          <a:prstGeom prst="rect">
            <a:avLst/>
          </a:prstGeom>
          <a:noFill/>
          <a:ln/>
        </p:spPr>
        <p:txBody>
          <a:bodyPr wrap="square" lIns="0" tIns="0" rIns="0" bIns="0" rtlCol="0" anchor="ctr"/>
          <a:lstStyle/>
          <a:p>
            <a:pPr algn="ctr" indent="0" marL="0">
              <a:buNone/>
            </a:pPr>
            <a:r>
              <a:rPr lang="en-US" sz="1350" b="1" dirty="0">
                <a:solidFill>
                  <a:srgbClr val="B3542E"/>
                </a:solidFill>
                <a:latin typeface="Calibri" pitchFamily="34" charset="0"/>
                <a:ea typeface="Calibri" pitchFamily="34" charset="-122"/>
                <a:cs typeface="Calibri" pitchFamily="34" charset="-120"/>
              </a:rPr>
              <a:t>Flexible re-certification</a:t>
            </a:r>
            <a:endParaRPr lang="en-US" sz="1350" dirty="0"/>
          </a:p>
        </p:txBody>
      </p:sp>
      <p:sp>
        <p:nvSpPr>
          <p:cNvPr id="7" name="Text 4"/>
          <p:cNvSpPr txBox="1"/>
          <p:nvPr/>
        </p:nvSpPr>
        <p:spPr>
          <a:xfrm>
            <a:off x="7342632" y="850392"/>
            <a:ext cx="4389120" cy="274320"/>
          </a:xfrm>
          <a:prstGeom prst="rect">
            <a:avLst/>
          </a:prstGeom>
          <a:noFill/>
          <a:ln/>
        </p:spPr>
        <p:txBody>
          <a:bodyPr wrap="square" lIns="0" tIns="0" rIns="0" bIns="0" rtlCol="0" anchor="t"/>
          <a:lstStyle/>
          <a:p>
            <a:pPr algn="r" indent="0" marL="0">
              <a:buNone/>
            </a:pPr>
            <a:r>
              <a:rPr lang="en-US" sz="1100" dirty="0">
                <a:solidFill>
                  <a:srgbClr val="24313A"/>
                </a:solidFill>
                <a:latin typeface="Calibri" pitchFamily="34" charset="0"/>
                <a:ea typeface="Calibri" pitchFamily="34" charset="-122"/>
                <a:cs typeface="Calibri" pitchFamily="34" charset="-120"/>
              </a:rPr>
              <a:t>Target: Switchers / Leavers</a:t>
            </a:r>
            <a:endParaRPr lang="en-US" sz="1100" dirty="0"/>
          </a:p>
        </p:txBody>
      </p:sp>
      <p:sp>
        <p:nvSpPr>
          <p:cNvPr id="8" name="Shape 5"/>
          <p:cNvSpPr/>
          <p:nvPr/>
        </p:nvSpPr>
        <p:spPr>
          <a:xfrm>
            <a:off x="457200" y="1371600"/>
            <a:ext cx="11274552" cy="3858768"/>
          </a:xfrm>
          <a:prstGeom prst="roundRect">
            <a:avLst>
              <a:gd name="adj" fmla="val 2844"/>
            </a:avLst>
          </a:prstGeom>
          <a:solidFill>
            <a:srgbClr val="EAF2EE"/>
          </a:solidFill>
          <a:ln w="12700">
            <a:solidFill>
              <a:srgbClr val="EAF2EE"/>
            </a:solidFill>
            <a:prstDash val="solid"/>
          </a:ln>
        </p:spPr>
      </p:sp>
      <p:sp>
        <p:nvSpPr>
          <p:cNvPr id="9" name="Shape 6"/>
          <p:cNvSpPr/>
          <p:nvPr/>
        </p:nvSpPr>
        <p:spPr>
          <a:xfrm>
            <a:off x="777240" y="1691640"/>
            <a:ext cx="777240" cy="777240"/>
          </a:xfrm>
          <a:prstGeom prst="ellipse">
            <a:avLst/>
          </a:prstGeom>
          <a:solidFill>
            <a:srgbClr val="1F4E46"/>
          </a:solidFill>
          <a:ln w="12700">
            <a:solidFill>
              <a:srgbClr val="1F4E46"/>
            </a:solidFill>
            <a:prstDash val="solid"/>
          </a:ln>
        </p:spPr>
      </p:sp>
      <p:pic>
        <p:nvPicPr>
          <p:cNvPr id="10" name="Image 1" descr="preencoded.png">    </p:cNvPr>
          <p:cNvPicPr>
            <a:picLocks noChangeAspect="1"/>
          </p:cNvPicPr>
          <p:nvPr/>
        </p:nvPicPr>
        <p:blipFill>
          <a:blip r:embed="rId2"/>
          <a:stretch>
            <a:fillRect/>
          </a:stretch>
        </p:blipFill>
        <p:spPr>
          <a:xfrm>
            <a:off x="963778" y="1878178"/>
            <a:ext cx="404165" cy="404165"/>
          </a:xfrm>
          <a:prstGeom prst="rect">
            <a:avLst/>
          </a:prstGeom>
        </p:spPr>
      </p:pic>
      <p:sp>
        <p:nvSpPr>
          <p:cNvPr id="11" name="Text 7"/>
          <p:cNvSpPr txBox="1"/>
          <p:nvPr/>
        </p:nvSpPr>
        <p:spPr>
          <a:xfrm>
            <a:off x="1783080" y="1536192"/>
            <a:ext cx="9738360" cy="868680"/>
          </a:xfrm>
          <a:prstGeom prst="rect">
            <a:avLst/>
          </a:prstGeom>
          <a:noFill/>
          <a:ln/>
        </p:spPr>
        <p:txBody>
          <a:bodyPr wrap="square" lIns="0" tIns="0" rIns="0" bIns="0" rtlCol="0" anchor="t"/>
          <a:lstStyle/>
          <a:p>
            <a:pPr indent="0" marL="0">
              <a:buNone/>
            </a:pPr>
            <a:r>
              <a:rPr lang="en-US" sz="2100" b="1" dirty="0">
                <a:solidFill>
                  <a:srgbClr val="24313A"/>
                </a:solidFill>
                <a:latin typeface="Cambria" pitchFamily="34" charset="0"/>
                <a:ea typeface="Cambria" pitchFamily="34" charset="-122"/>
                <a:cs typeface="Cambria" pitchFamily="34" charset="-120"/>
              </a:rPr>
              <a:t>Streamlined return-to-teaching pathway: no refresher course, fees covered (2024–2028)</a:t>
            </a:r>
            <a:endParaRPr lang="en-US" sz="2100" dirty="0"/>
          </a:p>
        </p:txBody>
      </p:sp>
      <p:sp>
        <p:nvSpPr>
          <p:cNvPr id="12" name="Text 8"/>
          <p:cNvSpPr txBox="1"/>
          <p:nvPr/>
        </p:nvSpPr>
        <p:spPr>
          <a:xfrm>
            <a:off x="1783080" y="2395728"/>
            <a:ext cx="9738360" cy="2450592"/>
          </a:xfrm>
          <a:prstGeom prst="rect">
            <a:avLst/>
          </a:prstGeom>
          <a:noFill/>
          <a:ln/>
        </p:spPr>
        <p:txBody>
          <a:bodyPr wrap="square" lIns="0" tIns="0" rIns="0" bIns="0" rtlCol="0" anchor="t"/>
          <a:lstStyle/>
          <a:p>
            <a:pPr indent="0" marL="0">
              <a:lnSpc>
                <a:spcPct val="106000"/>
              </a:lnSpc>
              <a:buNone/>
            </a:pPr>
            <a:r>
              <a:rPr lang="en-US" sz="1500" dirty="0">
                <a:solidFill>
                  <a:srgbClr val="24313A"/>
                </a:solidFill>
                <a:latin typeface="Calibri" pitchFamily="34" charset="0"/>
                <a:ea typeface="Calibri" pitchFamily="34" charset="-122"/>
                <a:cs typeface="Calibri" pitchFamily="34" charset="-120"/>
              </a:rPr>
              <a:t>New Zealand has made it much simpler for a registered teacher who has been away from the classroom to get back the licence needed to teach, called a practising certificate. Teachers who had not taught for five years or more used to have to complete a Teacher Education Refresh course first. Now, if they have a job offer, they simply renew their certificate, can do substitute teaching for up to twenty half-days while the renewal is processed, and agree a short ‘Future-Ready Teaching Plan’ with the school principal instead of taking the course. Since October 2024 the Government has also paid the certificate fees of returning teachers, and 352 teachers had come back by April 2025. Budget 2025 extended this by covering all teacher registration fees and levies until June 2028, at a cost of 53.3 million New Zealand dollars (about 29 million euros).</a:t>
            </a:r>
            <a:endParaRPr lang="en-US" sz="1500" dirty="0"/>
          </a:p>
        </p:txBody>
      </p:sp>
      <p:sp>
        <p:nvSpPr>
          <p:cNvPr id="13" name="Text 9"/>
          <p:cNvSpPr txBox="1"/>
          <p:nvPr/>
        </p:nvSpPr>
        <p:spPr>
          <a:xfrm>
            <a:off x="1783080" y="4864608"/>
            <a:ext cx="9738360" cy="274320"/>
          </a:xfrm>
          <a:prstGeom prst="rect">
            <a:avLst/>
          </a:prstGeom>
          <a:noFill/>
          <a:ln/>
        </p:spPr>
        <p:txBody>
          <a:bodyPr wrap="square" lIns="0" tIns="0" rIns="0" bIns="0" rtlCol="0" anchor="ctr"/>
          <a:lstStyle/>
          <a:p>
            <a:pPr indent="0" marL="0">
              <a:buNone/>
            </a:pPr>
            <a:r>
              <a:rPr lang="en-US" sz="1150" b="1" dirty="0">
                <a:solidFill>
                  <a:srgbClr val="24313A"/>
                </a:solidFill>
                <a:latin typeface="Calibri" pitchFamily="34" charset="0"/>
                <a:ea typeface="Calibri" pitchFamily="34" charset="-122"/>
                <a:cs typeface="Calibri" pitchFamily="34" charset="-120"/>
              </a:rPr>
              <a:t>Secondary instruments: </a:t>
            </a:r>
            <a:pPr indent="0" marL="0">
              <a:buNone/>
            </a:pPr>
            <a:r>
              <a:rPr lang="en-US" sz="1150" dirty="0">
                <a:solidFill>
                  <a:srgbClr val="24313A"/>
                </a:solidFill>
                <a:latin typeface="Calibri" pitchFamily="34" charset="0"/>
                <a:ea typeface="Calibri" pitchFamily="34" charset="-122"/>
                <a:cs typeface="Calibri" pitchFamily="34" charset="-120"/>
              </a:rPr>
              <a:t>Financial incentives</a:t>
            </a:r>
            <a:endParaRPr lang="en-US" sz="1150" dirty="0"/>
          </a:p>
        </p:txBody>
      </p:sp>
      <p:sp>
        <p:nvSpPr>
          <p:cNvPr id="14" name="Text 10"/>
          <p:cNvSpPr txBox="1"/>
          <p:nvPr/>
        </p:nvSpPr>
        <p:spPr>
          <a:xfrm>
            <a:off x="457200" y="5413248"/>
            <a:ext cx="11274552" cy="868680"/>
          </a:xfrm>
          <a:prstGeom prst="rect">
            <a:avLst/>
          </a:prstGeom>
          <a:noFill/>
          <a:ln/>
        </p:spPr>
        <p:txBody>
          <a:bodyPr wrap="square" lIns="0" tIns="0" rIns="0" bIns="0" rtlCol="0" anchor="t"/>
          <a:lstStyle/>
          <a:p>
            <a:pPr indent="0" marL="0">
              <a:buNone/>
            </a:pPr>
            <a:r>
              <a:rPr lang="en-US" sz="1000" b="1" dirty="0">
                <a:solidFill>
                  <a:srgbClr val="24313A"/>
                </a:solidFill>
                <a:latin typeface="Calibri" pitchFamily="34" charset="0"/>
                <a:ea typeface="Calibri" pitchFamily="34" charset="-122"/>
                <a:cs typeface="Calibri" pitchFamily="34" charset="-120"/>
              </a:rPr>
              <a:t>Source: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3" invalidUrl="" action="" tgtFrame="" tooltip="https://workforce.education.govt.nz/current-teachers/returning-teaching/returning-teaching-after-break" history="1" highlightClick="0" endSnd="0">
                  <a:extLst>
                    <a:ext uri="{A12FA001-AC4F-418D-AE19-62706E023703}">
                      <ahyp:hlinkClr xmlns:ahyp="http://schemas.microsoft.com/office/drawing/2018/hyperlinkcolor" val="tx"/>
                    </a:ext>
                  </a:extLst>
                </a:hlinkClick>
              </a:rPr>
              <a:t>https://workforce.education.govt.nz/current-teachers/returning-teaching/returning-teaching-after-break</a:t>
            </a:r>
            <a:endParaRPr lang="en-US" sz="1000" dirty="0"/>
          </a:p>
          <a:p>
            <a:pPr indent="0" marL="0">
              <a:buNone/>
            </a:pPr>
            <a:r>
              <a:rPr lang="en-US" sz="1000" b="1" dirty="0">
                <a:solidFill>
                  <a:srgbClr val="24313A"/>
                </a:solidFill>
                <a:latin typeface="Calibri" pitchFamily="34" charset="0"/>
                <a:ea typeface="Calibri" pitchFamily="34" charset="-122"/>
                <a:cs typeface="Calibri" pitchFamily="34" charset="-120"/>
              </a:rPr>
              <a:t>Source (see also):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4" invalidUrl="" action="" tgtFrame="" tooltip="https://www.beehive.govt.nz/release/backing-teachers-teacher-registrations-funded" history="1" highlightClick="0" endSnd="0">
                  <a:extLst>
                    <a:ext uri="{A12FA001-AC4F-418D-AE19-62706E023703}">
                      <ahyp:hlinkClr xmlns:ahyp="http://schemas.microsoft.com/office/drawing/2018/hyperlinkcolor" val="tx"/>
                    </a:ext>
                  </a:extLst>
                </a:hlinkClick>
              </a:rPr>
              <a:t>https://www.beehive.govt.nz/release/backing-teachers-teacher-registrations-funded</a:t>
            </a:r>
            <a:endParaRPr lang="en-US" sz="1000" dirty="0"/>
          </a:p>
        </p:txBody>
      </p:sp>
      <p:sp>
        <p:nvSpPr>
          <p:cNvPr id="15" name="Text 11"/>
          <p:cNvSpPr txBox="1"/>
          <p:nvPr/>
        </p:nvSpPr>
        <p:spPr>
          <a:xfrm>
            <a:off x="11185855" y="6473952"/>
            <a:ext cx="548640" cy="274320"/>
          </a:xfrm>
          <a:prstGeom prst="rect">
            <a:avLst/>
          </a:prstGeom>
          <a:noFill/>
          <a:ln/>
        </p:spPr>
        <p:txBody>
          <a:bodyPr wrap="square" lIns="0" tIns="0" rIns="0" bIns="0" rtlCol="0" anchor="ctr"/>
          <a:lstStyle/>
          <a:p>
            <a:pPr algn="r" indent="0" marL="0">
              <a:buNone/>
            </a:pPr>
            <a:r>
              <a:rPr lang="en-US" sz="900" dirty="0">
                <a:solidFill>
                  <a:srgbClr val="24313A"/>
                </a:solidFill>
                <a:latin typeface="Calibri" pitchFamily="34" charset="0"/>
                <a:ea typeface="Calibri" pitchFamily="34" charset="-122"/>
                <a:cs typeface="Calibri"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384048"/>
            <a:ext cx="960120" cy="720090"/>
          </a:xfrm>
          <a:prstGeom prst="rect">
            <a:avLst/>
          </a:prstGeom>
        </p:spPr>
      </p:pic>
      <p:sp>
        <p:nvSpPr>
          <p:cNvPr id="3" name="Shape 0"/>
          <p:cNvSpPr/>
          <p:nvPr/>
        </p:nvSpPr>
        <p:spPr>
          <a:xfrm>
            <a:off x="457200" y="384048"/>
            <a:ext cx="960120" cy="720090"/>
          </a:xfrm>
          <a:prstGeom prst="rect">
            <a:avLst/>
          </a:prstGeom>
          <a:ln w="9525">
            <a:solidFill>
              <a:srgbClr val="CFDCD5"/>
            </a:solidFill>
            <a:prstDash val="solid"/>
          </a:ln>
        </p:spPr>
      </p:sp>
      <p:sp>
        <p:nvSpPr>
          <p:cNvPr id="4" name="Text 1"/>
          <p:cNvSpPr txBox="1"/>
          <p:nvPr/>
        </p:nvSpPr>
        <p:spPr>
          <a:xfrm>
            <a:off x="1600200" y="329184"/>
            <a:ext cx="621792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Portugal</a:t>
            </a:r>
            <a:endParaRPr lang="en-US" sz="2200" dirty="0"/>
          </a:p>
        </p:txBody>
      </p:sp>
      <p:sp>
        <p:nvSpPr>
          <p:cNvPr id="5" name="Shape 2"/>
          <p:cNvSpPr/>
          <p:nvPr/>
        </p:nvSpPr>
        <p:spPr>
          <a:xfrm>
            <a:off x="8257032" y="384048"/>
            <a:ext cx="3474720" cy="429768"/>
          </a:xfrm>
          <a:prstGeom prst="roundRect">
            <a:avLst>
              <a:gd name="adj" fmla="val 50000"/>
            </a:avLst>
          </a:prstGeom>
          <a:solidFill>
            <a:srgbClr val="EAF2EE"/>
          </a:solidFill>
          <a:ln w="12700">
            <a:solidFill>
              <a:srgbClr val="B3542E"/>
            </a:solidFill>
            <a:prstDash val="solid"/>
          </a:ln>
        </p:spPr>
      </p:sp>
      <p:sp>
        <p:nvSpPr>
          <p:cNvPr id="6" name="Text 3"/>
          <p:cNvSpPr txBox="1"/>
          <p:nvPr/>
        </p:nvSpPr>
        <p:spPr>
          <a:xfrm>
            <a:off x="8257032" y="384048"/>
            <a:ext cx="3474720" cy="429768"/>
          </a:xfrm>
          <a:prstGeom prst="rect">
            <a:avLst/>
          </a:prstGeom>
          <a:noFill/>
          <a:ln/>
        </p:spPr>
        <p:txBody>
          <a:bodyPr wrap="square" lIns="0" tIns="0" rIns="0" bIns="0" rtlCol="0" anchor="ctr"/>
          <a:lstStyle/>
          <a:p>
            <a:pPr algn="ctr" indent="0" marL="0">
              <a:buNone/>
            </a:pPr>
            <a:r>
              <a:rPr lang="en-US" sz="1350" b="1" dirty="0">
                <a:solidFill>
                  <a:srgbClr val="B3542E"/>
                </a:solidFill>
                <a:latin typeface="Calibri" pitchFamily="34" charset="0"/>
                <a:ea typeface="Calibri" pitchFamily="34" charset="-122"/>
                <a:cs typeface="Calibri" pitchFamily="34" charset="-120"/>
              </a:rPr>
              <a:t>Financial incentives</a:t>
            </a:r>
            <a:endParaRPr lang="en-US" sz="1350" dirty="0"/>
          </a:p>
        </p:txBody>
      </p:sp>
      <p:sp>
        <p:nvSpPr>
          <p:cNvPr id="7" name="Text 4"/>
          <p:cNvSpPr txBox="1"/>
          <p:nvPr/>
        </p:nvSpPr>
        <p:spPr>
          <a:xfrm>
            <a:off x="7342632" y="850392"/>
            <a:ext cx="4389120" cy="274320"/>
          </a:xfrm>
          <a:prstGeom prst="rect">
            <a:avLst/>
          </a:prstGeom>
          <a:noFill/>
          <a:ln/>
        </p:spPr>
        <p:txBody>
          <a:bodyPr wrap="square" lIns="0" tIns="0" rIns="0" bIns="0" rtlCol="0" anchor="t"/>
          <a:lstStyle/>
          <a:p>
            <a:pPr algn="r" indent="0" marL="0">
              <a:buNone/>
            </a:pPr>
            <a:r>
              <a:rPr lang="en-US" sz="1100" dirty="0">
                <a:solidFill>
                  <a:srgbClr val="24313A"/>
                </a:solidFill>
                <a:latin typeface="Calibri" pitchFamily="34" charset="0"/>
                <a:ea typeface="Calibri" pitchFamily="34" charset="-122"/>
                <a:cs typeface="Calibri" pitchFamily="34" charset="-120"/>
              </a:rPr>
              <a:t>Target: Retired</a:t>
            </a:r>
            <a:endParaRPr lang="en-US" sz="1100" dirty="0"/>
          </a:p>
        </p:txBody>
      </p:sp>
      <p:sp>
        <p:nvSpPr>
          <p:cNvPr id="8" name="Shape 5"/>
          <p:cNvSpPr/>
          <p:nvPr/>
        </p:nvSpPr>
        <p:spPr>
          <a:xfrm>
            <a:off x="457200" y="1371600"/>
            <a:ext cx="11274552" cy="3858768"/>
          </a:xfrm>
          <a:prstGeom prst="roundRect">
            <a:avLst>
              <a:gd name="adj" fmla="val 2844"/>
            </a:avLst>
          </a:prstGeom>
          <a:solidFill>
            <a:srgbClr val="EAF2EE"/>
          </a:solidFill>
          <a:ln w="12700">
            <a:solidFill>
              <a:srgbClr val="EAF2EE"/>
            </a:solidFill>
            <a:prstDash val="solid"/>
          </a:ln>
        </p:spPr>
      </p:sp>
      <p:sp>
        <p:nvSpPr>
          <p:cNvPr id="9" name="Shape 6"/>
          <p:cNvSpPr/>
          <p:nvPr/>
        </p:nvSpPr>
        <p:spPr>
          <a:xfrm>
            <a:off x="777240" y="1691640"/>
            <a:ext cx="777240" cy="777240"/>
          </a:xfrm>
          <a:prstGeom prst="ellipse">
            <a:avLst/>
          </a:prstGeom>
          <a:solidFill>
            <a:srgbClr val="1F4E46"/>
          </a:solidFill>
          <a:ln w="12700">
            <a:solidFill>
              <a:srgbClr val="1F4E46"/>
            </a:solidFill>
            <a:prstDash val="solid"/>
          </a:ln>
        </p:spPr>
      </p:sp>
      <p:pic>
        <p:nvPicPr>
          <p:cNvPr id="10" name="Image 1" descr="preencoded.png">    </p:cNvPr>
          <p:cNvPicPr>
            <a:picLocks noChangeAspect="1"/>
          </p:cNvPicPr>
          <p:nvPr/>
        </p:nvPicPr>
        <p:blipFill>
          <a:blip r:embed="rId2"/>
          <a:stretch>
            <a:fillRect/>
          </a:stretch>
        </p:blipFill>
        <p:spPr>
          <a:xfrm>
            <a:off x="963778" y="1878178"/>
            <a:ext cx="404165" cy="404165"/>
          </a:xfrm>
          <a:prstGeom prst="rect">
            <a:avLst/>
          </a:prstGeom>
        </p:spPr>
      </p:pic>
      <p:sp>
        <p:nvSpPr>
          <p:cNvPr id="11" name="Text 7"/>
          <p:cNvSpPr txBox="1"/>
          <p:nvPr/>
        </p:nvSpPr>
        <p:spPr>
          <a:xfrm>
            <a:off x="1783080" y="1536192"/>
            <a:ext cx="9738360" cy="868680"/>
          </a:xfrm>
          <a:prstGeom prst="rect">
            <a:avLst/>
          </a:prstGeom>
          <a:noFill/>
          <a:ln/>
        </p:spPr>
        <p:txBody>
          <a:bodyPr wrap="square" lIns="0" tIns="0" rIns="0" bIns="0" rtlCol="0" anchor="t"/>
          <a:lstStyle/>
          <a:p>
            <a:pPr indent="0" marL="0">
              <a:buNone/>
            </a:pPr>
            <a:r>
              <a:rPr lang="en-US" sz="2100" b="1" dirty="0">
                <a:solidFill>
                  <a:srgbClr val="24313A"/>
                </a:solidFill>
                <a:latin typeface="Cambria" pitchFamily="34" charset="0"/>
                <a:ea typeface="Cambria" pitchFamily="34" charset="-122"/>
                <a:cs typeface="Cambria" pitchFamily="34" charset="-120"/>
              </a:rPr>
              <a:t>Decree-Law 51/2024: schools may hire retired teachers for shortage posts, 2024/25–</a:t>
            </a:r>
            <a:endParaRPr lang="en-US" sz="2100" dirty="0"/>
          </a:p>
        </p:txBody>
      </p:sp>
      <p:sp>
        <p:nvSpPr>
          <p:cNvPr id="12" name="Text 8"/>
          <p:cNvSpPr txBox="1"/>
          <p:nvPr/>
        </p:nvSpPr>
        <p:spPr>
          <a:xfrm>
            <a:off x="1783080" y="2395728"/>
            <a:ext cx="9738360" cy="2450592"/>
          </a:xfrm>
          <a:prstGeom prst="rect">
            <a:avLst/>
          </a:prstGeom>
          <a:noFill/>
          <a:ln/>
        </p:spPr>
        <p:txBody>
          <a:bodyPr wrap="square" lIns="0" tIns="0" rIns="0" bIns="0" rtlCol="0" anchor="t"/>
          <a:lstStyle/>
          <a:p>
            <a:pPr indent="0" marL="0">
              <a:lnSpc>
                <a:spcPct val="106000"/>
              </a:lnSpc>
              <a:buNone/>
            </a:pPr>
            <a:r>
              <a:rPr lang="en-US" sz="1500" dirty="0">
                <a:solidFill>
                  <a:srgbClr val="24313A"/>
                </a:solidFill>
                <a:latin typeface="Calibri" pitchFamily="34" charset="0"/>
                <a:ea typeface="Calibri" pitchFamily="34" charset="-122"/>
                <a:cs typeface="Calibri" pitchFamily="34" charset="-120"/>
              </a:rPr>
              <a:t>Since the 2024/25 school year Portuguese public schools have been allowed to hire retired teachers on fixed-term contracts to fill posts they cannot staff. A school with an unfilled post in a shortage subject, or a school officially classed as under-staffed, applies through an online form of the schools' administration directorate, and the ministry authorises the contract within a yearly quota agreed with the Finance ministry. Only teachers who retired five years ago or less can be hired. The retiree keeps the full pension and, on top of it, receives a payment linked to the first step of the teacher salary scale in proportion to the hours taught each week. The measure was created by a decree-law of 28 August 2024 as part of the government's ‘More Lessons, More Success’ plan against teacher shortages; according to the newspaper Público, 62 retirees were cleared to return in the first round.</a:t>
            </a:r>
            <a:endParaRPr lang="en-US" sz="1500" dirty="0"/>
          </a:p>
        </p:txBody>
      </p:sp>
      <p:sp>
        <p:nvSpPr>
          <p:cNvPr id="13" name="Text 9"/>
          <p:cNvSpPr txBox="1"/>
          <p:nvPr/>
        </p:nvSpPr>
        <p:spPr>
          <a:xfrm>
            <a:off x="1783080" y="4864608"/>
            <a:ext cx="9738360" cy="274320"/>
          </a:xfrm>
          <a:prstGeom prst="rect">
            <a:avLst/>
          </a:prstGeom>
          <a:noFill/>
          <a:ln/>
        </p:spPr>
        <p:txBody>
          <a:bodyPr wrap="square" lIns="0" tIns="0" rIns="0" bIns="0" rtlCol="0" anchor="ctr"/>
          <a:lstStyle/>
          <a:p>
            <a:pPr indent="0" marL="0">
              <a:buNone/>
            </a:pPr>
            <a:r>
              <a:rPr lang="en-US" sz="1150" b="1" dirty="0">
                <a:solidFill>
                  <a:srgbClr val="24313A"/>
                </a:solidFill>
                <a:latin typeface="Calibri" pitchFamily="34" charset="0"/>
                <a:ea typeface="Calibri" pitchFamily="34" charset="-122"/>
                <a:cs typeface="Calibri" pitchFamily="34" charset="-120"/>
              </a:rPr>
              <a:t>Secondary instruments: </a:t>
            </a:r>
            <a:pPr indent="0" marL="0">
              <a:buNone/>
            </a:pPr>
            <a:r>
              <a:rPr lang="en-US" sz="1150" dirty="0">
                <a:solidFill>
                  <a:srgbClr val="24313A"/>
                </a:solidFill>
                <a:latin typeface="Calibri" pitchFamily="34" charset="0"/>
                <a:ea typeface="Calibri" pitchFamily="34" charset="-122"/>
                <a:cs typeface="Calibri" pitchFamily="34" charset="-120"/>
              </a:rPr>
              <a:t>Flexible positions</a:t>
            </a:r>
            <a:endParaRPr lang="en-US" sz="1150" dirty="0"/>
          </a:p>
        </p:txBody>
      </p:sp>
      <p:sp>
        <p:nvSpPr>
          <p:cNvPr id="14" name="Text 10"/>
          <p:cNvSpPr txBox="1"/>
          <p:nvPr/>
        </p:nvSpPr>
        <p:spPr>
          <a:xfrm>
            <a:off x="457200" y="5413248"/>
            <a:ext cx="11274552" cy="868680"/>
          </a:xfrm>
          <a:prstGeom prst="rect">
            <a:avLst/>
          </a:prstGeom>
          <a:noFill/>
          <a:ln/>
        </p:spPr>
        <p:txBody>
          <a:bodyPr wrap="square" lIns="0" tIns="0" rIns="0" bIns="0" rtlCol="0" anchor="t"/>
          <a:lstStyle/>
          <a:p>
            <a:pPr indent="0" marL="0">
              <a:buNone/>
            </a:pPr>
            <a:r>
              <a:rPr lang="en-US" sz="1000" b="1" dirty="0">
                <a:solidFill>
                  <a:srgbClr val="24313A"/>
                </a:solidFill>
                <a:latin typeface="Calibri" pitchFamily="34" charset="0"/>
                <a:ea typeface="Calibri" pitchFamily="34" charset="-122"/>
                <a:cs typeface="Calibri" pitchFamily="34" charset="-120"/>
              </a:rPr>
              <a:t>Source: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3" invalidUrl="" action="" tgtFrame="" tooltip="https://diariodarepublica.pt/dr/detalhe/decreto-lei/51-2024-885927817" history="1" highlightClick="0" endSnd="0">
                  <a:extLst>
                    <a:ext uri="{A12FA001-AC4F-418D-AE19-62706E023703}">
                      <ahyp:hlinkClr xmlns:ahyp="http://schemas.microsoft.com/office/drawing/2018/hyperlinkcolor" val="tx"/>
                    </a:ext>
                  </a:extLst>
                </a:hlinkClick>
              </a:rPr>
              <a:t>https://diariodarepublica.pt/dr/detalhe/decreto-lei/51-2024-885927817</a:t>
            </a:r>
            <a:endParaRPr lang="en-US" sz="1000" dirty="0"/>
          </a:p>
          <a:p>
            <a:pPr indent="0" marL="0">
              <a:buNone/>
            </a:pPr>
            <a:r>
              <a:rPr lang="en-US" sz="1000" b="1" dirty="0">
                <a:solidFill>
                  <a:srgbClr val="24313A"/>
                </a:solidFill>
                <a:latin typeface="Calibri" pitchFamily="34" charset="0"/>
                <a:ea typeface="Calibri" pitchFamily="34" charset="-122"/>
                <a:cs typeface="Calibri" pitchFamily="34" charset="-120"/>
              </a:rPr>
              <a:t>Source (see also):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4" invalidUrl="" action="" tgtFrame="" tooltip="https://www.dgae.medu.pt/noticias/atribuicao-de-servico-docente-aos-aposentados-e-reformados" history="1" highlightClick="0" endSnd="0">
                  <a:extLst>
                    <a:ext uri="{A12FA001-AC4F-418D-AE19-62706E023703}">
                      <ahyp:hlinkClr xmlns:ahyp="http://schemas.microsoft.com/office/drawing/2018/hyperlinkcolor" val="tx"/>
                    </a:ext>
                  </a:extLst>
                </a:hlinkClick>
              </a:rPr>
              <a:t>https://www.dgae.medu.pt/noticias/atribuicao-de-servico-docente-aos-aposentados-e-reformados</a:t>
            </a:r>
            <a:endParaRPr lang="en-US" sz="1000" dirty="0"/>
          </a:p>
        </p:txBody>
      </p:sp>
      <p:sp>
        <p:nvSpPr>
          <p:cNvPr id="15" name="Text 11"/>
          <p:cNvSpPr txBox="1"/>
          <p:nvPr/>
        </p:nvSpPr>
        <p:spPr>
          <a:xfrm>
            <a:off x="11185855" y="6473952"/>
            <a:ext cx="548640" cy="274320"/>
          </a:xfrm>
          <a:prstGeom prst="rect">
            <a:avLst/>
          </a:prstGeom>
          <a:noFill/>
          <a:ln/>
        </p:spPr>
        <p:txBody>
          <a:bodyPr wrap="square" lIns="0" tIns="0" rIns="0" bIns="0" rtlCol="0" anchor="ctr"/>
          <a:lstStyle/>
          <a:p>
            <a:pPr algn="r" indent="0" marL="0">
              <a:buNone/>
            </a:pPr>
            <a:r>
              <a:rPr lang="en-US" sz="900" dirty="0">
                <a:solidFill>
                  <a:srgbClr val="24313A"/>
                </a:solidFill>
                <a:latin typeface="Calibri" pitchFamily="34" charset="0"/>
                <a:ea typeface="Calibri" pitchFamily="34" charset="-122"/>
                <a:cs typeface="Calibri"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384048"/>
            <a:ext cx="960120" cy="720090"/>
          </a:xfrm>
          <a:prstGeom prst="rect">
            <a:avLst/>
          </a:prstGeom>
        </p:spPr>
      </p:pic>
      <p:sp>
        <p:nvSpPr>
          <p:cNvPr id="3" name="Shape 0"/>
          <p:cNvSpPr/>
          <p:nvPr/>
        </p:nvSpPr>
        <p:spPr>
          <a:xfrm>
            <a:off x="457200" y="384048"/>
            <a:ext cx="960120" cy="720090"/>
          </a:xfrm>
          <a:prstGeom prst="rect">
            <a:avLst/>
          </a:prstGeom>
          <a:ln w="9525">
            <a:solidFill>
              <a:srgbClr val="CFDCD5"/>
            </a:solidFill>
            <a:prstDash val="solid"/>
          </a:ln>
        </p:spPr>
      </p:sp>
      <p:sp>
        <p:nvSpPr>
          <p:cNvPr id="4" name="Text 1"/>
          <p:cNvSpPr txBox="1"/>
          <p:nvPr/>
        </p:nvSpPr>
        <p:spPr>
          <a:xfrm>
            <a:off x="1600200" y="329184"/>
            <a:ext cx="621792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Singapore</a:t>
            </a:r>
            <a:endParaRPr lang="en-US" sz="2200" dirty="0"/>
          </a:p>
        </p:txBody>
      </p:sp>
      <p:sp>
        <p:nvSpPr>
          <p:cNvPr id="5" name="Shape 2"/>
          <p:cNvSpPr/>
          <p:nvPr/>
        </p:nvSpPr>
        <p:spPr>
          <a:xfrm>
            <a:off x="8257032" y="384048"/>
            <a:ext cx="3474720" cy="429768"/>
          </a:xfrm>
          <a:prstGeom prst="roundRect">
            <a:avLst>
              <a:gd name="adj" fmla="val 50000"/>
            </a:avLst>
          </a:prstGeom>
          <a:solidFill>
            <a:srgbClr val="EAF2EE"/>
          </a:solidFill>
          <a:ln w="12700">
            <a:solidFill>
              <a:srgbClr val="B3542E"/>
            </a:solidFill>
            <a:prstDash val="solid"/>
          </a:ln>
        </p:spPr>
      </p:sp>
      <p:sp>
        <p:nvSpPr>
          <p:cNvPr id="6" name="Text 3"/>
          <p:cNvSpPr txBox="1"/>
          <p:nvPr/>
        </p:nvSpPr>
        <p:spPr>
          <a:xfrm>
            <a:off x="8257032" y="384048"/>
            <a:ext cx="3474720" cy="429768"/>
          </a:xfrm>
          <a:prstGeom prst="rect">
            <a:avLst/>
          </a:prstGeom>
          <a:noFill/>
          <a:ln/>
        </p:spPr>
        <p:txBody>
          <a:bodyPr wrap="square" lIns="0" tIns="0" rIns="0" bIns="0" rtlCol="0" anchor="ctr"/>
          <a:lstStyle/>
          <a:p>
            <a:pPr algn="ctr" indent="0" marL="0">
              <a:buNone/>
            </a:pPr>
            <a:r>
              <a:rPr lang="en-US" sz="1350" b="1" dirty="0">
                <a:solidFill>
                  <a:srgbClr val="B3542E"/>
                </a:solidFill>
                <a:latin typeface="Calibri" pitchFamily="34" charset="0"/>
                <a:ea typeface="Calibri" pitchFamily="34" charset="-122"/>
                <a:cs typeface="Calibri" pitchFamily="34" charset="-120"/>
              </a:rPr>
              <a:t>Flexible positions</a:t>
            </a:r>
            <a:endParaRPr lang="en-US" sz="1350" dirty="0"/>
          </a:p>
        </p:txBody>
      </p:sp>
      <p:sp>
        <p:nvSpPr>
          <p:cNvPr id="7" name="Text 4"/>
          <p:cNvSpPr txBox="1"/>
          <p:nvPr/>
        </p:nvSpPr>
        <p:spPr>
          <a:xfrm>
            <a:off x="7342632" y="850392"/>
            <a:ext cx="4389120" cy="274320"/>
          </a:xfrm>
          <a:prstGeom prst="rect">
            <a:avLst/>
          </a:prstGeom>
          <a:noFill/>
          <a:ln/>
        </p:spPr>
        <p:txBody>
          <a:bodyPr wrap="square" lIns="0" tIns="0" rIns="0" bIns="0" rtlCol="0" anchor="t"/>
          <a:lstStyle/>
          <a:p>
            <a:pPr algn="r" indent="0" marL="0">
              <a:buNone/>
            </a:pPr>
            <a:r>
              <a:rPr lang="en-US" sz="1100" dirty="0">
                <a:solidFill>
                  <a:srgbClr val="24313A"/>
                </a:solidFill>
                <a:latin typeface="Calibri" pitchFamily="34" charset="0"/>
                <a:ea typeface="Calibri" pitchFamily="34" charset="-122"/>
                <a:cs typeface="Calibri" pitchFamily="34" charset="-120"/>
              </a:rPr>
              <a:t>Target: Switchers / Leavers / Retired</a:t>
            </a:r>
            <a:endParaRPr lang="en-US" sz="1100" dirty="0"/>
          </a:p>
        </p:txBody>
      </p:sp>
      <p:sp>
        <p:nvSpPr>
          <p:cNvPr id="8" name="Shape 5"/>
          <p:cNvSpPr/>
          <p:nvPr/>
        </p:nvSpPr>
        <p:spPr>
          <a:xfrm>
            <a:off x="457200" y="1371600"/>
            <a:ext cx="11274552" cy="3858768"/>
          </a:xfrm>
          <a:prstGeom prst="roundRect">
            <a:avLst>
              <a:gd name="adj" fmla="val 2844"/>
            </a:avLst>
          </a:prstGeom>
          <a:solidFill>
            <a:srgbClr val="EAF2EE"/>
          </a:solidFill>
          <a:ln w="12700">
            <a:solidFill>
              <a:srgbClr val="EAF2EE"/>
            </a:solidFill>
            <a:prstDash val="solid"/>
          </a:ln>
        </p:spPr>
      </p:sp>
      <p:sp>
        <p:nvSpPr>
          <p:cNvPr id="9" name="Shape 6"/>
          <p:cNvSpPr/>
          <p:nvPr/>
        </p:nvSpPr>
        <p:spPr>
          <a:xfrm>
            <a:off x="777240" y="1691640"/>
            <a:ext cx="777240" cy="777240"/>
          </a:xfrm>
          <a:prstGeom prst="ellipse">
            <a:avLst/>
          </a:prstGeom>
          <a:solidFill>
            <a:srgbClr val="1F4E46"/>
          </a:solidFill>
          <a:ln w="12700">
            <a:solidFill>
              <a:srgbClr val="1F4E46"/>
            </a:solidFill>
            <a:prstDash val="solid"/>
          </a:ln>
        </p:spPr>
      </p:sp>
      <p:pic>
        <p:nvPicPr>
          <p:cNvPr id="10" name="Image 1" descr="preencoded.png">    </p:cNvPr>
          <p:cNvPicPr>
            <a:picLocks noChangeAspect="1"/>
          </p:cNvPicPr>
          <p:nvPr/>
        </p:nvPicPr>
        <p:blipFill>
          <a:blip r:embed="rId2"/>
          <a:stretch>
            <a:fillRect/>
          </a:stretch>
        </p:blipFill>
        <p:spPr>
          <a:xfrm>
            <a:off x="963778" y="1878178"/>
            <a:ext cx="404165" cy="404165"/>
          </a:xfrm>
          <a:prstGeom prst="rect">
            <a:avLst/>
          </a:prstGeom>
        </p:spPr>
      </p:pic>
      <p:sp>
        <p:nvSpPr>
          <p:cNvPr id="11" name="Text 7"/>
          <p:cNvSpPr txBox="1"/>
          <p:nvPr/>
        </p:nvSpPr>
        <p:spPr>
          <a:xfrm>
            <a:off x="1783080" y="1536192"/>
            <a:ext cx="9738360" cy="868680"/>
          </a:xfrm>
          <a:prstGeom prst="rect">
            <a:avLst/>
          </a:prstGeom>
          <a:noFill/>
          <a:ln/>
        </p:spPr>
        <p:txBody>
          <a:bodyPr wrap="square" lIns="0" tIns="0" rIns="0" bIns="0" rtlCol="0" anchor="t"/>
          <a:lstStyle/>
          <a:p>
            <a:pPr indent="0" marL="0">
              <a:buNone/>
            </a:pPr>
            <a:r>
              <a:rPr lang="en-US" sz="2100" b="1" dirty="0">
                <a:solidFill>
                  <a:srgbClr val="24313A"/>
                </a:solidFill>
                <a:latin typeface="Cambria" pitchFamily="34" charset="0"/>
                <a:ea typeface="Cambria" pitchFamily="34" charset="-122"/>
                <a:cs typeface="Cambria" pitchFamily="34" charset="-120"/>
              </a:rPr>
              <a:t>Flexi-Adjunct Teaching Scheme (Ministry of Education)</a:t>
            </a:r>
            <a:endParaRPr lang="en-US" sz="2100" dirty="0"/>
          </a:p>
        </p:txBody>
      </p:sp>
      <p:sp>
        <p:nvSpPr>
          <p:cNvPr id="12" name="Text 8"/>
          <p:cNvSpPr txBox="1"/>
          <p:nvPr/>
        </p:nvSpPr>
        <p:spPr>
          <a:xfrm>
            <a:off x="1783080" y="2395728"/>
            <a:ext cx="9738360" cy="2450592"/>
          </a:xfrm>
          <a:prstGeom prst="rect">
            <a:avLst/>
          </a:prstGeom>
          <a:noFill/>
          <a:ln/>
        </p:spPr>
        <p:txBody>
          <a:bodyPr wrap="square" lIns="0" tIns="0" rIns="0" bIns="0" rtlCol="0" anchor="t"/>
          <a:lstStyle/>
          <a:p>
            <a:pPr indent="0" marL="0">
              <a:lnSpc>
                <a:spcPct val="106000"/>
              </a:lnSpc>
              <a:buNone/>
            </a:pPr>
            <a:r>
              <a:rPr lang="en-US" sz="1500" dirty="0">
                <a:solidFill>
                  <a:srgbClr val="24313A"/>
                </a:solidFill>
                <a:latin typeface="Calibri" pitchFamily="34" charset="0"/>
                <a:ea typeface="Calibri" pitchFamily="34" charset="-122"/>
                <a:cs typeface="Calibri" pitchFamily="34" charset="-120"/>
              </a:rPr>
              <a:t>Singapore's Ministry of Education keeps a register of former teachers whom schools can call on for short and flexible periods of work. Any trained ex-teacher, including retirees, who holds a teaching diploma from the National Institute of Education can register through the ministry's relief-employment portal; schools then contact them directly for appointments lasting from a single day to ten weeks, either for teaching only or for a mix of teaching and other duties agreed with the school. They are paid a daily rate and earn pro-rated leave after ninety days of cumulative service. A companion scheme offers former teachers contracts of one year to eighteen months. The ministry told Parliament in 2025 that between 2022 and 2024 about 220 teachers a year had joined the scheme within twelve months of leaving the service.</a:t>
            </a:r>
            <a:endParaRPr lang="en-US" sz="1500" dirty="0"/>
          </a:p>
        </p:txBody>
      </p:sp>
      <p:sp>
        <p:nvSpPr>
          <p:cNvPr id="13" name="Text 9"/>
          <p:cNvSpPr txBox="1"/>
          <p:nvPr/>
        </p:nvSpPr>
        <p:spPr>
          <a:xfrm>
            <a:off x="1783080" y="4864608"/>
            <a:ext cx="9738360" cy="274320"/>
          </a:xfrm>
          <a:prstGeom prst="rect">
            <a:avLst/>
          </a:prstGeom>
          <a:noFill/>
          <a:ln/>
        </p:spPr>
        <p:txBody>
          <a:bodyPr wrap="square" lIns="0" tIns="0" rIns="0" bIns="0" rtlCol="0" anchor="ctr"/>
          <a:lstStyle/>
          <a:p>
            <a:pPr indent="0" marL="0">
              <a:buNone/>
            </a:pPr>
            <a:r>
              <a:rPr lang="en-US" sz="1150" b="1" dirty="0">
                <a:solidFill>
                  <a:srgbClr val="24313A"/>
                </a:solidFill>
                <a:latin typeface="Calibri" pitchFamily="34" charset="0"/>
                <a:ea typeface="Calibri" pitchFamily="34" charset="-122"/>
                <a:cs typeface="Calibri" pitchFamily="34" charset="-120"/>
              </a:rPr>
              <a:t>Secondary instruments: </a:t>
            </a:r>
            <a:pPr indent="0" marL="0">
              <a:buNone/>
            </a:pPr>
            <a:r>
              <a:rPr lang="en-US" sz="1150" dirty="0">
                <a:solidFill>
                  <a:srgbClr val="24313A"/>
                </a:solidFill>
                <a:latin typeface="Calibri" pitchFamily="34" charset="0"/>
                <a:ea typeface="Calibri" pitchFamily="34" charset="-122"/>
                <a:cs typeface="Calibri" pitchFamily="34" charset="-120"/>
              </a:rPr>
              <a:t>none (single-instrument policy)</a:t>
            </a:r>
            <a:endParaRPr lang="en-US" sz="1150" dirty="0"/>
          </a:p>
        </p:txBody>
      </p:sp>
      <p:sp>
        <p:nvSpPr>
          <p:cNvPr id="14" name="Text 10"/>
          <p:cNvSpPr txBox="1"/>
          <p:nvPr/>
        </p:nvSpPr>
        <p:spPr>
          <a:xfrm>
            <a:off x="457200" y="5413248"/>
            <a:ext cx="11274552" cy="868680"/>
          </a:xfrm>
          <a:prstGeom prst="rect">
            <a:avLst/>
          </a:prstGeom>
          <a:noFill/>
          <a:ln/>
        </p:spPr>
        <p:txBody>
          <a:bodyPr wrap="square" lIns="0" tIns="0" rIns="0" bIns="0" rtlCol="0" anchor="t"/>
          <a:lstStyle/>
          <a:p>
            <a:pPr indent="0" marL="0">
              <a:buNone/>
            </a:pPr>
            <a:r>
              <a:rPr lang="en-US" sz="1000" b="1" dirty="0">
                <a:solidFill>
                  <a:srgbClr val="24313A"/>
                </a:solidFill>
                <a:latin typeface="Calibri" pitchFamily="34" charset="0"/>
                <a:ea typeface="Calibri" pitchFamily="34" charset="-122"/>
                <a:cs typeface="Calibri" pitchFamily="34" charset="-120"/>
              </a:rPr>
              <a:t>Source: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3" invalidUrl="" action="" tgtFrame="" tooltip="https://www.moe.gov.sg/careers/adjunct-and-relief-schemes/flexi-adjunct-teaching-scheme" history="1" highlightClick="0" endSnd="0">
                  <a:extLst>
                    <a:ext uri="{A12FA001-AC4F-418D-AE19-62706E023703}">
                      <ahyp:hlinkClr xmlns:ahyp="http://schemas.microsoft.com/office/drawing/2018/hyperlinkcolor" val="tx"/>
                    </a:ext>
                  </a:extLst>
                </a:hlinkClick>
              </a:rPr>
              <a:t>https://www.moe.gov.sg/careers/adjunct-and-relief-schemes/flexi-adjunct-teaching-scheme</a:t>
            </a:r>
            <a:endParaRPr lang="en-US" sz="1000" dirty="0"/>
          </a:p>
          <a:p>
            <a:pPr indent="0" marL="0">
              <a:buNone/>
            </a:pPr>
            <a:r>
              <a:rPr lang="en-US" sz="1000" b="1" dirty="0">
                <a:solidFill>
                  <a:srgbClr val="24313A"/>
                </a:solidFill>
                <a:latin typeface="Calibri" pitchFamily="34" charset="0"/>
                <a:ea typeface="Calibri" pitchFamily="34" charset="-122"/>
                <a:cs typeface="Calibri" pitchFamily="34" charset="-120"/>
              </a:rPr>
              <a:t>Source (see also):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4" invalidUrl="" action="" tgtFrame="" tooltip="https://www.moe.gov.sg/news/parliamentary-replies/20250923-statistics-on-teachers-who-joined-flexi-adjunct-teaching-scheme-and-median-duration-of-teachers-on-scheme" history="1" highlightClick="0" endSnd="0">
                  <a:extLst>
                    <a:ext uri="{A12FA001-AC4F-418D-AE19-62706E023703}">
                      <ahyp:hlinkClr xmlns:ahyp="http://schemas.microsoft.com/office/drawing/2018/hyperlinkcolor" val="tx"/>
                    </a:ext>
                  </a:extLst>
                </a:hlinkClick>
              </a:rPr>
              <a:t>https://www.moe.gov.sg/news/parliamentary-replies/20250923-statistics-on-teachers-who-joined-flexi-adjunct-teaching-scheme-and-median-duration-of-teachers-on-scheme</a:t>
            </a:r>
            <a:endParaRPr lang="en-US" sz="1000" dirty="0"/>
          </a:p>
        </p:txBody>
      </p:sp>
      <p:sp>
        <p:nvSpPr>
          <p:cNvPr id="15" name="Text 11"/>
          <p:cNvSpPr txBox="1"/>
          <p:nvPr/>
        </p:nvSpPr>
        <p:spPr>
          <a:xfrm>
            <a:off x="11185855" y="6473952"/>
            <a:ext cx="548640" cy="274320"/>
          </a:xfrm>
          <a:prstGeom prst="rect">
            <a:avLst/>
          </a:prstGeom>
          <a:noFill/>
          <a:ln/>
        </p:spPr>
        <p:txBody>
          <a:bodyPr wrap="square" lIns="0" tIns="0" rIns="0" bIns="0" rtlCol="0" anchor="ctr"/>
          <a:lstStyle/>
          <a:p>
            <a:pPr algn="r" indent="0" marL="0">
              <a:buNone/>
            </a:pPr>
            <a:r>
              <a:rPr lang="en-US" sz="900" dirty="0">
                <a:solidFill>
                  <a:srgbClr val="24313A"/>
                </a:solidFill>
                <a:latin typeface="Calibri" pitchFamily="34" charset="0"/>
                <a:ea typeface="Calibri" pitchFamily="34" charset="-122"/>
                <a:cs typeface="Calibri"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384048"/>
            <a:ext cx="960120" cy="720090"/>
          </a:xfrm>
          <a:prstGeom prst="rect">
            <a:avLst/>
          </a:prstGeom>
        </p:spPr>
      </p:pic>
      <p:sp>
        <p:nvSpPr>
          <p:cNvPr id="3" name="Shape 0"/>
          <p:cNvSpPr/>
          <p:nvPr/>
        </p:nvSpPr>
        <p:spPr>
          <a:xfrm>
            <a:off x="457200" y="384048"/>
            <a:ext cx="960120" cy="720090"/>
          </a:xfrm>
          <a:prstGeom prst="rect">
            <a:avLst/>
          </a:prstGeom>
          <a:ln w="9525">
            <a:solidFill>
              <a:srgbClr val="CFDCD5"/>
            </a:solidFill>
            <a:prstDash val="solid"/>
          </a:ln>
        </p:spPr>
      </p:sp>
      <p:sp>
        <p:nvSpPr>
          <p:cNvPr id="4" name="Text 1"/>
          <p:cNvSpPr txBox="1"/>
          <p:nvPr/>
        </p:nvSpPr>
        <p:spPr>
          <a:xfrm>
            <a:off x="1600200" y="329184"/>
            <a:ext cx="621792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Sweden</a:t>
            </a:r>
            <a:endParaRPr lang="en-US" sz="2200" dirty="0"/>
          </a:p>
        </p:txBody>
      </p:sp>
      <p:sp>
        <p:nvSpPr>
          <p:cNvPr id="5" name="Shape 2"/>
          <p:cNvSpPr/>
          <p:nvPr/>
        </p:nvSpPr>
        <p:spPr>
          <a:xfrm>
            <a:off x="8257032" y="384048"/>
            <a:ext cx="3474720" cy="429768"/>
          </a:xfrm>
          <a:prstGeom prst="roundRect">
            <a:avLst>
              <a:gd name="adj" fmla="val 50000"/>
            </a:avLst>
          </a:prstGeom>
          <a:solidFill>
            <a:srgbClr val="EAF2EE"/>
          </a:solidFill>
          <a:ln w="12700">
            <a:solidFill>
              <a:srgbClr val="B3542E"/>
            </a:solidFill>
            <a:prstDash val="solid"/>
          </a:ln>
        </p:spPr>
      </p:sp>
      <p:sp>
        <p:nvSpPr>
          <p:cNvPr id="6" name="Text 3"/>
          <p:cNvSpPr txBox="1"/>
          <p:nvPr/>
        </p:nvSpPr>
        <p:spPr>
          <a:xfrm>
            <a:off x="8257032" y="384048"/>
            <a:ext cx="3474720" cy="429768"/>
          </a:xfrm>
          <a:prstGeom prst="rect">
            <a:avLst/>
          </a:prstGeom>
          <a:noFill/>
          <a:ln/>
        </p:spPr>
        <p:txBody>
          <a:bodyPr wrap="square" lIns="0" tIns="0" rIns="0" bIns="0" rtlCol="0" anchor="ctr"/>
          <a:lstStyle/>
          <a:p>
            <a:pPr algn="ctr" indent="0" marL="0">
              <a:buNone/>
            </a:pPr>
            <a:r>
              <a:rPr lang="en-US" sz="1350" b="1" dirty="0">
                <a:solidFill>
                  <a:srgbClr val="B3542E"/>
                </a:solidFill>
                <a:latin typeface="Calibri" pitchFamily="34" charset="0"/>
                <a:ea typeface="Calibri" pitchFamily="34" charset="-122"/>
                <a:cs typeface="Calibri" pitchFamily="34" charset="-120"/>
              </a:rPr>
              <a:t>Support &amp; training</a:t>
            </a:r>
            <a:endParaRPr lang="en-US" sz="1350" dirty="0"/>
          </a:p>
        </p:txBody>
      </p:sp>
      <p:sp>
        <p:nvSpPr>
          <p:cNvPr id="7" name="Text 4"/>
          <p:cNvSpPr txBox="1"/>
          <p:nvPr/>
        </p:nvSpPr>
        <p:spPr>
          <a:xfrm>
            <a:off x="7342632" y="850392"/>
            <a:ext cx="4389120" cy="274320"/>
          </a:xfrm>
          <a:prstGeom prst="rect">
            <a:avLst/>
          </a:prstGeom>
          <a:noFill/>
          <a:ln/>
        </p:spPr>
        <p:txBody>
          <a:bodyPr wrap="square" lIns="0" tIns="0" rIns="0" bIns="0" rtlCol="0" anchor="t"/>
          <a:lstStyle/>
          <a:p>
            <a:pPr algn="r" indent="0" marL="0">
              <a:buNone/>
            </a:pPr>
            <a:r>
              <a:rPr lang="en-US" sz="1100" dirty="0">
                <a:solidFill>
                  <a:srgbClr val="24313A"/>
                </a:solidFill>
                <a:latin typeface="Calibri" pitchFamily="34" charset="0"/>
                <a:ea typeface="Calibri" pitchFamily="34" charset="-122"/>
                <a:cs typeface="Calibri" pitchFamily="34" charset="-120"/>
              </a:rPr>
              <a:t>Target: Switchers / Leavers</a:t>
            </a:r>
            <a:endParaRPr lang="en-US" sz="1100" dirty="0"/>
          </a:p>
        </p:txBody>
      </p:sp>
      <p:sp>
        <p:nvSpPr>
          <p:cNvPr id="8" name="Shape 5"/>
          <p:cNvSpPr/>
          <p:nvPr/>
        </p:nvSpPr>
        <p:spPr>
          <a:xfrm>
            <a:off x="457200" y="1371600"/>
            <a:ext cx="11274552" cy="3858768"/>
          </a:xfrm>
          <a:prstGeom prst="roundRect">
            <a:avLst>
              <a:gd name="adj" fmla="val 2844"/>
            </a:avLst>
          </a:prstGeom>
          <a:solidFill>
            <a:srgbClr val="EAF2EE"/>
          </a:solidFill>
          <a:ln w="12700">
            <a:solidFill>
              <a:srgbClr val="EAF2EE"/>
            </a:solidFill>
            <a:prstDash val="solid"/>
          </a:ln>
        </p:spPr>
      </p:sp>
      <p:sp>
        <p:nvSpPr>
          <p:cNvPr id="9" name="Shape 6"/>
          <p:cNvSpPr/>
          <p:nvPr/>
        </p:nvSpPr>
        <p:spPr>
          <a:xfrm>
            <a:off x="777240" y="1691640"/>
            <a:ext cx="777240" cy="777240"/>
          </a:xfrm>
          <a:prstGeom prst="ellipse">
            <a:avLst/>
          </a:prstGeom>
          <a:solidFill>
            <a:srgbClr val="1F4E46"/>
          </a:solidFill>
          <a:ln w="12700">
            <a:solidFill>
              <a:srgbClr val="1F4E46"/>
            </a:solidFill>
            <a:prstDash val="solid"/>
          </a:ln>
        </p:spPr>
      </p:sp>
      <p:pic>
        <p:nvPicPr>
          <p:cNvPr id="10" name="Image 1" descr="preencoded.png">    </p:cNvPr>
          <p:cNvPicPr>
            <a:picLocks noChangeAspect="1"/>
          </p:cNvPicPr>
          <p:nvPr/>
        </p:nvPicPr>
        <p:blipFill>
          <a:blip r:embed="rId2"/>
          <a:stretch>
            <a:fillRect/>
          </a:stretch>
        </p:blipFill>
        <p:spPr>
          <a:xfrm>
            <a:off x="963778" y="1878178"/>
            <a:ext cx="404165" cy="404165"/>
          </a:xfrm>
          <a:prstGeom prst="rect">
            <a:avLst/>
          </a:prstGeom>
        </p:spPr>
      </p:pic>
      <p:sp>
        <p:nvSpPr>
          <p:cNvPr id="11" name="Text 7"/>
          <p:cNvSpPr txBox="1"/>
          <p:nvPr/>
        </p:nvSpPr>
        <p:spPr>
          <a:xfrm>
            <a:off x="1783080" y="1536192"/>
            <a:ext cx="9738360" cy="868680"/>
          </a:xfrm>
          <a:prstGeom prst="rect">
            <a:avLst/>
          </a:prstGeom>
          <a:noFill/>
          <a:ln/>
        </p:spPr>
        <p:txBody>
          <a:bodyPr wrap="square" lIns="0" tIns="0" rIns="0" bIns="0" rtlCol="0" anchor="t"/>
          <a:lstStyle/>
          <a:p>
            <a:pPr indent="0" marL="0">
              <a:buNone/>
            </a:pPr>
            <a:r>
              <a:rPr lang="en-US" sz="2100" b="1" dirty="0">
                <a:solidFill>
                  <a:srgbClr val="24313A"/>
                </a:solidFill>
                <a:latin typeface="Cambria" pitchFamily="34" charset="0"/>
                <a:ea typeface="Cambria" pitchFamily="34" charset="-122"/>
                <a:cs typeface="Cambria" pitchFamily="34" charset="-120"/>
              </a:rPr>
              <a:t>Skolverket web-based training for returning teachers and preschool teachers (since 2018)</a:t>
            </a:r>
            <a:endParaRPr lang="en-US" sz="2100" dirty="0"/>
          </a:p>
        </p:txBody>
      </p:sp>
      <p:sp>
        <p:nvSpPr>
          <p:cNvPr id="12" name="Text 8"/>
          <p:cNvSpPr txBox="1"/>
          <p:nvPr/>
        </p:nvSpPr>
        <p:spPr>
          <a:xfrm>
            <a:off x="1783080" y="2395728"/>
            <a:ext cx="9738360" cy="2450592"/>
          </a:xfrm>
          <a:prstGeom prst="rect">
            <a:avLst/>
          </a:prstGeom>
          <a:noFill/>
          <a:ln/>
        </p:spPr>
        <p:txBody>
          <a:bodyPr wrap="square" lIns="0" tIns="0" rIns="0" bIns="0" rtlCol="0" anchor="t"/>
          <a:lstStyle/>
          <a:p>
            <a:pPr indent="0" marL="0">
              <a:lnSpc>
                <a:spcPct val="106000"/>
              </a:lnSpc>
              <a:buNone/>
            </a:pPr>
            <a:r>
              <a:rPr lang="en-US" sz="1500" dirty="0">
                <a:solidFill>
                  <a:srgbClr val="24313A"/>
                </a:solidFill>
                <a:latin typeface="Calibri" pitchFamily="34" charset="0"/>
                <a:ea typeface="Calibri" pitchFamily="34" charset="-122"/>
                <a:cs typeface="Calibri" pitchFamily="34" charset="-120"/>
              </a:rPr>
              <a:t>Sweden's National Agency for Education, Skolverket, runs an online refresher course for qualified teachers and preschool teachers who want to return to the profession after working elsewhere. It was built at the request of the Government and has been available on the agency's learning platform since October 2018. A returner logs in, chooses the track for schools or for preschools, and takes only the modules they need, in any order. The modules bring them up to date on the curricula, laws and official guidelines that changed while they were away, and a certificate is issued for each module completed. The course is open to anyone holding a Swedish teaching licence or a qualifying degree, and its purpose is to lower the threshold for the many trained teachers now working outside schools to come back.</a:t>
            </a:r>
            <a:endParaRPr lang="en-US" sz="1500" dirty="0"/>
          </a:p>
        </p:txBody>
      </p:sp>
      <p:sp>
        <p:nvSpPr>
          <p:cNvPr id="13" name="Text 9"/>
          <p:cNvSpPr txBox="1"/>
          <p:nvPr/>
        </p:nvSpPr>
        <p:spPr>
          <a:xfrm>
            <a:off x="1783080" y="4864608"/>
            <a:ext cx="9738360" cy="274320"/>
          </a:xfrm>
          <a:prstGeom prst="rect">
            <a:avLst/>
          </a:prstGeom>
          <a:noFill/>
          <a:ln/>
        </p:spPr>
        <p:txBody>
          <a:bodyPr wrap="square" lIns="0" tIns="0" rIns="0" bIns="0" rtlCol="0" anchor="ctr"/>
          <a:lstStyle/>
          <a:p>
            <a:pPr indent="0" marL="0">
              <a:buNone/>
            </a:pPr>
            <a:r>
              <a:rPr lang="en-US" sz="1150" b="1" dirty="0">
                <a:solidFill>
                  <a:srgbClr val="24313A"/>
                </a:solidFill>
                <a:latin typeface="Calibri" pitchFamily="34" charset="0"/>
                <a:ea typeface="Calibri" pitchFamily="34" charset="-122"/>
                <a:cs typeface="Calibri" pitchFamily="34" charset="-120"/>
              </a:rPr>
              <a:t>Secondary instruments: </a:t>
            </a:r>
            <a:pPr indent="0" marL="0">
              <a:buNone/>
            </a:pPr>
            <a:r>
              <a:rPr lang="en-US" sz="1150" dirty="0">
                <a:solidFill>
                  <a:srgbClr val="24313A"/>
                </a:solidFill>
                <a:latin typeface="Calibri" pitchFamily="34" charset="0"/>
                <a:ea typeface="Calibri" pitchFamily="34" charset="-122"/>
                <a:cs typeface="Calibri" pitchFamily="34" charset="-120"/>
              </a:rPr>
              <a:t>none (single-instrument policy)</a:t>
            </a:r>
            <a:endParaRPr lang="en-US" sz="1150" dirty="0"/>
          </a:p>
        </p:txBody>
      </p:sp>
      <p:sp>
        <p:nvSpPr>
          <p:cNvPr id="14" name="Text 10"/>
          <p:cNvSpPr txBox="1"/>
          <p:nvPr/>
        </p:nvSpPr>
        <p:spPr>
          <a:xfrm>
            <a:off x="457200" y="5413248"/>
            <a:ext cx="11274552" cy="868680"/>
          </a:xfrm>
          <a:prstGeom prst="rect">
            <a:avLst/>
          </a:prstGeom>
          <a:noFill/>
          <a:ln/>
        </p:spPr>
        <p:txBody>
          <a:bodyPr wrap="square" lIns="0" tIns="0" rIns="0" bIns="0" rtlCol="0" anchor="t"/>
          <a:lstStyle/>
          <a:p>
            <a:pPr indent="0" marL="0">
              <a:buNone/>
            </a:pPr>
            <a:r>
              <a:rPr lang="en-US" sz="1000" b="1" dirty="0">
                <a:solidFill>
                  <a:srgbClr val="24313A"/>
                </a:solidFill>
                <a:latin typeface="Calibri" pitchFamily="34" charset="0"/>
                <a:ea typeface="Calibri" pitchFamily="34" charset="-122"/>
                <a:cs typeface="Calibri" pitchFamily="34" charset="-120"/>
              </a:rPr>
              <a:t>Source: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3" invalidUrl="" action="" tgtFrame="" tooltip="https://www.skolverket.se/skolutveckling/kurser-och-utbildningar/atervandande-larare-och-forskollarare---webbaserad-utbildning" history="1" highlightClick="0" endSnd="0">
                  <a:extLst>
                    <a:ext uri="{A12FA001-AC4F-418D-AE19-62706E023703}">
                      <ahyp:hlinkClr xmlns:ahyp="http://schemas.microsoft.com/office/drawing/2018/hyperlinkcolor" val="tx"/>
                    </a:ext>
                  </a:extLst>
                </a:hlinkClick>
              </a:rPr>
              <a:t>https://www.skolverket.se/skolutveckling/kurser-och-utbildningar/atervandande-larare-och-forskollarare---webbaserad-utbildning</a:t>
            </a:r>
            <a:endParaRPr lang="en-US" sz="1000" dirty="0"/>
          </a:p>
          <a:p>
            <a:pPr indent="0" marL="0">
              <a:buNone/>
            </a:pPr>
            <a:r>
              <a:rPr lang="en-US" sz="1000" b="1" dirty="0">
                <a:solidFill>
                  <a:srgbClr val="24313A"/>
                </a:solidFill>
                <a:latin typeface="Calibri" pitchFamily="34" charset="0"/>
                <a:ea typeface="Calibri" pitchFamily="34" charset="-122"/>
                <a:cs typeface="Calibri" pitchFamily="34" charset="-120"/>
              </a:rPr>
              <a:t>Source (see also):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4" invalidUrl="" action="" tgtFrame="" tooltip="https://www.skolverket.se/publikationsserier/regeringsuppdrag/2020/uppdrag-om-en-webbutbildning-for-atervandande-larare-och-forskollarare" history="1" highlightClick="0" endSnd="0">
                  <a:extLst>
                    <a:ext uri="{A12FA001-AC4F-418D-AE19-62706E023703}">
                      <ahyp:hlinkClr xmlns:ahyp="http://schemas.microsoft.com/office/drawing/2018/hyperlinkcolor" val="tx"/>
                    </a:ext>
                  </a:extLst>
                </a:hlinkClick>
              </a:rPr>
              <a:t>https://www.skolverket.se/publikationsserier/regeringsuppdrag/2020/uppdrag-om-en-webbutbildning-for-atervandande-larare-och-forskollarare</a:t>
            </a:r>
            <a:endParaRPr lang="en-US" sz="1000" dirty="0"/>
          </a:p>
        </p:txBody>
      </p:sp>
      <p:sp>
        <p:nvSpPr>
          <p:cNvPr id="15" name="Text 11"/>
          <p:cNvSpPr txBox="1"/>
          <p:nvPr/>
        </p:nvSpPr>
        <p:spPr>
          <a:xfrm>
            <a:off x="11185855" y="6473952"/>
            <a:ext cx="548640" cy="274320"/>
          </a:xfrm>
          <a:prstGeom prst="rect">
            <a:avLst/>
          </a:prstGeom>
          <a:noFill/>
          <a:ln/>
        </p:spPr>
        <p:txBody>
          <a:bodyPr wrap="square" lIns="0" tIns="0" rIns="0" bIns="0" rtlCol="0" anchor="ctr"/>
          <a:lstStyle/>
          <a:p>
            <a:pPr algn="r" indent="0" marL="0">
              <a:buNone/>
            </a:pPr>
            <a:r>
              <a:rPr lang="en-US" sz="900" dirty="0">
                <a:solidFill>
                  <a:srgbClr val="24313A"/>
                </a:solidFill>
                <a:latin typeface="Calibri" pitchFamily="34" charset="0"/>
                <a:ea typeface="Calibri" pitchFamily="34" charset="-122"/>
                <a:cs typeface="Calibri"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384048"/>
            <a:ext cx="960120" cy="720090"/>
          </a:xfrm>
          <a:prstGeom prst="rect">
            <a:avLst/>
          </a:prstGeom>
        </p:spPr>
      </p:pic>
      <p:sp>
        <p:nvSpPr>
          <p:cNvPr id="3" name="Shape 0"/>
          <p:cNvSpPr/>
          <p:nvPr/>
        </p:nvSpPr>
        <p:spPr>
          <a:xfrm>
            <a:off x="457200" y="384048"/>
            <a:ext cx="960120" cy="720090"/>
          </a:xfrm>
          <a:prstGeom prst="rect">
            <a:avLst/>
          </a:prstGeom>
          <a:ln w="9525">
            <a:solidFill>
              <a:srgbClr val="CFDCD5"/>
            </a:solidFill>
            <a:prstDash val="solid"/>
          </a:ln>
        </p:spPr>
      </p:sp>
      <p:sp>
        <p:nvSpPr>
          <p:cNvPr id="4" name="Text 1"/>
          <p:cNvSpPr txBox="1"/>
          <p:nvPr/>
        </p:nvSpPr>
        <p:spPr>
          <a:xfrm>
            <a:off x="1600200" y="329184"/>
            <a:ext cx="621792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Switzerland</a:t>
            </a:r>
            <a:endParaRPr lang="en-US" sz="2200" dirty="0"/>
          </a:p>
        </p:txBody>
      </p:sp>
      <p:sp>
        <p:nvSpPr>
          <p:cNvPr id="5" name="Text 2"/>
          <p:cNvSpPr txBox="1"/>
          <p:nvPr/>
        </p:nvSpPr>
        <p:spPr>
          <a:xfrm>
            <a:off x="1600200" y="786384"/>
            <a:ext cx="6217920" cy="310896"/>
          </a:xfrm>
          <a:prstGeom prst="rect">
            <a:avLst/>
          </a:prstGeom>
          <a:noFill/>
          <a:ln/>
        </p:spPr>
        <p:txBody>
          <a:bodyPr wrap="square" lIns="0" tIns="0" rIns="0" bIns="0" rtlCol="0" anchor="t"/>
          <a:lstStyle/>
          <a:p>
            <a:pPr indent="0" marL="0">
              <a:buNone/>
            </a:pPr>
            <a:r>
              <a:rPr lang="en-US" sz="1300" dirty="0">
                <a:solidFill>
                  <a:srgbClr val="24313A"/>
                </a:solidFill>
                <a:latin typeface="Calibri" pitchFamily="34" charset="0"/>
                <a:ea typeface="Calibri" pitchFamily="34" charset="-122"/>
                <a:cs typeface="Calibri" pitchFamily="34" charset="-120"/>
              </a:rPr>
              <a:t>Canton of Zurich</a:t>
            </a:r>
            <a:endParaRPr lang="en-US" sz="1300" dirty="0"/>
          </a:p>
        </p:txBody>
      </p:sp>
      <p:sp>
        <p:nvSpPr>
          <p:cNvPr id="6" name="Shape 3"/>
          <p:cNvSpPr/>
          <p:nvPr/>
        </p:nvSpPr>
        <p:spPr>
          <a:xfrm>
            <a:off x="8257032" y="384048"/>
            <a:ext cx="3474720" cy="429768"/>
          </a:xfrm>
          <a:prstGeom prst="roundRect">
            <a:avLst>
              <a:gd name="adj" fmla="val 50000"/>
            </a:avLst>
          </a:prstGeom>
          <a:solidFill>
            <a:srgbClr val="EAF2EE"/>
          </a:solidFill>
          <a:ln w="12700">
            <a:solidFill>
              <a:srgbClr val="B3542E"/>
            </a:solidFill>
            <a:prstDash val="solid"/>
          </a:ln>
        </p:spPr>
      </p:sp>
      <p:sp>
        <p:nvSpPr>
          <p:cNvPr id="7" name="Text 4"/>
          <p:cNvSpPr txBox="1"/>
          <p:nvPr/>
        </p:nvSpPr>
        <p:spPr>
          <a:xfrm>
            <a:off x="8257032" y="384048"/>
            <a:ext cx="3474720" cy="429768"/>
          </a:xfrm>
          <a:prstGeom prst="rect">
            <a:avLst/>
          </a:prstGeom>
          <a:noFill/>
          <a:ln/>
        </p:spPr>
        <p:txBody>
          <a:bodyPr wrap="square" lIns="0" tIns="0" rIns="0" bIns="0" rtlCol="0" anchor="ctr"/>
          <a:lstStyle/>
          <a:p>
            <a:pPr algn="ctr" indent="0" marL="0">
              <a:buNone/>
            </a:pPr>
            <a:r>
              <a:rPr lang="en-US" sz="1350" b="1" dirty="0">
                <a:solidFill>
                  <a:srgbClr val="B3542E"/>
                </a:solidFill>
                <a:latin typeface="Calibri" pitchFamily="34" charset="0"/>
                <a:ea typeface="Calibri" pitchFamily="34" charset="-122"/>
                <a:cs typeface="Calibri" pitchFamily="34" charset="-120"/>
              </a:rPr>
              <a:t>Support &amp; training</a:t>
            </a:r>
            <a:endParaRPr lang="en-US" sz="1350" dirty="0"/>
          </a:p>
        </p:txBody>
      </p:sp>
      <p:sp>
        <p:nvSpPr>
          <p:cNvPr id="8" name="Text 5"/>
          <p:cNvSpPr txBox="1"/>
          <p:nvPr/>
        </p:nvSpPr>
        <p:spPr>
          <a:xfrm>
            <a:off x="7342632" y="850392"/>
            <a:ext cx="4389120" cy="274320"/>
          </a:xfrm>
          <a:prstGeom prst="rect">
            <a:avLst/>
          </a:prstGeom>
          <a:noFill/>
          <a:ln/>
        </p:spPr>
        <p:txBody>
          <a:bodyPr wrap="square" lIns="0" tIns="0" rIns="0" bIns="0" rtlCol="0" anchor="t"/>
          <a:lstStyle/>
          <a:p>
            <a:pPr algn="r" indent="0" marL="0">
              <a:buNone/>
            </a:pPr>
            <a:r>
              <a:rPr lang="en-US" sz="1100" dirty="0">
                <a:solidFill>
                  <a:srgbClr val="24313A"/>
                </a:solidFill>
                <a:latin typeface="Calibri" pitchFamily="34" charset="0"/>
                <a:ea typeface="Calibri" pitchFamily="34" charset="-122"/>
                <a:cs typeface="Calibri" pitchFamily="34" charset="-120"/>
              </a:rPr>
              <a:t>Target: Switchers / Leavers</a:t>
            </a:r>
            <a:endParaRPr lang="en-US" sz="1100" dirty="0"/>
          </a:p>
        </p:txBody>
      </p:sp>
      <p:sp>
        <p:nvSpPr>
          <p:cNvPr id="9" name="Shape 6"/>
          <p:cNvSpPr/>
          <p:nvPr/>
        </p:nvSpPr>
        <p:spPr>
          <a:xfrm>
            <a:off x="457200" y="1371600"/>
            <a:ext cx="11274552" cy="3858768"/>
          </a:xfrm>
          <a:prstGeom prst="roundRect">
            <a:avLst>
              <a:gd name="adj" fmla="val 2844"/>
            </a:avLst>
          </a:prstGeom>
          <a:solidFill>
            <a:srgbClr val="EAF2EE"/>
          </a:solidFill>
          <a:ln w="12700">
            <a:solidFill>
              <a:srgbClr val="EAF2EE"/>
            </a:solidFill>
            <a:prstDash val="solid"/>
          </a:ln>
        </p:spPr>
      </p:sp>
      <p:sp>
        <p:nvSpPr>
          <p:cNvPr id="10" name="Shape 7"/>
          <p:cNvSpPr/>
          <p:nvPr/>
        </p:nvSpPr>
        <p:spPr>
          <a:xfrm>
            <a:off x="777240" y="1691640"/>
            <a:ext cx="777240" cy="777240"/>
          </a:xfrm>
          <a:prstGeom prst="ellipse">
            <a:avLst/>
          </a:prstGeom>
          <a:solidFill>
            <a:srgbClr val="1F4E46"/>
          </a:solidFill>
          <a:ln w="12700">
            <a:solidFill>
              <a:srgbClr val="1F4E46"/>
            </a:solidFill>
            <a:prstDash val="solid"/>
          </a:ln>
        </p:spPr>
      </p:sp>
      <p:pic>
        <p:nvPicPr>
          <p:cNvPr id="11" name="Image 1" descr="preencoded.png">    </p:cNvPr>
          <p:cNvPicPr>
            <a:picLocks noChangeAspect="1"/>
          </p:cNvPicPr>
          <p:nvPr/>
        </p:nvPicPr>
        <p:blipFill>
          <a:blip r:embed="rId2"/>
          <a:stretch>
            <a:fillRect/>
          </a:stretch>
        </p:blipFill>
        <p:spPr>
          <a:xfrm>
            <a:off x="963778" y="1878178"/>
            <a:ext cx="404165" cy="404165"/>
          </a:xfrm>
          <a:prstGeom prst="rect">
            <a:avLst/>
          </a:prstGeom>
        </p:spPr>
      </p:pic>
      <p:sp>
        <p:nvSpPr>
          <p:cNvPr id="12" name="Text 8"/>
          <p:cNvSpPr txBox="1"/>
          <p:nvPr/>
        </p:nvSpPr>
        <p:spPr>
          <a:xfrm>
            <a:off x="1783080" y="1536192"/>
            <a:ext cx="9738360" cy="868680"/>
          </a:xfrm>
          <a:prstGeom prst="rect">
            <a:avLst/>
          </a:prstGeom>
          <a:noFill/>
          <a:ln/>
        </p:spPr>
        <p:txBody>
          <a:bodyPr wrap="square" lIns="0" tIns="0" rIns="0" bIns="0" rtlCol="0" anchor="t"/>
          <a:lstStyle/>
          <a:p>
            <a:pPr indent="0" marL="0">
              <a:buNone/>
            </a:pPr>
            <a:r>
              <a:rPr lang="en-US" sz="2100" b="1" dirty="0">
                <a:solidFill>
                  <a:srgbClr val="24313A"/>
                </a:solidFill>
                <a:latin typeface="Cambria" pitchFamily="34" charset="0"/>
                <a:ea typeface="Cambria" pitchFamily="34" charset="-122"/>
                <a:cs typeface="Cambria" pitchFamily="34" charset="-120"/>
              </a:rPr>
              <a:t>Re-entry counselling and induction for returning teachers (Zurich University of Teacher Education)</a:t>
            </a:r>
            <a:endParaRPr lang="en-US" sz="2100" dirty="0"/>
          </a:p>
        </p:txBody>
      </p:sp>
      <p:sp>
        <p:nvSpPr>
          <p:cNvPr id="13" name="Text 9"/>
          <p:cNvSpPr txBox="1"/>
          <p:nvPr/>
        </p:nvSpPr>
        <p:spPr>
          <a:xfrm>
            <a:off x="1783080" y="2395728"/>
            <a:ext cx="9738360" cy="2450592"/>
          </a:xfrm>
          <a:prstGeom prst="rect">
            <a:avLst/>
          </a:prstGeom>
          <a:noFill/>
          <a:ln/>
        </p:spPr>
        <p:txBody>
          <a:bodyPr wrap="square" lIns="0" tIns="0" rIns="0" bIns="0" rtlCol="0" anchor="t"/>
          <a:lstStyle/>
          <a:p>
            <a:pPr indent="0" marL="0">
              <a:lnSpc>
                <a:spcPct val="106000"/>
              </a:lnSpc>
              <a:buNone/>
            </a:pPr>
            <a:r>
              <a:rPr lang="en-US" sz="1500" dirty="0">
                <a:solidFill>
                  <a:srgbClr val="24313A"/>
                </a:solidFill>
                <a:latin typeface="Calibri" pitchFamily="34" charset="0"/>
                <a:ea typeface="Calibri" pitchFamily="34" charset="-122"/>
                <a:cs typeface="Calibri" pitchFamily="34" charset="-120"/>
              </a:rPr>
              <a:t>The Zurich University of Teacher Education, together with the school office of the Canton of Zurich, offers a package of advice and support for teachers who want to return to the classroom after a long break or after working in another field. It begins with a re-entry consultation and an assessment interview that checks whether returning makes sense and what preparation is needed; the first hour is free and the rest is subsidised by the canton. During the first school year back, a teacher who has been away for eight years or more can use the university's induction programme free of charge: up to twenty-five hours of mentoring by an experienced colleague at the school, individual and group supervision, coaching in their subject, and optional courses on grading, classroom management and working with parents.</a:t>
            </a:r>
            <a:endParaRPr lang="en-US" sz="1500" dirty="0"/>
          </a:p>
        </p:txBody>
      </p:sp>
      <p:sp>
        <p:nvSpPr>
          <p:cNvPr id="14" name="Text 10"/>
          <p:cNvSpPr txBox="1"/>
          <p:nvPr/>
        </p:nvSpPr>
        <p:spPr>
          <a:xfrm>
            <a:off x="1783080" y="4864608"/>
            <a:ext cx="9738360" cy="274320"/>
          </a:xfrm>
          <a:prstGeom prst="rect">
            <a:avLst/>
          </a:prstGeom>
          <a:noFill/>
          <a:ln/>
        </p:spPr>
        <p:txBody>
          <a:bodyPr wrap="square" lIns="0" tIns="0" rIns="0" bIns="0" rtlCol="0" anchor="ctr"/>
          <a:lstStyle/>
          <a:p>
            <a:pPr indent="0" marL="0">
              <a:buNone/>
            </a:pPr>
            <a:r>
              <a:rPr lang="en-US" sz="1150" b="1" dirty="0">
                <a:solidFill>
                  <a:srgbClr val="24313A"/>
                </a:solidFill>
                <a:latin typeface="Calibri" pitchFamily="34" charset="0"/>
                <a:ea typeface="Calibri" pitchFamily="34" charset="-122"/>
                <a:cs typeface="Calibri" pitchFamily="34" charset="-120"/>
              </a:rPr>
              <a:t>Secondary instruments: </a:t>
            </a:r>
            <a:pPr indent="0" marL="0">
              <a:buNone/>
            </a:pPr>
            <a:r>
              <a:rPr lang="en-US" sz="1150" dirty="0">
                <a:solidFill>
                  <a:srgbClr val="24313A"/>
                </a:solidFill>
                <a:latin typeface="Calibri" pitchFamily="34" charset="0"/>
                <a:ea typeface="Calibri" pitchFamily="34" charset="-122"/>
                <a:cs typeface="Calibri" pitchFamily="34" charset="-120"/>
              </a:rPr>
              <a:t>Information &amp; nudges</a:t>
            </a:r>
            <a:endParaRPr lang="en-US" sz="1150" dirty="0"/>
          </a:p>
        </p:txBody>
      </p:sp>
      <p:sp>
        <p:nvSpPr>
          <p:cNvPr id="15" name="Text 11"/>
          <p:cNvSpPr txBox="1"/>
          <p:nvPr/>
        </p:nvSpPr>
        <p:spPr>
          <a:xfrm>
            <a:off x="457200" y="5413248"/>
            <a:ext cx="11274552" cy="868680"/>
          </a:xfrm>
          <a:prstGeom prst="rect">
            <a:avLst/>
          </a:prstGeom>
          <a:noFill/>
          <a:ln/>
        </p:spPr>
        <p:txBody>
          <a:bodyPr wrap="square" lIns="0" tIns="0" rIns="0" bIns="0" rtlCol="0" anchor="t"/>
          <a:lstStyle/>
          <a:p>
            <a:pPr indent="0" marL="0">
              <a:buNone/>
            </a:pPr>
            <a:r>
              <a:rPr lang="en-US" sz="1000" b="1" dirty="0">
                <a:solidFill>
                  <a:srgbClr val="24313A"/>
                </a:solidFill>
                <a:latin typeface="Calibri" pitchFamily="34" charset="0"/>
                <a:ea typeface="Calibri" pitchFamily="34" charset="-122"/>
                <a:cs typeface="Calibri" pitchFamily="34" charset="-120"/>
              </a:rPr>
              <a:t>Source: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3" invalidUrl="" action="" tgtFrame="" tooltip="https://phzh.ch/de/weiterbildung/weiterbildung-fuer-die-volksschule/berufslaufbahn/wiedereinstieg/" history="1" highlightClick="0" endSnd="0">
                  <a:extLst>
                    <a:ext uri="{A12FA001-AC4F-418D-AE19-62706E023703}">
                      <ahyp:hlinkClr xmlns:ahyp="http://schemas.microsoft.com/office/drawing/2018/hyperlinkcolor" val="tx"/>
                    </a:ext>
                  </a:extLst>
                </a:hlinkClick>
              </a:rPr>
              <a:t>https://phzh.ch/de/weiterbildung/weiterbildung-fuer-die-volksschule/berufslaufbahn/wiedereinstieg/</a:t>
            </a:r>
            <a:endParaRPr lang="en-US" sz="1000" dirty="0"/>
          </a:p>
        </p:txBody>
      </p:sp>
      <p:sp>
        <p:nvSpPr>
          <p:cNvPr id="16" name="Text 12"/>
          <p:cNvSpPr txBox="1"/>
          <p:nvPr/>
        </p:nvSpPr>
        <p:spPr>
          <a:xfrm>
            <a:off x="11185855" y="6473952"/>
            <a:ext cx="548640" cy="274320"/>
          </a:xfrm>
          <a:prstGeom prst="rect">
            <a:avLst/>
          </a:prstGeom>
          <a:noFill/>
          <a:ln/>
        </p:spPr>
        <p:txBody>
          <a:bodyPr wrap="square" lIns="0" tIns="0" rIns="0" bIns="0" rtlCol="0" anchor="ctr"/>
          <a:lstStyle/>
          <a:p>
            <a:pPr algn="r" indent="0" marL="0">
              <a:buNone/>
            </a:pPr>
            <a:r>
              <a:rPr lang="en-US" sz="900" dirty="0">
                <a:solidFill>
                  <a:srgbClr val="24313A"/>
                </a:solidFill>
                <a:latin typeface="Calibri" pitchFamily="34" charset="0"/>
                <a:ea typeface="Calibri" pitchFamily="34" charset="-122"/>
                <a:cs typeface="Calibri"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384048"/>
            <a:ext cx="960120" cy="720090"/>
          </a:xfrm>
          <a:prstGeom prst="rect">
            <a:avLst/>
          </a:prstGeom>
        </p:spPr>
      </p:pic>
      <p:sp>
        <p:nvSpPr>
          <p:cNvPr id="3" name="Shape 0"/>
          <p:cNvSpPr/>
          <p:nvPr/>
        </p:nvSpPr>
        <p:spPr>
          <a:xfrm>
            <a:off x="457200" y="384048"/>
            <a:ext cx="960120" cy="720090"/>
          </a:xfrm>
          <a:prstGeom prst="rect">
            <a:avLst/>
          </a:prstGeom>
          <a:ln w="9525">
            <a:solidFill>
              <a:srgbClr val="CFDCD5"/>
            </a:solidFill>
            <a:prstDash val="solid"/>
          </a:ln>
        </p:spPr>
      </p:sp>
      <p:sp>
        <p:nvSpPr>
          <p:cNvPr id="4" name="Text 1"/>
          <p:cNvSpPr txBox="1"/>
          <p:nvPr/>
        </p:nvSpPr>
        <p:spPr>
          <a:xfrm>
            <a:off x="1600200" y="329184"/>
            <a:ext cx="621792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United Kingdom</a:t>
            </a:r>
            <a:endParaRPr lang="en-US" sz="2200" dirty="0"/>
          </a:p>
        </p:txBody>
      </p:sp>
      <p:sp>
        <p:nvSpPr>
          <p:cNvPr id="5" name="Text 2"/>
          <p:cNvSpPr txBox="1"/>
          <p:nvPr/>
        </p:nvSpPr>
        <p:spPr>
          <a:xfrm>
            <a:off x="1600200" y="786384"/>
            <a:ext cx="6217920" cy="310896"/>
          </a:xfrm>
          <a:prstGeom prst="rect">
            <a:avLst/>
          </a:prstGeom>
          <a:noFill/>
          <a:ln/>
        </p:spPr>
        <p:txBody>
          <a:bodyPr wrap="square" lIns="0" tIns="0" rIns="0" bIns="0" rtlCol="0" anchor="t"/>
          <a:lstStyle/>
          <a:p>
            <a:pPr indent="0" marL="0">
              <a:buNone/>
            </a:pPr>
            <a:r>
              <a:rPr lang="en-US" sz="1300" dirty="0">
                <a:solidFill>
                  <a:srgbClr val="24313A"/>
                </a:solidFill>
                <a:latin typeface="Calibri" pitchFamily="34" charset="0"/>
                <a:ea typeface="Calibri" pitchFamily="34" charset="-122"/>
                <a:cs typeface="Calibri" pitchFamily="34" charset="-120"/>
              </a:rPr>
              <a:t>England</a:t>
            </a:r>
            <a:endParaRPr lang="en-US" sz="1300" dirty="0"/>
          </a:p>
        </p:txBody>
      </p:sp>
      <p:sp>
        <p:nvSpPr>
          <p:cNvPr id="6" name="Shape 3"/>
          <p:cNvSpPr/>
          <p:nvPr/>
        </p:nvSpPr>
        <p:spPr>
          <a:xfrm>
            <a:off x="8257032" y="384048"/>
            <a:ext cx="3474720" cy="429768"/>
          </a:xfrm>
          <a:prstGeom prst="roundRect">
            <a:avLst>
              <a:gd name="adj" fmla="val 50000"/>
            </a:avLst>
          </a:prstGeom>
          <a:solidFill>
            <a:srgbClr val="EAF2EE"/>
          </a:solidFill>
          <a:ln w="12700">
            <a:solidFill>
              <a:srgbClr val="B3542E"/>
            </a:solidFill>
            <a:prstDash val="solid"/>
          </a:ln>
        </p:spPr>
      </p:sp>
      <p:sp>
        <p:nvSpPr>
          <p:cNvPr id="7" name="Text 4"/>
          <p:cNvSpPr txBox="1"/>
          <p:nvPr/>
        </p:nvSpPr>
        <p:spPr>
          <a:xfrm>
            <a:off x="8257032" y="384048"/>
            <a:ext cx="3474720" cy="429768"/>
          </a:xfrm>
          <a:prstGeom prst="rect">
            <a:avLst/>
          </a:prstGeom>
          <a:noFill/>
          <a:ln/>
        </p:spPr>
        <p:txBody>
          <a:bodyPr wrap="square" lIns="0" tIns="0" rIns="0" bIns="0" rtlCol="0" anchor="ctr"/>
          <a:lstStyle/>
          <a:p>
            <a:pPr algn="ctr" indent="0" marL="0">
              <a:buNone/>
            </a:pPr>
            <a:r>
              <a:rPr lang="en-US" sz="1350" b="1" dirty="0">
                <a:solidFill>
                  <a:srgbClr val="B3542E"/>
                </a:solidFill>
                <a:latin typeface="Calibri" pitchFamily="34" charset="0"/>
                <a:ea typeface="Calibri" pitchFamily="34" charset="-122"/>
                <a:cs typeface="Calibri" pitchFamily="34" charset="-120"/>
              </a:rPr>
              <a:t>Information &amp; nudges</a:t>
            </a:r>
            <a:endParaRPr lang="en-US" sz="1350" dirty="0"/>
          </a:p>
        </p:txBody>
      </p:sp>
      <p:sp>
        <p:nvSpPr>
          <p:cNvPr id="8" name="Text 5"/>
          <p:cNvSpPr txBox="1"/>
          <p:nvPr/>
        </p:nvSpPr>
        <p:spPr>
          <a:xfrm>
            <a:off x="7342632" y="850392"/>
            <a:ext cx="4389120" cy="274320"/>
          </a:xfrm>
          <a:prstGeom prst="rect">
            <a:avLst/>
          </a:prstGeom>
          <a:noFill/>
          <a:ln/>
        </p:spPr>
        <p:txBody>
          <a:bodyPr wrap="square" lIns="0" tIns="0" rIns="0" bIns="0" rtlCol="0" anchor="t"/>
          <a:lstStyle/>
          <a:p>
            <a:pPr algn="r" indent="0" marL="0">
              <a:buNone/>
            </a:pPr>
            <a:r>
              <a:rPr lang="en-US" sz="1100" dirty="0">
                <a:solidFill>
                  <a:srgbClr val="24313A"/>
                </a:solidFill>
                <a:latin typeface="Calibri" pitchFamily="34" charset="0"/>
                <a:ea typeface="Calibri" pitchFamily="34" charset="-122"/>
                <a:cs typeface="Calibri" pitchFamily="34" charset="-120"/>
              </a:rPr>
              <a:t>Target: Switchers / Leavers</a:t>
            </a:r>
            <a:endParaRPr lang="en-US" sz="1100" dirty="0"/>
          </a:p>
        </p:txBody>
      </p:sp>
      <p:sp>
        <p:nvSpPr>
          <p:cNvPr id="9" name="Shape 6"/>
          <p:cNvSpPr/>
          <p:nvPr/>
        </p:nvSpPr>
        <p:spPr>
          <a:xfrm>
            <a:off x="457200" y="1371600"/>
            <a:ext cx="11274552" cy="3858768"/>
          </a:xfrm>
          <a:prstGeom prst="roundRect">
            <a:avLst>
              <a:gd name="adj" fmla="val 2844"/>
            </a:avLst>
          </a:prstGeom>
          <a:solidFill>
            <a:srgbClr val="EAF2EE"/>
          </a:solidFill>
          <a:ln w="12700">
            <a:solidFill>
              <a:srgbClr val="EAF2EE"/>
            </a:solidFill>
            <a:prstDash val="solid"/>
          </a:ln>
        </p:spPr>
      </p:sp>
      <p:sp>
        <p:nvSpPr>
          <p:cNvPr id="10" name="Shape 7"/>
          <p:cNvSpPr/>
          <p:nvPr/>
        </p:nvSpPr>
        <p:spPr>
          <a:xfrm>
            <a:off x="777240" y="1691640"/>
            <a:ext cx="777240" cy="777240"/>
          </a:xfrm>
          <a:prstGeom prst="ellipse">
            <a:avLst/>
          </a:prstGeom>
          <a:solidFill>
            <a:srgbClr val="1F4E46"/>
          </a:solidFill>
          <a:ln w="12700">
            <a:solidFill>
              <a:srgbClr val="1F4E46"/>
            </a:solidFill>
            <a:prstDash val="solid"/>
          </a:ln>
        </p:spPr>
      </p:sp>
      <p:pic>
        <p:nvPicPr>
          <p:cNvPr id="11" name="Image 1" descr="preencoded.png">    </p:cNvPr>
          <p:cNvPicPr>
            <a:picLocks noChangeAspect="1"/>
          </p:cNvPicPr>
          <p:nvPr/>
        </p:nvPicPr>
        <p:blipFill>
          <a:blip r:embed="rId2"/>
          <a:stretch>
            <a:fillRect/>
          </a:stretch>
        </p:blipFill>
        <p:spPr>
          <a:xfrm>
            <a:off x="963778" y="1878178"/>
            <a:ext cx="404165" cy="404165"/>
          </a:xfrm>
          <a:prstGeom prst="rect">
            <a:avLst/>
          </a:prstGeom>
        </p:spPr>
      </p:pic>
      <p:sp>
        <p:nvSpPr>
          <p:cNvPr id="12" name="Text 8"/>
          <p:cNvSpPr txBox="1"/>
          <p:nvPr/>
        </p:nvSpPr>
        <p:spPr>
          <a:xfrm>
            <a:off x="1783080" y="1536192"/>
            <a:ext cx="9738360" cy="868680"/>
          </a:xfrm>
          <a:prstGeom prst="rect">
            <a:avLst/>
          </a:prstGeom>
          <a:noFill/>
          <a:ln/>
        </p:spPr>
        <p:txBody>
          <a:bodyPr wrap="square" lIns="0" tIns="0" rIns="0" bIns="0" rtlCol="0" anchor="t"/>
          <a:lstStyle/>
          <a:p>
            <a:pPr indent="0" marL="0">
              <a:buNone/>
            </a:pPr>
            <a:r>
              <a:rPr lang="en-US" sz="2100" b="1" dirty="0">
                <a:solidFill>
                  <a:srgbClr val="24313A"/>
                </a:solidFill>
                <a:latin typeface="Cambria" pitchFamily="34" charset="0"/>
                <a:ea typeface="Cambria" pitchFamily="34" charset="-122"/>
                <a:cs typeface="Cambria" pitchFamily="34" charset="-120"/>
              </a:rPr>
              <a:t>Return to Teaching Advisers (Department for Education)</a:t>
            </a:r>
            <a:endParaRPr lang="en-US" sz="2100" dirty="0"/>
          </a:p>
        </p:txBody>
      </p:sp>
      <p:sp>
        <p:nvSpPr>
          <p:cNvPr id="13" name="Text 9"/>
          <p:cNvSpPr txBox="1"/>
          <p:nvPr/>
        </p:nvSpPr>
        <p:spPr>
          <a:xfrm>
            <a:off x="1783080" y="2395728"/>
            <a:ext cx="9738360" cy="2450592"/>
          </a:xfrm>
          <a:prstGeom prst="rect">
            <a:avLst/>
          </a:prstGeom>
          <a:noFill/>
          <a:ln/>
        </p:spPr>
        <p:txBody>
          <a:bodyPr wrap="square" lIns="0" tIns="0" rIns="0" bIns="0" rtlCol="0" anchor="t"/>
          <a:lstStyle/>
          <a:p>
            <a:pPr indent="0" marL="0">
              <a:lnSpc>
                <a:spcPct val="106000"/>
              </a:lnSpc>
              <a:buNone/>
            </a:pPr>
            <a:r>
              <a:rPr lang="en-US" sz="1500" dirty="0">
                <a:solidFill>
                  <a:srgbClr val="24313A"/>
                </a:solidFill>
                <a:latin typeface="Calibri" pitchFamily="34" charset="0"/>
                <a:ea typeface="Calibri" pitchFamily="34" charset="-122"/>
                <a:cs typeface="Calibri" pitchFamily="34" charset="-120"/>
              </a:rPr>
              <a:t>Anyone who has taught or trained to teach in the United Kingdom and is thinking of coming back can ask the Department for Education for a free personal Return to Teaching Adviser through its ‘Get Into Teaching’ service. The former teacher calls or signs up online, and the adviser then works with them one to one, by phone, text or e-mail and for as long as they need: reviewing the skills they gained while away, helping them write applications and prepare for interviews, pointing them to refresher courses and professional qualifications, and alerting them to vacancies and webinars. The Department used the same channel in its ‘Come back to teaching’ campaign of January 2022. Returners are a major source of teachers in England: about 17,500 full-time-equivalent teachers came back in 2023, some 38 percent of all qualified entrants that year.</a:t>
            </a:r>
            <a:endParaRPr lang="en-US" sz="1500" dirty="0"/>
          </a:p>
        </p:txBody>
      </p:sp>
      <p:sp>
        <p:nvSpPr>
          <p:cNvPr id="14" name="Text 10"/>
          <p:cNvSpPr txBox="1"/>
          <p:nvPr/>
        </p:nvSpPr>
        <p:spPr>
          <a:xfrm>
            <a:off x="1783080" y="4864608"/>
            <a:ext cx="9738360" cy="274320"/>
          </a:xfrm>
          <a:prstGeom prst="rect">
            <a:avLst/>
          </a:prstGeom>
          <a:noFill/>
          <a:ln/>
        </p:spPr>
        <p:txBody>
          <a:bodyPr wrap="square" lIns="0" tIns="0" rIns="0" bIns="0" rtlCol="0" anchor="ctr"/>
          <a:lstStyle/>
          <a:p>
            <a:pPr indent="0" marL="0">
              <a:buNone/>
            </a:pPr>
            <a:r>
              <a:rPr lang="en-US" sz="1150" b="1" dirty="0">
                <a:solidFill>
                  <a:srgbClr val="24313A"/>
                </a:solidFill>
                <a:latin typeface="Calibri" pitchFamily="34" charset="0"/>
                <a:ea typeface="Calibri" pitchFamily="34" charset="-122"/>
                <a:cs typeface="Calibri" pitchFamily="34" charset="-120"/>
              </a:rPr>
              <a:t>Secondary instruments: </a:t>
            </a:r>
            <a:pPr indent="0" marL="0">
              <a:buNone/>
            </a:pPr>
            <a:r>
              <a:rPr lang="en-US" sz="1150" dirty="0">
                <a:solidFill>
                  <a:srgbClr val="24313A"/>
                </a:solidFill>
                <a:latin typeface="Calibri" pitchFamily="34" charset="0"/>
                <a:ea typeface="Calibri" pitchFamily="34" charset="-122"/>
                <a:cs typeface="Calibri" pitchFamily="34" charset="-120"/>
              </a:rPr>
              <a:t>Support &amp; training</a:t>
            </a:r>
            <a:endParaRPr lang="en-US" sz="1150" dirty="0"/>
          </a:p>
        </p:txBody>
      </p:sp>
      <p:sp>
        <p:nvSpPr>
          <p:cNvPr id="15" name="Text 11"/>
          <p:cNvSpPr txBox="1"/>
          <p:nvPr/>
        </p:nvSpPr>
        <p:spPr>
          <a:xfrm>
            <a:off x="457200" y="5413248"/>
            <a:ext cx="11274552" cy="868680"/>
          </a:xfrm>
          <a:prstGeom prst="rect">
            <a:avLst/>
          </a:prstGeom>
          <a:noFill/>
          <a:ln/>
        </p:spPr>
        <p:txBody>
          <a:bodyPr wrap="square" lIns="0" tIns="0" rIns="0" bIns="0" rtlCol="0" anchor="t"/>
          <a:lstStyle/>
          <a:p>
            <a:pPr indent="0" marL="0">
              <a:buNone/>
            </a:pPr>
            <a:r>
              <a:rPr lang="en-US" sz="1000" b="1" dirty="0">
                <a:solidFill>
                  <a:srgbClr val="24313A"/>
                </a:solidFill>
                <a:latin typeface="Calibri" pitchFamily="34" charset="0"/>
                <a:ea typeface="Calibri" pitchFamily="34" charset="-122"/>
                <a:cs typeface="Calibri" pitchFamily="34" charset="-120"/>
              </a:rPr>
              <a:t>Source: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3" invalidUrl="" action="" tgtFrame="" tooltip="https://getintoteaching.education.gov.uk/returning-to-teaching" history="1" highlightClick="0" endSnd="0">
                  <a:extLst>
                    <a:ext uri="{A12FA001-AC4F-418D-AE19-62706E023703}">
                      <ahyp:hlinkClr xmlns:ahyp="http://schemas.microsoft.com/office/drawing/2018/hyperlinkcolor" val="tx"/>
                    </a:ext>
                  </a:extLst>
                </a:hlinkClick>
              </a:rPr>
              <a:t>https://getintoteaching.education.gov.uk/returning-to-teaching</a:t>
            </a:r>
            <a:endParaRPr lang="en-US" sz="1000" dirty="0"/>
          </a:p>
          <a:p>
            <a:pPr indent="0" marL="0">
              <a:buNone/>
            </a:pPr>
            <a:r>
              <a:rPr lang="en-US" sz="1000" b="1" dirty="0">
                <a:solidFill>
                  <a:srgbClr val="24313A"/>
                </a:solidFill>
                <a:latin typeface="Calibri" pitchFamily="34" charset="0"/>
                <a:ea typeface="Calibri" pitchFamily="34" charset="-122"/>
                <a:cs typeface="Calibri" pitchFamily="34" charset="-120"/>
              </a:rPr>
              <a:t>Source (see also):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4" invalidUrl="" action="" tgtFrame="" tooltip="https://publications.parliament.uk/pa/cm5901/cmselect/cmeduc/627/report.html" history="1" highlightClick="0" endSnd="0">
                  <a:extLst>
                    <a:ext uri="{A12FA001-AC4F-418D-AE19-62706E023703}">
                      <ahyp:hlinkClr xmlns:ahyp="http://schemas.microsoft.com/office/drawing/2018/hyperlinkcolor" val="tx"/>
                    </a:ext>
                  </a:extLst>
                </a:hlinkClick>
              </a:rPr>
              <a:t>https://publications.parliament.uk/pa/cm5901/cmselect/cmeduc/627/report.html</a:t>
            </a:r>
            <a:endParaRPr lang="en-US" sz="1000" dirty="0"/>
          </a:p>
        </p:txBody>
      </p:sp>
      <p:sp>
        <p:nvSpPr>
          <p:cNvPr id="16" name="Text 12"/>
          <p:cNvSpPr txBox="1"/>
          <p:nvPr/>
        </p:nvSpPr>
        <p:spPr>
          <a:xfrm>
            <a:off x="11185855" y="6473952"/>
            <a:ext cx="548640" cy="274320"/>
          </a:xfrm>
          <a:prstGeom prst="rect">
            <a:avLst/>
          </a:prstGeom>
          <a:noFill/>
          <a:ln/>
        </p:spPr>
        <p:txBody>
          <a:bodyPr wrap="square" lIns="0" tIns="0" rIns="0" bIns="0" rtlCol="0" anchor="ctr"/>
          <a:lstStyle/>
          <a:p>
            <a:pPr algn="r" indent="0" marL="0">
              <a:buNone/>
            </a:pPr>
            <a:r>
              <a:rPr lang="en-US" sz="900" dirty="0">
                <a:solidFill>
                  <a:srgbClr val="24313A"/>
                </a:solidFill>
                <a:latin typeface="Calibri" pitchFamily="34" charset="0"/>
                <a:ea typeface="Calibri" pitchFamily="34" charset="-122"/>
                <a:cs typeface="Calibri" pitchFamily="34" charset="-120"/>
              </a:rPr>
              <a:t>16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384048"/>
            <a:ext cx="960120" cy="720090"/>
          </a:xfrm>
          <a:prstGeom prst="rect">
            <a:avLst/>
          </a:prstGeom>
        </p:spPr>
      </p:pic>
      <p:sp>
        <p:nvSpPr>
          <p:cNvPr id="3" name="Shape 0"/>
          <p:cNvSpPr/>
          <p:nvPr/>
        </p:nvSpPr>
        <p:spPr>
          <a:xfrm>
            <a:off x="457200" y="384048"/>
            <a:ext cx="960120" cy="720090"/>
          </a:xfrm>
          <a:prstGeom prst="rect">
            <a:avLst/>
          </a:prstGeom>
          <a:ln w="9525">
            <a:solidFill>
              <a:srgbClr val="CFDCD5"/>
            </a:solidFill>
            <a:prstDash val="solid"/>
          </a:ln>
        </p:spPr>
      </p:sp>
      <p:sp>
        <p:nvSpPr>
          <p:cNvPr id="4" name="Text 1"/>
          <p:cNvSpPr txBox="1"/>
          <p:nvPr/>
        </p:nvSpPr>
        <p:spPr>
          <a:xfrm>
            <a:off x="1600200" y="329184"/>
            <a:ext cx="621792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United States</a:t>
            </a:r>
            <a:endParaRPr lang="en-US" sz="2200" dirty="0"/>
          </a:p>
        </p:txBody>
      </p:sp>
      <p:sp>
        <p:nvSpPr>
          <p:cNvPr id="5" name="Text 2"/>
          <p:cNvSpPr txBox="1"/>
          <p:nvPr/>
        </p:nvSpPr>
        <p:spPr>
          <a:xfrm>
            <a:off x="1600200" y="786384"/>
            <a:ext cx="6217920" cy="310896"/>
          </a:xfrm>
          <a:prstGeom prst="rect">
            <a:avLst/>
          </a:prstGeom>
          <a:noFill/>
          <a:ln/>
        </p:spPr>
        <p:txBody>
          <a:bodyPr wrap="square" lIns="0" tIns="0" rIns="0" bIns="0" rtlCol="0" anchor="t"/>
          <a:lstStyle/>
          <a:p>
            <a:pPr indent="0" marL="0">
              <a:buNone/>
            </a:pPr>
            <a:r>
              <a:rPr lang="en-US" sz="1300" dirty="0">
                <a:solidFill>
                  <a:srgbClr val="24313A"/>
                </a:solidFill>
                <a:latin typeface="Calibri" pitchFamily="34" charset="0"/>
                <a:ea typeface="Calibri" pitchFamily="34" charset="-122"/>
                <a:cs typeface="Calibri" pitchFamily="34" charset="-120"/>
              </a:rPr>
              <a:t>Georgia</a:t>
            </a:r>
            <a:endParaRPr lang="en-US" sz="1300" dirty="0"/>
          </a:p>
        </p:txBody>
      </p:sp>
      <p:sp>
        <p:nvSpPr>
          <p:cNvPr id="6" name="Shape 3"/>
          <p:cNvSpPr/>
          <p:nvPr/>
        </p:nvSpPr>
        <p:spPr>
          <a:xfrm>
            <a:off x="8257032" y="384048"/>
            <a:ext cx="3474720" cy="429768"/>
          </a:xfrm>
          <a:prstGeom prst="roundRect">
            <a:avLst>
              <a:gd name="adj" fmla="val 50000"/>
            </a:avLst>
          </a:prstGeom>
          <a:solidFill>
            <a:srgbClr val="EAF2EE"/>
          </a:solidFill>
          <a:ln w="12700">
            <a:solidFill>
              <a:srgbClr val="B3542E"/>
            </a:solidFill>
            <a:prstDash val="solid"/>
          </a:ln>
        </p:spPr>
      </p:sp>
      <p:sp>
        <p:nvSpPr>
          <p:cNvPr id="7" name="Text 4"/>
          <p:cNvSpPr txBox="1"/>
          <p:nvPr/>
        </p:nvSpPr>
        <p:spPr>
          <a:xfrm>
            <a:off x="8257032" y="384048"/>
            <a:ext cx="3474720" cy="429768"/>
          </a:xfrm>
          <a:prstGeom prst="rect">
            <a:avLst/>
          </a:prstGeom>
          <a:noFill/>
          <a:ln/>
        </p:spPr>
        <p:txBody>
          <a:bodyPr wrap="square" lIns="0" tIns="0" rIns="0" bIns="0" rtlCol="0" anchor="ctr"/>
          <a:lstStyle/>
          <a:p>
            <a:pPr algn="ctr" indent="0" marL="0">
              <a:buNone/>
            </a:pPr>
            <a:r>
              <a:rPr lang="en-US" sz="1350" b="1" dirty="0">
                <a:solidFill>
                  <a:srgbClr val="B3542E"/>
                </a:solidFill>
                <a:latin typeface="Calibri" pitchFamily="34" charset="0"/>
                <a:ea typeface="Calibri" pitchFamily="34" charset="-122"/>
                <a:cs typeface="Calibri" pitchFamily="34" charset="-120"/>
              </a:rPr>
              <a:t>Financial incentives</a:t>
            </a:r>
            <a:endParaRPr lang="en-US" sz="1350" dirty="0"/>
          </a:p>
        </p:txBody>
      </p:sp>
      <p:sp>
        <p:nvSpPr>
          <p:cNvPr id="8" name="Text 5"/>
          <p:cNvSpPr txBox="1"/>
          <p:nvPr/>
        </p:nvSpPr>
        <p:spPr>
          <a:xfrm>
            <a:off x="7342632" y="850392"/>
            <a:ext cx="4389120" cy="274320"/>
          </a:xfrm>
          <a:prstGeom prst="rect">
            <a:avLst/>
          </a:prstGeom>
          <a:noFill/>
          <a:ln/>
        </p:spPr>
        <p:txBody>
          <a:bodyPr wrap="square" lIns="0" tIns="0" rIns="0" bIns="0" rtlCol="0" anchor="t"/>
          <a:lstStyle/>
          <a:p>
            <a:pPr algn="r" indent="0" marL="0">
              <a:buNone/>
            </a:pPr>
            <a:r>
              <a:rPr lang="en-US" sz="1100" dirty="0">
                <a:solidFill>
                  <a:srgbClr val="24313A"/>
                </a:solidFill>
                <a:latin typeface="Calibri" pitchFamily="34" charset="0"/>
                <a:ea typeface="Calibri" pitchFamily="34" charset="-122"/>
                <a:cs typeface="Calibri" pitchFamily="34" charset="-120"/>
              </a:rPr>
              <a:t>Target: Retired</a:t>
            </a:r>
            <a:endParaRPr lang="en-US" sz="1100" dirty="0"/>
          </a:p>
        </p:txBody>
      </p:sp>
      <p:sp>
        <p:nvSpPr>
          <p:cNvPr id="9" name="Shape 6"/>
          <p:cNvSpPr/>
          <p:nvPr/>
        </p:nvSpPr>
        <p:spPr>
          <a:xfrm>
            <a:off x="457200" y="1371600"/>
            <a:ext cx="11274552" cy="3858768"/>
          </a:xfrm>
          <a:prstGeom prst="roundRect">
            <a:avLst>
              <a:gd name="adj" fmla="val 2844"/>
            </a:avLst>
          </a:prstGeom>
          <a:solidFill>
            <a:srgbClr val="EAF2EE"/>
          </a:solidFill>
          <a:ln w="12700">
            <a:solidFill>
              <a:srgbClr val="EAF2EE"/>
            </a:solidFill>
            <a:prstDash val="solid"/>
          </a:ln>
        </p:spPr>
      </p:sp>
      <p:sp>
        <p:nvSpPr>
          <p:cNvPr id="10" name="Shape 7"/>
          <p:cNvSpPr/>
          <p:nvPr/>
        </p:nvSpPr>
        <p:spPr>
          <a:xfrm>
            <a:off x="777240" y="1691640"/>
            <a:ext cx="777240" cy="777240"/>
          </a:xfrm>
          <a:prstGeom prst="ellipse">
            <a:avLst/>
          </a:prstGeom>
          <a:solidFill>
            <a:srgbClr val="1F4E46"/>
          </a:solidFill>
          <a:ln w="12700">
            <a:solidFill>
              <a:srgbClr val="1F4E46"/>
            </a:solidFill>
            <a:prstDash val="solid"/>
          </a:ln>
        </p:spPr>
      </p:sp>
      <p:pic>
        <p:nvPicPr>
          <p:cNvPr id="11" name="Image 1" descr="preencoded.png">    </p:cNvPr>
          <p:cNvPicPr>
            <a:picLocks noChangeAspect="1"/>
          </p:cNvPicPr>
          <p:nvPr/>
        </p:nvPicPr>
        <p:blipFill>
          <a:blip r:embed="rId2"/>
          <a:stretch>
            <a:fillRect/>
          </a:stretch>
        </p:blipFill>
        <p:spPr>
          <a:xfrm>
            <a:off x="963778" y="1878178"/>
            <a:ext cx="404165" cy="404165"/>
          </a:xfrm>
          <a:prstGeom prst="rect">
            <a:avLst/>
          </a:prstGeom>
        </p:spPr>
      </p:pic>
      <p:sp>
        <p:nvSpPr>
          <p:cNvPr id="12" name="Text 8"/>
          <p:cNvSpPr txBox="1"/>
          <p:nvPr/>
        </p:nvSpPr>
        <p:spPr>
          <a:xfrm>
            <a:off x="1783080" y="1536192"/>
            <a:ext cx="9738360" cy="868680"/>
          </a:xfrm>
          <a:prstGeom prst="rect">
            <a:avLst/>
          </a:prstGeom>
          <a:noFill/>
          <a:ln/>
        </p:spPr>
        <p:txBody>
          <a:bodyPr wrap="square" lIns="0" tIns="0" rIns="0" bIns="0" rtlCol="0" anchor="t"/>
          <a:lstStyle/>
          <a:p>
            <a:pPr indent="0" marL="0">
              <a:buNone/>
            </a:pPr>
            <a:r>
              <a:rPr lang="en-US" sz="2100" b="1" dirty="0">
                <a:solidFill>
                  <a:srgbClr val="24313A"/>
                </a:solidFill>
                <a:latin typeface="Cambria" pitchFamily="34" charset="0"/>
                <a:ea typeface="Cambria" pitchFamily="34" charset="-122"/>
                <a:cs typeface="Cambria" pitchFamily="34" charset="-120"/>
              </a:rPr>
              <a:t>House Bill 385: full-time return of retired teachers in high-need subjects (2022–2026)</a:t>
            </a:r>
            <a:endParaRPr lang="en-US" sz="2100" dirty="0"/>
          </a:p>
        </p:txBody>
      </p:sp>
      <p:sp>
        <p:nvSpPr>
          <p:cNvPr id="13" name="Text 9"/>
          <p:cNvSpPr txBox="1"/>
          <p:nvPr/>
        </p:nvSpPr>
        <p:spPr>
          <a:xfrm>
            <a:off x="1783080" y="2395728"/>
            <a:ext cx="9738360" cy="2450592"/>
          </a:xfrm>
          <a:prstGeom prst="rect">
            <a:avLst/>
          </a:prstGeom>
          <a:noFill/>
          <a:ln/>
        </p:spPr>
        <p:txBody>
          <a:bodyPr wrap="square" lIns="0" tIns="0" rIns="0" bIns="0" rtlCol="0" anchor="t"/>
          <a:lstStyle/>
          <a:p>
            <a:pPr indent="0" marL="0">
              <a:lnSpc>
                <a:spcPct val="106000"/>
              </a:lnSpc>
              <a:buNone/>
            </a:pPr>
            <a:r>
              <a:rPr lang="en-US" sz="1500" dirty="0">
                <a:solidFill>
                  <a:srgbClr val="24313A"/>
                </a:solidFill>
                <a:latin typeface="Calibri" pitchFamily="34" charset="0"/>
                <a:ea typeface="Calibri" pitchFamily="34" charset="-122"/>
                <a:cs typeface="Calibri" pitchFamily="34" charset="-120"/>
              </a:rPr>
              <a:t>Since 1 July 2022 the state of Georgia has let retired teachers go back to full-time classroom teaching in shortage subjects without giving up their pension. A teacher who retired with thirty or more years of service and has been retired for at least a year can be hired as a full-time teacher in one of the three subjects of greatest need in their region, typically special education, mathematics, science, English or elementary teaching, and receives a full salary on top of the full pension. The school district pays the pension contributions and the retiree earns no further pension rights. A state audit in 2025 found that about 350 retirees a year had used the law, less than one percent of Georgia's teachers. The law expires on 30 June 2026 and is being replaced by a new one, Senate Bill 150.</a:t>
            </a:r>
            <a:endParaRPr lang="en-US" sz="1500" dirty="0"/>
          </a:p>
        </p:txBody>
      </p:sp>
      <p:sp>
        <p:nvSpPr>
          <p:cNvPr id="14" name="Text 10"/>
          <p:cNvSpPr txBox="1"/>
          <p:nvPr/>
        </p:nvSpPr>
        <p:spPr>
          <a:xfrm>
            <a:off x="1783080" y="4864608"/>
            <a:ext cx="9738360" cy="274320"/>
          </a:xfrm>
          <a:prstGeom prst="rect">
            <a:avLst/>
          </a:prstGeom>
          <a:noFill/>
          <a:ln/>
        </p:spPr>
        <p:txBody>
          <a:bodyPr wrap="square" lIns="0" tIns="0" rIns="0" bIns="0" rtlCol="0" anchor="ctr"/>
          <a:lstStyle/>
          <a:p>
            <a:pPr indent="0" marL="0">
              <a:buNone/>
            </a:pPr>
            <a:r>
              <a:rPr lang="en-US" sz="1150" b="1" dirty="0">
                <a:solidFill>
                  <a:srgbClr val="24313A"/>
                </a:solidFill>
                <a:latin typeface="Calibri" pitchFamily="34" charset="0"/>
                <a:ea typeface="Calibri" pitchFamily="34" charset="-122"/>
                <a:cs typeface="Calibri" pitchFamily="34" charset="-120"/>
              </a:rPr>
              <a:t>Secondary instruments: </a:t>
            </a:r>
            <a:pPr indent="0" marL="0">
              <a:buNone/>
            </a:pPr>
            <a:r>
              <a:rPr lang="en-US" sz="1150" dirty="0">
                <a:solidFill>
                  <a:srgbClr val="24313A"/>
                </a:solidFill>
                <a:latin typeface="Calibri" pitchFamily="34" charset="0"/>
                <a:ea typeface="Calibri" pitchFamily="34" charset="-122"/>
                <a:cs typeface="Calibri" pitchFamily="34" charset="-120"/>
              </a:rPr>
              <a:t>none (single-instrument policy)</a:t>
            </a:r>
            <a:endParaRPr lang="en-US" sz="1150" dirty="0"/>
          </a:p>
        </p:txBody>
      </p:sp>
      <p:sp>
        <p:nvSpPr>
          <p:cNvPr id="15" name="Text 11"/>
          <p:cNvSpPr txBox="1"/>
          <p:nvPr/>
        </p:nvSpPr>
        <p:spPr>
          <a:xfrm>
            <a:off x="457200" y="5413248"/>
            <a:ext cx="11274552" cy="868680"/>
          </a:xfrm>
          <a:prstGeom prst="rect">
            <a:avLst/>
          </a:prstGeom>
          <a:noFill/>
          <a:ln/>
        </p:spPr>
        <p:txBody>
          <a:bodyPr wrap="square" lIns="0" tIns="0" rIns="0" bIns="0" rtlCol="0" anchor="t"/>
          <a:lstStyle/>
          <a:p>
            <a:pPr indent="0" marL="0">
              <a:buNone/>
            </a:pPr>
            <a:r>
              <a:rPr lang="en-US" sz="1000" b="1" dirty="0">
                <a:solidFill>
                  <a:srgbClr val="24313A"/>
                </a:solidFill>
                <a:latin typeface="Calibri" pitchFamily="34" charset="0"/>
                <a:ea typeface="Calibri" pitchFamily="34" charset="-122"/>
                <a:cs typeface="Calibri" pitchFamily="34" charset="-120"/>
              </a:rPr>
              <a:t>Source: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3" invalidUrl="" action="" tgtFrame="" tooltip="https://www.trsga.com/retiree/working-after-retirement/hb-385-employment/" history="1" highlightClick="0" endSnd="0">
                  <a:extLst>
                    <a:ext uri="{A12FA001-AC4F-418D-AE19-62706E023703}">
                      <ahyp:hlinkClr xmlns:ahyp="http://schemas.microsoft.com/office/drawing/2018/hyperlinkcolor" val="tx"/>
                    </a:ext>
                  </a:extLst>
                </a:hlinkClick>
              </a:rPr>
              <a:t>https://www.trsga.com/retiree/working-after-retirement/hb-385-employment/</a:t>
            </a:r>
            <a:endParaRPr lang="en-US" sz="1000" dirty="0"/>
          </a:p>
          <a:p>
            <a:pPr indent="0" marL="0">
              <a:buNone/>
            </a:pPr>
            <a:r>
              <a:rPr lang="en-US" sz="1000" b="1" dirty="0">
                <a:solidFill>
                  <a:srgbClr val="24313A"/>
                </a:solidFill>
                <a:latin typeface="Calibri" pitchFamily="34" charset="0"/>
                <a:ea typeface="Calibri" pitchFamily="34" charset="-122"/>
                <a:cs typeface="Calibri" pitchFamily="34" charset="-120"/>
              </a:rPr>
              <a:t>Source (see also):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4" invalidUrl="" action="" tgtFrame="" tooltip="https://www.audits.ga.gov/ReportSearch/download/32615" history="1" highlightClick="0" endSnd="0">
                  <a:extLst>
                    <a:ext uri="{A12FA001-AC4F-418D-AE19-62706E023703}">
                      <ahyp:hlinkClr xmlns:ahyp="http://schemas.microsoft.com/office/drawing/2018/hyperlinkcolor" val="tx"/>
                    </a:ext>
                  </a:extLst>
                </a:hlinkClick>
              </a:rPr>
              <a:t>https://www.audits.ga.gov/ReportSearch/download/32615</a:t>
            </a:r>
            <a:endParaRPr lang="en-US" sz="1000" dirty="0"/>
          </a:p>
        </p:txBody>
      </p:sp>
      <p:sp>
        <p:nvSpPr>
          <p:cNvPr id="16" name="Text 12"/>
          <p:cNvSpPr txBox="1"/>
          <p:nvPr/>
        </p:nvSpPr>
        <p:spPr>
          <a:xfrm>
            <a:off x="11185855" y="6473952"/>
            <a:ext cx="548640" cy="274320"/>
          </a:xfrm>
          <a:prstGeom prst="rect">
            <a:avLst/>
          </a:prstGeom>
          <a:noFill/>
          <a:ln/>
        </p:spPr>
        <p:txBody>
          <a:bodyPr wrap="square" lIns="0" tIns="0" rIns="0" bIns="0" rtlCol="0" anchor="ctr"/>
          <a:lstStyle/>
          <a:p>
            <a:pPr algn="r" indent="0" marL="0">
              <a:buNone/>
            </a:pPr>
            <a:r>
              <a:rPr lang="en-US" sz="900" dirty="0">
                <a:solidFill>
                  <a:srgbClr val="24313A"/>
                </a:solidFill>
                <a:latin typeface="Calibri" pitchFamily="34" charset="0"/>
                <a:ea typeface="Calibri" pitchFamily="34" charset="-122"/>
                <a:cs typeface="Calibri" pitchFamily="34" charset="-120"/>
              </a:rPr>
              <a:t>17</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384048"/>
            <a:ext cx="960120" cy="720090"/>
          </a:xfrm>
          <a:prstGeom prst="rect">
            <a:avLst/>
          </a:prstGeom>
        </p:spPr>
      </p:pic>
      <p:sp>
        <p:nvSpPr>
          <p:cNvPr id="3" name="Shape 0"/>
          <p:cNvSpPr/>
          <p:nvPr/>
        </p:nvSpPr>
        <p:spPr>
          <a:xfrm>
            <a:off x="457200" y="384048"/>
            <a:ext cx="960120" cy="720090"/>
          </a:xfrm>
          <a:prstGeom prst="rect">
            <a:avLst/>
          </a:prstGeom>
          <a:ln w="9525">
            <a:solidFill>
              <a:srgbClr val="CFDCD5"/>
            </a:solidFill>
            <a:prstDash val="solid"/>
          </a:ln>
        </p:spPr>
      </p:sp>
      <p:sp>
        <p:nvSpPr>
          <p:cNvPr id="4" name="Text 1"/>
          <p:cNvSpPr txBox="1"/>
          <p:nvPr/>
        </p:nvSpPr>
        <p:spPr>
          <a:xfrm>
            <a:off x="1600200" y="329184"/>
            <a:ext cx="621792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United States</a:t>
            </a:r>
            <a:endParaRPr lang="en-US" sz="2200" dirty="0"/>
          </a:p>
        </p:txBody>
      </p:sp>
      <p:sp>
        <p:nvSpPr>
          <p:cNvPr id="5" name="Text 2"/>
          <p:cNvSpPr txBox="1"/>
          <p:nvPr/>
        </p:nvSpPr>
        <p:spPr>
          <a:xfrm>
            <a:off x="1600200" y="786384"/>
            <a:ext cx="6217920" cy="310896"/>
          </a:xfrm>
          <a:prstGeom prst="rect">
            <a:avLst/>
          </a:prstGeom>
          <a:noFill/>
          <a:ln/>
        </p:spPr>
        <p:txBody>
          <a:bodyPr wrap="square" lIns="0" tIns="0" rIns="0" bIns="0" rtlCol="0" anchor="t"/>
          <a:lstStyle/>
          <a:p>
            <a:pPr indent="0" marL="0">
              <a:buNone/>
            </a:pPr>
            <a:r>
              <a:rPr lang="en-US" sz="1300" dirty="0">
                <a:solidFill>
                  <a:srgbClr val="24313A"/>
                </a:solidFill>
                <a:latin typeface="Calibri" pitchFamily="34" charset="0"/>
                <a:ea typeface="Calibri" pitchFamily="34" charset="-122"/>
                <a:cs typeface="Calibri" pitchFamily="34" charset="-120"/>
              </a:rPr>
              <a:t>Colorado</a:t>
            </a:r>
            <a:endParaRPr lang="en-US" sz="1300" dirty="0"/>
          </a:p>
        </p:txBody>
      </p:sp>
      <p:sp>
        <p:nvSpPr>
          <p:cNvPr id="6" name="Shape 3"/>
          <p:cNvSpPr/>
          <p:nvPr/>
        </p:nvSpPr>
        <p:spPr>
          <a:xfrm>
            <a:off x="8257032" y="384048"/>
            <a:ext cx="3474720" cy="429768"/>
          </a:xfrm>
          <a:prstGeom prst="roundRect">
            <a:avLst>
              <a:gd name="adj" fmla="val 50000"/>
            </a:avLst>
          </a:prstGeom>
          <a:solidFill>
            <a:srgbClr val="EAF2EE"/>
          </a:solidFill>
          <a:ln w="12700">
            <a:solidFill>
              <a:srgbClr val="B3542E"/>
            </a:solidFill>
            <a:prstDash val="solid"/>
          </a:ln>
        </p:spPr>
      </p:sp>
      <p:sp>
        <p:nvSpPr>
          <p:cNvPr id="7" name="Text 4"/>
          <p:cNvSpPr txBox="1"/>
          <p:nvPr/>
        </p:nvSpPr>
        <p:spPr>
          <a:xfrm>
            <a:off x="8257032" y="384048"/>
            <a:ext cx="3474720" cy="429768"/>
          </a:xfrm>
          <a:prstGeom prst="rect">
            <a:avLst/>
          </a:prstGeom>
          <a:noFill/>
          <a:ln/>
        </p:spPr>
        <p:txBody>
          <a:bodyPr wrap="square" lIns="0" tIns="0" rIns="0" bIns="0" rtlCol="0" anchor="ctr"/>
          <a:lstStyle/>
          <a:p>
            <a:pPr algn="ctr" indent="0" marL="0">
              <a:buNone/>
            </a:pPr>
            <a:r>
              <a:rPr lang="en-US" sz="1350" b="1" dirty="0">
                <a:solidFill>
                  <a:srgbClr val="B3542E"/>
                </a:solidFill>
                <a:latin typeface="Calibri" pitchFamily="34" charset="0"/>
                <a:ea typeface="Calibri" pitchFamily="34" charset="-122"/>
                <a:cs typeface="Calibri" pitchFamily="34" charset="-120"/>
              </a:rPr>
              <a:t>Flexible positions</a:t>
            </a:r>
            <a:endParaRPr lang="en-US" sz="1350" dirty="0"/>
          </a:p>
        </p:txBody>
      </p:sp>
      <p:sp>
        <p:nvSpPr>
          <p:cNvPr id="8" name="Text 5"/>
          <p:cNvSpPr txBox="1"/>
          <p:nvPr/>
        </p:nvSpPr>
        <p:spPr>
          <a:xfrm>
            <a:off x="7342632" y="850392"/>
            <a:ext cx="4389120" cy="274320"/>
          </a:xfrm>
          <a:prstGeom prst="rect">
            <a:avLst/>
          </a:prstGeom>
          <a:noFill/>
          <a:ln/>
        </p:spPr>
        <p:txBody>
          <a:bodyPr wrap="square" lIns="0" tIns="0" rIns="0" bIns="0" rtlCol="0" anchor="t"/>
          <a:lstStyle/>
          <a:p>
            <a:pPr algn="r" indent="0" marL="0">
              <a:buNone/>
            </a:pPr>
            <a:r>
              <a:rPr lang="en-US" sz="1100" dirty="0">
                <a:solidFill>
                  <a:srgbClr val="24313A"/>
                </a:solidFill>
                <a:latin typeface="Calibri" pitchFamily="34" charset="0"/>
                <a:ea typeface="Calibri" pitchFamily="34" charset="-122"/>
                <a:cs typeface="Calibri" pitchFamily="34" charset="-120"/>
              </a:rPr>
              <a:t>Target: Retired</a:t>
            </a:r>
            <a:endParaRPr lang="en-US" sz="1100" dirty="0"/>
          </a:p>
        </p:txBody>
      </p:sp>
      <p:sp>
        <p:nvSpPr>
          <p:cNvPr id="9" name="Shape 6"/>
          <p:cNvSpPr/>
          <p:nvPr/>
        </p:nvSpPr>
        <p:spPr>
          <a:xfrm>
            <a:off x="457200" y="1371600"/>
            <a:ext cx="11274552" cy="3858768"/>
          </a:xfrm>
          <a:prstGeom prst="roundRect">
            <a:avLst>
              <a:gd name="adj" fmla="val 2844"/>
            </a:avLst>
          </a:prstGeom>
          <a:solidFill>
            <a:srgbClr val="EAF2EE"/>
          </a:solidFill>
          <a:ln w="12700">
            <a:solidFill>
              <a:srgbClr val="EAF2EE"/>
            </a:solidFill>
            <a:prstDash val="solid"/>
          </a:ln>
        </p:spPr>
      </p:sp>
      <p:sp>
        <p:nvSpPr>
          <p:cNvPr id="10" name="Shape 7"/>
          <p:cNvSpPr/>
          <p:nvPr/>
        </p:nvSpPr>
        <p:spPr>
          <a:xfrm>
            <a:off x="777240" y="1691640"/>
            <a:ext cx="777240" cy="777240"/>
          </a:xfrm>
          <a:prstGeom prst="ellipse">
            <a:avLst/>
          </a:prstGeom>
          <a:solidFill>
            <a:srgbClr val="1F4E46"/>
          </a:solidFill>
          <a:ln w="12700">
            <a:solidFill>
              <a:srgbClr val="1F4E46"/>
            </a:solidFill>
            <a:prstDash val="solid"/>
          </a:ln>
        </p:spPr>
      </p:sp>
      <p:pic>
        <p:nvPicPr>
          <p:cNvPr id="11" name="Image 1" descr="preencoded.png">    </p:cNvPr>
          <p:cNvPicPr>
            <a:picLocks noChangeAspect="1"/>
          </p:cNvPicPr>
          <p:nvPr/>
        </p:nvPicPr>
        <p:blipFill>
          <a:blip r:embed="rId2"/>
          <a:stretch>
            <a:fillRect/>
          </a:stretch>
        </p:blipFill>
        <p:spPr>
          <a:xfrm>
            <a:off x="963778" y="1878178"/>
            <a:ext cx="404165" cy="404165"/>
          </a:xfrm>
          <a:prstGeom prst="rect">
            <a:avLst/>
          </a:prstGeom>
        </p:spPr>
      </p:pic>
      <p:sp>
        <p:nvSpPr>
          <p:cNvPr id="12" name="Text 8"/>
          <p:cNvSpPr txBox="1"/>
          <p:nvPr/>
        </p:nvSpPr>
        <p:spPr>
          <a:xfrm>
            <a:off x="1783080" y="1536192"/>
            <a:ext cx="9738360" cy="868680"/>
          </a:xfrm>
          <a:prstGeom prst="rect">
            <a:avLst/>
          </a:prstGeom>
          <a:noFill/>
          <a:ln/>
        </p:spPr>
        <p:txBody>
          <a:bodyPr wrap="square" lIns="0" tIns="0" rIns="0" bIns="0" rtlCol="0" anchor="t"/>
          <a:lstStyle/>
          <a:p>
            <a:pPr indent="0" marL="0">
              <a:buNone/>
            </a:pPr>
            <a:r>
              <a:rPr lang="en-US" sz="2100" b="1" dirty="0">
                <a:solidFill>
                  <a:srgbClr val="24313A"/>
                </a:solidFill>
                <a:latin typeface="Cambria" pitchFamily="34" charset="0"/>
                <a:ea typeface="Cambria" pitchFamily="34" charset="-122"/>
                <a:cs typeface="Cambria" pitchFamily="34" charset="-120"/>
              </a:rPr>
              <a:t>Retired Mentors for New Teachers (Aurora Public Schools; REL Central evaluation, 2017)</a:t>
            </a:r>
            <a:endParaRPr lang="en-US" sz="2100" dirty="0"/>
          </a:p>
        </p:txBody>
      </p:sp>
      <p:sp>
        <p:nvSpPr>
          <p:cNvPr id="13" name="Text 9"/>
          <p:cNvSpPr txBox="1"/>
          <p:nvPr/>
        </p:nvSpPr>
        <p:spPr>
          <a:xfrm>
            <a:off x="1783080" y="2395728"/>
            <a:ext cx="9738360" cy="2450592"/>
          </a:xfrm>
          <a:prstGeom prst="rect">
            <a:avLst/>
          </a:prstGeom>
          <a:noFill/>
          <a:ln/>
        </p:spPr>
        <p:txBody>
          <a:bodyPr wrap="square" lIns="0" tIns="0" rIns="0" bIns="0" rtlCol="0" anchor="t"/>
          <a:lstStyle/>
          <a:p>
            <a:pPr indent="0" marL="0">
              <a:lnSpc>
                <a:spcPct val="106000"/>
              </a:lnSpc>
              <a:buNone/>
            </a:pPr>
            <a:r>
              <a:rPr lang="en-US" sz="1500" dirty="0">
                <a:solidFill>
                  <a:srgbClr val="24313A"/>
                </a:solidFill>
                <a:latin typeface="Calibri" pitchFamily="34" charset="0"/>
                <a:ea typeface="Calibri" pitchFamily="34" charset="-122"/>
                <a:cs typeface="Calibri" pitchFamily="34" charset="-120"/>
              </a:rPr>
              <a:t>Aurora Public Schools, a district in Colorado, pays recently retired teachers to mentor new teachers. Retired teachers with a strong record in the district are hired part-time to accompany first- and second-year teachers in high-poverty elementary schools for two years, meeting them every week and observing their lessons, which is far more support than the district's usual one-year ‘buddy’ scheme. For the retiree it is a paid, part-time way back into the school system; for the district it is a way to keep expertise in the classroom. A randomised trial run by the Regional Educational Laboratory Central for the US Institute of Education Sciences, published in 2017, followed 77 new teachers in 11 schools: it found a small gain in pupils' mathematics results after the first year that did not last, no effect on reading and no effect on whether the new teachers stayed.</a:t>
            </a:r>
            <a:endParaRPr lang="en-US" sz="1500" dirty="0"/>
          </a:p>
        </p:txBody>
      </p:sp>
      <p:sp>
        <p:nvSpPr>
          <p:cNvPr id="14" name="Text 10"/>
          <p:cNvSpPr txBox="1"/>
          <p:nvPr/>
        </p:nvSpPr>
        <p:spPr>
          <a:xfrm>
            <a:off x="1783080" y="4864608"/>
            <a:ext cx="9738360" cy="274320"/>
          </a:xfrm>
          <a:prstGeom prst="rect">
            <a:avLst/>
          </a:prstGeom>
          <a:noFill/>
          <a:ln/>
        </p:spPr>
        <p:txBody>
          <a:bodyPr wrap="square" lIns="0" tIns="0" rIns="0" bIns="0" rtlCol="0" anchor="ctr"/>
          <a:lstStyle/>
          <a:p>
            <a:pPr indent="0" marL="0">
              <a:buNone/>
            </a:pPr>
            <a:r>
              <a:rPr lang="en-US" sz="1150" b="1" dirty="0">
                <a:solidFill>
                  <a:srgbClr val="24313A"/>
                </a:solidFill>
                <a:latin typeface="Calibri" pitchFamily="34" charset="0"/>
                <a:ea typeface="Calibri" pitchFamily="34" charset="-122"/>
                <a:cs typeface="Calibri" pitchFamily="34" charset="-120"/>
              </a:rPr>
              <a:t>Secondary instruments: </a:t>
            </a:r>
            <a:pPr indent="0" marL="0">
              <a:buNone/>
            </a:pPr>
            <a:r>
              <a:rPr lang="en-US" sz="1150" dirty="0">
                <a:solidFill>
                  <a:srgbClr val="24313A"/>
                </a:solidFill>
                <a:latin typeface="Calibri" pitchFamily="34" charset="0"/>
                <a:ea typeface="Calibri" pitchFamily="34" charset="-122"/>
                <a:cs typeface="Calibri" pitchFamily="34" charset="-120"/>
              </a:rPr>
              <a:t>none (single-instrument policy)</a:t>
            </a:r>
            <a:endParaRPr lang="en-US" sz="1150" dirty="0"/>
          </a:p>
        </p:txBody>
      </p:sp>
      <p:sp>
        <p:nvSpPr>
          <p:cNvPr id="15" name="Text 11"/>
          <p:cNvSpPr txBox="1"/>
          <p:nvPr/>
        </p:nvSpPr>
        <p:spPr>
          <a:xfrm>
            <a:off x="457200" y="5413248"/>
            <a:ext cx="11274552" cy="868680"/>
          </a:xfrm>
          <a:prstGeom prst="rect">
            <a:avLst/>
          </a:prstGeom>
          <a:noFill/>
          <a:ln/>
        </p:spPr>
        <p:txBody>
          <a:bodyPr wrap="square" lIns="0" tIns="0" rIns="0" bIns="0" rtlCol="0" anchor="t"/>
          <a:lstStyle/>
          <a:p>
            <a:pPr indent="0" marL="0">
              <a:buNone/>
            </a:pPr>
            <a:r>
              <a:rPr lang="en-US" sz="1000" b="1" dirty="0">
                <a:solidFill>
                  <a:srgbClr val="24313A"/>
                </a:solidFill>
                <a:latin typeface="Calibri" pitchFamily="34" charset="0"/>
                <a:ea typeface="Calibri" pitchFamily="34" charset="-122"/>
                <a:cs typeface="Calibri" pitchFamily="34" charset="-120"/>
              </a:rPr>
              <a:t>Source: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3" invalidUrl="" action="" tgtFrame="" tooltip="https://ies.ed.gov/use-work/resource-library/report/descriptive-study/impacts-retired-mentors-new-teachers-program" history="1" highlightClick="0" endSnd="0">
                  <a:extLst>
                    <a:ext uri="{A12FA001-AC4F-418D-AE19-62706E023703}">
                      <ahyp:hlinkClr xmlns:ahyp="http://schemas.microsoft.com/office/drawing/2018/hyperlinkcolor" val="tx"/>
                    </a:ext>
                  </a:extLst>
                </a:hlinkClick>
              </a:rPr>
              <a:t>https://ies.ed.gov/use-work/resource-library/report/descriptive-study/impacts-retired-mentors-new-teachers-program</a:t>
            </a:r>
            <a:endParaRPr lang="en-US" sz="1000" dirty="0"/>
          </a:p>
        </p:txBody>
      </p:sp>
      <p:sp>
        <p:nvSpPr>
          <p:cNvPr id="16" name="Text 12"/>
          <p:cNvSpPr txBox="1"/>
          <p:nvPr/>
        </p:nvSpPr>
        <p:spPr>
          <a:xfrm>
            <a:off x="11185855" y="6473952"/>
            <a:ext cx="548640" cy="274320"/>
          </a:xfrm>
          <a:prstGeom prst="rect">
            <a:avLst/>
          </a:prstGeom>
          <a:noFill/>
          <a:ln/>
        </p:spPr>
        <p:txBody>
          <a:bodyPr wrap="square" lIns="0" tIns="0" rIns="0" bIns="0" rtlCol="0" anchor="ctr"/>
          <a:lstStyle/>
          <a:p>
            <a:pPr algn="r" indent="0" marL="0">
              <a:buNone/>
            </a:pPr>
            <a:r>
              <a:rPr lang="en-US" sz="900" dirty="0">
                <a:solidFill>
                  <a:srgbClr val="24313A"/>
                </a:solidFill>
                <a:latin typeface="Calibri" pitchFamily="34" charset="0"/>
                <a:ea typeface="Calibri" pitchFamily="34" charset="-122"/>
                <a:cs typeface="Calibri" pitchFamily="34" charset="-120"/>
              </a:rPr>
              <a:t>18</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48640"/>
          </a:xfrm>
          <a:prstGeom prst="rect">
            <a:avLst/>
          </a:prstGeom>
          <a:noFill/>
          <a:ln/>
        </p:spPr>
        <p:txBody>
          <a:bodyPr wrap="square" lIns="0" tIns="0" rIns="0" bIns="0" rtlCol="0" anchor="ctr"/>
          <a:lstStyle/>
          <a:p>
            <a:pPr indent="0" marL="0">
              <a:buNone/>
            </a:pPr>
            <a:r>
              <a:rPr lang="en-US" sz="2800" b="1" dirty="0">
                <a:solidFill>
                  <a:srgbClr val="24313A"/>
                </a:solidFill>
                <a:latin typeface="Cambria" pitchFamily="34" charset="0"/>
                <a:ea typeface="Cambria" pitchFamily="34" charset="-122"/>
                <a:cs typeface="Cambria" pitchFamily="34" charset="-120"/>
              </a:rPr>
              <a:t>Summary: 16 policies at a glance</a:t>
            </a:r>
            <a:endParaRPr lang="en-US" sz="28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457200" y="1188720"/>
          <a:ext cx="11274552" cy="914400"/>
        </p:xfrm>
        <a:graphic>
          <a:graphicData uri="http://schemas.openxmlformats.org/drawingml/2006/table">
            <a:tbl>
              <a:tblPr/>
              <a:tblGrid>
                <a:gridCol w="2148840"/>
                <a:gridCol w="5349240"/>
                <a:gridCol w="2011680"/>
                <a:gridCol w="1764792"/>
              </a:tblGrid>
              <a:tr h="256032">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Country</a:t>
                      </a:r>
                      <a:endParaRPr lang="en-US" sz="10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1F4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Policy</a:t>
                      </a:r>
                      <a:endParaRPr lang="en-US" sz="10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1F4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Category</a:t>
                      </a:r>
                      <a:endParaRPr lang="en-US" sz="10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1F4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Target group(s)</a:t>
                      </a:r>
                      <a:endParaRPr lang="en-US" sz="10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1F4E46"/>
                    </a:solidFill>
                  </a:tcPr>
                </a:tc>
              </a:tr>
              <a:tr h="256032">
                <a:tc>
                  <a:txBody>
                    <a:bodyPr/>
                    <a:lstStyle/>
                    <a:p>
                      <a:pPr indent="0" marL="0">
                        <a:buNone/>
                      </a:pPr>
                      <a:r>
                        <a:rPr lang="en-US" sz="950" b="1" dirty="0">
                          <a:solidFill>
                            <a:srgbClr val="24313A"/>
                          </a:solidFill>
                          <a:latin typeface="Calibri" pitchFamily="34" charset="0"/>
                          <a:ea typeface="Calibri" pitchFamily="34" charset="-122"/>
                          <a:cs typeface="Calibri" pitchFamily="34" charset="-120"/>
                        </a:rPr>
                        <a:t>Australia (Victoria)</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Teacher Re-Engagement Initiative (TREI), 2022–2025</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Support &amp; training</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Switchers / Leavers / Retired</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r>
              <a:tr h="256032">
                <a:tc>
                  <a:txBody>
                    <a:bodyPr/>
                    <a:lstStyle/>
                    <a:p>
                      <a:pPr indent="0" marL="0">
                        <a:buNone/>
                      </a:pPr>
                      <a:r>
                        <a:rPr lang="en-US" sz="950" b="1" dirty="0">
                          <a:solidFill>
                            <a:srgbClr val="24313A"/>
                          </a:solidFill>
                          <a:latin typeface="Calibri" pitchFamily="34" charset="0"/>
                          <a:ea typeface="Calibri" pitchFamily="34" charset="-122"/>
                          <a:cs typeface="Calibri" pitchFamily="34" charset="-120"/>
                        </a:rPr>
                        <a:t>Canada (Quebec)</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Incentive pay for returning retired teachers (2020, made permanent) and ministerial letter campaign (2023)</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Financial incentives</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Retired</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r>
              <a:tr h="256032">
                <a:tc>
                  <a:txBody>
                    <a:bodyPr/>
                    <a:lstStyle/>
                    <a:p>
                      <a:pPr indent="0" marL="0">
                        <a:buNone/>
                      </a:pPr>
                      <a:r>
                        <a:rPr lang="en-US" sz="950" b="1" dirty="0">
                          <a:solidFill>
                            <a:srgbClr val="24313A"/>
                          </a:solidFill>
                          <a:latin typeface="Calibri" pitchFamily="34" charset="0"/>
                          <a:ea typeface="Calibri" pitchFamily="34" charset="-122"/>
                          <a:cs typeface="Calibri" pitchFamily="34" charset="-120"/>
                        </a:rPr>
                        <a:t>China</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Silver-Age Lecturing Plan: retired teachers posted to rural schools, 2018–</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Flexible positions</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Retired</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r>
              <a:tr h="256032">
                <a:tc>
                  <a:txBody>
                    <a:bodyPr/>
                    <a:lstStyle/>
                    <a:p>
                      <a:pPr indent="0" marL="0">
                        <a:buNone/>
                      </a:pPr>
                      <a:r>
                        <a:rPr lang="en-US" sz="950" b="1" dirty="0">
                          <a:solidFill>
                            <a:srgbClr val="24313A"/>
                          </a:solidFill>
                          <a:latin typeface="Calibri" pitchFamily="34" charset="0"/>
                          <a:ea typeface="Calibri" pitchFamily="34" charset="-122"/>
                          <a:cs typeface="Calibri" pitchFamily="34" charset="-120"/>
                        </a:rPr>
                        <a:t>Germany (Lower Saxony)</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Higher, then no, earnings ceiling for retired teachers who keep teaching, 2022–2024</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Financial incentives</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Retired</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r>
              <a:tr h="256032">
                <a:tc>
                  <a:txBody>
                    <a:bodyPr/>
                    <a:lstStyle/>
                    <a:p>
                      <a:pPr indent="0" marL="0">
                        <a:buNone/>
                      </a:pPr>
                      <a:r>
                        <a:rPr lang="en-US" sz="950" b="1" dirty="0">
                          <a:solidFill>
                            <a:srgbClr val="24313A"/>
                          </a:solidFill>
                          <a:latin typeface="Calibri" pitchFamily="34" charset="0"/>
                          <a:ea typeface="Calibri" pitchFamily="34" charset="-122"/>
                          <a:cs typeface="Calibri" pitchFamily="34" charset="-120"/>
                        </a:rPr>
                        <a:t>Germany (Lower Saxony)</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Minister's letter to teachers approaching retirement (November 2023)</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Information &amp; nudges</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Retired</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r>
              <a:tr h="256032">
                <a:tc>
                  <a:txBody>
                    <a:bodyPr/>
                    <a:lstStyle/>
                    <a:p>
                      <a:pPr indent="0" marL="0">
                        <a:buNone/>
                      </a:pPr>
                      <a:r>
                        <a:rPr lang="en-US" sz="950" b="1" dirty="0">
                          <a:solidFill>
                            <a:srgbClr val="24313A"/>
                          </a:solidFill>
                          <a:latin typeface="Calibri" pitchFamily="34" charset="0"/>
                          <a:ea typeface="Calibri" pitchFamily="34" charset="-122"/>
                          <a:cs typeface="Calibri" pitchFamily="34" charset="-120"/>
                        </a:rPr>
                        <a:t>Ireland</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Waiver of pension abatement for retired teachers: 50 days a year (2021–2027)</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Financial incentives</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Retired</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r>
              <a:tr h="256032">
                <a:tc>
                  <a:txBody>
                    <a:bodyPr/>
                    <a:lstStyle/>
                    <a:p>
                      <a:pPr indent="0" marL="0">
                        <a:buNone/>
                      </a:pPr>
                      <a:r>
                        <a:rPr lang="en-US" sz="950" b="1" dirty="0">
                          <a:solidFill>
                            <a:srgbClr val="24313A"/>
                          </a:solidFill>
                          <a:latin typeface="Calibri" pitchFamily="34" charset="0"/>
                          <a:ea typeface="Calibri" pitchFamily="34" charset="-122"/>
                          <a:cs typeface="Calibri" pitchFamily="34" charset="-120"/>
                        </a:rPr>
                        <a:t>Japan</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Abolition of the teacher licence renewal system (1 July 2022)</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Flexible re-certification</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Switchers / Leavers</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r>
              <a:tr h="256032">
                <a:tc>
                  <a:txBody>
                    <a:bodyPr/>
                    <a:lstStyle/>
                    <a:p>
                      <a:pPr indent="0" marL="0">
                        <a:buNone/>
                      </a:pPr>
                      <a:r>
                        <a:rPr lang="en-US" sz="950" b="1" dirty="0">
                          <a:solidFill>
                            <a:srgbClr val="24313A"/>
                          </a:solidFill>
                          <a:latin typeface="Calibri" pitchFamily="34" charset="0"/>
                          <a:ea typeface="Calibri" pitchFamily="34" charset="-122"/>
                          <a:cs typeface="Calibri" pitchFamily="34" charset="-120"/>
                        </a:rPr>
                        <a:t>Netherlands</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Grant to primary schools for re-hiring former teachers, 2017–2020</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Financial incentives</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Switchers / Leavers</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r>
              <a:tr h="256032">
                <a:tc>
                  <a:txBody>
                    <a:bodyPr/>
                    <a:lstStyle/>
                    <a:p>
                      <a:pPr indent="0" marL="0">
                        <a:buNone/>
                      </a:pPr>
                      <a:r>
                        <a:rPr lang="en-US" sz="950" b="1" dirty="0">
                          <a:solidFill>
                            <a:srgbClr val="24313A"/>
                          </a:solidFill>
                          <a:latin typeface="Calibri" pitchFamily="34" charset="0"/>
                          <a:ea typeface="Calibri" pitchFamily="34" charset="-122"/>
                          <a:cs typeface="Calibri" pitchFamily="34" charset="-120"/>
                        </a:rPr>
                        <a:t>New Zealand</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Streamlined return-to-teaching pathway: no refresher course, fees covered (2024–2028)</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Flexible re-certification</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Switchers / Leavers</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r>
              <a:tr h="256032">
                <a:tc>
                  <a:txBody>
                    <a:bodyPr/>
                    <a:lstStyle/>
                    <a:p>
                      <a:pPr indent="0" marL="0">
                        <a:buNone/>
                      </a:pPr>
                      <a:r>
                        <a:rPr lang="en-US" sz="950" b="1" dirty="0">
                          <a:solidFill>
                            <a:srgbClr val="24313A"/>
                          </a:solidFill>
                          <a:latin typeface="Calibri" pitchFamily="34" charset="0"/>
                          <a:ea typeface="Calibri" pitchFamily="34" charset="-122"/>
                          <a:cs typeface="Calibri" pitchFamily="34" charset="-120"/>
                        </a:rPr>
                        <a:t>Portugal</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Decree-Law 51/2024: schools may hire retired teachers for shortage posts, 2024/25–</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Financial incentives</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Retired</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r>
              <a:tr h="256032">
                <a:tc>
                  <a:txBody>
                    <a:bodyPr/>
                    <a:lstStyle/>
                    <a:p>
                      <a:pPr indent="0" marL="0">
                        <a:buNone/>
                      </a:pPr>
                      <a:r>
                        <a:rPr lang="en-US" sz="950" b="1" dirty="0">
                          <a:solidFill>
                            <a:srgbClr val="24313A"/>
                          </a:solidFill>
                          <a:latin typeface="Calibri" pitchFamily="34" charset="0"/>
                          <a:ea typeface="Calibri" pitchFamily="34" charset="-122"/>
                          <a:cs typeface="Calibri" pitchFamily="34" charset="-120"/>
                        </a:rPr>
                        <a:t>Singapore</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Flexi-Adjunct Teaching Scheme (Ministry of Education)</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Flexible positions</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Switchers / Leavers / Retired</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r>
              <a:tr h="256032">
                <a:tc>
                  <a:txBody>
                    <a:bodyPr/>
                    <a:lstStyle/>
                    <a:p>
                      <a:pPr indent="0" marL="0">
                        <a:buNone/>
                      </a:pPr>
                      <a:r>
                        <a:rPr lang="en-US" sz="950" b="1" dirty="0">
                          <a:solidFill>
                            <a:srgbClr val="24313A"/>
                          </a:solidFill>
                          <a:latin typeface="Calibri" pitchFamily="34" charset="0"/>
                          <a:ea typeface="Calibri" pitchFamily="34" charset="-122"/>
                          <a:cs typeface="Calibri" pitchFamily="34" charset="-120"/>
                        </a:rPr>
                        <a:t>Sweden</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Skolverket web-based training for returning teachers and preschool teachers (since 2018)</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Support &amp; training</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Switchers / Leavers</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r>
              <a:tr h="256032">
                <a:tc>
                  <a:txBody>
                    <a:bodyPr/>
                    <a:lstStyle/>
                    <a:p>
                      <a:pPr indent="0" marL="0">
                        <a:buNone/>
                      </a:pPr>
                      <a:r>
                        <a:rPr lang="en-US" sz="950" b="1" dirty="0">
                          <a:solidFill>
                            <a:srgbClr val="24313A"/>
                          </a:solidFill>
                          <a:latin typeface="Calibri" pitchFamily="34" charset="0"/>
                          <a:ea typeface="Calibri" pitchFamily="34" charset="-122"/>
                          <a:cs typeface="Calibri" pitchFamily="34" charset="-120"/>
                        </a:rPr>
                        <a:t>Switzerland (Canton of Zurich)</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Re-entry counselling and induction for returning teachers (Zurich University of Teacher Education)</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Support &amp; training</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Switchers / Leavers</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r>
              <a:tr h="256032">
                <a:tc>
                  <a:txBody>
                    <a:bodyPr/>
                    <a:lstStyle/>
                    <a:p>
                      <a:pPr indent="0" marL="0">
                        <a:buNone/>
                      </a:pPr>
                      <a:r>
                        <a:rPr lang="en-US" sz="950" b="1" dirty="0">
                          <a:solidFill>
                            <a:srgbClr val="24313A"/>
                          </a:solidFill>
                          <a:latin typeface="Calibri" pitchFamily="34" charset="0"/>
                          <a:ea typeface="Calibri" pitchFamily="34" charset="-122"/>
                          <a:cs typeface="Calibri" pitchFamily="34" charset="-120"/>
                        </a:rPr>
                        <a:t>United Kingdom (England)</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Return to Teaching Advisers (Department for Education)</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Information &amp; nudges</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Switchers / Leavers</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r>
              <a:tr h="256032">
                <a:tc>
                  <a:txBody>
                    <a:bodyPr/>
                    <a:lstStyle/>
                    <a:p>
                      <a:pPr indent="0" marL="0">
                        <a:buNone/>
                      </a:pPr>
                      <a:r>
                        <a:rPr lang="en-US" sz="950" b="1" dirty="0">
                          <a:solidFill>
                            <a:srgbClr val="24313A"/>
                          </a:solidFill>
                          <a:latin typeface="Calibri" pitchFamily="34" charset="0"/>
                          <a:ea typeface="Calibri" pitchFamily="34" charset="-122"/>
                          <a:cs typeface="Calibri" pitchFamily="34" charset="-120"/>
                        </a:rPr>
                        <a:t>United States (Georgia)</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House Bill 385: full-time return of retired teachers in high-need subjects (2022–2026)</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Financial incentives</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Retired</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r>
              <a:tr h="256032">
                <a:tc>
                  <a:txBody>
                    <a:bodyPr/>
                    <a:lstStyle/>
                    <a:p>
                      <a:pPr indent="0" marL="0">
                        <a:buNone/>
                      </a:pPr>
                      <a:r>
                        <a:rPr lang="en-US" sz="950" b="1" dirty="0">
                          <a:solidFill>
                            <a:srgbClr val="24313A"/>
                          </a:solidFill>
                          <a:latin typeface="Calibri" pitchFamily="34" charset="0"/>
                          <a:ea typeface="Calibri" pitchFamily="34" charset="-122"/>
                          <a:cs typeface="Calibri" pitchFamily="34" charset="-120"/>
                        </a:rPr>
                        <a:t>United States (Colorado)</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Retired Mentors for New Teachers (Aurora Public Schools; REL Central evaluation, 2017)</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Flexible positions</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Retired</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r>
            </a:tbl>
          </a:graphicData>
        </a:graphic>
      </p:graphicFrame>
      <p:sp>
        <p:nvSpPr>
          <p:cNvPr id="4" name="Text 1"/>
          <p:cNvSpPr txBox="1"/>
          <p:nvPr/>
        </p:nvSpPr>
        <p:spPr>
          <a:xfrm>
            <a:off x="11185855" y="6473952"/>
            <a:ext cx="548640" cy="274320"/>
          </a:xfrm>
          <a:prstGeom prst="rect">
            <a:avLst/>
          </a:prstGeom>
          <a:noFill/>
          <a:ln/>
        </p:spPr>
        <p:txBody>
          <a:bodyPr wrap="square" lIns="0" tIns="0" rIns="0" bIns="0" rtlCol="0" anchor="ctr"/>
          <a:lstStyle/>
          <a:p>
            <a:pPr algn="r" indent="0" marL="0">
              <a:buNone/>
            </a:pPr>
            <a:r>
              <a:rPr lang="en-US" sz="900" dirty="0">
                <a:solidFill>
                  <a:srgbClr val="24313A"/>
                </a:solidFill>
                <a:latin typeface="Calibri" pitchFamily="34" charset="0"/>
                <a:ea typeface="Calibri" pitchFamily="34" charset="-122"/>
                <a:cs typeface="Calibri" pitchFamily="34" charset="-120"/>
              </a:rPr>
              <a:t>19</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Re-attracting Former Teachers</dc:title>
  <dc:subject>PptxGenJS Presentation</dc:subject>
  <dc:creator>José Manuel Torres, José Elías Durán Roa</dc:creator>
  <cp:lastModifiedBy>José Manuel Torres, José Elías Durán Roa</cp:lastModifiedBy>
  <cp:revision>1</cp:revision>
  <dcterms:created xsi:type="dcterms:W3CDTF">2026-09-17T14:50:53Z</dcterms:created>
  <dcterms:modified xsi:type="dcterms:W3CDTF">2026-09-17T14:50:53Z</dcterms:modified>
</cp:coreProperties>
</file>