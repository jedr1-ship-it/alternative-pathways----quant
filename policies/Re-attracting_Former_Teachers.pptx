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built from official sources, plus institutional evaluations and reputable press where noted. Each policy slide carries its source links; verification notes are in the speaker notes of each slide. No logo file supplied yet: drop oecd-logo.png into the build folder and rebuild to place it top-left.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target groups, as defined in the brief. A policy may target one group or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instrument categories used to classify every policy in the deck. Secondary instruments are named on each policy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tells the reader how far a policy reaches: a whole country, a state or region, or one district or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Australia (New South Wales) — Information &amp; nudges — Target: Switchers, Leavers, Retired.
Sources: NSW Government media release 'Retired teachers return to classrooms' (1,500+ contacted since November 2023, 260+ interested, 145 linked with schools in 600+ schools) and the department's 'Returning teachers' page (help with re-accreditation). The 60% share returning from retirement is taken from the OECD team's spreadsheet entry, attributed to the department; no follow-up figures after May 2024 were found. Status checked in September 2026: the department's 'Returning teachers' page and the teaching authority's re-accreditation route for returning teachers are still live, so the pathway is treated as ongoing; only the reporting stopped after May 2024.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Australia (Victoria) — Support &amp; training — Target: Switchers, Leavers, Retired.
Secondary instruments: financial (honorarium up to AUD 12,000) and information/nudges (re-engagement team contacts every registrant). Eligibility: VIT registration or Working with Children Check. Teachers returning from extended parental absence instead get a temporary resumption of up to 40 days on their substantive salary. Extra reference: Victorian Government 'Support for returning teachers' page, https://www.vic.gov.au/returning-teacher-support-services Status checked in September 2026: the registration page is still live, but no announcement was found on funding after the June 2025 placement deadline, so the title says 'since 2022' rather than a closed range.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Austria — Information &amp; nudges — Target: Retired.
Austria — Information &amp; nudges — Target: Retired.
Who runs it: the Bildungsdirektionen, the education directorates that administer schools in each province; the Vienna directorate ran the letter campaign.
Channel: letters, sent in December 2022 to about 300 retired teachers, extended to all retired teachers up to age 67 (ORF Vienna).
Response: ORF Vienna reports that three accepted. From February 2023 the directorate instructed school principals to hold the conversation in person with staff approaching retirement age, about staying on rather than returning.
Take-up: Wiener Zeitung reports 42 teachers returning from retirement across Austria's compulsory schools in 2022/23, against a workforce of more than 70,000.
Barriers: 2025 article in the European Journal of Teacher Education on pension and service-crediting rules.
Both take-up figures come from press reporting of directorate statements, not from published statistics; ORF national coverage at https://oesterreich.orf.at/stories/3198263/ and the Vorarlberg post at https://vorarlberg.orf.at/stories/3198241/.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Bahamas — Flexible positions — Target: Switchers, Leavers, Retired.
Sources: Government of The Bahamas press release 'The Ministry of Education aiming to attract more Bahamian teachers' and the Minister's statement on the recruitment of up to 300 teachers (July 2026). Announcement stage only; treat as a design, not an evaluated policy.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Canada (Ontario) — Financial incentives — Target: Retired.
Sources: Ontario College of Teachers help page 'If I retire, can I teach occasionally?' and Ontario Teachers' Federation notices on the temporary increase of the 50-day rule to 95 days (2020-21, 2021-22, 2022-23). The OECD spreadsheet also mentions a 95-day period in 1990; not verified here, so omitted from the slide.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Canada (Quebec) — Financial incentives — Target: Retired.
Primary source: Gouvernement du Québec page 'Retour à l'emploi des retraités du réseau de l'éducation' (incentive introduced 21 September 2020, made permanent; 700 retirees in 2020-21; pay at the scale held at departure from day one; daily maximum about CAD 412 vs CAD 212.15 usual substitute rate; no penalty on pension). The 2023 letter (signed 25 August 2023 by Minister Bernard Drainville), the 5,000+ figure and the CAD 578 daily incentive for retirees at the top of the scale on contracts of at least one month are reported by Le Devoir (press source).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 Flexible positions — Target: Retired.
Primary sources: MoE/MoF notice of 19 July 2018 issuing the implementation plan (eligibility: mainly principals, teaching researchers, special-grade and backbone teachers, generally 65 or under; 10,000 recruits planned 2018-2020; first cohort autumn 2018), and the 2024 implementation notice (7,000 recruits; central funding of CNY 20,000 per person per year at compulsory-education level, used for work stipend, travel and accident insurance). The 2023 National Silver-Age Teachers Action Plan (10 ministries) sets a target of roughly 120,000 silver-age teachers across all education levels within about three years.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 Financial incentives — Target: Retired.
Sources: National Assembly written questions n° 2072 (recruitment of retired teachers as vacataires; ministry answer on the six-month delay under article L. 161-22 of the Social Security Code) and n° 7305 (volunteering of retired teachers for replacements), 16th legislature. No take-up statistics.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(Lower Saxony) — Financial incentives — Target: Retired.
Sources: Lower Saxony Ministry of Education press releases. The 2022 release (Lehrkräfte-Gewinnungspaket) reports the Landtag decision to raise the Hinzuverdienstgrenze from 125% to 150% of pensionable pay from 1 October 2022, initially limited to two years, letting pensioned teachers teach on average 9-10 hours without pension reduction, plus a 15% rise in overtime pay. The 2024/25 release states that the earnings ceiling for pensioned teachers was removed as of 31 October 2024. Context: a 2023 survey by Deutsches Schulportal found that 13 of 16 Länder actively approach retired teachers and that more than 5,000 teachers nationwide had been won to stay or return (https://deutsches-schulportal.de/bildungswesen/laenderueberblick-umfrage-lehrermangel-pensionierte-lehrer/).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Germany (Lower Saxony) — Information &amp; nudges — Target: Retired.
Source: Ministry press release 'Umfangreicher Erfahrungsschatz – Kultusministerin Hamburg informiert Lehrkräfte kurz vor dem Ruhestand über Möglichkeiten der Weiterbeschäftigung' and the letter itself (PDF). The information sheet ('Anlage zum Brief') covers staying in service (deferral of up to three years for civil servants, on application before the end of the preceding school half-year) and fixed-term re-employment under the collective agreement immediately after retirement. This matches the 'leaflet with the retirement paperwork' type of nudge.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Ireland — Financial incentives — Target: Retired.
Source: Department of Education (gov.ie) 'Working as a substitute while receiving a teacher's pension'. Circular numbers (0003/2021, 04/2024, 17/2026) as cited by the Department and by the Retired Teachers' Association of Ireland (https://rtaireland.ie/pension-abatement/). Abatement applies only where earnings plus pension exceed pensionable pay at retirement (uprated); it stops as soon as the retiree stops working.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Netherlands — Financial incentives — Target: Switchers, Leavers.
Primary source: text of the 'Regeling tegemoetkoming herintreders primair onderwijs' on wetten.overheid.nl (BWBR0040130), plus the OCW newsletter of 3 July 2019 announcing a new application round. Conditions: appointment from 1 August 2017, contract of at least six months, no work as a primary-school teacher in the 12 months before appointment; grant of up to EUR 2,500 per returner paid to the school board for guidance and support costs; EUR 1.25 million available until 31 December 2018 (max. 500 returners).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Zealand — Flexible re-certification — Target: Switchers, Leavers.
Sources: Ministry of Education 'Education Workforce' page 'Returning to teaching after a break' (no TER required even after five or more years away when there is a job offer; 20 half-days of relief teaching allowed while renewing; fees and levies covered until 30 June 2028) and the Government press release 'Backing teachers: Teacher registrations funded' (352 teachers supported to return since October 2024; NZD 53.3 million over three financial years from 1 July 2025).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Portugal — Financial incentives — Target: Retired.
Primary sources: Decreto-Lei n.º 51/2024 of 28 August (Diário da República) and DGAE notice on the procedure for assigning teaching service to retired teachers. Key provisions: fixed-term public-employment contracts with retired/pensioned teachers holding professional qualification, for shortage recruitment groups or under-staffed schools, with authorisation from the member of Government responsible for education; not applicable to those retired for more than five years; annual quota fixed by joint order (Finance, Public Administration, Education); pension maintained plus an additional payment corresponding to the 1st index of the salary scale according to weekly teaching hours. The figure of 62 retirees comes from Público, 5 November 2024 (press source).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Singapore — Flexible positions — Target: Switchers, Leavers, Retired.
Sources: MOE careers page for the Flexi-Adjunct Teaching Scheme (qualification: PGDE or Diploma in Education from NIE, other professional teaching qualifications considered; appointments from 1 day to 10 weeks; teaching or mixed duties; pro-rated leave after 90 days of cumulative service; registration via the Relief Employment Management System) and MOE parliamentary reply of 23 September 2025 (2022-2024: around 220 teachers on average engaged as Flexi-Adjunct Teachers within 12 months of leaving the Education Service). Launch year of the scheme not stated on the page.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Spain (Zaragoza) — Flexible positions — Target: Retired.
Sources: Lizalde Gil &amp; Cortés Pascual (2019), '10 mirrors: el acompañamiento y la orientación formativa de los estudiantes de los grados en magisterio desde la experiencia profesional', University of Zaragoza press (Dialnet record and the book PDF on Zaguan). 57 students, 10 retired mentors, three sessions. No outcome evaluation.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Sweden — Support &amp; training — Target: Switchers, Leavers.
Sources: Skolverket course page 'Återvändande lärare och förskollärare – webbaserad utbildning' (available since October 2018; two tracks; participants choose modules; certificate per module; aimed at returners with legitimation or a qualifying degree) and Skolverket's 2020 report on the government assignment. No participation figures found on the pages.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Switzerland (Canton of Zurich) — Support &amp; training — Target: Switchers, Leavers.
Source: PH Zürich 'Wiedereinstieg' page (with the Wiedereinstiegsberatung offer). Teachers returning after at least eight years can use the induction (Berufseinführung) offer free of charge in their first school year, with financial participation of the Volksschulamt of the Canton of Zurich; the positioning assessment is subsidised by the Volksschulamt (first hour free, hours 2-6 charged); workplace mentoring (Fachbegleitung) up to 25 hours. No take-up figures published on the page.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Kingdom (England) — Information &amp; nudges — Target: Switchers, Leavers.
Sources: DfE 'Get Into Teaching' page 'Get support returning to teaching' (eligibility: previously taught or trained to teach in the UK; free one-to-one support with applications, courses such as NPQs, vacancies, webinars) and the House of Commons Education Committee report 'Teacher recruitment, training and retention' (returners 35-40% of entrants in recent years; about 17,500 FTE qualified returners in 2023, 38% of qualified entrants). The January 2022 'Come back to teaching' campaign is documented by local-authority pages (e.g. Warwickshire County Council).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Kingdom (England) — Support &amp; training — Target: Switchers, Leavers.
Sources: Buchanan et al. (2018), Evaluation of the Return to Teaching pilot programme, NFER for the Department for Education (5,729 registrations, 354 supported, 27 in permanent EBacc posts by November 2016; unlikely to represent value for money). The 2016 Returners Engagement Programme has no independent evaluation; description follows the OECD team's spreadsheet entry. Returners Engagement Programme details (November 2016, North West and South East, £600 bursary, 2-4 week course, grants to lead schools) from the gov.uk publication page and Schools Week coverage.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(Colorado) — Flexible positions — Target: Retired.
Source: Institute of Education Sciences, REL Central, 'Impacts of the Retired Mentors for New Teachers program' (DeCesare, McClelland &amp; Randel, 2017, REL 2017-225). Design: 77 classroom teachers across 11 schools randomly assigned to mentoring by retired, highly effective district educators or to the district's business-as-usual mentoring. Results: no effect on retention; effect size 0.06 on maths achievement (significant at end of year one, not at end of year two); no effect on reading. Programme start year not stated on the summary page. Written in the past tense: the programme is documented through its 2017 evaluation and its current status in the district could not be confirmed.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(Four urban districts) — Flexible positions — Target: Retired.
Sources: Gersten, Rolfhus, Clarke, Decker, Wilkins &amp; Dimino (2015), 'Intervention for First Graders With Limited Number Knowledge', American Educational Research Journal (randomised trial, 76 schools, four districts, 994 pupils, 86 tutors from retired and substitute teacher pools) and the What Works Clearinghouse study record. It is a research trial, not a standing policy.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(Georgia) — Financial incentives — Target: Retired.
Sources: Teachers Retirement System of Georgia 'HB 385 Employment' page (30+ years of service, retired for one year, full-time classroom teacher in a highest-need area determined by the RESA, effective 1 July 2022 to 30 June 2026, employer pays contributions, no additional creditable service; HB 385 sunsets 30 June 2026 and SB 150 was passed in the 2026 session) and the Georgia Department of Audits and Accounts report 'Retired Teachers Return to Work' (about 350 full-time retirees employed each year, less than 1% of the workforce), summarised by Georgia Public Broadcasting, 7 May 2025. Updated September 2026: HB 385 reached its sunset date of 30 June 2026, so the slide is written in the past tense; Senate Bill 150, passed in the 2026 session, now governs full-time re-employment of retired Georgia teachers.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(Louisiana) — Financial incentives — Target: Retired.
Sources: Teachers' Retirement System of Louisiana 'Returning to Work' page and Louisiana Department of Education webinar 'Reemployment of retired educators' (December 2023); Act 394 of 2024 (HB 967) reported by KATC. No take-up figures found.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(Michigan) — Financial incentives — Target: Retired.
Sources: Michigan Office of Retirement Services, 'Public Act 147 of 2023 FAQs' (nine to six months, $15,100 earnings cap during the waiting period, sunset 10 October 2028) and Michigan Education Association note on the signing. Replaces the OECD spreadsheet's e-mail source.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(National (AARP Foundation)) — Flexible positions — Target: Retired.
Sources: AARP Foundation Experience Corps research page (Washington University/Mathematica randomised study, Johns Hopkins health study) and programme page (18 communities; 1,284 volunteers and 3,659 pupils in 2023-24). Non-governmental programme; volunteers are not all former teachers.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(New Mexico) — Financial incentives — Target: Retired.
Sources: New Mexico Higher Education Department and Governor's office releases of 28 June 2022 (HB 73, up to three years, no salary or hour limits, 48,000 retired educators eligible, approval by the Educational Retirement Board). No take-up figures found.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(North Carolina) — Financial incentives — Target: Retired.
Sources: Jarrold-Grapes &amp; Mahler (2024), 'Retirees return to work: how a North Carolina policy helped staff high-need schools', Education Policy Analysis Archives (ERIC full text and Dialnet record). Historical policy, no longer in force.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(Virginia) — Flexible re-certification — Target: Retired.
Sources: Virginia Department of Education 'Turning the Tide' strategic plan page (Executive Directive 3, licensure system, 2022-2025 figures) and Education Week (October 2022) on the directive's provisions for retired teachers and the 2001 rule on pension plus salary in critical-shortage areas. No figures specific to retirees.
Euro amounts in brackets are approximate conversions, rounded, for orientation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table of all policies in the deck, in the same order as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table of all policies in the deck, in the same order as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slideLayout" Target="../slideLayouts/slideLayout1.xml"/><Relationship Id="rId1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nsw.gov.au/media-releases/retired-teachers-return-to-classrooms" TargetMode="External"/><Relationship Id="rId4" Type="http://schemas.openxmlformats.org/officeDocument/2006/relationships/hyperlink" Target="https://education.nsw.gov.au/teach-nsw/find-teaching-jobs/returning-teachers" TargetMode="External"/><Relationship Id="rId1" Type="http://schemas.openxmlformats.org/officeDocument/2006/relationships/image" Target="../media/image-5-1.png"/><Relationship Id="rId2" Type="http://schemas.openxmlformats.org/officeDocument/2006/relationships/image" Target="../media/image-5-2.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vic.gov.au/teacher-re-engagement-initiative"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wien.orf.at/stories/3200562/" TargetMode="External"/><Relationship Id="rId4" Type="http://schemas.openxmlformats.org/officeDocument/2006/relationships/hyperlink" Target="https://www.wienerzeitung.at/nachrichten/politik/oesterreich/2175563-Nur-42-Pflichtschullehrer-kamen-aus-Pension-zurueck.html" TargetMode="External"/><Relationship Id="rId5" Type="http://schemas.openxmlformats.org/officeDocument/2006/relationships/hyperlink" Target="https://www.tandfonline.com/doi/full/10.1080/02619768.2025.2531930" TargetMode="External"/><Relationship Id="rId1" Type="http://schemas.openxmlformats.org/officeDocument/2006/relationships/image" Target="../media/image-7-1.png"/><Relationship Id="rId2" Type="http://schemas.openxmlformats.org/officeDocument/2006/relationships/image" Target="../media/image-7-2.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www.bahamas.gov.bs/news-press-release/the-ministry-of-education-aiming-to-attract-more-bahamian-teachers" TargetMode="External"/><Relationship Id="rId4" Type="http://schemas.openxmlformats.org/officeDocument/2006/relationships/hyperlink" Target="https://www.bahamaspress.com/statement-by-the-minister-of-education-dpm-chester-cooper-on-the-recruitment-of-upto-300-teachers/" TargetMode="External"/><Relationship Id="rId1" Type="http://schemas.openxmlformats.org/officeDocument/2006/relationships/image" Target="../media/image-8-1.pn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help.oct.ca/hc/en-us/articles/360025778433-If-I-retire-can-I-teach-occasionally" TargetMode="External"/><Relationship Id="rId4" Type="http://schemas.openxmlformats.org/officeDocument/2006/relationships/hyperlink" Target="https://www.otffeo.on.ca/en/news/50-day-re-employment-rule-increased-to-95-days-for-some-otpp-retirees-until-june-30-2023/" TargetMode="External"/><Relationship Id="rId1" Type="http://schemas.openxmlformats.org/officeDocument/2006/relationships/image" Target="../media/image-9-1.png"/><Relationship Id="rId2" Type="http://schemas.openxmlformats.org/officeDocument/2006/relationships/image" Target="../media/image-9-2.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www.quebec.ca/en/government/work-government/jobs-education/teaching-general-education-youth-sector-vocational-training-adult-education/return-work-retired-teacher" TargetMode="External"/><Relationship Id="rId4" Type="http://schemas.openxmlformats.org/officeDocument/2006/relationships/hyperlink" Target="https://www.ledevoir.com/actualites/education/912921/quebec-espere-nouveau-attirer-milliers-enseignants-retraites-ecoles" TargetMode="External"/><Relationship Id="rId1" Type="http://schemas.openxmlformats.org/officeDocument/2006/relationships/image" Target="../media/image-10-1.png"/><Relationship Id="rId2" Type="http://schemas.openxmlformats.org/officeDocument/2006/relationships/image" Target="../media/image-10-2.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www.moe.gov.cn/srcsite/A10/s7151/201807/t20180719_343448.html" TargetMode="External"/><Relationship Id="rId4" Type="http://schemas.openxmlformats.org/officeDocument/2006/relationships/hyperlink" Target="https://www.gov.cn/zhengce/zhengceku/202408/content_6967278.htm" TargetMode="External"/><Relationship Id="rId1" Type="http://schemas.openxmlformats.org/officeDocument/2006/relationships/image" Target="../media/image-11-1.png"/><Relationship Id="rId2" Type="http://schemas.openxmlformats.org/officeDocument/2006/relationships/image" Target="../media/image-11-2.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questions.assemblee-nationale.fr/q16/16-2072QE.htm" TargetMode="External"/><Relationship Id="rId4" Type="http://schemas.openxmlformats.org/officeDocument/2006/relationships/hyperlink" Target="https://questions.assemblee-nationale.fr/q16/16-7305QE.htm" TargetMode="External"/><Relationship Id="rId1" Type="http://schemas.openxmlformats.org/officeDocument/2006/relationships/image" Target="../media/image-12-1.png"/><Relationship Id="rId2" Type="http://schemas.openxmlformats.org/officeDocument/2006/relationships/image" Target="../media/image-12-2.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k.niedersachsen.de/startseite/aktuelles/presseinformationen/lehrkrafte-gewinnungspaket-landtag-erhoht-hinzuverdienstgrenze-und-mehrarbeitsvergutung-tonne-unterrichten-lohnt-sich-215592.html" TargetMode="External"/><Relationship Id="rId4" Type="http://schemas.openxmlformats.org/officeDocument/2006/relationships/hyperlink" Target="https://www.mk.niedersachsen.de/startseite/aktuelles/presseinformationen/2-schulhalbjahr-2024-2025-unterrichtsversorgung-bleibt-stabil-238881.html" TargetMode="External"/><Relationship Id="rId1" Type="http://schemas.openxmlformats.org/officeDocument/2006/relationships/image" Target="../media/image-13-1.png"/><Relationship Id="rId2" Type="http://schemas.openxmlformats.org/officeDocument/2006/relationships/image" Target="../media/image-13-2.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mk.niedersachsen.de/startseite/aktuelles/kultusministerin_hamburg_schreibt_an_angehende_pensionare/umfangreicher-erfahrungsschatz-kultusministerin-hamburg-informiert-lehrkrafte-kurz-vor-dem-ruhestand-uber-moglichkeiten-der-weiterbeschaftigung-227231.html" TargetMode="External"/><Relationship Id="rId4" Type="http://schemas.openxmlformats.org/officeDocument/2006/relationships/hyperlink" Target="https://www.mk.niedersachsen.de/download/201317/Schreiben_an_angehende_Pensionaerinnen_und_Pensionaere.pdf" TargetMode="External"/><Relationship Id="rId1" Type="http://schemas.openxmlformats.org/officeDocument/2006/relationships/image" Target="../media/image-14-1.png"/><Relationship Id="rId2" Type="http://schemas.openxmlformats.org/officeDocument/2006/relationships/image" Target="../media/image-14-2.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gov.ie/en/department-of-education/publications/working-as-a-substitute-while-receiving-a-teachers-pension/"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wetten.overheid.nl/1.3:c:BWBR0040130&amp;g=2020-07-01&amp;z=2025-10-18" TargetMode="External"/><Relationship Id="rId4" Type="http://schemas.openxmlformats.org/officeDocument/2006/relationships/hyperlink" Target="https://www.nieuwsbrievenminocw.nl/actueel/nieuws/2019/07/03/subsidie-voor-herintreders" TargetMode="External"/><Relationship Id="rId1" Type="http://schemas.openxmlformats.org/officeDocument/2006/relationships/image" Target="../media/image-16-1.png"/><Relationship Id="rId2" Type="http://schemas.openxmlformats.org/officeDocument/2006/relationships/image" Target="../media/image-16-2.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workforce.education.govt.nz/current-teachers/returning-teaching/returning-teaching-after-break" TargetMode="External"/><Relationship Id="rId4" Type="http://schemas.openxmlformats.org/officeDocument/2006/relationships/hyperlink" Target="https://www.beehive.govt.nz/release/backing-teachers-teacher-registrations-funded" TargetMode="External"/><Relationship Id="rId1" Type="http://schemas.openxmlformats.org/officeDocument/2006/relationships/image" Target="../media/image-17-1.png"/><Relationship Id="rId2" Type="http://schemas.openxmlformats.org/officeDocument/2006/relationships/image" Target="../media/image-17-2.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diariodarepublica.pt/dr/detalhe/decreto-lei/51-2024-885927817" TargetMode="External"/><Relationship Id="rId4" Type="http://schemas.openxmlformats.org/officeDocument/2006/relationships/hyperlink" Target="https://www.dgae.medu.pt/noticias/atribuicao-de-servico-docente-aos-aposentados-e-reformados" TargetMode="External"/><Relationship Id="rId1" Type="http://schemas.openxmlformats.org/officeDocument/2006/relationships/image" Target="../media/image-18-1.png"/><Relationship Id="rId2" Type="http://schemas.openxmlformats.org/officeDocument/2006/relationships/image" Target="../media/image-18-2.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www.moe.gov.sg/careers/adjunct-and-relief-schemes/flexi-adjunct-teaching-scheme" TargetMode="External"/><Relationship Id="rId4" Type="http://schemas.openxmlformats.org/officeDocument/2006/relationships/hyperlink" Target="https://www.moe.gov.sg/news/parliamentary-replies/20250923-statistics-on-teachers-who-joined-flexi-adjunct-teaching-scheme-and-median-duration-of-teachers-on-scheme" TargetMode="External"/><Relationship Id="rId1" Type="http://schemas.openxmlformats.org/officeDocument/2006/relationships/image" Target="../media/image-19-1.png"/><Relationship Id="rId2" Type="http://schemas.openxmlformats.org/officeDocument/2006/relationships/image" Target="../media/image-19-2.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dialnet.unirioja.es/servlet/articulo?codigo=8153125" TargetMode="External"/><Relationship Id="rId4" Type="http://schemas.openxmlformats.org/officeDocument/2006/relationships/hyperlink" Target="https://zaguan.unizar.es/record/79095/files/BOOK-2019-021.pdf" TargetMode="External"/><Relationship Id="rId1" Type="http://schemas.openxmlformats.org/officeDocument/2006/relationships/image" Target="../media/image-20-1.png"/><Relationship Id="rId2" Type="http://schemas.openxmlformats.org/officeDocument/2006/relationships/image" Target="../media/image-20-2.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www.skolverket.se/skolutveckling/kurser-och-utbildningar/atervandande-larare-och-forskollarare---webbaserad-utbildning" TargetMode="External"/><Relationship Id="rId4" Type="http://schemas.openxmlformats.org/officeDocument/2006/relationships/hyperlink" Target="https://www.skolverket.se/publikationsserier/regeringsuppdrag/2020/uppdrag-om-en-webbutbildning-for-atervandande-larare-och-forskollarare" TargetMode="External"/><Relationship Id="rId1" Type="http://schemas.openxmlformats.org/officeDocument/2006/relationships/image" Target="../media/image-21-1.png"/><Relationship Id="rId2" Type="http://schemas.openxmlformats.org/officeDocument/2006/relationships/image" Target="../media/image-21-2.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phzh.ch/de/weiterbildung/weiterbildung-fuer-die-volksschule/berufslaufbahn/wiedereinstieg/" TargetMode="External"/><Relationship Id="rId1" Type="http://schemas.openxmlformats.org/officeDocument/2006/relationships/image" Target="../media/image-22-1.png"/><Relationship Id="rId2" Type="http://schemas.openxmlformats.org/officeDocument/2006/relationships/image" Target="../media/image-22-2.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getintoteaching.education.gov.uk/returning-to-teaching" TargetMode="External"/><Relationship Id="rId4" Type="http://schemas.openxmlformats.org/officeDocument/2006/relationships/hyperlink" Target="https://publications.parliament.uk/pa/cm5901/cmselect/cmeduc/627/report.html" TargetMode="External"/><Relationship Id="rId1" Type="http://schemas.openxmlformats.org/officeDocument/2006/relationships/image" Target="../media/image-23-1.png"/><Relationship Id="rId2" Type="http://schemas.openxmlformats.org/officeDocument/2006/relationships/image" Target="../media/image-23-2.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assets.publishing.service.gov.uk/media/5b33aeef40f0b67f6744de9d/Evaluation_of_the_Return_to_Teaching_pilot_programme.pdf" TargetMode="External"/><Relationship Id="rId4" Type="http://schemas.openxmlformats.org/officeDocument/2006/relationships/hyperlink" Target="https://www.gov.uk/government/publications/returners-engagement-programme" TargetMode="External"/><Relationship Id="rId1" Type="http://schemas.openxmlformats.org/officeDocument/2006/relationships/image" Target="../media/image-24-1.png"/><Relationship Id="rId2" Type="http://schemas.openxmlformats.org/officeDocument/2006/relationships/image" Target="../media/image-24-2.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ies.ed.gov/use-work/resource-library/report/descriptive-study/impacts-retired-mentors-new-teachers-program" TargetMode="External"/><Relationship Id="rId1" Type="http://schemas.openxmlformats.org/officeDocument/2006/relationships/image" Target="../media/image-25-1.png"/><Relationship Id="rId2" Type="http://schemas.openxmlformats.org/officeDocument/2006/relationships/image" Target="../media/image-25-2.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journals.sagepub.com/doi/abs/10.3102/0002831214565787" TargetMode="External"/><Relationship Id="rId4" Type="http://schemas.openxmlformats.org/officeDocument/2006/relationships/hyperlink" Target="https://ies.ed.gov/ncee/wwc/Study/86426" TargetMode="External"/><Relationship Id="rId1" Type="http://schemas.openxmlformats.org/officeDocument/2006/relationships/image" Target="../media/image-26-1.png"/><Relationship Id="rId2" Type="http://schemas.openxmlformats.org/officeDocument/2006/relationships/image" Target="../media/image-26-2.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www.trsga.com/retiree/working-after-retirement/hb-385-employment/" TargetMode="External"/><Relationship Id="rId4" Type="http://schemas.openxmlformats.org/officeDocument/2006/relationships/hyperlink" Target="https://www.audits.ga.gov/ReportSearch/download/32615" TargetMode="External"/><Relationship Id="rId1" Type="http://schemas.openxmlformats.org/officeDocument/2006/relationships/image" Target="../media/image-27-1.png"/><Relationship Id="rId2" Type="http://schemas.openxmlformats.org/officeDocument/2006/relationships/image" Target="../media/image-27-2.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www.trsl.org/retirees/returning-to-work-rtw" TargetMode="External"/><Relationship Id="rId4" Type="http://schemas.openxmlformats.org/officeDocument/2006/relationships/hyperlink" Target="https://www.katc.com/news/covering-louisiana/retired-teachers-can-return-to-the-classroom-under-new-louisiana-law" TargetMode="External"/><Relationship Id="rId1" Type="http://schemas.openxmlformats.org/officeDocument/2006/relationships/image" Target="../media/image-28-1.png"/><Relationship Id="rId2" Type="http://schemas.openxmlformats.org/officeDocument/2006/relationships/image" Target="../media/image-28-2.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michigan.gov/orsschools/pa-147-of-2023-faqs" TargetMode="External"/><Relationship Id="rId4" Type="http://schemas.openxmlformats.org/officeDocument/2006/relationships/hyperlink" Target="https://mea.org/changes-to-post-retirement-return-to-work-rules-signed-into-law/" TargetMode="External"/><Relationship Id="rId1" Type="http://schemas.openxmlformats.org/officeDocument/2006/relationships/image" Target="../media/image-29-1.png"/><Relationship Id="rId2" Type="http://schemas.openxmlformats.org/officeDocument/2006/relationships/image" Target="../media/image-29-2.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www.aarp.org/experience-corps/our-impact/experience-corps-research-studies.html" TargetMode="External"/><Relationship Id="rId4" Type="http://schemas.openxmlformats.org/officeDocument/2006/relationships/hyperlink" Target="https://www.aarp.org/experience-corps/" TargetMode="External"/><Relationship Id="rId1" Type="http://schemas.openxmlformats.org/officeDocument/2006/relationships/image" Target="../media/image-30-1.png"/><Relationship Id="rId2" Type="http://schemas.openxmlformats.org/officeDocument/2006/relationships/image" Target="../media/image-30-2.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hed.nm.gov/news/retired-educators-now-eligible-to-return-to-work-without-losing-pension-benefits" TargetMode="External"/><Relationship Id="rId4" Type="http://schemas.openxmlformats.org/officeDocument/2006/relationships/hyperlink" Target="https://www.governor.state.nm.us/2022/06/28/retired-educators-now-eligible-to-return-to-work-without-losing-pension-benefits/" TargetMode="External"/><Relationship Id="rId1" Type="http://schemas.openxmlformats.org/officeDocument/2006/relationships/image" Target="../media/image-31-1.png"/><Relationship Id="rId2" Type="http://schemas.openxmlformats.org/officeDocument/2006/relationships/image" Target="../media/image-31-2.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files.eric.ed.gov/fulltext/EJ1425366.pdf" TargetMode="External"/><Relationship Id="rId4" Type="http://schemas.openxmlformats.org/officeDocument/2006/relationships/hyperlink" Target="https://dialnet.unirioja.es/servlet/articulo?codigo=9286932" TargetMode="External"/><Relationship Id="rId1" Type="http://schemas.openxmlformats.org/officeDocument/2006/relationships/image" Target="../media/image-32-1.png"/><Relationship Id="rId2" Type="http://schemas.openxmlformats.org/officeDocument/2006/relationships/image" Target="../media/image-32-2.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www.doe.virginia.gov/teaching-learning-assessment/teaching-in-virginia/turning-the-tide" TargetMode="External"/><Relationship Id="rId4" Type="http://schemas.openxmlformats.org/officeDocument/2006/relationships/hyperlink" Target="https://www.edweek.org/leadership/could-retired-teachers-be-the-answer-to-shortages-its-complicated/2022/10" TargetMode="External"/><Relationship Id="rId1" Type="http://schemas.openxmlformats.org/officeDocument/2006/relationships/image" Target="../media/image-33-1.png"/><Relationship Id="rId2" Type="http://schemas.openxmlformats.org/officeDocument/2006/relationships/image" Target="../media/image-33-2.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6"/>
        </a:solidFill>
      </p:bgPr>
    </p:bg>
    <p:spTree>
      <p:nvGrpSpPr>
        <p:cNvPr id="1" name=""/>
        <p:cNvGrpSpPr/>
        <p:nvPr/>
      </p:nvGrpSpPr>
      <p:grpSpPr>
        <a:xfrm>
          <a:off x="0" y="0"/>
          <a:ext cx="0" cy="0"/>
          <a:chOff x="0" y="0"/>
          <a:chExt cx="0" cy="0"/>
        </a:xfrm>
      </p:grpSpPr>
      <p:sp>
        <p:nvSpPr>
          <p:cNvPr id="2" name="Text 0"/>
          <p:cNvSpPr txBox="1"/>
          <p:nvPr/>
        </p:nvSpPr>
        <p:spPr>
          <a:xfrm>
            <a:off x="731520" y="1828800"/>
            <a:ext cx="10698480" cy="10515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Re-attracting Former Teachers</a:t>
            </a:r>
            <a:endParaRPr lang="en-US" sz="4400" dirty="0"/>
          </a:p>
        </p:txBody>
      </p:sp>
      <p:sp>
        <p:nvSpPr>
          <p:cNvPr id="3" name="Text 1"/>
          <p:cNvSpPr txBox="1"/>
          <p:nvPr/>
        </p:nvSpPr>
        <p:spPr>
          <a:xfrm>
            <a:off x="731520" y="2971800"/>
            <a:ext cx="10698480" cy="548640"/>
          </a:xfrm>
          <a:prstGeom prst="rect">
            <a:avLst/>
          </a:prstGeom>
          <a:noFill/>
          <a:ln/>
        </p:spPr>
        <p:txBody>
          <a:bodyPr wrap="square" lIns="0" tIns="0" rIns="0" bIns="0" rtlCol="0" anchor="ctr"/>
          <a:lstStyle/>
          <a:p>
            <a:pPr indent="0" marL="0">
              <a:buNone/>
            </a:pPr>
            <a:r>
              <a:rPr lang="en-US" sz="2100" dirty="0">
                <a:solidFill>
                  <a:srgbClr val="CFE3D9"/>
                </a:solidFill>
                <a:latin typeface="Calibri" pitchFamily="34" charset="0"/>
                <a:ea typeface="Calibri" pitchFamily="34" charset="-122"/>
                <a:cs typeface="Calibri" pitchFamily="34" charset="-120"/>
              </a:rPr>
              <a:t>Policies that bring them back into education</a:t>
            </a:r>
            <a:endParaRPr lang="en-US" sz="2100" dirty="0"/>
          </a:p>
        </p:txBody>
      </p:sp>
      <p:sp>
        <p:nvSpPr>
          <p:cNvPr id="4" name="Text 2"/>
          <p:cNvSpPr txBox="1"/>
          <p:nvPr/>
        </p:nvSpPr>
        <p:spPr>
          <a:xfrm>
            <a:off x="731520" y="5943600"/>
            <a:ext cx="9144000" cy="365760"/>
          </a:xfrm>
          <a:prstGeom prst="rect">
            <a:avLst/>
          </a:prstGeom>
          <a:noFill/>
          <a:ln/>
        </p:spPr>
        <p:txBody>
          <a:bodyPr wrap="square" lIns="0" tIns="0" rIns="0" bIns="0" rtlCol="0" anchor="ctr"/>
          <a:lstStyle/>
          <a:p>
            <a:pPr indent="0" marL="0">
              <a:buNone/>
            </a:pPr>
            <a:r>
              <a:rPr lang="en-US" sz="1300" dirty="0">
                <a:solidFill>
                  <a:srgbClr val="CFE3D9"/>
                </a:solidFill>
                <a:latin typeface="Calibri" pitchFamily="34" charset="0"/>
                <a:ea typeface="Calibri" pitchFamily="34" charset="-122"/>
                <a:cs typeface="Calibri" pitchFamily="34" charset="-120"/>
              </a:rPr>
              <a:t>José Manuel Torres &amp;  José Elías Durán Roa  ·  September 2026</a:t>
            </a:r>
            <a:endParaRPr lang="en-US" sz="1300" dirty="0"/>
          </a:p>
        </p:txBody>
      </p:sp>
      <p:pic>
        <p:nvPicPr>
          <p:cNvPr id="5" name="Image 0" descr="preencoded.png">    </p:cNvPr>
          <p:cNvPicPr>
            <a:picLocks noChangeAspect="1"/>
          </p:cNvPicPr>
          <p:nvPr/>
        </p:nvPicPr>
        <p:blipFill>
          <a:blip r:embed="rId1"/>
          <a:stretch>
            <a:fillRect/>
          </a:stretch>
        </p:blipFill>
        <p:spPr>
          <a:xfrm>
            <a:off x="458572" y="4709160"/>
            <a:ext cx="559936" cy="419952"/>
          </a:xfrm>
          <a:prstGeom prst="rect">
            <a:avLst/>
          </a:prstGeom>
        </p:spPr>
      </p:pic>
      <p:pic>
        <p:nvPicPr>
          <p:cNvPr id="6" name="Image 1" descr="preencoded.png">    </p:cNvPr>
          <p:cNvPicPr>
            <a:picLocks noChangeAspect="1"/>
          </p:cNvPicPr>
          <p:nvPr/>
        </p:nvPicPr>
        <p:blipFill>
          <a:blip r:embed="rId2"/>
          <a:stretch>
            <a:fillRect/>
          </a:stretch>
        </p:blipFill>
        <p:spPr>
          <a:xfrm>
            <a:off x="1128235" y="4709160"/>
            <a:ext cx="559936" cy="419952"/>
          </a:xfrm>
          <a:prstGeom prst="rect">
            <a:avLst/>
          </a:prstGeom>
        </p:spPr>
      </p:pic>
      <p:pic>
        <p:nvPicPr>
          <p:cNvPr id="7" name="Image 2" descr="preencoded.png">    </p:cNvPr>
          <p:cNvPicPr>
            <a:picLocks noChangeAspect="1"/>
          </p:cNvPicPr>
          <p:nvPr/>
        </p:nvPicPr>
        <p:blipFill>
          <a:blip r:embed="rId3"/>
          <a:stretch>
            <a:fillRect/>
          </a:stretch>
        </p:blipFill>
        <p:spPr>
          <a:xfrm>
            <a:off x="1797899" y="4709160"/>
            <a:ext cx="559936" cy="419952"/>
          </a:xfrm>
          <a:prstGeom prst="rect">
            <a:avLst/>
          </a:prstGeom>
        </p:spPr>
      </p:pic>
      <p:pic>
        <p:nvPicPr>
          <p:cNvPr id="8" name="Image 3" descr="preencoded.png">    </p:cNvPr>
          <p:cNvPicPr>
            <a:picLocks noChangeAspect="1"/>
          </p:cNvPicPr>
          <p:nvPr/>
        </p:nvPicPr>
        <p:blipFill>
          <a:blip r:embed="rId4"/>
          <a:stretch>
            <a:fillRect/>
          </a:stretch>
        </p:blipFill>
        <p:spPr>
          <a:xfrm>
            <a:off x="2467562" y="4709160"/>
            <a:ext cx="559936" cy="419952"/>
          </a:xfrm>
          <a:prstGeom prst="rect">
            <a:avLst/>
          </a:prstGeom>
        </p:spPr>
      </p:pic>
      <p:pic>
        <p:nvPicPr>
          <p:cNvPr id="9" name="Image 4" descr="preencoded.png">    </p:cNvPr>
          <p:cNvPicPr>
            <a:picLocks noChangeAspect="1"/>
          </p:cNvPicPr>
          <p:nvPr/>
        </p:nvPicPr>
        <p:blipFill>
          <a:blip r:embed="rId5"/>
          <a:stretch>
            <a:fillRect/>
          </a:stretch>
        </p:blipFill>
        <p:spPr>
          <a:xfrm>
            <a:off x="3137226" y="4709160"/>
            <a:ext cx="559936" cy="419952"/>
          </a:xfrm>
          <a:prstGeom prst="rect">
            <a:avLst/>
          </a:prstGeom>
        </p:spPr>
      </p:pic>
      <p:pic>
        <p:nvPicPr>
          <p:cNvPr id="10" name="Image 5" descr="preencoded.png">    </p:cNvPr>
          <p:cNvPicPr>
            <a:picLocks noChangeAspect="1"/>
          </p:cNvPicPr>
          <p:nvPr/>
        </p:nvPicPr>
        <p:blipFill>
          <a:blip r:embed="rId6"/>
          <a:stretch>
            <a:fillRect/>
          </a:stretch>
        </p:blipFill>
        <p:spPr>
          <a:xfrm>
            <a:off x="3806889" y="4709160"/>
            <a:ext cx="559936" cy="419952"/>
          </a:xfrm>
          <a:prstGeom prst="rect">
            <a:avLst/>
          </a:prstGeom>
        </p:spPr>
      </p:pic>
      <p:pic>
        <p:nvPicPr>
          <p:cNvPr id="11" name="Image 6" descr="preencoded.png">    </p:cNvPr>
          <p:cNvPicPr>
            <a:picLocks noChangeAspect="1"/>
          </p:cNvPicPr>
          <p:nvPr/>
        </p:nvPicPr>
        <p:blipFill>
          <a:blip r:embed="rId7"/>
          <a:stretch>
            <a:fillRect/>
          </a:stretch>
        </p:blipFill>
        <p:spPr>
          <a:xfrm>
            <a:off x="4476553" y="4709160"/>
            <a:ext cx="559936" cy="419952"/>
          </a:xfrm>
          <a:prstGeom prst="rect">
            <a:avLst/>
          </a:prstGeom>
        </p:spPr>
      </p:pic>
      <p:pic>
        <p:nvPicPr>
          <p:cNvPr id="12" name="Image 7" descr="preencoded.png">    </p:cNvPr>
          <p:cNvPicPr>
            <a:picLocks noChangeAspect="1"/>
          </p:cNvPicPr>
          <p:nvPr/>
        </p:nvPicPr>
        <p:blipFill>
          <a:blip r:embed="rId8"/>
          <a:stretch>
            <a:fillRect/>
          </a:stretch>
        </p:blipFill>
        <p:spPr>
          <a:xfrm>
            <a:off x="5146216" y="4709160"/>
            <a:ext cx="559936" cy="419952"/>
          </a:xfrm>
          <a:prstGeom prst="rect">
            <a:avLst/>
          </a:prstGeom>
        </p:spPr>
      </p:pic>
      <p:pic>
        <p:nvPicPr>
          <p:cNvPr id="13" name="Image 8" descr="preencoded.png">    </p:cNvPr>
          <p:cNvPicPr>
            <a:picLocks noChangeAspect="1"/>
          </p:cNvPicPr>
          <p:nvPr/>
        </p:nvPicPr>
        <p:blipFill>
          <a:blip r:embed="rId9"/>
          <a:stretch>
            <a:fillRect/>
          </a:stretch>
        </p:blipFill>
        <p:spPr>
          <a:xfrm>
            <a:off x="5815880" y="4709160"/>
            <a:ext cx="559936" cy="419952"/>
          </a:xfrm>
          <a:prstGeom prst="rect">
            <a:avLst/>
          </a:prstGeom>
        </p:spPr>
      </p:pic>
      <p:pic>
        <p:nvPicPr>
          <p:cNvPr id="14" name="Image 9" descr="preencoded.png">    </p:cNvPr>
          <p:cNvPicPr>
            <a:picLocks noChangeAspect="1"/>
          </p:cNvPicPr>
          <p:nvPr/>
        </p:nvPicPr>
        <p:blipFill>
          <a:blip r:embed="rId10"/>
          <a:stretch>
            <a:fillRect/>
          </a:stretch>
        </p:blipFill>
        <p:spPr>
          <a:xfrm>
            <a:off x="6485543" y="4709160"/>
            <a:ext cx="559936" cy="419952"/>
          </a:xfrm>
          <a:prstGeom prst="rect">
            <a:avLst/>
          </a:prstGeom>
        </p:spPr>
      </p:pic>
      <p:pic>
        <p:nvPicPr>
          <p:cNvPr id="15" name="Image 10" descr="preencoded.png">    </p:cNvPr>
          <p:cNvPicPr>
            <a:picLocks noChangeAspect="1"/>
          </p:cNvPicPr>
          <p:nvPr/>
        </p:nvPicPr>
        <p:blipFill>
          <a:blip r:embed="rId11"/>
          <a:stretch>
            <a:fillRect/>
          </a:stretch>
        </p:blipFill>
        <p:spPr>
          <a:xfrm>
            <a:off x="7155207" y="4709160"/>
            <a:ext cx="559936" cy="419952"/>
          </a:xfrm>
          <a:prstGeom prst="rect">
            <a:avLst/>
          </a:prstGeom>
        </p:spPr>
      </p:pic>
      <p:pic>
        <p:nvPicPr>
          <p:cNvPr id="16" name="Image 11" descr="preencoded.png">    </p:cNvPr>
          <p:cNvPicPr>
            <a:picLocks noChangeAspect="1"/>
          </p:cNvPicPr>
          <p:nvPr/>
        </p:nvPicPr>
        <p:blipFill>
          <a:blip r:embed="rId12"/>
          <a:stretch>
            <a:fillRect/>
          </a:stretch>
        </p:blipFill>
        <p:spPr>
          <a:xfrm>
            <a:off x="7824870" y="4709160"/>
            <a:ext cx="559936" cy="419952"/>
          </a:xfrm>
          <a:prstGeom prst="rect">
            <a:avLst/>
          </a:prstGeom>
        </p:spPr>
      </p:pic>
      <p:pic>
        <p:nvPicPr>
          <p:cNvPr id="17" name="Image 12" descr="preencoded.png">    </p:cNvPr>
          <p:cNvPicPr>
            <a:picLocks noChangeAspect="1"/>
          </p:cNvPicPr>
          <p:nvPr/>
        </p:nvPicPr>
        <p:blipFill>
          <a:blip r:embed="rId13"/>
          <a:stretch>
            <a:fillRect/>
          </a:stretch>
        </p:blipFill>
        <p:spPr>
          <a:xfrm>
            <a:off x="8494534" y="4709160"/>
            <a:ext cx="559936" cy="419952"/>
          </a:xfrm>
          <a:prstGeom prst="rect">
            <a:avLst/>
          </a:prstGeom>
        </p:spPr>
      </p:pic>
      <p:pic>
        <p:nvPicPr>
          <p:cNvPr id="18" name="Image 13" descr="preencoded.png">    </p:cNvPr>
          <p:cNvPicPr>
            <a:picLocks noChangeAspect="1"/>
          </p:cNvPicPr>
          <p:nvPr/>
        </p:nvPicPr>
        <p:blipFill>
          <a:blip r:embed="rId14"/>
          <a:stretch>
            <a:fillRect/>
          </a:stretch>
        </p:blipFill>
        <p:spPr>
          <a:xfrm>
            <a:off x="9164197" y="4709160"/>
            <a:ext cx="559936" cy="419952"/>
          </a:xfrm>
          <a:prstGeom prst="rect">
            <a:avLst/>
          </a:prstGeom>
        </p:spPr>
      </p:pic>
      <p:pic>
        <p:nvPicPr>
          <p:cNvPr id="19" name="Image 14" descr="preencoded.png">    </p:cNvPr>
          <p:cNvPicPr>
            <a:picLocks noChangeAspect="1"/>
          </p:cNvPicPr>
          <p:nvPr/>
        </p:nvPicPr>
        <p:blipFill>
          <a:blip r:embed="rId15"/>
          <a:stretch>
            <a:fillRect/>
          </a:stretch>
        </p:blipFill>
        <p:spPr>
          <a:xfrm>
            <a:off x="9833861" y="4709160"/>
            <a:ext cx="559936" cy="419952"/>
          </a:xfrm>
          <a:prstGeom prst="rect">
            <a:avLst/>
          </a:prstGeom>
        </p:spPr>
      </p:pic>
      <p:pic>
        <p:nvPicPr>
          <p:cNvPr id="20" name="Image 15" descr="preencoded.png">    </p:cNvPr>
          <p:cNvPicPr>
            <a:picLocks noChangeAspect="1"/>
          </p:cNvPicPr>
          <p:nvPr/>
        </p:nvPicPr>
        <p:blipFill>
          <a:blip r:embed="rId16"/>
          <a:stretch>
            <a:fillRect/>
          </a:stretch>
        </p:blipFill>
        <p:spPr>
          <a:xfrm>
            <a:off x="10503525" y="4709160"/>
            <a:ext cx="559936" cy="419952"/>
          </a:xfrm>
          <a:prstGeom prst="rect">
            <a:avLst/>
          </a:prstGeom>
        </p:spPr>
      </p:pic>
      <p:pic>
        <p:nvPicPr>
          <p:cNvPr id="21" name="Image 16" descr="preencoded.png">    </p:cNvPr>
          <p:cNvPicPr>
            <a:picLocks noChangeAspect="1"/>
          </p:cNvPicPr>
          <p:nvPr/>
        </p:nvPicPr>
        <p:blipFill>
          <a:blip r:embed="rId17"/>
          <a:stretch>
            <a:fillRect/>
          </a:stretch>
        </p:blipFill>
        <p:spPr>
          <a:xfrm>
            <a:off x="11173188" y="4709160"/>
            <a:ext cx="559936" cy="419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789920" cy="640080"/>
          </a:xfrm>
          <a:prstGeom prst="rect">
            <a:avLst/>
          </a:prstGeom>
          <a:noFill/>
          <a:ln/>
        </p:spPr>
        <p:txBody>
          <a:bodyPr wrap="square" lIns="0" tIns="0" rIns="0" bIns="0" rtlCol="0" anchor="ctr"/>
          <a:lstStyle/>
          <a:p>
            <a:pPr indent="0" marL="0">
              <a:buNone/>
            </a:pPr>
            <a:r>
              <a:rPr lang="en-US" sz="3000" b="1" dirty="0">
                <a:solidFill>
                  <a:srgbClr val="24313A"/>
                </a:solidFill>
                <a:latin typeface="Cambria" pitchFamily="34" charset="0"/>
                <a:ea typeface="Cambria" pitchFamily="34" charset="-122"/>
                <a:cs typeface="Cambria" pitchFamily="34" charset="-120"/>
              </a:rPr>
              <a:t>Who we mean by former teachers</a:t>
            </a:r>
            <a:endParaRPr lang="en-US" sz="3000" dirty="0"/>
          </a:p>
        </p:txBody>
      </p:sp>
      <p:sp>
        <p:nvSpPr>
          <p:cNvPr id="3" name="Shape 1"/>
          <p:cNvSpPr/>
          <p:nvPr/>
        </p:nvSpPr>
        <p:spPr>
          <a:xfrm>
            <a:off x="822960" y="1874520"/>
            <a:ext cx="731520" cy="731520"/>
          </a:xfrm>
          <a:prstGeom prst="ellipse">
            <a:avLst/>
          </a:prstGeom>
          <a:solidFill>
            <a:srgbClr val="1F4E46"/>
          </a:solidFill>
          <a:ln w="12700">
            <a:solidFill>
              <a:srgbClr val="1F4E46"/>
            </a:solidFill>
            <a:prstDash val="solid"/>
          </a:ln>
        </p:spPr>
      </p:sp>
      <p:pic>
        <p:nvPicPr>
          <p:cNvPr id="4" name="Image 0" descr="preencoded.png">    </p:cNvPr>
          <p:cNvPicPr>
            <a:picLocks noChangeAspect="1"/>
          </p:cNvPicPr>
          <p:nvPr/>
        </p:nvPicPr>
        <p:blipFill>
          <a:blip r:embed="rId1"/>
          <a:stretch>
            <a:fillRect/>
          </a:stretch>
        </p:blipFill>
        <p:spPr>
          <a:xfrm>
            <a:off x="998525" y="2050085"/>
            <a:ext cx="380390" cy="380390"/>
          </a:xfrm>
          <a:prstGeom prst="rect">
            <a:avLst/>
          </a:prstGeom>
        </p:spPr>
      </p:pic>
      <p:sp>
        <p:nvSpPr>
          <p:cNvPr id="5" name="Text 2"/>
          <p:cNvSpPr txBox="1"/>
          <p:nvPr/>
        </p:nvSpPr>
        <p:spPr>
          <a:xfrm>
            <a:off x="1828800" y="1837944"/>
            <a:ext cx="9326880" cy="384048"/>
          </a:xfrm>
          <a:prstGeom prst="rect">
            <a:avLst/>
          </a:prstGeom>
          <a:noFill/>
          <a:ln/>
        </p:spPr>
        <p:txBody>
          <a:bodyPr wrap="square" lIns="0" tIns="0" rIns="0" bIns="0" rtlCol="0" anchor="ctr"/>
          <a:lstStyle/>
          <a:p>
            <a:pPr indent="0" marL="0">
              <a:buNone/>
            </a:pPr>
            <a:r>
              <a:rPr lang="en-US" sz="1900" b="1" dirty="0">
                <a:solidFill>
                  <a:srgbClr val="24313A"/>
                </a:solidFill>
                <a:latin typeface="Calibri" pitchFamily="34" charset="0"/>
                <a:ea typeface="Calibri" pitchFamily="34" charset="-122"/>
                <a:cs typeface="Calibri" pitchFamily="34" charset="-120"/>
              </a:rPr>
              <a:t>(a) Switchers</a:t>
            </a:r>
            <a:endParaRPr lang="en-US" sz="1900" dirty="0"/>
          </a:p>
        </p:txBody>
      </p:sp>
      <p:sp>
        <p:nvSpPr>
          <p:cNvPr id="6" name="Text 3"/>
          <p:cNvSpPr txBox="1"/>
          <p:nvPr/>
        </p:nvSpPr>
        <p:spPr>
          <a:xfrm>
            <a:off x="1828800" y="2221992"/>
            <a:ext cx="9326880" cy="502920"/>
          </a:xfrm>
          <a:prstGeom prst="rect">
            <a:avLst/>
          </a:prstGeom>
          <a:noFill/>
          <a:ln/>
        </p:spPr>
        <p:txBody>
          <a:bodyPr wrap="square" lIns="0" tIns="0" rIns="0" bIns="0" rtlCol="0" anchor="t"/>
          <a:lstStyle/>
          <a:p>
            <a:pPr indent="0" marL="0">
              <a:buNone/>
            </a:pPr>
            <a:r>
              <a:rPr lang="en-US" sz="1400" dirty="0">
                <a:solidFill>
                  <a:srgbClr val="24313A"/>
                </a:solidFill>
                <a:latin typeface="Calibri" pitchFamily="34" charset="0"/>
                <a:ea typeface="Calibri" pitchFamily="34" charset="-122"/>
                <a:cs typeface="Calibri" pitchFamily="34" charset="-120"/>
              </a:rPr>
              <a:t>Left the teaching profession to work in another sector.</a:t>
            </a:r>
            <a:endParaRPr lang="en-US" sz="1400" dirty="0"/>
          </a:p>
        </p:txBody>
      </p:sp>
      <p:sp>
        <p:nvSpPr>
          <p:cNvPr id="7" name="Shape 4"/>
          <p:cNvSpPr/>
          <p:nvPr/>
        </p:nvSpPr>
        <p:spPr>
          <a:xfrm>
            <a:off x="822960" y="3081528"/>
            <a:ext cx="731520" cy="731520"/>
          </a:xfrm>
          <a:prstGeom prst="ellipse">
            <a:avLst/>
          </a:prstGeom>
          <a:solidFill>
            <a:srgbClr val="1F4E46"/>
          </a:solidFill>
          <a:ln w="12700">
            <a:solidFill>
              <a:srgbClr val="1F4E46"/>
            </a:solidFill>
            <a:prstDash val="solid"/>
          </a:ln>
        </p:spPr>
      </p:sp>
      <p:pic>
        <p:nvPicPr>
          <p:cNvPr id="8" name="Image 1" descr="preencoded.png">    </p:cNvPr>
          <p:cNvPicPr>
            <a:picLocks noChangeAspect="1"/>
          </p:cNvPicPr>
          <p:nvPr/>
        </p:nvPicPr>
        <p:blipFill>
          <a:blip r:embed="rId2"/>
          <a:stretch>
            <a:fillRect/>
          </a:stretch>
        </p:blipFill>
        <p:spPr>
          <a:xfrm>
            <a:off x="998525" y="3257093"/>
            <a:ext cx="380390" cy="380390"/>
          </a:xfrm>
          <a:prstGeom prst="rect">
            <a:avLst/>
          </a:prstGeom>
        </p:spPr>
      </p:pic>
      <p:sp>
        <p:nvSpPr>
          <p:cNvPr id="9" name="Text 5"/>
          <p:cNvSpPr txBox="1"/>
          <p:nvPr/>
        </p:nvSpPr>
        <p:spPr>
          <a:xfrm>
            <a:off x="1828800" y="3044952"/>
            <a:ext cx="9326880" cy="384048"/>
          </a:xfrm>
          <a:prstGeom prst="rect">
            <a:avLst/>
          </a:prstGeom>
          <a:noFill/>
          <a:ln/>
        </p:spPr>
        <p:txBody>
          <a:bodyPr wrap="square" lIns="0" tIns="0" rIns="0" bIns="0" rtlCol="0" anchor="ctr"/>
          <a:lstStyle/>
          <a:p>
            <a:pPr indent="0" marL="0">
              <a:buNone/>
            </a:pPr>
            <a:r>
              <a:rPr lang="en-US" sz="1900" b="1" dirty="0">
                <a:solidFill>
                  <a:srgbClr val="24313A"/>
                </a:solidFill>
                <a:latin typeface="Calibri" pitchFamily="34" charset="0"/>
                <a:ea typeface="Calibri" pitchFamily="34" charset="-122"/>
                <a:cs typeface="Calibri" pitchFamily="34" charset="-120"/>
              </a:rPr>
              <a:t>(b) Leavers</a:t>
            </a:r>
            <a:endParaRPr lang="en-US" sz="1900" dirty="0"/>
          </a:p>
        </p:txBody>
      </p:sp>
      <p:sp>
        <p:nvSpPr>
          <p:cNvPr id="10" name="Text 6"/>
          <p:cNvSpPr txBox="1"/>
          <p:nvPr/>
        </p:nvSpPr>
        <p:spPr>
          <a:xfrm>
            <a:off x="1828800" y="3429000"/>
            <a:ext cx="9326880" cy="502920"/>
          </a:xfrm>
          <a:prstGeom prst="rect">
            <a:avLst/>
          </a:prstGeom>
          <a:noFill/>
          <a:ln/>
        </p:spPr>
        <p:txBody>
          <a:bodyPr wrap="square" lIns="0" tIns="0" rIns="0" bIns="0" rtlCol="0" anchor="t"/>
          <a:lstStyle/>
          <a:p>
            <a:pPr indent="0" marL="0">
              <a:buNone/>
            </a:pPr>
            <a:r>
              <a:rPr lang="en-US" sz="1400" dirty="0">
                <a:solidFill>
                  <a:srgbClr val="24313A"/>
                </a:solidFill>
                <a:latin typeface="Calibri" pitchFamily="34" charset="0"/>
                <a:ea typeface="Calibri" pitchFamily="34" charset="-122"/>
                <a:cs typeface="Calibri" pitchFamily="34" charset="-120"/>
              </a:rPr>
              <a:t>Left the teaching profession and the labour market altogether (not employed).</a:t>
            </a:r>
            <a:endParaRPr lang="en-US" sz="1400" dirty="0"/>
          </a:p>
        </p:txBody>
      </p:sp>
      <p:sp>
        <p:nvSpPr>
          <p:cNvPr id="11" name="Shape 7"/>
          <p:cNvSpPr/>
          <p:nvPr/>
        </p:nvSpPr>
        <p:spPr>
          <a:xfrm>
            <a:off x="822960" y="4288536"/>
            <a:ext cx="731520" cy="731520"/>
          </a:xfrm>
          <a:prstGeom prst="ellipse">
            <a:avLst/>
          </a:prstGeom>
          <a:solidFill>
            <a:srgbClr val="1F4E46"/>
          </a:solidFill>
          <a:ln w="12700">
            <a:solidFill>
              <a:srgbClr val="1F4E46"/>
            </a:solidFill>
            <a:prstDash val="solid"/>
          </a:ln>
        </p:spPr>
      </p:sp>
      <p:pic>
        <p:nvPicPr>
          <p:cNvPr id="12" name="Image 2" descr="preencoded.png">    </p:cNvPr>
          <p:cNvPicPr>
            <a:picLocks noChangeAspect="1"/>
          </p:cNvPicPr>
          <p:nvPr/>
        </p:nvPicPr>
        <p:blipFill>
          <a:blip r:embed="rId3"/>
          <a:stretch>
            <a:fillRect/>
          </a:stretch>
        </p:blipFill>
        <p:spPr>
          <a:xfrm>
            <a:off x="998525" y="4464101"/>
            <a:ext cx="380390" cy="380390"/>
          </a:xfrm>
          <a:prstGeom prst="rect">
            <a:avLst/>
          </a:prstGeom>
        </p:spPr>
      </p:pic>
      <p:sp>
        <p:nvSpPr>
          <p:cNvPr id="13" name="Text 8"/>
          <p:cNvSpPr txBox="1"/>
          <p:nvPr/>
        </p:nvSpPr>
        <p:spPr>
          <a:xfrm>
            <a:off x="1828800" y="4251960"/>
            <a:ext cx="9326880" cy="384048"/>
          </a:xfrm>
          <a:prstGeom prst="rect">
            <a:avLst/>
          </a:prstGeom>
          <a:noFill/>
          <a:ln/>
        </p:spPr>
        <p:txBody>
          <a:bodyPr wrap="square" lIns="0" tIns="0" rIns="0" bIns="0" rtlCol="0" anchor="ctr"/>
          <a:lstStyle/>
          <a:p>
            <a:pPr indent="0" marL="0">
              <a:buNone/>
            </a:pPr>
            <a:r>
              <a:rPr lang="en-US" sz="1900" b="1" dirty="0">
                <a:solidFill>
                  <a:srgbClr val="24313A"/>
                </a:solidFill>
                <a:latin typeface="Calibri" pitchFamily="34" charset="0"/>
                <a:ea typeface="Calibri" pitchFamily="34" charset="-122"/>
                <a:cs typeface="Calibri" pitchFamily="34" charset="-120"/>
              </a:rPr>
              <a:t>(c) Retired</a:t>
            </a:r>
            <a:endParaRPr lang="en-US" sz="1900" dirty="0"/>
          </a:p>
        </p:txBody>
      </p:sp>
      <p:sp>
        <p:nvSpPr>
          <p:cNvPr id="14" name="Text 9"/>
          <p:cNvSpPr txBox="1"/>
          <p:nvPr/>
        </p:nvSpPr>
        <p:spPr>
          <a:xfrm>
            <a:off x="1828800" y="4636008"/>
            <a:ext cx="9326880" cy="502920"/>
          </a:xfrm>
          <a:prstGeom prst="rect">
            <a:avLst/>
          </a:prstGeom>
          <a:noFill/>
          <a:ln/>
        </p:spPr>
        <p:txBody>
          <a:bodyPr wrap="square" lIns="0" tIns="0" rIns="0" bIns="0" rtlCol="0" anchor="t"/>
          <a:lstStyle/>
          <a:p>
            <a:pPr indent="0" marL="0">
              <a:buNone/>
            </a:pPr>
            <a:r>
              <a:rPr lang="en-US" sz="1400" dirty="0">
                <a:solidFill>
                  <a:srgbClr val="24313A"/>
                </a:solidFill>
                <a:latin typeface="Calibri" pitchFamily="34" charset="0"/>
                <a:ea typeface="Calibri" pitchFamily="34" charset="-122"/>
                <a:cs typeface="Calibri" pitchFamily="34" charset="-120"/>
              </a:rPr>
              <a:t>Retired from teaching.</a:t>
            </a:r>
            <a:endParaRPr lang="en-US" sz="1400" dirty="0"/>
          </a:p>
        </p:txBody>
      </p:sp>
      <p:sp>
        <p:nvSpPr>
          <p:cNvPr id="15" name="Text 10"/>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789920" cy="640080"/>
          </a:xfrm>
          <a:prstGeom prst="rect">
            <a:avLst/>
          </a:prstGeom>
          <a:noFill/>
          <a:ln/>
        </p:spPr>
        <p:txBody>
          <a:bodyPr wrap="square" lIns="0" tIns="0" rIns="0" bIns="0" rtlCol="0" anchor="ctr"/>
          <a:lstStyle/>
          <a:p>
            <a:pPr indent="0" marL="0">
              <a:buNone/>
            </a:pPr>
            <a:r>
              <a:rPr lang="en-US" sz="3000" b="1" dirty="0">
                <a:solidFill>
                  <a:srgbClr val="24313A"/>
                </a:solidFill>
                <a:latin typeface="Cambria" pitchFamily="34" charset="0"/>
                <a:ea typeface="Cambria" pitchFamily="34" charset="-122"/>
                <a:cs typeface="Cambria" pitchFamily="34" charset="-120"/>
              </a:rPr>
              <a:t>Five policy instruments</a:t>
            </a:r>
            <a:endParaRPr lang="en-US" sz="3000" dirty="0"/>
          </a:p>
        </p:txBody>
      </p:sp>
      <p:sp>
        <p:nvSpPr>
          <p:cNvPr id="3" name="Text 1"/>
          <p:cNvSpPr txBox="1"/>
          <p:nvPr/>
        </p:nvSpPr>
        <p:spPr>
          <a:xfrm>
            <a:off x="667512" y="1024128"/>
            <a:ext cx="10789920" cy="320040"/>
          </a:xfrm>
          <a:prstGeom prst="rect">
            <a:avLst/>
          </a:prstGeom>
          <a:noFill/>
          <a:ln/>
        </p:spPr>
        <p:txBody>
          <a:bodyPr wrap="square" lIns="0" tIns="0" rIns="0" bIns="0" rtlCol="0" anchor="ctr"/>
          <a:lstStyle/>
          <a:p>
            <a:pPr indent="0" marL="0">
              <a:buNone/>
            </a:pPr>
            <a:r>
              <a:rPr lang="en-US" sz="1400" dirty="0">
                <a:solidFill>
                  <a:srgbClr val="B3542E"/>
                </a:solidFill>
                <a:latin typeface="Calibri" pitchFamily="34" charset="0"/>
                <a:ea typeface="Calibri" pitchFamily="34" charset="-122"/>
                <a:cs typeface="Calibri" pitchFamily="34" charset="-120"/>
              </a:rPr>
              <a:t>Classified by the instrument it uses to re-attract teachers</a:t>
            </a:r>
            <a:endParaRPr lang="en-US" sz="1400" dirty="0"/>
          </a:p>
        </p:txBody>
      </p:sp>
      <p:sp>
        <p:nvSpPr>
          <p:cNvPr id="4" name="Shape 2"/>
          <p:cNvSpPr/>
          <p:nvPr/>
        </p:nvSpPr>
        <p:spPr>
          <a:xfrm>
            <a:off x="822960" y="1691640"/>
            <a:ext cx="621792" cy="621792"/>
          </a:xfrm>
          <a:prstGeom prst="ellipse">
            <a:avLst/>
          </a:prstGeom>
          <a:solidFill>
            <a:srgbClr val="1F4E46"/>
          </a:solidFill>
          <a:ln w="12700">
            <a:solidFill>
              <a:srgbClr val="1F4E46"/>
            </a:solidFill>
            <a:prstDash val="solid"/>
          </a:ln>
        </p:spPr>
      </p:sp>
      <p:pic>
        <p:nvPicPr>
          <p:cNvPr id="5" name="Image 0" descr="preencoded.png">    </p:cNvPr>
          <p:cNvPicPr>
            <a:picLocks noChangeAspect="1"/>
          </p:cNvPicPr>
          <p:nvPr/>
        </p:nvPicPr>
        <p:blipFill>
          <a:blip r:embed="rId1"/>
          <a:stretch>
            <a:fillRect/>
          </a:stretch>
        </p:blipFill>
        <p:spPr>
          <a:xfrm>
            <a:off x="972190" y="1840870"/>
            <a:ext cx="323332" cy="323332"/>
          </a:xfrm>
          <a:prstGeom prst="rect">
            <a:avLst/>
          </a:prstGeom>
        </p:spPr>
      </p:pic>
      <p:sp>
        <p:nvSpPr>
          <p:cNvPr id="6" name="Text 3"/>
          <p:cNvSpPr txBox="1"/>
          <p:nvPr/>
        </p:nvSpPr>
        <p:spPr>
          <a:xfrm>
            <a:off x="1691640" y="1645920"/>
            <a:ext cx="9692640" cy="329184"/>
          </a:xfrm>
          <a:prstGeom prst="rect">
            <a:avLst/>
          </a:prstGeom>
          <a:noFill/>
          <a:ln/>
        </p:spPr>
        <p:txBody>
          <a:bodyPr wrap="square" lIns="0" tIns="0" rIns="0" bIns="0" rtlCol="0" anchor="ctr"/>
          <a:lstStyle/>
          <a:p>
            <a:pPr indent="0" marL="0">
              <a:buNone/>
            </a:pPr>
            <a:r>
              <a:rPr lang="en-US" sz="1650" b="1" dirty="0">
                <a:solidFill>
                  <a:srgbClr val="24313A"/>
                </a:solidFill>
                <a:latin typeface="Calibri" pitchFamily="34" charset="0"/>
                <a:ea typeface="Calibri" pitchFamily="34" charset="-122"/>
                <a:cs typeface="Calibri" pitchFamily="34" charset="-120"/>
              </a:rPr>
              <a:t>Financial incentives</a:t>
            </a:r>
            <a:endParaRPr lang="en-US" sz="1650" dirty="0"/>
          </a:p>
        </p:txBody>
      </p:sp>
      <p:sp>
        <p:nvSpPr>
          <p:cNvPr id="7" name="Text 4"/>
          <p:cNvSpPr txBox="1"/>
          <p:nvPr/>
        </p:nvSpPr>
        <p:spPr>
          <a:xfrm>
            <a:off x="1691640" y="1965960"/>
            <a:ext cx="9692640" cy="548640"/>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Direct payments or legal changes with an economic effect: rules letting retirees draw salary plus pension, return bonuses for switchers or leavers, bonuses for schools that re-hire them.</a:t>
            </a:r>
            <a:endParaRPr lang="en-US" sz="1300" dirty="0"/>
          </a:p>
        </p:txBody>
      </p:sp>
      <p:sp>
        <p:nvSpPr>
          <p:cNvPr id="8" name="Shape 5"/>
          <p:cNvSpPr/>
          <p:nvPr/>
        </p:nvSpPr>
        <p:spPr>
          <a:xfrm>
            <a:off x="822960" y="2606040"/>
            <a:ext cx="621792" cy="621792"/>
          </a:xfrm>
          <a:prstGeom prst="ellipse">
            <a:avLst/>
          </a:prstGeom>
          <a:solidFill>
            <a:srgbClr val="1F4E46"/>
          </a:solidFill>
          <a:ln w="12700">
            <a:solidFill>
              <a:srgbClr val="1F4E46"/>
            </a:solidFill>
            <a:prstDash val="solid"/>
          </a:ln>
        </p:spPr>
      </p:sp>
      <p:pic>
        <p:nvPicPr>
          <p:cNvPr id="9" name="Image 1" descr="preencoded.png">    </p:cNvPr>
          <p:cNvPicPr>
            <a:picLocks noChangeAspect="1"/>
          </p:cNvPicPr>
          <p:nvPr/>
        </p:nvPicPr>
        <p:blipFill>
          <a:blip r:embed="rId2"/>
          <a:stretch>
            <a:fillRect/>
          </a:stretch>
        </p:blipFill>
        <p:spPr>
          <a:xfrm>
            <a:off x="972190" y="2755270"/>
            <a:ext cx="323332" cy="323332"/>
          </a:xfrm>
          <a:prstGeom prst="rect">
            <a:avLst/>
          </a:prstGeom>
        </p:spPr>
      </p:pic>
      <p:sp>
        <p:nvSpPr>
          <p:cNvPr id="10" name="Text 6"/>
          <p:cNvSpPr txBox="1"/>
          <p:nvPr/>
        </p:nvSpPr>
        <p:spPr>
          <a:xfrm>
            <a:off x="1691640" y="2560320"/>
            <a:ext cx="9692640" cy="329184"/>
          </a:xfrm>
          <a:prstGeom prst="rect">
            <a:avLst/>
          </a:prstGeom>
          <a:noFill/>
          <a:ln/>
        </p:spPr>
        <p:txBody>
          <a:bodyPr wrap="square" lIns="0" tIns="0" rIns="0" bIns="0" rtlCol="0" anchor="ctr"/>
          <a:lstStyle/>
          <a:p>
            <a:pPr indent="0" marL="0">
              <a:buNone/>
            </a:pPr>
            <a:r>
              <a:rPr lang="en-US" sz="1650" b="1" dirty="0">
                <a:solidFill>
                  <a:srgbClr val="24313A"/>
                </a:solidFill>
                <a:latin typeface="Calibri" pitchFamily="34" charset="0"/>
                <a:ea typeface="Calibri" pitchFamily="34" charset="-122"/>
                <a:cs typeface="Calibri" pitchFamily="34" charset="-120"/>
              </a:rPr>
              <a:t>Information &amp; nudges</a:t>
            </a:r>
            <a:endParaRPr lang="en-US" sz="1650" dirty="0"/>
          </a:p>
        </p:txBody>
      </p:sp>
      <p:sp>
        <p:nvSpPr>
          <p:cNvPr id="11" name="Text 7"/>
          <p:cNvSpPr txBox="1"/>
          <p:nvPr/>
        </p:nvSpPr>
        <p:spPr>
          <a:xfrm>
            <a:off x="1691640" y="2880360"/>
            <a:ext cx="9692640" cy="548640"/>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Informing, reminding or prompting the decision to return: information sessions, career guidance or peer mentoring, a leaflet with the retirement form, personalised letters, calls or e-mails.</a:t>
            </a:r>
            <a:endParaRPr lang="en-US" sz="1300" dirty="0"/>
          </a:p>
        </p:txBody>
      </p:sp>
      <p:sp>
        <p:nvSpPr>
          <p:cNvPr id="12" name="Shape 8"/>
          <p:cNvSpPr/>
          <p:nvPr/>
        </p:nvSpPr>
        <p:spPr>
          <a:xfrm>
            <a:off x="822960" y="3520440"/>
            <a:ext cx="621792" cy="621792"/>
          </a:xfrm>
          <a:prstGeom prst="ellipse">
            <a:avLst/>
          </a:prstGeom>
          <a:solidFill>
            <a:srgbClr val="1F4E46"/>
          </a:solidFill>
          <a:ln w="12700">
            <a:solidFill>
              <a:srgbClr val="1F4E46"/>
            </a:solidFill>
            <a:prstDash val="solid"/>
          </a:ln>
        </p:spPr>
      </p:sp>
      <p:pic>
        <p:nvPicPr>
          <p:cNvPr id="13" name="Image 2" descr="preencoded.png">    </p:cNvPr>
          <p:cNvPicPr>
            <a:picLocks noChangeAspect="1"/>
          </p:cNvPicPr>
          <p:nvPr/>
        </p:nvPicPr>
        <p:blipFill>
          <a:blip r:embed="rId3"/>
          <a:stretch>
            <a:fillRect/>
          </a:stretch>
        </p:blipFill>
        <p:spPr>
          <a:xfrm>
            <a:off x="972190" y="3669670"/>
            <a:ext cx="323332" cy="323332"/>
          </a:xfrm>
          <a:prstGeom prst="rect">
            <a:avLst/>
          </a:prstGeom>
        </p:spPr>
      </p:pic>
      <p:sp>
        <p:nvSpPr>
          <p:cNvPr id="14" name="Text 9"/>
          <p:cNvSpPr txBox="1"/>
          <p:nvPr/>
        </p:nvSpPr>
        <p:spPr>
          <a:xfrm>
            <a:off x="1691640" y="3474720"/>
            <a:ext cx="9692640" cy="329184"/>
          </a:xfrm>
          <a:prstGeom prst="rect">
            <a:avLst/>
          </a:prstGeom>
          <a:noFill/>
          <a:ln/>
        </p:spPr>
        <p:txBody>
          <a:bodyPr wrap="square" lIns="0" tIns="0" rIns="0" bIns="0" rtlCol="0" anchor="ctr"/>
          <a:lstStyle/>
          <a:p>
            <a:pPr indent="0" marL="0">
              <a:buNone/>
            </a:pPr>
            <a:r>
              <a:rPr lang="en-US" sz="1650" b="1" dirty="0">
                <a:solidFill>
                  <a:srgbClr val="24313A"/>
                </a:solidFill>
                <a:latin typeface="Calibri" pitchFamily="34" charset="0"/>
                <a:ea typeface="Calibri" pitchFamily="34" charset="-122"/>
                <a:cs typeface="Calibri" pitchFamily="34" charset="-120"/>
              </a:rPr>
              <a:t>Support &amp; training</a:t>
            </a:r>
            <a:endParaRPr lang="en-US" sz="1650" dirty="0"/>
          </a:p>
        </p:txBody>
      </p:sp>
      <p:sp>
        <p:nvSpPr>
          <p:cNvPr id="15" name="Text 10"/>
          <p:cNvSpPr txBox="1"/>
          <p:nvPr/>
        </p:nvSpPr>
        <p:spPr>
          <a:xfrm>
            <a:off x="1691640" y="3794760"/>
            <a:ext cx="9692640" cy="548640"/>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Refresher courses, return-to-teaching programmes, induction and coaching that make re-entry easier.</a:t>
            </a:r>
            <a:endParaRPr lang="en-US" sz="1300" dirty="0"/>
          </a:p>
        </p:txBody>
      </p:sp>
      <p:sp>
        <p:nvSpPr>
          <p:cNvPr id="16" name="Shape 11"/>
          <p:cNvSpPr/>
          <p:nvPr/>
        </p:nvSpPr>
        <p:spPr>
          <a:xfrm>
            <a:off x="822960" y="4434840"/>
            <a:ext cx="621792" cy="621792"/>
          </a:xfrm>
          <a:prstGeom prst="ellipse">
            <a:avLst/>
          </a:prstGeom>
          <a:solidFill>
            <a:srgbClr val="1F4E46"/>
          </a:solidFill>
          <a:ln w="12700">
            <a:solidFill>
              <a:srgbClr val="1F4E46"/>
            </a:solidFill>
            <a:prstDash val="solid"/>
          </a:ln>
        </p:spPr>
      </p:sp>
      <p:pic>
        <p:nvPicPr>
          <p:cNvPr id="17" name="Image 3" descr="preencoded.png">    </p:cNvPr>
          <p:cNvPicPr>
            <a:picLocks noChangeAspect="1"/>
          </p:cNvPicPr>
          <p:nvPr/>
        </p:nvPicPr>
        <p:blipFill>
          <a:blip r:embed="rId4"/>
          <a:stretch>
            <a:fillRect/>
          </a:stretch>
        </p:blipFill>
        <p:spPr>
          <a:xfrm>
            <a:off x="972190" y="4584070"/>
            <a:ext cx="323332" cy="323332"/>
          </a:xfrm>
          <a:prstGeom prst="rect">
            <a:avLst/>
          </a:prstGeom>
        </p:spPr>
      </p:pic>
      <p:sp>
        <p:nvSpPr>
          <p:cNvPr id="18" name="Text 12"/>
          <p:cNvSpPr txBox="1"/>
          <p:nvPr/>
        </p:nvSpPr>
        <p:spPr>
          <a:xfrm>
            <a:off x="1691640" y="4389120"/>
            <a:ext cx="9692640" cy="329184"/>
          </a:xfrm>
          <a:prstGeom prst="rect">
            <a:avLst/>
          </a:prstGeom>
          <a:noFill/>
          <a:ln/>
        </p:spPr>
        <p:txBody>
          <a:bodyPr wrap="square" lIns="0" tIns="0" rIns="0" bIns="0" rtlCol="0" anchor="ctr"/>
          <a:lstStyle/>
          <a:p>
            <a:pPr indent="0" marL="0">
              <a:buNone/>
            </a:pPr>
            <a:r>
              <a:rPr lang="en-US" sz="1650" b="1" dirty="0">
                <a:solidFill>
                  <a:srgbClr val="24313A"/>
                </a:solidFill>
                <a:latin typeface="Calibri" pitchFamily="34" charset="0"/>
                <a:ea typeface="Calibri" pitchFamily="34" charset="-122"/>
                <a:cs typeface="Calibri" pitchFamily="34" charset="-120"/>
              </a:rPr>
              <a:t>Flexible positions</a:t>
            </a:r>
            <a:endParaRPr lang="en-US" sz="1650" dirty="0"/>
          </a:p>
        </p:txBody>
      </p:sp>
      <p:sp>
        <p:nvSpPr>
          <p:cNvPr id="19" name="Text 13"/>
          <p:cNvSpPr txBox="1"/>
          <p:nvPr/>
        </p:nvSpPr>
        <p:spPr>
          <a:xfrm>
            <a:off x="1691640" y="4709160"/>
            <a:ext cx="9692640" cy="548640"/>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Roles other than a full-time teaching post: tutoring pupils, mentoring future or novice teachers, part-time or flexible substitute work.</a:t>
            </a:r>
            <a:endParaRPr lang="en-US" sz="1300" dirty="0"/>
          </a:p>
        </p:txBody>
      </p:sp>
      <p:sp>
        <p:nvSpPr>
          <p:cNvPr id="20" name="Shape 14"/>
          <p:cNvSpPr/>
          <p:nvPr/>
        </p:nvSpPr>
        <p:spPr>
          <a:xfrm>
            <a:off x="822960" y="5349240"/>
            <a:ext cx="621792" cy="621792"/>
          </a:xfrm>
          <a:prstGeom prst="ellipse">
            <a:avLst/>
          </a:prstGeom>
          <a:solidFill>
            <a:srgbClr val="1F4E46"/>
          </a:solidFill>
          <a:ln w="12700">
            <a:solidFill>
              <a:srgbClr val="1F4E46"/>
            </a:solidFill>
            <a:prstDash val="solid"/>
          </a:ln>
        </p:spPr>
      </p:sp>
      <p:pic>
        <p:nvPicPr>
          <p:cNvPr id="21" name="Image 4" descr="preencoded.png">    </p:cNvPr>
          <p:cNvPicPr>
            <a:picLocks noChangeAspect="1"/>
          </p:cNvPicPr>
          <p:nvPr/>
        </p:nvPicPr>
        <p:blipFill>
          <a:blip r:embed="rId5"/>
          <a:stretch>
            <a:fillRect/>
          </a:stretch>
        </p:blipFill>
        <p:spPr>
          <a:xfrm>
            <a:off x="972190" y="5498470"/>
            <a:ext cx="323332" cy="323332"/>
          </a:xfrm>
          <a:prstGeom prst="rect">
            <a:avLst/>
          </a:prstGeom>
        </p:spPr>
      </p:pic>
      <p:sp>
        <p:nvSpPr>
          <p:cNvPr id="22" name="Text 15"/>
          <p:cNvSpPr txBox="1"/>
          <p:nvPr/>
        </p:nvSpPr>
        <p:spPr>
          <a:xfrm>
            <a:off x="1691640" y="5303520"/>
            <a:ext cx="9692640" cy="329184"/>
          </a:xfrm>
          <a:prstGeom prst="rect">
            <a:avLst/>
          </a:prstGeom>
          <a:noFill/>
          <a:ln/>
        </p:spPr>
        <p:txBody>
          <a:bodyPr wrap="square" lIns="0" tIns="0" rIns="0" bIns="0" rtlCol="0" anchor="ctr"/>
          <a:lstStyle/>
          <a:p>
            <a:pPr indent="0" marL="0">
              <a:buNone/>
            </a:pPr>
            <a:r>
              <a:rPr lang="en-US" sz="1650" b="1" dirty="0">
                <a:solidFill>
                  <a:srgbClr val="24313A"/>
                </a:solidFill>
                <a:latin typeface="Calibri" pitchFamily="34" charset="0"/>
                <a:ea typeface="Calibri" pitchFamily="34" charset="-122"/>
                <a:cs typeface="Calibri" pitchFamily="34" charset="-120"/>
              </a:rPr>
              <a:t>Flexible re-certification</a:t>
            </a:r>
            <a:endParaRPr lang="en-US" sz="1650" dirty="0"/>
          </a:p>
        </p:txBody>
      </p:sp>
      <p:sp>
        <p:nvSpPr>
          <p:cNvPr id="23" name="Text 16"/>
          <p:cNvSpPr txBox="1"/>
          <p:nvPr/>
        </p:nvSpPr>
        <p:spPr>
          <a:xfrm>
            <a:off x="1691640" y="5623560"/>
            <a:ext cx="9692640" cy="548640"/>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Lowering administrative or training barriers where former teachers must re-certify: fewer compulsory course days, simplified procedures, limited teaching hours while re-certifying.</a:t>
            </a:r>
            <a:endParaRPr lang="en-US" sz="1300" dirty="0"/>
          </a:p>
        </p:txBody>
      </p:sp>
      <p:sp>
        <p:nvSpPr>
          <p:cNvPr id="24" name="Text 17"/>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10789920" cy="640080"/>
          </a:xfrm>
          <a:prstGeom prst="rect">
            <a:avLst/>
          </a:prstGeom>
          <a:noFill/>
          <a:ln/>
        </p:spPr>
        <p:txBody>
          <a:bodyPr wrap="square" lIns="0" tIns="0" rIns="0" bIns="0" rtlCol="0" anchor="ctr"/>
          <a:lstStyle/>
          <a:p>
            <a:pPr indent="0" marL="0">
              <a:buNone/>
            </a:pPr>
            <a:r>
              <a:rPr lang="en-US" sz="3000" b="1" dirty="0">
                <a:solidFill>
                  <a:srgbClr val="24313A"/>
                </a:solidFill>
                <a:latin typeface="Cambria" pitchFamily="34" charset="0"/>
                <a:ea typeface="Cambria" pitchFamily="34" charset="-122"/>
                <a:cs typeface="Cambria" pitchFamily="34" charset="-120"/>
              </a:rPr>
              <a:t>Scale</a:t>
            </a:r>
            <a:endParaRPr lang="en-US" sz="3000" dirty="0"/>
          </a:p>
        </p:txBody>
      </p:sp>
      <p:sp>
        <p:nvSpPr>
          <p:cNvPr id="3" name="Shape 1"/>
          <p:cNvSpPr/>
          <p:nvPr/>
        </p:nvSpPr>
        <p:spPr>
          <a:xfrm>
            <a:off x="868680" y="2231136"/>
            <a:ext cx="256032" cy="256032"/>
          </a:xfrm>
          <a:prstGeom prst="ellipse">
            <a:avLst/>
          </a:prstGeom>
          <a:solidFill>
            <a:srgbClr val="1F4E46"/>
          </a:solidFill>
          <a:ln w="12700">
            <a:solidFill>
              <a:srgbClr val="1F4E46"/>
            </a:solidFill>
            <a:prstDash val="solid"/>
          </a:ln>
        </p:spPr>
      </p:sp>
      <p:sp>
        <p:nvSpPr>
          <p:cNvPr id="4" name="Text 2"/>
          <p:cNvSpPr txBox="1"/>
          <p:nvPr/>
        </p:nvSpPr>
        <p:spPr>
          <a:xfrm>
            <a:off x="1325880" y="2148840"/>
            <a:ext cx="2011680" cy="420624"/>
          </a:xfrm>
          <a:prstGeom prst="rect">
            <a:avLst/>
          </a:prstGeom>
          <a:noFill/>
          <a:ln/>
        </p:spPr>
        <p:txBody>
          <a:bodyPr wrap="square" lIns="0" tIns="0" rIns="0" bIns="0" rtlCol="0" anchor="ctr"/>
          <a:lstStyle/>
          <a:p>
            <a:pPr indent="0" marL="0">
              <a:buNone/>
            </a:pPr>
            <a:r>
              <a:rPr lang="en-US" sz="2000" b="1" dirty="0">
                <a:solidFill>
                  <a:srgbClr val="1F4E46"/>
                </a:solidFill>
                <a:latin typeface="Calibri" pitchFamily="34" charset="0"/>
                <a:ea typeface="Calibri" pitchFamily="34" charset="-122"/>
                <a:cs typeface="Calibri" pitchFamily="34" charset="-120"/>
              </a:rPr>
              <a:t>Large</a:t>
            </a:r>
            <a:endParaRPr lang="en-US" sz="2000" dirty="0"/>
          </a:p>
        </p:txBody>
      </p:sp>
      <p:sp>
        <p:nvSpPr>
          <p:cNvPr id="5" name="Text 3"/>
          <p:cNvSpPr txBox="1"/>
          <p:nvPr/>
        </p:nvSpPr>
        <p:spPr>
          <a:xfrm>
            <a:off x="3291840" y="2148840"/>
            <a:ext cx="8229600" cy="420624"/>
          </a:xfrm>
          <a:prstGeom prst="rect">
            <a:avLst/>
          </a:prstGeom>
          <a:noFill/>
          <a:ln/>
        </p:spPr>
        <p:txBody>
          <a:bodyPr wrap="square" lIns="0" tIns="0" rIns="0" bIns="0" rtlCol="0" anchor="ctr"/>
          <a:lstStyle/>
          <a:p>
            <a:pPr indent="0" marL="0">
              <a:buNone/>
            </a:pPr>
            <a:r>
              <a:rPr lang="en-US" sz="1500" dirty="0">
                <a:solidFill>
                  <a:srgbClr val="24313A"/>
                </a:solidFill>
                <a:latin typeface="Calibri" pitchFamily="34" charset="0"/>
                <a:ea typeface="Calibri" pitchFamily="34" charset="-122"/>
                <a:cs typeface="Calibri" pitchFamily="34" charset="-120"/>
              </a:rPr>
              <a:t>National policy</a:t>
            </a:r>
            <a:endParaRPr lang="en-US" sz="1500" dirty="0"/>
          </a:p>
        </p:txBody>
      </p:sp>
      <p:sp>
        <p:nvSpPr>
          <p:cNvPr id="6" name="Shape 4"/>
          <p:cNvSpPr/>
          <p:nvPr/>
        </p:nvSpPr>
        <p:spPr>
          <a:xfrm>
            <a:off x="868680" y="3099816"/>
            <a:ext cx="256032" cy="256032"/>
          </a:xfrm>
          <a:prstGeom prst="ellipse">
            <a:avLst/>
          </a:prstGeom>
          <a:solidFill>
            <a:srgbClr val="C8892B"/>
          </a:solidFill>
          <a:ln w="12700">
            <a:solidFill>
              <a:srgbClr val="C8892B"/>
            </a:solidFill>
            <a:prstDash val="solid"/>
          </a:ln>
        </p:spPr>
      </p:sp>
      <p:sp>
        <p:nvSpPr>
          <p:cNvPr id="7" name="Text 5"/>
          <p:cNvSpPr txBox="1"/>
          <p:nvPr/>
        </p:nvSpPr>
        <p:spPr>
          <a:xfrm>
            <a:off x="1325880" y="3017520"/>
            <a:ext cx="2011680" cy="420624"/>
          </a:xfrm>
          <a:prstGeom prst="rect">
            <a:avLst/>
          </a:prstGeom>
          <a:noFill/>
          <a:ln/>
        </p:spPr>
        <p:txBody>
          <a:bodyPr wrap="square" lIns="0" tIns="0" rIns="0" bIns="0" rtlCol="0" anchor="ctr"/>
          <a:lstStyle/>
          <a:p>
            <a:pPr indent="0" marL="0">
              <a:buNone/>
            </a:pPr>
            <a:r>
              <a:rPr lang="en-US" sz="2000" b="1" dirty="0">
                <a:solidFill>
                  <a:srgbClr val="C8892B"/>
                </a:solidFill>
                <a:latin typeface="Calibri" pitchFamily="34" charset="0"/>
                <a:ea typeface="Calibri" pitchFamily="34" charset="-122"/>
                <a:cs typeface="Calibri" pitchFamily="34" charset="-120"/>
              </a:rPr>
              <a:t>Medium</a:t>
            </a:r>
            <a:endParaRPr lang="en-US" sz="2000" dirty="0"/>
          </a:p>
        </p:txBody>
      </p:sp>
      <p:sp>
        <p:nvSpPr>
          <p:cNvPr id="8" name="Text 6"/>
          <p:cNvSpPr txBox="1"/>
          <p:nvPr/>
        </p:nvSpPr>
        <p:spPr>
          <a:xfrm>
            <a:off x="3291840" y="3017520"/>
            <a:ext cx="8229600" cy="420624"/>
          </a:xfrm>
          <a:prstGeom prst="rect">
            <a:avLst/>
          </a:prstGeom>
          <a:noFill/>
          <a:ln/>
        </p:spPr>
        <p:txBody>
          <a:bodyPr wrap="square" lIns="0" tIns="0" rIns="0" bIns="0" rtlCol="0" anchor="ctr"/>
          <a:lstStyle/>
          <a:p>
            <a:pPr indent="0" marL="0">
              <a:buNone/>
            </a:pPr>
            <a:r>
              <a:rPr lang="en-US" sz="1500" dirty="0">
                <a:solidFill>
                  <a:srgbClr val="24313A"/>
                </a:solidFill>
                <a:latin typeface="Calibri" pitchFamily="34" charset="0"/>
                <a:ea typeface="Calibri" pitchFamily="34" charset="-122"/>
                <a:cs typeface="Calibri" pitchFamily="34" charset="-120"/>
              </a:rPr>
              <a:t>State, region, province or canton</a:t>
            </a:r>
            <a:endParaRPr lang="en-US" sz="1500" dirty="0"/>
          </a:p>
        </p:txBody>
      </p:sp>
      <p:sp>
        <p:nvSpPr>
          <p:cNvPr id="9" name="Shape 7"/>
          <p:cNvSpPr/>
          <p:nvPr/>
        </p:nvSpPr>
        <p:spPr>
          <a:xfrm>
            <a:off x="868680" y="3968496"/>
            <a:ext cx="256032" cy="256032"/>
          </a:xfrm>
          <a:prstGeom prst="ellipse">
            <a:avLst/>
          </a:prstGeom>
          <a:solidFill>
            <a:srgbClr val="B3542E"/>
          </a:solidFill>
          <a:ln w="12700">
            <a:solidFill>
              <a:srgbClr val="B3542E"/>
            </a:solidFill>
            <a:prstDash val="solid"/>
          </a:ln>
        </p:spPr>
      </p:sp>
      <p:sp>
        <p:nvSpPr>
          <p:cNvPr id="10" name="Text 8"/>
          <p:cNvSpPr txBox="1"/>
          <p:nvPr/>
        </p:nvSpPr>
        <p:spPr>
          <a:xfrm>
            <a:off x="1325880" y="3886200"/>
            <a:ext cx="2011680" cy="420624"/>
          </a:xfrm>
          <a:prstGeom prst="rect">
            <a:avLst/>
          </a:prstGeom>
          <a:noFill/>
          <a:ln/>
        </p:spPr>
        <p:txBody>
          <a:bodyPr wrap="square" lIns="0" tIns="0" rIns="0" bIns="0" rtlCol="0" anchor="ctr"/>
          <a:lstStyle/>
          <a:p>
            <a:pPr indent="0" marL="0">
              <a:buNone/>
            </a:pPr>
            <a:r>
              <a:rPr lang="en-US" sz="2000" b="1" dirty="0">
                <a:solidFill>
                  <a:srgbClr val="B3542E"/>
                </a:solidFill>
                <a:latin typeface="Calibri" pitchFamily="34" charset="0"/>
                <a:ea typeface="Calibri" pitchFamily="34" charset="-122"/>
                <a:cs typeface="Calibri" pitchFamily="34" charset="-120"/>
              </a:rPr>
              <a:t>Small</a:t>
            </a:r>
            <a:endParaRPr lang="en-US" sz="2000" dirty="0"/>
          </a:p>
        </p:txBody>
      </p:sp>
      <p:sp>
        <p:nvSpPr>
          <p:cNvPr id="11" name="Text 9"/>
          <p:cNvSpPr txBox="1"/>
          <p:nvPr/>
        </p:nvSpPr>
        <p:spPr>
          <a:xfrm>
            <a:off x="3291840" y="3886200"/>
            <a:ext cx="8229600" cy="420624"/>
          </a:xfrm>
          <a:prstGeom prst="rect">
            <a:avLst/>
          </a:prstGeom>
          <a:noFill/>
          <a:ln/>
        </p:spPr>
        <p:txBody>
          <a:bodyPr wrap="square" lIns="0" tIns="0" rIns="0" bIns="0" rtlCol="0" anchor="ctr"/>
          <a:lstStyle/>
          <a:p>
            <a:pPr indent="0" marL="0">
              <a:buNone/>
            </a:pPr>
            <a:r>
              <a:rPr lang="en-US" sz="1500" dirty="0">
                <a:solidFill>
                  <a:srgbClr val="24313A"/>
                </a:solidFill>
                <a:latin typeface="Calibri" pitchFamily="34" charset="0"/>
                <a:ea typeface="Calibri" pitchFamily="34" charset="-122"/>
                <a:cs typeface="Calibri" pitchFamily="34" charset="-120"/>
              </a:rPr>
              <a:t>District, city or a single institution</a:t>
            </a:r>
            <a:endParaRPr lang="en-US" sz="1500" dirty="0"/>
          </a:p>
        </p:txBody>
      </p:sp>
      <p:sp>
        <p:nvSpPr>
          <p:cNvPr id="12" name="Text 10"/>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Australia</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New South Wales</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Teachers Re-Engage: the department calls back recent leavers (since 2023)</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Department of Education directly contacted teachers who had resigned in the previous five years and asked them to consider coming back. Those interested were offered assistance to renew their accreditation and a placement in casual or temporary work, with the possibility of moving to a permanent post later. The initiative was launched shortly after teachers received one of the largest pay rises in decades and a significant cut in administrative work, and the department credits both with helping the returns. More than 1,500 former teachers were contacted from November 2023; by May 2024, 260 had expressed interest and 145 were placed across more than 600 schools, about sixty percent of them coming out of retirement. The pathway is still open, but nothing has been published since.</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re-certification, Flexible positions, Support &amp; training</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nsw.gov.au/media-releases/retired-teachers-return-to-classrooms" history="1" highlightClick="0" endSnd="0">
                  <a:extLst>
                    <a:ext uri="{A12FA001-AC4F-418D-AE19-62706E023703}">
                      <ahyp:hlinkClr xmlns:ahyp="http://schemas.microsoft.com/office/drawing/2018/hyperlinkcolor" val="tx"/>
                    </a:ext>
                  </a:extLst>
                </a:hlinkClick>
              </a:rPr>
              <a:t>https://www.nsw.gov.au/media-releases/retired-teachers-return-to-classrooms</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education.nsw.gov.au/teach-nsw/find-teaching-jobs/returning-teachers" history="1" highlightClick="0" endSnd="0">
                  <a:extLst>
                    <a:ext uri="{A12FA001-AC4F-418D-AE19-62706E023703}">
                      <ahyp:hlinkClr xmlns:ahyp="http://schemas.microsoft.com/office/drawing/2018/hyperlinkcolor" val="tx"/>
                    </a:ext>
                  </a:extLst>
                </a:hlinkClick>
              </a:rPr>
              <a:t>https://education.nsw.gov.au/teach-nsw/find-teaching-jobs/returning-teachers</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Australia</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Victoria</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Support &amp; training</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Teacher Re-Engagement Initiative (TREI), since 2022</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Qualified teachers who stopped teaching at least a year ago, whether they retired or moved to another job, are offered up to forty paid days in a public school to get used to the classroom again before they apply for a real post. After a teacher registers, a team from the Department of Education calls them, offers free coaching on writing a CV, preparing for interviews and the current curriculum, and finds them a school; during the forty days they observe lessons, teach and are guided by serving teachers. Those returning from retirement or a career break are paid up to 12,000 Australian dollars (about 7,200 euros) for the forty days. It began in late 2022, drew more than 1,100 expressions of interest in its first months and was given 12 million Australian dollars (about 7.2 million euros) in the 2023/24 state budget, which funded placements up to June 2025.</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Financial incentives, Information &amp; nudges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vic.gov.au/teacher-re-engagement-initiative" history="1" highlightClick="0" endSnd="0">
                  <a:extLst>
                    <a:ext uri="{A12FA001-AC4F-418D-AE19-62706E023703}">
                      <ahyp:hlinkClr xmlns:ahyp="http://schemas.microsoft.com/office/drawing/2018/hyperlinkcolor" val="tx"/>
                    </a:ext>
                  </a:extLst>
                </a:hlinkClick>
              </a:rPr>
              <a:t>https://www.vic.gov.au/teacher-re-engagement-initiative</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Austria</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Regional education authorities recruit retired teachers back (2022–)</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regional education directorates, which run the schools in each province, wrote to teachers who had already retired and asked them to come back. In Vienna about 300 letters went out and, according to the public broadcaster (ORF), three teachers accepted. The directorate then passed the job to school principals, who put the question in person to staff approaching retirement age, usually offering reduced hours to stay on. Returners keep the full pension and sign a separate contract paid on the beginner's salary scale. Take-up has stayed very low across the country, and an academic study points to pension and seniority rules as the main barrier.</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Financial incentives</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ien.orf.at/stories/3200562/" history="1" highlightClick="0" endSnd="0">
                  <a:extLst>
                    <a:ext uri="{A12FA001-AC4F-418D-AE19-62706E023703}">
                      <ahyp:hlinkClr xmlns:ahyp="http://schemas.microsoft.com/office/drawing/2018/hyperlinkcolor" val="tx"/>
                    </a:ext>
                  </a:extLst>
                </a:hlinkClick>
              </a:rPr>
              <a:t>https://wien.orf.at/stories/3200562/</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wienerzeitung.at/nachrichten/politik/oesterreich/2175563-Nur-42-Pflichtschullehrer-kamen-aus-Pension-zurueck.html" history="1" highlightClick="0" endSnd="0">
                  <a:extLst>
                    <a:ext uri="{A12FA001-AC4F-418D-AE19-62706E023703}">
                      <ahyp:hlinkClr xmlns:ahyp="http://schemas.microsoft.com/office/drawing/2018/hyperlinkcolor" val="tx"/>
                    </a:ext>
                  </a:extLst>
                </a:hlinkClick>
              </a:rPr>
              <a:t>https://www.wienerzeitung.at/nachrichten/politik/oesterreich/2175563-Nur-42-Pflichtschullehrer-kamen-aus-Pension-zurueck.html</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5" invalidUrl="" action="" tgtFrame="" tooltip="https://www.tandfonline.com/doi/full/10.1080/02619768.2025.2531930" history="1" highlightClick="0" endSnd="0">
                  <a:extLst>
                    <a:ext uri="{A12FA001-AC4F-418D-AE19-62706E023703}">
                      <ahyp:hlinkClr xmlns:ahyp="http://schemas.microsoft.com/office/drawing/2018/hyperlinkcolor" val="tx"/>
                    </a:ext>
                  </a:extLst>
                </a:hlinkClick>
              </a:rPr>
              <a:t>https://www.tandfonline.com/doi/full/10.1080/02619768.2025.2531930</a:t>
            </a:r>
            <a:endParaRPr lang="en-US" sz="1000" dirty="0"/>
          </a:p>
        </p:txBody>
      </p:sp>
      <p:sp>
        <p:nvSpPr>
          <p:cNvPr id="15" name="Shape 11"/>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Bahamas</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Teacher Reservist Program: a standing reserve of former teachers (announced July 2026)</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Ministry of Education is turning its supply-teacher platform into a permanent register where retired teachers, former teachers now working in other careers and recent graduates sign up in advance, so that a school can call one of them in when a post falls vacant or a teacher is absent. A task force drawn from several agencies checks records and accreditation quickly, so a reservist can start without the usual delay. The point of the design is that the pool exists before the gap appears, rather than being assembled each time. It was announced in July 2026, when the country was short of about 300 teachers across 162 schools spread over 24 islands, and no regulations, enrolment figures or results have been published yet.</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re-certification</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bahamas.gov.bs/news-press-release/the-ministry-of-education-aiming-to-attract-more-bahamian-teachers" history="1" highlightClick="0" endSnd="0">
                  <a:extLst>
                    <a:ext uri="{A12FA001-AC4F-418D-AE19-62706E023703}">
                      <ahyp:hlinkClr xmlns:ahyp="http://schemas.microsoft.com/office/drawing/2018/hyperlinkcolor" val="tx"/>
                    </a:ext>
                  </a:extLst>
                </a:hlinkClick>
              </a:rPr>
              <a:t>https://www.bahamas.gov.bs/news-press-release/the-ministry-of-education-aiming-to-attract-more-bahamian-teachers</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bahamaspress.com/statement-by-the-minister-of-education-dpm-chester-cooper-on-the-recruitment-of-upto-300-teachers/" history="1" highlightClick="0" endSnd="0">
                  <a:extLst>
                    <a:ext uri="{A12FA001-AC4F-418D-AE19-62706E023703}">
                      <ahyp:hlinkClr xmlns:ahyp="http://schemas.microsoft.com/office/drawing/2018/hyperlinkcolor" val="tx"/>
                    </a:ext>
                  </a:extLst>
                </a:hlinkClick>
              </a:rPr>
              <a:t>https://www.bahamaspress.com/statement-by-the-minister-of-education-dpm-chester-cooper-on-the-recruitment-of-upto-300-teachers/</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Canada</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Ontario</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Ontario Teachers' Pension Plan: the 50-day re-employment rule, raised to 95 days in shortages</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teachers may work for a school board for up to fifty days in a school year and still draw the full pension; past that limit the pension stops for the rest of the year. The provincial government and the teachers' federation, which sponsor the pension plan together, have lifted the cap to ninety-five days when schools ran short of staff, as they did during and after the pandemic. Boards then had to report how they used retirees, so that the extra days did not take work from occasional teachers at the start of their careers. Teacher unions have argued that leaning on retirees is not a lasting answer to shortages.</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positions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help.oct.ca/hc/en-us/articles/360025778433-If-I-retire-can-I-teach-occasionally" history="1" highlightClick="0" endSnd="0">
                  <a:extLst>
                    <a:ext uri="{A12FA001-AC4F-418D-AE19-62706E023703}">
                      <ahyp:hlinkClr xmlns:ahyp="http://schemas.microsoft.com/office/drawing/2018/hyperlinkcolor" val="tx"/>
                    </a:ext>
                  </a:extLst>
                </a:hlinkClick>
              </a:rPr>
              <a:t>https://help.oct.ca/hc/en-us/articles/360025778433-If-I-retire-can-I-teach-occasionally</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otffeo.on.ca/en/news/50-day-re-employment-rule-increased-to-95-days-for-some-otpp-retirees-until-june-30-2023/" history="1" highlightClick="0" endSnd="0">
                  <a:extLst>
                    <a:ext uri="{A12FA001-AC4F-418D-AE19-62706E023703}">
                      <ahyp:hlinkClr xmlns:ahyp="http://schemas.microsoft.com/office/drawing/2018/hyperlinkcolor" val="tx"/>
                    </a:ext>
                  </a:extLst>
                </a:hlinkClick>
              </a:rPr>
              <a:t>https://www.otffeo.on.ca/en/news/50-day-re-employment-rule-increased-to-95-days-for-some-otpp-retirees-until-june-30-2023/</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Canada</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Quebec</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Incentive pay for returning retired teachers (2020, made permanent) and ministerial letter campaign (2023)</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teachers who go back to the classroom are paid at the salary step they had reached when they retired, from the first day of substitute work, rather than the flat substitute rate, and the pension keeps running in full. The measure was introduced during the pandemic and later made permanent, and the ministry followed it with a personal letter from the minister to every retired teacher. A returning retiree earns about 412 Canadian dollars a day (about 275 euros) instead of 212 dollars (about 140 euros), and up to 578 dollars (about 385 euros) on longer contracts. Seven hundred retirees came back in the first year and more than 5,000 worked in schools in 2022-23.</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Information &amp; nudges, Flexible positions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quebec.ca/en/government/work-government/jobs-education/teaching-general-education-youth-sector-vocational-training-adult-education/return-work-retired-teacher" history="1" highlightClick="0" endSnd="0">
                  <a:extLst>
                    <a:ext uri="{A12FA001-AC4F-418D-AE19-62706E023703}">
                      <ahyp:hlinkClr xmlns:ahyp="http://schemas.microsoft.com/office/drawing/2018/hyperlinkcolor" val="tx"/>
                    </a:ext>
                  </a:extLst>
                </a:hlinkClick>
              </a:rPr>
              <a:t>https://www.quebec.ca/en/government/work-government/jobs-education/teaching-general-education-youth-sector-vocational-training-adult-education/return-work-retired-teacher</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ledevoir.com/actualites/education/912921/quebec-espere-nouveau-attirer-milliers-enseignants-retraites-ecoles" history="1" highlightClick="0" endSnd="0">
                  <a:extLst>
                    <a:ext uri="{A12FA001-AC4F-418D-AE19-62706E023703}">
                      <ahyp:hlinkClr xmlns:ahyp="http://schemas.microsoft.com/office/drawing/2018/hyperlinkcolor" val="tx"/>
                    </a:ext>
                  </a:extLst>
                </a:hlinkClick>
              </a:rPr>
              <a:t>https://www.ledevoir.com/actualites/education/912921/quebec-espere-nouveau-attirer-milliers-enseignants-retraites-ecoles</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China</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Silver-Age Lecturing Plan: retired teachers posted to rural schools, 2018–</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principals, senior teachers and ‘special-grade’ teachers aged 65 or under are posted to rural primary and lower-secondary schools in poor and remote counties, for at least one school year, where they teach classes, coach the school's young teachers and advise the head on running the school. They apply to a call issued by their province, keep their pension and receive an allowance from the central government of 20,000 yuan a year (about 2,500 euros) that covers a stipend, travel and insurance. The Ministries of Education and Finance have run the plan since 2018, aiming at 10,000 posts in its first three years, and recruited 7,000 teachers in the 2024 round alone.</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Financial incentives</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www.moe.gov.cn/srcsite/A10/s7151/201807/t20180719_343448.html" history="1" highlightClick="0" endSnd="0">
                  <a:extLst>
                    <a:ext uri="{A12FA001-AC4F-418D-AE19-62706E023703}">
                      <ahyp:hlinkClr xmlns:ahyp="http://schemas.microsoft.com/office/drawing/2018/hyperlinkcolor" val="tx"/>
                    </a:ext>
                  </a:extLst>
                </a:hlinkClick>
              </a:rPr>
              <a:t>http://www.moe.gov.cn/srcsite/A10/s7151/201807/t20180719_343448.html</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gov.cn/zhengce/zhengceku/202408/content_6967278.htm" history="1" highlightClick="0" endSnd="0">
                  <a:extLst>
                    <a:ext uri="{A12FA001-AC4F-418D-AE19-62706E023703}">
                      <ahyp:hlinkClr xmlns:ahyp="http://schemas.microsoft.com/office/drawing/2018/hyperlinkcolor" val="tx"/>
                    </a:ext>
                  </a:extLst>
                </a:hlinkClick>
              </a:rPr>
              <a:t>https://www.gov.cn/zhengce/zhengceku/202408/content_6967278.htm</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France</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Combining pension and pay: retired teachers rehired as contract or substitute staff</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general rules on drawing a pension while working let retired public-school teachers take a contract or substitute post and receive both the salary and the pension, once six months have passed since the pension took effect. A written answer from the Ministry of Education to the National Assembly confirmed that this applies to retired civil servants and contract teachers alike, including at the last school where they served. School authorities use it to cover posts in shortage subjects, and deputies have pressed the government to make it easier to call retired teachers in for replacements. It is a rule that removes an obstacle rather than a programme that recruits, and no figures on how many teachers come back are published.</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positions</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questions.assemblee-nationale.fr/q16/16-2072QE.htm" history="1" highlightClick="0" endSnd="0">
                  <a:extLst>
                    <a:ext uri="{A12FA001-AC4F-418D-AE19-62706E023703}">
                      <ahyp:hlinkClr xmlns:ahyp="http://schemas.microsoft.com/office/drawing/2018/hyperlinkcolor" val="tx"/>
                    </a:ext>
                  </a:extLst>
                </a:hlinkClick>
              </a:rPr>
              <a:t>https://questions.assemblee-nationale.fr/q16/16-2072QE.htm</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questions.assemblee-nationale.fr/q16/16-7305QE.htm" history="1" highlightClick="0" endSnd="0">
                  <a:extLst>
                    <a:ext uri="{A12FA001-AC4F-418D-AE19-62706E023703}">
                      <ahyp:hlinkClr xmlns:ahyp="http://schemas.microsoft.com/office/drawing/2018/hyperlinkcolor" val="tx"/>
                    </a:ext>
                  </a:extLst>
                </a:hlinkClick>
              </a:rPr>
              <a:t>https://questions.assemblee-nationale.fr/q16/16-7305QE.htm</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Germany</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Lower Saxony</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Earnings ceiling for retired teachers raised, then abolished (2022 and 2024)</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teachers used to lose part of the pension once pay and pension together passed a set share of their former salary, which is why few of them taught after retiring. The state parliament raised that ceiling in 2022, enough for a pensioner to teach around nine or ten hours a week with nothing deducted, and increased overtime pay for serving teachers at the same time. In 2024 the ceiling for retired teachers was dropped completely, so a pensioner can now teach as many hours as a school needs and still draw the full pension.</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Information &amp; nudges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mk.niedersachsen.de/startseite/aktuelles/presseinformationen/lehrkrafte-gewinnungspaket-landtag-erhoht-hinzuverdienstgrenze-und-mehrarbeitsvergutung-tonne-unterrichten-lohnt-sich-215592.html" history="1" highlightClick="0" endSnd="0">
                  <a:extLst>
                    <a:ext uri="{A12FA001-AC4F-418D-AE19-62706E023703}">
                      <ahyp:hlinkClr xmlns:ahyp="http://schemas.microsoft.com/office/drawing/2018/hyperlinkcolor" val="tx"/>
                    </a:ext>
                  </a:extLst>
                </a:hlinkClick>
              </a:rPr>
              <a:t>https://www.mk.niedersachsen.de/startseite/aktuelles/presseinformationen/lehrkrafte-gewinnungspaket-landtag-erhoht-hinzuverdienstgrenze-und-mehrarbeitsvergutung-tonne-unterrichten-lohnt-sich-215592.html</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mk.niedersachsen.de/startseite/aktuelles/presseinformationen/2-schulhalbjahr-2024-2025-unterrichtsversorgung-bleibt-stabil-238881.html" history="1" highlightClick="0" endSnd="0">
                  <a:extLst>
                    <a:ext uri="{A12FA001-AC4F-418D-AE19-62706E023703}">
                      <ahyp:hlinkClr xmlns:ahyp="http://schemas.microsoft.com/office/drawing/2018/hyperlinkcolor" val="tx"/>
                    </a:ext>
                  </a:extLst>
                </a:hlinkClick>
              </a:rPr>
              <a:t>https://www.mk.niedersachsen.de/startseite/aktuelles/presseinformationen/2-schulhalbjahr-2024-2025-unterrichtsversorgung-bleibt-stabil-238881.html</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Germany</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Lower Saxony</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Minister's letter to teachers approaching retirement (November 2023)</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Minister of Education wrote personally to every teacher about to retire, with an information sheet and a registration guide setting out two ways to stay in the classroom: a civil-servant teacher can ask to put off retirement by up to three years, or any teacher can retire and be re-hired at once on a fixed-term contract while drawing the pension, under the relaxed earnings rules. The letter thanks them for their service and asks for their help with schools facing rising pupil numbers. It carries no money of its own; its purpose is that nobody signs the retirement paperwork without knowing the options. It was sent in November 2023.</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Financial incentives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mk.niedersachsen.de/startseite/aktuelles/kultusministerin_hamburg_schreibt_an_angehende_pensionare/umfangreicher-erfahrungsschatz-kultusministerin-hamburg-informiert-lehrkrafte-kurz-vor-dem-ruhestand-uber-moglichkeiten-der-weiterbeschaftigung-227231.html" history="1" highlightClick="0" endSnd="0">
                  <a:extLst>
                    <a:ext uri="{A12FA001-AC4F-418D-AE19-62706E023703}">
                      <ahyp:hlinkClr xmlns:ahyp="http://schemas.microsoft.com/office/drawing/2018/hyperlinkcolor" val="tx"/>
                    </a:ext>
                  </a:extLst>
                </a:hlinkClick>
              </a:rPr>
              <a:t>https://www.mk.niedersachsen.de/startseite/aktuelles/kultusministerin_hamburg_schreibt_an_angehende_pensionare/umfangreicher-erfahrungsschatz-kultusministerin-hamburg-informiert-lehrkrafte-kurz-vor-dem-ruhestand-uber-moglichkeiten-der-weiterbeschaftigung-227231.html</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mk.niedersachsen.de/download/201317/Schreiben_an_angehende_Pensionaerinnen_und_Pensionaere.pdf" history="1" highlightClick="0" endSnd="0">
                  <a:extLst>
                    <a:ext uri="{A12FA001-AC4F-418D-AE19-62706E023703}">
                      <ahyp:hlinkClr xmlns:ahyp="http://schemas.microsoft.com/office/drawing/2018/hyperlinkcolor" val="tx"/>
                    </a:ext>
                  </a:extLst>
                </a:hlinkClick>
              </a:rPr>
              <a:t>https://www.mk.niedersachsen.de/download/201317/Schreiben_an_angehende_Pensionaerinnen_und_Pensionaere.pdf</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Ireland</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Waiver of pension abatement for retired teachers: 50 days a year (2021–2027)</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first fifty days a retired teacher works in a calendar year are exempt from abatement, the rule that cuts a public-service pension when pension and new salary together pass the pay the person had when they retired. Within those fifty days a retiree can cover absences as a substitute, or take a fixed-term contract, and keep the pension in full; every working day counts as one whatever the hours, and abatement is assessed only from the fifty-first. The Department of Education introduced the waiver by circular in 2021 to ease the shortage of substitutes, and has renewed it twice, most recently for 2026 and 2027.</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positions</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gov.ie/en/department-of-education/publications/working-as-a-substitute-while-receiving-a-teachers-pension/" history="1" highlightClick="0" endSnd="0">
                  <a:extLst>
                    <a:ext uri="{A12FA001-AC4F-418D-AE19-62706E023703}">
                      <ahyp:hlinkClr xmlns:ahyp="http://schemas.microsoft.com/office/drawing/2018/hyperlinkcolor" val="tx"/>
                    </a:ext>
                  </a:extLst>
                </a:hlinkClick>
              </a:rPr>
              <a:t>https://www.gov.ie/en/department-of-education/publications/working-as-a-substitute-while-receiving-a-teachers-pension/</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Netherlands</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Grant to primary schools for re-hiring former teachers, 2017–2020</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Ministry of Education paid a primary school up to 2,500 euros for every qualified teacher it re-hired who had been out of primary teaching for at least a year, on a contract of six months or more. The money went to the school board, not the teacher, and had to be spent on the returner's first months back: coaching, refresher training, time alongside a colleague. It was aimed at the cost and effort that make a school hesitate to take on someone who has been away. The scheme ran from November 2017 to January 2020, with a first budget covering up to 500 returners and a further round of applications in 2019.</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Support &amp; training</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etten.overheid.nl/1.3:c:BWBR0040130&amp;g=2020-07-01&amp;z=2025-10-18" history="1" highlightClick="0" endSnd="0">
                  <a:extLst>
                    <a:ext uri="{A12FA001-AC4F-418D-AE19-62706E023703}">
                      <ahyp:hlinkClr xmlns:ahyp="http://schemas.microsoft.com/office/drawing/2018/hyperlinkcolor" val="tx"/>
                    </a:ext>
                  </a:extLst>
                </a:hlinkClick>
              </a:rPr>
              <a:t>https://wetten.overheid.nl/1.3:c:BWBR0040130&amp;g=2020-07-01&amp;z=2025-10-18</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nieuwsbrievenminocw.nl/actueel/nieuws/2019/07/03/subsidie-voor-herintreders" history="1" highlightClick="0" endSnd="0">
                  <a:extLst>
                    <a:ext uri="{A12FA001-AC4F-418D-AE19-62706E023703}">
                      <ahyp:hlinkClr xmlns:ahyp="http://schemas.microsoft.com/office/drawing/2018/hyperlinkcolor" val="tx"/>
                    </a:ext>
                  </a:extLst>
                </a:hlinkClick>
              </a:rPr>
              <a:t>https://www.nieuwsbrievenminocw.nl/actueel/nieuws/2019/07/03/subsidie-voor-herintreders</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New Zealand</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re-certification</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Return without a refresher course, with registration fees paid (2024–2028)</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Registered teachers who had not taught for five years or more used to need a refresher course before getting a practising certificate back, and that requirement has gone. With a job offer in hand, a returner now renews the certificate directly, can do substitute teaching for up to twenty half-days while the renewal is processed, and agrees a short teaching plan with the school principal in place of the course. The government also pays the registration fees, so coming back costs the teacher nothing. Fees have been covered since October 2024 and are funded until June 2028; 352 teachers had returned by April 2025.</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Financial incentives</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orkforce.education.govt.nz/current-teachers/returning-teaching/returning-teaching-after-break" history="1" highlightClick="0" endSnd="0">
                  <a:extLst>
                    <a:ext uri="{A12FA001-AC4F-418D-AE19-62706E023703}">
                      <ahyp:hlinkClr xmlns:ahyp="http://schemas.microsoft.com/office/drawing/2018/hyperlinkcolor" val="tx"/>
                    </a:ext>
                  </a:extLst>
                </a:hlinkClick>
              </a:rPr>
              <a:t>https://workforce.education.govt.nz/current-teachers/returning-teaching/returning-teaching-after-break</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beehive.govt.nz/release/backing-teachers-teacher-registrations-funded" history="1" highlightClick="0" endSnd="0">
                  <a:extLst>
                    <a:ext uri="{A12FA001-AC4F-418D-AE19-62706E023703}">
                      <ahyp:hlinkClr xmlns:ahyp="http://schemas.microsoft.com/office/drawing/2018/hyperlinkcolor" val="tx"/>
                    </a:ext>
                  </a:extLst>
                </a:hlinkClick>
              </a:rPr>
              <a:t>https://www.beehive.govt.nz/release/backing-teachers-teacher-registrations-funded</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Portugal</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Decree-Law 51/2024: schools may hire retired teachers for shortage posts, 2024/25–</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Schools with an unfilled post in a shortage subject, or officially classed as under-staffed, may sign a fixed-term contract with a teacher who retired five years ago or less. The school applies through an online form of the schools' administration directorate and the ministry authorises the contract within a yearly quota agreed with the finance ministry. Returners keep the full pension and receive an extra payment tied to the first step of the teacher salary scale, in proportion to the hours taught each week. The decree-law creating it was published in August 2024, and about 63 of some 200 posts were filled in the first round.</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positions</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diariodarepublica.pt/dr/detalhe/decreto-lei/51-2024-885927817" history="1" highlightClick="0" endSnd="0">
                  <a:extLst>
                    <a:ext uri="{A12FA001-AC4F-418D-AE19-62706E023703}">
                      <ahyp:hlinkClr xmlns:ahyp="http://schemas.microsoft.com/office/drawing/2018/hyperlinkcolor" val="tx"/>
                    </a:ext>
                  </a:extLst>
                </a:hlinkClick>
              </a:rPr>
              <a:t>https://diariodarepublica.pt/dr/detalhe/decreto-lei/51-2024-885927817</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dgae.medu.pt/noticias/atribuicao-de-servico-docente-aos-aposentados-e-reformados" history="1" highlightClick="0" endSnd="0">
                  <a:extLst>
                    <a:ext uri="{A12FA001-AC4F-418D-AE19-62706E023703}">
                      <ahyp:hlinkClr xmlns:ahyp="http://schemas.microsoft.com/office/drawing/2018/hyperlinkcolor" val="tx"/>
                    </a:ext>
                  </a:extLst>
                </a:hlinkClick>
              </a:rPr>
              <a:t>https://www.dgae.medu.pt/noticias/atribuicao-de-servico-docente-aos-aposentados-e-reformados</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Singapore</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Flexi-Adjunct Teaching Scheme (Ministry of Education)</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Trained ex-teachers, retirees among them, register on a Ministry of Education portal from which schools hire them directly for spells lasting anywhere from a single day to ten weeks, for teaching alone or for a mix of teaching and other duties agreed case by case. They are paid a daily rate and begin to earn leave after ninety days of cumulative service. A companion scheme signs former ministry teachers to longer contracts, of one year to eighteen months. Between 2022 and 2024 about 220 teachers a year joined the flexible scheme within twelve months of leaving the service.</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moe.gov.sg/careers/adjunct-and-relief-schemes/flexi-adjunct-teaching-scheme" history="1" highlightClick="0" endSnd="0">
                  <a:extLst>
                    <a:ext uri="{A12FA001-AC4F-418D-AE19-62706E023703}">
                      <ahyp:hlinkClr xmlns:ahyp="http://schemas.microsoft.com/office/drawing/2018/hyperlinkcolor" val="tx"/>
                    </a:ext>
                  </a:extLst>
                </a:hlinkClick>
              </a:rPr>
              <a:t>https://www.moe.gov.sg/careers/adjunct-and-relief-schemes/flexi-adjunct-teaching-scheme</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moe.gov.sg/news/parliamentary-replies/20250923-statistics-on-teachers-who-joined-flexi-adjunct-teaching-scheme-and-median-duration-of-teachers-on-scheme" history="1" highlightClick="0" endSnd="0">
                  <a:extLst>
                    <a:ext uri="{A12FA001-AC4F-418D-AE19-62706E023703}">
                      <ahyp:hlinkClr xmlns:ahyp="http://schemas.microsoft.com/office/drawing/2018/hyperlinkcolor" val="tx"/>
                    </a:ext>
                  </a:extLst>
                </a:hlinkClick>
              </a:rPr>
              <a:t>https://www.moe.gov.sg/news/parliamentary-replies/20250923-statistics-on-teachers-who-joined-flexi-adjunct-teaching-scheme-and-median-duration-of-teachers-on-scheme</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Spain</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Zaragoza</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10 Mirrors: retired teachers mentor student teachers (University of Zaragoza, reported 2019)</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Ten retired teachers from early-childhood and primary education mentored 57 students in the final years of their teaching degrees, as part of the Faculty of Education's student guidance plan. Each group met three times, on the teaching profession and its vocation, on further training and employability, and on the teaching career, with personal contact between mentor and students in between. The mentors were teachers with a recognised professional record, and the role brought them back into teacher education without a contract or a classroom. The experience was documented in a 2019 publication of the university.</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Information &amp; nudges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dialnet.unirioja.es/servlet/articulo?codigo=8153125" history="1" highlightClick="0" endSnd="0">
                  <a:extLst>
                    <a:ext uri="{A12FA001-AC4F-418D-AE19-62706E023703}">
                      <ahyp:hlinkClr xmlns:ahyp="http://schemas.microsoft.com/office/drawing/2018/hyperlinkcolor" val="tx"/>
                    </a:ext>
                  </a:extLst>
                </a:hlinkClick>
              </a:rPr>
              <a:t>https://dialnet.unirioja.es/servlet/articulo?codigo=8153125</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zaguan.unizar.es/record/79095/files/BOOK-2019-021.pdf" history="1" highlightClick="0" endSnd="0">
                  <a:extLst>
                    <a:ext uri="{A12FA001-AC4F-418D-AE19-62706E023703}">
                      <ahyp:hlinkClr xmlns:ahyp="http://schemas.microsoft.com/office/drawing/2018/hyperlinkcolor" val="tx"/>
                    </a:ext>
                  </a:extLst>
                </a:hlinkClick>
              </a:rPr>
              <a:t>https://zaguan.unizar.es/record/79095/files/BOOK-2019-021.pdf</a:t>
            </a:r>
            <a:endParaRPr lang="en-US" sz="1000" dirty="0"/>
          </a:p>
        </p:txBody>
      </p:sp>
      <p:sp>
        <p:nvSpPr>
          <p:cNvPr id="16" name="Shape 12"/>
          <p:cNvSpPr/>
          <p:nvPr/>
        </p:nvSpPr>
        <p:spPr>
          <a:xfrm>
            <a:off x="10451592" y="5943600"/>
            <a:ext cx="1280160" cy="365760"/>
          </a:xfrm>
          <a:prstGeom prst="roundRect">
            <a:avLst>
              <a:gd name="adj" fmla="val 50000"/>
            </a:avLst>
          </a:prstGeom>
          <a:solidFill>
            <a:srgbClr val="B3542E"/>
          </a:solidFill>
          <a:ln w="12700">
            <a:solidFill>
              <a:srgbClr val="B3542E"/>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Small</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Sweden</a:t>
            </a:r>
            <a:endParaRPr lang="en-US" sz="2200" dirty="0"/>
          </a:p>
        </p:txBody>
      </p:sp>
      <p:sp>
        <p:nvSpPr>
          <p:cNvPr id="5" name="Shape 2"/>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Support &amp; training</a:t>
            </a:r>
            <a:endParaRPr lang="en-US" sz="1350" dirty="0"/>
          </a:p>
        </p:txBody>
      </p:sp>
      <p:sp>
        <p:nvSpPr>
          <p:cNvPr id="7" name="Text 4"/>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8" name="Shape 5"/>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9" name="Shape 6"/>
          <p:cNvSpPr/>
          <p:nvPr/>
        </p:nvSpPr>
        <p:spPr>
          <a:xfrm>
            <a:off x="777240" y="1691640"/>
            <a:ext cx="777240" cy="777240"/>
          </a:xfrm>
          <a:prstGeom prst="ellipse">
            <a:avLst/>
          </a:prstGeom>
          <a:solidFill>
            <a:srgbClr val="1F4E46"/>
          </a:solidFill>
          <a:ln w="12700">
            <a:solidFill>
              <a:srgbClr val="1F4E46"/>
            </a:solidFill>
            <a:prstDash val="solid"/>
          </a:ln>
        </p:spPr>
      </p:sp>
      <p:pic>
        <p:nvPicPr>
          <p:cNvPr id="10"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1" name="Text 7"/>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Online refresher course for returning teachers (National Agency for Education, since 2018)</a:t>
            </a:r>
            <a:endParaRPr lang="en-US" sz="2100" dirty="0"/>
          </a:p>
        </p:txBody>
      </p:sp>
      <p:sp>
        <p:nvSpPr>
          <p:cNvPr id="12" name="Text 8"/>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National Agency for Education put a free online course on its learning platform for qualified teachers and preschool teachers coming back after working elsewhere. The returner logs in, picks the school or the preschool track and takes only the modules they need, in any order, with a certificate for each one. The modules cover the curricula, laws and official guidelines that changed while they were away, which is what a teacher who has been out for years is least sure about. It was built at the government's request, has been available since October 2018, and is open to anyone with a Swedish teaching licence or a qualifying degree.</a:t>
            </a:r>
            <a:endParaRPr lang="en-US" sz="1500" dirty="0"/>
          </a:p>
        </p:txBody>
      </p:sp>
      <p:sp>
        <p:nvSpPr>
          <p:cNvPr id="13" name="Text 9"/>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4" name="Text 10"/>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skolverket.se/skolutveckling/kurser-och-utbildningar/atervandande-larare-och-forskollarare---webbaserad-utbildning" history="1" highlightClick="0" endSnd="0">
                  <a:extLst>
                    <a:ext uri="{A12FA001-AC4F-418D-AE19-62706E023703}">
                      <ahyp:hlinkClr xmlns:ahyp="http://schemas.microsoft.com/office/drawing/2018/hyperlinkcolor" val="tx"/>
                    </a:ext>
                  </a:extLst>
                </a:hlinkClick>
              </a:rPr>
              <a:t>https://www.skolverket.se/skolutveckling/kurser-och-utbildningar/atervandande-larare-och-forskollarare---webbaserad-utbildning</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skolverket.se/publikationsserier/regeringsuppdrag/2020/uppdrag-om-en-webbutbildning-for-atervandande-larare-och-forskollarare" history="1" highlightClick="0" endSnd="0">
                  <a:extLst>
                    <a:ext uri="{A12FA001-AC4F-418D-AE19-62706E023703}">
                      <ahyp:hlinkClr xmlns:ahyp="http://schemas.microsoft.com/office/drawing/2018/hyperlinkcolor" val="tx"/>
                    </a:ext>
                  </a:extLst>
                </a:hlinkClick>
              </a:rPr>
              <a:t>https://www.skolverket.se/publikationsserier/regeringsuppdrag/2020/uppdrag-om-en-webbutbildning-for-atervandande-larare-och-forskollarare</a:t>
            </a:r>
            <a:endParaRPr lang="en-US" sz="1000" dirty="0"/>
          </a:p>
        </p:txBody>
      </p:sp>
      <p:sp>
        <p:nvSpPr>
          <p:cNvPr id="15" name="Shape 11"/>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6" name="Text 12"/>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7" name="Text 13"/>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Switzerland</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Canton of Zurich</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Support &amp; training</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Re-entry counselling and induction for returning teachers (Zurich University of Teacher Education)</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Returners start with a counselling session and an assessment interview that set out what preparation the return needs, with the first hour free and the rest paid by the canton. In the first school year back, a teacher who has been away for eight years or more uses the university's induction programme free of charge: up to twenty-five hours of mentoring by an experienced colleague in their own school, individual and group supervision, coaching in their subject, and optional courses on grading, classroom management and working with parents. Returners are also encouraged to sit in on lessons before they start.</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Information &amp; nudges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phzh.ch/de/weiterbildung/weiterbildung-fuer-die-volksschule/berufslaufbahn/wiedereinstieg/" history="1" highlightClick="0" endSnd="0">
                  <a:extLst>
                    <a:ext uri="{A12FA001-AC4F-418D-AE19-62706E023703}">
                      <ahyp:hlinkClr xmlns:ahyp="http://schemas.microsoft.com/office/drawing/2018/hyperlinkcolor" val="tx"/>
                    </a:ext>
                  </a:extLst>
                </a:hlinkClick>
              </a:rPr>
              <a:t>https://phzh.ch/de/weiterbildung/weiterbildung-fuer-die-volksschule/berufslaufbahn/wiedereinstieg/</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Kingdom</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England</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Return to Teaching Advisers (Department for Education)</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Former teachers who ask are given a named adviser, who works with them one to one, by phone, text or e-mail and for as long as they need. The adviser goes through the skills they gained while away, helps with applications and interviews, points them to refresher courses and professional qualifications, and passes on vacancies and webinars. It runs through the ‘Get Into Teaching’ service and was the channel for the ‘Come back to teaching’ campaign in January 2022. Returners are a large part of teacher supply: about 17,500 came back in 2023, some 38 percent of all qualified entrants.</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Support &amp; training</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getintoteaching.education.gov.uk/returning-to-teaching" history="1" highlightClick="0" endSnd="0">
                  <a:extLst>
                    <a:ext uri="{A12FA001-AC4F-418D-AE19-62706E023703}">
                      <ahyp:hlinkClr xmlns:ahyp="http://schemas.microsoft.com/office/drawing/2018/hyperlinkcolor" val="tx"/>
                    </a:ext>
                  </a:extLst>
                </a:hlinkClick>
              </a:rPr>
              <a:t>https://getintoteaching.education.gov.uk/returning-to-teaching</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publications.parliament.uk/pa/cm5901/cmselect/cmeduc/627/report.html" history="1" highlightClick="0" endSnd="0">
                  <a:extLst>
                    <a:ext uri="{A12FA001-AC4F-418D-AE19-62706E023703}">
                      <ahyp:hlinkClr xmlns:ahyp="http://schemas.microsoft.com/office/drawing/2018/hyperlinkcolor" val="tx"/>
                    </a:ext>
                  </a:extLst>
                </a:hlinkClick>
              </a:rPr>
              <a:t>https://publications.parliament.uk/pa/cm5901/cmselect/cmeduc/627/report.html</a:t>
            </a:r>
            <a:endParaRPr lang="en-US" sz="1000" dirty="0"/>
          </a:p>
        </p:txBody>
      </p:sp>
      <p:sp>
        <p:nvSpPr>
          <p:cNvPr id="16" name="Shape 12"/>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Kingdom</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England</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Support &amp; training</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Return to Teaching pilot (2015–16) and Returners Engagement Programme (2016–17)</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Department for Education paid for refresher courses, time in classrooms and help with applications for qualified teachers returning to secondary maths, science and languages, first through a central pilot in 2015 and then, in 2016, by funding schools to run the support themselves, with a course of two to four weeks, a bursary for the returner and a payment to the school once the returner was hired. The first pilot drew heavy interest but converted little of it: of 5,729 registrations and 354 people supported, 27 were in permanent posts months later, and the independent evaluation judged it poor value for money. Its lessons went into the adviser service on the previous slide.</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Information &amp; nudges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assets.publishing.service.gov.uk/media/5b33aeef40f0b67f6744de9d/Evaluation_of_the_Return_to_Teaching_pilot_programme.pdf" history="1" highlightClick="0" endSnd="0">
                  <a:extLst>
                    <a:ext uri="{A12FA001-AC4F-418D-AE19-62706E023703}">
                      <ahyp:hlinkClr xmlns:ahyp="http://schemas.microsoft.com/office/drawing/2018/hyperlinkcolor" val="tx"/>
                    </a:ext>
                  </a:extLst>
                </a:hlinkClick>
              </a:rPr>
              <a:t>https://assets.publishing.service.gov.uk/media/5b33aeef40f0b67f6744de9d/Evaluation_of_the_Return_to_Teaching_pilot_programme.pdf</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gov.uk/government/publications/returners-engagement-programme" history="1" highlightClick="0" endSnd="0">
                  <a:extLst>
                    <a:ext uri="{A12FA001-AC4F-418D-AE19-62706E023703}">
                      <ahyp:hlinkClr xmlns:ahyp="http://schemas.microsoft.com/office/drawing/2018/hyperlinkcolor" val="tx"/>
                    </a:ext>
                  </a:extLst>
                </a:hlinkClick>
              </a:rPr>
              <a:t>https://www.gov.uk/government/publications/returners-engagement-programme</a:t>
            </a:r>
            <a:endParaRPr lang="en-US" sz="1000" dirty="0"/>
          </a:p>
        </p:txBody>
      </p:sp>
      <p:sp>
        <p:nvSpPr>
          <p:cNvPr id="16" name="Shape 12"/>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Colorado</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Retired Mentors for New Teachers (Aurora Public Schools; REL Central evaluation, 2017)</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district hired recently retired teachers part-time to mentor first- and second-year teachers in high-poverty elementary schools, meeting them weekly and sitting in on their lessons for two years. Its ordinary support for new teachers was a one-year pairing with a colleague, with no training for the mentor and no release time. The retirees were chosen among teachers with a strong record in the district, and the role gave them paid, part-time work back inside the school system. A randomised trial published in 2017 followed 77 new teachers in 11 schools and found a small gain in mathematics after the first year that did not hold, no effect on reading and no effect on whether the new teachers stayed.</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ies.ed.gov/use-work/resource-library/report/descriptive-study/impacts-retired-mentors-new-teachers-program" history="1" highlightClick="0" endSnd="0">
                  <a:extLst>
                    <a:ext uri="{A12FA001-AC4F-418D-AE19-62706E023703}">
                      <ahyp:hlinkClr xmlns:ahyp="http://schemas.microsoft.com/office/drawing/2018/hyperlinkcolor" val="tx"/>
                    </a:ext>
                  </a:extLst>
                </a:hlinkClick>
              </a:rPr>
              <a:t>https://ies.ed.gov/use-work/resource-library/report/descriptive-study/impacts-retired-mentors-new-teachers-program</a:t>
            </a:r>
            <a:endParaRPr lang="en-US" sz="1000" dirty="0"/>
          </a:p>
        </p:txBody>
      </p:sp>
      <p:sp>
        <p:nvSpPr>
          <p:cNvPr id="16" name="Shape 12"/>
          <p:cNvSpPr/>
          <p:nvPr/>
        </p:nvSpPr>
        <p:spPr>
          <a:xfrm>
            <a:off x="10451592" y="5943600"/>
            <a:ext cx="1280160" cy="365760"/>
          </a:xfrm>
          <a:prstGeom prst="roundRect">
            <a:avLst>
              <a:gd name="adj" fmla="val 50000"/>
            </a:avLst>
          </a:prstGeom>
          <a:solidFill>
            <a:srgbClr val="B3542E"/>
          </a:solidFill>
          <a:ln w="12700">
            <a:solidFill>
              <a:srgbClr val="B3542E"/>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Small</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Four urban districts</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Number Rockets: retired teachers as small-group maths tutors for first graders (2015 study)</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and substitute teachers were hired as tutors to teach mathematics in small groups to first graders who had started school with weak number skills, for about thirty hours over the year on top of their normal lessons, after one day of training and two short follow-up sessions. The children who were tutored did significantly better on a broad mathematics test than those who were not. The tutors were engaged through a tutoring programme rather than employed by the school district, which also keeps the arrangement clear of the pension rules on re-employing retirees. The 2015 study covered 76 schools in four urban districts and 994 pupils.</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Support &amp; training</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journals.sagepub.com/doi/abs/10.3102/0002831214565787" history="1" highlightClick="0" endSnd="0">
                  <a:extLst>
                    <a:ext uri="{A12FA001-AC4F-418D-AE19-62706E023703}">
                      <ahyp:hlinkClr xmlns:ahyp="http://schemas.microsoft.com/office/drawing/2018/hyperlinkcolor" val="tx"/>
                    </a:ext>
                  </a:extLst>
                </a:hlinkClick>
              </a:rPr>
              <a:t>https://journals.sagepub.com/doi/abs/10.3102/0002831214565787</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ies.ed.gov/ncee/wwc/Study/86426" history="1" highlightClick="0" endSnd="0">
                  <a:extLst>
                    <a:ext uri="{A12FA001-AC4F-418D-AE19-62706E023703}">
                      <ahyp:hlinkClr xmlns:ahyp="http://schemas.microsoft.com/office/drawing/2018/hyperlinkcolor" val="tx"/>
                    </a:ext>
                  </a:extLst>
                </a:hlinkClick>
              </a:rPr>
              <a:t>https://ies.ed.gov/ncee/wwc/Study/86426</a:t>
            </a:r>
            <a:endParaRPr lang="en-US" sz="1000" dirty="0"/>
          </a:p>
        </p:txBody>
      </p:sp>
      <p:sp>
        <p:nvSpPr>
          <p:cNvPr id="16" name="Shape 12"/>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Georgia</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House Bill 385: full-time return of retired teachers in high-need subjects (2022–2026)</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Teachers who had retired with thirty or more years of service, and had been retired at least a year, could take a full-time classroom post in one of the three subjects of greatest need in their region and draw a full salary on top of the full pension. The regional education agency decided which subjects counted, usually special education, mathematics, science, English or elementary teaching. The district paid the pension contributions and the retiree earned no further pension rights. The narrow conditions kept numbers low: a state audit found about 350 retirees a year, under one percent of the state's teachers. The law expired on 30 June 2026 and was replaced by Senate Bill 150.</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trsga.com/retiree/working-after-retirement/hb-385-employment/" history="1" highlightClick="0" endSnd="0">
                  <a:extLst>
                    <a:ext uri="{A12FA001-AC4F-418D-AE19-62706E023703}">
                      <ahyp:hlinkClr xmlns:ahyp="http://schemas.microsoft.com/office/drawing/2018/hyperlinkcolor" val="tx"/>
                    </a:ext>
                  </a:extLst>
                </a:hlinkClick>
              </a:rPr>
              <a:t>https://www.trsga.com/retiree/working-after-retirement/hb-385-employment/</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audits.ga.gov/ReportSearch/download/32615" history="1" highlightClick="0" endSnd="0">
                  <a:extLst>
                    <a:ext uri="{A12FA001-AC4F-418D-AE19-62706E023703}">
                      <ahyp:hlinkClr xmlns:ahyp="http://schemas.microsoft.com/office/drawing/2018/hyperlinkcolor" val="tx"/>
                    </a:ext>
                  </a:extLst>
                </a:hlinkClick>
              </a:rPr>
              <a:t>https://www.audits.ga.gov/ReportSearch/download/32615</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Louisiana</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Act 394 of 2024: retired teachers rehired in critical shortage areas keep their pension</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teachers may take a post that has been declared a critical shortage, full-time or half-time, without the pension being suspended or reduced. The posts covered are classroom teachers, speech therapists and school counsellors. The retiree and the employer keep paying into the retirement system while the re-employment lasts, but the retiree earns no extra service credit or benefit from it. The state education department issued guidance for principals on how to use the rule. It is the most recent of several return-to-work laws passed since 2022, signed in May 2024.</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Flexible positions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trsl.org/retirees/returning-to-work-rtw" history="1" highlightClick="0" endSnd="0">
                  <a:extLst>
                    <a:ext uri="{A12FA001-AC4F-418D-AE19-62706E023703}">
                      <ahyp:hlinkClr xmlns:ahyp="http://schemas.microsoft.com/office/drawing/2018/hyperlinkcolor" val="tx"/>
                    </a:ext>
                  </a:extLst>
                </a:hlinkClick>
              </a:rPr>
              <a:t>https://www.trsl.org/retirees/returning-to-work-rtw</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katc.com/news/covering-louisiana/retired-teachers-can-return-to-the-classroom-under-new-louisiana-law" history="1" highlightClick="0" endSnd="0">
                  <a:extLst>
                    <a:ext uri="{A12FA001-AC4F-418D-AE19-62706E023703}">
                      <ahyp:hlinkClr xmlns:ahyp="http://schemas.microsoft.com/office/drawing/2018/hyperlinkcolor" val="tx"/>
                    </a:ext>
                  </a:extLst>
                </a:hlinkClick>
              </a:rPr>
              <a:t>https://www.katc.com/news/covering-louisiana/retired-teachers-can-return-to-the-classroom-under-new-louisiana-law</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Michigan</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Public Act 147 of 2023: shorter wait and no earnings cap for retirees who return</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wait before a school can re-hire a retired school employee fell from nine months to six, and the cap on what they may earn once those six months have passed was removed, so the pension keeps running whatever the salary. During the waiting period a retiree may already work, as long as earnings stay under a set ceiling, and may not return as superintendent. The law was passed in response to post-pandemic shortages and signed in October 2023. It is temporary and expires in October 2028, so the state will have to decide whether to keep it.</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michigan.gov/orsschools/pa-147-of-2023-faqs" history="1" highlightClick="0" endSnd="0">
                  <a:extLst>
                    <a:ext uri="{A12FA001-AC4F-418D-AE19-62706E023703}">
                      <ahyp:hlinkClr xmlns:ahyp="http://schemas.microsoft.com/office/drawing/2018/hyperlinkcolor" val="tx"/>
                    </a:ext>
                  </a:extLst>
                </a:hlinkClick>
              </a:rPr>
              <a:t>https://www.michigan.gov/orsschools/pa-147-of-2023-faqs</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mea.org/changes-to-post-retirement-return-to-work-rules-signed-into-law/" history="1" highlightClick="0" endSnd="0">
                  <a:extLst>
                    <a:ext uri="{A12FA001-AC4F-418D-AE19-62706E023703}">
                      <ahyp:hlinkClr xmlns:ahyp="http://schemas.microsoft.com/office/drawing/2018/hyperlinkcolor" val="tx"/>
                    </a:ext>
                  </a:extLst>
                </a:hlinkClick>
              </a:rPr>
              <a:t>https://mea.org/changes-to-post-retirement-return-to-work-rules-signed-into-law/</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National (AARP Foundation)</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positions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AARP Foundation Experience Corps: volunteers over 50 tutor early readers (since 1996)</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Volunteers over fifty, many of them retired teachers, are trained and placed in high-poverty public schools to tutor children who are behind in reading, in short weekly sessions with small groups. They commit for a school year and get training and continuing support from the programme. It has run since 1996 and now reaches several thousand children in 18 communities across the country. A randomised study found substantially greater gains in sounding out words and in reading comprehension among the children tutored, and a separate trial found the tutoring also protects the volunteers' own physical and cognitive health.</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Support &amp; training</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aarp.org/experience-corps/our-impact/experience-corps-research-studies.html" history="1" highlightClick="0" endSnd="0">
                  <a:extLst>
                    <a:ext uri="{A12FA001-AC4F-418D-AE19-62706E023703}">
                      <ahyp:hlinkClr xmlns:ahyp="http://schemas.microsoft.com/office/drawing/2018/hyperlinkcolor" val="tx"/>
                    </a:ext>
                  </a:extLst>
                </a:hlinkClick>
              </a:rPr>
              <a:t>https://www.aarp.org/experience-corps/our-impact/experience-corps-research-studies.html</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aarp.org/experience-corps/" history="1" highlightClick="0" endSnd="0">
                  <a:extLst>
                    <a:ext uri="{A12FA001-AC4F-418D-AE19-62706E023703}">
                      <ahyp:hlinkClr xmlns:ahyp="http://schemas.microsoft.com/office/drawing/2018/hyperlinkcolor" val="tx"/>
                    </a:ext>
                  </a:extLst>
                </a:hlinkClick>
              </a:rPr>
              <a:t>https://www.aarp.org/experience-corps/</a:t>
            </a:r>
            <a:endParaRPr lang="en-US" sz="1000" dirty="0"/>
          </a:p>
        </p:txBody>
      </p:sp>
      <p:sp>
        <p:nvSpPr>
          <p:cNvPr id="16" name="Shape 12"/>
          <p:cNvSpPr/>
          <p:nvPr/>
        </p:nvSpPr>
        <p:spPr>
          <a:xfrm>
            <a:off x="10451592" y="5943600"/>
            <a:ext cx="1280160" cy="365760"/>
          </a:xfrm>
          <a:prstGeom prst="roundRect">
            <a:avLst>
              <a:gd name="adj" fmla="val 50000"/>
            </a:avLst>
          </a:prstGeom>
          <a:solidFill>
            <a:srgbClr val="1F4E46"/>
          </a:solidFill>
          <a:ln w="12700">
            <a:solidFill>
              <a:srgbClr val="1F4E46"/>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Large</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New Mexico</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Educational Retirees Returning to Work Act (House Bill 73, 2022)</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teachers and college lecturers may go back to work in a public school, college or university for up to three years with no limit on salary or hours and no loss of pension. They apply to the state's Educational Retirement Board and must be approved before starting, so every return is on record. The law was signed in March 2022 and announced to retirees that June, opening the classroom to the state's roughly 48,000 retired educators at a time of severe shortages.</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hed.nm.gov/news/retired-educators-now-eligible-to-return-to-work-without-losing-pension-benefits" history="1" highlightClick="0" endSnd="0">
                  <a:extLst>
                    <a:ext uri="{A12FA001-AC4F-418D-AE19-62706E023703}">
                      <ahyp:hlinkClr xmlns:ahyp="http://schemas.microsoft.com/office/drawing/2018/hyperlinkcolor" val="tx"/>
                    </a:ext>
                  </a:extLst>
                </a:hlinkClick>
              </a:rPr>
              <a:t>https://hed.nm.gov/news/retired-educators-now-eligible-to-return-to-work-without-losing-pension-benefits</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governor.state.nm.us/2022/06/28/retired-educators-now-eligible-to-return-to-work-without-losing-pension-benefits/" history="1" highlightClick="0" endSnd="0">
                  <a:extLst>
                    <a:ext uri="{A12FA001-AC4F-418D-AE19-62706E023703}">
                      <ahyp:hlinkClr xmlns:ahyp="http://schemas.microsoft.com/office/drawing/2018/hyperlinkcolor" val="tx"/>
                    </a:ext>
                  </a:extLst>
                </a:hlinkClick>
              </a:rPr>
              <a:t>https://www.governor.state.nm.us/2022/06/28/retired-educators-now-eligible-to-return-to-work-without-losing-pension-benefits/</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North Carolina</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Return-to-work policy for retired teachers, 1999–2009</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Retired teachers could take a full-time classroom post and draw the state pension alongside the salary, which put returners about half as much again as a comparable colleague. Any district could hire a retired teacher back without penalty; it was a pension rule open to all rather than a programme with places. A 2024 study using state administrative data found that schools with many economically disadvantaged or Black pupils, the ones that struggle most to fill vacancies, hired a disproportionate share of these teachers. The provision ran from 1999 to 2009.</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none</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files.eric.ed.gov/fulltext/EJ1425366.pdf" history="1" highlightClick="0" endSnd="0">
                  <a:extLst>
                    <a:ext uri="{A12FA001-AC4F-418D-AE19-62706E023703}">
                      <ahyp:hlinkClr xmlns:ahyp="http://schemas.microsoft.com/office/drawing/2018/hyperlinkcolor" val="tx"/>
                    </a:ext>
                  </a:extLst>
                </a:hlinkClick>
              </a:rPr>
              <a:t>https://files.eric.ed.gov/fulltext/EJ1425366.pdf</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dialnet.unirioja.es/servlet/articulo?codigo=9286932" history="1" highlightClick="0" endSnd="0">
                  <a:extLst>
                    <a:ext uri="{A12FA001-AC4F-418D-AE19-62706E023703}">
                      <ahyp:hlinkClr xmlns:ahyp="http://schemas.microsoft.com/office/drawing/2018/hyperlinkcolor" val="tx"/>
                    </a:ext>
                  </a:extLst>
                </a:hlinkClick>
              </a:rPr>
              <a:t>https://dialnet.unirioja.es/servlet/articulo?codigo=9286932</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960120" cy="720090"/>
          </a:xfrm>
          <a:prstGeom prst="rect">
            <a:avLst/>
          </a:prstGeom>
        </p:spPr>
      </p:pic>
      <p:sp>
        <p:nvSpPr>
          <p:cNvPr id="3" name="Shape 0"/>
          <p:cNvSpPr/>
          <p:nvPr/>
        </p:nvSpPr>
        <p:spPr>
          <a:xfrm>
            <a:off x="457200" y="384048"/>
            <a:ext cx="960120" cy="720090"/>
          </a:xfrm>
          <a:prstGeom prst="rect">
            <a:avLst/>
          </a:prstGeom>
          <a:ln w="9525">
            <a:solidFill>
              <a:srgbClr val="CFDCD5"/>
            </a:solidFill>
            <a:prstDash val="solid"/>
          </a:ln>
        </p:spPr>
      </p:sp>
      <p:sp>
        <p:nvSpPr>
          <p:cNvPr id="4" name="Text 1"/>
          <p:cNvSpPr txBox="1"/>
          <p:nvPr/>
        </p:nvSpPr>
        <p:spPr>
          <a:xfrm>
            <a:off x="1600200" y="329184"/>
            <a:ext cx="621792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00200" y="786384"/>
            <a:ext cx="6217920" cy="310896"/>
          </a:xfrm>
          <a:prstGeom prst="rect">
            <a:avLst/>
          </a:prstGeom>
          <a:noFill/>
          <a:ln/>
        </p:spPr>
        <p:txBody>
          <a:bodyPr wrap="square" lIns="0" tIns="0" rIns="0" bIns="0" rtlCol="0" anchor="t"/>
          <a:lstStyle/>
          <a:p>
            <a:pPr indent="0" marL="0">
              <a:buNone/>
            </a:pPr>
            <a:r>
              <a:rPr lang="en-US" sz="1300" dirty="0">
                <a:solidFill>
                  <a:srgbClr val="24313A"/>
                </a:solidFill>
                <a:latin typeface="Calibri" pitchFamily="34" charset="0"/>
                <a:ea typeface="Calibri" pitchFamily="34" charset="-122"/>
                <a:cs typeface="Calibri" pitchFamily="34" charset="-120"/>
              </a:rPr>
              <a:t>Virginia</a:t>
            </a:r>
            <a:endParaRPr lang="en-US" sz="1300" dirty="0"/>
          </a:p>
        </p:txBody>
      </p:sp>
      <p:sp>
        <p:nvSpPr>
          <p:cNvPr id="6" name="Shape 3"/>
          <p:cNvSpPr/>
          <p:nvPr/>
        </p:nvSpPr>
        <p:spPr>
          <a:xfrm>
            <a:off x="8257032" y="384048"/>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257032" y="384048"/>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Flexible re-certification</a:t>
            </a:r>
            <a:endParaRPr lang="en-US" sz="1350" dirty="0"/>
          </a:p>
        </p:txBody>
      </p:sp>
      <p:sp>
        <p:nvSpPr>
          <p:cNvPr id="8" name="Text 5"/>
          <p:cNvSpPr txBox="1"/>
          <p:nvPr/>
        </p:nvSpPr>
        <p:spPr>
          <a:xfrm>
            <a:off x="7342632" y="850392"/>
            <a:ext cx="4389120" cy="274320"/>
          </a:xfrm>
          <a:prstGeom prst="rect">
            <a:avLst/>
          </a:prstGeom>
          <a:noFill/>
          <a:ln/>
        </p:spPr>
        <p:txBody>
          <a:bodyPr wrap="square" lIns="0" tIns="0" rIns="0" bIns="0" rtlCol="0" anchor="t"/>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Shape 6"/>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10" name="Shape 7"/>
          <p:cNvSpPr/>
          <p:nvPr/>
        </p:nvSpPr>
        <p:spPr>
          <a:xfrm>
            <a:off x="777240" y="1691640"/>
            <a:ext cx="777240" cy="777240"/>
          </a:xfrm>
          <a:prstGeom prst="ellipse">
            <a:avLst/>
          </a:prstGeom>
          <a:solidFill>
            <a:srgbClr val="1F4E46"/>
          </a:solidFill>
          <a:ln w="12700">
            <a:solidFill>
              <a:srgbClr val="1F4E46"/>
            </a:solidFill>
            <a:prstDash val="solid"/>
          </a:ln>
        </p:spPr>
      </p:sp>
      <p:pic>
        <p:nvPicPr>
          <p:cNvPr id="11" name="Image 1" descr="preencoded.png">    </p:cNvPr>
          <p:cNvPicPr>
            <a:picLocks noChangeAspect="1"/>
          </p:cNvPicPr>
          <p:nvPr/>
        </p:nvPicPr>
        <p:blipFill>
          <a:blip r:embed="rId2"/>
          <a:stretch>
            <a:fillRect/>
          </a:stretch>
        </p:blipFill>
        <p:spPr>
          <a:xfrm>
            <a:off x="963778" y="1878178"/>
            <a:ext cx="404165" cy="404165"/>
          </a:xfrm>
          <a:prstGeom prst="rect">
            <a:avLst/>
          </a:prstGeom>
        </p:spPr>
      </p:pic>
      <p:sp>
        <p:nvSpPr>
          <p:cNvPr id="12" name="Text 8"/>
          <p:cNvSpPr txBox="1"/>
          <p:nvPr/>
        </p:nvSpPr>
        <p:spPr>
          <a:xfrm>
            <a:off x="1783080" y="1536192"/>
            <a:ext cx="9738360" cy="86868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Executive Directive 3: lifting licence and pension obstacles for returning retirees (2022)</a:t>
            </a:r>
            <a:endParaRPr lang="en-US" sz="2100" dirty="0"/>
          </a:p>
        </p:txBody>
      </p:sp>
      <p:sp>
        <p:nvSpPr>
          <p:cNvPr id="13" name="Text 9"/>
          <p:cNvSpPr txBox="1"/>
          <p:nvPr/>
        </p:nvSpPr>
        <p:spPr>
          <a:xfrm>
            <a:off x="1783080" y="2395728"/>
            <a:ext cx="9738360" cy="2450592"/>
          </a:xfrm>
          <a:prstGeom prst="rect">
            <a:avLst/>
          </a:prstGeom>
          <a:noFill/>
          <a:ln/>
        </p:spPr>
        <p:txBody>
          <a:bodyPr wrap="square" lIns="0" tIns="0" rIns="0" bIns="0" rtlCol="0" anchor="t"/>
          <a:lstStyle/>
          <a:p>
            <a:pPr indent="0" marL="0">
              <a:lnSpc>
                <a:spcPct val="106000"/>
              </a:lnSpc>
              <a:buNone/>
            </a:pPr>
            <a:r>
              <a:rPr lang="en-US" sz="1500" dirty="0">
                <a:solidFill>
                  <a:srgbClr val="24313A"/>
                </a:solidFill>
                <a:latin typeface="Calibri" pitchFamily="34" charset="0"/>
                <a:ea typeface="Calibri" pitchFamily="34" charset="-122"/>
                <a:cs typeface="Calibri" pitchFamily="34" charset="-120"/>
              </a:rPr>
              <a:t>The governor's directive told the state superintendent to issue or renew teaching licences for retired and out-of-state teachers whose licences had lapsed, and the education department to work with the state retirement system so that retirees could fill any vacant school post. It built on a rule in force since 2001 under which a retiree who returns to a critical-shortage area draws a new salary on top of the pension. The same directive launched an online licensing system and a wider plan on the educator shortage, under which the department reports adding more than 17,000 endorsements to teacher licences between 2022 and 2025.</a:t>
            </a:r>
            <a:endParaRPr lang="en-US" sz="1500" dirty="0"/>
          </a:p>
        </p:txBody>
      </p:sp>
      <p:sp>
        <p:nvSpPr>
          <p:cNvPr id="14" name="Text 10"/>
          <p:cNvSpPr txBox="1"/>
          <p:nvPr/>
        </p:nvSpPr>
        <p:spPr>
          <a:xfrm>
            <a:off x="1783080" y="4864608"/>
            <a:ext cx="9738360" cy="274320"/>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Secondary instruments: </a:t>
            </a:r>
            <a:pPr indent="0" marL="0">
              <a:buNone/>
            </a:pPr>
            <a:r>
              <a:rPr lang="en-US" sz="1150" dirty="0">
                <a:solidFill>
                  <a:srgbClr val="24313A"/>
                </a:solidFill>
                <a:latin typeface="Calibri" pitchFamily="34" charset="0"/>
                <a:ea typeface="Calibri" pitchFamily="34" charset="-122"/>
                <a:cs typeface="Calibri" pitchFamily="34" charset="-120"/>
              </a:rPr>
              <a:t>Financial incentives</a:t>
            </a:r>
            <a:endParaRPr lang="en-US" sz="1150" dirty="0"/>
          </a:p>
        </p:txBody>
      </p:sp>
      <p:sp>
        <p:nvSpPr>
          <p:cNvPr id="15" name="Text 11"/>
          <p:cNvSpPr txBox="1"/>
          <p:nvPr/>
        </p:nvSpPr>
        <p:spPr>
          <a:xfrm>
            <a:off x="457200" y="5413248"/>
            <a:ext cx="9692640" cy="86868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3" invalidUrl="" action="" tgtFrame="" tooltip="https://www.doe.virginia.gov/teaching-learning-assessment/teaching-in-virginia/turning-the-tide" history="1" highlightClick="0" endSnd="0">
                  <a:extLst>
                    <a:ext uri="{A12FA001-AC4F-418D-AE19-62706E023703}">
                      <ahyp:hlinkClr xmlns:ahyp="http://schemas.microsoft.com/office/drawing/2018/hyperlinkcolor" val="tx"/>
                    </a:ext>
                  </a:extLst>
                </a:hlinkClick>
              </a:rPr>
              <a:t>https://www.doe.virginia.gov/teaching-learning-assessment/teaching-in-virginia/turning-the-tide</a:t>
            </a:r>
            <a:endParaRPr lang="en-US" sz="1000" dirty="0"/>
          </a:p>
          <a:p>
            <a:pPr indent="0" marL="0">
              <a:buNone/>
            </a:pPr>
            <a:r>
              <a:rPr lang="en-US" sz="1000" b="1" dirty="0">
                <a:solidFill>
                  <a:srgbClr val="24313A"/>
                </a:solidFill>
                <a:latin typeface="Calibri" pitchFamily="34" charset="0"/>
                <a:ea typeface="Calibri" pitchFamily="34" charset="-122"/>
                <a:cs typeface="Calibri" pitchFamily="34" charset="-120"/>
              </a:rPr>
              <a:t>Source (see also): </a:t>
            </a:r>
            <a:pPr indent="0" marL="0">
              <a:buNone/>
            </a:pPr>
            <a:r>
              <a:rPr lang="en-US" sz="1000" u="sng" dirty="0">
                <a:solidFill>
                  <a:srgbClr val="B3542E"/>
                </a:solidFill>
                <a:uFill>
                  <a:solidFill>
                    <a:srgbClr val="B3542E"/>
                  </a:solidFill>
                </a:uFill>
                <a:latin typeface="Calibri" pitchFamily="34" charset="0"/>
                <a:ea typeface="Calibri" pitchFamily="34" charset="-122"/>
                <a:cs typeface="Calibri" pitchFamily="34" charset="-120"/>
                <a:hlinkClick r:id="rId4" invalidUrl="" action="" tgtFrame="" tooltip="https://www.edweek.org/leadership/could-retired-teachers-be-the-answer-to-shortages-its-complicated/2022/10" history="1" highlightClick="0" endSnd="0">
                  <a:extLst>
                    <a:ext uri="{A12FA001-AC4F-418D-AE19-62706E023703}">
                      <ahyp:hlinkClr xmlns:ahyp="http://schemas.microsoft.com/office/drawing/2018/hyperlinkcolor" val="tx"/>
                    </a:ext>
                  </a:extLst>
                </a:hlinkClick>
              </a:rPr>
              <a:t>https://www.edweek.org/leadership/could-retired-teachers-be-the-answer-to-shortages-its-complicated/2022/10</a:t>
            </a:r>
            <a:endParaRPr lang="en-US" sz="1000" dirty="0"/>
          </a:p>
        </p:txBody>
      </p:sp>
      <p:sp>
        <p:nvSpPr>
          <p:cNvPr id="16" name="Shape 12"/>
          <p:cNvSpPr/>
          <p:nvPr/>
        </p:nvSpPr>
        <p:spPr>
          <a:xfrm>
            <a:off x="10451592" y="5943600"/>
            <a:ext cx="1280160" cy="365760"/>
          </a:xfrm>
          <a:prstGeom prst="roundRect">
            <a:avLst>
              <a:gd name="adj" fmla="val 50000"/>
            </a:avLst>
          </a:prstGeom>
          <a:solidFill>
            <a:srgbClr val="C8892B"/>
          </a:solidFill>
          <a:ln w="12700">
            <a:solidFill>
              <a:srgbClr val="C8892B"/>
            </a:solidFill>
            <a:prstDash val="solid"/>
          </a:ln>
        </p:spPr>
      </p:sp>
      <p:sp>
        <p:nvSpPr>
          <p:cNvPr id="17" name="Text 13"/>
          <p:cNvSpPr txBox="1"/>
          <p:nvPr/>
        </p:nvSpPr>
        <p:spPr>
          <a:xfrm>
            <a:off x="10451592" y="5943600"/>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Medium</a:t>
            </a:r>
            <a:endParaRPr lang="en-US" sz="1250" dirty="0"/>
          </a:p>
        </p:txBody>
      </p:sp>
      <p:sp>
        <p:nvSpPr>
          <p:cNvPr id="18" name="Text 14"/>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9144000" cy="54864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Summary: 29 policies at a glance (1/2)</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4552" cy="914400"/>
        </p:xfrm>
        <a:graphic>
          <a:graphicData uri="http://schemas.openxmlformats.org/drawingml/2006/table">
            <a:tbl>
              <a:tblPr/>
              <a:tblGrid>
                <a:gridCol w="2148840"/>
                <a:gridCol w="4846320"/>
                <a:gridCol w="1828800"/>
                <a:gridCol w="1764792"/>
                <a:gridCol w="685800"/>
              </a:tblGrid>
              <a:tr h="25603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Country</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group(s)</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Scale</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Australia (New South Wales)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Teachers Re-Engage: the department calls back recent leavers (since 2023)</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Information &amp; nudges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 / 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Australia (Victoria)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Teacher Re-Engagement Initiative (TREI), since 2022</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Support &amp; training</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 / 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Austria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Regional education authorities recruit retired teachers back (2022–)</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Information &amp; nudges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Bahamas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Teacher Reservist Program: a standing reserve of former teachers (announced July 2026)</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 / 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Canada (Ontario)</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Ontario Teachers' Pension Plan: the 50-day re-employment rule, raised to 95 days in shortages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Canada (Quebec)</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Incentive pay for returning retired teachers (2020, made permanent) and ministerial letter campaign (2023)</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Silver-Age Lecturing Plan: retired teachers posted to rural schools, 2018–</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Combining pension and pay: retired teachers rehired as contract or substitute staff</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Germany (Lower Saxony)</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Earnings ceiling for retired teachers raised, then abolished (2022 and 2024)</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Germany (Lower Saxony)</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Minister's letter to teachers approaching retirement (November 2023)</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Information &amp; nudges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Ireland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Waiver of pension abatement for retired teachers: 50 days a year (2021–2027)</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Netherlands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Grant to primary schools for re-hiring former teachers, 2017–2020</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New Zealand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Return without a refresher course, with registration fees paid (2024–2028)</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re-certification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Portugal</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Decree-Law 51/2024: schools may hire retired teachers for shortage posts, 2024/25–</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Singapore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Flexi-Adjunct Teaching Scheme (Ministry of Education)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 / 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9144000" cy="548640"/>
          </a:xfrm>
          <a:prstGeom prst="rect">
            <a:avLst/>
          </a:prstGeom>
          <a:noFill/>
          <a:ln/>
        </p:spPr>
        <p:txBody>
          <a:bodyPr wrap="square" lIns="0" tIns="0" rIns="0" bIns="0" rtlCol="0" anchor="ctr"/>
          <a:lstStyle/>
          <a:p>
            <a:pPr indent="0" marL="0">
              <a:buNone/>
            </a:pPr>
            <a:r>
              <a:rPr lang="en-US" sz="2800" b="1" dirty="0">
                <a:solidFill>
                  <a:srgbClr val="24313A"/>
                </a:solidFill>
                <a:latin typeface="Cambria" pitchFamily="34" charset="0"/>
                <a:ea typeface="Cambria" pitchFamily="34" charset="-122"/>
                <a:cs typeface="Cambria" pitchFamily="34" charset="-120"/>
              </a:rPr>
              <a:t>Summary: 29 policies at a glance (2/2)</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4552" cy="914400"/>
        </p:xfrm>
        <a:graphic>
          <a:graphicData uri="http://schemas.openxmlformats.org/drawingml/2006/table">
            <a:tbl>
              <a:tblPr/>
              <a:tblGrid>
                <a:gridCol w="2148840"/>
                <a:gridCol w="4846320"/>
                <a:gridCol w="1828800"/>
                <a:gridCol w="1764792"/>
                <a:gridCol w="685800"/>
              </a:tblGrid>
              <a:tr h="25603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Country</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group(s)</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Scale</a:t>
                      </a:r>
                      <a:endParaRPr lang="en-US" sz="10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1F4E4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Spain (Zaragoza)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10 Mirrors: retired teachers mentor student teachers (University of Zaragoza, reported 2019)</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Small</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Sweden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Online refresher course for returning teachers (National Agency for Education, since 2018)</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Support &amp; training</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Switzerland (Canton of Zurich)</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Re-entry counselling and induction for returning teachers (Zurich University of Teacher Education)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Support &amp; training</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Kingdom (England)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Return to Teaching Advisers (Department for Education)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Information &amp; nudges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Kingdom (England)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Return to Teaching pilot (2015–16) and Returners Engagement Programme (2016–17)</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Support &amp; training</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Switchers / Leavers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(Colorado)</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 Mentors for New Teachers (Aurora Public Schools; REL Central evaluation, 2017)</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Small</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(Four urban districts)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Number Rockets: retired teachers as small-group maths tutors for first graders (2015 study)</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(Georgia)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House Bill 385: full-time return of retired teachers in high-need subjects (2022–2026)</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(Louisiana)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Act 394 of 2024: retired teachers rehired in critical shortage areas keep their pension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(Michigan)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Public Act 147 of 2023: shorter wait and no earnings cap for retirees who return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(National (AARP Foundation))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AARP Foundation Experience Corps: volunteers over 50 tutor early readers (since 1996)</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positions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Large</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(New Mexico)</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Educational Retirees Returning to Work Act (House Bill 73, 2022)</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(North Carolina)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Return-to-work policy for retired teachers, 1999–2009</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Financial incentives</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FFFFF"/>
                    </a:solidFill>
                  </a:tcPr>
                </a:tc>
              </a:tr>
              <a:tr h="256032">
                <a:tc>
                  <a:txBody>
                    <a:bodyPr/>
                    <a:lstStyle/>
                    <a:p>
                      <a:pPr indent="0" marL="0">
                        <a:buNone/>
                      </a:pPr>
                      <a:r>
                        <a:rPr lang="en-US" sz="950" b="1" dirty="0">
                          <a:solidFill>
                            <a:srgbClr val="24313A"/>
                          </a:solidFill>
                          <a:latin typeface="Calibri" pitchFamily="34" charset="0"/>
                          <a:ea typeface="Calibri" pitchFamily="34" charset="-122"/>
                          <a:cs typeface="Calibri" pitchFamily="34" charset="-120"/>
                        </a:rPr>
                        <a:t>United States (Virginia)</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Executive Directive 3: lifting licence and pension obstacles for returning retirees (2022)</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Flexible re-certification</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c>
                  <a:txBody>
                    <a:bodyPr/>
                    <a:lstStyle/>
                    <a:p>
                      <a:pPr indent="0" marL="0">
                        <a:buNone/>
                      </a:pPr>
                      <a:r>
                        <a:rPr lang="en-US" sz="950" dirty="0">
                          <a:solidFill>
                            <a:srgbClr val="24313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3500" marR="63500" marT="25400" marB="25400" anchor="ctr">
                    <a:lnL w="6350" cap="flat" cmpd="sng" algn="ctr">
                      <a:solidFill>
                        <a:srgbClr val="CFDCD5"/>
                      </a:solidFill>
                      <a:prstDash val="solid"/>
                      <a:round/>
                      <a:headEnd type="none" w="med" len="med"/>
                      <a:tailEnd type="none" w="med" len="med"/>
                    </a:lnL>
                    <a:lnR w="6350" cap="flat" cmpd="sng" algn="ctr">
                      <a:solidFill>
                        <a:srgbClr val="CFDCD5"/>
                      </a:solidFill>
                      <a:prstDash val="solid"/>
                      <a:round/>
                      <a:headEnd type="none" w="med" len="med"/>
                      <a:tailEnd type="none" w="med" len="med"/>
                    </a:lnR>
                    <a:lnT w="6350" cap="flat" cmpd="sng" algn="ctr">
                      <a:solidFill>
                        <a:srgbClr val="CFDCD5"/>
                      </a:solidFill>
                      <a:prstDash val="solid"/>
                      <a:round/>
                      <a:headEnd type="none" w="med" len="med"/>
                      <a:tailEnd type="none" w="med" len="med"/>
                    </a:lnT>
                    <a:lnB w="6350" cap="flat" cmpd="sng" algn="ctr">
                      <a:solidFill>
                        <a:srgbClr val="CFDCD5"/>
                      </a:solidFill>
                      <a:prstDash val="solid"/>
                      <a:round/>
                      <a:headEnd type="none" w="med" len="med"/>
                      <a:tailEnd type="none" w="med" len="med"/>
                    </a:lnB>
                    <a:solidFill>
                      <a:srgbClr val="F4F8F6"/>
                    </a:solidFill>
                  </a:tcPr>
                </a:tc>
              </a:tr>
            </a:tbl>
          </a:graphicData>
        </a:graphic>
      </p:graphicFrame>
      <p:sp>
        <p:nvSpPr>
          <p:cNvPr id="4" name="Text 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Re-attracting Former Teachers</dc:title>
  <dc:subject>PptxGenJS Presentation</dc:subject>
  <dc:creator>José Manuel Torres, José Elías Durán Roa</dc:creator>
  <cp:lastModifiedBy>José Manuel Torres, José Elías Durán Roa</cp:lastModifiedBy>
  <cp:revision>1</cp:revision>
  <dcterms:created xsi:type="dcterms:W3CDTF">2026-09-18T08:10:11Z</dcterms:created>
  <dcterms:modified xsi:type="dcterms:W3CDTF">2026-09-18T08:10:11Z</dcterms:modified>
</cp:coreProperties>
</file>