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(laws, ministry and agency web pages) plus, where noted, institutional evaluations and reputable press. Each policy slide carries its main source link in the footer; secondary sources and verification notes are in the speaker notes of each slide. Direct HTTP access was not available in the build environment, so every URL was verified through search-engine indexing of the official pages on 17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follow the brief: three target groups (switchers, leavers, retired) and five instrument categories (financial incentives; information &amp; nudges; support &amp; training; flexible positions; flexible re-certification).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 Flexible re-certification — Target: Switchers, Leavers.
Sources: MEXT explanatory document on the abolition of the licence renewal system (licences valid on 1 July 2022, including dormant ones, become licences without expiry, no procedure needed) and Saitama Prefectural Board of Education 'paper teacher seminar' page. The counts of boards of education running paper-teacher programmes (50 in FY2023, 58 planned in FY2024, about 70%) are MEXT figures reported by AERA (press source); treat as indicative. MEXT archive on the former renewal system: https://www.mext.go.jp/a_menu/shotou/koushin/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4-1.png"/><Relationship Id="rId2" Type="http://schemas.openxmlformats.org/officeDocument/2006/relationships/image" Target="../media/image-4-2.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6-1.png"/><Relationship Id="rId2" Type="http://schemas.openxmlformats.org/officeDocument/2006/relationships/image" Target="../media/image-6-2.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mext.go.jp/content/20221028-mxt_kyoikujinzai02-000022570_3.pdf" TargetMode="External"/><Relationship Id="rId4" Type="http://schemas.openxmlformats.org/officeDocument/2006/relationships/hyperlink" Target="https://www.pref.saitama.lg.jp/f2213/paperteacher.html"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143000"/>
            <a:ext cx="10698480" cy="1097280"/>
          </a:xfrm>
          <a:prstGeom prst="rect">
            <a:avLst/>
          </a:prstGeom>
          <a:noFill/>
          <a:ln/>
        </p:spPr>
        <p:txBody>
          <a:bodyPr wrap="square" lIns="0" tIns="0" rIns="0" bIns="0" rtlCol="0" anchor="b"/>
          <a:lstStyle/>
          <a:p>
            <a:pPr indent="0" marL="0">
              <a:buNone/>
            </a:pPr>
            <a:r>
              <a:rPr lang="en-US" sz="4600" b="1" dirty="0">
                <a:solidFill>
                  <a:srgbClr val="FFFFFF"/>
                </a:solidFill>
                <a:latin typeface="Cambria" pitchFamily="34" charset="0"/>
                <a:ea typeface="Cambria" pitchFamily="34" charset="-122"/>
                <a:cs typeface="Cambria" pitchFamily="34" charset="-120"/>
              </a:rPr>
              <a:t>Re-attracting Former Teachers</a:t>
            </a:r>
            <a:endParaRPr lang="en-US" sz="4600" dirty="0"/>
          </a:p>
        </p:txBody>
      </p:sp>
      <p:sp>
        <p:nvSpPr>
          <p:cNvPr id="3" name="Text 1"/>
          <p:cNvSpPr txBox="1"/>
          <p:nvPr/>
        </p:nvSpPr>
        <p:spPr>
          <a:xfrm>
            <a:off x="731520" y="2331720"/>
            <a:ext cx="10698480" cy="640080"/>
          </a:xfrm>
          <a:prstGeom prst="rect">
            <a:avLst/>
          </a:prstGeom>
          <a:noFill/>
          <a:ln/>
        </p:spPr>
        <p:txBody>
          <a:bodyPr wrap="square" lIns="0" tIns="0" rIns="0" bIns="0" rtlCol="0" anchor="ctr"/>
          <a:lstStyle/>
          <a:p>
            <a:pPr indent="0" marL="0">
              <a:buNone/>
            </a:pPr>
            <a:r>
              <a:rPr lang="en-US" sz="2200" dirty="0">
                <a:solidFill>
                  <a:srgbClr val="CFE3D9"/>
                </a:solidFill>
                <a:latin typeface="Calibri" pitchFamily="34" charset="0"/>
                <a:ea typeface="Calibri" pitchFamily="34" charset="-122"/>
                <a:cs typeface="Calibri" pitchFamily="34" charset="-120"/>
              </a:rPr>
              <a:t>Policies that bring them back into education</a:t>
            </a:r>
            <a:endParaRPr lang="en-US" sz="2200" dirty="0"/>
          </a:p>
        </p:txBody>
      </p:sp>
      <p:sp>
        <p:nvSpPr>
          <p:cNvPr id="4" name="Text 2"/>
          <p:cNvSpPr txBox="1"/>
          <p:nvPr/>
        </p:nvSpPr>
        <p:spPr>
          <a:xfrm>
            <a:off x="731520" y="406908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26060" y="5074920"/>
            <a:ext cx="713232" cy="534924"/>
          </a:xfrm>
          <a:prstGeom prst="rect">
            <a:avLst/>
          </a:prstGeom>
        </p:spPr>
      </p:pic>
      <p:pic>
        <p:nvPicPr>
          <p:cNvPr id="6" name="Image 1" descr="preencoded.png">    </p:cNvPr>
          <p:cNvPicPr>
            <a:picLocks noChangeAspect="1"/>
          </p:cNvPicPr>
          <p:nvPr/>
        </p:nvPicPr>
        <p:blipFill>
          <a:blip r:embed="rId2"/>
          <a:stretch>
            <a:fillRect/>
          </a:stretch>
        </p:blipFill>
        <p:spPr>
          <a:xfrm>
            <a:off x="860908" y="5074920"/>
            <a:ext cx="713232" cy="534924"/>
          </a:xfrm>
          <a:prstGeom prst="rect">
            <a:avLst/>
          </a:prstGeom>
        </p:spPr>
      </p:pic>
      <p:pic>
        <p:nvPicPr>
          <p:cNvPr id="7" name="Image 2" descr="preencoded.png">    </p:cNvPr>
          <p:cNvPicPr>
            <a:picLocks noChangeAspect="1"/>
          </p:cNvPicPr>
          <p:nvPr/>
        </p:nvPicPr>
        <p:blipFill>
          <a:blip r:embed="rId3"/>
          <a:stretch>
            <a:fillRect/>
          </a:stretch>
        </p:blipFill>
        <p:spPr>
          <a:xfrm>
            <a:off x="1747876" y="5074920"/>
            <a:ext cx="713232" cy="534924"/>
          </a:xfrm>
          <a:prstGeom prst="rect">
            <a:avLst/>
          </a:prstGeom>
        </p:spPr>
      </p:pic>
      <p:pic>
        <p:nvPicPr>
          <p:cNvPr id="8" name="Image 3" descr="preencoded.png">    </p:cNvPr>
          <p:cNvPicPr>
            <a:picLocks noChangeAspect="1"/>
          </p:cNvPicPr>
          <p:nvPr/>
        </p:nvPicPr>
        <p:blipFill>
          <a:blip r:embed="rId4"/>
          <a:stretch>
            <a:fillRect/>
          </a:stretch>
        </p:blipFill>
        <p:spPr>
          <a:xfrm>
            <a:off x="2634844" y="5074920"/>
            <a:ext cx="713232" cy="534924"/>
          </a:xfrm>
          <a:prstGeom prst="rect">
            <a:avLst/>
          </a:prstGeom>
        </p:spPr>
      </p:pic>
      <p:pic>
        <p:nvPicPr>
          <p:cNvPr id="9" name="Image 4" descr="preencoded.png">    </p:cNvPr>
          <p:cNvPicPr>
            <a:picLocks noChangeAspect="1"/>
          </p:cNvPicPr>
          <p:nvPr/>
        </p:nvPicPr>
        <p:blipFill>
          <a:blip r:embed="rId5"/>
          <a:stretch>
            <a:fillRect/>
          </a:stretch>
        </p:blipFill>
        <p:spPr>
          <a:xfrm>
            <a:off x="3521812" y="5074920"/>
            <a:ext cx="713232" cy="534924"/>
          </a:xfrm>
          <a:prstGeom prst="rect">
            <a:avLst/>
          </a:prstGeom>
        </p:spPr>
      </p:pic>
      <p:pic>
        <p:nvPicPr>
          <p:cNvPr id="10" name="Image 5" descr="preencoded.png">    </p:cNvPr>
          <p:cNvPicPr>
            <a:picLocks noChangeAspect="1"/>
          </p:cNvPicPr>
          <p:nvPr/>
        </p:nvPicPr>
        <p:blipFill>
          <a:blip r:embed="rId6"/>
          <a:stretch>
            <a:fillRect/>
          </a:stretch>
        </p:blipFill>
        <p:spPr>
          <a:xfrm>
            <a:off x="4408780" y="5074920"/>
            <a:ext cx="713232" cy="534924"/>
          </a:xfrm>
          <a:prstGeom prst="rect">
            <a:avLst/>
          </a:prstGeom>
        </p:spPr>
      </p:pic>
      <p:pic>
        <p:nvPicPr>
          <p:cNvPr id="11" name="Image 6" descr="preencoded.png">    </p:cNvPr>
          <p:cNvPicPr>
            <a:picLocks noChangeAspect="1"/>
          </p:cNvPicPr>
          <p:nvPr/>
        </p:nvPicPr>
        <p:blipFill>
          <a:blip r:embed="rId7"/>
          <a:stretch>
            <a:fillRect/>
          </a:stretch>
        </p:blipFill>
        <p:spPr>
          <a:xfrm>
            <a:off x="5295748" y="5074920"/>
            <a:ext cx="713232" cy="534924"/>
          </a:xfrm>
          <a:prstGeom prst="rect">
            <a:avLst/>
          </a:prstGeom>
        </p:spPr>
      </p:pic>
      <p:pic>
        <p:nvPicPr>
          <p:cNvPr id="12" name="Image 7" descr="preencoded.png">    </p:cNvPr>
          <p:cNvPicPr>
            <a:picLocks noChangeAspect="1"/>
          </p:cNvPicPr>
          <p:nvPr/>
        </p:nvPicPr>
        <p:blipFill>
          <a:blip r:embed="rId8"/>
          <a:stretch>
            <a:fillRect/>
          </a:stretch>
        </p:blipFill>
        <p:spPr>
          <a:xfrm>
            <a:off x="6182716" y="5074920"/>
            <a:ext cx="713232" cy="534924"/>
          </a:xfrm>
          <a:prstGeom prst="rect">
            <a:avLst/>
          </a:prstGeom>
        </p:spPr>
      </p:pic>
      <p:pic>
        <p:nvPicPr>
          <p:cNvPr id="13" name="Image 8" descr="preencoded.png">    </p:cNvPr>
          <p:cNvPicPr>
            <a:picLocks noChangeAspect="1"/>
          </p:cNvPicPr>
          <p:nvPr/>
        </p:nvPicPr>
        <p:blipFill>
          <a:blip r:embed="rId9"/>
          <a:stretch>
            <a:fillRect/>
          </a:stretch>
        </p:blipFill>
        <p:spPr>
          <a:xfrm>
            <a:off x="7069684" y="5074920"/>
            <a:ext cx="713232" cy="534924"/>
          </a:xfrm>
          <a:prstGeom prst="rect">
            <a:avLst/>
          </a:prstGeom>
        </p:spPr>
      </p:pic>
      <p:pic>
        <p:nvPicPr>
          <p:cNvPr id="14" name="Image 9" descr="preencoded.png">    </p:cNvPr>
          <p:cNvPicPr>
            <a:picLocks noChangeAspect="1"/>
          </p:cNvPicPr>
          <p:nvPr/>
        </p:nvPicPr>
        <p:blipFill>
          <a:blip r:embed="rId10"/>
          <a:stretch>
            <a:fillRect/>
          </a:stretch>
        </p:blipFill>
        <p:spPr>
          <a:xfrm>
            <a:off x="7956652" y="5074920"/>
            <a:ext cx="713232" cy="534924"/>
          </a:xfrm>
          <a:prstGeom prst="rect">
            <a:avLst/>
          </a:prstGeom>
        </p:spPr>
      </p:pic>
      <p:pic>
        <p:nvPicPr>
          <p:cNvPr id="15" name="Image 10" descr="preencoded.png">    </p:cNvPr>
          <p:cNvPicPr>
            <a:picLocks noChangeAspect="1"/>
          </p:cNvPicPr>
          <p:nvPr/>
        </p:nvPicPr>
        <p:blipFill>
          <a:blip r:embed="rId11"/>
          <a:stretch>
            <a:fillRect/>
          </a:stretch>
        </p:blipFill>
        <p:spPr>
          <a:xfrm>
            <a:off x="8843620" y="5074920"/>
            <a:ext cx="713232" cy="534924"/>
          </a:xfrm>
          <a:prstGeom prst="rect">
            <a:avLst/>
          </a:prstGeom>
        </p:spPr>
      </p:pic>
      <p:pic>
        <p:nvPicPr>
          <p:cNvPr id="16" name="Image 11" descr="preencoded.png">    </p:cNvPr>
          <p:cNvPicPr>
            <a:picLocks noChangeAspect="1"/>
          </p:cNvPicPr>
          <p:nvPr/>
        </p:nvPicPr>
        <p:blipFill>
          <a:blip r:embed="rId12"/>
          <a:stretch>
            <a:fillRect/>
          </a:stretch>
        </p:blipFill>
        <p:spPr>
          <a:xfrm>
            <a:off x="9730588" y="5074920"/>
            <a:ext cx="713232" cy="534924"/>
          </a:xfrm>
          <a:prstGeom prst="rect">
            <a:avLst/>
          </a:prstGeom>
        </p:spPr>
      </p:pic>
      <p:pic>
        <p:nvPicPr>
          <p:cNvPr id="17" name="Image 12" descr="preencoded.png">    </p:cNvPr>
          <p:cNvPicPr>
            <a:picLocks noChangeAspect="1"/>
          </p:cNvPicPr>
          <p:nvPr/>
        </p:nvPicPr>
        <p:blipFill>
          <a:blip r:embed="rId13"/>
          <a:stretch>
            <a:fillRect/>
          </a:stretch>
        </p:blipFill>
        <p:spPr>
          <a:xfrm>
            <a:off x="10617556" y="5074920"/>
            <a:ext cx="713232" cy="534924"/>
          </a:xfrm>
          <a:prstGeom prst="rect">
            <a:avLst/>
          </a:prstGeom>
        </p:spPr>
      </p:pic>
      <p:pic>
        <p:nvPicPr>
          <p:cNvPr id="18" name="Image 13" descr="preencoded.png">    </p:cNvPr>
          <p:cNvPicPr>
            <a:picLocks noChangeAspect="1"/>
          </p:cNvPicPr>
          <p:nvPr/>
        </p:nvPicPr>
        <p:blipFill>
          <a:blip r:embed="rId14"/>
          <a:stretch>
            <a:fillRect/>
          </a:stretch>
        </p:blipFill>
        <p:spPr>
          <a:xfrm>
            <a:off x="11504524" y="5074920"/>
            <a:ext cx="713232" cy="5349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94360"/>
            <a:ext cx="7315200" cy="59436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Definitions</a:t>
            </a:r>
            <a:endParaRPr lang="en-US" sz="3200" dirty="0"/>
          </a:p>
        </p:txBody>
      </p:sp>
      <p:sp>
        <p:nvSpPr>
          <p:cNvPr id="3" name="Shape 1"/>
          <p:cNvSpPr/>
          <p:nvPr/>
        </p:nvSpPr>
        <p:spPr>
          <a:xfrm>
            <a:off x="457200" y="1417320"/>
            <a:ext cx="4160520" cy="4892040"/>
          </a:xfrm>
          <a:prstGeom prst="roundRect">
            <a:avLst>
              <a:gd name="adj" fmla="val 2637"/>
            </a:avLst>
          </a:prstGeom>
          <a:solidFill>
            <a:srgbClr val="EAF2EE"/>
          </a:solidFill>
          <a:ln w="12700">
            <a:solidFill>
              <a:srgbClr val="EAF2EE"/>
            </a:solidFill>
            <a:prstDash val="solid"/>
          </a:ln>
        </p:spPr>
      </p:sp>
      <p:sp>
        <p:nvSpPr>
          <p:cNvPr id="4" name="Text 2"/>
          <p:cNvSpPr txBox="1"/>
          <p:nvPr/>
        </p:nvSpPr>
        <p:spPr>
          <a:xfrm>
            <a:off x="685800" y="1572768"/>
            <a:ext cx="37490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Target population: former teachers</a:t>
            </a:r>
            <a:endParaRPr lang="en-US" sz="1500" dirty="0"/>
          </a:p>
        </p:txBody>
      </p:sp>
      <p:sp>
        <p:nvSpPr>
          <p:cNvPr id="5" name="Shape 3"/>
          <p:cNvSpPr/>
          <p:nvPr/>
        </p:nvSpPr>
        <p:spPr>
          <a:xfrm>
            <a:off x="713232" y="2139696"/>
            <a:ext cx="502920" cy="502920"/>
          </a:xfrm>
          <a:prstGeom prst="ellipse">
            <a:avLst/>
          </a:prstGeom>
          <a:solidFill>
            <a:srgbClr val="1F4E46"/>
          </a:solidFill>
          <a:ln w="12700">
            <a:solidFill>
              <a:srgbClr val="1F4E46"/>
            </a:solidFill>
            <a:prstDash val="solid"/>
          </a:ln>
        </p:spPr>
      </p:sp>
      <p:pic>
        <p:nvPicPr>
          <p:cNvPr id="6" name="Image 0" descr="preencoded.png">    </p:cNvPr>
          <p:cNvPicPr>
            <a:picLocks noChangeAspect="1"/>
          </p:cNvPicPr>
          <p:nvPr/>
        </p:nvPicPr>
        <p:blipFill>
          <a:blip r:embed="rId1"/>
          <a:stretch>
            <a:fillRect/>
          </a:stretch>
        </p:blipFill>
        <p:spPr>
          <a:xfrm>
            <a:off x="833933" y="2260397"/>
            <a:ext cx="261518" cy="261518"/>
          </a:xfrm>
          <a:prstGeom prst="rect">
            <a:avLst/>
          </a:prstGeom>
        </p:spPr>
      </p:pic>
      <p:sp>
        <p:nvSpPr>
          <p:cNvPr id="7" name="Text 4"/>
          <p:cNvSpPr txBox="1"/>
          <p:nvPr/>
        </p:nvSpPr>
        <p:spPr>
          <a:xfrm>
            <a:off x="1371600" y="2103120"/>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(a) Switchers</a:t>
            </a:r>
            <a:endParaRPr lang="en-US" sz="1300" dirty="0"/>
          </a:p>
        </p:txBody>
      </p:sp>
      <p:sp>
        <p:nvSpPr>
          <p:cNvPr id="8" name="Text 5"/>
          <p:cNvSpPr txBox="1"/>
          <p:nvPr/>
        </p:nvSpPr>
        <p:spPr>
          <a:xfrm>
            <a:off x="1371600" y="2395728"/>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to work in another sector.</a:t>
            </a:r>
            <a:endParaRPr lang="en-US" sz="1150" dirty="0"/>
          </a:p>
        </p:txBody>
      </p:sp>
      <p:sp>
        <p:nvSpPr>
          <p:cNvPr id="9" name="Shape 6"/>
          <p:cNvSpPr/>
          <p:nvPr/>
        </p:nvSpPr>
        <p:spPr>
          <a:xfrm>
            <a:off x="713232" y="3072384"/>
            <a:ext cx="502920" cy="50292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833933" y="3193085"/>
            <a:ext cx="261518" cy="261518"/>
          </a:xfrm>
          <a:prstGeom prst="rect">
            <a:avLst/>
          </a:prstGeom>
        </p:spPr>
      </p:pic>
      <p:sp>
        <p:nvSpPr>
          <p:cNvPr id="11" name="Text 7"/>
          <p:cNvSpPr txBox="1"/>
          <p:nvPr/>
        </p:nvSpPr>
        <p:spPr>
          <a:xfrm>
            <a:off x="1371600" y="3035808"/>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(b) Leavers</a:t>
            </a:r>
            <a:endParaRPr lang="en-US" sz="1300" dirty="0"/>
          </a:p>
        </p:txBody>
      </p:sp>
      <p:sp>
        <p:nvSpPr>
          <p:cNvPr id="12" name="Text 8"/>
          <p:cNvSpPr txBox="1"/>
          <p:nvPr/>
        </p:nvSpPr>
        <p:spPr>
          <a:xfrm>
            <a:off x="1371600" y="3328416"/>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150" dirty="0"/>
          </a:p>
        </p:txBody>
      </p:sp>
      <p:sp>
        <p:nvSpPr>
          <p:cNvPr id="13" name="Shape 9"/>
          <p:cNvSpPr/>
          <p:nvPr/>
        </p:nvSpPr>
        <p:spPr>
          <a:xfrm>
            <a:off x="713232" y="4005072"/>
            <a:ext cx="502920" cy="502920"/>
          </a:xfrm>
          <a:prstGeom prst="ellipse">
            <a:avLst/>
          </a:prstGeom>
          <a:solidFill>
            <a:srgbClr val="1F4E46"/>
          </a:solidFill>
          <a:ln w="12700">
            <a:solidFill>
              <a:srgbClr val="1F4E46"/>
            </a:solidFill>
            <a:prstDash val="solid"/>
          </a:ln>
        </p:spPr>
      </p:sp>
      <p:pic>
        <p:nvPicPr>
          <p:cNvPr id="14" name="Image 2" descr="preencoded.png">    </p:cNvPr>
          <p:cNvPicPr>
            <a:picLocks noChangeAspect="1"/>
          </p:cNvPicPr>
          <p:nvPr/>
        </p:nvPicPr>
        <p:blipFill>
          <a:blip r:embed="rId3"/>
          <a:stretch>
            <a:fillRect/>
          </a:stretch>
        </p:blipFill>
        <p:spPr>
          <a:xfrm>
            <a:off x="833933" y="4125773"/>
            <a:ext cx="261518" cy="261518"/>
          </a:xfrm>
          <a:prstGeom prst="rect">
            <a:avLst/>
          </a:prstGeom>
        </p:spPr>
      </p:pic>
      <p:sp>
        <p:nvSpPr>
          <p:cNvPr id="15" name="Text 10"/>
          <p:cNvSpPr txBox="1"/>
          <p:nvPr/>
        </p:nvSpPr>
        <p:spPr>
          <a:xfrm>
            <a:off x="1371600" y="3968496"/>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(c) Retired</a:t>
            </a:r>
            <a:endParaRPr lang="en-US" sz="1300" dirty="0"/>
          </a:p>
        </p:txBody>
      </p:sp>
      <p:sp>
        <p:nvSpPr>
          <p:cNvPr id="16" name="Text 11"/>
          <p:cNvSpPr txBox="1"/>
          <p:nvPr/>
        </p:nvSpPr>
        <p:spPr>
          <a:xfrm>
            <a:off x="1371600" y="4261104"/>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Retired from teaching.</a:t>
            </a:r>
            <a:endParaRPr lang="en-US" sz="1150" dirty="0"/>
          </a:p>
        </p:txBody>
      </p:sp>
      <p:sp>
        <p:nvSpPr>
          <p:cNvPr id="17" name="Shape 12"/>
          <p:cNvSpPr/>
          <p:nvPr/>
        </p:nvSpPr>
        <p:spPr>
          <a:xfrm>
            <a:off x="4846320" y="1417320"/>
            <a:ext cx="6885432" cy="4892040"/>
          </a:xfrm>
          <a:prstGeom prst="roundRect">
            <a:avLst>
              <a:gd name="adj" fmla="val 2243"/>
            </a:avLst>
          </a:prstGeom>
          <a:solidFill>
            <a:srgbClr val="EAF2EE"/>
          </a:solidFill>
          <a:ln w="12700">
            <a:solidFill>
              <a:srgbClr val="EAF2EE"/>
            </a:solidFill>
            <a:prstDash val="solid"/>
          </a:ln>
        </p:spPr>
      </p:sp>
      <p:sp>
        <p:nvSpPr>
          <p:cNvPr id="18" name="Text 13"/>
          <p:cNvSpPr txBox="1"/>
          <p:nvPr/>
        </p:nvSpPr>
        <p:spPr>
          <a:xfrm>
            <a:off x="5074920" y="1572768"/>
            <a:ext cx="64922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Five categories: each policy is classified by the instrument it uses</a:t>
            </a:r>
            <a:endParaRPr lang="en-US" sz="1500" dirty="0"/>
          </a:p>
        </p:txBody>
      </p:sp>
      <p:sp>
        <p:nvSpPr>
          <p:cNvPr id="19" name="Shape 14"/>
          <p:cNvSpPr/>
          <p:nvPr/>
        </p:nvSpPr>
        <p:spPr>
          <a:xfrm>
            <a:off x="5102352" y="2139696"/>
            <a:ext cx="502920" cy="502920"/>
          </a:xfrm>
          <a:prstGeom prst="ellipse">
            <a:avLst/>
          </a:prstGeom>
          <a:solidFill>
            <a:srgbClr val="1F4E46"/>
          </a:solidFill>
          <a:ln w="12700">
            <a:solidFill>
              <a:srgbClr val="1F4E46"/>
            </a:solidFill>
            <a:prstDash val="solid"/>
          </a:ln>
        </p:spPr>
      </p:sp>
      <p:pic>
        <p:nvPicPr>
          <p:cNvPr id="20" name="Image 3" descr="preencoded.png">    </p:cNvPr>
          <p:cNvPicPr>
            <a:picLocks noChangeAspect="1"/>
          </p:cNvPicPr>
          <p:nvPr/>
        </p:nvPicPr>
        <p:blipFill>
          <a:blip r:embed="rId4"/>
          <a:stretch>
            <a:fillRect/>
          </a:stretch>
        </p:blipFill>
        <p:spPr>
          <a:xfrm>
            <a:off x="5223053" y="2260397"/>
            <a:ext cx="261518" cy="261518"/>
          </a:xfrm>
          <a:prstGeom prst="rect">
            <a:avLst/>
          </a:prstGeom>
        </p:spPr>
      </p:pic>
      <p:sp>
        <p:nvSpPr>
          <p:cNvPr id="21" name="Text 15"/>
          <p:cNvSpPr txBox="1"/>
          <p:nvPr/>
        </p:nvSpPr>
        <p:spPr>
          <a:xfrm>
            <a:off x="5760720" y="210312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Financial incentives</a:t>
            </a:r>
            <a:endParaRPr lang="en-US" sz="1300" dirty="0"/>
          </a:p>
        </p:txBody>
      </p:sp>
      <p:sp>
        <p:nvSpPr>
          <p:cNvPr id="22" name="Text 16"/>
          <p:cNvSpPr txBox="1"/>
          <p:nvPr/>
        </p:nvSpPr>
        <p:spPr>
          <a:xfrm>
            <a:off x="5760720" y="237744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100" dirty="0"/>
          </a:p>
        </p:txBody>
      </p:sp>
      <p:sp>
        <p:nvSpPr>
          <p:cNvPr id="23" name="Shape 17"/>
          <p:cNvSpPr/>
          <p:nvPr/>
        </p:nvSpPr>
        <p:spPr>
          <a:xfrm>
            <a:off x="5102352" y="2962656"/>
            <a:ext cx="502920" cy="502920"/>
          </a:xfrm>
          <a:prstGeom prst="ellipse">
            <a:avLst/>
          </a:prstGeom>
          <a:solidFill>
            <a:srgbClr val="1F4E46"/>
          </a:solidFill>
          <a:ln w="12700">
            <a:solidFill>
              <a:srgbClr val="1F4E46"/>
            </a:solidFill>
            <a:prstDash val="solid"/>
          </a:ln>
        </p:spPr>
      </p:sp>
      <p:pic>
        <p:nvPicPr>
          <p:cNvPr id="24" name="Image 4" descr="preencoded.png">    </p:cNvPr>
          <p:cNvPicPr>
            <a:picLocks noChangeAspect="1"/>
          </p:cNvPicPr>
          <p:nvPr/>
        </p:nvPicPr>
        <p:blipFill>
          <a:blip r:embed="rId5"/>
          <a:stretch>
            <a:fillRect/>
          </a:stretch>
        </p:blipFill>
        <p:spPr>
          <a:xfrm>
            <a:off x="5223053" y="3083357"/>
            <a:ext cx="261518" cy="261518"/>
          </a:xfrm>
          <a:prstGeom prst="rect">
            <a:avLst/>
          </a:prstGeom>
        </p:spPr>
      </p:pic>
      <p:sp>
        <p:nvSpPr>
          <p:cNvPr id="25" name="Text 18"/>
          <p:cNvSpPr txBox="1"/>
          <p:nvPr/>
        </p:nvSpPr>
        <p:spPr>
          <a:xfrm>
            <a:off x="5760720" y="292608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Information &amp; nudges</a:t>
            </a:r>
            <a:endParaRPr lang="en-US" sz="1300" dirty="0"/>
          </a:p>
        </p:txBody>
      </p:sp>
      <p:sp>
        <p:nvSpPr>
          <p:cNvPr id="26" name="Text 19"/>
          <p:cNvSpPr txBox="1"/>
          <p:nvPr/>
        </p:nvSpPr>
        <p:spPr>
          <a:xfrm>
            <a:off x="5760720" y="320040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100" dirty="0"/>
          </a:p>
        </p:txBody>
      </p:sp>
      <p:sp>
        <p:nvSpPr>
          <p:cNvPr id="27" name="Shape 20"/>
          <p:cNvSpPr/>
          <p:nvPr/>
        </p:nvSpPr>
        <p:spPr>
          <a:xfrm>
            <a:off x="5102352" y="3785616"/>
            <a:ext cx="502920" cy="502920"/>
          </a:xfrm>
          <a:prstGeom prst="ellipse">
            <a:avLst/>
          </a:prstGeom>
          <a:solidFill>
            <a:srgbClr val="1F4E46"/>
          </a:solidFill>
          <a:ln w="12700">
            <a:solidFill>
              <a:srgbClr val="1F4E46"/>
            </a:solidFill>
            <a:prstDash val="solid"/>
          </a:ln>
        </p:spPr>
      </p:sp>
      <p:pic>
        <p:nvPicPr>
          <p:cNvPr id="28" name="Image 5" descr="preencoded.png">    </p:cNvPr>
          <p:cNvPicPr>
            <a:picLocks noChangeAspect="1"/>
          </p:cNvPicPr>
          <p:nvPr/>
        </p:nvPicPr>
        <p:blipFill>
          <a:blip r:embed="rId6"/>
          <a:stretch>
            <a:fillRect/>
          </a:stretch>
        </p:blipFill>
        <p:spPr>
          <a:xfrm>
            <a:off x="5223053" y="3906317"/>
            <a:ext cx="261518" cy="261518"/>
          </a:xfrm>
          <a:prstGeom prst="rect">
            <a:avLst/>
          </a:prstGeom>
        </p:spPr>
      </p:pic>
      <p:sp>
        <p:nvSpPr>
          <p:cNvPr id="29" name="Text 21"/>
          <p:cNvSpPr txBox="1"/>
          <p:nvPr/>
        </p:nvSpPr>
        <p:spPr>
          <a:xfrm>
            <a:off x="5760720" y="374904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Support &amp; training</a:t>
            </a:r>
            <a:endParaRPr lang="en-US" sz="1300" dirty="0"/>
          </a:p>
        </p:txBody>
      </p:sp>
      <p:sp>
        <p:nvSpPr>
          <p:cNvPr id="30" name="Text 22"/>
          <p:cNvSpPr txBox="1"/>
          <p:nvPr/>
        </p:nvSpPr>
        <p:spPr>
          <a:xfrm>
            <a:off x="5760720" y="402336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100" dirty="0"/>
          </a:p>
        </p:txBody>
      </p:sp>
      <p:sp>
        <p:nvSpPr>
          <p:cNvPr id="31" name="Shape 23"/>
          <p:cNvSpPr/>
          <p:nvPr/>
        </p:nvSpPr>
        <p:spPr>
          <a:xfrm>
            <a:off x="5102352" y="4608576"/>
            <a:ext cx="502920" cy="502920"/>
          </a:xfrm>
          <a:prstGeom prst="ellipse">
            <a:avLst/>
          </a:prstGeom>
          <a:solidFill>
            <a:srgbClr val="1F4E46"/>
          </a:solidFill>
          <a:ln w="12700">
            <a:solidFill>
              <a:srgbClr val="1F4E46"/>
            </a:solidFill>
            <a:prstDash val="solid"/>
          </a:ln>
        </p:spPr>
      </p:sp>
      <p:pic>
        <p:nvPicPr>
          <p:cNvPr id="32" name="Image 6" descr="preencoded.png">    </p:cNvPr>
          <p:cNvPicPr>
            <a:picLocks noChangeAspect="1"/>
          </p:cNvPicPr>
          <p:nvPr/>
        </p:nvPicPr>
        <p:blipFill>
          <a:blip r:embed="rId7"/>
          <a:stretch>
            <a:fillRect/>
          </a:stretch>
        </p:blipFill>
        <p:spPr>
          <a:xfrm>
            <a:off x="5223053" y="4729277"/>
            <a:ext cx="261518" cy="261518"/>
          </a:xfrm>
          <a:prstGeom prst="rect">
            <a:avLst/>
          </a:prstGeom>
        </p:spPr>
      </p:pic>
      <p:sp>
        <p:nvSpPr>
          <p:cNvPr id="33" name="Text 24"/>
          <p:cNvSpPr txBox="1"/>
          <p:nvPr/>
        </p:nvSpPr>
        <p:spPr>
          <a:xfrm>
            <a:off x="5760720" y="457200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positions</a:t>
            </a:r>
            <a:endParaRPr lang="en-US" sz="1300" dirty="0"/>
          </a:p>
        </p:txBody>
      </p:sp>
      <p:sp>
        <p:nvSpPr>
          <p:cNvPr id="34" name="Text 25"/>
          <p:cNvSpPr txBox="1"/>
          <p:nvPr/>
        </p:nvSpPr>
        <p:spPr>
          <a:xfrm>
            <a:off x="5760720" y="484632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100" dirty="0"/>
          </a:p>
        </p:txBody>
      </p:sp>
      <p:sp>
        <p:nvSpPr>
          <p:cNvPr id="35" name="Shape 26"/>
          <p:cNvSpPr/>
          <p:nvPr/>
        </p:nvSpPr>
        <p:spPr>
          <a:xfrm>
            <a:off x="5102352" y="5431536"/>
            <a:ext cx="502920" cy="502920"/>
          </a:xfrm>
          <a:prstGeom prst="ellipse">
            <a:avLst/>
          </a:prstGeom>
          <a:solidFill>
            <a:srgbClr val="1F4E46"/>
          </a:solidFill>
          <a:ln w="12700">
            <a:solidFill>
              <a:srgbClr val="1F4E46"/>
            </a:solidFill>
            <a:prstDash val="solid"/>
          </a:ln>
        </p:spPr>
      </p:sp>
      <p:pic>
        <p:nvPicPr>
          <p:cNvPr id="36" name="Image 7" descr="preencoded.png">    </p:cNvPr>
          <p:cNvPicPr>
            <a:picLocks noChangeAspect="1"/>
          </p:cNvPicPr>
          <p:nvPr/>
        </p:nvPicPr>
        <p:blipFill>
          <a:blip r:embed="rId8"/>
          <a:stretch>
            <a:fillRect/>
          </a:stretch>
        </p:blipFill>
        <p:spPr>
          <a:xfrm>
            <a:off x="5223053" y="5552237"/>
            <a:ext cx="261518" cy="261518"/>
          </a:xfrm>
          <a:prstGeom prst="rect">
            <a:avLst/>
          </a:prstGeom>
        </p:spPr>
      </p:pic>
      <p:sp>
        <p:nvSpPr>
          <p:cNvPr id="37" name="Text 27"/>
          <p:cNvSpPr txBox="1"/>
          <p:nvPr/>
        </p:nvSpPr>
        <p:spPr>
          <a:xfrm>
            <a:off x="5760720" y="539496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re-certification</a:t>
            </a:r>
            <a:endParaRPr lang="en-US" sz="1300" dirty="0"/>
          </a:p>
        </p:txBody>
      </p:sp>
      <p:sp>
        <p:nvSpPr>
          <p:cNvPr id="38" name="Text 28"/>
          <p:cNvSpPr txBox="1"/>
          <p:nvPr/>
        </p:nvSpPr>
        <p:spPr>
          <a:xfrm>
            <a:off x="5760720" y="566928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100" dirty="0"/>
          </a:p>
        </p:txBody>
      </p:sp>
      <p:sp>
        <p:nvSpPr>
          <p:cNvPr id="39" name="Text 29"/>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2022–2025</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paid ‘try-out’ placement in a public school for teachers who left the classroom, run by Victoria's Department of Education.</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qualified teacher who has been out of a teaching job for 12+ months (career break or retirement) registers online; the TREI team contacts them, offers free coaching (CV, interviews, curriculum refresher) and arranges up to 40 days in a government school to observe lessons, teach and be mentored by current staff before applying for a real vacancy.</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An honorarium of up to AUD 12,000 for the 40 days; AUD 12 million in the 2023/24 state budget.</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Late 2022 (placements funded to June 2025); 1,100+ expressions of interest in the first months.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 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pay premium for retired teachers who come back to substitute or teach, set by the Quebec Ministry of Education.</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Any retiree with a teaching authorisation who works again in a public school is paid from day one at the salary step they had when they retired (about CAD 412 a day instead of the usual CAD 212 substitute rate) and keeps the full pension. In August 2023 the minister also wrote to every retired teacher inviting them back.</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Higher daily pay (top rate CAD 578 in 2023–24) with no pension penalty.</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21 September 2020 (pandemic measure made permanent); 700 retirees returned in 2020–21 and over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(银龄讲学计划),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national programme that sends retired teachers to teach in poor rural schools, run by the Ministries of Education and Finance.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Retired principals, senior and ‘special-grade’ teachers aged 65 or under apply to a provincial call and are posted for at least one school year to a rural compulsory-education school, where they teach, coach young teachers and advise on school management.</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They keep their pension and receive a central-government allowance of CNY 20,000 a year (stipend, travel, insurance).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2018 (10,000 posts planned for 2018–20; 7,000 recruited in 2024); expanded in 2023 into the National Silver-Age Teachers Action Plan.</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Raising and then abolishing the earnings ceiling for retired teachers (Hinzuverdienstgrenze), 2022–2024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change in pension rules so that retired teachers can earn more from teaching without losing pension, passed by the Lower Saxony parliament.</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pensioner's pay plus pension may not exceed a ceiling; above it the pension is cut. The ceiling rose from 100% to 125% of former pay (2019) and to 150% from 1 October 2022, which lets a pensioner teach about 9–10 hours a week with no cut; on 31 October 2024 the ceiling was abolished altogether.</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Amendment of the civil-service pension law, plus 15% higher overtime pay for teachers.</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1 October 2022; unlimited earnings since 31 October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personal letter from the Minister of Education to every teacher about to retire, asking them to keep teaching or come back.</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The letter thanks them and explains, with an information sheet and a registration guide, the two options: postpone retirement by up to three years (civil servants, on request) or retire and be re-hired at once on a fixed-term contract, keeping the pension under the relaxed earnings rules.</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Information only (mailing, guide, contact points); the money comes from the earnings-ceiling rule on the previous slide.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rule that lets retired teachers work up to 50 days a year without any cut to their pension, issued by the Department of Education.</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Normally ‘abatement’ reduces the pension when pension plus new salary exceed the pay the teacher had at retirement. Under the waiver the first 50 days worked in a calendar year, as a substitute or on a fixed-term contract, are exempt; each day counts as one whatever the hours. Beyond day 50 abatement is assessed as usual.</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Department circulars (0003/2021, 04/2024, 17/2026); no extra budget, only the pension rule.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2021, renewed for 2024–25 and 2026–27.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Japan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Abolition of the teacher licence renewal system (1 July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legal change that made expired teaching licences valid again, so former teachers can apply for jobs without re-certifying, enacted by the Diet and implemented by MEXT.</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From 2009 licences expired every 10 years unless the holder took a 30-hour renewal course, so people who had left teaching lost their licence. The renewal system was abolished on 1 July 2022; every licence valid at that date, including dormant ones, became permanent with no procedure or fee.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Amendment to the Educational Personnel Certification Act (May 2022); boards of education add ‘paper-teacher’ seminars for licence holders who left teaching.</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1 July 2022.</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ext.go.jp/content/20221028-mxt_kyoikujinzai02-000022570_3.pdf" history="1" highlightClick="0" endSnd="0">
                  <a:extLst>
                    <a:ext uri="{A12FA001-AC4F-418D-AE19-62706E023703}">
                      <ahyp:hlinkClr xmlns:ahyp="http://schemas.microsoft.com/office/drawing/2018/hyperlinkcolor" val="tx"/>
                    </a:ext>
                  </a:extLst>
                </a:hlinkClick>
              </a:rPr>
              <a:t>https://www.mext.go.jp/content/20221028-mxt_kyoikujinzai02-000022570_3.pdf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pref.saitama.lg.jp/f2213/paperteacher.html" history="1" highlightClick="0" endSnd="0">
                  <a:extLst>
                    <a:ext uri="{A12FA001-AC4F-418D-AE19-62706E023703}">
                      <ahyp:hlinkClr xmlns:ahyp="http://schemas.microsoft.com/office/drawing/2018/hyperlinkcolor" val="tx"/>
                    </a:ext>
                  </a:extLst>
                </a:hlinkClick>
              </a:rPr>
              <a:t>https://www.pref.saitama.lg.jp/f2213/paperteacher.html</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Regeling tegemoetkoming herintreders primair onderwijs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grant to primary schools for every former teacher they re-hire, paid by the Ministry of Education (OCW).</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school board that hires a ‘herintreder’ (a qualified teacher who had not taught in primary education for 12+ months) on a contract of at least six months applies for the grant and uses it for the returner's guidance and support (coaching, refresher training) in the first months.</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Up to EUR 2,500 per returner; EUR 1.25 million for up to 500 returners in the first round.</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1 November 2017 to 1 January 2020 (closed), with an extra application round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simplified way for teachers who left the profession to get their practising certificate back, set by the Ministry of Education and the Teaching Council.</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registered teacher who has not taught for 5+ years no longer has to complete the Teacher Education Refresh course. With a job offer they renew the certificate, may relief-teach up to 20 half-days while it is processed, and agree a ‘Future-Ready Teaching Plan’ with the principal instead.</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The Government pays the certificate and Limited Authority to Teach fees (NZD 53.3 million for 2025–28).</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Fees covered from October 2024;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Decreto-Lei n.º 51/2024: contracting retired teachers for shortage areas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decree-law that lets schools hire retired teachers on fixed-term contracts to fill shortage posts, part of the ‘+Aulas +Sucesso’ plan.</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school with an unfilled post in a shortage subject, or an under-staffed school, applies through an online DGAE form; the ministry authorises within an annual quota. Only teachers retired for five years or less can be hired.</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The retiree keeps the full pension and gets an extra payment tied to the first step of the teacher salary scale, proportional to the weekly hours taught.</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28 August 2024 (school year 2024/25); 62 retirees cleared in the first round (Público, November 2024).</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registry of former teachers whom schools can hire for short, flexible stints, run by the Ministry of Education.</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trained ex-teacher (NIE diploma, including retirees) registers through the MOE relief portal; schools then contact them directly for appointments of 1 day to 10 weeks, for teaching only or mixed duties agreed with the school. A companion Contract Adjunct scheme offers 1–1.5-year contracts.</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Daily-rate pay with pro-rated leave after 90 days of cumulative service.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Ongoing (start year not stated); about 220 recent leavers a year joined in 2022–24.</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Skolverket web-based training for returning teachers and preschool teachers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An online refresher course for teachers and preschool teachers who want to return to the profession, built by Skolverket at the Government's request.</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The returner logs into Skolverket's learning platform, picks the school or preschool track and takes the modules they need in any order; the modules update them on the curricula, laws and steering documents that changed while they were away, with a certificate per module.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Self-paced web platform, open to anyone with a teaching licence or qualifying degree.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October 2018 (assignment reported to the Government in 2020).</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PH Zürich ‘Wiedereinstieg’ re-entry programme for returning teachers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counselling and induction package for teachers who return to the classroom after a long break, run by PH Zürich with the cantonal school office.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The returner starts with a re-entry consultation and a ‘Standortbestimmung’ (positioning session) that checks readiness and needs. During the first year back they get workplace mentoring (up to 25 hours), supervision, subject coaching and optional courses on assessment, classroom management and parent work.</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Free of charge in the first school year for teachers away 8+ years, co-funded by the Canton of Zurich; first consultation hour free.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Ongoing offer (start year not stated on the page).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free personal adviser for anyone who has taught or trained to teach in the UK and wants to return, provided by the Department for Education's ‘Get Into Teaching’ service.</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The former teacher calls or signs up online; the adviser then works with them one-to-one by phone, text or e-mail: reviewing skills gained during the break, helping with applications and interviews, pointing to refresher courses and NPQs, and flagging vacancies and webinars.</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Adviser service and outreach campaigns (e.g. ‘Come back to teaching’, January 2022).</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Ongoing; returners are a major supply source: about 17,500 FTE in 2023, 38% of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state law that lets retired teachers go back to full-time teaching in shortage subjects while keeping their full pension.</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teacher who retired with 30+ years of service and has been retired at least one year can be hired as a full-time pre-K–12 classroom teacher in one of the three highest-need subjects of their region (typically special education, maths, science, English, elementary), drawing pension plus full salary.</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Pension-rule change; the employer pays both contributions and the retiree earns no further service credit.</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1 July 2022 to 30 June 2026 (succeeded by SB 150); about 350 retirees a year, under 1% of the workforce (2025 audit).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What it is: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A district programme that pays recently retired teachers to mentor new teachers, run by Aurora Public Schools.</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How it works: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Retired, highly effective Aurora teachers are hired part-time to mentor probationary teachers in high-need Title I elementary schools for two years, with weekly meetings and classroom observations, far more than the district's usual one-year ‘buddy’ mentoring.</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Means: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Paid, part-time mentor posts for retirees.</a:t>
            </a:r>
            <a:endParaRPr lang="en-US" sz="1500" dirty="0"/>
          </a:p>
          <a:p>
            <a:pPr indent="0" marL="0">
              <a:lnSpc>
                <a:spcPct val="104000"/>
              </a:lnSpc>
              <a:spcAft>
                <a:spcPts val="400"/>
              </a:spcAft>
              <a:buNone/>
            </a:pPr>
            <a:r>
              <a:rPr lang="en-US" sz="1500" b="1" dirty="0">
                <a:solidFill>
                  <a:srgbClr val="24313A"/>
                </a:solidFill>
                <a:latin typeface="Calibri" pitchFamily="34" charset="0"/>
                <a:ea typeface="Calibri" pitchFamily="34" charset="-122"/>
                <a:cs typeface="Calibri" pitchFamily="34" charset="-120"/>
              </a:rPr>
              <a:t>Since: </a:t>
            </a:r>
            <a:pPr indent="0" marL="0">
              <a:lnSpc>
                <a:spcPct val="104000"/>
              </a:lnSpc>
              <a:spcAft>
                <a:spcPts val="400"/>
              </a:spcAft>
              <a:buNone/>
            </a:pPr>
            <a:r>
              <a:rPr lang="en-US" sz="1500" dirty="0">
                <a:solidFill>
                  <a:srgbClr val="24313A"/>
                </a:solidFill>
                <a:latin typeface="Calibri" pitchFamily="34" charset="0"/>
                <a:ea typeface="Calibri" pitchFamily="34" charset="-122"/>
                <a:cs typeface="Calibri" pitchFamily="34" charset="-120"/>
              </a:rPr>
              <a:t>Evaluated in a randomised trial by REL Central (IES, 2017) with 77 teachers in 11 schools: small maths gain after year one (effect size 0.06, not sustained), no effect on reading or on new-teacher retention.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16 policies at a glance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48840"/>
                <a:gridCol w="5349240"/>
                <a:gridCol w="2011680"/>
                <a:gridCol w="1764792"/>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2022–2025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(银龄讲学计划),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Raising and then abolishing the earnings ceiling for retired teachers (Hinzuverdienstgrenze), 2022–2024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Japan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Abolition of the teacher licence renewal system (1 July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Regeling tegemoetkoming herintreders primair onderwijs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Decreto-Lei n.º 51/2024: contracting retired teachers for shortage areas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Skolverket web-based training for returning teachers and preschool teachers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PH Zürich ‘Wiedereinstieg’ re-entry programme for returning teachers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2026-09-17T14:17:09Z</dcterms:created>
  <dcterms:modified xsi:type="dcterms:W3CDTF">2026-09-17T14:17:09Z</dcterms:modified>
</cp:coreProperties>
</file>