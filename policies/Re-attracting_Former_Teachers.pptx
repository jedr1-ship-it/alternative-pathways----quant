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(laws, ministry and agency web pages) plus, where noted, institutional evaluations and reputable press. Each policy slide carries its main source link in the footer; secondary sources and verification notes are in the speaker notes of each slide. Direct HTTP access was not available in the build environment, so every URL was verified through search-engine indexing of the official pages on 17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follow the brief: three target groups (switchers, leavers, retired) and five instrument categories (financial incentives; information &amp; nudges; support &amp; training; flexible positions; flexible re-certification).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 Flexible re-certification — Target: Switchers, Leavers.
Sources: MEXT explanatory document on the abolition of the licence renewal system (licences valid on 1 July 2022, including dormant ones, become licences without expiry, no procedure needed) and Saitama Prefectural Board of Education 'paper teacher seminar' page. The counts of boards of education running paper-teacher programmes (50 in FY2023, 58 planned in FY2024, about 70%) are MEXT figures reported by AERA (press source); treat as indicative. MEXT archive on the former renewal system: https://www.mext.go.jp/a_menu/shotou/koushin/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4-1.png"/><Relationship Id="rId2" Type="http://schemas.openxmlformats.org/officeDocument/2006/relationships/image" Target="../media/image-4-2.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6-1.png"/><Relationship Id="rId2" Type="http://schemas.openxmlformats.org/officeDocument/2006/relationships/image" Target="../media/image-6-2.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mext.go.jp/content/20221028-mxt_kyoikujinzai02-000022570_3.pdf" TargetMode="External"/><Relationship Id="rId4" Type="http://schemas.openxmlformats.org/officeDocument/2006/relationships/hyperlink" Target="https://www.pref.saitama.lg.jp/f2213/paperteacher.html"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143000"/>
            <a:ext cx="10698480" cy="1097280"/>
          </a:xfrm>
          <a:prstGeom prst="rect">
            <a:avLst/>
          </a:prstGeom>
          <a:noFill/>
          <a:ln/>
        </p:spPr>
        <p:txBody>
          <a:bodyPr wrap="square" lIns="0" tIns="0" rIns="0" bIns="0" rtlCol="0" anchor="b"/>
          <a:lstStyle/>
          <a:p>
            <a:pPr indent="0" marL="0">
              <a:buNone/>
            </a:pPr>
            <a:r>
              <a:rPr lang="en-US" sz="4600" b="1" dirty="0">
                <a:solidFill>
                  <a:srgbClr val="FFFFFF"/>
                </a:solidFill>
                <a:latin typeface="Cambria" pitchFamily="34" charset="0"/>
                <a:ea typeface="Cambria" pitchFamily="34" charset="-122"/>
                <a:cs typeface="Cambria" pitchFamily="34" charset="-120"/>
              </a:rPr>
              <a:t>Re-attracting Former Teachers</a:t>
            </a:r>
            <a:endParaRPr lang="en-US" sz="4600" dirty="0"/>
          </a:p>
        </p:txBody>
      </p:sp>
      <p:sp>
        <p:nvSpPr>
          <p:cNvPr id="3" name="Text 1"/>
          <p:cNvSpPr txBox="1"/>
          <p:nvPr/>
        </p:nvSpPr>
        <p:spPr>
          <a:xfrm>
            <a:off x="731520" y="2331720"/>
            <a:ext cx="10698480" cy="640080"/>
          </a:xfrm>
          <a:prstGeom prst="rect">
            <a:avLst/>
          </a:prstGeom>
          <a:noFill/>
          <a:ln/>
        </p:spPr>
        <p:txBody>
          <a:bodyPr wrap="square" lIns="0" tIns="0" rIns="0" bIns="0" rtlCol="0" anchor="ctr"/>
          <a:lstStyle/>
          <a:p>
            <a:pPr indent="0" marL="0">
              <a:buNone/>
            </a:pPr>
            <a:r>
              <a:rPr lang="en-US" sz="2200" dirty="0">
                <a:solidFill>
                  <a:srgbClr val="CFE3D9"/>
                </a:solidFill>
                <a:latin typeface="Calibri" pitchFamily="34" charset="0"/>
                <a:ea typeface="Calibri" pitchFamily="34" charset="-122"/>
                <a:cs typeface="Calibri" pitchFamily="34" charset="-120"/>
              </a:rPr>
              <a:t>Policies that bring switchers, leavers and retired teachers back into education</a:t>
            </a:r>
            <a:endParaRPr lang="en-US" sz="2200" dirty="0"/>
          </a:p>
        </p:txBody>
      </p:sp>
      <p:sp>
        <p:nvSpPr>
          <p:cNvPr id="4" name="Text 2"/>
          <p:cNvSpPr txBox="1"/>
          <p:nvPr/>
        </p:nvSpPr>
        <p:spPr>
          <a:xfrm>
            <a:off x="731520" y="3063240"/>
            <a:ext cx="9601200" cy="8229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A comparative review of 16 verified policies from 13 countries, one policy per slide, classified by target group and main policy instrument.</a:t>
            </a:r>
            <a:endParaRPr lang="en-US" sz="1500" dirty="0"/>
          </a:p>
        </p:txBody>
      </p:sp>
      <p:sp>
        <p:nvSpPr>
          <p:cNvPr id="5" name="Text 3"/>
          <p:cNvSpPr txBox="1"/>
          <p:nvPr/>
        </p:nvSpPr>
        <p:spPr>
          <a:xfrm>
            <a:off x="731520" y="406908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Comparative education policy analysis  ·  September 2026</a:t>
            </a:r>
            <a:endParaRPr lang="en-US" sz="1300" dirty="0"/>
          </a:p>
        </p:txBody>
      </p:sp>
      <p:pic>
        <p:nvPicPr>
          <p:cNvPr id="6" name="Image 0" descr="preencoded.png">    </p:cNvPr>
          <p:cNvPicPr>
            <a:picLocks noChangeAspect="1"/>
          </p:cNvPicPr>
          <p:nvPr/>
        </p:nvPicPr>
        <p:blipFill>
          <a:blip r:embed="rId1"/>
          <a:stretch>
            <a:fillRect/>
          </a:stretch>
        </p:blipFill>
        <p:spPr>
          <a:xfrm>
            <a:off x="-26060" y="5074920"/>
            <a:ext cx="713232" cy="534924"/>
          </a:xfrm>
          <a:prstGeom prst="rect">
            <a:avLst/>
          </a:prstGeom>
        </p:spPr>
      </p:pic>
      <p:pic>
        <p:nvPicPr>
          <p:cNvPr id="7" name="Image 1" descr="preencoded.png">    </p:cNvPr>
          <p:cNvPicPr>
            <a:picLocks noChangeAspect="1"/>
          </p:cNvPicPr>
          <p:nvPr/>
        </p:nvPicPr>
        <p:blipFill>
          <a:blip r:embed="rId2"/>
          <a:stretch>
            <a:fillRect/>
          </a:stretch>
        </p:blipFill>
        <p:spPr>
          <a:xfrm>
            <a:off x="860908" y="5074920"/>
            <a:ext cx="713232" cy="534924"/>
          </a:xfrm>
          <a:prstGeom prst="rect">
            <a:avLst/>
          </a:prstGeom>
        </p:spPr>
      </p:pic>
      <p:pic>
        <p:nvPicPr>
          <p:cNvPr id="8" name="Image 2" descr="preencoded.png">    </p:cNvPr>
          <p:cNvPicPr>
            <a:picLocks noChangeAspect="1"/>
          </p:cNvPicPr>
          <p:nvPr/>
        </p:nvPicPr>
        <p:blipFill>
          <a:blip r:embed="rId3"/>
          <a:stretch>
            <a:fillRect/>
          </a:stretch>
        </p:blipFill>
        <p:spPr>
          <a:xfrm>
            <a:off x="1747876" y="5074920"/>
            <a:ext cx="713232" cy="534924"/>
          </a:xfrm>
          <a:prstGeom prst="rect">
            <a:avLst/>
          </a:prstGeom>
        </p:spPr>
      </p:pic>
      <p:pic>
        <p:nvPicPr>
          <p:cNvPr id="9" name="Image 3" descr="preencoded.png">    </p:cNvPr>
          <p:cNvPicPr>
            <a:picLocks noChangeAspect="1"/>
          </p:cNvPicPr>
          <p:nvPr/>
        </p:nvPicPr>
        <p:blipFill>
          <a:blip r:embed="rId4"/>
          <a:stretch>
            <a:fillRect/>
          </a:stretch>
        </p:blipFill>
        <p:spPr>
          <a:xfrm>
            <a:off x="2634844" y="5074920"/>
            <a:ext cx="713232" cy="534924"/>
          </a:xfrm>
          <a:prstGeom prst="rect">
            <a:avLst/>
          </a:prstGeom>
        </p:spPr>
      </p:pic>
      <p:pic>
        <p:nvPicPr>
          <p:cNvPr id="10" name="Image 4" descr="preencoded.png">    </p:cNvPr>
          <p:cNvPicPr>
            <a:picLocks noChangeAspect="1"/>
          </p:cNvPicPr>
          <p:nvPr/>
        </p:nvPicPr>
        <p:blipFill>
          <a:blip r:embed="rId5"/>
          <a:stretch>
            <a:fillRect/>
          </a:stretch>
        </p:blipFill>
        <p:spPr>
          <a:xfrm>
            <a:off x="3521812" y="5074920"/>
            <a:ext cx="713232" cy="534924"/>
          </a:xfrm>
          <a:prstGeom prst="rect">
            <a:avLst/>
          </a:prstGeom>
        </p:spPr>
      </p:pic>
      <p:pic>
        <p:nvPicPr>
          <p:cNvPr id="11" name="Image 5" descr="preencoded.png">    </p:cNvPr>
          <p:cNvPicPr>
            <a:picLocks noChangeAspect="1"/>
          </p:cNvPicPr>
          <p:nvPr/>
        </p:nvPicPr>
        <p:blipFill>
          <a:blip r:embed="rId6"/>
          <a:stretch>
            <a:fillRect/>
          </a:stretch>
        </p:blipFill>
        <p:spPr>
          <a:xfrm>
            <a:off x="4408780" y="5074920"/>
            <a:ext cx="713232" cy="534924"/>
          </a:xfrm>
          <a:prstGeom prst="rect">
            <a:avLst/>
          </a:prstGeom>
        </p:spPr>
      </p:pic>
      <p:pic>
        <p:nvPicPr>
          <p:cNvPr id="12" name="Image 6" descr="preencoded.png">    </p:cNvPr>
          <p:cNvPicPr>
            <a:picLocks noChangeAspect="1"/>
          </p:cNvPicPr>
          <p:nvPr/>
        </p:nvPicPr>
        <p:blipFill>
          <a:blip r:embed="rId7"/>
          <a:stretch>
            <a:fillRect/>
          </a:stretch>
        </p:blipFill>
        <p:spPr>
          <a:xfrm>
            <a:off x="5295748" y="5074920"/>
            <a:ext cx="713232" cy="534924"/>
          </a:xfrm>
          <a:prstGeom prst="rect">
            <a:avLst/>
          </a:prstGeom>
        </p:spPr>
      </p:pic>
      <p:pic>
        <p:nvPicPr>
          <p:cNvPr id="13" name="Image 7" descr="preencoded.png">    </p:cNvPr>
          <p:cNvPicPr>
            <a:picLocks noChangeAspect="1"/>
          </p:cNvPicPr>
          <p:nvPr/>
        </p:nvPicPr>
        <p:blipFill>
          <a:blip r:embed="rId8"/>
          <a:stretch>
            <a:fillRect/>
          </a:stretch>
        </p:blipFill>
        <p:spPr>
          <a:xfrm>
            <a:off x="6182716" y="5074920"/>
            <a:ext cx="713232" cy="534924"/>
          </a:xfrm>
          <a:prstGeom prst="rect">
            <a:avLst/>
          </a:prstGeom>
        </p:spPr>
      </p:pic>
      <p:pic>
        <p:nvPicPr>
          <p:cNvPr id="14" name="Image 8" descr="preencoded.png">    </p:cNvPr>
          <p:cNvPicPr>
            <a:picLocks noChangeAspect="1"/>
          </p:cNvPicPr>
          <p:nvPr/>
        </p:nvPicPr>
        <p:blipFill>
          <a:blip r:embed="rId9"/>
          <a:stretch>
            <a:fillRect/>
          </a:stretch>
        </p:blipFill>
        <p:spPr>
          <a:xfrm>
            <a:off x="7069684" y="5074920"/>
            <a:ext cx="713232" cy="534924"/>
          </a:xfrm>
          <a:prstGeom prst="rect">
            <a:avLst/>
          </a:prstGeom>
        </p:spPr>
      </p:pic>
      <p:pic>
        <p:nvPicPr>
          <p:cNvPr id="15" name="Image 9" descr="preencoded.png">    </p:cNvPr>
          <p:cNvPicPr>
            <a:picLocks noChangeAspect="1"/>
          </p:cNvPicPr>
          <p:nvPr/>
        </p:nvPicPr>
        <p:blipFill>
          <a:blip r:embed="rId10"/>
          <a:stretch>
            <a:fillRect/>
          </a:stretch>
        </p:blipFill>
        <p:spPr>
          <a:xfrm>
            <a:off x="7956652" y="5074920"/>
            <a:ext cx="713232" cy="534924"/>
          </a:xfrm>
          <a:prstGeom prst="rect">
            <a:avLst/>
          </a:prstGeom>
        </p:spPr>
      </p:pic>
      <p:pic>
        <p:nvPicPr>
          <p:cNvPr id="16" name="Image 10" descr="preencoded.png">    </p:cNvPr>
          <p:cNvPicPr>
            <a:picLocks noChangeAspect="1"/>
          </p:cNvPicPr>
          <p:nvPr/>
        </p:nvPicPr>
        <p:blipFill>
          <a:blip r:embed="rId11"/>
          <a:stretch>
            <a:fillRect/>
          </a:stretch>
        </p:blipFill>
        <p:spPr>
          <a:xfrm>
            <a:off x="8843620" y="5074920"/>
            <a:ext cx="713232" cy="534924"/>
          </a:xfrm>
          <a:prstGeom prst="rect">
            <a:avLst/>
          </a:prstGeom>
        </p:spPr>
      </p:pic>
      <p:pic>
        <p:nvPicPr>
          <p:cNvPr id="17" name="Image 11" descr="preencoded.png">    </p:cNvPr>
          <p:cNvPicPr>
            <a:picLocks noChangeAspect="1"/>
          </p:cNvPicPr>
          <p:nvPr/>
        </p:nvPicPr>
        <p:blipFill>
          <a:blip r:embed="rId12"/>
          <a:stretch>
            <a:fillRect/>
          </a:stretch>
        </p:blipFill>
        <p:spPr>
          <a:xfrm>
            <a:off x="9730588" y="5074920"/>
            <a:ext cx="713232" cy="534924"/>
          </a:xfrm>
          <a:prstGeom prst="rect">
            <a:avLst/>
          </a:prstGeom>
        </p:spPr>
      </p:pic>
      <p:pic>
        <p:nvPicPr>
          <p:cNvPr id="18" name="Image 12" descr="preencoded.png">    </p:cNvPr>
          <p:cNvPicPr>
            <a:picLocks noChangeAspect="1"/>
          </p:cNvPicPr>
          <p:nvPr/>
        </p:nvPicPr>
        <p:blipFill>
          <a:blip r:embed="rId13"/>
          <a:stretch>
            <a:fillRect/>
          </a:stretch>
        </p:blipFill>
        <p:spPr>
          <a:xfrm>
            <a:off x="10617556" y="5074920"/>
            <a:ext cx="713232" cy="534924"/>
          </a:xfrm>
          <a:prstGeom prst="rect">
            <a:avLst/>
          </a:prstGeom>
        </p:spPr>
      </p:pic>
      <p:pic>
        <p:nvPicPr>
          <p:cNvPr id="19" name="Image 13" descr="preencoded.png">    </p:cNvPr>
          <p:cNvPicPr>
            <a:picLocks noChangeAspect="1"/>
          </p:cNvPicPr>
          <p:nvPr/>
        </p:nvPicPr>
        <p:blipFill>
          <a:blip r:embed="rId14"/>
          <a:stretch>
            <a:fillRect/>
          </a:stretch>
        </p:blipFill>
        <p:spPr>
          <a:xfrm>
            <a:off x="11504524" y="5074920"/>
            <a:ext cx="713232" cy="5349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7315200" cy="59436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Definitions</a:t>
            </a:r>
            <a:endParaRPr lang="en-US" sz="3200" dirty="0"/>
          </a:p>
        </p:txBody>
      </p:sp>
      <p:sp>
        <p:nvSpPr>
          <p:cNvPr id="3" name="Text 1"/>
          <p:cNvSpPr txBox="1"/>
          <p:nvPr/>
        </p:nvSpPr>
        <p:spPr>
          <a:xfrm>
            <a:off x="457200" y="914400"/>
            <a:ext cx="11247120" cy="365760"/>
          </a:xfrm>
          <a:prstGeom prst="rect">
            <a:avLst/>
          </a:prstGeom>
          <a:noFill/>
          <a:ln/>
        </p:spPr>
        <p:txBody>
          <a:bodyPr wrap="square" lIns="0" tIns="0" rIns="0" bIns="0" rtlCol="0" anchor="ctr"/>
          <a:lstStyle/>
          <a:p>
            <a:pPr indent="0" marL="0">
              <a:buNone/>
            </a:pPr>
            <a:r>
              <a:rPr lang="en-US" sz="1300" dirty="0">
                <a:solidFill>
                  <a:srgbClr val="B3542E"/>
                </a:solidFill>
                <a:latin typeface="Calibri" pitchFamily="34" charset="0"/>
                <a:ea typeface="Calibri" pitchFamily="34" charset="-122"/>
                <a:cs typeface="Calibri" pitchFamily="34" charset="-120"/>
              </a:rPr>
              <a:t>Who counts as a former teacher, what counts as re-attracting them, and the five instrument categories used to classify each policy</a:t>
            </a:r>
            <a:endParaRPr lang="en-US" sz="1300" dirty="0"/>
          </a:p>
        </p:txBody>
      </p:sp>
      <p:sp>
        <p:nvSpPr>
          <p:cNvPr id="4" name="Shape 2"/>
          <p:cNvSpPr/>
          <p:nvPr/>
        </p:nvSpPr>
        <p:spPr>
          <a:xfrm>
            <a:off x="457200" y="1417320"/>
            <a:ext cx="4160520" cy="4892040"/>
          </a:xfrm>
          <a:prstGeom prst="roundRect">
            <a:avLst>
              <a:gd name="adj" fmla="val 2637"/>
            </a:avLst>
          </a:prstGeom>
          <a:solidFill>
            <a:srgbClr val="EAF2EE"/>
          </a:solidFill>
          <a:ln w="12700">
            <a:solidFill>
              <a:srgbClr val="EAF2EE"/>
            </a:solidFill>
            <a:prstDash val="solid"/>
          </a:ln>
        </p:spPr>
      </p:sp>
      <p:sp>
        <p:nvSpPr>
          <p:cNvPr id="5" name="Text 3"/>
          <p:cNvSpPr txBox="1"/>
          <p:nvPr/>
        </p:nvSpPr>
        <p:spPr>
          <a:xfrm>
            <a:off x="685800" y="1572768"/>
            <a:ext cx="37490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Target population: former teachers</a:t>
            </a:r>
            <a:endParaRPr lang="en-US" sz="1500" dirty="0"/>
          </a:p>
        </p:txBody>
      </p:sp>
      <p:sp>
        <p:nvSpPr>
          <p:cNvPr id="6" name="Shape 4"/>
          <p:cNvSpPr/>
          <p:nvPr/>
        </p:nvSpPr>
        <p:spPr>
          <a:xfrm>
            <a:off x="713232" y="2139696"/>
            <a:ext cx="502920" cy="502920"/>
          </a:xfrm>
          <a:prstGeom prst="ellipse">
            <a:avLst/>
          </a:prstGeom>
          <a:solidFill>
            <a:srgbClr val="1F4E46"/>
          </a:solidFill>
          <a:ln w="12700">
            <a:solidFill>
              <a:srgbClr val="1F4E46"/>
            </a:solidFill>
            <a:prstDash val="solid"/>
          </a:ln>
        </p:spPr>
      </p:sp>
      <p:pic>
        <p:nvPicPr>
          <p:cNvPr id="7" name="Image 0" descr="preencoded.png">    </p:cNvPr>
          <p:cNvPicPr>
            <a:picLocks noChangeAspect="1"/>
          </p:cNvPicPr>
          <p:nvPr/>
        </p:nvPicPr>
        <p:blipFill>
          <a:blip r:embed="rId1"/>
          <a:stretch>
            <a:fillRect/>
          </a:stretch>
        </p:blipFill>
        <p:spPr>
          <a:xfrm>
            <a:off x="833933" y="2260397"/>
            <a:ext cx="261518" cy="261518"/>
          </a:xfrm>
          <a:prstGeom prst="rect">
            <a:avLst/>
          </a:prstGeom>
        </p:spPr>
      </p:pic>
      <p:sp>
        <p:nvSpPr>
          <p:cNvPr id="8" name="Text 5"/>
          <p:cNvSpPr txBox="1"/>
          <p:nvPr/>
        </p:nvSpPr>
        <p:spPr>
          <a:xfrm>
            <a:off x="1371600" y="2103120"/>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(a) Switchers</a:t>
            </a:r>
            <a:endParaRPr lang="en-US" sz="1300" dirty="0"/>
          </a:p>
        </p:txBody>
      </p:sp>
      <p:sp>
        <p:nvSpPr>
          <p:cNvPr id="9" name="Text 6"/>
          <p:cNvSpPr txBox="1"/>
          <p:nvPr/>
        </p:nvSpPr>
        <p:spPr>
          <a:xfrm>
            <a:off x="1371600" y="2395728"/>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to work in another sector.</a:t>
            </a:r>
            <a:endParaRPr lang="en-US" sz="1150" dirty="0"/>
          </a:p>
        </p:txBody>
      </p:sp>
      <p:sp>
        <p:nvSpPr>
          <p:cNvPr id="10" name="Shape 7"/>
          <p:cNvSpPr/>
          <p:nvPr/>
        </p:nvSpPr>
        <p:spPr>
          <a:xfrm>
            <a:off x="713232" y="3072384"/>
            <a:ext cx="502920" cy="50292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833933" y="3193085"/>
            <a:ext cx="261518" cy="261518"/>
          </a:xfrm>
          <a:prstGeom prst="rect">
            <a:avLst/>
          </a:prstGeom>
        </p:spPr>
      </p:pic>
      <p:sp>
        <p:nvSpPr>
          <p:cNvPr id="12" name="Text 8"/>
          <p:cNvSpPr txBox="1"/>
          <p:nvPr/>
        </p:nvSpPr>
        <p:spPr>
          <a:xfrm>
            <a:off x="1371600" y="3035808"/>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(b) Leavers</a:t>
            </a:r>
            <a:endParaRPr lang="en-US" sz="1300" dirty="0"/>
          </a:p>
        </p:txBody>
      </p:sp>
      <p:sp>
        <p:nvSpPr>
          <p:cNvPr id="13" name="Text 9"/>
          <p:cNvSpPr txBox="1"/>
          <p:nvPr/>
        </p:nvSpPr>
        <p:spPr>
          <a:xfrm>
            <a:off x="1371600" y="3328416"/>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150" dirty="0"/>
          </a:p>
        </p:txBody>
      </p:sp>
      <p:sp>
        <p:nvSpPr>
          <p:cNvPr id="14" name="Shape 10"/>
          <p:cNvSpPr/>
          <p:nvPr/>
        </p:nvSpPr>
        <p:spPr>
          <a:xfrm>
            <a:off x="713232" y="4005072"/>
            <a:ext cx="502920" cy="502920"/>
          </a:xfrm>
          <a:prstGeom prst="ellipse">
            <a:avLst/>
          </a:prstGeom>
          <a:solidFill>
            <a:srgbClr val="1F4E46"/>
          </a:solidFill>
          <a:ln w="12700">
            <a:solidFill>
              <a:srgbClr val="1F4E46"/>
            </a:solidFill>
            <a:prstDash val="solid"/>
          </a:ln>
        </p:spPr>
      </p:sp>
      <p:pic>
        <p:nvPicPr>
          <p:cNvPr id="15" name="Image 2" descr="preencoded.png">    </p:cNvPr>
          <p:cNvPicPr>
            <a:picLocks noChangeAspect="1"/>
          </p:cNvPicPr>
          <p:nvPr/>
        </p:nvPicPr>
        <p:blipFill>
          <a:blip r:embed="rId3"/>
          <a:stretch>
            <a:fillRect/>
          </a:stretch>
        </p:blipFill>
        <p:spPr>
          <a:xfrm>
            <a:off x="833933" y="4125773"/>
            <a:ext cx="261518" cy="261518"/>
          </a:xfrm>
          <a:prstGeom prst="rect">
            <a:avLst/>
          </a:prstGeom>
        </p:spPr>
      </p:pic>
      <p:sp>
        <p:nvSpPr>
          <p:cNvPr id="16" name="Text 11"/>
          <p:cNvSpPr txBox="1"/>
          <p:nvPr/>
        </p:nvSpPr>
        <p:spPr>
          <a:xfrm>
            <a:off x="1371600" y="3968496"/>
            <a:ext cx="3108960" cy="292608"/>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(c) Retired</a:t>
            </a:r>
            <a:endParaRPr lang="en-US" sz="1300" dirty="0"/>
          </a:p>
        </p:txBody>
      </p:sp>
      <p:sp>
        <p:nvSpPr>
          <p:cNvPr id="17" name="Text 12"/>
          <p:cNvSpPr txBox="1"/>
          <p:nvPr/>
        </p:nvSpPr>
        <p:spPr>
          <a:xfrm>
            <a:off x="1371600" y="4261104"/>
            <a:ext cx="3108960" cy="548640"/>
          </a:xfrm>
          <a:prstGeom prst="rect">
            <a:avLst/>
          </a:prstGeom>
          <a:noFill/>
          <a:ln/>
        </p:spPr>
        <p:txBody>
          <a:bodyPr wrap="square" lIns="0" tIns="0" rIns="0" bIns="0" rtlCol="0" anchor="t"/>
          <a:lstStyle/>
          <a:p>
            <a:pPr indent="0" marL="0">
              <a:buNone/>
            </a:pPr>
            <a:r>
              <a:rPr lang="en-US" sz="1150" dirty="0">
                <a:solidFill>
                  <a:srgbClr val="24313A"/>
                </a:solidFill>
                <a:latin typeface="Calibri" pitchFamily="34" charset="0"/>
                <a:ea typeface="Calibri" pitchFamily="34" charset="-122"/>
                <a:cs typeface="Calibri" pitchFamily="34" charset="-120"/>
              </a:rPr>
              <a:t>Retired from teaching.</a:t>
            </a:r>
            <a:endParaRPr lang="en-US" sz="1150" dirty="0"/>
          </a:p>
        </p:txBody>
      </p:sp>
      <p:sp>
        <p:nvSpPr>
          <p:cNvPr id="18" name="Text 13"/>
          <p:cNvSpPr txBox="1"/>
          <p:nvPr/>
        </p:nvSpPr>
        <p:spPr>
          <a:xfrm>
            <a:off x="685800" y="4937760"/>
            <a:ext cx="3749040" cy="1234440"/>
          </a:xfrm>
          <a:prstGeom prst="rect">
            <a:avLst/>
          </a:prstGeom>
          <a:noFill/>
          <a:ln/>
        </p:spPr>
        <p:txBody>
          <a:bodyPr wrap="square" lIns="0" tIns="0" rIns="0" bIns="0" rtlCol="0" anchor="t"/>
          <a:lstStyle/>
          <a:p>
            <a:pPr indent="0" marL="0">
              <a:buNone/>
            </a:pPr>
            <a:r>
              <a:rPr lang="en-US" sz="1150" b="1" dirty="0">
                <a:solidFill>
                  <a:srgbClr val="24313A"/>
                </a:solidFill>
                <a:latin typeface="Calibri" pitchFamily="34" charset="0"/>
                <a:ea typeface="Calibri" pitchFamily="34" charset="-122"/>
                <a:cs typeface="Calibri" pitchFamily="34" charset="-120"/>
              </a:rPr>
              <a:t>A policy may target one group or several. </a:t>
            </a:r>
            <a:pPr indent="0" marL="0">
              <a:buNone/>
            </a:pPr>
            <a:r>
              <a:rPr lang="en-US" sz="1150" dirty="0">
                <a:solidFill>
                  <a:srgbClr val="24313A"/>
                </a:solidFill>
                <a:latin typeface="Calibri" pitchFamily="34" charset="0"/>
                <a:ea typeface="Calibri" pitchFamily="34" charset="-122"/>
                <a:cs typeface="Calibri" pitchFamily="34" charset="-120"/>
              </a:rPr>
              <a:t>“Re-attract” means any return to the education system: full-time teaching first of all, but also flexible roles such as tutor, mentor, substitute or classroom support.</a:t>
            </a:r>
            <a:endParaRPr lang="en-US" sz="1150" dirty="0"/>
          </a:p>
        </p:txBody>
      </p:sp>
      <p:sp>
        <p:nvSpPr>
          <p:cNvPr id="19" name="Shape 14"/>
          <p:cNvSpPr/>
          <p:nvPr/>
        </p:nvSpPr>
        <p:spPr>
          <a:xfrm>
            <a:off x="4846320" y="1417320"/>
            <a:ext cx="6885432" cy="4892040"/>
          </a:xfrm>
          <a:prstGeom prst="roundRect">
            <a:avLst>
              <a:gd name="adj" fmla="val 2243"/>
            </a:avLst>
          </a:prstGeom>
          <a:solidFill>
            <a:srgbClr val="EAF2EE"/>
          </a:solidFill>
          <a:ln w="12700">
            <a:solidFill>
              <a:srgbClr val="EAF2EE"/>
            </a:solidFill>
            <a:prstDash val="solid"/>
          </a:ln>
        </p:spPr>
      </p:sp>
      <p:sp>
        <p:nvSpPr>
          <p:cNvPr id="20" name="Text 15"/>
          <p:cNvSpPr txBox="1"/>
          <p:nvPr/>
        </p:nvSpPr>
        <p:spPr>
          <a:xfrm>
            <a:off x="5074920" y="1572768"/>
            <a:ext cx="6492240" cy="365760"/>
          </a:xfrm>
          <a:prstGeom prst="rect">
            <a:avLst/>
          </a:prstGeom>
          <a:noFill/>
          <a:ln/>
        </p:spPr>
        <p:txBody>
          <a:bodyPr wrap="square" lIns="0" tIns="0" rIns="0" bIns="0" rtlCol="0" anchor="ctr"/>
          <a:lstStyle/>
          <a:p>
            <a:pPr indent="0" marL="0">
              <a:buNone/>
            </a:pPr>
            <a:r>
              <a:rPr lang="en-US" sz="1500" b="1" dirty="0">
                <a:solidFill>
                  <a:srgbClr val="24313A"/>
                </a:solidFill>
                <a:latin typeface="Calibri" pitchFamily="34" charset="0"/>
                <a:ea typeface="Calibri" pitchFamily="34" charset="-122"/>
                <a:cs typeface="Calibri" pitchFamily="34" charset="-120"/>
              </a:rPr>
              <a:t>Five instrument categories (each policy is classified by its main instrument; secondary instruments are noted)</a:t>
            </a:r>
            <a:endParaRPr lang="en-US" sz="1500" dirty="0"/>
          </a:p>
        </p:txBody>
      </p:sp>
      <p:sp>
        <p:nvSpPr>
          <p:cNvPr id="21" name="Shape 16"/>
          <p:cNvSpPr/>
          <p:nvPr/>
        </p:nvSpPr>
        <p:spPr>
          <a:xfrm>
            <a:off x="5102352" y="2139696"/>
            <a:ext cx="502920" cy="502920"/>
          </a:xfrm>
          <a:prstGeom prst="ellipse">
            <a:avLst/>
          </a:prstGeom>
          <a:solidFill>
            <a:srgbClr val="1F4E46"/>
          </a:solidFill>
          <a:ln w="12700">
            <a:solidFill>
              <a:srgbClr val="1F4E46"/>
            </a:solidFill>
            <a:prstDash val="solid"/>
          </a:ln>
        </p:spPr>
      </p:sp>
      <p:pic>
        <p:nvPicPr>
          <p:cNvPr id="22" name="Image 3" descr="preencoded.png">    </p:cNvPr>
          <p:cNvPicPr>
            <a:picLocks noChangeAspect="1"/>
          </p:cNvPicPr>
          <p:nvPr/>
        </p:nvPicPr>
        <p:blipFill>
          <a:blip r:embed="rId4"/>
          <a:stretch>
            <a:fillRect/>
          </a:stretch>
        </p:blipFill>
        <p:spPr>
          <a:xfrm>
            <a:off x="5223053" y="2260397"/>
            <a:ext cx="261518" cy="261518"/>
          </a:xfrm>
          <a:prstGeom prst="rect">
            <a:avLst/>
          </a:prstGeom>
        </p:spPr>
      </p:pic>
      <p:sp>
        <p:nvSpPr>
          <p:cNvPr id="23" name="Text 17"/>
          <p:cNvSpPr txBox="1"/>
          <p:nvPr/>
        </p:nvSpPr>
        <p:spPr>
          <a:xfrm>
            <a:off x="5760720" y="210312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Financial incentives</a:t>
            </a:r>
            <a:endParaRPr lang="en-US" sz="1300" dirty="0"/>
          </a:p>
        </p:txBody>
      </p:sp>
      <p:sp>
        <p:nvSpPr>
          <p:cNvPr id="24" name="Text 18"/>
          <p:cNvSpPr txBox="1"/>
          <p:nvPr/>
        </p:nvSpPr>
        <p:spPr>
          <a:xfrm>
            <a:off x="5760720" y="237744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100" dirty="0"/>
          </a:p>
        </p:txBody>
      </p:sp>
      <p:sp>
        <p:nvSpPr>
          <p:cNvPr id="25" name="Shape 19"/>
          <p:cNvSpPr/>
          <p:nvPr/>
        </p:nvSpPr>
        <p:spPr>
          <a:xfrm>
            <a:off x="5102352" y="2962656"/>
            <a:ext cx="502920" cy="502920"/>
          </a:xfrm>
          <a:prstGeom prst="ellipse">
            <a:avLst/>
          </a:prstGeom>
          <a:solidFill>
            <a:srgbClr val="1F4E46"/>
          </a:solidFill>
          <a:ln w="12700">
            <a:solidFill>
              <a:srgbClr val="1F4E46"/>
            </a:solidFill>
            <a:prstDash val="solid"/>
          </a:ln>
        </p:spPr>
      </p:sp>
      <p:pic>
        <p:nvPicPr>
          <p:cNvPr id="26" name="Image 4" descr="preencoded.png">    </p:cNvPr>
          <p:cNvPicPr>
            <a:picLocks noChangeAspect="1"/>
          </p:cNvPicPr>
          <p:nvPr/>
        </p:nvPicPr>
        <p:blipFill>
          <a:blip r:embed="rId5"/>
          <a:stretch>
            <a:fillRect/>
          </a:stretch>
        </p:blipFill>
        <p:spPr>
          <a:xfrm>
            <a:off x="5223053" y="3083357"/>
            <a:ext cx="261518" cy="261518"/>
          </a:xfrm>
          <a:prstGeom prst="rect">
            <a:avLst/>
          </a:prstGeom>
        </p:spPr>
      </p:pic>
      <p:sp>
        <p:nvSpPr>
          <p:cNvPr id="27" name="Text 20"/>
          <p:cNvSpPr txBox="1"/>
          <p:nvPr/>
        </p:nvSpPr>
        <p:spPr>
          <a:xfrm>
            <a:off x="5760720" y="292608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Information &amp; nudges</a:t>
            </a:r>
            <a:endParaRPr lang="en-US" sz="1300" dirty="0"/>
          </a:p>
        </p:txBody>
      </p:sp>
      <p:sp>
        <p:nvSpPr>
          <p:cNvPr id="28" name="Text 21"/>
          <p:cNvSpPr txBox="1"/>
          <p:nvPr/>
        </p:nvSpPr>
        <p:spPr>
          <a:xfrm>
            <a:off x="5760720" y="320040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100" dirty="0"/>
          </a:p>
        </p:txBody>
      </p:sp>
      <p:sp>
        <p:nvSpPr>
          <p:cNvPr id="29" name="Shape 22"/>
          <p:cNvSpPr/>
          <p:nvPr/>
        </p:nvSpPr>
        <p:spPr>
          <a:xfrm>
            <a:off x="5102352" y="3785616"/>
            <a:ext cx="502920" cy="502920"/>
          </a:xfrm>
          <a:prstGeom prst="ellipse">
            <a:avLst/>
          </a:prstGeom>
          <a:solidFill>
            <a:srgbClr val="1F4E46"/>
          </a:solidFill>
          <a:ln w="12700">
            <a:solidFill>
              <a:srgbClr val="1F4E46"/>
            </a:solidFill>
            <a:prstDash val="solid"/>
          </a:ln>
        </p:spPr>
      </p:sp>
      <p:pic>
        <p:nvPicPr>
          <p:cNvPr id="30" name="Image 5" descr="preencoded.png">    </p:cNvPr>
          <p:cNvPicPr>
            <a:picLocks noChangeAspect="1"/>
          </p:cNvPicPr>
          <p:nvPr/>
        </p:nvPicPr>
        <p:blipFill>
          <a:blip r:embed="rId6"/>
          <a:stretch>
            <a:fillRect/>
          </a:stretch>
        </p:blipFill>
        <p:spPr>
          <a:xfrm>
            <a:off x="5223053" y="3906317"/>
            <a:ext cx="261518" cy="261518"/>
          </a:xfrm>
          <a:prstGeom prst="rect">
            <a:avLst/>
          </a:prstGeom>
        </p:spPr>
      </p:pic>
      <p:sp>
        <p:nvSpPr>
          <p:cNvPr id="31" name="Text 23"/>
          <p:cNvSpPr txBox="1"/>
          <p:nvPr/>
        </p:nvSpPr>
        <p:spPr>
          <a:xfrm>
            <a:off x="5760720" y="374904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Support &amp; training</a:t>
            </a:r>
            <a:endParaRPr lang="en-US" sz="1300" dirty="0"/>
          </a:p>
        </p:txBody>
      </p:sp>
      <p:sp>
        <p:nvSpPr>
          <p:cNvPr id="32" name="Text 24"/>
          <p:cNvSpPr txBox="1"/>
          <p:nvPr/>
        </p:nvSpPr>
        <p:spPr>
          <a:xfrm>
            <a:off x="5760720" y="402336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100" dirty="0"/>
          </a:p>
        </p:txBody>
      </p:sp>
      <p:sp>
        <p:nvSpPr>
          <p:cNvPr id="33" name="Shape 25"/>
          <p:cNvSpPr/>
          <p:nvPr/>
        </p:nvSpPr>
        <p:spPr>
          <a:xfrm>
            <a:off x="5102352" y="4608576"/>
            <a:ext cx="502920" cy="502920"/>
          </a:xfrm>
          <a:prstGeom prst="ellipse">
            <a:avLst/>
          </a:prstGeom>
          <a:solidFill>
            <a:srgbClr val="1F4E46"/>
          </a:solidFill>
          <a:ln w="12700">
            <a:solidFill>
              <a:srgbClr val="1F4E46"/>
            </a:solidFill>
            <a:prstDash val="solid"/>
          </a:ln>
        </p:spPr>
      </p:sp>
      <p:pic>
        <p:nvPicPr>
          <p:cNvPr id="34" name="Image 6" descr="preencoded.png">    </p:cNvPr>
          <p:cNvPicPr>
            <a:picLocks noChangeAspect="1"/>
          </p:cNvPicPr>
          <p:nvPr/>
        </p:nvPicPr>
        <p:blipFill>
          <a:blip r:embed="rId7"/>
          <a:stretch>
            <a:fillRect/>
          </a:stretch>
        </p:blipFill>
        <p:spPr>
          <a:xfrm>
            <a:off x="5223053" y="4729277"/>
            <a:ext cx="261518" cy="261518"/>
          </a:xfrm>
          <a:prstGeom prst="rect">
            <a:avLst/>
          </a:prstGeom>
        </p:spPr>
      </p:pic>
      <p:sp>
        <p:nvSpPr>
          <p:cNvPr id="35" name="Text 26"/>
          <p:cNvSpPr txBox="1"/>
          <p:nvPr/>
        </p:nvSpPr>
        <p:spPr>
          <a:xfrm>
            <a:off x="5760720" y="457200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positions</a:t>
            </a:r>
            <a:endParaRPr lang="en-US" sz="1300" dirty="0"/>
          </a:p>
        </p:txBody>
      </p:sp>
      <p:sp>
        <p:nvSpPr>
          <p:cNvPr id="36" name="Text 27"/>
          <p:cNvSpPr txBox="1"/>
          <p:nvPr/>
        </p:nvSpPr>
        <p:spPr>
          <a:xfrm>
            <a:off x="5760720" y="484632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100" dirty="0"/>
          </a:p>
        </p:txBody>
      </p:sp>
      <p:sp>
        <p:nvSpPr>
          <p:cNvPr id="37" name="Shape 28"/>
          <p:cNvSpPr/>
          <p:nvPr/>
        </p:nvSpPr>
        <p:spPr>
          <a:xfrm>
            <a:off x="5102352" y="5431536"/>
            <a:ext cx="502920" cy="502920"/>
          </a:xfrm>
          <a:prstGeom prst="ellipse">
            <a:avLst/>
          </a:prstGeom>
          <a:solidFill>
            <a:srgbClr val="1F4E46"/>
          </a:solidFill>
          <a:ln w="12700">
            <a:solidFill>
              <a:srgbClr val="1F4E46"/>
            </a:solidFill>
            <a:prstDash val="solid"/>
          </a:ln>
        </p:spPr>
      </p:sp>
      <p:pic>
        <p:nvPicPr>
          <p:cNvPr id="38" name="Image 7" descr="preencoded.png">    </p:cNvPr>
          <p:cNvPicPr>
            <a:picLocks noChangeAspect="1"/>
          </p:cNvPicPr>
          <p:nvPr/>
        </p:nvPicPr>
        <p:blipFill>
          <a:blip r:embed="rId8"/>
          <a:stretch>
            <a:fillRect/>
          </a:stretch>
        </p:blipFill>
        <p:spPr>
          <a:xfrm>
            <a:off x="5223053" y="5552237"/>
            <a:ext cx="261518" cy="261518"/>
          </a:xfrm>
          <a:prstGeom prst="rect">
            <a:avLst/>
          </a:prstGeom>
        </p:spPr>
      </p:pic>
      <p:sp>
        <p:nvSpPr>
          <p:cNvPr id="39" name="Text 29"/>
          <p:cNvSpPr txBox="1"/>
          <p:nvPr/>
        </p:nvSpPr>
        <p:spPr>
          <a:xfrm>
            <a:off x="5760720" y="5394960"/>
            <a:ext cx="5806440" cy="274320"/>
          </a:xfrm>
          <a:prstGeom prst="rect">
            <a:avLst/>
          </a:prstGeom>
          <a:noFill/>
          <a:ln/>
        </p:spPr>
        <p:txBody>
          <a:bodyPr wrap="square" lIns="0" tIns="0" rIns="0" bIns="0" rtlCol="0" anchor="ctr"/>
          <a:lstStyle/>
          <a:p>
            <a:pPr indent="0" marL="0">
              <a:buNone/>
            </a:pPr>
            <a:r>
              <a:rPr lang="en-US" sz="1300" b="1" dirty="0">
                <a:solidFill>
                  <a:srgbClr val="24313A"/>
                </a:solidFill>
                <a:latin typeface="Calibri" pitchFamily="34" charset="0"/>
                <a:ea typeface="Calibri" pitchFamily="34" charset="-122"/>
                <a:cs typeface="Calibri" pitchFamily="34" charset="-120"/>
              </a:rPr>
              <a:t>Flexible re-certification</a:t>
            </a:r>
            <a:endParaRPr lang="en-US" sz="1300" dirty="0"/>
          </a:p>
        </p:txBody>
      </p:sp>
      <p:sp>
        <p:nvSpPr>
          <p:cNvPr id="40" name="Text 30"/>
          <p:cNvSpPr txBox="1"/>
          <p:nvPr/>
        </p:nvSpPr>
        <p:spPr>
          <a:xfrm>
            <a:off x="5760720" y="5669280"/>
            <a:ext cx="5806440" cy="530352"/>
          </a:xfrm>
          <a:prstGeom prst="rect">
            <a:avLst/>
          </a:prstGeom>
          <a:noFill/>
          <a:ln/>
        </p:spPr>
        <p:txBody>
          <a:bodyPr wrap="square" lIns="0" tIns="0" rIns="0" bIns="0" rtlCol="0" anchor="t"/>
          <a:lstStyle/>
          <a:p>
            <a:pPr indent="0" marL="0">
              <a:buNone/>
            </a:pPr>
            <a:r>
              <a:rPr lang="en-US" sz="11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100" dirty="0"/>
          </a:p>
        </p:txBody>
      </p:sp>
      <p:sp>
        <p:nvSpPr>
          <p:cNvPr id="41" name="Text 3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2022–2025</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Victorian Department of Education scheme for qualified teachers who have been out of a fixed-term or ongoing teaching role for 12+ months, including retirees and people on career breaks. A re-engagement team contacts each registrant, then offers a funded placement of up to 40 days in a government school (classroom observation, teaching activities, mentoring by current staff) plus free professional development and one-to-one employability coaching. Returners from retirement or career breaks receive an honorarium of up to AUD 12,000 for a 40-day placement.</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Launched late 2022; 1,100+ expressions of interest</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AUD 12m in the 2023/24 State Budget; placements to 30 Jun 2025</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Financial incentives · Information &amp; nudges</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Retired teachers with a teaching authorisation who return to Quebec public schools are paid on the salary scale they had at retirement from their first day of substitute teaching (up to about CAD 412 a day instead of the usual CAD 212 rate), with no penalty on their pension. Introduced on 21 September 2020 during the pandemic, it drew 700 retirees back in 2020–21 and was made permanent. In August 2023 the Minister of Education wrote to all retired teachers inviting them back: over 5,000 had worked in schools the previous year, mostly as substitutes or part-time, and the top daily incentive rose to CAD 578.</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Since 21 Sep 2020 (permanent); letter campaign Aug 2023</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700 returners in 2020–21; 5,000+ retirees in 2022–23</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Information &amp; nudges · Flexible positions</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(银龄讲学计划), 2018–</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Joint Ministry of Education and Ministry of Finance programme recruiting retired principals, teaching-research staff and senior or ‘special-grade’ teachers, generally aged 65 or under, to serve at least one school year in rural compulsory-education schools in poor and remote counties, where they teach, coach young teachers and advise on school management. Retirees keep their pension and receive a central-government allowance of CNY 20,000 a year (compulsory-education level) covering a stipend, travel and accident insurance. The 2018 plan targeted 10,000 recruits for 2018–2020; the 2024 round recruited 7,000.</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Since 2018; expanded by the 2023 National Silver-Age Teachers Action Plan</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Target 10,000 recruits (2018–20); 7,000 recruited in 2024</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Financial incentives</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Raising and then abolishing the earnings ceiling for retired teachers (Hinzuverdienstgrenze), 2022–2024</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Under Lower Saxony's civil-service pension rules, retired teachers who teach again lose pension once pay plus pension exceed an earnings ceiling. The 2022 ‘Lehrkräfte-Gewinnungspaket’ raised that ceiling from 125% to 150% of pensionable pay from 1 October 2022 (it had already risen from 100% to 125% in 2019), so pensioners can teach about 9–10 hours a week with no deductions, and overtime pay for teachers rose 15%. On 31 October 2024 the ceiling for pensioned teachers was abolished altogether, as a further incentive to keep working in schools after retirement.</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Ceiling 125% → 150% (1 Oct 2022); abolished 31 Oct 2024</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≈9–10 teaching hours/week without pension cuts (2022 rule)</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Information &amp; nudges (letters to teachers nearing retirement)</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In November 2023 Lower Saxony's Minister of Education, Julia Willie Hamburg, wrote personally to teachers approaching retirement, thanking them for their service and asking for their continued support in schools facing rising pupil numbers. The letter and its information sheet spell out the options: civil-servant teachers may postpone retirement by up to three years on request, and both civil-servant and salaried teachers can be re-hired on fixed-term contracts immediately after retiring, alongside their pension, under the relaxed earnings rules. A registration guide for retired teachers was enclosed.</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Letter sent November 2023</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Options: defer retirement up to 3 years, or be re-hired after retiring</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Financial incentives (pension plus salary)</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Public-service ‘abatement’ normally reduces a retired teacher's pension when pension plus new salary exceed their pre-retirement pay. To ease teacher-supply difficulties the Department of Education introduced a waiver in 2021 (Circular 0003/2021): the first 50 days a retired teacher works in a calendar year as a substitute or fixed-term teacher are exempt from abatement, each working day counting as one day whatever the hours. Retirees keep their full pension while covering absences; abatement is assessed only beyond day 50. Renewed for 2024–2025 (Circular 04/2024) and 2026–2027 (Circular 17/2026).</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In force since 2021; renewed through 2027</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First 50 working days per calendar year exempt</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Flexible positions (substitute cover)</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Japan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Abolition of the teacher licence renewal system (1 July 2022)</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From 2009 Japanese teaching licences expired every ten years unless holders completed a 30-hour renewal course, so the licences of people who had left teaching lapsed into ‘paper’ credentials. A May 2022 amendment to the Educational Personnel Certification Act abolished the renewal system from 1 July 2022: every licence valid on that date, including dormant ones held by former teachers, became permanently valid with no procedure or fee, removing a major barrier to re-entry. Boards of education now add ‘paper-teacher’ seminars and consultation days for licence holders who left or never entered teaching (e.g. Saitama, Chiba, Nagoya).</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Renewal system abolished 1 July 2022 (Act amended 11 May 2022)</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Paper-teacher programmes: 50 boards in FY2023, 58 planned FY2024</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Information &amp; nudges (seminars, consultation days)</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ext.go.jp/content/20221028-mxt_kyoikujinzai02-000022570_3.pdf" history="1" highlightClick="0" endSnd="0">
                  <a:extLst>
                    <a:ext uri="{A12FA001-AC4F-418D-AE19-62706E023703}">
                      <ahyp:hlinkClr xmlns:ahyp="http://schemas.microsoft.com/office/drawing/2018/hyperlinkcolor" val="tx"/>
                    </a:ext>
                  </a:extLst>
                </a:hlinkClick>
              </a:rPr>
              <a:t>https://www.mext.go.jp/content/20221028-mxt_kyoikujinzai02-000022570_3.pdf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pref.saitama.lg.jp/f2213/paperteacher.html" history="1" highlightClick="0" endSnd="0">
                  <a:extLst>
                    <a:ext uri="{A12FA001-AC4F-418D-AE19-62706E023703}">
                      <ahyp:hlinkClr xmlns:ahyp="http://schemas.microsoft.com/office/drawing/2018/hyperlinkcolor" val="tx"/>
                    </a:ext>
                  </a:extLst>
                </a:hlinkClick>
              </a:rPr>
              <a:t>https://www.pref.saitama.lg.jp/f2213/paperteacher.html</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Regeling tegemoetkoming herintreders primair onderwijs (2017–2020)</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Ministry of Education (OCW) scheme paying primary-school boards up to EUR 2,500 for each ‘herintreder’ (returner) they hired: a qualified teacher who had not worked as a primary teacher for at least 12 consecutive months, appointed on or after 1 August 2017 for at least six months. The grant was earmarked for the guidance and support returners need in their first months (coaching, refresher training), making re-entry attractive for teacher and school alike. The initial budget of EUR 1.25 million covered up to 500 returners by end-2018; the regulation ran from 1 November 2017 to 1 January 2020, with a further round in 2019.</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1 Nov 2017 – 1 Jan 2020 (closed)</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EUR 2,500 per returner; first budget for 500 returners</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Support &amp; training</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Registered teachers who had not taught for five years or more used to need a Teacher Education Refresh (TER) programme before regaining a practising certificate. Now a returning teacher with a job offer can renew the certificate without TER, may relief-teach for up to 20 half-days while the renewal is processed, and may instead be asked to agree a ‘Kia Maia | Future-Ready Teaching Plan’ with the principal. The Government also pays practising-certificate and Limited Authority to Teach fees: 352 teachers were supported back into classrooms between October 2024 and April 2025, and Budget 2025 funds all registration fees and levies until 30 June 2028.</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Fees covered from Oct 2024; NZD 53.3m for 2025–2028</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352 teachers returned Oct 2024 – Apr 2025</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Financial incentives</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Decreto-Lei n.º 51/2024: contracting retired teachers for shortage areas (2024/25–)</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Part of the ‘+Aulas +Sucesso’ plan against teacher shortages, this decree-law of 28 August 2024 lets public schools sign fixed-term contracts with qualified retired teachers to fill temporary needs in shortage recruitment groups or designated under-staffed schools (‘escolas carenciadas’), subject to ministerial authorisation and an annual quota set jointly with the Finance ministry; teachers retired for more than five years are excluded. Returning retirees keep their full pension and receive an extra payment tied to the first index of the teaching salary scale, proportional to their weekly teaching hours; applications go through an online DGAE form.</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In force from school year 2024/25</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62 retirees cleared to return in the first round (Nov 2024, Público)</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Flexible positions (part-time hours)</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Ministry of Education scheme through which trained ex-teachers (holders of the NIE Postgraduate Diploma or Diploma in Education, including retirees) register as Flexi-Adjunct Teachers and are engaged directly by schools for short, flexible stints of 1 day to 10 weeks per appointment, for teaching only or a mix of teaching, CCA and other duties agreed with the school; pro-rated leave accrues after 90 days of cumulative service. It sits beside the Contract Adjunct scheme (1–1.5-year contracts for former MOE teachers). In 2022–2024 about 220 teachers a year were engaged as Flexi-Adjunct Teachers within 12 months of leaving the Education Service.</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Ongoing MOE scheme; appointments of 1 day to 10 weeks</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≈220 recent leavers a year engaged (2022–2024)</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Related: Contract Adjunct scheme (1–1.5-year contracts)</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Skolverket web-based training for returning teachers and preschool teachers (since 2018)</a:t>
            </a:r>
            <a:endParaRPr lang="en-US" sz="2100" dirty="0"/>
          </a:p>
        </p:txBody>
      </p:sp>
      <p:sp>
        <p:nvSpPr>
          <p:cNvPr id="12" name="Text 8"/>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At the Government's request, the National Agency for Education (Skolverket) built a self-paced online course for qualified teachers and preschool teachers who want to return to the profession after working elsewhere. Available on Skolverket's learning platform since October 2018, it has two tracks (school teachers; preschool teachers) and lets participants choose modules in any order, mainly updating them on the curricula, laws and steering documents that changed while they were away, with a certificate after each module. The aim is to lower the threshold to re-entry and tap the large pool of trained teachers outside the profession.</a:t>
            </a:r>
            <a:endParaRPr lang="en-US" sz="1300" dirty="0"/>
          </a:p>
        </p:txBody>
      </p:sp>
      <p:sp>
        <p:nvSpPr>
          <p:cNvPr id="13" name="Shape 9"/>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4" name="Text 10"/>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Online since October 2018; government assignment reported 2020</a:t>
            </a:r>
            <a:endParaRPr lang="en-US" sz="1050" dirty="0"/>
          </a:p>
        </p:txBody>
      </p:sp>
      <p:sp>
        <p:nvSpPr>
          <p:cNvPr id="15" name="Shape 11"/>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6" name="Text 12"/>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Two tracks: school teachers · preschool teachers</a:t>
            </a:r>
            <a:endParaRPr lang="en-US" sz="1050" dirty="0"/>
          </a:p>
        </p:txBody>
      </p:sp>
      <p:sp>
        <p:nvSpPr>
          <p:cNvPr id="17" name="Shape 13"/>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8" name="Text 14"/>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Open to returners with a teaching licence or qualifying degree</a:t>
            </a:r>
            <a:endParaRPr lang="en-US" sz="1050" dirty="0"/>
          </a:p>
        </p:txBody>
      </p:sp>
      <p:sp>
        <p:nvSpPr>
          <p:cNvPr id="19" name="Text 15"/>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20"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PH Zürich ‘Wiedereinstieg’ re-entry programme for returning teachers</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PH Zürich (Zurich University of Teacher Education) and the cantonal school office support qualified teachers returning to compulsory-school teaching after a long break or a career elsewhere. Re-entry starts with counselling and a ‘Standortbestimmung’ (positioning assessment, first hour free, co-funded by the canton) that checks whether returning makes sense and what preparation is needed. In the first school year back, teachers who have been out for at least eight years use PH Zürich's induction offer free of charge: workplace mentoring (up to 25 hours), individual and group supervision, subject-didactic coaching and optional courses on assessment, classroom management, differentiation and parent work.</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Ongoing; induction free in year one for returners after 8+ years away</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Mentoring up to 25 h, supervision, coaching, optional courses</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Information &amp; nudges (re-entry counselling)</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Anyone who previously taught or trained to teach in the UK can get a free personal Return to Teaching Adviser through the Department for Education's ‘Get Into Teaching’ service. Advisers work one-to-one by phone, text or e-mail for as long as needed: mapping skills gained during the career break, helping write applications and prepare for interviews, pointing to subject-knowledge refreshers and National Professional Qualifications, flagging vacancies and running webinars. The DfE used the same channel in its ‘Come back to teaching’ campaign of January 2022. Returners are a major supply source: about 17,500 FTE qualified teachers returned in 2023, 38% of all qualified entrants.</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Ongoing DfE service; ‘Come back to teaching’ campaign Jan 2022</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17,500 FTE returners in 2023 = 38% of entrants (Commons Education Committee)</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Also: Support &amp; training (courses, NPQs)</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Georgia law effective 1 July 2022 allowing Teachers Retirement System members who retired with 30 or more years of service, and have been retired at least one year, to be re-employed full-time as pre-K–12 classroom teachers in one of the three highest-need subject areas identified by their Regional Education Service Agency (typically special education, maths, science, English language arts and elementary) while drawing their full pension on top of a full salary. Employers pay both employee and employer contributions; retirees earn no further service credit. A 2025 state audit found about 350 full-time retirees employed each year, under 1% of Georgia's teacher workforce.</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1 Jul 2022 – 30 Jun 2026; succeeded by Senate Bill 150 (2026)</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≈350 retirees a year, &lt;1% of the workforce (2025 state audit)</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Retirees keep full pension plus full salary</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450592"/>
            <a:ext cx="9738360" cy="1874520"/>
          </a:xfrm>
          <a:prstGeom prst="rect">
            <a:avLst/>
          </a:prstGeom>
          <a:noFill/>
          <a:ln/>
        </p:spPr>
        <p:txBody>
          <a:bodyPr wrap="square" lIns="0" tIns="0" rIns="0" bIns="0" rtlCol="0" anchor="t"/>
          <a:lstStyle/>
          <a:p>
            <a:pPr indent="0" marL="0">
              <a:lnSpc>
                <a:spcPct val="108000"/>
              </a:lnSpc>
              <a:buNone/>
            </a:pPr>
            <a:r>
              <a:rPr lang="en-US" sz="1300" dirty="0">
                <a:solidFill>
                  <a:srgbClr val="24313A"/>
                </a:solidFill>
                <a:latin typeface="Calibri" pitchFamily="34" charset="0"/>
                <a:ea typeface="Calibri" pitchFamily="34" charset="-122"/>
                <a:cs typeface="Calibri" pitchFamily="34" charset="-120"/>
              </a:rPr>
              <a:t>District programme that hires recently retired, highly effective Aurora teachers to mentor probationary (new) teachers in high-need Title I elementary schools for two years, with weekly mentoring and classroom observations, far more intensive than the district's usual one-year ‘buddy’ mentoring. It gives retirees a paid, part-time route back into the system while passing expertise to novices. A randomised controlled trial by REL Central (Institute of Education Sciences, 2017) with 77 teachers in 11 schools found a small positive effect on pupils' maths achievement after year one (effect size 0.06, not sustained in year two), no effect on reading and no effect on new-teacher retention.</a:t>
            </a:r>
            <a:endParaRPr lang="en-US" sz="1300" dirty="0"/>
          </a:p>
        </p:txBody>
      </p:sp>
      <p:sp>
        <p:nvSpPr>
          <p:cNvPr id="14" name="Shape 10"/>
          <p:cNvSpPr/>
          <p:nvPr/>
        </p:nvSpPr>
        <p:spPr>
          <a:xfrm>
            <a:off x="1783080" y="4389120"/>
            <a:ext cx="3154680" cy="603504"/>
          </a:xfrm>
          <a:prstGeom prst="roundRect">
            <a:avLst>
              <a:gd name="adj" fmla="val 15152"/>
            </a:avLst>
          </a:prstGeom>
          <a:solidFill>
            <a:srgbClr val="FFFFFF"/>
          </a:solidFill>
          <a:ln w="9525">
            <a:solidFill>
              <a:srgbClr val="CFDCD5"/>
            </a:solidFill>
            <a:prstDash val="solid"/>
          </a:ln>
        </p:spPr>
      </p:sp>
      <p:sp>
        <p:nvSpPr>
          <p:cNvPr id="15" name="Text 11"/>
          <p:cNvSpPr txBox="1"/>
          <p:nvPr/>
        </p:nvSpPr>
        <p:spPr>
          <a:xfrm>
            <a:off x="187452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Aurora Public Schools, Colorado; RCT report 2017</a:t>
            </a:r>
            <a:endParaRPr lang="en-US" sz="1050" dirty="0"/>
          </a:p>
        </p:txBody>
      </p:sp>
      <p:sp>
        <p:nvSpPr>
          <p:cNvPr id="16" name="Shape 12"/>
          <p:cNvSpPr/>
          <p:nvPr/>
        </p:nvSpPr>
        <p:spPr>
          <a:xfrm>
            <a:off x="5074920" y="4389120"/>
            <a:ext cx="3154680" cy="603504"/>
          </a:xfrm>
          <a:prstGeom prst="roundRect">
            <a:avLst>
              <a:gd name="adj" fmla="val 15152"/>
            </a:avLst>
          </a:prstGeom>
          <a:solidFill>
            <a:srgbClr val="FFFFFF"/>
          </a:solidFill>
          <a:ln w="9525">
            <a:solidFill>
              <a:srgbClr val="CFDCD5"/>
            </a:solidFill>
            <a:prstDash val="solid"/>
          </a:ln>
        </p:spPr>
      </p:sp>
      <p:sp>
        <p:nvSpPr>
          <p:cNvPr id="17" name="Text 13"/>
          <p:cNvSpPr txBox="1"/>
          <p:nvPr/>
        </p:nvSpPr>
        <p:spPr>
          <a:xfrm>
            <a:off x="516636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77 new teachers in 11 Title I schools; two-year mentoring</a:t>
            </a:r>
            <a:endParaRPr lang="en-US" sz="1050" dirty="0"/>
          </a:p>
        </p:txBody>
      </p:sp>
      <p:sp>
        <p:nvSpPr>
          <p:cNvPr id="18" name="Shape 14"/>
          <p:cNvSpPr/>
          <p:nvPr/>
        </p:nvSpPr>
        <p:spPr>
          <a:xfrm>
            <a:off x="8366760" y="4389120"/>
            <a:ext cx="3154680" cy="603504"/>
          </a:xfrm>
          <a:prstGeom prst="roundRect">
            <a:avLst>
              <a:gd name="adj" fmla="val 15152"/>
            </a:avLst>
          </a:prstGeom>
          <a:solidFill>
            <a:srgbClr val="FFFFFF"/>
          </a:solidFill>
          <a:ln w="9525">
            <a:solidFill>
              <a:srgbClr val="CFDCD5"/>
            </a:solidFill>
            <a:prstDash val="solid"/>
          </a:ln>
        </p:spPr>
      </p:sp>
      <p:sp>
        <p:nvSpPr>
          <p:cNvPr id="19" name="Text 15"/>
          <p:cNvSpPr txBox="1"/>
          <p:nvPr/>
        </p:nvSpPr>
        <p:spPr>
          <a:xfrm>
            <a:off x="8458200" y="4389120"/>
            <a:ext cx="2971800" cy="603504"/>
          </a:xfrm>
          <a:prstGeom prst="rect">
            <a:avLst/>
          </a:prstGeom>
          <a:noFill/>
          <a:ln/>
        </p:spPr>
        <p:txBody>
          <a:bodyPr wrap="square" lIns="0" tIns="0" rIns="0" bIns="0" rtlCol="0" anchor="ctr"/>
          <a:lstStyle/>
          <a:p>
            <a:pPr algn="l" indent="0" marL="0">
              <a:buNone/>
            </a:pPr>
            <a:r>
              <a:rPr lang="en-US" sz="1050" dirty="0">
                <a:solidFill>
                  <a:srgbClr val="24313A"/>
                </a:solidFill>
                <a:latin typeface="Calibri" pitchFamily="34" charset="0"/>
                <a:ea typeface="Calibri" pitchFamily="34" charset="-122"/>
                <a:cs typeface="Calibri" pitchFamily="34" charset="-120"/>
              </a:rPr>
              <a:t>Retired teachers as paid, part-time mentors of novices</a:t>
            </a:r>
            <a:endParaRPr lang="en-US" sz="1050" dirty="0"/>
          </a:p>
        </p:txBody>
      </p:sp>
      <p:sp>
        <p:nvSpPr>
          <p:cNvPr id="20" name="Text 16"/>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21"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16 policies at a glance</a:t>
            </a:r>
            <a:endParaRPr lang="en-US" sz="2800" dirty="0"/>
          </a:p>
        </p:txBody>
      </p:sp>
      <p:sp>
        <p:nvSpPr>
          <p:cNvPr id="3" name="Text 1"/>
          <p:cNvSpPr txBox="1"/>
          <p:nvPr/>
        </p:nvSpPr>
        <p:spPr>
          <a:xfrm>
            <a:off x="457200" y="822960"/>
            <a:ext cx="11247120" cy="274320"/>
          </a:xfrm>
          <a:prstGeom prst="rect">
            <a:avLst/>
          </a:prstGeom>
          <a:noFill/>
          <a:ln/>
        </p:spPr>
        <p:txBody>
          <a:bodyPr wrap="square" lIns="0" tIns="0" rIns="0" bIns="0" rtlCol="0" anchor="ctr"/>
          <a:lstStyle/>
          <a:p>
            <a:pPr indent="0" marL="0">
              <a:buNone/>
            </a:pPr>
            <a:r>
              <a:rPr lang="en-US" sz="1100" dirty="0">
                <a:solidFill>
                  <a:srgbClr val="B3542E"/>
                </a:solidFill>
                <a:latin typeface="Calibri" pitchFamily="34" charset="0"/>
                <a:ea typeface="Calibri" pitchFamily="34" charset="-122"/>
                <a:cs typeface="Calibri" pitchFamily="34" charset="-120"/>
              </a:rPr>
              <a:t>Ordered by country, then category. Source links are on each policy slide.</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48840"/>
                <a:gridCol w="5349240"/>
                <a:gridCol w="2011680"/>
                <a:gridCol w="1764792"/>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2022–2025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(银龄讲学计划),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Raising and then abolishing the earnings ceiling for retired teachers (Hinzuverdienstgrenze), 2022–2024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Japan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Abolition of the teacher licence renewal system (1 July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Regeling tegemoetkoming herintreders primair onderwijs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Decreto-Lei n.º 51/2024: contracting retired teachers for shortage areas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Skolverket web-based training for returning teachers and preschool teachers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PH Zürich ‘Wiedereinstieg’ re-entry programme for returning teachers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5" name="Text 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Comparative education policy review</dc:creator>
  <cp:lastModifiedBy>Comparative education policy review</cp:lastModifiedBy>
  <cp:revision>1</cp:revision>
  <dcterms:created xsi:type="dcterms:W3CDTF">2026-09-17T12:28:36Z</dcterms:created>
  <dcterms:modified xsi:type="dcterms:W3CDTF">2026-09-17T12:28:36Z</dcterms:modified>
</cp:coreProperties>
</file>