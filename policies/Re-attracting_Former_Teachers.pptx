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built from official sources (laws, ministry and agency web pages) plus, where noted, institutional evaluations and reputable press. Each policy slide carries its main source link in the footer; secondary sources and verification notes are in the speaker notes of each slide. Direct HTTP access was not available in the build environment, so every URL was verified through search-engine indexing of the official pages on 17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follow the brief: three target groups (switchers, leavers, retired) and five instrument categories (financial incentives; information &amp; nudges; support &amp; training; flexible positions; flexible re-certification).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(New South Wales) — Information &amp; nudges — Target: Switchers, Leavers, Retired.
Sources: NSW Government media release 'Retired teachers return to classrooms' (1,500+ contacted since November 2023, 260+ interested, 145 linked with schools in 600+ schools) and the department's 'Returning teachers' page (streamlined re-accreditation). The 60% share returning from retirement is taken from the OECD team's spreadsheet entry, attributed to the department; no follow-up figures after May 2024 were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(Victoria) — Support &amp; training — Target: Switchers, Leavers, Retired.
Secondary instruments: financial (honorarium up to AUD 12,000) and information/nudges (re-engagement team contacts every registrant). Eligibility: VIT registration or Working with Children Check. Teachers returning from extended parental absence instead get a temporary resumption of up to 40 days on their substantive salary. Extra reference: Victorian Government 'Support for returning teachers' page, https://www.vic.gov.au/returning-teacher-support-services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Austria — Information &amp; nudges — Target: Retired.
Sources: ORF national report 'Lehrkräftemangel: Pensionisten umworben' and ORF Vienna 'Pensionisten kehren kaum in Job zurück' (300 letters in December 2022, three positive replies; principals instructed in February 2023), Wiener Zeitung ('Nur 42 Pflichtschullehrer kamen aus Pension zurück'), and the 2025 European Journal of Teacher Education article on retired teachers as a reserve. Press-based; no official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Bahamas — Flexible positions — Target: Switchers, Leavers, Retired.
Sources: Government of The Bahamas press release 'The Ministry of Education aiming to attract more Bahamian teachers' and the Minister's statement on the recruitment of up to 300 teachers (July 2026). Announcement stage only; treat as a design, not an evaluated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(Ontario) — Financial incentives — Target: Retired.
Sources: Ontario College of Teachers help page 'If I retire, can I teach occasionally?' and Ontario Teachers' Federation notices on the temporary increase of the 50-day rule to 95 days (2020-21, 2021-22, 2022-23). The OECD spreadsheet also mentions a 95-day period in 1990; not verified here, so omitted from the slide.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(Quebec) — Financial incentives — Target: Retired.
Primary source: Gouvernement du Québec page 'Retour à l'emploi des retraités du réseau de l'éducation' (incentive introduced 21 September 2020, made permanent; 700 retirees in 2020-21; pay at the scale held at departure from day one; daily maximum about CAD 412 vs CAD 212.15 usual substitute rate; no penalty on pension). The 2023 letter (signed 25 August 2023 by Minister Bernard Drainville), the 5,000+ figure and the CAD 578 daily incentive for retirees at the top of the scale on contracts of at least one month are reported by Le Devoir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 Flexible positions — Target: Retired.
Primary sources: MoE/MoF notice of 19 July 2018 issuing the implementation plan (eligibility: mainly principals, teaching researchers, special-grade and backbone teachers, generally 65 or under; 10,000 recruits planned 2018-2020; first cohort autumn 2018), and the 2024 implementation notice (7,000 recruits; central funding of CNY 20,000 per person per year at compulsory-education level, used for work stipend, travel and accident insurance). The 2023 National Silver-Age Teachers Action Plan (10 ministries) sets a target of roughly 120,000 silver-age teachers across all education levels within about three years.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France — Financial incentives — Target: Retired.
Sources: National Assembly written questions n° 2072 (recruitment of retired teachers as vacataires; ministry answer on the six-month delay under article L. 161-22 of the Social Security Code) and n° 7305 (volunteering of retired teachers for replacements), 16th legislature. No take-up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Financial incentives — Target: Retired.
Sources: Lower Saxony Ministry of Education press releases. The 2022 release (Lehrkräfte-Gewinnungspaket) reports the Landtag decision to raise the Hinzuverdienstgrenze from 125% to 150% of pensionable pay from 1 October 2022, initially limited to two years, letting pensioned teachers teach on average 9-10 hours without pension reduction, plus a 15% rise in overtime pay. The 2024/25 release states that the earnings ceiling for pensioned teachers was removed as of 31 October 2024. Context: a 2023 survey by Deutsches Schulportal found that 13 of 16 Länder actively approach retired teachers and that more than 5,000 teachers nationwide had been won to stay or return (https://deutsches-schulportal.de/bildungswesen/laenderueberblick-umfrage-lehrermangel-pensionierte-lehrer/).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Information &amp; nudges — Target: Retired.
Source: Ministry press release 'Umfangreicher Erfahrungsschatz – Kultusministerin Hamburg informiert Lehrkräfte kurz vor dem Ruhestand über Möglichkeiten der Weiterbeschäftigung' and the letter itself (PDF). The information sheet ('Anlage zum Brief') covers staying in service (deferral of up to three years for civil servants, on application before the end of the preceding school half-year) and fixed-term re-employment under the collective agreement immediately after retirement. This matches the 'leaflet with the retirement paperwork' type of nudge.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Ireland — Financial incentives — Target: Retired.
Source: Department of Education (gov.ie) 'Working as a substitute while receiving a teacher's pension'. Circular numbers (0003/2021, 04/2024, 17/2026) as cited by the Department and by the Retired Teachers' Association of Ireland (https://rtaireland.ie/pension-abatement/). Abatement applies only where earnings plus pension exceed pensionable pay at retirement (uprated); it stops as soon as the retiree stops working.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Netherlands — Financial incentives — Target: Switchers, Leavers.
Primary source: text of the 'Regeling tegemoetkoming herintreders primair onderwijs' on wetten.overheid.nl (BWBR0040130), plus the OCW newsletter of 3 July 2019 announcing a new application round. Conditions: appointment from 1 August 2017, contract of at least six months, no work as a primary-school teacher in the 12 months before appointment; grant of up to EUR 2,500 per returner paid to the school board for guidance and support costs; EUR 1.25 million available until 31 December 2018 (max. 500 returners).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Zealand — Flexible re-certification — Target: Switchers, Leavers.
Sources: Ministry of Education 'Education Workforce' page 'Returning to teaching after a break' (no TER required even after five or more years away when there is a job offer; 20 half-days of relief teaching allowed while renewing; fees and levies covered until 30 June 2028) and the Government press release 'Backing teachers: Teacher registrations funded' (352 teachers supported to return since October 2024; NZD 53.3 million over three financial years from 1 July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 — Financial incentives — Target: Retired.
Primary sources: Decreto-Lei n.º 51/2024 of 28 August (Diário da República) and DGAE notice on the procedure for assigning teaching service to retired teachers. Key provisions: fixed-term public-employment contracts with retired/pensioned teachers holding professional qualification, for shortage recruitment groups or under-staffed schools, with authorisation from the member of Government responsible for education; not applicable to those retired for more than five years; annual quota fixed by joint order (Finance, Public Administration, Education); pension maintained plus an additional payment corresponding to the 1st index of the salary scale according to weekly teaching hours. The figure of 62 retirees comes from Público, 5 November 2024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Singapore — Flexible positions — Target: Switchers, Leavers, Retired.
Sources: MOE careers page for the Flexi-Adjunct Teaching Scheme (qualification: PGDE or Diploma in Education from NIE, other professional teaching qualifications considered; appointments from 1 day to 10 weeks; teaching or mixed duties; pro-rated leave after 90 days of cumulative service; registration via the Relief Employment Management System) and MOE parliamentary reply of 23 September 2025 (2022-2024: around 220 teachers on average engaged as Flexi-Adjunct Teachers within 12 months of leaving the Education Service). Launch year of the scheme not stated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Spain (Zaragoza) — Flexible positions — Target: Retired.
Sources: Lizalde Gil &amp; Cortés Pascual (2019), '10 mirrors: el acompañamiento y la orientación formativa de los estudiantes de los grados en magisterio desde la experiencia profesional', University of Zaragoza press (Dialnet record and the book PDF on Zaguan). 57 students, 10 retired mentors, three sessions. No outcome evaluation.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Sweden — Support &amp; training — Target: Switchers, Leavers.
Sources: Skolverket course page 'Återvändande lärare och förskollärare – webbaserad utbildning' (available since October 2018; two tracks; participants choose modules; certificate per module; aimed at returners with legitimation or a qualifying degree) and Skolverket's 2020 report on the government assignment. No participation figures found on the pages.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Switzerland (Canton of Zurich) — Support &amp; training — Target: Switchers, Leavers.
Source: PH Zürich 'Wiedereinstieg' page (with the Wiedereinstiegsberatung offer). Teachers returning after at least eight years can use the induction (Berufseinführung) offer free of charge in their first school year, with financial participation of the Volksschulamt of the Canton of Zurich; the positioning assessment is subsidised by the Volksschulamt (first hour free, hours 2-6 charged); workplace mentoring (Fachbegleitung) up to 25 hours. No take-up figures published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Information &amp; nudges — Target: Switchers, Leavers.
Sources: DfE 'Get Into Teaching' page 'Get support returning to teaching' (eligibility: previously taught or trained to teach in the UK; free one-to-one support with applications, courses such as NPQs, vacancies, webinars) and the House of Commons Education Committee report 'Teacher recruitment, training and retention' (returners 35-40% of entrants in recent years; about 17,500 FTE qualified returners in 2023, 38% of qualified entrants). The January 2022 'Come back to teaching' campaign is documented by local-authority pages (e.g. Warwickshire County Council).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Support &amp; training — Target: Switchers, Leavers.
Sources: Buchanan et al. (2018), Evaluation of the Return to Teaching pilot programme, NFER for the Department for Education (5,729 registrations, 354 supported, 27 in permanent EBacc posts by November 2016; unlikely to represent value for money). The 2016 Returners Engagement Programme has no independent evaluation; description follows the OECD team's spreadsheet entry. Returners Engagement Programme details (November 2016, North West and South East, £600 bursary, 2-4 week course, grants to lead schools) from the gov.uk publication page and Schools Week coverage.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(Colorado) — Flexible positions — Target: Retired.
Source: Institute of Education Sciences, REL Central, 'Impacts of the Retired Mentors for New Teachers program' (DeCesare, McClelland &amp; Randel, 2017, REL 2017-225). Design: 77 classroom teachers across 11 schools randomly assigned to mentoring by retired, highly effective district educators or to the district's business-as-usual mentoring. Results: no effect on retention; effect size 0.06 on maths achievement (significant at end of year one, not at end of year two); no effect on reading. Programme start year not stated on the summary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(Four urban districts) — Flexible positions — Target: Retired.
Sources: Gersten, Rolfhus, Clarke, Decker, Wilkins &amp; Dimino (2015), 'Intervention for First Graders With Limited Number Knowledge', American Educational Research Journal (randomised trial, 76 schools, four districts, 994 pupils, 86 tutors from retired and substitute teacher pools) and the What Works Clearinghouse study record. It is a research trial, not a standing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(Georgia) — Financial incentives — Target: Retired.
Sources: Teachers Retirement System of Georgia 'HB 385 Employment' page (30+ years of service, retired for one year, full-time classroom teacher in a highest-need area determined by the RESA, effective 1 July 2022 to 30 June 2026, employer pays contributions, no additional creditable service; HB 385 sunsets 30 June 2026 and SB 150 was passed in the 2026 session) and the Georgia Department of Audits and Accounts report 'Retired Teachers Return to Work' (about 350 full-time retirees employed each year, less than 1% of the workforce), summarised by Georgia Public Broadcasting, 7 May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(Louisiana) — Financial incentives — Target: Retired.
Sources: Teachers' Retirement System of Louisiana 'Returning to Work' page and Louisiana Department of Education webinar 'Reemployment of retired educators' (December 2023); Act 394 of 2024 (HB 967) reported by KATC.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(Michigan) — Financial incentives — Target: Retired.
Sources: Michigan Office of Retirement Services, 'Public Act 147 of 2023 FAQs' (nine to six months, $15,100 earnings cap during the waiting period, sunset 10 October 2028) and Michigan Education Association note on the signing. Replaces the OECD spreadsheet's e-mail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(National (AARP Foundation)) — Flexible positions — Target: Retired.
Sources: AARP Foundation Experience Corps research page (Washington University/Mathematica randomised study, Johns Hopkins health study) and programme page (18 communities; 1,284 volunteers and 3,659 pupils in 2023-24). Non-governmental programme; volunteers are not all former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(New Mexico) — Financial incentives — Target: Retired.
Sources: New Mexico Higher Education Department and Governor's office releases of 28 June 2022 (HB 73, up to three years, no salary or hour limits, 48,000 retired educators eligible, approval by the Educational Retirement Board).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(North Carolina) — Financial incentives — Target: Retired.
Sources: Jarrold-Grapes &amp; Mahler (2024), 'Retirees return to work: how a North Carolina policy helped staff high-need schools', Education Policy Analysis Archives (ERIC full text and Dialnet record). Historical policy, no longer in force.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(Virginia) — Flexible re-certification — Target: Retired.
Sources: Virginia Department of Education 'Turning the Tide' strategic plan page (Executive Directive 3, licensure system, 2022-2025 figures) and Education Week (October 2022) on the directive's provisions for retired teachers and the 2001 rule on pension plus salary in critical-shortage areas. No figures specific to retirees.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www.nsw.gov.au/media-releases/retired-teachers-return-to-classrooms" TargetMode="External"/><Relationship Id="rId4" Type="http://schemas.openxmlformats.org/officeDocument/2006/relationships/hyperlink" Target="https://education.nsw.gov.au/teach-nsw/find-teaching-jobs/returning-teachers" TargetMode="External"/><Relationship Id="rId1" Type="http://schemas.openxmlformats.org/officeDocument/2006/relationships/image" Target="../media/image-3-1.png"/><Relationship Id="rId2" Type="http://schemas.openxmlformats.org/officeDocument/2006/relationships/image" Target="../media/image-3-2.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www.vic.gov.au/teacher-re-engagement-initiative"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oesterreich.orf.at/stories/3198263/" TargetMode="External"/><Relationship Id="rId4" Type="http://schemas.openxmlformats.org/officeDocument/2006/relationships/hyperlink" Target="https://www.tandfonline.com/doi/full/10.1080/02619768.2025.2531930" TargetMode="External"/><Relationship Id="rId1" Type="http://schemas.openxmlformats.org/officeDocument/2006/relationships/image" Target="../media/image-5-1.png"/><Relationship Id="rId2"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www.bahamas.gov.bs/news-press-release/the-ministry-of-education-aiming-to-attract-more-bahamian-teachers" TargetMode="External"/><Relationship Id="rId4" Type="http://schemas.openxmlformats.org/officeDocument/2006/relationships/hyperlink" Target="https://www.bahamaspress.com/statement-by-the-minister-of-education-dpm-chester-cooper-on-the-recruitment-of-upto-300-teachers/" TargetMode="External"/><Relationship Id="rId1" Type="http://schemas.openxmlformats.org/officeDocument/2006/relationships/image" Target="../media/image-6-1.png"/><Relationship Id="rId2" Type="http://schemas.openxmlformats.org/officeDocument/2006/relationships/image" Target="../media/image-6-2.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help.oct.ca/hc/en-us/articles/360025778433-If-I-retire-can-I-teach-occasionally" TargetMode="External"/><Relationship Id="rId4" Type="http://schemas.openxmlformats.org/officeDocument/2006/relationships/hyperlink" Target="https://www.otffeo.on.ca/en/news/50-day-re-employment-rule-increased-to-95-days-for-some-otpp-retirees-until-june-30-2023/" TargetMode="External"/><Relationship Id="rId1" Type="http://schemas.openxmlformats.org/officeDocument/2006/relationships/image" Target="../media/image-7-1.png"/><Relationship Id="rId2" Type="http://schemas.openxmlformats.org/officeDocument/2006/relationships/image" Target="../media/image-7-2.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quebec.ca/en/government/work-government/jobs-education/teaching-general-education-youth-sector-vocational-training-adult-education/return-work-retired-teacher" TargetMode="External"/><Relationship Id="rId4" Type="http://schemas.openxmlformats.org/officeDocument/2006/relationships/hyperlink" Target="https://www.ledevoir.com/actualites/education/912921/quebec-espere-nouveau-attirer-milliers-enseignants-retraites-ecoles" TargetMode="External"/><Relationship Id="rId1" Type="http://schemas.openxmlformats.org/officeDocument/2006/relationships/image" Target="../media/image-8-1.png"/><Relationship Id="rId2" Type="http://schemas.openxmlformats.org/officeDocument/2006/relationships/image" Target="../media/image-8-2.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www.moe.gov.cn/srcsite/A10/s7151/201807/t20180719_343448.html" TargetMode="External"/><Relationship Id="rId4" Type="http://schemas.openxmlformats.org/officeDocument/2006/relationships/hyperlink" Target="https://www.gov.cn/zhengce/zhengceku/202408/content_6967278.htm" TargetMode="External"/><Relationship Id="rId1" Type="http://schemas.openxmlformats.org/officeDocument/2006/relationships/image" Target="../media/image-9-1.png"/><Relationship Id="rId2"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questions.assemblee-nationale.fr/q16/16-2072QE.htm" TargetMode="External"/><Relationship Id="rId4" Type="http://schemas.openxmlformats.org/officeDocument/2006/relationships/hyperlink" Target="https://questions.assemblee-nationale.fr/q16/16-7305QE.htm" TargetMode="External"/><Relationship Id="rId1" Type="http://schemas.openxmlformats.org/officeDocument/2006/relationships/image" Target="../media/image-10-1.png"/><Relationship Id="rId2"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mk.niedersachsen.de/startseite/aktuelles/presseinformationen/lehrkrafte-gewinnungspaket-landtag-erhoht-hinzuverdienstgrenze-und-mehrarbeitsvergutung-tonne-unterrichten-lohnt-sich-215592.html" TargetMode="External"/><Relationship Id="rId4" Type="http://schemas.openxmlformats.org/officeDocument/2006/relationships/hyperlink" Target="https://www.mk.niedersachsen.de/startseite/aktuelles/presseinformationen/2-schulhalbjahr-2024-2025-unterrichtsversorgung-bleibt-stabil-238881.html" TargetMode="Externa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mk.niedersachsen.de/startseite/aktuelles/kultusministerin_hamburg_schreibt_an_angehende_pensionare/umfangreicher-erfahrungsschatz-kultusministerin-hamburg-informiert-lehrkrafte-kurz-vor-dem-ruhestand-uber-moglichkeiten-der-weiterbeschaftigung-227231.html" TargetMode="External"/><Relationship Id="rId4" Type="http://schemas.openxmlformats.org/officeDocument/2006/relationships/hyperlink" Target="https://www.mk.niedersachsen.de/download/201317/Schreiben_an_angehende_Pensionaerinnen_und_Pensionaere.pdf" TargetMode="External"/><Relationship Id="rId1" Type="http://schemas.openxmlformats.org/officeDocument/2006/relationships/image" Target="../media/image-12-1.png"/><Relationship Id="rId2" Type="http://schemas.openxmlformats.org/officeDocument/2006/relationships/image" Target="../media/image-12-2.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gov.ie/en/department-of-education/publications/working-as-a-substitute-while-receiving-a-teachers-pension/"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wetten.overheid.nl/1.3:c:BWBR0040130&amp;g=2020-07-01&amp;z=2025-10-18" TargetMode="External"/><Relationship Id="rId4" Type="http://schemas.openxmlformats.org/officeDocument/2006/relationships/hyperlink" Target="https://www.nieuwsbrievenminocw.nl/actueel/nieuws/2019/07/03/subsidie-voor-herintreders" TargetMode="External"/><Relationship Id="rId1" Type="http://schemas.openxmlformats.org/officeDocument/2006/relationships/image" Target="../media/image-14-1.png"/><Relationship Id="rId2"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workforce.education.govt.nz/current-teachers/returning-teaching/returning-teaching-after-break" TargetMode="External"/><Relationship Id="rId4" Type="http://schemas.openxmlformats.org/officeDocument/2006/relationships/hyperlink" Target="https://www.beehive.govt.nz/release/backing-teachers-teacher-registrations-funded" TargetMode="External"/><Relationship Id="rId1" Type="http://schemas.openxmlformats.org/officeDocument/2006/relationships/image" Target="../media/image-15-1.png"/><Relationship Id="rId2" Type="http://schemas.openxmlformats.org/officeDocument/2006/relationships/image" Target="../media/image-15-2.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diariodarepublica.pt/dr/detalhe/decreto-lei/51-2024-885927817" TargetMode="External"/><Relationship Id="rId4" Type="http://schemas.openxmlformats.org/officeDocument/2006/relationships/hyperlink" Target="https://www.dgae.medu.pt/noticias/atribuicao-de-servico-docente-aos-aposentados-e-reformados" TargetMode="External"/><Relationship Id="rId1" Type="http://schemas.openxmlformats.org/officeDocument/2006/relationships/image" Target="../media/image-16-1.png"/><Relationship Id="rId2" Type="http://schemas.openxmlformats.org/officeDocument/2006/relationships/image" Target="../media/image-16-2.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www.moe.gov.sg/careers/adjunct-and-relief-schemes/flexi-adjunct-teaching-scheme" TargetMode="External"/><Relationship Id="rId4" Type="http://schemas.openxmlformats.org/officeDocument/2006/relationships/hyperlink" Target="https://www.moe.gov.sg/news/parliamentary-replies/20250923-statistics-on-teachers-who-joined-flexi-adjunct-teaching-scheme-and-median-duration-of-teachers-on-scheme" TargetMode="External"/><Relationship Id="rId1" Type="http://schemas.openxmlformats.org/officeDocument/2006/relationships/image" Target="../media/image-17-1.png"/><Relationship Id="rId2" Type="http://schemas.openxmlformats.org/officeDocument/2006/relationships/image" Target="../media/image-17-2.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dialnet.unirioja.es/servlet/articulo?codigo=8153125" TargetMode="External"/><Relationship Id="rId4" Type="http://schemas.openxmlformats.org/officeDocument/2006/relationships/hyperlink" Target="https://zaguan.unizar.es/record/79095/files/BOOK-2019-021.pdf" TargetMode="External"/><Relationship Id="rId1" Type="http://schemas.openxmlformats.org/officeDocument/2006/relationships/image" Target="../media/image-18-1.png"/><Relationship Id="rId2" Type="http://schemas.openxmlformats.org/officeDocument/2006/relationships/image" Target="../media/image-18-2.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www.skolverket.se/skolutveckling/kurser-och-utbildningar/atervandande-larare-och-forskollarare---webbaserad-utbildning" TargetMode="External"/><Relationship Id="rId4" Type="http://schemas.openxmlformats.org/officeDocument/2006/relationships/hyperlink" Target="https://www.skolverket.se/publikationsserier/regeringsuppdrag/2020/uppdrag-om-en-webbutbildning-for-atervandande-larare-och-forskollarare" TargetMode="External"/><Relationship Id="rId1" Type="http://schemas.openxmlformats.org/officeDocument/2006/relationships/image" Target="../media/image-19-1.png"/><Relationship Id="rId2" Type="http://schemas.openxmlformats.org/officeDocument/2006/relationships/image" Target="../media/image-19-2.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phzh.ch/de/weiterbildung/weiterbildung-fuer-die-volksschule/berufslaufbahn/wiedereinstieg/" TargetMode="External"/><Relationship Id="rId1" Type="http://schemas.openxmlformats.org/officeDocument/2006/relationships/image" Target="../media/image-20-1.png"/><Relationship Id="rId2" Type="http://schemas.openxmlformats.org/officeDocument/2006/relationships/image" Target="../media/image-20-2.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etintoteaching.education.gov.uk/returning-to-teaching" TargetMode="External"/><Relationship Id="rId4" Type="http://schemas.openxmlformats.org/officeDocument/2006/relationships/hyperlink" Target="https://publications.parliament.uk/pa/cm5901/cmselect/cmeduc/627/report.html" TargetMode="External"/><Relationship Id="rId1" Type="http://schemas.openxmlformats.org/officeDocument/2006/relationships/image" Target="../media/image-21-1.png"/><Relationship Id="rId2" Type="http://schemas.openxmlformats.org/officeDocument/2006/relationships/image" Target="../media/image-21-2.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ssets.publishing.service.gov.uk/media/5b33aeef40f0b67f6744de9d/Evaluation_of_the_Return_to_Teaching_pilot_programme.pdf" TargetMode="External"/><Relationship Id="rId4" Type="http://schemas.openxmlformats.org/officeDocument/2006/relationships/hyperlink" Target="https://www.gov.uk/government/publications/returners-engagement-programme" TargetMode="External"/><Relationship Id="rId1" Type="http://schemas.openxmlformats.org/officeDocument/2006/relationships/image" Target="../media/image-22-1.png"/><Relationship Id="rId2" Type="http://schemas.openxmlformats.org/officeDocument/2006/relationships/image" Target="../media/image-22-2.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ies.ed.gov/use-work/resource-library/report/descriptive-study/impacts-retired-mentors-new-teachers-program" TargetMode="External"/><Relationship Id="rId1" Type="http://schemas.openxmlformats.org/officeDocument/2006/relationships/image" Target="../media/image-23-1.png"/><Relationship Id="rId2" Type="http://schemas.openxmlformats.org/officeDocument/2006/relationships/image" Target="../media/image-23-2.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journals.sagepub.com/doi/abs/10.3102/0002831214565787" TargetMode="External"/><Relationship Id="rId4" Type="http://schemas.openxmlformats.org/officeDocument/2006/relationships/hyperlink" Target="https://ies.ed.gov/ncee/wwc/Study/86426" TargetMode="External"/><Relationship Id="rId1" Type="http://schemas.openxmlformats.org/officeDocument/2006/relationships/image" Target="../media/image-24-1.png"/><Relationship Id="rId2" Type="http://schemas.openxmlformats.org/officeDocument/2006/relationships/image" Target="../media/image-24-2.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www.trsga.com/retiree/working-after-retirement/hb-385-employment/" TargetMode="External"/><Relationship Id="rId4" Type="http://schemas.openxmlformats.org/officeDocument/2006/relationships/hyperlink" Target="https://www.audits.ga.gov/ReportSearch/download/32615" TargetMode="External"/><Relationship Id="rId1" Type="http://schemas.openxmlformats.org/officeDocument/2006/relationships/image" Target="../media/image-25-1.png"/><Relationship Id="rId2" Type="http://schemas.openxmlformats.org/officeDocument/2006/relationships/image" Target="../media/image-25-2.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www.trsl.org/retirees/returning-to-work-rtw" TargetMode="External"/><Relationship Id="rId4" Type="http://schemas.openxmlformats.org/officeDocument/2006/relationships/hyperlink" Target="https://www.katc.com/news/covering-louisiana/retired-teachers-can-return-to-the-classroom-under-new-louisiana-law" TargetMode="External"/><Relationship Id="rId1" Type="http://schemas.openxmlformats.org/officeDocument/2006/relationships/image" Target="../media/image-26-1.png"/><Relationship Id="rId2" Type="http://schemas.openxmlformats.org/officeDocument/2006/relationships/image" Target="../media/image-26-2.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www.michigan.gov/orsschools/pa-147-of-2023-faqs" TargetMode="External"/><Relationship Id="rId4" Type="http://schemas.openxmlformats.org/officeDocument/2006/relationships/hyperlink" Target="https://mea.org/changes-to-post-retirement-return-to-work-rules-signed-into-law/" TargetMode="External"/><Relationship Id="rId1" Type="http://schemas.openxmlformats.org/officeDocument/2006/relationships/image" Target="../media/image-27-1.png"/><Relationship Id="rId2" Type="http://schemas.openxmlformats.org/officeDocument/2006/relationships/image" Target="../media/image-27-2.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www.aarp.org/experience-corps/our-impact/experience-corps-research-studies.html" TargetMode="External"/><Relationship Id="rId4" Type="http://schemas.openxmlformats.org/officeDocument/2006/relationships/hyperlink" Target="https://www.aarp.org/experience-corps/" TargetMode="External"/><Relationship Id="rId1" Type="http://schemas.openxmlformats.org/officeDocument/2006/relationships/image" Target="../media/image-28-1.png"/><Relationship Id="rId2" Type="http://schemas.openxmlformats.org/officeDocument/2006/relationships/image" Target="../media/image-28-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hyperlink" Target="https://hed.nm.gov/news/retired-educators-now-eligible-to-return-to-work-without-losing-pension-benefits" TargetMode="External"/><Relationship Id="rId4" Type="http://schemas.openxmlformats.org/officeDocument/2006/relationships/hyperlink" Target="https://www.governor.state.nm.us/2022/06/28/retired-educators-now-eligible-to-return-to-work-without-losing-pension-benefits/" TargetMode="External"/><Relationship Id="rId1" Type="http://schemas.openxmlformats.org/officeDocument/2006/relationships/image" Target="../media/image-29-1.png"/><Relationship Id="rId2" Type="http://schemas.openxmlformats.org/officeDocument/2006/relationships/image" Target="../media/image-29-2.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hyperlink" Target="https://files.eric.ed.gov/fulltext/EJ1425366.pdf" TargetMode="External"/><Relationship Id="rId4" Type="http://schemas.openxmlformats.org/officeDocument/2006/relationships/hyperlink" Target="https://dialnet.unirioja.es/servlet/articulo?codigo=9286932" TargetMode="External"/><Relationship Id="rId1" Type="http://schemas.openxmlformats.org/officeDocument/2006/relationships/image" Target="../media/image-30-1.png"/><Relationship Id="rId2" Type="http://schemas.openxmlformats.org/officeDocument/2006/relationships/image" Target="../media/image-30-2.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hyperlink" Target="https://www.doe.virginia.gov/teaching-learning-assessment/teaching-in-virginia/turning-the-tide" TargetMode="External"/><Relationship Id="rId4" Type="http://schemas.openxmlformats.org/officeDocument/2006/relationships/hyperlink" Target="https://www.edweek.org/leadership/could-retired-teachers-be-the-answer-to-shortages-its-complicated/2022/10" TargetMode="External"/><Relationship Id="rId1" Type="http://schemas.openxmlformats.org/officeDocument/2006/relationships/image" Target="../media/image-31-1.png"/><Relationship Id="rId2" Type="http://schemas.openxmlformats.org/officeDocument/2006/relationships/image" Target="../media/image-31-2.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Text 0"/>
          <p:cNvSpPr txBox="1"/>
          <p:nvPr/>
        </p:nvSpPr>
        <p:spPr>
          <a:xfrm>
            <a:off x="731520" y="1143000"/>
            <a:ext cx="10698480" cy="1097280"/>
          </a:xfrm>
          <a:prstGeom prst="rect">
            <a:avLst/>
          </a:prstGeom>
          <a:noFill/>
          <a:ln/>
        </p:spPr>
        <p:txBody>
          <a:bodyPr wrap="square" lIns="0" tIns="0" rIns="0" bIns="0" rtlCol="0" anchor="b"/>
          <a:lstStyle/>
          <a:p>
            <a:pPr indent="0" marL="0">
              <a:buNone/>
            </a:pPr>
            <a:r>
              <a:rPr lang="en-US" sz="4600" b="1" dirty="0">
                <a:solidFill>
                  <a:srgbClr val="FFFFFF"/>
                </a:solidFill>
                <a:latin typeface="Cambria" pitchFamily="34" charset="0"/>
                <a:ea typeface="Cambria" pitchFamily="34" charset="-122"/>
                <a:cs typeface="Cambria" pitchFamily="34" charset="-120"/>
              </a:rPr>
              <a:t>Re-attracting Former Teachers</a:t>
            </a:r>
            <a:endParaRPr lang="en-US" sz="4600" dirty="0"/>
          </a:p>
        </p:txBody>
      </p:sp>
      <p:sp>
        <p:nvSpPr>
          <p:cNvPr id="3" name="Text 1"/>
          <p:cNvSpPr txBox="1"/>
          <p:nvPr/>
        </p:nvSpPr>
        <p:spPr>
          <a:xfrm>
            <a:off x="731520" y="2331720"/>
            <a:ext cx="10698480" cy="640080"/>
          </a:xfrm>
          <a:prstGeom prst="rect">
            <a:avLst/>
          </a:prstGeom>
          <a:noFill/>
          <a:ln/>
        </p:spPr>
        <p:txBody>
          <a:bodyPr wrap="square" lIns="0" tIns="0" rIns="0" bIns="0" rtlCol="0" anchor="ctr"/>
          <a:lstStyle/>
          <a:p>
            <a:pPr indent="0" marL="0">
              <a:buNone/>
            </a:pPr>
            <a:r>
              <a:rPr lang="en-US" sz="2200" dirty="0">
                <a:solidFill>
                  <a:srgbClr val="CFE3D9"/>
                </a:solidFill>
                <a:latin typeface="Calibri" pitchFamily="34" charset="0"/>
                <a:ea typeface="Calibri" pitchFamily="34" charset="-122"/>
                <a:cs typeface="Calibri" pitchFamily="34" charset="-120"/>
              </a:rPr>
              <a:t>Policies that bring them back into education</a:t>
            </a:r>
            <a:endParaRPr lang="en-US" sz="2200" dirty="0"/>
          </a:p>
        </p:txBody>
      </p:sp>
      <p:sp>
        <p:nvSpPr>
          <p:cNvPr id="4" name="Text 2"/>
          <p:cNvSpPr txBox="1"/>
          <p:nvPr/>
        </p:nvSpPr>
        <p:spPr>
          <a:xfrm>
            <a:off x="731520" y="4069080"/>
            <a:ext cx="9144000" cy="365760"/>
          </a:xfrm>
          <a:prstGeom prst="rect">
            <a:avLst/>
          </a:prstGeom>
          <a:noFill/>
          <a:ln/>
        </p:spPr>
        <p:txBody>
          <a:bodyPr wrap="square" lIns="0" tIns="0" rIns="0" bIns="0" rtlCol="0" anchor="ctr"/>
          <a:lstStyle/>
          <a:p>
            <a:pPr indent="0" marL="0">
              <a:buNone/>
            </a:pPr>
            <a:r>
              <a:rPr lang="en-US" sz="1300" dirty="0">
                <a:solidFill>
                  <a:srgbClr val="CFE3D9"/>
                </a:solidFill>
                <a:latin typeface="Calibri" pitchFamily="34" charset="0"/>
                <a:ea typeface="Calibri" pitchFamily="34" charset="-122"/>
                <a:cs typeface="Calibri" pitchFamily="34" charset="-120"/>
              </a:rPr>
              <a:t>José Manuel Torres – José Elías Durán Roa  ·  September 2026</a:t>
            </a:r>
            <a:endParaRPr lang="en-US" sz="1300" dirty="0"/>
          </a:p>
        </p:txBody>
      </p:sp>
      <p:pic>
        <p:nvPicPr>
          <p:cNvPr id="5" name="Image 0" descr="preencoded.png">    </p:cNvPr>
          <p:cNvPicPr>
            <a:picLocks noChangeAspect="1"/>
          </p:cNvPicPr>
          <p:nvPr/>
        </p:nvPicPr>
        <p:blipFill>
          <a:blip r:embed="rId1"/>
          <a:stretch>
            <a:fillRect/>
          </a:stretch>
        </p:blipFill>
        <p:spPr>
          <a:xfrm>
            <a:off x="-524408" y="5074920"/>
            <a:ext cx="658368" cy="493776"/>
          </a:xfrm>
          <a:prstGeom prst="rect">
            <a:avLst/>
          </a:prstGeom>
        </p:spPr>
      </p:pic>
      <p:pic>
        <p:nvPicPr>
          <p:cNvPr id="6" name="Image 1" descr="preencoded.png">    </p:cNvPr>
          <p:cNvPicPr>
            <a:picLocks noChangeAspect="1"/>
          </p:cNvPicPr>
          <p:nvPr/>
        </p:nvPicPr>
        <p:blipFill>
          <a:blip r:embed="rId2"/>
          <a:stretch>
            <a:fillRect/>
          </a:stretch>
        </p:blipFill>
        <p:spPr>
          <a:xfrm>
            <a:off x="261976" y="5074920"/>
            <a:ext cx="658368" cy="493776"/>
          </a:xfrm>
          <a:prstGeom prst="rect">
            <a:avLst/>
          </a:prstGeom>
        </p:spPr>
      </p:pic>
      <p:pic>
        <p:nvPicPr>
          <p:cNvPr id="7" name="Image 2" descr="preencoded.png">    </p:cNvPr>
          <p:cNvPicPr>
            <a:picLocks noChangeAspect="1"/>
          </p:cNvPicPr>
          <p:nvPr/>
        </p:nvPicPr>
        <p:blipFill>
          <a:blip r:embed="rId3"/>
          <a:stretch>
            <a:fillRect/>
          </a:stretch>
        </p:blipFill>
        <p:spPr>
          <a:xfrm>
            <a:off x="1048360" y="5074920"/>
            <a:ext cx="658368" cy="493776"/>
          </a:xfrm>
          <a:prstGeom prst="rect">
            <a:avLst/>
          </a:prstGeom>
        </p:spPr>
      </p:pic>
      <p:pic>
        <p:nvPicPr>
          <p:cNvPr id="8" name="Image 3" descr="preencoded.png">    </p:cNvPr>
          <p:cNvPicPr>
            <a:picLocks noChangeAspect="1"/>
          </p:cNvPicPr>
          <p:nvPr/>
        </p:nvPicPr>
        <p:blipFill>
          <a:blip r:embed="rId4"/>
          <a:stretch>
            <a:fillRect/>
          </a:stretch>
        </p:blipFill>
        <p:spPr>
          <a:xfrm>
            <a:off x="1834744" y="5074920"/>
            <a:ext cx="658368" cy="493776"/>
          </a:xfrm>
          <a:prstGeom prst="rect">
            <a:avLst/>
          </a:prstGeom>
        </p:spPr>
      </p:pic>
      <p:pic>
        <p:nvPicPr>
          <p:cNvPr id="9" name="Image 4" descr="preencoded.png">    </p:cNvPr>
          <p:cNvPicPr>
            <a:picLocks noChangeAspect="1"/>
          </p:cNvPicPr>
          <p:nvPr/>
        </p:nvPicPr>
        <p:blipFill>
          <a:blip r:embed="rId5"/>
          <a:stretch>
            <a:fillRect/>
          </a:stretch>
        </p:blipFill>
        <p:spPr>
          <a:xfrm>
            <a:off x="2621128" y="5074920"/>
            <a:ext cx="658368" cy="493776"/>
          </a:xfrm>
          <a:prstGeom prst="rect">
            <a:avLst/>
          </a:prstGeom>
        </p:spPr>
      </p:pic>
      <p:pic>
        <p:nvPicPr>
          <p:cNvPr id="10" name="Image 5" descr="preencoded.png">    </p:cNvPr>
          <p:cNvPicPr>
            <a:picLocks noChangeAspect="1"/>
          </p:cNvPicPr>
          <p:nvPr/>
        </p:nvPicPr>
        <p:blipFill>
          <a:blip r:embed="rId6"/>
          <a:stretch>
            <a:fillRect/>
          </a:stretch>
        </p:blipFill>
        <p:spPr>
          <a:xfrm>
            <a:off x="3407512" y="5074920"/>
            <a:ext cx="658368" cy="493776"/>
          </a:xfrm>
          <a:prstGeom prst="rect">
            <a:avLst/>
          </a:prstGeom>
        </p:spPr>
      </p:pic>
      <p:pic>
        <p:nvPicPr>
          <p:cNvPr id="11" name="Image 6" descr="preencoded.png">    </p:cNvPr>
          <p:cNvPicPr>
            <a:picLocks noChangeAspect="1"/>
          </p:cNvPicPr>
          <p:nvPr/>
        </p:nvPicPr>
        <p:blipFill>
          <a:blip r:embed="rId7"/>
          <a:stretch>
            <a:fillRect/>
          </a:stretch>
        </p:blipFill>
        <p:spPr>
          <a:xfrm>
            <a:off x="4193896" y="5074920"/>
            <a:ext cx="658368" cy="493776"/>
          </a:xfrm>
          <a:prstGeom prst="rect">
            <a:avLst/>
          </a:prstGeom>
        </p:spPr>
      </p:pic>
      <p:pic>
        <p:nvPicPr>
          <p:cNvPr id="12" name="Image 7" descr="preencoded.png">    </p:cNvPr>
          <p:cNvPicPr>
            <a:picLocks noChangeAspect="1"/>
          </p:cNvPicPr>
          <p:nvPr/>
        </p:nvPicPr>
        <p:blipFill>
          <a:blip r:embed="rId8"/>
          <a:stretch>
            <a:fillRect/>
          </a:stretch>
        </p:blipFill>
        <p:spPr>
          <a:xfrm>
            <a:off x="4980280" y="5074920"/>
            <a:ext cx="658368" cy="493776"/>
          </a:xfrm>
          <a:prstGeom prst="rect">
            <a:avLst/>
          </a:prstGeom>
        </p:spPr>
      </p:pic>
      <p:pic>
        <p:nvPicPr>
          <p:cNvPr id="13" name="Image 8" descr="preencoded.png">    </p:cNvPr>
          <p:cNvPicPr>
            <a:picLocks noChangeAspect="1"/>
          </p:cNvPicPr>
          <p:nvPr/>
        </p:nvPicPr>
        <p:blipFill>
          <a:blip r:embed="rId9"/>
          <a:stretch>
            <a:fillRect/>
          </a:stretch>
        </p:blipFill>
        <p:spPr>
          <a:xfrm>
            <a:off x="5766664" y="5074920"/>
            <a:ext cx="658368" cy="493776"/>
          </a:xfrm>
          <a:prstGeom prst="rect">
            <a:avLst/>
          </a:prstGeom>
        </p:spPr>
      </p:pic>
      <p:pic>
        <p:nvPicPr>
          <p:cNvPr id="14" name="Image 9" descr="preencoded.png">    </p:cNvPr>
          <p:cNvPicPr>
            <a:picLocks noChangeAspect="1"/>
          </p:cNvPicPr>
          <p:nvPr/>
        </p:nvPicPr>
        <p:blipFill>
          <a:blip r:embed="rId10"/>
          <a:stretch>
            <a:fillRect/>
          </a:stretch>
        </p:blipFill>
        <p:spPr>
          <a:xfrm>
            <a:off x="6553048" y="5074920"/>
            <a:ext cx="658368" cy="493776"/>
          </a:xfrm>
          <a:prstGeom prst="rect">
            <a:avLst/>
          </a:prstGeom>
        </p:spPr>
      </p:pic>
      <p:pic>
        <p:nvPicPr>
          <p:cNvPr id="15" name="Image 10" descr="preencoded.png">    </p:cNvPr>
          <p:cNvPicPr>
            <a:picLocks noChangeAspect="1"/>
          </p:cNvPicPr>
          <p:nvPr/>
        </p:nvPicPr>
        <p:blipFill>
          <a:blip r:embed="rId11"/>
          <a:stretch>
            <a:fillRect/>
          </a:stretch>
        </p:blipFill>
        <p:spPr>
          <a:xfrm>
            <a:off x="7339432" y="5074920"/>
            <a:ext cx="658368" cy="493776"/>
          </a:xfrm>
          <a:prstGeom prst="rect">
            <a:avLst/>
          </a:prstGeom>
        </p:spPr>
      </p:pic>
      <p:pic>
        <p:nvPicPr>
          <p:cNvPr id="16" name="Image 11" descr="preencoded.png">    </p:cNvPr>
          <p:cNvPicPr>
            <a:picLocks noChangeAspect="1"/>
          </p:cNvPicPr>
          <p:nvPr/>
        </p:nvPicPr>
        <p:blipFill>
          <a:blip r:embed="rId12"/>
          <a:stretch>
            <a:fillRect/>
          </a:stretch>
        </p:blipFill>
        <p:spPr>
          <a:xfrm>
            <a:off x="8125816" y="5074920"/>
            <a:ext cx="658368" cy="493776"/>
          </a:xfrm>
          <a:prstGeom prst="rect">
            <a:avLst/>
          </a:prstGeom>
        </p:spPr>
      </p:pic>
      <p:pic>
        <p:nvPicPr>
          <p:cNvPr id="17" name="Image 12" descr="preencoded.png">    </p:cNvPr>
          <p:cNvPicPr>
            <a:picLocks noChangeAspect="1"/>
          </p:cNvPicPr>
          <p:nvPr/>
        </p:nvPicPr>
        <p:blipFill>
          <a:blip r:embed="rId13"/>
          <a:stretch>
            <a:fillRect/>
          </a:stretch>
        </p:blipFill>
        <p:spPr>
          <a:xfrm>
            <a:off x="8912200" y="5074920"/>
            <a:ext cx="658368" cy="493776"/>
          </a:xfrm>
          <a:prstGeom prst="rect">
            <a:avLst/>
          </a:prstGeom>
        </p:spPr>
      </p:pic>
      <p:pic>
        <p:nvPicPr>
          <p:cNvPr id="18" name="Image 13" descr="preencoded.png">    </p:cNvPr>
          <p:cNvPicPr>
            <a:picLocks noChangeAspect="1"/>
          </p:cNvPicPr>
          <p:nvPr/>
        </p:nvPicPr>
        <p:blipFill>
          <a:blip r:embed="rId14"/>
          <a:stretch>
            <a:fillRect/>
          </a:stretch>
        </p:blipFill>
        <p:spPr>
          <a:xfrm>
            <a:off x="9698584" y="5074920"/>
            <a:ext cx="658368" cy="493776"/>
          </a:xfrm>
          <a:prstGeom prst="rect">
            <a:avLst/>
          </a:prstGeom>
        </p:spPr>
      </p:pic>
      <p:pic>
        <p:nvPicPr>
          <p:cNvPr id="19" name="Image 14" descr="preencoded.png">    </p:cNvPr>
          <p:cNvPicPr>
            <a:picLocks noChangeAspect="1"/>
          </p:cNvPicPr>
          <p:nvPr/>
        </p:nvPicPr>
        <p:blipFill>
          <a:blip r:embed="rId15"/>
          <a:stretch>
            <a:fillRect/>
          </a:stretch>
        </p:blipFill>
        <p:spPr>
          <a:xfrm>
            <a:off x="10484968" y="5074920"/>
            <a:ext cx="658368" cy="493776"/>
          </a:xfrm>
          <a:prstGeom prst="rect">
            <a:avLst/>
          </a:prstGeom>
        </p:spPr>
      </p:pic>
      <p:pic>
        <p:nvPicPr>
          <p:cNvPr id="20" name="Image 15" descr="preencoded.png">    </p:cNvPr>
          <p:cNvPicPr>
            <a:picLocks noChangeAspect="1"/>
          </p:cNvPicPr>
          <p:nvPr/>
        </p:nvPicPr>
        <p:blipFill>
          <a:blip r:embed="rId16"/>
          <a:stretch>
            <a:fillRect/>
          </a:stretch>
        </p:blipFill>
        <p:spPr>
          <a:xfrm>
            <a:off x="11271352" y="5074920"/>
            <a:ext cx="658368" cy="493776"/>
          </a:xfrm>
          <a:prstGeom prst="rect">
            <a:avLst/>
          </a:prstGeom>
        </p:spPr>
      </p:pic>
      <p:pic>
        <p:nvPicPr>
          <p:cNvPr id="21" name="Image 16" descr="preencoded.png">    </p:cNvPr>
          <p:cNvPicPr>
            <a:picLocks noChangeAspect="1"/>
          </p:cNvPicPr>
          <p:nvPr/>
        </p:nvPicPr>
        <p:blipFill>
          <a:blip r:embed="rId17"/>
          <a:stretch>
            <a:fillRect/>
          </a:stretch>
        </p:blipFill>
        <p:spPr>
          <a:xfrm>
            <a:off x="12057736" y="5074920"/>
            <a:ext cx="658368" cy="4937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94360"/>
            <a:ext cx="7315200" cy="594360"/>
          </a:xfrm>
          <a:prstGeom prst="rect">
            <a:avLst/>
          </a:prstGeom>
          <a:noFill/>
          <a:ln/>
        </p:spPr>
        <p:txBody>
          <a:bodyPr wrap="square" lIns="0" tIns="0" rIns="0" bIns="0" rtlCol="0" anchor="ctr"/>
          <a:lstStyle/>
          <a:p>
            <a:pPr indent="0" marL="0">
              <a:buNone/>
            </a:pPr>
            <a:r>
              <a:rPr lang="en-US" sz="3200" b="1" dirty="0">
                <a:solidFill>
                  <a:srgbClr val="24313A"/>
                </a:solidFill>
                <a:latin typeface="Cambria" pitchFamily="34" charset="0"/>
                <a:ea typeface="Cambria" pitchFamily="34" charset="-122"/>
                <a:cs typeface="Cambria" pitchFamily="34" charset="-120"/>
              </a:rPr>
              <a:t>Definitions</a:t>
            </a:r>
            <a:endParaRPr lang="en-US" sz="3200" dirty="0"/>
          </a:p>
        </p:txBody>
      </p:sp>
      <p:sp>
        <p:nvSpPr>
          <p:cNvPr id="3" name="Shape 1"/>
          <p:cNvSpPr/>
          <p:nvPr/>
        </p:nvSpPr>
        <p:spPr>
          <a:xfrm>
            <a:off x="457200" y="1417320"/>
            <a:ext cx="4160520" cy="4892040"/>
          </a:xfrm>
          <a:prstGeom prst="roundRect">
            <a:avLst>
              <a:gd name="adj" fmla="val 2637"/>
            </a:avLst>
          </a:prstGeom>
          <a:solidFill>
            <a:srgbClr val="EAF2EE"/>
          </a:solidFill>
          <a:ln w="12700">
            <a:solidFill>
              <a:srgbClr val="EAF2EE"/>
            </a:solidFill>
            <a:prstDash val="solid"/>
          </a:ln>
        </p:spPr>
      </p:sp>
      <p:sp>
        <p:nvSpPr>
          <p:cNvPr id="4" name="Text 2"/>
          <p:cNvSpPr txBox="1"/>
          <p:nvPr/>
        </p:nvSpPr>
        <p:spPr>
          <a:xfrm>
            <a:off x="685800" y="1572768"/>
            <a:ext cx="3749040" cy="365760"/>
          </a:xfrm>
          <a:prstGeom prst="rect">
            <a:avLst/>
          </a:prstGeom>
          <a:noFill/>
          <a:ln/>
        </p:spPr>
        <p:txBody>
          <a:bodyPr wrap="square" lIns="0" tIns="0" rIns="0" bIns="0" rtlCol="0" anchor="ctr"/>
          <a:lstStyle/>
          <a:p>
            <a:pPr indent="0" marL="0">
              <a:buNone/>
            </a:pPr>
            <a:r>
              <a:rPr lang="en-US" sz="1500" b="1" dirty="0">
                <a:solidFill>
                  <a:srgbClr val="24313A"/>
                </a:solidFill>
                <a:latin typeface="Calibri" pitchFamily="34" charset="0"/>
                <a:ea typeface="Calibri" pitchFamily="34" charset="-122"/>
                <a:cs typeface="Calibri" pitchFamily="34" charset="-120"/>
              </a:rPr>
              <a:t>Target population: former teachers</a:t>
            </a:r>
            <a:endParaRPr lang="en-US" sz="1500" dirty="0"/>
          </a:p>
        </p:txBody>
      </p:sp>
      <p:sp>
        <p:nvSpPr>
          <p:cNvPr id="5" name="Shape 3"/>
          <p:cNvSpPr/>
          <p:nvPr/>
        </p:nvSpPr>
        <p:spPr>
          <a:xfrm>
            <a:off x="713232" y="2139696"/>
            <a:ext cx="502920" cy="502920"/>
          </a:xfrm>
          <a:prstGeom prst="ellipse">
            <a:avLst/>
          </a:prstGeom>
          <a:solidFill>
            <a:srgbClr val="1F4E46"/>
          </a:solidFill>
          <a:ln w="12700">
            <a:solidFill>
              <a:srgbClr val="1F4E46"/>
            </a:solidFill>
            <a:prstDash val="solid"/>
          </a:ln>
        </p:spPr>
      </p:sp>
      <p:pic>
        <p:nvPicPr>
          <p:cNvPr id="6" name="Image 0" descr="preencoded.png">    </p:cNvPr>
          <p:cNvPicPr>
            <a:picLocks noChangeAspect="1"/>
          </p:cNvPicPr>
          <p:nvPr/>
        </p:nvPicPr>
        <p:blipFill>
          <a:blip r:embed="rId1"/>
          <a:stretch>
            <a:fillRect/>
          </a:stretch>
        </p:blipFill>
        <p:spPr>
          <a:xfrm>
            <a:off x="833933" y="2260397"/>
            <a:ext cx="261518" cy="261518"/>
          </a:xfrm>
          <a:prstGeom prst="rect">
            <a:avLst/>
          </a:prstGeom>
        </p:spPr>
      </p:pic>
      <p:sp>
        <p:nvSpPr>
          <p:cNvPr id="7" name="Text 4"/>
          <p:cNvSpPr txBox="1"/>
          <p:nvPr/>
        </p:nvSpPr>
        <p:spPr>
          <a:xfrm>
            <a:off x="1371600" y="2103120"/>
            <a:ext cx="3108960" cy="292608"/>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(a) Switchers</a:t>
            </a:r>
            <a:endParaRPr lang="en-US" sz="1300" dirty="0"/>
          </a:p>
        </p:txBody>
      </p:sp>
      <p:sp>
        <p:nvSpPr>
          <p:cNvPr id="8" name="Text 5"/>
          <p:cNvSpPr txBox="1"/>
          <p:nvPr/>
        </p:nvSpPr>
        <p:spPr>
          <a:xfrm>
            <a:off x="1371600" y="2395728"/>
            <a:ext cx="3108960" cy="548640"/>
          </a:xfrm>
          <a:prstGeom prst="rect">
            <a:avLst/>
          </a:prstGeom>
          <a:noFill/>
          <a:ln/>
        </p:spPr>
        <p:txBody>
          <a:bodyPr wrap="square" lIns="0" tIns="0" rIns="0" bIns="0" rtlCol="0" anchor="t"/>
          <a:lstStyle/>
          <a:p>
            <a:pPr indent="0" marL="0">
              <a:buNone/>
            </a:pPr>
            <a:r>
              <a:rPr lang="en-US" sz="1150" dirty="0">
                <a:solidFill>
                  <a:srgbClr val="24313A"/>
                </a:solidFill>
                <a:latin typeface="Calibri" pitchFamily="34" charset="0"/>
                <a:ea typeface="Calibri" pitchFamily="34" charset="-122"/>
                <a:cs typeface="Calibri" pitchFamily="34" charset="-120"/>
              </a:rPr>
              <a:t>Left the teaching profession to work in another sector.</a:t>
            </a:r>
            <a:endParaRPr lang="en-US" sz="1150" dirty="0"/>
          </a:p>
        </p:txBody>
      </p:sp>
      <p:sp>
        <p:nvSpPr>
          <p:cNvPr id="9" name="Shape 6"/>
          <p:cNvSpPr/>
          <p:nvPr/>
        </p:nvSpPr>
        <p:spPr>
          <a:xfrm>
            <a:off x="713232" y="3072384"/>
            <a:ext cx="502920" cy="50292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833933" y="3193085"/>
            <a:ext cx="261518" cy="261518"/>
          </a:xfrm>
          <a:prstGeom prst="rect">
            <a:avLst/>
          </a:prstGeom>
        </p:spPr>
      </p:pic>
      <p:sp>
        <p:nvSpPr>
          <p:cNvPr id="11" name="Text 7"/>
          <p:cNvSpPr txBox="1"/>
          <p:nvPr/>
        </p:nvSpPr>
        <p:spPr>
          <a:xfrm>
            <a:off x="1371600" y="3035808"/>
            <a:ext cx="3108960" cy="292608"/>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(b) Leavers</a:t>
            </a:r>
            <a:endParaRPr lang="en-US" sz="1300" dirty="0"/>
          </a:p>
        </p:txBody>
      </p:sp>
      <p:sp>
        <p:nvSpPr>
          <p:cNvPr id="12" name="Text 8"/>
          <p:cNvSpPr txBox="1"/>
          <p:nvPr/>
        </p:nvSpPr>
        <p:spPr>
          <a:xfrm>
            <a:off x="1371600" y="3328416"/>
            <a:ext cx="3108960" cy="548640"/>
          </a:xfrm>
          <a:prstGeom prst="rect">
            <a:avLst/>
          </a:prstGeom>
          <a:noFill/>
          <a:ln/>
        </p:spPr>
        <p:txBody>
          <a:bodyPr wrap="square" lIns="0" tIns="0" rIns="0" bIns="0" rtlCol="0" anchor="t"/>
          <a:lstStyle/>
          <a:p>
            <a:pPr indent="0" marL="0">
              <a:buNone/>
            </a:pPr>
            <a:r>
              <a:rPr lang="en-US" sz="1150" dirty="0">
                <a:solidFill>
                  <a:srgbClr val="24313A"/>
                </a:solidFill>
                <a:latin typeface="Calibri" pitchFamily="34" charset="0"/>
                <a:ea typeface="Calibri" pitchFamily="34" charset="-122"/>
                <a:cs typeface="Calibri" pitchFamily="34" charset="-120"/>
              </a:rPr>
              <a:t>Left the teaching profession and the labour market altogether (not employed).</a:t>
            </a:r>
            <a:endParaRPr lang="en-US" sz="1150" dirty="0"/>
          </a:p>
        </p:txBody>
      </p:sp>
      <p:sp>
        <p:nvSpPr>
          <p:cNvPr id="13" name="Shape 9"/>
          <p:cNvSpPr/>
          <p:nvPr/>
        </p:nvSpPr>
        <p:spPr>
          <a:xfrm>
            <a:off x="713232" y="4005072"/>
            <a:ext cx="502920" cy="502920"/>
          </a:xfrm>
          <a:prstGeom prst="ellipse">
            <a:avLst/>
          </a:prstGeom>
          <a:solidFill>
            <a:srgbClr val="1F4E46"/>
          </a:solidFill>
          <a:ln w="12700">
            <a:solidFill>
              <a:srgbClr val="1F4E46"/>
            </a:solidFill>
            <a:prstDash val="solid"/>
          </a:ln>
        </p:spPr>
      </p:sp>
      <p:pic>
        <p:nvPicPr>
          <p:cNvPr id="14" name="Image 2" descr="preencoded.png">    </p:cNvPr>
          <p:cNvPicPr>
            <a:picLocks noChangeAspect="1"/>
          </p:cNvPicPr>
          <p:nvPr/>
        </p:nvPicPr>
        <p:blipFill>
          <a:blip r:embed="rId3"/>
          <a:stretch>
            <a:fillRect/>
          </a:stretch>
        </p:blipFill>
        <p:spPr>
          <a:xfrm>
            <a:off x="833933" y="4125773"/>
            <a:ext cx="261518" cy="261518"/>
          </a:xfrm>
          <a:prstGeom prst="rect">
            <a:avLst/>
          </a:prstGeom>
        </p:spPr>
      </p:pic>
      <p:sp>
        <p:nvSpPr>
          <p:cNvPr id="15" name="Text 10"/>
          <p:cNvSpPr txBox="1"/>
          <p:nvPr/>
        </p:nvSpPr>
        <p:spPr>
          <a:xfrm>
            <a:off x="1371600" y="3968496"/>
            <a:ext cx="3108960" cy="292608"/>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(c) Retired</a:t>
            </a:r>
            <a:endParaRPr lang="en-US" sz="1300" dirty="0"/>
          </a:p>
        </p:txBody>
      </p:sp>
      <p:sp>
        <p:nvSpPr>
          <p:cNvPr id="16" name="Text 11"/>
          <p:cNvSpPr txBox="1"/>
          <p:nvPr/>
        </p:nvSpPr>
        <p:spPr>
          <a:xfrm>
            <a:off x="1371600" y="4261104"/>
            <a:ext cx="3108960" cy="548640"/>
          </a:xfrm>
          <a:prstGeom prst="rect">
            <a:avLst/>
          </a:prstGeom>
          <a:noFill/>
          <a:ln/>
        </p:spPr>
        <p:txBody>
          <a:bodyPr wrap="square" lIns="0" tIns="0" rIns="0" bIns="0" rtlCol="0" anchor="t"/>
          <a:lstStyle/>
          <a:p>
            <a:pPr indent="0" marL="0">
              <a:buNone/>
            </a:pPr>
            <a:r>
              <a:rPr lang="en-US" sz="1150" dirty="0">
                <a:solidFill>
                  <a:srgbClr val="24313A"/>
                </a:solidFill>
                <a:latin typeface="Calibri" pitchFamily="34" charset="0"/>
                <a:ea typeface="Calibri" pitchFamily="34" charset="-122"/>
                <a:cs typeface="Calibri" pitchFamily="34" charset="-120"/>
              </a:rPr>
              <a:t>Retired from teaching.</a:t>
            </a:r>
            <a:endParaRPr lang="en-US" sz="1150" dirty="0"/>
          </a:p>
        </p:txBody>
      </p:sp>
      <p:sp>
        <p:nvSpPr>
          <p:cNvPr id="17" name="Shape 12"/>
          <p:cNvSpPr/>
          <p:nvPr/>
        </p:nvSpPr>
        <p:spPr>
          <a:xfrm>
            <a:off x="4846320" y="1417320"/>
            <a:ext cx="6885432" cy="4892040"/>
          </a:xfrm>
          <a:prstGeom prst="roundRect">
            <a:avLst>
              <a:gd name="adj" fmla="val 2243"/>
            </a:avLst>
          </a:prstGeom>
          <a:solidFill>
            <a:srgbClr val="EAF2EE"/>
          </a:solidFill>
          <a:ln w="12700">
            <a:solidFill>
              <a:srgbClr val="EAF2EE"/>
            </a:solidFill>
            <a:prstDash val="solid"/>
          </a:ln>
        </p:spPr>
      </p:sp>
      <p:sp>
        <p:nvSpPr>
          <p:cNvPr id="18" name="Text 13"/>
          <p:cNvSpPr txBox="1"/>
          <p:nvPr/>
        </p:nvSpPr>
        <p:spPr>
          <a:xfrm>
            <a:off x="5074920" y="1572768"/>
            <a:ext cx="6492240" cy="365760"/>
          </a:xfrm>
          <a:prstGeom prst="rect">
            <a:avLst/>
          </a:prstGeom>
          <a:noFill/>
          <a:ln/>
        </p:spPr>
        <p:txBody>
          <a:bodyPr wrap="square" lIns="0" tIns="0" rIns="0" bIns="0" rtlCol="0" anchor="ctr"/>
          <a:lstStyle/>
          <a:p>
            <a:pPr indent="0" marL="0">
              <a:buNone/>
            </a:pPr>
            <a:r>
              <a:rPr lang="en-US" sz="1500" b="1" dirty="0">
                <a:solidFill>
                  <a:srgbClr val="24313A"/>
                </a:solidFill>
                <a:latin typeface="Calibri" pitchFamily="34" charset="0"/>
                <a:ea typeface="Calibri" pitchFamily="34" charset="-122"/>
                <a:cs typeface="Calibri" pitchFamily="34" charset="-120"/>
              </a:rPr>
              <a:t>Five categories: each policy is classified by the instrument it uses</a:t>
            </a:r>
            <a:endParaRPr lang="en-US" sz="1500" dirty="0"/>
          </a:p>
        </p:txBody>
      </p:sp>
      <p:sp>
        <p:nvSpPr>
          <p:cNvPr id="19" name="Shape 14"/>
          <p:cNvSpPr/>
          <p:nvPr/>
        </p:nvSpPr>
        <p:spPr>
          <a:xfrm>
            <a:off x="5102352" y="2139696"/>
            <a:ext cx="502920" cy="502920"/>
          </a:xfrm>
          <a:prstGeom prst="ellipse">
            <a:avLst/>
          </a:prstGeom>
          <a:solidFill>
            <a:srgbClr val="1F4E46"/>
          </a:solidFill>
          <a:ln w="12700">
            <a:solidFill>
              <a:srgbClr val="1F4E46"/>
            </a:solidFill>
            <a:prstDash val="solid"/>
          </a:ln>
        </p:spPr>
      </p:sp>
      <p:pic>
        <p:nvPicPr>
          <p:cNvPr id="20" name="Image 3" descr="preencoded.png">    </p:cNvPr>
          <p:cNvPicPr>
            <a:picLocks noChangeAspect="1"/>
          </p:cNvPicPr>
          <p:nvPr/>
        </p:nvPicPr>
        <p:blipFill>
          <a:blip r:embed="rId4"/>
          <a:stretch>
            <a:fillRect/>
          </a:stretch>
        </p:blipFill>
        <p:spPr>
          <a:xfrm>
            <a:off x="5223053" y="2260397"/>
            <a:ext cx="261518" cy="261518"/>
          </a:xfrm>
          <a:prstGeom prst="rect">
            <a:avLst/>
          </a:prstGeom>
        </p:spPr>
      </p:pic>
      <p:sp>
        <p:nvSpPr>
          <p:cNvPr id="21" name="Text 15"/>
          <p:cNvSpPr txBox="1"/>
          <p:nvPr/>
        </p:nvSpPr>
        <p:spPr>
          <a:xfrm>
            <a:off x="5760720" y="210312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Financial incentives</a:t>
            </a:r>
            <a:endParaRPr lang="en-US" sz="1300" dirty="0"/>
          </a:p>
        </p:txBody>
      </p:sp>
      <p:sp>
        <p:nvSpPr>
          <p:cNvPr id="22" name="Text 16"/>
          <p:cNvSpPr txBox="1"/>
          <p:nvPr/>
        </p:nvSpPr>
        <p:spPr>
          <a:xfrm>
            <a:off x="5760720" y="237744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Direct payments or legal changes with an economic effect: rules letting retirees draw salary plus pension, return bonuses for switchers or leavers, bonuses for schools that re-hire them.</a:t>
            </a:r>
            <a:endParaRPr lang="en-US" sz="1100" dirty="0"/>
          </a:p>
        </p:txBody>
      </p:sp>
      <p:sp>
        <p:nvSpPr>
          <p:cNvPr id="23" name="Shape 17"/>
          <p:cNvSpPr/>
          <p:nvPr/>
        </p:nvSpPr>
        <p:spPr>
          <a:xfrm>
            <a:off x="5102352" y="2962656"/>
            <a:ext cx="502920" cy="502920"/>
          </a:xfrm>
          <a:prstGeom prst="ellipse">
            <a:avLst/>
          </a:prstGeom>
          <a:solidFill>
            <a:srgbClr val="1F4E46"/>
          </a:solidFill>
          <a:ln w="12700">
            <a:solidFill>
              <a:srgbClr val="1F4E46"/>
            </a:solidFill>
            <a:prstDash val="solid"/>
          </a:ln>
        </p:spPr>
      </p:sp>
      <p:pic>
        <p:nvPicPr>
          <p:cNvPr id="24" name="Image 4" descr="preencoded.png">    </p:cNvPr>
          <p:cNvPicPr>
            <a:picLocks noChangeAspect="1"/>
          </p:cNvPicPr>
          <p:nvPr/>
        </p:nvPicPr>
        <p:blipFill>
          <a:blip r:embed="rId5"/>
          <a:stretch>
            <a:fillRect/>
          </a:stretch>
        </p:blipFill>
        <p:spPr>
          <a:xfrm>
            <a:off x="5223053" y="3083357"/>
            <a:ext cx="261518" cy="261518"/>
          </a:xfrm>
          <a:prstGeom prst="rect">
            <a:avLst/>
          </a:prstGeom>
        </p:spPr>
      </p:pic>
      <p:sp>
        <p:nvSpPr>
          <p:cNvPr id="25" name="Text 18"/>
          <p:cNvSpPr txBox="1"/>
          <p:nvPr/>
        </p:nvSpPr>
        <p:spPr>
          <a:xfrm>
            <a:off x="5760720" y="292608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Information &amp; nudges</a:t>
            </a:r>
            <a:endParaRPr lang="en-US" sz="1300" dirty="0"/>
          </a:p>
        </p:txBody>
      </p:sp>
      <p:sp>
        <p:nvSpPr>
          <p:cNvPr id="26" name="Text 19"/>
          <p:cNvSpPr txBox="1"/>
          <p:nvPr/>
        </p:nvSpPr>
        <p:spPr>
          <a:xfrm>
            <a:off x="5760720" y="320040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Informing, reminding or prompting the decision to return without changing economic incentives: information sessions, career guidance or peer mentoring, a leaflet with the retirement form, personalised letters, calls or e-mails.</a:t>
            </a:r>
            <a:endParaRPr lang="en-US" sz="1100" dirty="0"/>
          </a:p>
        </p:txBody>
      </p:sp>
      <p:sp>
        <p:nvSpPr>
          <p:cNvPr id="27" name="Shape 20"/>
          <p:cNvSpPr/>
          <p:nvPr/>
        </p:nvSpPr>
        <p:spPr>
          <a:xfrm>
            <a:off x="5102352" y="3785616"/>
            <a:ext cx="502920" cy="502920"/>
          </a:xfrm>
          <a:prstGeom prst="ellipse">
            <a:avLst/>
          </a:prstGeom>
          <a:solidFill>
            <a:srgbClr val="1F4E46"/>
          </a:solidFill>
          <a:ln w="12700">
            <a:solidFill>
              <a:srgbClr val="1F4E46"/>
            </a:solidFill>
            <a:prstDash val="solid"/>
          </a:ln>
        </p:spPr>
      </p:sp>
      <p:pic>
        <p:nvPicPr>
          <p:cNvPr id="28" name="Image 5" descr="preencoded.png">    </p:cNvPr>
          <p:cNvPicPr>
            <a:picLocks noChangeAspect="1"/>
          </p:cNvPicPr>
          <p:nvPr/>
        </p:nvPicPr>
        <p:blipFill>
          <a:blip r:embed="rId6"/>
          <a:stretch>
            <a:fillRect/>
          </a:stretch>
        </p:blipFill>
        <p:spPr>
          <a:xfrm>
            <a:off x="5223053" y="3906317"/>
            <a:ext cx="261518" cy="261518"/>
          </a:xfrm>
          <a:prstGeom prst="rect">
            <a:avLst/>
          </a:prstGeom>
        </p:spPr>
      </p:pic>
      <p:sp>
        <p:nvSpPr>
          <p:cNvPr id="29" name="Text 21"/>
          <p:cNvSpPr txBox="1"/>
          <p:nvPr/>
        </p:nvSpPr>
        <p:spPr>
          <a:xfrm>
            <a:off x="5760720" y="374904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Support &amp; training</a:t>
            </a:r>
            <a:endParaRPr lang="en-US" sz="1300" dirty="0"/>
          </a:p>
        </p:txBody>
      </p:sp>
      <p:sp>
        <p:nvSpPr>
          <p:cNvPr id="30" name="Text 22"/>
          <p:cNvSpPr txBox="1"/>
          <p:nvPr/>
        </p:nvSpPr>
        <p:spPr>
          <a:xfrm>
            <a:off x="5760720" y="402336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Refresher courses, return-to-teaching programmes, induction and coaching that make re-entry easier.</a:t>
            </a:r>
            <a:endParaRPr lang="en-US" sz="1100" dirty="0"/>
          </a:p>
        </p:txBody>
      </p:sp>
      <p:sp>
        <p:nvSpPr>
          <p:cNvPr id="31" name="Shape 23"/>
          <p:cNvSpPr/>
          <p:nvPr/>
        </p:nvSpPr>
        <p:spPr>
          <a:xfrm>
            <a:off x="5102352" y="4608576"/>
            <a:ext cx="502920" cy="502920"/>
          </a:xfrm>
          <a:prstGeom prst="ellipse">
            <a:avLst/>
          </a:prstGeom>
          <a:solidFill>
            <a:srgbClr val="1F4E46"/>
          </a:solidFill>
          <a:ln w="12700">
            <a:solidFill>
              <a:srgbClr val="1F4E46"/>
            </a:solidFill>
            <a:prstDash val="solid"/>
          </a:ln>
        </p:spPr>
      </p:sp>
      <p:pic>
        <p:nvPicPr>
          <p:cNvPr id="32" name="Image 6" descr="preencoded.png">    </p:cNvPr>
          <p:cNvPicPr>
            <a:picLocks noChangeAspect="1"/>
          </p:cNvPicPr>
          <p:nvPr/>
        </p:nvPicPr>
        <p:blipFill>
          <a:blip r:embed="rId7"/>
          <a:stretch>
            <a:fillRect/>
          </a:stretch>
        </p:blipFill>
        <p:spPr>
          <a:xfrm>
            <a:off x="5223053" y="4729277"/>
            <a:ext cx="261518" cy="261518"/>
          </a:xfrm>
          <a:prstGeom prst="rect">
            <a:avLst/>
          </a:prstGeom>
        </p:spPr>
      </p:pic>
      <p:sp>
        <p:nvSpPr>
          <p:cNvPr id="33" name="Text 24"/>
          <p:cNvSpPr txBox="1"/>
          <p:nvPr/>
        </p:nvSpPr>
        <p:spPr>
          <a:xfrm>
            <a:off x="5760720" y="457200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Flexible positions</a:t>
            </a:r>
            <a:endParaRPr lang="en-US" sz="1300" dirty="0"/>
          </a:p>
        </p:txBody>
      </p:sp>
      <p:sp>
        <p:nvSpPr>
          <p:cNvPr id="34" name="Text 25"/>
          <p:cNvSpPr txBox="1"/>
          <p:nvPr/>
        </p:nvSpPr>
        <p:spPr>
          <a:xfrm>
            <a:off x="5760720" y="484632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Roles other than a full-time teaching post: tutoring pupils, mentoring future or novice teachers, part-time or flexible substitute work.</a:t>
            </a:r>
            <a:endParaRPr lang="en-US" sz="1100" dirty="0"/>
          </a:p>
        </p:txBody>
      </p:sp>
      <p:sp>
        <p:nvSpPr>
          <p:cNvPr id="35" name="Shape 26"/>
          <p:cNvSpPr/>
          <p:nvPr/>
        </p:nvSpPr>
        <p:spPr>
          <a:xfrm>
            <a:off x="5102352" y="5431536"/>
            <a:ext cx="502920" cy="502920"/>
          </a:xfrm>
          <a:prstGeom prst="ellipse">
            <a:avLst/>
          </a:prstGeom>
          <a:solidFill>
            <a:srgbClr val="1F4E46"/>
          </a:solidFill>
          <a:ln w="12700">
            <a:solidFill>
              <a:srgbClr val="1F4E46"/>
            </a:solidFill>
            <a:prstDash val="solid"/>
          </a:ln>
        </p:spPr>
      </p:sp>
      <p:pic>
        <p:nvPicPr>
          <p:cNvPr id="36" name="Image 7" descr="preencoded.png">    </p:cNvPr>
          <p:cNvPicPr>
            <a:picLocks noChangeAspect="1"/>
          </p:cNvPicPr>
          <p:nvPr/>
        </p:nvPicPr>
        <p:blipFill>
          <a:blip r:embed="rId8"/>
          <a:stretch>
            <a:fillRect/>
          </a:stretch>
        </p:blipFill>
        <p:spPr>
          <a:xfrm>
            <a:off x="5223053" y="5552237"/>
            <a:ext cx="261518" cy="261518"/>
          </a:xfrm>
          <a:prstGeom prst="rect">
            <a:avLst/>
          </a:prstGeom>
        </p:spPr>
      </p:pic>
      <p:sp>
        <p:nvSpPr>
          <p:cNvPr id="37" name="Text 27"/>
          <p:cNvSpPr txBox="1"/>
          <p:nvPr/>
        </p:nvSpPr>
        <p:spPr>
          <a:xfrm>
            <a:off x="5760720" y="539496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Flexible re-certification</a:t>
            </a:r>
            <a:endParaRPr lang="en-US" sz="1300" dirty="0"/>
          </a:p>
        </p:txBody>
      </p:sp>
      <p:sp>
        <p:nvSpPr>
          <p:cNvPr id="38" name="Text 28"/>
          <p:cNvSpPr txBox="1"/>
          <p:nvPr/>
        </p:nvSpPr>
        <p:spPr>
          <a:xfrm>
            <a:off x="5760720" y="566928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Lowering administrative or training barriers where former teachers must re-certify: fewer compulsory course days, simplified procedures, limited teaching hours while re-certifying.</a:t>
            </a:r>
            <a:endParaRPr lang="en-US" sz="1100" dirty="0"/>
          </a:p>
        </p:txBody>
      </p:sp>
      <p:sp>
        <p:nvSpPr>
          <p:cNvPr id="39" name="Text 29"/>
          <p:cNvSpPr txBox="1"/>
          <p:nvPr/>
        </p:nvSpPr>
        <p:spPr>
          <a:xfrm>
            <a:off x="548640" y="6419088"/>
            <a:ext cx="2377440" cy="274320"/>
          </a:xfrm>
          <a:prstGeom prst="rect">
            <a:avLst/>
          </a:prstGeom>
          <a:noFill/>
          <a:ln/>
        </p:spPr>
        <p:txBody>
          <a:bodyPr wrap="square" lIns="0" tIns="0" rIns="0" bIns="0" rtlCol="0" anchor="ctr"/>
          <a:lstStyle/>
          <a:p>
            <a:pPr indent="0" marL="0">
              <a:buNone/>
            </a:pPr>
            <a:r>
              <a:rPr lang="en-US" sz="950" b="1" dirty="0">
                <a:solidFill>
                  <a:srgbClr val="24313A"/>
                </a:solidFill>
                <a:latin typeface="Calibri" pitchFamily="34" charset="0"/>
                <a:ea typeface="Calibri" pitchFamily="34" charset="-122"/>
                <a:cs typeface="Calibri" pitchFamily="34" charset="-120"/>
              </a:rPr>
              <a:t>Scale label on each policy slide:</a:t>
            </a:r>
            <a:endParaRPr lang="en-US" sz="950" dirty="0"/>
          </a:p>
        </p:txBody>
      </p:sp>
      <p:sp>
        <p:nvSpPr>
          <p:cNvPr id="40" name="Shape 30"/>
          <p:cNvSpPr/>
          <p:nvPr/>
        </p:nvSpPr>
        <p:spPr>
          <a:xfrm>
            <a:off x="2834640" y="6496812"/>
            <a:ext cx="109728" cy="109728"/>
          </a:xfrm>
          <a:prstGeom prst="ellipse">
            <a:avLst/>
          </a:prstGeom>
          <a:solidFill>
            <a:srgbClr val="1F4E46"/>
          </a:solidFill>
          <a:ln w="12700">
            <a:solidFill>
              <a:srgbClr val="1F4E46"/>
            </a:solidFill>
            <a:prstDash val="solid"/>
          </a:ln>
        </p:spPr>
      </p:sp>
      <p:sp>
        <p:nvSpPr>
          <p:cNvPr id="41" name="Text 31"/>
          <p:cNvSpPr txBox="1"/>
          <p:nvPr/>
        </p:nvSpPr>
        <p:spPr>
          <a:xfrm>
            <a:off x="2999232" y="6419088"/>
            <a:ext cx="2743200" cy="274320"/>
          </a:xfrm>
          <a:prstGeom prst="rect">
            <a:avLst/>
          </a:prstGeom>
          <a:noFill/>
          <a:ln/>
        </p:spPr>
        <p:txBody>
          <a:bodyPr wrap="square" lIns="0" tIns="0" rIns="0" bIns="0" rtlCol="0" anchor="ctr"/>
          <a:lstStyle/>
          <a:p>
            <a:pPr indent="0" marL="0">
              <a:buNone/>
            </a:pPr>
            <a:r>
              <a:rPr lang="en-US" sz="950" dirty="0">
                <a:solidFill>
                  <a:srgbClr val="24313A"/>
                </a:solidFill>
                <a:latin typeface="Calibri" pitchFamily="34" charset="0"/>
                <a:ea typeface="Calibri" pitchFamily="34" charset="-122"/>
                <a:cs typeface="Calibri" pitchFamily="34" charset="-120"/>
              </a:rPr>
              <a:t>Large = national</a:t>
            </a:r>
            <a:endParaRPr lang="en-US" sz="950" dirty="0"/>
          </a:p>
        </p:txBody>
      </p:sp>
      <p:sp>
        <p:nvSpPr>
          <p:cNvPr id="42" name="Shape 32"/>
          <p:cNvSpPr/>
          <p:nvPr/>
        </p:nvSpPr>
        <p:spPr>
          <a:xfrm>
            <a:off x="4297680" y="6496812"/>
            <a:ext cx="109728" cy="109728"/>
          </a:xfrm>
          <a:prstGeom prst="ellipse">
            <a:avLst/>
          </a:prstGeom>
          <a:solidFill>
            <a:srgbClr val="C8892B"/>
          </a:solidFill>
          <a:ln w="12700">
            <a:solidFill>
              <a:srgbClr val="C8892B"/>
            </a:solidFill>
            <a:prstDash val="solid"/>
          </a:ln>
        </p:spPr>
      </p:sp>
      <p:sp>
        <p:nvSpPr>
          <p:cNvPr id="43" name="Text 33"/>
          <p:cNvSpPr txBox="1"/>
          <p:nvPr/>
        </p:nvSpPr>
        <p:spPr>
          <a:xfrm>
            <a:off x="4462272" y="6419088"/>
            <a:ext cx="2743200" cy="274320"/>
          </a:xfrm>
          <a:prstGeom prst="rect">
            <a:avLst/>
          </a:prstGeom>
          <a:noFill/>
          <a:ln/>
        </p:spPr>
        <p:txBody>
          <a:bodyPr wrap="square" lIns="0" tIns="0" rIns="0" bIns="0" rtlCol="0" anchor="ctr"/>
          <a:lstStyle/>
          <a:p>
            <a:pPr indent="0" marL="0">
              <a:buNone/>
            </a:pPr>
            <a:r>
              <a:rPr lang="en-US" sz="950" dirty="0">
                <a:solidFill>
                  <a:srgbClr val="24313A"/>
                </a:solidFill>
                <a:latin typeface="Calibri" pitchFamily="34" charset="0"/>
                <a:ea typeface="Calibri" pitchFamily="34" charset="-122"/>
                <a:cs typeface="Calibri" pitchFamily="34" charset="-120"/>
              </a:rPr>
              <a:t>Medium = state, region, province or canton</a:t>
            </a:r>
            <a:endParaRPr lang="en-US" sz="950" dirty="0"/>
          </a:p>
        </p:txBody>
      </p:sp>
      <p:sp>
        <p:nvSpPr>
          <p:cNvPr id="44" name="Shape 34"/>
          <p:cNvSpPr/>
          <p:nvPr/>
        </p:nvSpPr>
        <p:spPr>
          <a:xfrm>
            <a:off x="7132320" y="6496812"/>
            <a:ext cx="109728" cy="109728"/>
          </a:xfrm>
          <a:prstGeom prst="ellipse">
            <a:avLst/>
          </a:prstGeom>
          <a:solidFill>
            <a:srgbClr val="B3542E"/>
          </a:solidFill>
          <a:ln w="12700">
            <a:solidFill>
              <a:srgbClr val="B3542E"/>
            </a:solidFill>
            <a:prstDash val="solid"/>
          </a:ln>
        </p:spPr>
      </p:sp>
      <p:sp>
        <p:nvSpPr>
          <p:cNvPr id="45" name="Text 35"/>
          <p:cNvSpPr txBox="1"/>
          <p:nvPr/>
        </p:nvSpPr>
        <p:spPr>
          <a:xfrm>
            <a:off x="7296912" y="6419088"/>
            <a:ext cx="2743200" cy="274320"/>
          </a:xfrm>
          <a:prstGeom prst="rect">
            <a:avLst/>
          </a:prstGeom>
          <a:noFill/>
          <a:ln/>
        </p:spPr>
        <p:txBody>
          <a:bodyPr wrap="square" lIns="0" tIns="0" rIns="0" bIns="0" rtlCol="0" anchor="ctr"/>
          <a:lstStyle/>
          <a:p>
            <a:pPr indent="0" marL="0">
              <a:buNone/>
            </a:pPr>
            <a:r>
              <a:rPr lang="en-US" sz="950" dirty="0">
                <a:solidFill>
                  <a:srgbClr val="24313A"/>
                </a:solidFill>
                <a:latin typeface="Calibri" pitchFamily="34" charset="0"/>
                <a:ea typeface="Calibri" pitchFamily="34" charset="-122"/>
                <a:cs typeface="Calibri" pitchFamily="34" charset="-120"/>
              </a:rPr>
              <a:t>Small = district, city or single institution</a:t>
            </a:r>
            <a:endParaRPr lang="en-US" sz="950" dirty="0"/>
          </a:p>
        </p:txBody>
      </p:sp>
      <p:sp>
        <p:nvSpPr>
          <p:cNvPr id="46" name="Text 36"/>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Teachers Re-Engage: the department calls back recent leavers (2023–24)</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Teachers Re-Engage was launched by the New South Wales Department of Education in November 2023, when public schools had more than 3,000 vacancies. Instead of advertising, the department used its own staff records to contact directly more than 1,500 teachers who had resigned in the previous five years and ask them to consider coming back. Those interested were offered a fast route to renew their accreditation and a placement in casual or temporary work, with the possibility of moving to a permanent post later. By May 2024 more than 260 former teachers had expressed interest and 145 had been placed in over 600 schools, about sixty percent of them coming out of retirement according to the department. No later figures have been published.</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 · Flexible positions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nsw.gov.au/media-releases/retired-teachers-return-to-classrooms" history="1" highlightClick="0" endSnd="0">
                  <a:extLst>
                    <a:ext uri="{A12FA001-AC4F-418D-AE19-62706E023703}">
                      <ahyp:hlinkClr xmlns:ahyp="http://schemas.microsoft.com/office/drawing/2018/hyperlinkcolor" val="tx"/>
                    </a:ext>
                  </a:extLst>
                </a:hlinkClick>
              </a:rPr>
              <a:t>https://www.nsw.gov.au/media-releases/retired-teachers-return-to-classrooms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education.nsw.gov.au/teach-nsw/find-teaching-jobs/returning-teachers" history="1" highlightClick="0" endSnd="0">
                  <a:extLst>
                    <a:ext uri="{A12FA001-AC4F-418D-AE19-62706E023703}">
                      <ahyp:hlinkClr xmlns:ahyp="http://schemas.microsoft.com/office/drawing/2018/hyperlinkcolor" val="tx"/>
                    </a:ext>
                  </a:extLst>
                </a:hlinkClick>
              </a:rPr>
              <a:t>https://education.nsw.gov.au/teach-nsw/find-teaching-jobs/returning-teachers</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Re-Engagement Initiative (TREI), 2022–2025</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Teacher Re-Engagement Initiative is a scheme of the Department of Education of the state of Victoria for qualified teachers who stopped teaching at least a year ago, whether they retired or moved to another job. It lets them spend up to forty paid days in a public school to get used to the classroom again before they apply for a real post. After a teacher registers, a team from the department calls them, offers free coaching on writing a CV, preparing for interviews and the current curriculum, and finds them a school; during the forty days they observe lessons, teach and are guided by serving teachers. Those returning from retirement or a career break are paid up to 12,000 Australian dollars (about 7,200 euros) for the forty days. The initiative began in late 2022, received more than 1,100 expressions of interest in its first months and was given 12 million Australian dollars (about 7.2 million euros) in the 2023/24 state budget; placements ran until June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 · 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vic.gov.au/teacher-re-engagement-initiative" history="1" highlightClick="0" endSnd="0">
                  <a:extLst>
                    <a:ext uri="{A12FA001-AC4F-418D-AE19-62706E023703}">
                      <ahyp:hlinkClr xmlns:ahyp="http://schemas.microsoft.com/office/drawing/2018/hyperlinkcolor" val="tx"/>
                    </a:ext>
                  </a:extLst>
                </a:hlinkClick>
              </a:rPr>
              <a:t>https://www.vic.gov.au/teacher-re-engagement-initiative</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Austria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Regional education authorities recruit retired teachers back (2022–)</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Faced with a shortage driven by a wave of retirements, Austria's regional education directorates started asking retired teachers to come back. In December 2022 the Vienna directorate wrote to about 300 recently retired teachers; only three said yes, so in February 2023 it changed tack and told every school principal to talk personally with teachers approaching 65 about staying on, often with reduced hours. Vorarlberg created a dedicated post to promote the option and other regions had principals approach retirement-age staff directly. A teacher who returns keeps the full pension and signs a separate contract paid on the beginner's salary scale. Take-up has been small, a few dozen teachers nationwide, and a 2025 study in the European Journal of Teacher Education points to pension and service-credit rules as the main barrier.</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oesterreich.orf.at/stories/3198263/" history="1" highlightClick="0" endSnd="0">
                  <a:extLst>
                    <a:ext uri="{A12FA001-AC4F-418D-AE19-62706E023703}">
                      <ahyp:hlinkClr xmlns:ahyp="http://schemas.microsoft.com/office/drawing/2018/hyperlinkcolor" val="tx"/>
                    </a:ext>
                  </a:extLst>
                </a:hlinkClick>
              </a:rPr>
              <a:t>https://oesterreich.orf.at/stories/3198263/</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tandfonline.com/doi/full/10.1080/02619768.2025.2531930" history="1" highlightClick="0" endSnd="0">
                  <a:extLst>
                    <a:ext uri="{A12FA001-AC4F-418D-AE19-62706E023703}">
                      <ahyp:hlinkClr xmlns:ahyp="http://schemas.microsoft.com/office/drawing/2018/hyperlinkcolor" val="tx"/>
                    </a:ext>
                  </a:extLst>
                </a:hlinkClick>
              </a:rPr>
              <a:t>https://www.tandfonline.com/doi/full/10.1080/02619768.2025.2531930</a:t>
            </a:r>
            <a:endParaRPr lang="en-US" sz="1000" dirty="0"/>
          </a:p>
        </p:txBody>
      </p:sp>
      <p:sp>
        <p:nvSpPr>
          <p:cNvPr id="15" name="Shape 11"/>
          <p:cNvSpPr/>
          <p:nvPr/>
        </p:nvSpPr>
        <p:spPr>
          <a:xfrm>
            <a:off x="9677095" y="6533388"/>
            <a:ext cx="118872" cy="118872"/>
          </a:xfrm>
          <a:prstGeom prst="ellipse">
            <a:avLst/>
          </a:prstGeom>
          <a:solidFill>
            <a:srgbClr val="C8892B"/>
          </a:solidFill>
          <a:ln w="12700">
            <a:solidFill>
              <a:srgbClr val="C8892B"/>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Bahamas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Reservist Program: a standing reserve of former teachers (announced July 2026)</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In July 2026, facing a shortage of about 300 teachers across 162 public schools spread over 24 islands, the Bahamian Ministry of Education announced a Teacher Reservist Program built on its existing Supply Teacher platform. The idea is a permanent, registered reserve of qualified Bahamians, recently retired teachers, former teachers who moved to other careers and recent graduates, whom schools can call on when a vacancy or an absence appears, with a task force of several agencies to speed up vetting and accreditation. The Deputy Prime Minister and Minister of Education, Chester Cooper, presented it alongside a plan to recruit up to 300 teachers, including from Ghana, and stressed that Bahamians get priority. The programme is at announcement stage: no regulations, enrolment figures or results have been published yet.</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ahamas.gov.bs/news-press-release/the-ministry-of-education-aiming-to-attract-more-bahamian-teachers" history="1" highlightClick="0" endSnd="0">
                  <a:extLst>
                    <a:ext uri="{A12FA001-AC4F-418D-AE19-62706E023703}">
                      <ahyp:hlinkClr xmlns:ahyp="http://schemas.microsoft.com/office/drawing/2018/hyperlinkcolor" val="tx"/>
                    </a:ext>
                  </a:extLst>
                </a:hlinkClick>
              </a:rPr>
              <a:t>https://www.bahamas.gov.bs/news-press-release/the-ministry-of-education-aiming-to-attract-more-bahamian-teachers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ahamaspress.com/statement-by-the-minister-of-education-dpm-chester-cooper-on-the-recruitment-of-upto-300-teachers/" history="1" highlightClick="0" endSnd="0">
                  <a:extLst>
                    <a:ext uri="{A12FA001-AC4F-418D-AE19-62706E023703}">
                      <ahyp:hlinkClr xmlns:ahyp="http://schemas.microsoft.com/office/drawing/2018/hyperlinkcolor" val="tx"/>
                    </a:ext>
                  </a:extLst>
                </a:hlinkClick>
              </a:rPr>
              <a:t>https://www.bahamaspress.com/statement-by-the-minister-of-education-dpm-chester-cooper-on-the-recruitment-of-upto-300-teachers/</a:t>
            </a:r>
            <a:endParaRPr lang="en-US" sz="1000" dirty="0"/>
          </a:p>
        </p:txBody>
      </p:sp>
      <p:sp>
        <p:nvSpPr>
          <p:cNvPr id="15" name="Shape 11"/>
          <p:cNvSpPr/>
          <p:nvPr/>
        </p:nvSpPr>
        <p:spPr>
          <a:xfrm>
            <a:off x="9677095" y="6533388"/>
            <a:ext cx="118872" cy="118872"/>
          </a:xfrm>
          <a:prstGeom prst="ellipse">
            <a:avLst/>
          </a:prstGeom>
          <a:solidFill>
            <a:srgbClr val="1F4E46"/>
          </a:solidFill>
          <a:ln w="12700">
            <a:solidFill>
              <a:srgbClr val="1F4E46"/>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Ontario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Ontario Teachers' Pension Plan: the 50-day re-employment rule, raised to 95 days in shortages</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retired Ontario teacher can work for a school board for up to 50 days in a school year while continuing to receive the full pension; beyond that limit the pension is suspended for the rest of the year. The rule belongs to the Ontario Teachers' Pension Plan, which is co-sponsored by the provincial government and the Ontario Teachers' Federation, and the two sponsors have raised the limit when schools were short of staff: it was set at 95 days for each school year from 2020-21 to 2022-23 during and after the pandemic, before returning to 50 days. School boards had to report on their use of retirees so that the extra days did not crowd out occasional teachers at the start of their careers, and teacher unions have argued that relying on retirees is not a sustainable answer to shortages.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lp.oct.ca/hc/en-us/articles/360025778433-If-I-retire-can-I-teach-occasionally" history="1" highlightClick="0" endSnd="0">
                  <a:extLst>
                    <a:ext uri="{A12FA001-AC4F-418D-AE19-62706E023703}">
                      <ahyp:hlinkClr xmlns:ahyp="http://schemas.microsoft.com/office/drawing/2018/hyperlinkcolor" val="tx"/>
                    </a:ext>
                  </a:extLst>
                </a:hlinkClick>
              </a:rPr>
              <a:t>https://help.oct.ca/hc/en-us/articles/360025778433-If-I-retire-can-I-teach-occasionally</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otffeo.on.ca/en/news/50-day-re-employment-rule-increased-to-95-days-for-some-otpp-retirees-until-june-30-2023/" history="1" highlightClick="0" endSnd="0">
                  <a:extLst>
                    <a:ext uri="{A12FA001-AC4F-418D-AE19-62706E023703}">
                      <ahyp:hlinkClr xmlns:ahyp="http://schemas.microsoft.com/office/drawing/2018/hyperlinkcolor" val="tx"/>
                    </a:ext>
                  </a:extLst>
                </a:hlinkClick>
              </a:rPr>
              <a:t>https://www.otffeo.on.ca/en/news/50-day-re-employment-rule-increased-to-95-days-for-some-otpp-retirees-until-june-30-2023/</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Incentive pay for returning retired teachers (2020, made permanent) and ministerial letter campaign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Quebec pays retired teachers who come back to work in public schools much better than an ordinary substitute. From their first day of substitute teaching they are paid at the salary step they had reached when they retired, roughly 412 Canadian dollars a day (about 275 euros) instead of the usual substitute rate of 212 dollars (about 140 euros), and they keep their full pension. The measure was introduced on 21 September 2020, during the pandemic, brought 700 retirees back that school year and was later made permanent. In August 2023 the Minister of Education also wrote personally to every retired teacher inviting them to return; more than 5,000 retirees had worked in schools the previous year, mostly as substitutes or on part-time contracts, and the top daily rate was raised to 578 dollars (about 385 euros).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 · Flexible positions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quebec.ca/en/government/work-government/jobs-education/teaching-general-education-youth-sector-vocational-training-adult-education/return-work-retired-teacher" history="1" highlightClick="0" endSnd="0">
                  <a:extLst>
                    <a:ext uri="{A12FA001-AC4F-418D-AE19-62706E023703}">
                      <ahyp:hlinkClr xmlns:ahyp="http://schemas.microsoft.com/office/drawing/2018/hyperlinkcolor" val="tx"/>
                    </a:ext>
                  </a:extLst>
                </a:hlinkClick>
              </a:rPr>
              <a:t>https://www.quebec.ca/en/government/work-government/jobs-education/teaching-general-education-youth-sector-vocational-training-adult-education/return-work-retired-teacher</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ledevoir.com/actualites/education/912921/quebec-espere-nouveau-attirer-milliers-enseignants-retraites-ecoles" history="1" highlightClick="0" endSnd="0">
                  <a:extLst>
                    <a:ext uri="{A12FA001-AC4F-418D-AE19-62706E023703}">
                      <ahyp:hlinkClr xmlns:ahyp="http://schemas.microsoft.com/office/drawing/2018/hyperlinkcolor" val="tx"/>
                    </a:ext>
                  </a:extLst>
                </a:hlinkClick>
              </a:rPr>
              <a:t>https://www.ledevoir.com/actualites/education/912921/quebec-espere-nouveau-attirer-milliers-enseignants-retraites-ecoles</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China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Silver-Age Lecturing Plan: retired teachers posted to rural schools,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Silver-Age Lecturing Plan sends retired teachers to work in poor rural schools. Retired principals, senior teachers and ‘special-grade’ teachers aged 65 or under apply to a call issued by their province and are posted for at least one school year to a rural primary or lower-secondary school, where they teach, coach the school's young teachers and advise the head on running the school. They keep their pension and receive an allowance from the central government of 20,000 yuan a year (about 2,500 euros) to cover a stipend, travel and insurance. The plan was launched in 2018 by the Ministries of Education and Finance with a target of 10,000 posts over three years; 7,000 teachers were recruited in the 2024 round alone, and in 2023 it was folded into a broader National Silver-Age Teachers Action Plan covering all levels of education.</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www.moe.gov.cn/srcsite/A10/s7151/201807/t20180719_343448.html" history="1" highlightClick="0" endSnd="0">
                  <a:extLst>
                    <a:ext uri="{A12FA001-AC4F-418D-AE19-62706E023703}">
                      <ahyp:hlinkClr xmlns:ahyp="http://schemas.microsoft.com/office/drawing/2018/hyperlinkcolor" val="tx"/>
                    </a:ext>
                  </a:extLst>
                </a:hlinkClick>
              </a:rPr>
              <a:t>http://www.moe.gov.cn/srcsite/A10/s7151/201807/t20180719_343448.html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cn/zhengce/zhengceku/202408/content_6967278.htm" history="1" highlightClick="0" endSnd="0">
                  <a:extLst>
                    <a:ext uri="{A12FA001-AC4F-418D-AE19-62706E023703}">
                      <ahyp:hlinkClr xmlns:ahyp="http://schemas.microsoft.com/office/drawing/2018/hyperlinkcolor" val="tx"/>
                    </a:ext>
                  </a:extLst>
                </a:hlinkClick>
              </a:rPr>
              <a:t>https://www.gov.cn/zhengce/zhengceku/202408/content_6967278.htm</a:t>
            </a:r>
            <a:endParaRPr lang="en-US" sz="1000" dirty="0"/>
          </a:p>
        </p:txBody>
      </p:sp>
      <p:sp>
        <p:nvSpPr>
          <p:cNvPr id="15" name="Shape 11"/>
          <p:cNvSpPr/>
          <p:nvPr/>
        </p:nvSpPr>
        <p:spPr>
          <a:xfrm>
            <a:off x="9677095" y="6533388"/>
            <a:ext cx="118872" cy="118872"/>
          </a:xfrm>
          <a:prstGeom prst="ellipse">
            <a:avLst/>
          </a:prstGeom>
          <a:solidFill>
            <a:srgbClr val="1F4E46"/>
          </a:solidFill>
          <a:ln w="12700">
            <a:solidFill>
              <a:srgbClr val="1F4E46"/>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France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Combining pension and pay: retired teachers rehired as contract or substitute staff</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France's general rules on combining a pension with earnings let a retired public-school teacher go back to teach as a contract or substitute teacher while drawing the pension. A written answer from the Ministry of Education to the National Assembly in the 2022-24 legislature confirmed that a retired civil servant or contract teacher may resume work, including at the last school where they served, provided six months have passed since the pension took effect, as required by the Social Security Code. School authorities use this to fill posts in shortage subjects, and deputies have asked the government to make it easier to call on retired teachers for replacements. It is an enabling rule rather than a programme, and no figures on how many retired teachers return are published.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questions.assemblee-nationale.fr/q16/16-2072QE.htm" history="1" highlightClick="0" endSnd="0">
                  <a:extLst>
                    <a:ext uri="{A12FA001-AC4F-418D-AE19-62706E023703}">
                      <ahyp:hlinkClr xmlns:ahyp="http://schemas.microsoft.com/office/drawing/2018/hyperlinkcolor" val="tx"/>
                    </a:ext>
                  </a:extLst>
                </a:hlinkClick>
              </a:rPr>
              <a:t>https://questions.assemblee-nationale.fr/q16/16-2072QE.htm</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questions.assemblee-nationale.fr/q16/16-7305QE.htm" history="1" highlightClick="0" endSnd="0">
                  <a:extLst>
                    <a:ext uri="{A12FA001-AC4F-418D-AE19-62706E023703}">
                      <ahyp:hlinkClr xmlns:ahyp="http://schemas.microsoft.com/office/drawing/2018/hyperlinkcolor" val="tx"/>
                    </a:ext>
                  </a:extLst>
                </a:hlinkClick>
              </a:rPr>
              <a:t>https://questions.assemblee-nationale.fr/q16/16-7305QE.htm</a:t>
            </a:r>
            <a:endParaRPr lang="en-US" sz="1000" dirty="0"/>
          </a:p>
        </p:txBody>
      </p:sp>
      <p:sp>
        <p:nvSpPr>
          <p:cNvPr id="15" name="Shape 11"/>
          <p:cNvSpPr/>
          <p:nvPr/>
        </p:nvSpPr>
        <p:spPr>
          <a:xfrm>
            <a:off x="9677095" y="6533388"/>
            <a:ext cx="118872" cy="118872"/>
          </a:xfrm>
          <a:prstGeom prst="ellipse">
            <a:avLst/>
          </a:prstGeom>
          <a:solidFill>
            <a:srgbClr val="1F4E46"/>
          </a:solidFill>
          <a:ln w="12700">
            <a:solidFill>
              <a:srgbClr val="1F4E46"/>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Higher, then no, earnings ceiling for retired teachers who keep teaching, 2022–2024</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In Lower Saxony a retired teacher who went back to teaching used to lose part of the pension as soon as pay and pension together exceeded a ceiling set by the state's pension law. To make returning worthwhile, the state parliament raised that ceiling step by step: from 100 to 125 percent of the teacher's former pay in 2019, and to 150 percent from 1 October 2022 as part of a teacher-recruitment package, which allowed a pensioner to teach about nine or ten hours a week without any deduction. Overtime pay for serving teachers was raised by 15 percent at the same time. Since 31 October 2024 the ceiling for retired teachers has been abolished altogether, so they can now earn as much as they like from teaching while keeping their full pension.</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presseinformationen/lehrkrafte-gewinnungspaket-landtag-erhoht-hinzuverdienstgrenze-und-mehrarbeitsvergutung-tonne-unterrichten-lohnt-sich-215592.html" history="1" highlightClick="0" endSnd="0">
                  <a:extLst>
                    <a:ext uri="{A12FA001-AC4F-418D-AE19-62706E023703}">
                      <ahyp:hlinkClr xmlns:ahyp="http://schemas.microsoft.com/office/drawing/2018/hyperlinkcolor" val="tx"/>
                    </a:ext>
                  </a:extLst>
                </a:hlinkClick>
              </a:rPr>
              <a:t>https://www.mk.niedersachsen.de/startseite/aktuelles/presseinformationen/lehrkrafte-gewinnungspaket-landtag-erhoht-hinzuverdienstgrenze-und-mehrarbeitsvergutung-tonne-unterrichten-lohnt-sich-215592.html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startseite/aktuelles/presseinformationen/2-schulhalbjahr-2024-2025-unterrichtsversorgung-bleibt-stabil-238881.html" history="1" highlightClick="0" endSnd="0">
                  <a:extLst>
                    <a:ext uri="{A12FA001-AC4F-418D-AE19-62706E023703}">
                      <ahyp:hlinkClr xmlns:ahyp="http://schemas.microsoft.com/office/drawing/2018/hyperlinkcolor" val="tx"/>
                    </a:ext>
                  </a:extLst>
                </a:hlinkClick>
              </a:rPr>
              <a:t>https://www.mk.niedersachsen.de/startseite/aktuelles/presseinformationen/2-schulhalbjahr-2024-2025-unterrichtsversorgung-bleibt-stabil-238881.html</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Minister's letter to teachers approaching retirement (November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In November 2023 the Minister of Education of Lower Saxony, Julia Willie Hamburg, wrote a personal letter to every teacher who was about to retire. The letter thanks them for their years of service and asks them to keep helping the schools, which face rising pupil numbers, and it comes with an information sheet and a registration guide that explain the two ways of doing so: civil-servant teachers can ask to postpone their retirement by up to three years, and any teacher can retire and immediately be re-hired on a fixed-term contract while keeping the pension, thanks to the relaxed earnings rules described on the previous slide. The letter itself carries no money; it simply makes sure that every teacher knows the options before signing the retirement paperwork.</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kultusministerin_hamburg_schreibt_an_angehende_pensionare/umfangreicher-erfahrungsschatz-kultusministerin-hamburg-informiert-lehrkrafte-kurz-vor-dem-ruhestand-uber-moglichkeiten-der-weiterbeschaftigung-227231.html" history="1" highlightClick="0" endSnd="0">
                  <a:extLst>
                    <a:ext uri="{A12FA001-AC4F-418D-AE19-62706E023703}">
                      <ahyp:hlinkClr xmlns:ahyp="http://schemas.microsoft.com/office/drawing/2018/hyperlinkcolor" val="tx"/>
                    </a:ext>
                  </a:extLst>
                </a:hlinkClick>
              </a:rPr>
              <a:t>https://www.mk.niedersachsen.de/startseite/aktuelles/kultusministerin_hamburg_schreibt_an_angehende_pensionare/umfangreicher-erfahrungsschatz-kultusministerin-hamburg-informiert-lehrkrafte-kurz-vor-dem-ruhestand-uber-moglichkeiten-der-weiterbeschaftigung-227231.html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download/201317/Schreiben_an_angehende_Pensionaerinnen_und_Pensionaere.pdf" history="1" highlightClick="0" endSnd="0">
                  <a:extLst>
                    <a:ext uri="{A12FA001-AC4F-418D-AE19-62706E023703}">
                      <ahyp:hlinkClr xmlns:ahyp="http://schemas.microsoft.com/office/drawing/2018/hyperlinkcolor" val="tx"/>
                    </a:ext>
                  </a:extLst>
                </a:hlinkClick>
              </a:rPr>
              <a:t>https://www.mk.niedersachsen.de/download/201317/Schreiben_an_angehende_Pensionaerinnen_und_Pensionaere.pdf</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Ireland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Waiver of pension abatement for retired teachers: 50 days a year (2021–2027)</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In Ireland a retired teacher who goes back to work normally sees the pension reduced whenever pension and new salary together exceed the pay they had when they retired, a rule known as abatement. To ease the shortage of substitutes, the Department of Education introduced a waiver in 2021: the first fifty days a retired teacher works in a calendar year, as a substitute or on a fixed-term contract, do not count for abatement, so the pension is paid in full. Every day worked counts as one day, however many hours it lasts, and only from the fifty-first day is the usual rule applied. The waiver was set out in a departmental circular in 2021 and has since been renewed twice, for 2024 and 2025 and again for 2026 and 2027.</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ie/en/department-of-education/publications/working-as-a-substitute-while-receiving-a-teachers-pension/" history="1" highlightClick="0" endSnd="0">
                  <a:extLst>
                    <a:ext uri="{A12FA001-AC4F-418D-AE19-62706E023703}">
                      <ahyp:hlinkClr xmlns:ahyp="http://schemas.microsoft.com/office/drawing/2018/hyperlinkcolor" val="tx"/>
                    </a:ext>
                  </a:extLst>
                </a:hlinkClick>
              </a:rPr>
              <a:t>https://www.gov.ie/en/department-of-education/publications/working-as-a-substitute-while-receiving-a-teachers-pension/</a:t>
            </a:r>
            <a:endParaRPr lang="en-US" sz="1000" dirty="0"/>
          </a:p>
        </p:txBody>
      </p:sp>
      <p:sp>
        <p:nvSpPr>
          <p:cNvPr id="15" name="Shape 11"/>
          <p:cNvSpPr/>
          <p:nvPr/>
        </p:nvSpPr>
        <p:spPr>
          <a:xfrm>
            <a:off x="9677095" y="6533388"/>
            <a:ext cx="118872" cy="118872"/>
          </a:xfrm>
          <a:prstGeom prst="ellipse">
            <a:avLst/>
          </a:prstGeom>
          <a:solidFill>
            <a:srgbClr val="1F4E46"/>
          </a:solidFill>
          <a:ln w="12700">
            <a:solidFill>
              <a:srgbClr val="1F4E46"/>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Grant to primary schools for re-hiring former teachers, 2017–2020</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Between November 2017 and January 2020 the Dutch Ministry of Education paid primary schools a grant for every former teacher they re-hired. A school board qualified if it hired a qualified teacher who had not worked in primary education for at least twelve months, on a contract of at least six months. The grant was up to 2,500 euros per returner and had to be spent on that person's guidance and support during the first months back, such as coaching or refresher training, so that both the teacher and the school found the return easier. The first round set aside 1.25 million euros, enough for 500 returners, and a further application round opened in 2019. The scheme is now closed.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etten.overheid.nl/1.3:c:BWBR0040130&amp;g=2020-07-01&amp;z=2025-10-18" history="1" highlightClick="0" endSnd="0">
                  <a:extLst>
                    <a:ext uri="{A12FA001-AC4F-418D-AE19-62706E023703}">
                      <ahyp:hlinkClr xmlns:ahyp="http://schemas.microsoft.com/office/drawing/2018/hyperlinkcolor" val="tx"/>
                    </a:ext>
                  </a:extLst>
                </a:hlinkClick>
              </a:rPr>
              <a:t>https://wetten.overheid.nl/1.3:c:BWBR0040130&amp;g=2020-07-01&amp;z=2025-10-18</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nieuwsbrievenminocw.nl/actueel/nieuws/2019/07/03/subsidie-voor-herintreders" history="1" highlightClick="0" endSnd="0">
                  <a:extLst>
                    <a:ext uri="{A12FA001-AC4F-418D-AE19-62706E023703}">
                      <ahyp:hlinkClr xmlns:ahyp="http://schemas.microsoft.com/office/drawing/2018/hyperlinkcolor" val="tx"/>
                    </a:ext>
                  </a:extLst>
                </a:hlinkClick>
              </a:rPr>
              <a:t>https://www.nieuwsbrievenminocw.nl/actueel/nieuws/2019/07/03/subsidie-voor-herintreders</a:t>
            </a:r>
            <a:endParaRPr lang="en-US" sz="1000" dirty="0"/>
          </a:p>
        </p:txBody>
      </p:sp>
      <p:sp>
        <p:nvSpPr>
          <p:cNvPr id="15" name="Shape 11"/>
          <p:cNvSpPr/>
          <p:nvPr/>
        </p:nvSpPr>
        <p:spPr>
          <a:xfrm>
            <a:off x="9677095" y="6533388"/>
            <a:ext cx="118872" cy="118872"/>
          </a:xfrm>
          <a:prstGeom prst="ellipse">
            <a:avLst/>
          </a:prstGeom>
          <a:solidFill>
            <a:srgbClr val="1F4E46"/>
          </a:solidFill>
          <a:ln w="12700">
            <a:solidFill>
              <a:srgbClr val="1F4E46"/>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New Zealand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Streamlined return-to-teaching pathway: no refresher course, fees covered (2024–2028)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New Zealand has made it much simpler for a registered teacher who has been away from the classroom to get back the licence needed to teach, called a practising certificate. Teachers who had not taught for five years or more used to have to complete a Teacher Education Refresh course first. Now, if they have a job offer, they simply renew their certificate, can do substitute teaching for up to twenty half-days while the renewal is processed, and agree a short ‘Future-Ready Teaching Plan’ with the school principal instead of taking the course. Since October 2024 the Government has also paid the certificate fees of returning teachers, and 352 teachers had come back by April 2025. Budget 2025 extended this by covering all teacher registration fees and levies until June 2028, at a cost of 53.3 million New Zealand dollars (about 29 million euros).</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orkforce.education.govt.nz/current-teachers/returning-teaching/returning-teaching-after-break" history="1" highlightClick="0" endSnd="0">
                  <a:extLst>
                    <a:ext uri="{A12FA001-AC4F-418D-AE19-62706E023703}">
                      <ahyp:hlinkClr xmlns:ahyp="http://schemas.microsoft.com/office/drawing/2018/hyperlinkcolor" val="tx"/>
                    </a:ext>
                  </a:extLst>
                </a:hlinkClick>
              </a:rPr>
              <a:t>https://workforce.education.govt.nz/current-teachers/returning-teaching/returning-teaching-after-break</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eehive.govt.nz/release/backing-teachers-teacher-registrations-funded" history="1" highlightClick="0" endSnd="0">
                  <a:extLst>
                    <a:ext uri="{A12FA001-AC4F-418D-AE19-62706E023703}">
                      <ahyp:hlinkClr xmlns:ahyp="http://schemas.microsoft.com/office/drawing/2018/hyperlinkcolor" val="tx"/>
                    </a:ext>
                  </a:extLst>
                </a:hlinkClick>
              </a:rPr>
              <a:t>https://www.beehive.govt.nz/release/backing-teachers-teacher-registrations-funded</a:t>
            </a:r>
            <a:endParaRPr lang="en-US" sz="1000" dirty="0"/>
          </a:p>
        </p:txBody>
      </p:sp>
      <p:sp>
        <p:nvSpPr>
          <p:cNvPr id="15" name="Shape 11"/>
          <p:cNvSpPr/>
          <p:nvPr/>
        </p:nvSpPr>
        <p:spPr>
          <a:xfrm>
            <a:off x="9677095" y="6533388"/>
            <a:ext cx="118872" cy="118872"/>
          </a:xfrm>
          <a:prstGeom prst="ellipse">
            <a:avLst/>
          </a:prstGeom>
          <a:solidFill>
            <a:srgbClr val="1F4E46"/>
          </a:solidFill>
          <a:ln w="12700">
            <a:solidFill>
              <a:srgbClr val="1F4E46"/>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Decree-Law 51/2024: schools may hire retired teachers for shortage posts, 2024/25–</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Since the 2024/25 school year Portuguese public schools have been allowed to hire retired teachers on fixed-term contracts to fill posts they cannot staff. A school with an unfilled post in a shortage subject, or a school officially classed as under-staffed, applies through an online form of the schools' administration directorate, and the ministry authorises the contract within a yearly quota agreed with the Finance ministry. Only teachers who retired five years ago or less can be hired. The retiree keeps the full pension and, on top of it, receives a payment linked to the first step of the teacher salary scale in proportion to the hours taught each week. The measure was created by a decree-law of 28 August 2024 as part of the government's ‘More Lessons, More Success’ plan against teacher shortages; according to the newspaper Público, 62 retirees were cleared to return in the first round.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riodarepublica.pt/dr/detalhe/decreto-lei/51-2024-885927817" history="1" highlightClick="0" endSnd="0">
                  <a:extLst>
                    <a:ext uri="{A12FA001-AC4F-418D-AE19-62706E023703}">
                      <ahyp:hlinkClr xmlns:ahyp="http://schemas.microsoft.com/office/drawing/2018/hyperlinkcolor" val="tx"/>
                    </a:ext>
                  </a:extLst>
                </a:hlinkClick>
              </a:rPr>
              <a:t>https://diariodarepublica.pt/dr/detalhe/decreto-lei/51-2024-885927817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dgae.medu.pt/noticias/atribuicao-de-servico-docente-aos-aposentados-e-reformados" history="1" highlightClick="0" endSnd="0">
                  <a:extLst>
                    <a:ext uri="{A12FA001-AC4F-418D-AE19-62706E023703}">
                      <ahyp:hlinkClr xmlns:ahyp="http://schemas.microsoft.com/office/drawing/2018/hyperlinkcolor" val="tx"/>
                    </a:ext>
                  </a:extLst>
                </a:hlinkClick>
              </a:rPr>
              <a:t>https://www.dgae.medu.pt/noticias/atribuicao-de-servico-docente-aos-aposentados-e-reformados</a:t>
            </a:r>
            <a:endParaRPr lang="en-US" sz="1000" dirty="0"/>
          </a:p>
        </p:txBody>
      </p:sp>
      <p:sp>
        <p:nvSpPr>
          <p:cNvPr id="15" name="Shape 11"/>
          <p:cNvSpPr/>
          <p:nvPr/>
        </p:nvSpPr>
        <p:spPr>
          <a:xfrm>
            <a:off x="9677095" y="6533388"/>
            <a:ext cx="118872" cy="118872"/>
          </a:xfrm>
          <a:prstGeom prst="ellipse">
            <a:avLst/>
          </a:prstGeom>
          <a:solidFill>
            <a:srgbClr val="1F4E46"/>
          </a:solidFill>
          <a:ln w="12700">
            <a:solidFill>
              <a:srgbClr val="1F4E46"/>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Singapore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Flexi-Adjunct Teaching Scheme (Ministry of Education)</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Singapore's Ministry of Education keeps a register of former teachers whom schools can call on for short and flexible periods of work. Any trained ex-teacher, including retirees, who holds a teaching diploma from the National Institute of Education can register through the ministry's relief-employment portal; schools then contact them directly for appointments lasting from a single day to ten weeks, either for teaching only or for a mix of teaching and other duties agreed with the school. They are paid a daily rate and earn pro-rated leave after ninety days of cumulative service. A companion scheme offers former teachers contracts of one year to eighteen months. The ministry told Parliament in 2025 that between 2022 and 2024 about 220 teachers a year had joined the scheme within twelve months of leaving the service.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oe.gov.sg/careers/adjunct-and-relief-schemes/flexi-adjunct-teaching-scheme" history="1" highlightClick="0" endSnd="0">
                  <a:extLst>
                    <a:ext uri="{A12FA001-AC4F-418D-AE19-62706E023703}">
                      <ahyp:hlinkClr xmlns:ahyp="http://schemas.microsoft.com/office/drawing/2018/hyperlinkcolor" val="tx"/>
                    </a:ext>
                  </a:extLst>
                </a:hlinkClick>
              </a:rPr>
              <a:t>https://www.moe.gov.sg/careers/adjunct-and-relief-schemes/flexi-adjunct-teaching-scheme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oe.gov.sg/news/parliamentary-replies/20250923-statistics-on-teachers-who-joined-flexi-adjunct-teaching-scheme-and-median-duration-of-teachers-on-scheme" history="1" highlightClick="0" endSnd="0">
                  <a:extLst>
                    <a:ext uri="{A12FA001-AC4F-418D-AE19-62706E023703}">
                      <ahyp:hlinkClr xmlns:ahyp="http://schemas.microsoft.com/office/drawing/2018/hyperlinkcolor" val="tx"/>
                    </a:ext>
                  </a:extLst>
                </a:hlinkClick>
              </a:rPr>
              <a:t>https://www.moe.gov.sg/news/parliamentary-replies/20250923-statistics-on-teachers-who-joined-flexi-adjunct-teaching-scheme-and-median-duration-of-teachers-on-scheme</a:t>
            </a:r>
            <a:endParaRPr lang="en-US" sz="1000" dirty="0"/>
          </a:p>
        </p:txBody>
      </p:sp>
      <p:sp>
        <p:nvSpPr>
          <p:cNvPr id="15" name="Shape 11"/>
          <p:cNvSpPr/>
          <p:nvPr/>
        </p:nvSpPr>
        <p:spPr>
          <a:xfrm>
            <a:off x="9677095" y="6533388"/>
            <a:ext cx="118872" cy="118872"/>
          </a:xfrm>
          <a:prstGeom prst="ellipse">
            <a:avLst/>
          </a:prstGeom>
          <a:solidFill>
            <a:srgbClr val="1F4E46"/>
          </a:solidFill>
          <a:ln w="12700">
            <a:solidFill>
              <a:srgbClr val="1F4E46"/>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Spain</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Zaragoza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10 Mirrors: retired teachers mentor student teachers (University of Zaragoza, reported 2019)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10 Mirrors was a mentoring scheme run by the Faculty of Education of the University of Zaragoza as part of its student guidance plan. Ten retired teachers with a recognised professional record, four from early-childhood and six from primary education, were paired with 57 students in the final years of the primary and early-childhood teaching degrees to accompany them through the end of their training. The mentoring took the form of three face-to-face sessions with each group, on the teaching profession and its vocation, on complementary training and employability, and on the teaching career, plus personal contact between mentor and students. It gave retired teachers a voluntary role back inside teacher education; the experience was documented in a 2019 publication of the university's press.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lnet.unirioja.es/servlet/articulo?codigo=8153125" history="1" highlightClick="0" endSnd="0">
                  <a:extLst>
                    <a:ext uri="{A12FA001-AC4F-418D-AE19-62706E023703}">
                      <ahyp:hlinkClr xmlns:ahyp="http://schemas.microsoft.com/office/drawing/2018/hyperlinkcolor" val="tx"/>
                    </a:ext>
                  </a:extLst>
                </a:hlinkClick>
              </a:rPr>
              <a:t>https://dialnet.unirioja.es/servlet/articulo?codigo=8153125</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zaguan.unizar.es/record/79095/files/BOOK-2019-021.pdf" history="1" highlightClick="0" endSnd="0">
                  <a:extLst>
                    <a:ext uri="{A12FA001-AC4F-418D-AE19-62706E023703}">
                      <ahyp:hlinkClr xmlns:ahyp="http://schemas.microsoft.com/office/drawing/2018/hyperlinkcolor" val="tx"/>
                    </a:ext>
                  </a:extLst>
                </a:hlinkClick>
              </a:rPr>
              <a:t>https://zaguan.unizar.es/record/79095/files/BOOK-2019-021.pdf</a:t>
            </a:r>
            <a:endParaRPr lang="en-US" sz="1000" dirty="0"/>
          </a:p>
        </p:txBody>
      </p:sp>
      <p:sp>
        <p:nvSpPr>
          <p:cNvPr id="16" name="Shape 12"/>
          <p:cNvSpPr/>
          <p:nvPr/>
        </p:nvSpPr>
        <p:spPr>
          <a:xfrm>
            <a:off x="9677095" y="6533388"/>
            <a:ext cx="118872" cy="118872"/>
          </a:xfrm>
          <a:prstGeom prst="ellipse">
            <a:avLst/>
          </a:prstGeom>
          <a:solidFill>
            <a:srgbClr val="B3542E"/>
          </a:solidFill>
          <a:ln w="12700">
            <a:solidFill>
              <a:srgbClr val="B3542E"/>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Small</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Sweden</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Skolverket web-based training for returning teachers and preschool teachers (since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Sweden's National Agency for Education, Skolverket, runs an online refresher course for qualified teachers and preschool teachers who want to return to the profession after working elsewhere. It was built at the request of the Government and has been available on the agency's learning platform since October 2018. A returner logs in, chooses the track for schools or for preschools, and takes only the modules they need, in any order. The modules bring them up to date on the curricula, laws and official guidelines that changed while they were away, and a certificate is issued for each module completed. The course is open to anyone holding a Swedish teaching licence or a qualifying degree, and its purpose is to lower the threshold for the many trained teachers now working outside schools to come back.</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skolverket.se/skolutveckling/kurser-och-utbildningar/atervandande-larare-och-forskollarare---webbaserad-utbildning" history="1" highlightClick="0" endSnd="0">
                  <a:extLst>
                    <a:ext uri="{A12FA001-AC4F-418D-AE19-62706E023703}">
                      <ahyp:hlinkClr xmlns:ahyp="http://schemas.microsoft.com/office/drawing/2018/hyperlinkcolor" val="tx"/>
                    </a:ext>
                  </a:extLst>
                </a:hlinkClick>
              </a:rPr>
              <a:t>https://www.skolverket.se/skolutveckling/kurser-och-utbildningar/atervandande-larare-och-forskollarare---webbaserad-utbildning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skolverket.se/publikationsserier/regeringsuppdrag/2020/uppdrag-om-en-webbutbildning-for-atervandande-larare-och-forskollarare" history="1" highlightClick="0" endSnd="0">
                  <a:extLst>
                    <a:ext uri="{A12FA001-AC4F-418D-AE19-62706E023703}">
                      <ahyp:hlinkClr xmlns:ahyp="http://schemas.microsoft.com/office/drawing/2018/hyperlinkcolor" val="tx"/>
                    </a:ext>
                  </a:extLst>
                </a:hlinkClick>
              </a:rPr>
              <a:t>https://www.skolverket.se/publikationsserier/regeringsuppdrag/2020/uppdrag-om-en-webbutbildning-for-atervandande-larare-och-forskollarare</a:t>
            </a:r>
            <a:endParaRPr lang="en-US" sz="1000" dirty="0"/>
          </a:p>
        </p:txBody>
      </p:sp>
      <p:sp>
        <p:nvSpPr>
          <p:cNvPr id="15" name="Shape 11"/>
          <p:cNvSpPr/>
          <p:nvPr/>
        </p:nvSpPr>
        <p:spPr>
          <a:xfrm>
            <a:off x="9677095" y="6533388"/>
            <a:ext cx="118872" cy="118872"/>
          </a:xfrm>
          <a:prstGeom prst="ellipse">
            <a:avLst/>
          </a:prstGeom>
          <a:solidFill>
            <a:srgbClr val="1F4E46"/>
          </a:solidFill>
          <a:ln w="12700">
            <a:solidFill>
              <a:srgbClr val="1F4E46"/>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Switzerland</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Canton of Zurich</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Re-entry counselling and induction for returning teachers (Zurich University of Teacher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Zurich University of Teacher Education, together with the school office of the Canton of Zurich, offers a package of advice and support for teachers who want to return to the classroom after a long break or after working in another field. It begins with a re-entry consultation and an assessment interview that checks whether returning makes sense and what preparation is needed; the first hour is free and the rest is subsidised by the canton. During the first school year back, a teacher who has been away for eight years or more can use the university's induction programme free of charge: up to twenty-five hours of mentoring by an experienced colleague at the school, individual and group supervision, coaching in their subject, and optional courses on grading, classroom management and working with parents.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phzh.ch/de/weiterbildung/weiterbildung-fuer-die-volksschule/berufslaufbahn/wiedereinstieg/" history="1" highlightClick="0" endSnd="0">
                  <a:extLst>
                    <a:ext uri="{A12FA001-AC4F-418D-AE19-62706E023703}">
                      <ahyp:hlinkClr xmlns:ahyp="http://schemas.microsoft.com/office/drawing/2018/hyperlinkcolor" val="tx"/>
                    </a:ext>
                  </a:extLst>
                </a:hlinkClick>
              </a:rPr>
              <a:t>https://phzh.ch/de/weiterbildung/weiterbildung-fuer-die-volksschule/berufslaufbahn/wiedereinstieg/</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Advisers (Department for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Anyone who has taught or trained to teach in the United Kingdom and is thinking of coming back can ask the Department for Education for a free personal Return to Teaching Adviser through its ‘Get Into Teaching’ service. The former teacher calls or signs up online, and the adviser then works with them one to one, by phone, text or e-mail and for as long as they need: reviewing the skills they gained while away, helping them write applications and prepare for interviews, pointing them to refresher courses and professional qualifications, and alerting them to vacancies and webinars. The Department used the same channel in its ‘Come back to teaching’ campaign of January 2022. Returners are a major source of teachers in England: about 17,500 full-time-equivalent teachers came back in 2023, some 38 percent of all qualified entrants that year.</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getintoteaching.education.gov.uk/returning-to-teaching" history="1" highlightClick="0" endSnd="0">
                  <a:extLst>
                    <a:ext uri="{A12FA001-AC4F-418D-AE19-62706E023703}">
                      <ahyp:hlinkClr xmlns:ahyp="http://schemas.microsoft.com/office/drawing/2018/hyperlinkcolor" val="tx"/>
                    </a:ext>
                  </a:extLst>
                </a:hlinkClick>
              </a:rPr>
              <a:t>https://getintoteaching.education.gov.uk/returning-to-teaching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publications.parliament.uk/pa/cm5901/cmselect/cmeduc/627/report.html" history="1" highlightClick="0" endSnd="0">
                  <a:extLst>
                    <a:ext uri="{A12FA001-AC4F-418D-AE19-62706E023703}">
                      <ahyp:hlinkClr xmlns:ahyp="http://schemas.microsoft.com/office/drawing/2018/hyperlinkcolor" val="tx"/>
                    </a:ext>
                  </a:extLst>
                </a:hlinkClick>
              </a:rPr>
              <a:t>https://publications.parliament.uk/pa/cm5901/cmselect/cmeduc/627/report.html</a:t>
            </a:r>
            <a:endParaRPr lang="en-US" sz="1000" dirty="0"/>
          </a:p>
        </p:txBody>
      </p:sp>
      <p:sp>
        <p:nvSpPr>
          <p:cNvPr id="16" name="Shape 12"/>
          <p:cNvSpPr/>
          <p:nvPr/>
        </p:nvSpPr>
        <p:spPr>
          <a:xfrm>
            <a:off x="9677095" y="6533388"/>
            <a:ext cx="118872" cy="118872"/>
          </a:xfrm>
          <a:prstGeom prst="ellipse">
            <a:avLst/>
          </a:prstGeom>
          <a:solidFill>
            <a:srgbClr val="1F4E46"/>
          </a:solidFill>
          <a:ln w="12700">
            <a:solidFill>
              <a:srgbClr val="1F4E46"/>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pilot (2015–16) and Returners Engagement Programme (2016–17)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In 2015 the Department for Education ran a pilot to bring qualified teachers back into secondary schools to teach the English Baccalaureate subjects such as maths, sciences and languages, offering registered returners free refresher courses, time in classrooms and help with applications. Interest was strong: 5,729 people registered and 354 received support in 2016, but by November 2016 only 27 of them were teaching one of those subjects in a permanent post in a state secondary school, and the independent evaluation by the National Foundation for Educational Research judged the pilot unlikely to be good value for money. A second pilot, the Returners Engagement Programme, launched in November 2016 in the North West and South East, paid lead schools to run their own support for returners in maths, physics and languages: a course of two to four weeks, a bursary of 600 pounds (about 700 euros) and a payment to the school when the returner was hired. It was not evaluated; its lessons fed into the adviser service on the previous slide.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assets.publishing.service.gov.uk/media/5b33aeef40f0b67f6744de9d/Evaluation_of_the_Return_to_Teaching_pilot_programme.pdf" history="1" highlightClick="0" endSnd="0">
                  <a:extLst>
                    <a:ext uri="{A12FA001-AC4F-418D-AE19-62706E023703}">
                      <ahyp:hlinkClr xmlns:ahyp="http://schemas.microsoft.com/office/drawing/2018/hyperlinkcolor" val="tx"/>
                    </a:ext>
                  </a:extLst>
                </a:hlinkClick>
              </a:rPr>
              <a:t>https://assets.publishing.service.gov.uk/media/5b33aeef40f0b67f6744de9d/Evaluation_of_the_Return_to_Teaching_pilot_programme.pdf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uk/government/publications/returners-engagement-programme" history="1" highlightClick="0" endSnd="0">
                  <a:extLst>
                    <a:ext uri="{A12FA001-AC4F-418D-AE19-62706E023703}">
                      <ahyp:hlinkClr xmlns:ahyp="http://schemas.microsoft.com/office/drawing/2018/hyperlinkcolor" val="tx"/>
                    </a:ext>
                  </a:extLst>
                </a:hlinkClick>
              </a:rPr>
              <a:t>https://www.gov.uk/government/publications/returners-engagement-programme</a:t>
            </a:r>
            <a:endParaRPr lang="en-US" sz="1000" dirty="0"/>
          </a:p>
        </p:txBody>
      </p:sp>
      <p:sp>
        <p:nvSpPr>
          <p:cNvPr id="16" name="Shape 12"/>
          <p:cNvSpPr/>
          <p:nvPr/>
        </p:nvSpPr>
        <p:spPr>
          <a:xfrm>
            <a:off x="9677095" y="6533388"/>
            <a:ext cx="118872" cy="118872"/>
          </a:xfrm>
          <a:prstGeom prst="ellipse">
            <a:avLst/>
          </a:prstGeom>
          <a:solidFill>
            <a:srgbClr val="1F4E46"/>
          </a:solidFill>
          <a:ln w="12700">
            <a:solidFill>
              <a:srgbClr val="1F4E46"/>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Colorado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Retired Mentors for New Teachers (Aurora Public Schools; REL Central evaluation, 2017)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Aurora Public Schools, a district in Colorado, pays recently retired teachers to mentor new teachers. Retired teachers with a strong record in the district are hired part-time to accompany first- and second-year teachers in high-poverty elementary schools for two years, meeting them every week and observing their lessons, which is far more support than the district's usual one-year ‘buddy’ scheme. For the retiree it is a paid, part-time way back into the school system; for the district it is a way to keep expertise in the classroom. A randomised trial run by the Regional Educational Laboratory Central for the US Institute of Education Sciences, published in 2017, followed 77 new teachers in 11 schools: it found a small gain in pupils' mathematics results after the first year that did not last, no effect on reading and no effect on whether the new teachers stayed.</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ies.ed.gov/use-work/resource-library/report/descriptive-study/impacts-retired-mentors-new-teachers-program" history="1" highlightClick="0" endSnd="0">
                  <a:extLst>
                    <a:ext uri="{A12FA001-AC4F-418D-AE19-62706E023703}">
                      <ahyp:hlinkClr xmlns:ahyp="http://schemas.microsoft.com/office/drawing/2018/hyperlinkcolor" val="tx"/>
                    </a:ext>
                  </a:extLst>
                </a:hlinkClick>
              </a:rPr>
              <a:t>https://ies.ed.gov/use-work/resource-library/report/descriptive-study/impacts-retired-mentors-new-teachers-program</a:t>
            </a:r>
            <a:endParaRPr lang="en-US" sz="1000" dirty="0"/>
          </a:p>
        </p:txBody>
      </p:sp>
      <p:sp>
        <p:nvSpPr>
          <p:cNvPr id="16" name="Shape 12"/>
          <p:cNvSpPr/>
          <p:nvPr/>
        </p:nvSpPr>
        <p:spPr>
          <a:xfrm>
            <a:off x="9677095" y="6533388"/>
            <a:ext cx="118872" cy="118872"/>
          </a:xfrm>
          <a:prstGeom prst="ellipse">
            <a:avLst/>
          </a:prstGeom>
          <a:solidFill>
            <a:srgbClr val="B3542E"/>
          </a:solidFill>
          <a:ln w="12700">
            <a:solidFill>
              <a:srgbClr val="B3542E"/>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Small</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Four urban districts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Number Rockets: retired teachers as small-group maths tutors for first graders (2015 study)</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Number Rockets is a small-group maths programme for first graders who start school with weak number skills. In a large replication study funded by the US Institute of Education Sciences and published in 2015, 86 tutors recruited from local pools of retired and substitute teachers delivered the programme in 76 schools in four urban districts, reaching 994 pupils at risk of falling behind. Tutors received one day of training plus two short follow-up sessions and then worked with small groups for about thirty hours over the school year, on top of normal lessons. Pupils who received the tutoring did significantly better on a broad measure of mathematics than those who did not. The study shows a practical way to bring retired teachers back for a few hours a week, hired through a tutoring programme rather than as district staff.</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journals.sagepub.com/doi/abs/10.3102/0002831214565787" history="1" highlightClick="0" endSnd="0">
                  <a:extLst>
                    <a:ext uri="{A12FA001-AC4F-418D-AE19-62706E023703}">
                      <ahyp:hlinkClr xmlns:ahyp="http://schemas.microsoft.com/office/drawing/2018/hyperlinkcolor" val="tx"/>
                    </a:ext>
                  </a:extLst>
                </a:hlinkClick>
              </a:rPr>
              <a:t>https://journals.sagepub.com/doi/abs/10.3102/0002831214565787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ies.ed.gov/ncee/wwc/Study/86426" history="1" highlightClick="0" endSnd="0">
                  <a:extLst>
                    <a:ext uri="{A12FA001-AC4F-418D-AE19-62706E023703}">
                      <ahyp:hlinkClr xmlns:ahyp="http://schemas.microsoft.com/office/drawing/2018/hyperlinkcolor" val="tx"/>
                    </a:ext>
                  </a:extLst>
                </a:hlinkClick>
              </a:rPr>
              <a:t>https://ies.ed.gov/ncee/wwc/Study/86426</a:t>
            </a:r>
            <a:endParaRPr lang="en-US" sz="1000" dirty="0"/>
          </a:p>
        </p:txBody>
      </p:sp>
      <p:sp>
        <p:nvSpPr>
          <p:cNvPr id="16" name="Shape 12"/>
          <p:cNvSpPr/>
          <p:nvPr/>
        </p:nvSpPr>
        <p:spPr>
          <a:xfrm>
            <a:off x="9677095" y="6533388"/>
            <a:ext cx="118872" cy="118872"/>
          </a:xfrm>
          <a:prstGeom prst="ellipse">
            <a:avLst/>
          </a:prstGeom>
          <a:solidFill>
            <a:srgbClr val="1F4E46"/>
          </a:solidFill>
          <a:ln w="12700">
            <a:solidFill>
              <a:srgbClr val="1F4E46"/>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Georgia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House Bill 385: full-time return of retired teachers in high-need subjects (2022–2026)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Since 1 July 2022 the state of Georgia has let retired teachers go back to full-time classroom teaching in shortage subjects without giving up their pension. A teacher who retired with thirty or more years of service and has been retired for at least a year can be hired as a full-time teacher in one of the three subjects of greatest need in their region, typically special education, mathematics, science, English or elementary teaching, and receives a full salary on top of the full pension. The school district pays the pension contributions and the retiree earns no further pension rights. A state audit in 2025 found that about 350 retirees a year had used the law, less than one percent of Georgia's teachers. The law expires on 30 June 2026 and is being replaced by a new one, Senate Bill 150.</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ga.com/retiree/working-after-retirement/hb-385-employment/" history="1" highlightClick="0" endSnd="0">
                  <a:extLst>
                    <a:ext uri="{A12FA001-AC4F-418D-AE19-62706E023703}">
                      <ahyp:hlinkClr xmlns:ahyp="http://schemas.microsoft.com/office/drawing/2018/hyperlinkcolor" val="tx"/>
                    </a:ext>
                  </a:extLst>
                </a:hlinkClick>
              </a:rPr>
              <a:t>https://www.trsga.com/retiree/working-after-retirement/hb-385-employment/</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udits.ga.gov/ReportSearch/download/32615" history="1" highlightClick="0" endSnd="0">
                  <a:extLst>
                    <a:ext uri="{A12FA001-AC4F-418D-AE19-62706E023703}">
                      <ahyp:hlinkClr xmlns:ahyp="http://schemas.microsoft.com/office/drawing/2018/hyperlinkcolor" val="tx"/>
                    </a:ext>
                  </a:extLst>
                </a:hlinkClick>
              </a:rPr>
              <a:t>https://www.audits.ga.gov/ReportSearch/download/32615</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Louisiana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Act 394 of 2024: retired teachers rehired in critical shortage areas keep their pension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Louisiana's Act 394 of 2024, House Bill 967, signed in May 2024, lets retired members of the Teachers' Retirement System of Louisiana be re-employed in positions declared a critical shortage, as full-time or half-time classroom teachers, speech therapists or school counsellors, without their pension being suspended or reduced. The retiree and the employer keep paying contributions to the retirement system during the re-employment, but the retiree earns no extra service credit or benefit. It is the latest of several return-to-work laws Louisiana has passed since 2022 to fill classrooms, and the state Department of Education issued guidance for principals in December 2023 on how to rehire retirees under these rules.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l.org/retirees/returning-to-work-rtw" history="1" highlightClick="0" endSnd="0">
                  <a:extLst>
                    <a:ext uri="{A12FA001-AC4F-418D-AE19-62706E023703}">
                      <ahyp:hlinkClr xmlns:ahyp="http://schemas.microsoft.com/office/drawing/2018/hyperlinkcolor" val="tx"/>
                    </a:ext>
                  </a:extLst>
                </a:hlinkClick>
              </a:rPr>
              <a:t>https://www.trsl.org/retirees/returning-to-work-rtw</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katc.com/news/covering-louisiana/retired-teachers-can-return-to-the-classroom-under-new-louisiana-law" history="1" highlightClick="0" endSnd="0">
                  <a:extLst>
                    <a:ext uri="{A12FA001-AC4F-418D-AE19-62706E023703}">
                      <ahyp:hlinkClr xmlns:ahyp="http://schemas.microsoft.com/office/drawing/2018/hyperlinkcolor" val="tx"/>
                    </a:ext>
                  </a:extLst>
                </a:hlinkClick>
              </a:rPr>
              <a:t>https://www.katc.com/news/covering-louisiana/retired-teachers-can-return-to-the-classroom-under-new-louisiana-law</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Michigan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Public Act 147 of 2023: shorter wait and no earnings cap for retirees who return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Michigan's Public Act 147 of 2023, House Bill 4752, signed by Governor Gretchen Whitmer on 10 October 2023, makes it easier for retired school employees to go back to work without touching their pension. The waiting period after a genuine retirement before a retiree can be rehired by a school fell from nine months to six; during those six months a retiree may already work if they earn less than 15,100 dollars in the calendar year (about 13,000 euros), and after six months there is no earnings cap and no penalty at all. Retirees may not return as superintendent during the initial period. The change was passed in response to post-pandemic shortages and is temporary: it expires on 10 October 2028.</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ichigan.gov/orsschools/pa-147-of-2023-faqs" history="1" highlightClick="0" endSnd="0">
                  <a:extLst>
                    <a:ext uri="{A12FA001-AC4F-418D-AE19-62706E023703}">
                      <ahyp:hlinkClr xmlns:ahyp="http://schemas.microsoft.com/office/drawing/2018/hyperlinkcolor" val="tx"/>
                    </a:ext>
                  </a:extLst>
                </a:hlinkClick>
              </a:rPr>
              <a:t>https://www.michigan.gov/orsschools/pa-147-of-2023-faqs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mea.org/changes-to-post-retirement-return-to-work-rules-signed-into-law/" history="1" highlightClick="0" endSnd="0">
                  <a:extLst>
                    <a:ext uri="{A12FA001-AC4F-418D-AE19-62706E023703}">
                      <ahyp:hlinkClr xmlns:ahyp="http://schemas.microsoft.com/office/drawing/2018/hyperlinkcolor" val="tx"/>
                    </a:ext>
                  </a:extLst>
                </a:hlinkClick>
              </a:rPr>
              <a:t>https://mea.org/changes-to-post-retirement-return-to-work-rules-signed-into-law/</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National (AARP Foundation)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AARP Foundation Experience Corps: volunteers over 50 tutor early readers (since 1996)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Experience Corps is a volunteer tutoring programme run by the AARP Foundation since 1996. It trains adults aged 50 and over, many of them retired teachers, to tutor children from kindergarten to third grade who are behind in reading, in short weekly sessions with small groups in high-poverty public schools. Volunteers commit for a school year and receive training and ongoing support. In the 2023-24 school year 1,284 volunteers tutored 3,659 children in 18 communities across the United States. A randomised study by Washington University and Mathematica with more than 800 pupils in 23 urban schools found sixty percent greater gains in sounding out words and in reading comprehension, and a Johns Hopkins trial found benefits for the volunteers' own physical and cognitive health.</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arp.org/experience-corps/our-impact/experience-corps-research-studies.html" history="1" highlightClick="0" endSnd="0">
                  <a:extLst>
                    <a:ext uri="{A12FA001-AC4F-418D-AE19-62706E023703}">
                      <ahyp:hlinkClr xmlns:ahyp="http://schemas.microsoft.com/office/drawing/2018/hyperlinkcolor" val="tx"/>
                    </a:ext>
                  </a:extLst>
                </a:hlinkClick>
              </a:rPr>
              <a:t>https://www.aarp.org/experience-corps/our-impact/experience-corps-research-studies.html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arp.org/experience-corps/" history="1" highlightClick="0" endSnd="0">
                  <a:extLst>
                    <a:ext uri="{A12FA001-AC4F-418D-AE19-62706E023703}">
                      <ahyp:hlinkClr xmlns:ahyp="http://schemas.microsoft.com/office/drawing/2018/hyperlinkcolor" val="tx"/>
                    </a:ext>
                  </a:extLst>
                </a:hlinkClick>
              </a:rPr>
              <a:t>https://www.aarp.org/experience-corps/</a:t>
            </a:r>
            <a:endParaRPr lang="en-US" sz="1000" dirty="0"/>
          </a:p>
        </p:txBody>
      </p:sp>
      <p:sp>
        <p:nvSpPr>
          <p:cNvPr id="16" name="Shape 12"/>
          <p:cNvSpPr/>
          <p:nvPr/>
        </p:nvSpPr>
        <p:spPr>
          <a:xfrm>
            <a:off x="9677095" y="6533388"/>
            <a:ext cx="118872" cy="118872"/>
          </a:xfrm>
          <a:prstGeom prst="ellipse">
            <a:avLst/>
          </a:prstGeom>
          <a:solidFill>
            <a:srgbClr val="1F4E46"/>
          </a:solidFill>
          <a:ln w="12700">
            <a:solidFill>
              <a:srgbClr val="1F4E46"/>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Mexico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Educational Retirees Returning to Work Act (House Bill 73,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New Mexico's Educational Retirees Returning to Work Act, signed by Governor Michelle Lujan Grisham in March 2022, lets retired teachers and college faculty who draw a pension from the Educational Retirement Board go back to work in a public school district, college or university for up to three years without losing their pension, with no limit on salary or hours. The retiree applies to the Educational Retirement Board and must be approved before starting work. The law opened the door to the state's roughly 48,000 retired educators at a time of severe shortages; it was announced in June 2022 by the Higher Education Department together with the Governor's office.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d.nm.gov/news/retired-educators-now-eligible-to-return-to-work-without-losing-pension-benefits" history="1" highlightClick="0" endSnd="0">
                  <a:extLst>
                    <a:ext uri="{A12FA001-AC4F-418D-AE19-62706E023703}">
                      <ahyp:hlinkClr xmlns:ahyp="http://schemas.microsoft.com/office/drawing/2018/hyperlinkcolor" val="tx"/>
                    </a:ext>
                  </a:extLst>
                </a:hlinkClick>
              </a:rPr>
              <a:t>https://hed.nm.gov/news/retired-educators-now-eligible-to-return-to-work-without-losing-pension-benefits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ernor.state.nm.us/2022/06/28/retired-educators-now-eligible-to-return-to-work-without-losing-pension-benefits/" history="1" highlightClick="0" endSnd="0">
                  <a:extLst>
                    <a:ext uri="{A12FA001-AC4F-418D-AE19-62706E023703}">
                      <ahyp:hlinkClr xmlns:ahyp="http://schemas.microsoft.com/office/drawing/2018/hyperlinkcolor" val="tx"/>
                    </a:ext>
                  </a:extLst>
                </a:hlinkClick>
              </a:rPr>
              <a:t>https://www.governor.state.nm.us/2022/06/28/retired-educators-now-eligible-to-return-to-work-without-losing-pension-benefits/</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North Carolina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Return-to-work policy for retired teachers, 1999–2009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Between 1999 and 2009 North Carolina let retired public-school teachers go back to full-time teaching while continuing to draw their state pension, so that a returning teacher earned a full salary plus the pension, often about fifty percent more than a comparable full-time teacher. It was an open pension rule rather than a programme: any retired teacher could be hired back by a district without penalty. A 2024 study by Rachel Jarrold-Grapes and Lea Mahler in Education Policy Analysis Archives used state administrative data to see who hired these teachers and found that schools with many economically disadvantaged or Black pupils, which struggle most to fill vacancies, hired a disproportionate share of them, suggesting the rule helped staff high-need schools. The provision ended in 2009.</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files.eric.ed.gov/fulltext/EJ1425366.pdf" history="1" highlightClick="0" endSnd="0">
                  <a:extLst>
                    <a:ext uri="{A12FA001-AC4F-418D-AE19-62706E023703}">
                      <ahyp:hlinkClr xmlns:ahyp="http://schemas.microsoft.com/office/drawing/2018/hyperlinkcolor" val="tx"/>
                    </a:ext>
                  </a:extLst>
                </a:hlinkClick>
              </a:rPr>
              <a:t>https://files.eric.ed.gov/fulltext/EJ1425366.pdf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dialnet.unirioja.es/servlet/articulo?codigo=9286932" history="1" highlightClick="0" endSnd="0">
                  <a:extLst>
                    <a:ext uri="{A12FA001-AC4F-418D-AE19-62706E023703}">
                      <ahyp:hlinkClr xmlns:ahyp="http://schemas.microsoft.com/office/drawing/2018/hyperlinkcolor" val="tx"/>
                    </a:ext>
                  </a:extLst>
                </a:hlinkClick>
              </a:rPr>
              <a:t>https://dialnet.unirioja.es/servlet/articulo?codigo=9286932</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Virginia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Executive Directive 3: lifting licence and pension obstacles for returning retirees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On 1 September 2022 Governor Glenn Youngkin signed Executive Directive 3, ‘Addressing Teacher Shortages in Virginia Schools’. Among other measures it allowed the State Superintendent to issue or renew teaching licences for retired and out-of-state teachers whose licences had lapsed, and told the Department of Education to work with the Virginia Retirement System so that retired teachers could fill any vacant school post. This built on a rule in force since 2001 under which a retiree who returns to teach in a critical-shortage area draws a new salary on top of the pension. The directive also launched an online licensure system and the ‘Turning the Tide’ strategic plan; the Department reports that between 2022 and 2025 it added 17,598 endorsements to 16,988 teacher licences under this plan.</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doe.virginia.gov/teaching-learning-assessment/teaching-in-virginia/turning-the-tide" history="1" highlightClick="0" endSnd="0">
                  <a:extLst>
                    <a:ext uri="{A12FA001-AC4F-418D-AE19-62706E023703}">
                      <ahyp:hlinkClr xmlns:ahyp="http://schemas.microsoft.com/office/drawing/2018/hyperlinkcolor" val="tx"/>
                    </a:ext>
                  </a:extLst>
                </a:hlinkClick>
              </a:rPr>
              <a:t>https://www.doe.virginia.gov/teaching-learning-assessment/teaching-in-virginia/turning-the-tide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edweek.org/leadership/could-retired-teachers-be-the-answer-to-shortages-its-complicated/2022/10" history="1" highlightClick="0" endSnd="0">
                  <a:extLst>
                    <a:ext uri="{A12FA001-AC4F-418D-AE19-62706E023703}">
                      <ahyp:hlinkClr xmlns:ahyp="http://schemas.microsoft.com/office/drawing/2018/hyperlinkcolor" val="tx"/>
                    </a:ext>
                  </a:extLst>
                </a:hlinkClick>
              </a:rPr>
              <a:t>https://www.edweek.org/leadership/could-retired-teachers-be-the-answer-to-shortages-its-complicated/2022/10</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(1/2)</a:t>
            </a:r>
            <a:endParaRPr lang="en-US" sz="28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(New South Wales)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Teachers Re-Engage: the department calls back recent leavers (2023–24)</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(Victoria)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Re-Engagement Initiative (TREI), 2022–2025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Regional education authorities recruit retired teachers back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Bahamas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Reservist Program: a standing reserve of former teachers (announced July 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(Ontario)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Ontario Teachers' Pension Plan: the 50-day re-employment rule, raised to 95 days in shortages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(Quebec)</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Incentive pay for returning retired teachers (2020, made permanent) and ministerial letter campaign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Silver-Age Lecturing Plan: retired teachers posted to rural schools,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Combining pension and pay: retired teachers rehired as contract or substitute staff</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Higher, then no, earnings ceiling for retired teachers who keep teaching, 2022–2024</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Minister's letter to teachers approaching retirement (November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Ireland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Waiver of pension abatement for retired teachers: 50 days a year (2021–2027)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Netherlands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Grant to primary schools for re-hiring former teachers, 2017–2020</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New Zealand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Streamlined return-to-teaching pathway: no refresher course, fees covered (2024–2028)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Portugal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Decree-Law 51/2024: schools may hire retired teachers for shortage posts, 2024/25–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Singapore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Flexi-Adjunct Teaching Scheme (Ministry of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(2/2)</a:t>
            </a:r>
            <a:endParaRPr lang="en-US" sz="28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Spain (Zaragoza)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10 Mirrors: retired teachers mentor student teachers (University of Zaragoza, reported 2019)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Sweden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Skolverket web-based training for returning teachers and preschool teachers (since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Switzerland (Canton of Zurich)</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Re-entry counselling and induction for returning teachers (Zurich University of Teacher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Advisers (Department for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pilot (2015–16) and Returners Engagement Programme (2016–17)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(Colorado)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 Mentors for New Teachers (Aurora Public Schools; REL Central evaluation, 2017)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(Four urban districts)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Number Rockets: retired teachers as small-group maths tutors for first graders (2015 study)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(Georgia)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House Bill 385: full-time return of retired teachers in high-need subjects (2022–2026)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(Louisiana)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Act 394 of 2024: retired teachers rehired in critical shortage areas keep their pension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(Michigan)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Public Act 147 of 2023: shorter wait and no earnings cap for retirees who return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(National (AARP Foundation))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AARP Foundation Experience Corps: volunteers over 50 tutor early readers (since 1996)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(New Mexico)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Educational Retirees Returning to Work Act (House Bill 73,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(North Carolina)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Return-to-work policy for retired teachers, 1999–2009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(Virginia)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Executive Directive 3: lifting licence and pension obstacles for returning retirees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Re-attracting Former Teachers</dc:title>
  <dc:subject>PptxGenJS Presentation</dc:subject>
  <dc:creator>José Manuel Torres, José Elías Durán Roa</dc:creator>
  <cp:lastModifiedBy>José Manuel Torres, José Elías Durán Roa</cp:lastModifiedBy>
  <cp:revision>1</cp:revision>
  <dcterms:created xsi:type="dcterms:W3CDTF">2026-09-17T15:34:44Z</dcterms:created>
  <dcterms:modified xsi:type="dcterms:W3CDTF">2026-09-17T15:34:44Z</dcterms:modified>
</cp:coreProperties>
</file>