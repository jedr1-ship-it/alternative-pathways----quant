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(laws, ministry and agency web pages) plus, where noted, institutional evaluations and reputable press. Each policy slide carries its main source link in the footer; secondary sources and verification notes are in the speaker notes of each slide. Direct HTTP access was not available in the build environment, so every URL was verified through search-engine indexing of the official pages on 17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(streamlined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Sources: ORF national report 'Lehrkräftemangel: Pensionisten umworben' and ORF Vienna 'Pensionisten kehren kaum in Job zurück' (300 letters in December 2022, three positive replies; principals instructed in February 2023), Wiener Zeitung ('Nur 42 Pflichtschullehrer kamen aus Pension zurück'), and the 2025 European Journal of Teacher Education article on retired teachers as a reserve. Press-based; no official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2" Type="http://schemas.openxmlformats.org/officeDocument/2006/relationships/image" Target="../media/image-5-2.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oesterreich.orf.at/stories/3198263/"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2" Type="http://schemas.openxmlformats.org/officeDocument/2006/relationships/image" Target="../media/image-7-2.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2" Type="http://schemas.openxmlformats.org/officeDocument/2006/relationships/image" Target="../media/image-16-2.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2" Type="http://schemas.openxmlformats.org/officeDocument/2006/relationships/image" Target="../media/image-22-2.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2"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2" Type="http://schemas.openxmlformats.org/officeDocument/2006/relationships/image" Target="../media/image-25-2.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6-1.png"/><Relationship Id="rId2" Type="http://schemas.openxmlformats.org/officeDocument/2006/relationships/image" Target="../media/image-26-2.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2-1.png"/><Relationship Id="rId2" Type="http://schemas.openxmlformats.org/officeDocument/2006/relationships/image" Target="../media/image-32-2.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2" Type="http://schemas.openxmlformats.org/officeDocument/2006/relationships/image" Target="../media/image-33-2.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143000"/>
            <a:ext cx="10698480" cy="1097280"/>
          </a:xfrm>
          <a:prstGeom prst="rect">
            <a:avLst/>
          </a:prstGeom>
          <a:noFill/>
          <a:ln/>
        </p:spPr>
        <p:txBody>
          <a:bodyPr wrap="square" lIns="0" tIns="0" rIns="0" bIns="0" rtlCol="0" anchor="b"/>
          <a:lstStyle/>
          <a:p>
            <a:pPr indent="0" marL="0">
              <a:buNone/>
            </a:pPr>
            <a:r>
              <a:rPr lang="en-US" sz="4600" b="1" dirty="0">
                <a:solidFill>
                  <a:srgbClr val="FFFFFF"/>
                </a:solidFill>
                <a:latin typeface="Cambria" pitchFamily="34" charset="0"/>
                <a:ea typeface="Cambria" pitchFamily="34" charset="-122"/>
                <a:cs typeface="Cambria" pitchFamily="34" charset="-120"/>
              </a:rPr>
              <a:t>Re-attracting Former Teachers</a:t>
            </a:r>
            <a:endParaRPr lang="en-US" sz="4600" dirty="0"/>
          </a:p>
        </p:txBody>
      </p:sp>
      <p:sp>
        <p:nvSpPr>
          <p:cNvPr id="3" name="Text 1"/>
          <p:cNvSpPr txBox="1"/>
          <p:nvPr/>
        </p:nvSpPr>
        <p:spPr>
          <a:xfrm>
            <a:off x="731520" y="2331720"/>
            <a:ext cx="10698480" cy="640080"/>
          </a:xfrm>
          <a:prstGeom prst="rect">
            <a:avLst/>
          </a:prstGeom>
          <a:noFill/>
          <a:ln/>
        </p:spPr>
        <p:txBody>
          <a:bodyPr wrap="square" lIns="0" tIns="0" rIns="0" bIns="0" rtlCol="0" anchor="ctr"/>
          <a:lstStyle/>
          <a:p>
            <a:pPr indent="0" marL="0">
              <a:buNone/>
            </a:pPr>
            <a:r>
              <a:rPr lang="en-US" sz="2200" dirty="0">
                <a:solidFill>
                  <a:srgbClr val="CFE3D9"/>
                </a:solidFill>
                <a:latin typeface="Calibri" pitchFamily="34" charset="0"/>
                <a:ea typeface="Calibri" pitchFamily="34" charset="-122"/>
                <a:cs typeface="Calibri" pitchFamily="34" charset="-120"/>
              </a:rPr>
              <a:t>Policies that bring them back into education</a:t>
            </a:r>
            <a:endParaRPr lang="en-US" sz="2200" dirty="0"/>
          </a:p>
        </p:txBody>
      </p:sp>
      <p:sp>
        <p:nvSpPr>
          <p:cNvPr id="4" name="Text 2"/>
          <p:cNvSpPr txBox="1"/>
          <p:nvPr/>
        </p:nvSpPr>
        <p:spPr>
          <a:xfrm>
            <a:off x="731520" y="406908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5" name="Image 0" descr="preencoded.png">    </p:cNvPr>
          <p:cNvPicPr>
            <a:picLocks noChangeAspect="1"/>
          </p:cNvPicPr>
          <p:nvPr/>
        </p:nvPicPr>
        <p:blipFill>
          <a:blip r:embed="rId1"/>
          <a:stretch>
            <a:fillRect/>
          </a:stretch>
        </p:blipFill>
        <p:spPr>
          <a:xfrm>
            <a:off x="-524408" y="5074920"/>
            <a:ext cx="658368" cy="493776"/>
          </a:xfrm>
          <a:prstGeom prst="rect">
            <a:avLst/>
          </a:prstGeom>
        </p:spPr>
      </p:pic>
      <p:pic>
        <p:nvPicPr>
          <p:cNvPr id="6" name="Image 1" descr="preencoded.png">    </p:cNvPr>
          <p:cNvPicPr>
            <a:picLocks noChangeAspect="1"/>
          </p:cNvPicPr>
          <p:nvPr/>
        </p:nvPicPr>
        <p:blipFill>
          <a:blip r:embed="rId2"/>
          <a:stretch>
            <a:fillRect/>
          </a:stretch>
        </p:blipFill>
        <p:spPr>
          <a:xfrm>
            <a:off x="261976" y="5074920"/>
            <a:ext cx="658368" cy="493776"/>
          </a:xfrm>
          <a:prstGeom prst="rect">
            <a:avLst/>
          </a:prstGeom>
        </p:spPr>
      </p:pic>
      <p:pic>
        <p:nvPicPr>
          <p:cNvPr id="7" name="Image 2" descr="preencoded.png">    </p:cNvPr>
          <p:cNvPicPr>
            <a:picLocks noChangeAspect="1"/>
          </p:cNvPicPr>
          <p:nvPr/>
        </p:nvPicPr>
        <p:blipFill>
          <a:blip r:embed="rId3"/>
          <a:stretch>
            <a:fillRect/>
          </a:stretch>
        </p:blipFill>
        <p:spPr>
          <a:xfrm>
            <a:off x="1048360" y="5074920"/>
            <a:ext cx="658368" cy="493776"/>
          </a:xfrm>
          <a:prstGeom prst="rect">
            <a:avLst/>
          </a:prstGeom>
        </p:spPr>
      </p:pic>
      <p:pic>
        <p:nvPicPr>
          <p:cNvPr id="8" name="Image 3" descr="preencoded.png">    </p:cNvPr>
          <p:cNvPicPr>
            <a:picLocks noChangeAspect="1"/>
          </p:cNvPicPr>
          <p:nvPr/>
        </p:nvPicPr>
        <p:blipFill>
          <a:blip r:embed="rId4"/>
          <a:stretch>
            <a:fillRect/>
          </a:stretch>
        </p:blipFill>
        <p:spPr>
          <a:xfrm>
            <a:off x="1834744" y="5074920"/>
            <a:ext cx="658368" cy="493776"/>
          </a:xfrm>
          <a:prstGeom prst="rect">
            <a:avLst/>
          </a:prstGeom>
        </p:spPr>
      </p:pic>
      <p:pic>
        <p:nvPicPr>
          <p:cNvPr id="9" name="Image 4" descr="preencoded.png">    </p:cNvPr>
          <p:cNvPicPr>
            <a:picLocks noChangeAspect="1"/>
          </p:cNvPicPr>
          <p:nvPr/>
        </p:nvPicPr>
        <p:blipFill>
          <a:blip r:embed="rId5"/>
          <a:stretch>
            <a:fillRect/>
          </a:stretch>
        </p:blipFill>
        <p:spPr>
          <a:xfrm>
            <a:off x="2621128" y="5074920"/>
            <a:ext cx="658368" cy="493776"/>
          </a:xfrm>
          <a:prstGeom prst="rect">
            <a:avLst/>
          </a:prstGeom>
        </p:spPr>
      </p:pic>
      <p:pic>
        <p:nvPicPr>
          <p:cNvPr id="10" name="Image 5" descr="preencoded.png">    </p:cNvPr>
          <p:cNvPicPr>
            <a:picLocks noChangeAspect="1"/>
          </p:cNvPicPr>
          <p:nvPr/>
        </p:nvPicPr>
        <p:blipFill>
          <a:blip r:embed="rId6"/>
          <a:stretch>
            <a:fillRect/>
          </a:stretch>
        </p:blipFill>
        <p:spPr>
          <a:xfrm>
            <a:off x="3407512" y="5074920"/>
            <a:ext cx="658368" cy="493776"/>
          </a:xfrm>
          <a:prstGeom prst="rect">
            <a:avLst/>
          </a:prstGeom>
        </p:spPr>
      </p:pic>
      <p:pic>
        <p:nvPicPr>
          <p:cNvPr id="11" name="Image 6" descr="preencoded.png">    </p:cNvPr>
          <p:cNvPicPr>
            <a:picLocks noChangeAspect="1"/>
          </p:cNvPicPr>
          <p:nvPr/>
        </p:nvPicPr>
        <p:blipFill>
          <a:blip r:embed="rId7"/>
          <a:stretch>
            <a:fillRect/>
          </a:stretch>
        </p:blipFill>
        <p:spPr>
          <a:xfrm>
            <a:off x="4193896" y="5074920"/>
            <a:ext cx="658368" cy="493776"/>
          </a:xfrm>
          <a:prstGeom prst="rect">
            <a:avLst/>
          </a:prstGeom>
        </p:spPr>
      </p:pic>
      <p:pic>
        <p:nvPicPr>
          <p:cNvPr id="12" name="Image 7" descr="preencoded.png">    </p:cNvPr>
          <p:cNvPicPr>
            <a:picLocks noChangeAspect="1"/>
          </p:cNvPicPr>
          <p:nvPr/>
        </p:nvPicPr>
        <p:blipFill>
          <a:blip r:embed="rId8"/>
          <a:stretch>
            <a:fillRect/>
          </a:stretch>
        </p:blipFill>
        <p:spPr>
          <a:xfrm>
            <a:off x="4980280" y="5074920"/>
            <a:ext cx="658368" cy="493776"/>
          </a:xfrm>
          <a:prstGeom prst="rect">
            <a:avLst/>
          </a:prstGeom>
        </p:spPr>
      </p:pic>
      <p:pic>
        <p:nvPicPr>
          <p:cNvPr id="13" name="Image 8" descr="preencoded.png">    </p:cNvPr>
          <p:cNvPicPr>
            <a:picLocks noChangeAspect="1"/>
          </p:cNvPicPr>
          <p:nvPr/>
        </p:nvPicPr>
        <p:blipFill>
          <a:blip r:embed="rId9"/>
          <a:stretch>
            <a:fillRect/>
          </a:stretch>
        </p:blipFill>
        <p:spPr>
          <a:xfrm>
            <a:off x="5766664" y="5074920"/>
            <a:ext cx="658368" cy="493776"/>
          </a:xfrm>
          <a:prstGeom prst="rect">
            <a:avLst/>
          </a:prstGeom>
        </p:spPr>
      </p:pic>
      <p:pic>
        <p:nvPicPr>
          <p:cNvPr id="14" name="Image 9" descr="preencoded.png">    </p:cNvPr>
          <p:cNvPicPr>
            <a:picLocks noChangeAspect="1"/>
          </p:cNvPicPr>
          <p:nvPr/>
        </p:nvPicPr>
        <p:blipFill>
          <a:blip r:embed="rId10"/>
          <a:stretch>
            <a:fillRect/>
          </a:stretch>
        </p:blipFill>
        <p:spPr>
          <a:xfrm>
            <a:off x="6553048" y="5074920"/>
            <a:ext cx="658368" cy="493776"/>
          </a:xfrm>
          <a:prstGeom prst="rect">
            <a:avLst/>
          </a:prstGeom>
        </p:spPr>
      </p:pic>
      <p:pic>
        <p:nvPicPr>
          <p:cNvPr id="15" name="Image 10" descr="preencoded.png">    </p:cNvPr>
          <p:cNvPicPr>
            <a:picLocks noChangeAspect="1"/>
          </p:cNvPicPr>
          <p:nvPr/>
        </p:nvPicPr>
        <p:blipFill>
          <a:blip r:embed="rId11"/>
          <a:stretch>
            <a:fillRect/>
          </a:stretch>
        </p:blipFill>
        <p:spPr>
          <a:xfrm>
            <a:off x="7339432" y="5074920"/>
            <a:ext cx="658368" cy="493776"/>
          </a:xfrm>
          <a:prstGeom prst="rect">
            <a:avLst/>
          </a:prstGeom>
        </p:spPr>
      </p:pic>
      <p:pic>
        <p:nvPicPr>
          <p:cNvPr id="16" name="Image 11" descr="preencoded.png">    </p:cNvPr>
          <p:cNvPicPr>
            <a:picLocks noChangeAspect="1"/>
          </p:cNvPicPr>
          <p:nvPr/>
        </p:nvPicPr>
        <p:blipFill>
          <a:blip r:embed="rId12"/>
          <a:stretch>
            <a:fillRect/>
          </a:stretch>
        </p:blipFill>
        <p:spPr>
          <a:xfrm>
            <a:off x="8125816" y="5074920"/>
            <a:ext cx="658368" cy="493776"/>
          </a:xfrm>
          <a:prstGeom prst="rect">
            <a:avLst/>
          </a:prstGeom>
        </p:spPr>
      </p:pic>
      <p:pic>
        <p:nvPicPr>
          <p:cNvPr id="17" name="Image 12" descr="preencoded.png">    </p:cNvPr>
          <p:cNvPicPr>
            <a:picLocks noChangeAspect="1"/>
          </p:cNvPicPr>
          <p:nvPr/>
        </p:nvPicPr>
        <p:blipFill>
          <a:blip r:embed="rId13"/>
          <a:stretch>
            <a:fillRect/>
          </a:stretch>
        </p:blipFill>
        <p:spPr>
          <a:xfrm>
            <a:off x="8912200" y="5074920"/>
            <a:ext cx="658368" cy="493776"/>
          </a:xfrm>
          <a:prstGeom prst="rect">
            <a:avLst/>
          </a:prstGeom>
        </p:spPr>
      </p:pic>
      <p:pic>
        <p:nvPicPr>
          <p:cNvPr id="18" name="Image 13" descr="preencoded.png">    </p:cNvPr>
          <p:cNvPicPr>
            <a:picLocks noChangeAspect="1"/>
          </p:cNvPicPr>
          <p:nvPr/>
        </p:nvPicPr>
        <p:blipFill>
          <a:blip r:embed="rId14"/>
          <a:stretch>
            <a:fillRect/>
          </a:stretch>
        </p:blipFill>
        <p:spPr>
          <a:xfrm>
            <a:off x="9698584" y="5074920"/>
            <a:ext cx="658368" cy="493776"/>
          </a:xfrm>
          <a:prstGeom prst="rect">
            <a:avLst/>
          </a:prstGeom>
        </p:spPr>
      </p:pic>
      <p:pic>
        <p:nvPicPr>
          <p:cNvPr id="19" name="Image 14" descr="preencoded.png">    </p:cNvPr>
          <p:cNvPicPr>
            <a:picLocks noChangeAspect="1"/>
          </p:cNvPicPr>
          <p:nvPr/>
        </p:nvPicPr>
        <p:blipFill>
          <a:blip r:embed="rId15"/>
          <a:stretch>
            <a:fillRect/>
          </a:stretch>
        </p:blipFill>
        <p:spPr>
          <a:xfrm>
            <a:off x="10484968" y="5074920"/>
            <a:ext cx="658368" cy="493776"/>
          </a:xfrm>
          <a:prstGeom prst="rect">
            <a:avLst/>
          </a:prstGeom>
        </p:spPr>
      </p:pic>
      <p:pic>
        <p:nvPicPr>
          <p:cNvPr id="20" name="Image 15" descr="preencoded.png">    </p:cNvPr>
          <p:cNvPicPr>
            <a:picLocks noChangeAspect="1"/>
          </p:cNvPicPr>
          <p:nvPr/>
        </p:nvPicPr>
        <p:blipFill>
          <a:blip r:embed="rId16"/>
          <a:stretch>
            <a:fillRect/>
          </a:stretch>
        </p:blipFill>
        <p:spPr>
          <a:xfrm>
            <a:off x="11271352" y="5074920"/>
            <a:ext cx="658368" cy="493776"/>
          </a:xfrm>
          <a:prstGeom prst="rect">
            <a:avLst/>
          </a:prstGeom>
        </p:spPr>
      </p:pic>
      <p:pic>
        <p:nvPicPr>
          <p:cNvPr id="21" name="Image 16" descr="preencoded.png">    </p:cNvPr>
          <p:cNvPicPr>
            <a:picLocks noChangeAspect="1"/>
          </p:cNvPicPr>
          <p:nvPr/>
        </p:nvPicPr>
        <p:blipFill>
          <a:blip r:embed="rId17"/>
          <a:stretch>
            <a:fillRect/>
          </a:stretch>
        </p:blipFill>
        <p:spPr>
          <a:xfrm>
            <a:off x="12057736" y="5074920"/>
            <a:ext cx="658368" cy="4937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Each policy is classified by the instrument it uses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without changing economic incentives: information sessions, career guidance or peer mentoring, a leaflet with the retirement form, personalised letters,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Text 1"/>
          <p:cNvSpPr txBox="1"/>
          <p:nvPr/>
        </p:nvSpPr>
        <p:spPr>
          <a:xfrm>
            <a:off x="667512" y="116128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Every policy slide carries one of these labels at the bottom right of its card</a:t>
            </a:r>
            <a:endParaRPr lang="en-US" sz="1400" dirty="0"/>
          </a:p>
        </p:txBody>
      </p:sp>
      <p:sp>
        <p:nvSpPr>
          <p:cNvPr id="4" name="Shape 2"/>
          <p:cNvSpPr/>
          <p:nvPr/>
        </p:nvSpPr>
        <p:spPr>
          <a:xfrm>
            <a:off x="868680" y="2231136"/>
            <a:ext cx="256032" cy="256032"/>
          </a:xfrm>
          <a:prstGeom prst="ellipse">
            <a:avLst/>
          </a:prstGeom>
          <a:solidFill>
            <a:srgbClr val="1F4E46"/>
          </a:solidFill>
          <a:ln w="12700">
            <a:solidFill>
              <a:srgbClr val="1F4E46"/>
            </a:solidFill>
            <a:prstDash val="solid"/>
          </a:ln>
        </p:spPr>
      </p:sp>
      <p:sp>
        <p:nvSpPr>
          <p:cNvPr id="5" name="Text 3"/>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6" name="Text 4"/>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7" name="Shape 5"/>
          <p:cNvSpPr/>
          <p:nvPr/>
        </p:nvSpPr>
        <p:spPr>
          <a:xfrm>
            <a:off x="868680" y="3099816"/>
            <a:ext cx="256032" cy="256032"/>
          </a:xfrm>
          <a:prstGeom prst="ellipse">
            <a:avLst/>
          </a:prstGeom>
          <a:solidFill>
            <a:srgbClr val="C8892B"/>
          </a:solidFill>
          <a:ln w="12700">
            <a:solidFill>
              <a:srgbClr val="C8892B"/>
            </a:solidFill>
            <a:prstDash val="solid"/>
          </a:ln>
        </p:spPr>
      </p:sp>
      <p:sp>
        <p:nvSpPr>
          <p:cNvPr id="8" name="Text 6"/>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9" name="Text 7"/>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10" name="Shape 8"/>
          <p:cNvSpPr/>
          <p:nvPr/>
        </p:nvSpPr>
        <p:spPr>
          <a:xfrm>
            <a:off x="868680" y="3968496"/>
            <a:ext cx="256032" cy="256032"/>
          </a:xfrm>
          <a:prstGeom prst="ellipse">
            <a:avLst/>
          </a:prstGeom>
          <a:solidFill>
            <a:srgbClr val="B3542E"/>
          </a:solidFill>
          <a:ln w="12700">
            <a:solidFill>
              <a:srgbClr val="B3542E"/>
            </a:solidFill>
            <a:prstDash val="solid"/>
          </a:ln>
        </p:spPr>
      </p:sp>
      <p:sp>
        <p:nvSpPr>
          <p:cNvPr id="11" name="Text 9"/>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2" name="Text 10"/>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3"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of New South Wales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Re-Engagement Initiative is a scheme of the Department of Education of the state of Victoria for qualified teachers who stopped teaching at least a year ago, whether they retired or moved to another job. It lets them spend up to forty paid days in a public school to get used to the classroom again before they apply for a real post. After a teacher registers, a team from the department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The initiative began in late 2022, received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 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reactivation of retired teachers is an effort by Austria's regional education directorates to persuade teachers who have retired, or are about to, to keep teaching. Vienna started by writing to recently retired teachers; when almost nobody replied, it switched to having every school principal raise the subject personally with staff approaching retirement age, usually offering reduced hours, and Vorarlberg created a post to promote the option. A teacher who returns keeps the full pension and signs a separate contract paid on the beginner's salary scale, which the directorates themselves see as part of the problem. Take-up has stayed small, a few dozen teachers nationwide, and a 2025 academic study points to pension and service-crediting rules as the main barrier.</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oesterreich.orf.at/stories/3198263/" history="1" highlightClick="0" endSnd="0">
                  <a:extLst>
                    <a:ext uri="{A12FA001-AC4F-418D-AE19-62706E023703}">
                      <ahyp:hlinkClr xmlns:ahyp="http://schemas.microsoft.com/office/drawing/2018/hyperlinkcolor" val="tx"/>
                    </a:ext>
                  </a:extLst>
                </a:hlinkClick>
              </a:rPr>
              <a:t>https://oesterreich.orf.at/stories/3198263/</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Reservist Program is a standing reserve of teachers that Bahamian schools can call on when a post falls vacant or a teacher is absent. Qualified Bahamians, recently retired teachers, former teachers who moved to other careers and recent graduates register in advance on the Ministry of Education's existing supply-teacher platform, and a task force of several agencies fast-tracks their vetting and accreditation so they can start quickly. The design turns an emergency call-out into a permanent pool.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Ontario teachers can go back to work for a school board while drawing their full pension, up to a limit of days each school year set by the teachers' pension plan; past that limit the pension is suspended for the rest of the year. The limit is normally 50 days, and the plan's two sponsors, the provincial government and the teachers' federation, have raised it to 95 days when schools were short of staff, as they did during and after the pandemic. Boards then had to report how they used retirees so the extra days did not crowd out occasional teachers starting their careers, and unions have argued that leaning on retirees is not a lasting answer to shortages.</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Quebec pays retired teachers who come back to the classroom far more than the ordinary substitute rate: from their first day they earn at the salary step they had reached when they retired, and they keep their pension in full. The measure was introduced during the pandemic and later made permanent, and the ministry reinforced it by writing personally to every retired teacher inviting them back. In practice a returning retiree earns about 412 Canadian dollars a day (about 275 euros) instead of 212 dollars (about 140 euros), and up to 578 dollars (about 385 euros) on longer contracts. Seven hundred retirees returned in the first year and more than 5,000 worked in schools in 2022-23.</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 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Silver-Age Lecturing Plan is a programme of the Chinese Ministries of Education and Finance that posts retired teachers to rural schools for at least a school year, to teach, coach the school's young teachers and advise the head on running the school. Retired principals, senior teachers and ‘special-grade’ teachers aged 65 or under apply to a call issued by their province and are placed in primary or lower-secondary schools in poor and remote counties. They keep their pension and receive a central-government allowance of 20,000 yuan a year (about 2,500 euros) covering a stipend, travel and insurance. Running since 2018, the plan aimed at 10,000 posts in its first three years and recruited 7,000 teachers in the 2024 round alone.</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France's rules on combining a pension with earnings let a retired public-school teacher go back to the classroom as a contract or substitute teacher while continuing to draw the pension. A written answer from the Ministry of Education to the National Assembly confirmed that a retired civil servant or contract teacher may resume work, including at the last school where they served, provided six months have passed since the pension took effect. School authorities use it to fill posts in shortage subjects, and deputies have pressed the government to make it easier to call on retired teachers for replacements. It is an enabling rule rather than a programme, and no figures on how many teachers return are published.</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Lower Saxony lifted the limit on what a retired teacher can earn from teaching without losing pension. Under the state's civil-service pension rules a pensioner's pay and pension together may not exceed a ceiling, and anything above it is deducted from the pension, which made going back to the classroom barely worth it. The state parliament raised that ceiling in 2022, enough for a pensioner to teach around nine or ten hours a week with no deduction, and increased overtime pay for serving teachers at the same time. In 2024 it removed the ceiling for retired teachers altogether, so they can now teach as much as they want while drawing the full pension.</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of Lower Saxony wrote personally to every teacher about to retire, thanking them for their service and asking them to keep helping schools facing rising pupil numbers. The letter came with an information sheet and a registration guide setting out the two ways to stay: civil-servant teachers can ask to postpone retirement by up to three years, or any teacher can retire and be re-hired at once on a fixed-term contract while drawing the pension, under the relaxed earnings rules. The letter carries no money of its own; its point is that nobody signs the retirement paperwork without knowing the options. It was sent in November 2023.</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Ireland lets a retired teacher work as a substitute or on a fixed-term contract for up to fifty days a year without any cut to the pension. Normally a rule called abatement reduces a public-service pension whenever pension and new salary together exceed the pay the person had when they retired, which puts retirees off covering absences. The waiver suspends that rule for the first fifty days worked in each calendar year, with every day counted as one whatever the hours, and abatement is assessed only beyond that point. The Department of Education introduced it by circular in 2021 to ease the shortage of substitutes and has renewed it twice, most recently for 2026 and 2027.</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Dutch Ministry of Education paid the school, not the teacher, for bringing a former teacher back. A primary-school board that hired a qualified teacher who had been out of primary education for at least a year, on a contract of six months or more, could claim up to 2,500 euros for that person, earmarked for their guidance and support in the first months back: coaching, refresher training, time alongside a colleague. The aim was to remove the cost and effort that make schools hesitate to take on someone who has been away. The scheme ran from November 2017 to January 2020, with a first budget covering up to 500 returners and a further round in 2019.</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Streamlined return-to-teaching pathway: no refresher course, fees covered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Zealand removed the refresher course that used to stand between a former teacher and the classroom. A registered teacher who had not taught for five years or more previously had to complete a Teacher Education Refresh programme before regaining a practising certificate; now, with a job offer in hand, they simply renew the certificate, may do substitute teaching for up to twenty half-days while it is processed, and agree a short teaching plan with the school principal instead of taking the course. The government also pays the registration fees, so coming back costs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Portugal lets public schools sign fixed-term contracts with retired teachers to fill posts they cannot otherwise staff. A school with an unfilled post in a shortage subject, or one officially classed as under-staffed, applies through an online form of the schools' administration directorate, and the ministry authorises the contract within a yearly quota agreed with the finance ministry; only teachers who retired five years ago or less qualify. The returning teacher keeps the full pension and receives an extra payment tied to the first step of the teacher salary scale, in proportion to the hours taught each week. Created in August 2024, it filled about 63 of some 200 posts in its first round.</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Singapore keeps a register of former teachers that schools can draw on for short, flexible spells of work. A trained ex-teacher, retirees included, registers through the Ministry of Education's relief portal, and schools then approach them directly for appointments lasting anywhere from a single day to ten weeks, for teaching alone or a mix of teaching and other duties agreed case by case. They are paid a daily rate and start earning leave after ninety days of cumulative service. A companion scheme offers longer contracts, of one year to eighteen months, to former ministry teachers. About 220 teachers a year joined the flexible scheme within twelve months of leaving the service between 2022 and 2024.</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Faculty of Education of the University of Zaragoza paired retired teachers with students in the final years of their teaching degrees, as part of its student guidance plan. Ten retired teachers with a recognised professional record, from early-childhood and primary education, accompanied the students to the end of their training: three group sessions, on the teaching profession and its vocation, on further training and employability, and on the teaching career, plus personal contact between mentor and students. It gave retired teachers a voluntary role back inside teacher education, and gave future teachers someone who had actually done the job. Fifty-seven students took part.</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10241280" y="4791456"/>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Sweden's National Agency for Education runs a free online course for qualified teachers who want to go back to the classroom after working elsewhere. The returner logs into the agency's learning platform, picks the track for schools or for preschools and takes only the modules they need, in any order, with a certificate for each one completed. The modules bring them up to date on the curricula, laws and official guidelines that changed while they were away, which is the part of returning that most worries people who have been out for years. Built at the government's request and available since October 2018, it is open to anyone with a Swedish teaching licence or a qualifying degree.</a:t>
            </a:r>
            <a:endParaRPr lang="en-US" sz="1500" dirty="0"/>
          </a:p>
        </p:txBody>
      </p:sp>
      <p:sp>
        <p:nvSpPr>
          <p:cNvPr id="13" name="Text 9"/>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Zurich University of Teacher Education and the cantonal school office accompany teachers who return to the classroom after a long absence. Re-entry starts with a counselling session and an assessment interview that work out whether returning makes sense and what preparation it needs; the first hour is free and the canton subsidises the rest.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gives anyone who has taught or trained to teach in the United Kingdom a free personal adviser to help them come back. The former teacher calls or signs up online, and the adviser then works with them one to one, by phone, text or e-mail and for as long as they need: making sense of the skills gained while away, helping with applications and interviews, pointing them to refresher courses and professional qualifications, and flagging vacancies and webinars. The service runs through the Department for Education's ‘Get Into Teaching’ route and was the channel for its ‘Come back to teaching’ campaign in January 2022. Returners matter in England: about 17,500 came back in 2023, some 38 percent of all qualified entrants.</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twice paid for structured support to bring qualified teachers back into secondary schools in shortage subjects. The 2015 pilot offered registered returners refresher courses, time in classrooms and help with applications, in maths, sciences and languages; the 2016 programme instead funded schools themselves to run the support, with a course of two to four weeks, a bursary for the returner and a payment to the school once the returner was hired. The first pilot drew strong interest but converted very little of it: of 5,729 registrations and 354 people supported, 27 were in permanent posts months later, and the independent evaluation judged it poor value for money. Its lessons fed into the adviser service on the previous slide.</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Mentors for New Teachers was a programme of Aurora Public Schools, a district in Colorado, that paid recently retired teachers to mentor new ones. Retired teachers with a strong record in the district were hired part-time to accompany first- and second-year teachers in high-poverty elementary schools for two years, meeting them every week and sitting in on their lessons, far more support than the district's usual one-year ‘buddy’ scheme. For the retiree it was a paid, part-time way back into the school system; for the district, a way to keep hard-won expertise close to the classroom. A randomised trial published in 2017 followed 77 new teachers in 11 schools and found a small, short-lived gain in mathematics, no effect on reading and none on whether the new teachers stayed.</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10241280" y="4791456"/>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large American tutoring trial hired retired and substitute teachers to teach maths to first graders who were falling behind. Tutors drawn from local pools of retired and substitute teachers received a day of training and two short follow-up sessions, then worked with small groups for about thirty hours over the school year, on top of the children's normal lessons. The pupils who were tutored did significantly better on a broad maths test than those who were not. Because the tutors were engaged through a tutoring programme rather than hired by the district, the arrangement also sidesteps the pension complications of re-employing retirees. The 2015 study covered 76 schools in four urban districts and 994 pupils.</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House Bill 385 was a Georgia law that let teachers who had retired after a long career go back to full-time teaching while keeping their pension in full. A teacher who had retired with thirty or more years of service, and had been retired at least a year, could be hired as a full-time classroom teacher in one of the three subjects of greatest need in their region, typically special education, mathematics, science, English or elementary teaching, and drew a full salary on top of the pension. The district paid the pension contributions and the retiree earned no further pension rights. The narrow eligibility rules kept numbers low: a state audit found about 350 retirees a year, under one percent of Georgia's teachers. The law expired on 30 June 2026 and was replaced by Senate Bill 150.</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Louisiana lets retired teachers be re-employed in posts declared a critical shortage without any suspension or reduction of their pension. The posts may be full-time or half-time and cover classroom teachers, speech therapists and school counsellors; the retiree and the employer keep paying into the retirement system during the re-employment, but the retiree earns no extra service credit or benefit from it. The state education department issued guidance for principals on how to use the rule. It is the most recent of several return-to-work laws the state has passed since 2022, signed in May 2024.</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Michigan shortened the wait and removed the earnings limit for retired school staff who want to go back to work. The waiting period after a genuine retirement before a school can rehire someone fell from nine months to six; during those six months a retiree may already work as long as earnings stay under a ceiling, and once the six months pass there is no earnings cap and no penalty on the pension at all. Retirees may not return as superintendent during the initial period. Passed in response to post-pandemic shortages and signed in October 2023, the change is temporary and expires in October 2028, so the state will have to decide whether to keep it.</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national American charity trains people over fifty, many of them retired teachers, to tutor children who are behind in reading. Volunteers commit for a school year and work with small groups in high-poverty public schools in short weekly sessions, with training and continuing support from the programme. Running since 1996, it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 making it one of the few programmes shown to benefit both sides.</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10241280" y="4791456"/>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Mexico lets retired teachers and college faculty return to work for up to three years without giving up their pension, with no limit on salary or hours. The retiree applies to the state's Educational Retirement Board and must be approved before starting, so every return is recorded. The law opened the classroom door to the state's roughly 48,000 retired educators at a time of severe shortages. It was signed in March 2022 and announced to retirees that June.</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North Carolina allowed retired teachers to return to full-time teaching while continuing to draw their state pension, so a returning teacher earned a full salary and a pension at once, often about half as much again as a comparable colleague. It was an open pension rule rather than a programme: any district could hire a retired teacher back without penalty. A 2024 study using state administrative data found that schools serving many economically disadvantaged or Black pupils, the ones that struggle most to fill vacancies, hired a disproportionate share of these teachers, suggesting the rule helped staff high-need schools. It ran from 1999 to 2009.</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Virginia removed the licence and pension obstacles that kept retired teachers out of the classroom. A governor's executive directive told the state superintendent to issue or renew teaching licences for retired and out-of-state teachers whose licences had lapsed, and instructed the education department to work with the state retirement system so that retirees could fill any vacant school post. It built on a rule in force since 2001 under which a retiree returning to a critical-shortage area draws a new salary on top of the pension. The directive also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818388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11274552"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10241280" y="4791456"/>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241280" y="4791456"/>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Streamlined return-to-teaching pathway: no refresher course, fees covered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2026-09-18T07:31:09Z</dcterms:created>
  <dcterms:modified xsi:type="dcterms:W3CDTF">2026-09-18T07:31:09Z</dcterms:modified>
</cp:coreProperties>
</file>