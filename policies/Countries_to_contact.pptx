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questions for a first contact; sources and figures as in the main deck (slide on this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questions for a first contact; sources and figures as in the main deck (slide on this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questions for a first contact; sources and figures as in the main deck (slide on this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questions for a first contact; sources and figures as in the main deck (slide on this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questions for a first contact; sources and figures as in the main deck (slide on this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questions for a first contact; sources and figures as in the main deck (slide on this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46"/>
        </a:solidFill>
      </p:bgPr>
    </p:bg>
    <p:spTree>
      <p:nvGrpSpPr>
        <p:cNvPr id="1" name=""/>
        <p:cNvGrpSpPr/>
        <p:nvPr/>
      </p:nvGrpSpPr>
      <p:grpSpPr>
        <a:xfrm>
          <a:off x="0" y="0"/>
          <a:ext cx="0" cy="0"/>
          <a:chOff x="0" y="0"/>
          <a:chExt cx="0" cy="0"/>
        </a:xfrm>
      </p:grpSpPr>
      <p:sp>
        <p:nvSpPr>
          <p:cNvPr id="2" name="Text 0"/>
          <p:cNvSpPr txBox="1"/>
          <p:nvPr/>
        </p:nvSpPr>
        <p:spPr>
          <a:xfrm>
            <a:off x="731520" y="1463040"/>
            <a:ext cx="10698480" cy="100584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Countries to contact</a:t>
            </a:r>
            <a:endParaRPr lang="en-US" sz="4400" dirty="0"/>
          </a:p>
        </p:txBody>
      </p:sp>
      <p:sp>
        <p:nvSpPr>
          <p:cNvPr id="3" name="Text 1"/>
          <p:cNvSpPr txBox="1"/>
          <p:nvPr/>
        </p:nvSpPr>
        <p:spPr>
          <a:xfrm>
            <a:off x="731520" y="2606040"/>
            <a:ext cx="10698480" cy="731520"/>
          </a:xfrm>
          <a:prstGeom prst="rect">
            <a:avLst/>
          </a:prstGeom>
          <a:noFill/>
          <a:ln/>
        </p:spPr>
        <p:txBody>
          <a:bodyPr wrap="square" lIns="0" tIns="0" rIns="0" bIns="0" rtlCol="0" anchor="ctr"/>
          <a:lstStyle/>
          <a:p>
            <a:pPr indent="0" marL="0">
              <a:buNone/>
            </a:pPr>
            <a:r>
              <a:rPr lang="en-US" sz="2000" dirty="0">
                <a:solidFill>
                  <a:srgbClr val="CFE3D9"/>
                </a:solidFill>
                <a:latin typeface="Calibri" pitchFamily="34" charset="0"/>
                <a:ea typeface="Calibri" pitchFamily="34" charset="-122"/>
                <a:cs typeface="Calibri" pitchFamily="34" charset="-120"/>
              </a:rPr>
              <a:t>Re-attracting former teachers: the policies we want to ask about, and what we would like to learn</a:t>
            </a:r>
            <a:endParaRPr lang="en-US" sz="2000" dirty="0"/>
          </a:p>
        </p:txBody>
      </p:sp>
      <p:sp>
        <p:nvSpPr>
          <p:cNvPr id="4" name="Text 2"/>
          <p:cNvSpPr txBox="1"/>
          <p:nvPr/>
        </p:nvSpPr>
        <p:spPr>
          <a:xfrm>
            <a:off x="731520" y="3931920"/>
            <a:ext cx="9144000" cy="365760"/>
          </a:xfrm>
          <a:prstGeom prst="rect">
            <a:avLst/>
          </a:prstGeom>
          <a:noFill/>
          <a:ln/>
        </p:spPr>
        <p:txBody>
          <a:bodyPr wrap="square" lIns="0" tIns="0" rIns="0" bIns="0" rtlCol="0" anchor="ctr"/>
          <a:lstStyle/>
          <a:p>
            <a:pPr indent="0" marL="0">
              <a:buNone/>
            </a:pPr>
            <a:r>
              <a:rPr lang="en-US" sz="1300" dirty="0">
                <a:solidFill>
                  <a:srgbClr val="CFE3D9"/>
                </a:solidFill>
                <a:latin typeface="Calibri" pitchFamily="34" charset="0"/>
                <a:ea typeface="Calibri" pitchFamily="34" charset="-122"/>
                <a:cs typeface="Calibri" pitchFamily="34" charset="-120"/>
              </a:rPr>
              <a:t>José Manuel Torres – José Elías Durán Roa  ·  September 2026</a:t>
            </a:r>
            <a:endParaRPr lang="en-US" sz="1300" dirty="0"/>
          </a:p>
        </p:txBody>
      </p:sp>
      <p:pic>
        <p:nvPicPr>
          <p:cNvPr id="5" name="Image 0" descr="preencoded.png">    </p:cNvPr>
          <p:cNvPicPr>
            <a:picLocks noChangeAspect="1"/>
          </p:cNvPicPr>
          <p:nvPr/>
        </p:nvPicPr>
        <p:blipFill>
          <a:blip r:embed="rId1"/>
          <a:stretch>
            <a:fillRect/>
          </a:stretch>
        </p:blipFill>
        <p:spPr>
          <a:xfrm>
            <a:off x="731520" y="4937760"/>
            <a:ext cx="914400" cy="685800"/>
          </a:xfrm>
          <a:prstGeom prst="rect">
            <a:avLst/>
          </a:prstGeom>
        </p:spPr>
      </p:pic>
      <p:pic>
        <p:nvPicPr>
          <p:cNvPr id="6" name="Image 1" descr="preencoded.png">    </p:cNvPr>
          <p:cNvPicPr>
            <a:picLocks noChangeAspect="1"/>
          </p:cNvPicPr>
          <p:nvPr/>
        </p:nvPicPr>
        <p:blipFill>
          <a:blip r:embed="rId2"/>
          <a:stretch>
            <a:fillRect/>
          </a:stretch>
        </p:blipFill>
        <p:spPr>
          <a:xfrm>
            <a:off x="1874520" y="4937760"/>
            <a:ext cx="914400" cy="685800"/>
          </a:xfrm>
          <a:prstGeom prst="rect">
            <a:avLst/>
          </a:prstGeom>
        </p:spPr>
      </p:pic>
      <p:pic>
        <p:nvPicPr>
          <p:cNvPr id="7" name="Image 2" descr="preencoded.png">    </p:cNvPr>
          <p:cNvPicPr>
            <a:picLocks noChangeAspect="1"/>
          </p:cNvPicPr>
          <p:nvPr/>
        </p:nvPicPr>
        <p:blipFill>
          <a:blip r:embed="rId3"/>
          <a:stretch>
            <a:fillRect/>
          </a:stretch>
        </p:blipFill>
        <p:spPr>
          <a:xfrm>
            <a:off x="3017520" y="4937760"/>
            <a:ext cx="914400" cy="685800"/>
          </a:xfrm>
          <a:prstGeom prst="rect">
            <a:avLst/>
          </a:prstGeom>
        </p:spPr>
      </p:pic>
      <p:pic>
        <p:nvPicPr>
          <p:cNvPr id="8" name="Image 3" descr="preencoded.png">    </p:cNvPr>
          <p:cNvPicPr>
            <a:picLocks noChangeAspect="1"/>
          </p:cNvPicPr>
          <p:nvPr/>
        </p:nvPicPr>
        <p:blipFill>
          <a:blip r:embed="rId4"/>
          <a:stretch>
            <a:fillRect/>
          </a:stretch>
        </p:blipFill>
        <p:spPr>
          <a:xfrm>
            <a:off x="4160520" y="4937760"/>
            <a:ext cx="914400" cy="685800"/>
          </a:xfrm>
          <a:prstGeom prst="rect">
            <a:avLst/>
          </a:prstGeom>
        </p:spPr>
      </p:pic>
      <p:pic>
        <p:nvPicPr>
          <p:cNvPr id="9" name="Image 4" descr="preencoded.png">    </p:cNvPr>
          <p:cNvPicPr>
            <a:picLocks noChangeAspect="1"/>
          </p:cNvPicPr>
          <p:nvPr/>
        </p:nvPicPr>
        <p:blipFill>
          <a:blip r:embed="rId5"/>
          <a:stretch>
            <a:fillRect/>
          </a:stretch>
        </p:blipFill>
        <p:spPr>
          <a:xfrm>
            <a:off x="5303520" y="4937760"/>
            <a:ext cx="914400" cy="685800"/>
          </a:xfrm>
          <a:prstGeom prst="rect">
            <a:avLst/>
          </a:prstGeom>
        </p:spPr>
      </p:pic>
      <p:pic>
        <p:nvPicPr>
          <p:cNvPr id="10" name="Image 5" descr="preencoded.png">    </p:cNvPr>
          <p:cNvPicPr>
            <a:picLocks noChangeAspect="1"/>
          </p:cNvPicPr>
          <p:nvPr/>
        </p:nvPicPr>
        <p:blipFill>
          <a:blip r:embed="rId6"/>
          <a:stretch>
            <a:fillRect/>
          </a:stretch>
        </p:blipFill>
        <p:spPr>
          <a:xfrm>
            <a:off x="6446520" y="4937760"/>
            <a:ext cx="914400" cy="685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640080"/>
          </a:xfrm>
          <a:prstGeom prst="rect">
            <a:avLst/>
          </a:prstGeom>
          <a:noFill/>
          <a:ln/>
        </p:spPr>
        <p:txBody>
          <a:bodyPr wrap="square" lIns="0" tIns="0" rIns="0" bIns="0" rtlCol="0" anchor="ctr"/>
          <a:lstStyle/>
          <a:p>
            <a:pPr indent="0" marL="0">
              <a:buNone/>
            </a:pPr>
            <a:r>
              <a:rPr lang="en-US" sz="3200" b="1" dirty="0">
                <a:solidFill>
                  <a:srgbClr val="24313A"/>
                </a:solidFill>
                <a:latin typeface="Cambria" pitchFamily="34" charset="0"/>
                <a:ea typeface="Cambria" pitchFamily="34" charset="-122"/>
                <a:cs typeface="Cambria" pitchFamily="34" charset="-120"/>
              </a:rPr>
              <a:t>Why these six</a:t>
            </a:r>
            <a:endParaRPr lang="en-US" sz="3200" dirty="0"/>
          </a:p>
        </p:txBody>
      </p:sp>
      <p:sp>
        <p:nvSpPr>
          <p:cNvPr id="3" name="Text 1"/>
          <p:cNvSpPr txBox="1"/>
          <p:nvPr/>
        </p:nvSpPr>
        <p:spPr>
          <a:xfrm>
            <a:off x="548640" y="1143000"/>
            <a:ext cx="11064240" cy="777240"/>
          </a:xfrm>
          <a:prstGeom prst="rect">
            <a:avLst/>
          </a:prstGeom>
          <a:noFill/>
          <a:ln/>
        </p:spPr>
        <p:txBody>
          <a:bodyPr wrap="square" lIns="0" tIns="0" rIns="0" bIns="0" rtlCol="0" anchor="t"/>
          <a:lstStyle/>
          <a:p>
            <a:pPr indent="0" marL="0">
              <a:buNone/>
            </a:pPr>
            <a:r>
              <a:rPr lang="en-US" sz="1350" dirty="0">
                <a:solidFill>
                  <a:srgbClr val="24313A"/>
                </a:solidFill>
                <a:latin typeface="Calibri" pitchFamily="34" charset="0"/>
                <a:ea typeface="Calibri" pitchFamily="34" charset="-122"/>
                <a:cs typeface="Calibri" pitchFamily="34" charset="-120"/>
              </a:rPr>
              <a:t>We chose the countries we can learn most from, not the ones with the most or the least information. Each one passes three tests: the policy is real and recent, it adds a different instrument or lesson to the others, and the questions we care about have answers sitting in the administration's own records rather than in what has been published.</a:t>
            </a:r>
            <a:endParaRPr lang="en-US" sz="1350" dirty="0"/>
          </a:p>
        </p:txBody>
      </p:sp>
      <p:sp>
        <p:nvSpPr>
          <p:cNvPr id="4" name="Shape 2"/>
          <p:cNvSpPr/>
          <p:nvPr/>
        </p:nvSpPr>
        <p:spPr>
          <a:xfrm>
            <a:off x="548640" y="1874520"/>
            <a:ext cx="11064240" cy="749808"/>
          </a:xfrm>
          <a:prstGeom prst="roundRect">
            <a:avLst>
              <a:gd name="adj" fmla="val 12195"/>
            </a:avLst>
          </a:prstGeom>
          <a:solidFill>
            <a:srgbClr val="EAF2EE"/>
          </a:solidFill>
          <a:ln w="12700">
            <a:solidFill>
              <a:srgbClr val="EAF2EE"/>
            </a:solidFill>
            <a:prstDash val="solid"/>
          </a:ln>
        </p:spPr>
      </p:sp>
      <p:pic>
        <p:nvPicPr>
          <p:cNvPr id="5" name="Image 0" descr="preencoded.png">    </p:cNvPr>
          <p:cNvPicPr>
            <a:picLocks noChangeAspect="1"/>
          </p:cNvPicPr>
          <p:nvPr/>
        </p:nvPicPr>
        <p:blipFill>
          <a:blip r:embed="rId1"/>
          <a:stretch>
            <a:fillRect/>
          </a:stretch>
        </p:blipFill>
        <p:spPr>
          <a:xfrm>
            <a:off x="777240" y="1993392"/>
            <a:ext cx="676656" cy="507492"/>
          </a:xfrm>
          <a:prstGeom prst="rect">
            <a:avLst/>
          </a:prstGeom>
        </p:spPr>
      </p:pic>
      <p:sp>
        <p:nvSpPr>
          <p:cNvPr id="6" name="Text 3"/>
          <p:cNvSpPr txBox="1"/>
          <p:nvPr/>
        </p:nvSpPr>
        <p:spPr>
          <a:xfrm>
            <a:off x="1691640" y="1911096"/>
            <a:ext cx="9784080" cy="676656"/>
          </a:xfrm>
          <a:prstGeom prst="rect">
            <a:avLst/>
          </a:prstGeom>
          <a:noFill/>
          <a:ln/>
        </p:spPr>
        <p:txBody>
          <a:bodyPr wrap="square" lIns="0" tIns="0" rIns="0" bIns="0" rtlCol="0" anchor="ctr"/>
          <a:lstStyle/>
          <a:p>
            <a:pPr indent="0" marL="0">
              <a:buNone/>
            </a:pPr>
            <a:r>
              <a:rPr lang="en-US" sz="1100" b="1" dirty="0">
                <a:solidFill>
                  <a:srgbClr val="24313A"/>
                </a:solidFill>
                <a:latin typeface="Calibri" pitchFamily="34" charset="0"/>
                <a:ea typeface="Calibri" pitchFamily="34" charset="-122"/>
                <a:cs typeface="Calibri" pitchFamily="34" charset="-120"/>
              </a:rPr>
              <a:t>Australia (New South Wales): Teachers Re-Engage (since 2023)</a:t>
            </a:r>
            <a:endParaRPr lang="en-US" sz="1100" dirty="0"/>
          </a:p>
          <a:p>
            <a:pPr indent="0" marL="0">
              <a:buNone/>
            </a:pPr>
            <a:r>
              <a:rPr lang="en-US" sz="1100" dirty="0">
                <a:solidFill>
                  <a:srgbClr val="24313A"/>
                </a:solidFill>
                <a:latin typeface="Calibri" pitchFamily="34" charset="0"/>
                <a:ea typeface="Calibri" pitchFamily="34" charset="-122"/>
                <a:cs typeface="Calibri" pitchFamily="34" charset="-120"/>
              </a:rPr>
              <a:t>It is the cleanest example of a direct-outreach nudge with a published funnel from contacts to placements, and the missing pieces (cost, retention, who came back) exist in the department's records.</a:t>
            </a:r>
            <a:endParaRPr lang="en-US" sz="1100" dirty="0"/>
          </a:p>
        </p:txBody>
      </p:sp>
      <p:sp>
        <p:nvSpPr>
          <p:cNvPr id="7" name="Shape 4"/>
          <p:cNvSpPr/>
          <p:nvPr/>
        </p:nvSpPr>
        <p:spPr>
          <a:xfrm>
            <a:off x="548640" y="2697480"/>
            <a:ext cx="11064240" cy="749808"/>
          </a:xfrm>
          <a:prstGeom prst="roundRect">
            <a:avLst>
              <a:gd name="adj" fmla="val 12195"/>
            </a:avLst>
          </a:prstGeom>
          <a:solidFill>
            <a:srgbClr val="EAF2EE"/>
          </a:solidFill>
          <a:ln w="12700">
            <a:solidFill>
              <a:srgbClr val="EAF2EE"/>
            </a:solidFill>
            <a:prstDash val="solid"/>
          </a:ln>
        </p:spPr>
      </p:sp>
      <p:pic>
        <p:nvPicPr>
          <p:cNvPr id="8" name="Image 1" descr="preencoded.png">    </p:cNvPr>
          <p:cNvPicPr>
            <a:picLocks noChangeAspect="1"/>
          </p:cNvPicPr>
          <p:nvPr/>
        </p:nvPicPr>
        <p:blipFill>
          <a:blip r:embed="rId2"/>
          <a:stretch>
            <a:fillRect/>
          </a:stretch>
        </p:blipFill>
        <p:spPr>
          <a:xfrm>
            <a:off x="777240" y="2816352"/>
            <a:ext cx="676656" cy="507492"/>
          </a:xfrm>
          <a:prstGeom prst="rect">
            <a:avLst/>
          </a:prstGeom>
        </p:spPr>
      </p:pic>
      <p:sp>
        <p:nvSpPr>
          <p:cNvPr id="9" name="Text 5"/>
          <p:cNvSpPr txBox="1"/>
          <p:nvPr/>
        </p:nvSpPr>
        <p:spPr>
          <a:xfrm>
            <a:off x="1691640" y="2734056"/>
            <a:ext cx="9784080" cy="676656"/>
          </a:xfrm>
          <a:prstGeom prst="rect">
            <a:avLst/>
          </a:prstGeom>
          <a:noFill/>
          <a:ln/>
        </p:spPr>
        <p:txBody>
          <a:bodyPr wrap="square" lIns="0" tIns="0" rIns="0" bIns="0" rtlCol="0" anchor="ctr"/>
          <a:lstStyle/>
          <a:p>
            <a:pPr indent="0" marL="0">
              <a:buNone/>
            </a:pPr>
            <a:r>
              <a:rPr lang="en-US" sz="1100" b="1" dirty="0">
                <a:solidFill>
                  <a:srgbClr val="24313A"/>
                </a:solidFill>
                <a:latin typeface="Calibri" pitchFamily="34" charset="0"/>
                <a:ea typeface="Calibri" pitchFamily="34" charset="-122"/>
                <a:cs typeface="Calibri" pitchFamily="34" charset="-120"/>
              </a:rPr>
              <a:t>Australia (Victoria): Teacher Re-Engagement Initiative (since 2022)</a:t>
            </a:r>
            <a:endParaRPr lang="en-US" sz="1100" dirty="0"/>
          </a:p>
          <a:p>
            <a:pPr indent="0" marL="0">
              <a:buNone/>
            </a:pPr>
            <a:r>
              <a:rPr lang="en-US" sz="1100" dirty="0">
                <a:solidFill>
                  <a:srgbClr val="24313A"/>
                </a:solidFill>
                <a:latin typeface="Calibri" pitchFamily="34" charset="0"/>
                <a:ea typeface="Calibri" pitchFamily="34" charset="-122"/>
                <a:cs typeface="Calibri" pitchFamily="34" charset="-120"/>
              </a:rPr>
              <a:t>It is the clearest case we have found of paying former teachers to try the classroom again before they commit, with a known budget and strong early interest. What happened after the placements has never been published.</a:t>
            </a:r>
            <a:endParaRPr lang="en-US" sz="1100" dirty="0"/>
          </a:p>
        </p:txBody>
      </p:sp>
      <p:sp>
        <p:nvSpPr>
          <p:cNvPr id="10" name="Shape 6"/>
          <p:cNvSpPr/>
          <p:nvPr/>
        </p:nvSpPr>
        <p:spPr>
          <a:xfrm>
            <a:off x="548640" y="3520440"/>
            <a:ext cx="11064240" cy="749808"/>
          </a:xfrm>
          <a:prstGeom prst="roundRect">
            <a:avLst>
              <a:gd name="adj" fmla="val 12195"/>
            </a:avLst>
          </a:prstGeom>
          <a:solidFill>
            <a:srgbClr val="EAF2EE"/>
          </a:solidFill>
          <a:ln w="12700">
            <a:solidFill>
              <a:srgbClr val="EAF2EE"/>
            </a:solidFill>
            <a:prstDash val="solid"/>
          </a:ln>
        </p:spPr>
      </p:sp>
      <p:pic>
        <p:nvPicPr>
          <p:cNvPr id="11" name="Image 2" descr="preencoded.png">    </p:cNvPr>
          <p:cNvPicPr>
            <a:picLocks noChangeAspect="1"/>
          </p:cNvPicPr>
          <p:nvPr/>
        </p:nvPicPr>
        <p:blipFill>
          <a:blip r:embed="rId3"/>
          <a:stretch>
            <a:fillRect/>
          </a:stretch>
        </p:blipFill>
        <p:spPr>
          <a:xfrm>
            <a:off x="777240" y="3639312"/>
            <a:ext cx="676656" cy="507492"/>
          </a:xfrm>
          <a:prstGeom prst="rect">
            <a:avLst/>
          </a:prstGeom>
        </p:spPr>
      </p:pic>
      <p:sp>
        <p:nvSpPr>
          <p:cNvPr id="12" name="Text 7"/>
          <p:cNvSpPr txBox="1"/>
          <p:nvPr/>
        </p:nvSpPr>
        <p:spPr>
          <a:xfrm>
            <a:off x="1691640" y="3557016"/>
            <a:ext cx="9784080" cy="676656"/>
          </a:xfrm>
          <a:prstGeom prst="rect">
            <a:avLst/>
          </a:prstGeom>
          <a:noFill/>
          <a:ln/>
        </p:spPr>
        <p:txBody>
          <a:bodyPr wrap="square" lIns="0" tIns="0" rIns="0" bIns="0" rtlCol="0" anchor="ctr"/>
          <a:lstStyle/>
          <a:p>
            <a:pPr indent="0" marL="0">
              <a:buNone/>
            </a:pPr>
            <a:r>
              <a:rPr lang="en-US" sz="1100" b="1" dirty="0">
                <a:solidFill>
                  <a:srgbClr val="24313A"/>
                </a:solidFill>
                <a:latin typeface="Calibri" pitchFamily="34" charset="0"/>
                <a:ea typeface="Calibri" pitchFamily="34" charset="-122"/>
                <a:cs typeface="Calibri" pitchFamily="34" charset="-120"/>
              </a:rPr>
              <a:t>Netherlands: Grant to primary schools for re-hiring former teachers (2017–2020)</a:t>
            </a:r>
            <a:endParaRPr lang="en-US" sz="1100" dirty="0"/>
          </a:p>
          <a:p>
            <a:pPr indent="0" marL="0">
              <a:buNone/>
            </a:pPr>
            <a:r>
              <a:rPr lang="en-US" sz="1100" dirty="0">
                <a:solidFill>
                  <a:srgbClr val="24313A"/>
                </a:solidFill>
                <a:latin typeface="Calibri" pitchFamily="34" charset="0"/>
                <a:ea typeface="Calibri" pitchFamily="34" charset="-122"/>
                <a:cs typeface="Calibri" pitchFamily="34" charset="-120"/>
              </a:rPr>
              <a:t>It is the only measure in our set that pays the school rather than the teacher, it is closed, so the whole story can be told, and the Netherlands has the best data on the pool of qualified teachers working outside education.</a:t>
            </a:r>
            <a:endParaRPr lang="en-US" sz="1100" dirty="0"/>
          </a:p>
        </p:txBody>
      </p:sp>
      <p:sp>
        <p:nvSpPr>
          <p:cNvPr id="13" name="Shape 8"/>
          <p:cNvSpPr/>
          <p:nvPr/>
        </p:nvSpPr>
        <p:spPr>
          <a:xfrm>
            <a:off x="548640" y="4343400"/>
            <a:ext cx="11064240" cy="749808"/>
          </a:xfrm>
          <a:prstGeom prst="roundRect">
            <a:avLst>
              <a:gd name="adj" fmla="val 12195"/>
            </a:avLst>
          </a:prstGeom>
          <a:solidFill>
            <a:srgbClr val="EAF2EE"/>
          </a:solidFill>
          <a:ln w="12700">
            <a:solidFill>
              <a:srgbClr val="EAF2EE"/>
            </a:solidFill>
            <a:prstDash val="solid"/>
          </a:ln>
        </p:spPr>
      </p:sp>
      <p:pic>
        <p:nvPicPr>
          <p:cNvPr id="14" name="Image 3" descr="preencoded.png">    </p:cNvPr>
          <p:cNvPicPr>
            <a:picLocks noChangeAspect="1"/>
          </p:cNvPicPr>
          <p:nvPr/>
        </p:nvPicPr>
        <p:blipFill>
          <a:blip r:embed="rId4"/>
          <a:stretch>
            <a:fillRect/>
          </a:stretch>
        </p:blipFill>
        <p:spPr>
          <a:xfrm>
            <a:off x="777240" y="4462272"/>
            <a:ext cx="676656" cy="507492"/>
          </a:xfrm>
          <a:prstGeom prst="rect">
            <a:avLst/>
          </a:prstGeom>
        </p:spPr>
      </p:pic>
      <p:sp>
        <p:nvSpPr>
          <p:cNvPr id="15" name="Text 9"/>
          <p:cNvSpPr txBox="1"/>
          <p:nvPr/>
        </p:nvSpPr>
        <p:spPr>
          <a:xfrm>
            <a:off x="1691640" y="4379976"/>
            <a:ext cx="9784080" cy="676656"/>
          </a:xfrm>
          <a:prstGeom prst="rect">
            <a:avLst/>
          </a:prstGeom>
          <a:noFill/>
          <a:ln/>
        </p:spPr>
        <p:txBody>
          <a:bodyPr wrap="square" lIns="0" tIns="0" rIns="0" bIns="0" rtlCol="0" anchor="ctr"/>
          <a:lstStyle/>
          <a:p>
            <a:pPr indent="0" marL="0">
              <a:buNone/>
            </a:pPr>
            <a:r>
              <a:rPr lang="en-US" sz="1100" b="1" dirty="0">
                <a:solidFill>
                  <a:srgbClr val="24313A"/>
                </a:solidFill>
                <a:latin typeface="Calibri" pitchFamily="34" charset="0"/>
                <a:ea typeface="Calibri" pitchFamily="34" charset="-122"/>
                <a:cs typeface="Calibri" pitchFamily="34" charset="-120"/>
              </a:rPr>
              <a:t>Canada (Quebec): Measure 15178: pay at the pre-retirement step (2020, permanent)</a:t>
            </a:r>
            <a:endParaRPr lang="en-US" sz="1100" dirty="0"/>
          </a:p>
          <a:p>
            <a:pPr indent="0" marL="0">
              <a:buNone/>
            </a:pPr>
            <a:r>
              <a:rPr lang="en-US" sz="1100" dirty="0">
                <a:solidFill>
                  <a:srgbClr val="24313A"/>
                </a:solidFill>
                <a:latin typeface="Calibri" pitchFamily="34" charset="0"/>
                <a:ea typeface="Calibri" pitchFamily="34" charset="-122"/>
                <a:cs typeface="Calibri" pitchFamily="34" charset="-120"/>
              </a:rPr>
              <a:t>The only case in our set where the instrument sits in the budget rules for school boards rather than in a programme with its own staff, and one of the few kept once the emergency that prompted it had passed.</a:t>
            </a:r>
            <a:endParaRPr lang="en-US" sz="1100" dirty="0"/>
          </a:p>
        </p:txBody>
      </p:sp>
      <p:sp>
        <p:nvSpPr>
          <p:cNvPr id="16" name="Shape 10"/>
          <p:cNvSpPr/>
          <p:nvPr/>
        </p:nvSpPr>
        <p:spPr>
          <a:xfrm>
            <a:off x="548640" y="5166360"/>
            <a:ext cx="11064240" cy="749808"/>
          </a:xfrm>
          <a:prstGeom prst="roundRect">
            <a:avLst>
              <a:gd name="adj" fmla="val 12195"/>
            </a:avLst>
          </a:prstGeom>
          <a:solidFill>
            <a:srgbClr val="EAF2EE"/>
          </a:solidFill>
          <a:ln w="12700">
            <a:solidFill>
              <a:srgbClr val="EAF2EE"/>
            </a:solidFill>
            <a:prstDash val="solid"/>
          </a:ln>
        </p:spPr>
      </p:sp>
      <p:pic>
        <p:nvPicPr>
          <p:cNvPr id="17" name="Image 4" descr="preencoded.png">    </p:cNvPr>
          <p:cNvPicPr>
            <a:picLocks noChangeAspect="1"/>
          </p:cNvPicPr>
          <p:nvPr/>
        </p:nvPicPr>
        <p:blipFill>
          <a:blip r:embed="rId5"/>
          <a:stretch>
            <a:fillRect/>
          </a:stretch>
        </p:blipFill>
        <p:spPr>
          <a:xfrm>
            <a:off x="777240" y="5285232"/>
            <a:ext cx="676656" cy="507492"/>
          </a:xfrm>
          <a:prstGeom prst="rect">
            <a:avLst/>
          </a:prstGeom>
        </p:spPr>
      </p:pic>
      <p:sp>
        <p:nvSpPr>
          <p:cNvPr id="18" name="Text 11"/>
          <p:cNvSpPr txBox="1"/>
          <p:nvPr/>
        </p:nvSpPr>
        <p:spPr>
          <a:xfrm>
            <a:off x="1691640" y="5202936"/>
            <a:ext cx="9784080" cy="676656"/>
          </a:xfrm>
          <a:prstGeom prst="rect">
            <a:avLst/>
          </a:prstGeom>
          <a:noFill/>
          <a:ln/>
        </p:spPr>
        <p:txBody>
          <a:bodyPr wrap="square" lIns="0" tIns="0" rIns="0" bIns="0" rtlCol="0" anchor="ctr"/>
          <a:lstStyle/>
          <a:p>
            <a:pPr indent="0" marL="0">
              <a:buNone/>
            </a:pPr>
            <a:r>
              <a:rPr lang="en-US" sz="1100" b="1" dirty="0">
                <a:solidFill>
                  <a:srgbClr val="24313A"/>
                </a:solidFill>
                <a:latin typeface="Calibri" pitchFamily="34" charset="0"/>
                <a:ea typeface="Calibri" pitchFamily="34" charset="-122"/>
                <a:cs typeface="Calibri" pitchFamily="34" charset="-120"/>
              </a:rPr>
              <a:t>United States (Michigan): Public Act 147 of 2023: shorter wait, no earnings cap (to 2028)</a:t>
            </a:r>
            <a:endParaRPr lang="en-US" sz="1100" dirty="0"/>
          </a:p>
          <a:p>
            <a:pPr indent="0" marL="0">
              <a:buNone/>
            </a:pPr>
            <a:r>
              <a:rPr lang="en-US" sz="1100" dirty="0">
                <a:solidFill>
                  <a:srgbClr val="24313A"/>
                </a:solidFill>
                <a:latin typeface="Calibri" pitchFamily="34" charset="0"/>
                <a:ea typeface="Calibri" pitchFamily="34" charset="-122"/>
                <a:cs typeface="Calibri" pitchFamily="34" charset="-120"/>
              </a:rPr>
              <a:t>A clean before-and-after in a single state, with every rehired retiree recorded by the state pension office, and a 2028 expiry that forces the state to decide, and probably to measure, whether it worked.</a:t>
            </a:r>
            <a:endParaRPr lang="en-US" sz="1100" dirty="0"/>
          </a:p>
        </p:txBody>
      </p:sp>
      <p:sp>
        <p:nvSpPr>
          <p:cNvPr id="19" name="Shape 12"/>
          <p:cNvSpPr/>
          <p:nvPr/>
        </p:nvSpPr>
        <p:spPr>
          <a:xfrm>
            <a:off x="548640" y="5989320"/>
            <a:ext cx="11064240" cy="749808"/>
          </a:xfrm>
          <a:prstGeom prst="roundRect">
            <a:avLst>
              <a:gd name="adj" fmla="val 12195"/>
            </a:avLst>
          </a:prstGeom>
          <a:solidFill>
            <a:srgbClr val="EAF2EE"/>
          </a:solidFill>
          <a:ln w="12700">
            <a:solidFill>
              <a:srgbClr val="EAF2EE"/>
            </a:solidFill>
            <a:prstDash val="solid"/>
          </a:ln>
        </p:spPr>
      </p:sp>
      <p:pic>
        <p:nvPicPr>
          <p:cNvPr id="20" name="Image 5" descr="preencoded.png">    </p:cNvPr>
          <p:cNvPicPr>
            <a:picLocks noChangeAspect="1"/>
          </p:cNvPicPr>
          <p:nvPr/>
        </p:nvPicPr>
        <p:blipFill>
          <a:blip r:embed="rId6"/>
          <a:stretch>
            <a:fillRect/>
          </a:stretch>
        </p:blipFill>
        <p:spPr>
          <a:xfrm>
            <a:off x="777240" y="6108192"/>
            <a:ext cx="676656" cy="507492"/>
          </a:xfrm>
          <a:prstGeom prst="rect">
            <a:avLst/>
          </a:prstGeom>
        </p:spPr>
      </p:pic>
      <p:sp>
        <p:nvSpPr>
          <p:cNvPr id="21" name="Text 13"/>
          <p:cNvSpPr txBox="1"/>
          <p:nvPr/>
        </p:nvSpPr>
        <p:spPr>
          <a:xfrm>
            <a:off x="1691640" y="6025896"/>
            <a:ext cx="9784080" cy="676656"/>
          </a:xfrm>
          <a:prstGeom prst="rect">
            <a:avLst/>
          </a:prstGeom>
          <a:noFill/>
          <a:ln/>
        </p:spPr>
        <p:txBody>
          <a:bodyPr wrap="square" lIns="0" tIns="0" rIns="0" bIns="0" rtlCol="0" anchor="ctr"/>
          <a:lstStyle/>
          <a:p>
            <a:pPr indent="0" marL="0">
              <a:buNone/>
            </a:pPr>
            <a:r>
              <a:rPr lang="en-US" sz="1100" b="1" dirty="0">
                <a:solidFill>
                  <a:srgbClr val="24313A"/>
                </a:solidFill>
                <a:latin typeface="Calibri" pitchFamily="34" charset="0"/>
                <a:ea typeface="Calibri" pitchFamily="34" charset="-122"/>
                <a:cs typeface="Calibri" pitchFamily="34" charset="-120"/>
              </a:rPr>
              <a:t>Portugal: Decree-Law 51/2024: retired teachers in shortage posts (2024/25)</a:t>
            </a:r>
            <a:endParaRPr lang="en-US" sz="1100" dirty="0"/>
          </a:p>
          <a:p>
            <a:pPr indent="0" marL="0">
              <a:buNone/>
            </a:pPr>
            <a:r>
              <a:rPr lang="en-US" sz="1100" dirty="0">
                <a:solidFill>
                  <a:srgbClr val="24313A"/>
                </a:solidFill>
                <a:latin typeface="Calibri" pitchFamily="34" charset="0"/>
                <a:ea typeface="Calibri" pitchFamily="34" charset="-122"/>
                <a:cs typeface="Calibri" pitchFamily="34" charset="-120"/>
              </a:rPr>
              <a:t>On paper the offer is generous, a full pension and a supplement on top, and yet fewer than a third of the posts were filled in the first round. It is the case most likely to tell us why retired teachers say no, and because the ministry ran a formal application process the answers exist in its own records.</a:t>
            </a:r>
            <a:endParaRPr lang="en-US" sz="1100" dirty="0"/>
          </a:p>
        </p:txBody>
      </p:sp>
      <p:sp>
        <p:nvSpPr>
          <p:cNvPr id="22"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11480"/>
            <a:ext cx="960120" cy="720090"/>
          </a:xfrm>
          <a:prstGeom prst="rect">
            <a:avLst/>
          </a:prstGeom>
        </p:spPr>
      </p:pic>
      <p:sp>
        <p:nvSpPr>
          <p:cNvPr id="3" name="Shape 0"/>
          <p:cNvSpPr/>
          <p:nvPr/>
        </p:nvSpPr>
        <p:spPr>
          <a:xfrm>
            <a:off x="548640" y="411480"/>
            <a:ext cx="960120" cy="720090"/>
          </a:xfrm>
          <a:prstGeom prst="rect">
            <a:avLst/>
          </a:prstGeom>
          <a:ln w="9525">
            <a:solidFill>
              <a:srgbClr val="CFDCD5"/>
            </a:solidFill>
            <a:prstDash val="solid"/>
          </a:ln>
        </p:spPr>
      </p:sp>
      <p:sp>
        <p:nvSpPr>
          <p:cNvPr id="4" name="Text 1"/>
          <p:cNvSpPr txBox="1"/>
          <p:nvPr/>
        </p:nvSpPr>
        <p:spPr>
          <a:xfrm>
            <a:off x="1691640" y="365760"/>
            <a:ext cx="594360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Australia</a:t>
            </a:r>
            <a:endParaRPr lang="en-US" sz="2200" dirty="0"/>
          </a:p>
        </p:txBody>
      </p:sp>
      <p:sp>
        <p:nvSpPr>
          <p:cNvPr id="5" name="Text 2"/>
          <p:cNvSpPr txBox="1"/>
          <p:nvPr/>
        </p:nvSpPr>
        <p:spPr>
          <a:xfrm>
            <a:off x="1691640" y="822960"/>
            <a:ext cx="5943600" cy="310896"/>
          </a:xfrm>
          <a:prstGeom prst="rect">
            <a:avLst/>
          </a:prstGeom>
          <a:noFill/>
          <a:ln/>
        </p:spPr>
        <p:txBody>
          <a:bodyPr wrap="square" lIns="0" tIns="0" rIns="0" bIns="0" rtlCol="0" anchor="ctr"/>
          <a:lstStyle/>
          <a:p>
            <a:pPr indent="0" marL="0">
              <a:buNone/>
            </a:pPr>
            <a:r>
              <a:rPr lang="en-US" sz="1300" dirty="0">
                <a:solidFill>
                  <a:srgbClr val="24313A"/>
                </a:solidFill>
                <a:latin typeface="Calibri" pitchFamily="34" charset="0"/>
                <a:ea typeface="Calibri" pitchFamily="34" charset="-122"/>
                <a:cs typeface="Calibri" pitchFamily="34" charset="-120"/>
              </a:rPr>
              <a:t>New South Wales</a:t>
            </a:r>
            <a:endParaRPr lang="en-US" sz="1300" dirty="0"/>
          </a:p>
        </p:txBody>
      </p:sp>
      <p:sp>
        <p:nvSpPr>
          <p:cNvPr id="6" name="Shape 3"/>
          <p:cNvSpPr/>
          <p:nvPr/>
        </p:nvSpPr>
        <p:spPr>
          <a:xfrm>
            <a:off x="8165592" y="411480"/>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165592" y="411480"/>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Information &amp; nudges</a:t>
            </a:r>
            <a:endParaRPr lang="en-US" sz="1350" dirty="0"/>
          </a:p>
        </p:txBody>
      </p:sp>
      <p:sp>
        <p:nvSpPr>
          <p:cNvPr id="8" name="Text 5"/>
          <p:cNvSpPr txBox="1"/>
          <p:nvPr/>
        </p:nvSpPr>
        <p:spPr>
          <a:xfrm>
            <a:off x="7251192" y="877824"/>
            <a:ext cx="4389120" cy="274320"/>
          </a:xfrm>
          <a:prstGeom prst="rect">
            <a:avLst/>
          </a:prstGeom>
          <a:noFill/>
          <a:ln/>
        </p:spPr>
        <p:txBody>
          <a:bodyPr wrap="square" lIns="0" tIns="0" rIns="0" bIns="0" rtlCol="0" anchor="ctr"/>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 / Retired</a:t>
            </a:r>
            <a:endParaRPr lang="en-US" sz="1100" dirty="0"/>
          </a:p>
        </p:txBody>
      </p:sp>
      <p:sp>
        <p:nvSpPr>
          <p:cNvPr id="9" name="Text 6"/>
          <p:cNvSpPr txBox="1"/>
          <p:nvPr/>
        </p:nvSpPr>
        <p:spPr>
          <a:xfrm>
            <a:off x="548640" y="1389888"/>
            <a:ext cx="4846320" cy="960120"/>
          </a:xfrm>
          <a:prstGeom prst="rect">
            <a:avLst/>
          </a:prstGeom>
          <a:noFill/>
          <a:ln/>
        </p:spPr>
        <p:txBody>
          <a:bodyPr wrap="square" lIns="0" tIns="0" rIns="0" bIns="0" rtlCol="0" anchor="t"/>
          <a:lstStyle/>
          <a:p>
            <a:pPr indent="0" marL="0">
              <a:buNone/>
            </a:pPr>
            <a:r>
              <a:rPr lang="en-US" sz="1850" b="1" dirty="0">
                <a:solidFill>
                  <a:srgbClr val="24313A"/>
                </a:solidFill>
                <a:latin typeface="Cambria" pitchFamily="34" charset="0"/>
                <a:ea typeface="Cambria" pitchFamily="34" charset="-122"/>
                <a:cs typeface="Cambria" pitchFamily="34" charset="-120"/>
              </a:rPr>
              <a:t>Teachers Re-Engage (since 2023)</a:t>
            </a:r>
            <a:endParaRPr lang="en-US" sz="1850" dirty="0"/>
          </a:p>
        </p:txBody>
      </p:sp>
      <p:sp>
        <p:nvSpPr>
          <p:cNvPr id="10" name="Text 7"/>
          <p:cNvSpPr txBox="1"/>
          <p:nvPr/>
        </p:nvSpPr>
        <p:spPr>
          <a:xfrm>
            <a:off x="548640" y="2432304"/>
            <a:ext cx="4846320" cy="1874520"/>
          </a:xfrm>
          <a:prstGeom prst="rect">
            <a:avLst/>
          </a:prstGeom>
          <a:noFill/>
          <a:ln/>
        </p:spPr>
        <p:txBody>
          <a:bodyPr wrap="square" lIns="0" tIns="0" rIns="0" bIns="0" rtlCol="0" anchor="t"/>
          <a:lstStyle/>
          <a:p>
            <a:pPr indent="0" marL="0">
              <a:lnSpc>
                <a:spcPct val="106000"/>
              </a:lnSpc>
              <a:buNone/>
            </a:pPr>
            <a:r>
              <a:rPr lang="en-US" sz="1400" dirty="0">
                <a:solidFill>
                  <a:srgbClr val="24313A"/>
                </a:solidFill>
                <a:latin typeface="Calibri" pitchFamily="34" charset="0"/>
                <a:ea typeface="Calibri" pitchFamily="34" charset="-122"/>
                <a:cs typeface="Calibri" pitchFamily="34" charset="-120"/>
              </a:rPr>
              <a:t>The Department of Education directly contacted teachers who had resigned in the previous five years and asked them to consider coming back. Those interested were offered assistance to renew their accreditation and a placement in casual or temporary work, with the possibility of moving to a permanent post later. It was launched just after teachers received one of the largest pay rises in decades and a cut in administrative work, and the department credits both with helping the returns.</a:t>
            </a:r>
            <a:endParaRPr lang="en-US" sz="1400" dirty="0"/>
          </a:p>
        </p:txBody>
      </p:sp>
      <p:sp>
        <p:nvSpPr>
          <p:cNvPr id="11" name="Text 8"/>
          <p:cNvSpPr txBox="1"/>
          <p:nvPr/>
        </p:nvSpPr>
        <p:spPr>
          <a:xfrm>
            <a:off x="548640" y="4343400"/>
            <a:ext cx="4846320" cy="1097280"/>
          </a:xfrm>
          <a:prstGeom prst="rect">
            <a:avLst/>
          </a:prstGeom>
          <a:noFill/>
          <a:ln/>
        </p:spPr>
        <p:txBody>
          <a:bodyPr wrap="square" lIns="0" tIns="0" rIns="0" bIns="0" rtlCol="0" anchor="t"/>
          <a:lstStyle/>
          <a:p>
            <a:pPr indent="0" marL="0">
              <a:buNone/>
            </a:pPr>
            <a:r>
              <a:rPr lang="en-US" sz="1250" b="1" dirty="0">
                <a:solidFill>
                  <a:srgbClr val="24313A"/>
                </a:solidFill>
                <a:latin typeface="Calibri" pitchFamily="34" charset="0"/>
                <a:ea typeface="Calibri" pitchFamily="34" charset="-122"/>
                <a:cs typeface="Calibri" pitchFamily="34" charset="-120"/>
              </a:rPr>
              <a:t>Whom to contact: </a:t>
            </a:r>
            <a:pPr indent="0" marL="0">
              <a:buNone/>
            </a:pPr>
            <a:r>
              <a:rPr lang="en-US" sz="1250" dirty="0">
                <a:solidFill>
                  <a:srgbClr val="24313A"/>
                </a:solidFill>
                <a:latin typeface="Calibri" pitchFamily="34" charset="0"/>
                <a:ea typeface="Calibri" pitchFamily="34" charset="-122"/>
                <a:cs typeface="Calibri" pitchFamily="34" charset="-120"/>
              </a:rPr>
              <a:t>NSW Department of Education, Teach NSW / school workforce division (teachers re-engage initiative team).</a:t>
            </a:r>
            <a:endParaRPr lang="en-US" sz="1250" dirty="0"/>
          </a:p>
        </p:txBody>
      </p:sp>
      <p:sp>
        <p:nvSpPr>
          <p:cNvPr id="12" name="Shape 9"/>
          <p:cNvSpPr/>
          <p:nvPr/>
        </p:nvSpPr>
        <p:spPr>
          <a:xfrm>
            <a:off x="5760720" y="1417320"/>
            <a:ext cx="5879592" cy="3429000"/>
          </a:xfrm>
          <a:prstGeom prst="roundRect">
            <a:avLst>
              <a:gd name="adj" fmla="val 3200"/>
            </a:avLst>
          </a:prstGeom>
          <a:solidFill>
            <a:srgbClr val="EAF2EE"/>
          </a:solidFill>
          <a:ln w="12700">
            <a:solidFill>
              <a:srgbClr val="EAF2EE"/>
            </a:solidFill>
            <a:prstDash val="solid"/>
          </a:ln>
        </p:spPr>
      </p:sp>
      <p:sp>
        <p:nvSpPr>
          <p:cNvPr id="13" name="Text 10"/>
          <p:cNvSpPr txBox="1"/>
          <p:nvPr/>
        </p:nvSpPr>
        <p:spPr>
          <a:xfrm>
            <a:off x="6035040" y="1554480"/>
            <a:ext cx="5394960" cy="411480"/>
          </a:xfrm>
          <a:prstGeom prst="rect">
            <a:avLst/>
          </a:prstGeom>
          <a:noFill/>
          <a:ln/>
        </p:spPr>
        <p:txBody>
          <a:bodyPr wrap="square" lIns="0" tIns="0" rIns="0" bIns="0" rtlCol="0" anchor="ctr"/>
          <a:lstStyle/>
          <a:p>
            <a:pPr indent="0" marL="0">
              <a:buNone/>
            </a:pPr>
            <a:r>
              <a:rPr lang="en-US" sz="1500" b="1" dirty="0">
                <a:solidFill>
                  <a:srgbClr val="B3542E"/>
                </a:solidFill>
                <a:latin typeface="Calibri" pitchFamily="34" charset="0"/>
                <a:ea typeface="Calibri" pitchFamily="34" charset="-122"/>
                <a:cs typeface="Calibri" pitchFamily="34" charset="-120"/>
              </a:rPr>
              <a:t>What we would like to know</a:t>
            </a:r>
            <a:endParaRPr lang="en-US" sz="1500" dirty="0"/>
          </a:p>
        </p:txBody>
      </p:sp>
      <p:sp>
        <p:nvSpPr>
          <p:cNvPr id="14" name="Text 11"/>
          <p:cNvSpPr txBox="1"/>
          <p:nvPr/>
        </p:nvSpPr>
        <p:spPr>
          <a:xfrm>
            <a:off x="6035040" y="2057400"/>
            <a:ext cx="5349240" cy="4023360"/>
          </a:xfrm>
          <a:prstGeom prst="rect">
            <a:avLst/>
          </a:prstGeom>
          <a:noFill/>
          <a:ln/>
        </p:spPr>
        <p:txBody>
          <a:bodyPr wrap="square" lIns="0" tIns="0" rIns="0" bIns="0" rtlCol="0" anchor="t"/>
          <a:lstStyle/>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How did the idea of contacting former teachers directly come about, and how was it organised inside the department?</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did you learn about who responds to this kind of approach, and who does not?</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made it easy or hard for those who came back to settle into teaching again?</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Looking back, what would you keep, change or drop, and does the initiative continue in some form?</a:t>
            </a:r>
            <a:endParaRPr lang="en-US" sz="1450" dirty="0"/>
          </a:p>
        </p:txBody>
      </p:sp>
      <p:sp>
        <p:nvSpPr>
          <p:cNvPr id="15" name="Text 12"/>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11480"/>
            <a:ext cx="960120" cy="720090"/>
          </a:xfrm>
          <a:prstGeom prst="rect">
            <a:avLst/>
          </a:prstGeom>
        </p:spPr>
      </p:pic>
      <p:sp>
        <p:nvSpPr>
          <p:cNvPr id="3" name="Shape 0"/>
          <p:cNvSpPr/>
          <p:nvPr/>
        </p:nvSpPr>
        <p:spPr>
          <a:xfrm>
            <a:off x="548640" y="411480"/>
            <a:ext cx="960120" cy="720090"/>
          </a:xfrm>
          <a:prstGeom prst="rect">
            <a:avLst/>
          </a:prstGeom>
          <a:ln w="9525">
            <a:solidFill>
              <a:srgbClr val="CFDCD5"/>
            </a:solidFill>
            <a:prstDash val="solid"/>
          </a:ln>
        </p:spPr>
      </p:sp>
      <p:sp>
        <p:nvSpPr>
          <p:cNvPr id="4" name="Text 1"/>
          <p:cNvSpPr txBox="1"/>
          <p:nvPr/>
        </p:nvSpPr>
        <p:spPr>
          <a:xfrm>
            <a:off x="1691640" y="365760"/>
            <a:ext cx="594360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Australia</a:t>
            </a:r>
            <a:endParaRPr lang="en-US" sz="2200" dirty="0"/>
          </a:p>
        </p:txBody>
      </p:sp>
      <p:sp>
        <p:nvSpPr>
          <p:cNvPr id="5" name="Text 2"/>
          <p:cNvSpPr txBox="1"/>
          <p:nvPr/>
        </p:nvSpPr>
        <p:spPr>
          <a:xfrm>
            <a:off x="1691640" y="822960"/>
            <a:ext cx="5943600" cy="310896"/>
          </a:xfrm>
          <a:prstGeom prst="rect">
            <a:avLst/>
          </a:prstGeom>
          <a:noFill/>
          <a:ln/>
        </p:spPr>
        <p:txBody>
          <a:bodyPr wrap="square" lIns="0" tIns="0" rIns="0" bIns="0" rtlCol="0" anchor="ctr"/>
          <a:lstStyle/>
          <a:p>
            <a:pPr indent="0" marL="0">
              <a:buNone/>
            </a:pPr>
            <a:r>
              <a:rPr lang="en-US" sz="1300" dirty="0">
                <a:solidFill>
                  <a:srgbClr val="24313A"/>
                </a:solidFill>
                <a:latin typeface="Calibri" pitchFamily="34" charset="0"/>
                <a:ea typeface="Calibri" pitchFamily="34" charset="-122"/>
                <a:cs typeface="Calibri" pitchFamily="34" charset="-120"/>
              </a:rPr>
              <a:t>Victoria</a:t>
            </a:r>
            <a:endParaRPr lang="en-US" sz="1300" dirty="0"/>
          </a:p>
        </p:txBody>
      </p:sp>
      <p:sp>
        <p:nvSpPr>
          <p:cNvPr id="6" name="Shape 3"/>
          <p:cNvSpPr/>
          <p:nvPr/>
        </p:nvSpPr>
        <p:spPr>
          <a:xfrm>
            <a:off x="8165592" y="411480"/>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165592" y="411480"/>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Support &amp; training</a:t>
            </a:r>
            <a:endParaRPr lang="en-US" sz="1350" dirty="0"/>
          </a:p>
        </p:txBody>
      </p:sp>
      <p:sp>
        <p:nvSpPr>
          <p:cNvPr id="8" name="Text 5"/>
          <p:cNvSpPr txBox="1"/>
          <p:nvPr/>
        </p:nvSpPr>
        <p:spPr>
          <a:xfrm>
            <a:off x="7251192" y="877824"/>
            <a:ext cx="4389120" cy="274320"/>
          </a:xfrm>
          <a:prstGeom prst="rect">
            <a:avLst/>
          </a:prstGeom>
          <a:noFill/>
          <a:ln/>
        </p:spPr>
        <p:txBody>
          <a:bodyPr wrap="square" lIns="0" tIns="0" rIns="0" bIns="0" rtlCol="0" anchor="ctr"/>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 / Retired</a:t>
            </a:r>
            <a:endParaRPr lang="en-US" sz="1100" dirty="0"/>
          </a:p>
        </p:txBody>
      </p:sp>
      <p:sp>
        <p:nvSpPr>
          <p:cNvPr id="9" name="Text 6"/>
          <p:cNvSpPr txBox="1"/>
          <p:nvPr/>
        </p:nvSpPr>
        <p:spPr>
          <a:xfrm>
            <a:off x="548640" y="1389888"/>
            <a:ext cx="4846320" cy="960120"/>
          </a:xfrm>
          <a:prstGeom prst="rect">
            <a:avLst/>
          </a:prstGeom>
          <a:noFill/>
          <a:ln/>
        </p:spPr>
        <p:txBody>
          <a:bodyPr wrap="square" lIns="0" tIns="0" rIns="0" bIns="0" rtlCol="0" anchor="t"/>
          <a:lstStyle/>
          <a:p>
            <a:pPr indent="0" marL="0">
              <a:buNone/>
            </a:pPr>
            <a:r>
              <a:rPr lang="en-US" sz="1850" b="1" dirty="0">
                <a:solidFill>
                  <a:srgbClr val="24313A"/>
                </a:solidFill>
                <a:latin typeface="Cambria" pitchFamily="34" charset="0"/>
                <a:ea typeface="Cambria" pitchFamily="34" charset="-122"/>
                <a:cs typeface="Cambria" pitchFamily="34" charset="-120"/>
              </a:rPr>
              <a:t>Teacher Re-Engagement Initiative (since 2022)</a:t>
            </a:r>
            <a:endParaRPr lang="en-US" sz="1850" dirty="0"/>
          </a:p>
        </p:txBody>
      </p:sp>
      <p:sp>
        <p:nvSpPr>
          <p:cNvPr id="10" name="Text 7"/>
          <p:cNvSpPr txBox="1"/>
          <p:nvPr/>
        </p:nvSpPr>
        <p:spPr>
          <a:xfrm>
            <a:off x="548640" y="2432304"/>
            <a:ext cx="4846320" cy="1874520"/>
          </a:xfrm>
          <a:prstGeom prst="rect">
            <a:avLst/>
          </a:prstGeom>
          <a:noFill/>
          <a:ln/>
        </p:spPr>
        <p:txBody>
          <a:bodyPr wrap="square" lIns="0" tIns="0" rIns="0" bIns="0" rtlCol="0" anchor="t"/>
          <a:lstStyle/>
          <a:p>
            <a:pPr indent="0" marL="0">
              <a:lnSpc>
                <a:spcPct val="106000"/>
              </a:lnSpc>
              <a:buNone/>
            </a:pPr>
            <a:r>
              <a:rPr lang="en-US" sz="1400" dirty="0">
                <a:solidFill>
                  <a:srgbClr val="24313A"/>
                </a:solidFill>
                <a:latin typeface="Calibri" pitchFamily="34" charset="0"/>
                <a:ea typeface="Calibri" pitchFamily="34" charset="-122"/>
                <a:cs typeface="Calibri" pitchFamily="34" charset="-120"/>
              </a:rPr>
              <a:t>Qualified teachers who stopped teaching at least a year ago, whether they retired or moved to another job, are offered up to forty paid days in a public school to get used to the classroom again before they apply for a post. A departmental team gives them free coaching on applications, interviews and the current curriculum, and places them in a school where serving teachers guide them. Those returning from retirement or a career break receive an honorarium for the placement.</a:t>
            </a:r>
            <a:endParaRPr lang="en-US" sz="1400" dirty="0"/>
          </a:p>
        </p:txBody>
      </p:sp>
      <p:sp>
        <p:nvSpPr>
          <p:cNvPr id="11" name="Text 8"/>
          <p:cNvSpPr txBox="1"/>
          <p:nvPr/>
        </p:nvSpPr>
        <p:spPr>
          <a:xfrm>
            <a:off x="548640" y="4343400"/>
            <a:ext cx="4846320" cy="1097280"/>
          </a:xfrm>
          <a:prstGeom prst="rect">
            <a:avLst/>
          </a:prstGeom>
          <a:noFill/>
          <a:ln/>
        </p:spPr>
        <p:txBody>
          <a:bodyPr wrap="square" lIns="0" tIns="0" rIns="0" bIns="0" rtlCol="0" anchor="t"/>
          <a:lstStyle/>
          <a:p>
            <a:pPr indent="0" marL="0">
              <a:buNone/>
            </a:pPr>
            <a:r>
              <a:rPr lang="en-US" sz="1250" b="1" dirty="0">
                <a:solidFill>
                  <a:srgbClr val="24313A"/>
                </a:solidFill>
                <a:latin typeface="Calibri" pitchFamily="34" charset="0"/>
                <a:ea typeface="Calibri" pitchFamily="34" charset="-122"/>
                <a:cs typeface="Calibri" pitchFamily="34" charset="-120"/>
              </a:rPr>
              <a:t>Whom to contact: </a:t>
            </a:r>
            <a:pPr indent="0" marL="0">
              <a:buNone/>
            </a:pPr>
            <a:r>
              <a:rPr lang="en-US" sz="1250" dirty="0">
                <a:solidFill>
                  <a:srgbClr val="24313A"/>
                </a:solidFill>
                <a:latin typeface="Calibri" pitchFamily="34" charset="0"/>
                <a:ea typeface="Calibri" pitchFamily="34" charset="-122"/>
                <a:cs typeface="Calibri" pitchFamily="34" charset="-120"/>
              </a:rPr>
              <a:t>Victorian Department of Education, teacher re-engagement team in the school workforce division.</a:t>
            </a:r>
            <a:endParaRPr lang="en-US" sz="1250" dirty="0"/>
          </a:p>
        </p:txBody>
      </p:sp>
      <p:sp>
        <p:nvSpPr>
          <p:cNvPr id="12" name="Shape 9"/>
          <p:cNvSpPr/>
          <p:nvPr/>
        </p:nvSpPr>
        <p:spPr>
          <a:xfrm>
            <a:off x="5760720" y="1417320"/>
            <a:ext cx="5879592" cy="3429000"/>
          </a:xfrm>
          <a:prstGeom prst="roundRect">
            <a:avLst>
              <a:gd name="adj" fmla="val 3200"/>
            </a:avLst>
          </a:prstGeom>
          <a:solidFill>
            <a:srgbClr val="EAF2EE"/>
          </a:solidFill>
          <a:ln w="12700">
            <a:solidFill>
              <a:srgbClr val="EAF2EE"/>
            </a:solidFill>
            <a:prstDash val="solid"/>
          </a:ln>
        </p:spPr>
      </p:sp>
      <p:sp>
        <p:nvSpPr>
          <p:cNvPr id="13" name="Text 10"/>
          <p:cNvSpPr txBox="1"/>
          <p:nvPr/>
        </p:nvSpPr>
        <p:spPr>
          <a:xfrm>
            <a:off x="6035040" y="1554480"/>
            <a:ext cx="5394960" cy="411480"/>
          </a:xfrm>
          <a:prstGeom prst="rect">
            <a:avLst/>
          </a:prstGeom>
          <a:noFill/>
          <a:ln/>
        </p:spPr>
        <p:txBody>
          <a:bodyPr wrap="square" lIns="0" tIns="0" rIns="0" bIns="0" rtlCol="0" anchor="ctr"/>
          <a:lstStyle/>
          <a:p>
            <a:pPr indent="0" marL="0">
              <a:buNone/>
            </a:pPr>
            <a:r>
              <a:rPr lang="en-US" sz="1500" b="1" dirty="0">
                <a:solidFill>
                  <a:srgbClr val="B3542E"/>
                </a:solidFill>
                <a:latin typeface="Calibri" pitchFamily="34" charset="0"/>
                <a:ea typeface="Calibri" pitchFamily="34" charset="-122"/>
                <a:cs typeface="Calibri" pitchFamily="34" charset="-120"/>
              </a:rPr>
              <a:t>What we would like to know</a:t>
            </a:r>
            <a:endParaRPr lang="en-US" sz="1500" dirty="0"/>
          </a:p>
        </p:txBody>
      </p:sp>
      <p:sp>
        <p:nvSpPr>
          <p:cNvPr id="14" name="Text 11"/>
          <p:cNvSpPr txBox="1"/>
          <p:nvPr/>
        </p:nvSpPr>
        <p:spPr>
          <a:xfrm>
            <a:off x="6035040" y="2057400"/>
            <a:ext cx="5349240" cy="4023360"/>
          </a:xfrm>
          <a:prstGeom prst="rect">
            <a:avLst/>
          </a:prstGeom>
          <a:noFill/>
          <a:ln/>
        </p:spPr>
        <p:txBody>
          <a:bodyPr wrap="square" lIns="0" tIns="0" rIns="0" bIns="0" rtlCol="0" anchor="t"/>
          <a:lstStyle/>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How did the idea of a paid trial period come about, and how was it set up inside the department?</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happened after the placements: who went on to a teaching post, and who did not?</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Which part of the offer mattered most to those who came back: the paid days, the coaching or the mentoring?</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would you change if the scheme were designed again, and how do you see it continuing?</a:t>
            </a:r>
            <a:endParaRPr lang="en-US" sz="1450" dirty="0"/>
          </a:p>
        </p:txBody>
      </p:sp>
      <p:sp>
        <p:nvSpPr>
          <p:cNvPr id="15" name="Text 12"/>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11480"/>
            <a:ext cx="960120" cy="720090"/>
          </a:xfrm>
          <a:prstGeom prst="rect">
            <a:avLst/>
          </a:prstGeom>
        </p:spPr>
      </p:pic>
      <p:sp>
        <p:nvSpPr>
          <p:cNvPr id="3" name="Shape 0"/>
          <p:cNvSpPr/>
          <p:nvPr/>
        </p:nvSpPr>
        <p:spPr>
          <a:xfrm>
            <a:off x="548640" y="411480"/>
            <a:ext cx="960120" cy="720090"/>
          </a:xfrm>
          <a:prstGeom prst="rect">
            <a:avLst/>
          </a:prstGeom>
          <a:ln w="9525">
            <a:solidFill>
              <a:srgbClr val="CFDCD5"/>
            </a:solidFill>
            <a:prstDash val="solid"/>
          </a:ln>
        </p:spPr>
      </p:sp>
      <p:sp>
        <p:nvSpPr>
          <p:cNvPr id="4" name="Text 1"/>
          <p:cNvSpPr txBox="1"/>
          <p:nvPr/>
        </p:nvSpPr>
        <p:spPr>
          <a:xfrm>
            <a:off x="1691640" y="365760"/>
            <a:ext cx="594360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Netherlands</a:t>
            </a:r>
            <a:endParaRPr lang="en-US" sz="2200" dirty="0"/>
          </a:p>
        </p:txBody>
      </p:sp>
      <p:sp>
        <p:nvSpPr>
          <p:cNvPr id="5" name="Shape 2"/>
          <p:cNvSpPr/>
          <p:nvPr/>
        </p:nvSpPr>
        <p:spPr>
          <a:xfrm>
            <a:off x="8165592" y="411480"/>
            <a:ext cx="3474720" cy="429768"/>
          </a:xfrm>
          <a:prstGeom prst="roundRect">
            <a:avLst>
              <a:gd name="adj" fmla="val 50000"/>
            </a:avLst>
          </a:prstGeom>
          <a:solidFill>
            <a:srgbClr val="EAF2EE"/>
          </a:solidFill>
          <a:ln w="12700">
            <a:solidFill>
              <a:srgbClr val="B3542E"/>
            </a:solidFill>
            <a:prstDash val="solid"/>
          </a:ln>
        </p:spPr>
      </p:sp>
      <p:sp>
        <p:nvSpPr>
          <p:cNvPr id="6" name="Text 3"/>
          <p:cNvSpPr txBox="1"/>
          <p:nvPr/>
        </p:nvSpPr>
        <p:spPr>
          <a:xfrm>
            <a:off x="8165592" y="411480"/>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7" name="Text 4"/>
          <p:cNvSpPr txBox="1"/>
          <p:nvPr/>
        </p:nvSpPr>
        <p:spPr>
          <a:xfrm>
            <a:off x="7251192" y="877824"/>
            <a:ext cx="4389120" cy="274320"/>
          </a:xfrm>
          <a:prstGeom prst="rect">
            <a:avLst/>
          </a:prstGeom>
          <a:noFill/>
          <a:ln/>
        </p:spPr>
        <p:txBody>
          <a:bodyPr wrap="square" lIns="0" tIns="0" rIns="0" bIns="0" rtlCol="0" anchor="ctr"/>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a:t>
            </a:r>
            <a:endParaRPr lang="en-US" sz="1100" dirty="0"/>
          </a:p>
        </p:txBody>
      </p:sp>
      <p:sp>
        <p:nvSpPr>
          <p:cNvPr id="8" name="Text 5"/>
          <p:cNvSpPr txBox="1"/>
          <p:nvPr/>
        </p:nvSpPr>
        <p:spPr>
          <a:xfrm>
            <a:off x="548640" y="1389888"/>
            <a:ext cx="4846320" cy="960120"/>
          </a:xfrm>
          <a:prstGeom prst="rect">
            <a:avLst/>
          </a:prstGeom>
          <a:noFill/>
          <a:ln/>
        </p:spPr>
        <p:txBody>
          <a:bodyPr wrap="square" lIns="0" tIns="0" rIns="0" bIns="0" rtlCol="0" anchor="t"/>
          <a:lstStyle/>
          <a:p>
            <a:pPr indent="0" marL="0">
              <a:buNone/>
            </a:pPr>
            <a:r>
              <a:rPr lang="en-US" sz="1850" b="1" dirty="0">
                <a:solidFill>
                  <a:srgbClr val="24313A"/>
                </a:solidFill>
                <a:latin typeface="Cambria" pitchFamily="34" charset="0"/>
                <a:ea typeface="Cambria" pitchFamily="34" charset="-122"/>
                <a:cs typeface="Cambria" pitchFamily="34" charset="-120"/>
              </a:rPr>
              <a:t>Grant to primary schools for re-hiring former teachers (2017–2020)</a:t>
            </a:r>
            <a:endParaRPr lang="en-US" sz="1850" dirty="0"/>
          </a:p>
        </p:txBody>
      </p:sp>
      <p:sp>
        <p:nvSpPr>
          <p:cNvPr id="9" name="Text 6"/>
          <p:cNvSpPr txBox="1"/>
          <p:nvPr/>
        </p:nvSpPr>
        <p:spPr>
          <a:xfrm>
            <a:off x="548640" y="2432304"/>
            <a:ext cx="4846320" cy="1874520"/>
          </a:xfrm>
          <a:prstGeom prst="rect">
            <a:avLst/>
          </a:prstGeom>
          <a:noFill/>
          <a:ln/>
        </p:spPr>
        <p:txBody>
          <a:bodyPr wrap="square" lIns="0" tIns="0" rIns="0" bIns="0" rtlCol="0" anchor="t"/>
          <a:lstStyle/>
          <a:p>
            <a:pPr indent="0" marL="0">
              <a:lnSpc>
                <a:spcPct val="106000"/>
              </a:lnSpc>
              <a:buNone/>
            </a:pPr>
            <a:r>
              <a:rPr lang="en-US" sz="1400" dirty="0">
                <a:solidFill>
                  <a:srgbClr val="24313A"/>
                </a:solidFill>
                <a:latin typeface="Calibri" pitchFamily="34" charset="0"/>
                <a:ea typeface="Calibri" pitchFamily="34" charset="-122"/>
                <a:cs typeface="Calibri" pitchFamily="34" charset="-120"/>
              </a:rPr>
              <a:t>The ministry paid the school rather than the teacher. A primary-school board that hired a qualified teacher who had been out of primary education for at least a year, on a contract of six months or more, received a grant earmarked for that person's coaching and refresher training in the first months back. The scheme ran for two years and then closed.</a:t>
            </a:r>
            <a:endParaRPr lang="en-US" sz="1400" dirty="0"/>
          </a:p>
        </p:txBody>
      </p:sp>
      <p:sp>
        <p:nvSpPr>
          <p:cNvPr id="10" name="Text 7"/>
          <p:cNvSpPr txBox="1"/>
          <p:nvPr/>
        </p:nvSpPr>
        <p:spPr>
          <a:xfrm>
            <a:off x="548640" y="4343400"/>
            <a:ext cx="4846320" cy="1097280"/>
          </a:xfrm>
          <a:prstGeom prst="rect">
            <a:avLst/>
          </a:prstGeom>
          <a:noFill/>
          <a:ln/>
        </p:spPr>
        <p:txBody>
          <a:bodyPr wrap="square" lIns="0" tIns="0" rIns="0" bIns="0" rtlCol="0" anchor="t"/>
          <a:lstStyle/>
          <a:p>
            <a:pPr indent="0" marL="0">
              <a:buNone/>
            </a:pPr>
            <a:r>
              <a:rPr lang="en-US" sz="1250" b="1" dirty="0">
                <a:solidFill>
                  <a:srgbClr val="24313A"/>
                </a:solidFill>
                <a:latin typeface="Calibri" pitchFamily="34" charset="0"/>
                <a:ea typeface="Calibri" pitchFamily="34" charset="-122"/>
                <a:cs typeface="Calibri" pitchFamily="34" charset="-120"/>
              </a:rPr>
              <a:t>Whom to contact: </a:t>
            </a:r>
            <a:pPr indent="0" marL="0">
              <a:buNone/>
            </a:pPr>
            <a:r>
              <a:rPr lang="en-US" sz="1250" dirty="0">
                <a:solidFill>
                  <a:srgbClr val="24313A"/>
                </a:solidFill>
                <a:latin typeface="Calibri" pitchFamily="34" charset="0"/>
                <a:ea typeface="Calibri" pitchFamily="34" charset="-122"/>
                <a:cs typeface="Calibri" pitchFamily="34" charset="-120"/>
              </a:rPr>
              <a:t>Dutch Ministry of Education, Culture and Science, primary-education directorate, and the ministry's subsidy agency (DUS-I) that administered the grant.</a:t>
            </a:r>
            <a:endParaRPr lang="en-US" sz="1250" dirty="0"/>
          </a:p>
        </p:txBody>
      </p:sp>
      <p:sp>
        <p:nvSpPr>
          <p:cNvPr id="11" name="Shape 8"/>
          <p:cNvSpPr/>
          <p:nvPr/>
        </p:nvSpPr>
        <p:spPr>
          <a:xfrm>
            <a:off x="5760720" y="1417320"/>
            <a:ext cx="5879592" cy="3429000"/>
          </a:xfrm>
          <a:prstGeom prst="roundRect">
            <a:avLst>
              <a:gd name="adj" fmla="val 3200"/>
            </a:avLst>
          </a:prstGeom>
          <a:solidFill>
            <a:srgbClr val="EAF2EE"/>
          </a:solidFill>
          <a:ln w="12700">
            <a:solidFill>
              <a:srgbClr val="EAF2EE"/>
            </a:solidFill>
            <a:prstDash val="solid"/>
          </a:ln>
        </p:spPr>
      </p:sp>
      <p:sp>
        <p:nvSpPr>
          <p:cNvPr id="12" name="Text 9"/>
          <p:cNvSpPr txBox="1"/>
          <p:nvPr/>
        </p:nvSpPr>
        <p:spPr>
          <a:xfrm>
            <a:off x="6035040" y="1554480"/>
            <a:ext cx="5394960" cy="411480"/>
          </a:xfrm>
          <a:prstGeom prst="rect">
            <a:avLst/>
          </a:prstGeom>
          <a:noFill/>
          <a:ln/>
        </p:spPr>
        <p:txBody>
          <a:bodyPr wrap="square" lIns="0" tIns="0" rIns="0" bIns="0" rtlCol="0" anchor="ctr"/>
          <a:lstStyle/>
          <a:p>
            <a:pPr indent="0" marL="0">
              <a:buNone/>
            </a:pPr>
            <a:r>
              <a:rPr lang="en-US" sz="1500" b="1" dirty="0">
                <a:solidFill>
                  <a:srgbClr val="B3542E"/>
                </a:solidFill>
                <a:latin typeface="Calibri" pitchFamily="34" charset="0"/>
                <a:ea typeface="Calibri" pitchFamily="34" charset="-122"/>
                <a:cs typeface="Calibri" pitchFamily="34" charset="-120"/>
              </a:rPr>
              <a:t>What we would like to know</a:t>
            </a:r>
            <a:endParaRPr lang="en-US" sz="1500" dirty="0"/>
          </a:p>
        </p:txBody>
      </p:sp>
      <p:sp>
        <p:nvSpPr>
          <p:cNvPr id="13" name="Text 10"/>
          <p:cNvSpPr txBox="1"/>
          <p:nvPr/>
        </p:nvSpPr>
        <p:spPr>
          <a:xfrm>
            <a:off x="6035040" y="2057400"/>
            <a:ext cx="5349240" cy="4023360"/>
          </a:xfrm>
          <a:prstGeom prst="rect">
            <a:avLst/>
          </a:prstGeom>
          <a:noFill/>
          <a:ln/>
        </p:spPr>
        <p:txBody>
          <a:bodyPr wrap="square" lIns="0" tIns="0" rIns="0" bIns="0" rtlCol="0" anchor="t"/>
          <a:lstStyle/>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was the thinking behind paying the school rather than the returning teacher, and how did schools use the money?</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did you learn about the teachers who came back through the scheme, and about those who stayed away?</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Why did the scheme end, and what has taken its place since?</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would you advise a country thinking of a similar scheme today?</a:t>
            </a:r>
            <a:endParaRPr lang="en-US" sz="1450" dirty="0"/>
          </a:p>
        </p:txBody>
      </p:sp>
      <p:sp>
        <p:nvSpPr>
          <p:cNvPr id="14" name="Text 11"/>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11480"/>
            <a:ext cx="960120" cy="720090"/>
          </a:xfrm>
          <a:prstGeom prst="rect">
            <a:avLst/>
          </a:prstGeom>
        </p:spPr>
      </p:pic>
      <p:sp>
        <p:nvSpPr>
          <p:cNvPr id="3" name="Shape 0"/>
          <p:cNvSpPr/>
          <p:nvPr/>
        </p:nvSpPr>
        <p:spPr>
          <a:xfrm>
            <a:off x="548640" y="411480"/>
            <a:ext cx="960120" cy="720090"/>
          </a:xfrm>
          <a:prstGeom prst="rect">
            <a:avLst/>
          </a:prstGeom>
          <a:ln w="9525">
            <a:solidFill>
              <a:srgbClr val="CFDCD5"/>
            </a:solidFill>
            <a:prstDash val="solid"/>
          </a:ln>
        </p:spPr>
      </p:sp>
      <p:sp>
        <p:nvSpPr>
          <p:cNvPr id="4" name="Text 1"/>
          <p:cNvSpPr txBox="1"/>
          <p:nvPr/>
        </p:nvSpPr>
        <p:spPr>
          <a:xfrm>
            <a:off x="1691640" y="365760"/>
            <a:ext cx="594360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Canada</a:t>
            </a:r>
            <a:endParaRPr lang="en-US" sz="2200" dirty="0"/>
          </a:p>
        </p:txBody>
      </p:sp>
      <p:sp>
        <p:nvSpPr>
          <p:cNvPr id="5" name="Text 2"/>
          <p:cNvSpPr txBox="1"/>
          <p:nvPr/>
        </p:nvSpPr>
        <p:spPr>
          <a:xfrm>
            <a:off x="1691640" y="822960"/>
            <a:ext cx="5943600" cy="310896"/>
          </a:xfrm>
          <a:prstGeom prst="rect">
            <a:avLst/>
          </a:prstGeom>
          <a:noFill/>
          <a:ln/>
        </p:spPr>
        <p:txBody>
          <a:bodyPr wrap="square" lIns="0" tIns="0" rIns="0" bIns="0" rtlCol="0" anchor="ctr"/>
          <a:lstStyle/>
          <a:p>
            <a:pPr indent="0" marL="0">
              <a:buNone/>
            </a:pPr>
            <a:r>
              <a:rPr lang="en-US" sz="1300" dirty="0">
                <a:solidFill>
                  <a:srgbClr val="24313A"/>
                </a:solidFill>
                <a:latin typeface="Calibri" pitchFamily="34" charset="0"/>
                <a:ea typeface="Calibri" pitchFamily="34" charset="-122"/>
                <a:cs typeface="Calibri" pitchFamily="34" charset="-120"/>
              </a:rPr>
              <a:t>Quebec</a:t>
            </a:r>
            <a:endParaRPr lang="en-US" sz="1300" dirty="0"/>
          </a:p>
        </p:txBody>
      </p:sp>
      <p:sp>
        <p:nvSpPr>
          <p:cNvPr id="6" name="Shape 3"/>
          <p:cNvSpPr/>
          <p:nvPr/>
        </p:nvSpPr>
        <p:spPr>
          <a:xfrm>
            <a:off x="8165592" y="411480"/>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165592" y="411480"/>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8" name="Text 5"/>
          <p:cNvSpPr txBox="1"/>
          <p:nvPr/>
        </p:nvSpPr>
        <p:spPr>
          <a:xfrm>
            <a:off x="7251192" y="877824"/>
            <a:ext cx="4389120" cy="274320"/>
          </a:xfrm>
          <a:prstGeom prst="rect">
            <a:avLst/>
          </a:prstGeom>
          <a:noFill/>
          <a:ln/>
        </p:spPr>
        <p:txBody>
          <a:bodyPr wrap="square" lIns="0" tIns="0" rIns="0" bIns="0" rtlCol="0" anchor="ctr"/>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Text 6"/>
          <p:cNvSpPr txBox="1"/>
          <p:nvPr/>
        </p:nvSpPr>
        <p:spPr>
          <a:xfrm>
            <a:off x="548640" y="1389888"/>
            <a:ext cx="4846320" cy="960120"/>
          </a:xfrm>
          <a:prstGeom prst="rect">
            <a:avLst/>
          </a:prstGeom>
          <a:noFill/>
          <a:ln/>
        </p:spPr>
        <p:txBody>
          <a:bodyPr wrap="square" lIns="0" tIns="0" rIns="0" bIns="0" rtlCol="0" anchor="t"/>
          <a:lstStyle/>
          <a:p>
            <a:pPr indent="0" marL="0">
              <a:buNone/>
            </a:pPr>
            <a:r>
              <a:rPr lang="en-US" sz="1850" b="1" dirty="0">
                <a:solidFill>
                  <a:srgbClr val="24313A"/>
                </a:solidFill>
                <a:latin typeface="Cambria" pitchFamily="34" charset="0"/>
                <a:ea typeface="Cambria" pitchFamily="34" charset="-122"/>
                <a:cs typeface="Cambria" pitchFamily="34" charset="-120"/>
              </a:rPr>
              <a:t>Measure 15178: pay at the pre-retirement step (2020, permanent)</a:t>
            </a:r>
            <a:endParaRPr lang="en-US" sz="1850" dirty="0"/>
          </a:p>
        </p:txBody>
      </p:sp>
      <p:sp>
        <p:nvSpPr>
          <p:cNvPr id="10" name="Text 7"/>
          <p:cNvSpPr txBox="1"/>
          <p:nvPr/>
        </p:nvSpPr>
        <p:spPr>
          <a:xfrm>
            <a:off x="548640" y="2432304"/>
            <a:ext cx="4846320" cy="1874520"/>
          </a:xfrm>
          <a:prstGeom prst="rect">
            <a:avLst/>
          </a:prstGeom>
          <a:noFill/>
          <a:ln/>
        </p:spPr>
        <p:txBody>
          <a:bodyPr wrap="square" lIns="0" tIns="0" rIns="0" bIns="0" rtlCol="0" anchor="t"/>
          <a:lstStyle/>
          <a:p>
            <a:pPr indent="0" marL="0">
              <a:lnSpc>
                <a:spcPct val="106000"/>
              </a:lnSpc>
              <a:buNone/>
            </a:pPr>
            <a:r>
              <a:rPr lang="en-US" sz="1400" dirty="0">
                <a:solidFill>
                  <a:srgbClr val="24313A"/>
                </a:solidFill>
                <a:latin typeface="Calibri" pitchFamily="34" charset="0"/>
                <a:ea typeface="Calibri" pitchFamily="34" charset="-122"/>
                <a:cs typeface="Calibri" pitchFamily="34" charset="-120"/>
              </a:rPr>
              <a:t>A pay rule inside the operating budget rules the ministry sets each year for the school service centres. A retired teacher who takes supply work is paid from the first day at the salary step and experience held at retirement, where the ordinary rules grant that step only from the twentieth day, and the pension keeps running in full. Announced in September 2020, opened by ministerial order to teachers who had retired earlier, and later made permanent.</a:t>
            </a:r>
            <a:endParaRPr lang="en-US" sz="1400" dirty="0"/>
          </a:p>
        </p:txBody>
      </p:sp>
      <p:sp>
        <p:nvSpPr>
          <p:cNvPr id="11" name="Text 8"/>
          <p:cNvSpPr txBox="1"/>
          <p:nvPr/>
        </p:nvSpPr>
        <p:spPr>
          <a:xfrm>
            <a:off x="548640" y="4343400"/>
            <a:ext cx="4846320" cy="1097280"/>
          </a:xfrm>
          <a:prstGeom prst="rect">
            <a:avLst/>
          </a:prstGeom>
          <a:noFill/>
          <a:ln/>
        </p:spPr>
        <p:txBody>
          <a:bodyPr wrap="square" lIns="0" tIns="0" rIns="0" bIns="0" rtlCol="0" anchor="t"/>
          <a:lstStyle/>
          <a:p>
            <a:pPr indent="0" marL="0">
              <a:buNone/>
            </a:pPr>
            <a:r>
              <a:rPr lang="en-US" sz="1250" b="1" dirty="0">
                <a:solidFill>
                  <a:srgbClr val="24313A"/>
                </a:solidFill>
                <a:latin typeface="Calibri" pitchFamily="34" charset="0"/>
                <a:ea typeface="Calibri" pitchFamily="34" charset="-122"/>
                <a:cs typeface="Calibri" pitchFamily="34" charset="-120"/>
              </a:rPr>
              <a:t>Whom to contact: </a:t>
            </a:r>
            <a:pPr indent="0" marL="0">
              <a:buNone/>
            </a:pPr>
            <a:r>
              <a:rPr lang="en-US" sz="1250" dirty="0">
                <a:solidFill>
                  <a:srgbClr val="24313A"/>
                </a:solidFill>
                <a:latin typeface="Calibri" pitchFamily="34" charset="0"/>
                <a:ea typeface="Calibri" pitchFamily="34" charset="-122"/>
                <a:cs typeface="Calibri" pitchFamily="34" charset="-120"/>
              </a:rPr>
              <a:t>Ministere de l'Education du Quebec, direction responsible for teaching staff and for the budget rules of the centres de services scolaires.</a:t>
            </a:r>
            <a:endParaRPr lang="en-US" sz="1250" dirty="0"/>
          </a:p>
        </p:txBody>
      </p:sp>
      <p:sp>
        <p:nvSpPr>
          <p:cNvPr id="12" name="Shape 9"/>
          <p:cNvSpPr/>
          <p:nvPr/>
        </p:nvSpPr>
        <p:spPr>
          <a:xfrm>
            <a:off x="5760720" y="1417320"/>
            <a:ext cx="5879592" cy="3429000"/>
          </a:xfrm>
          <a:prstGeom prst="roundRect">
            <a:avLst>
              <a:gd name="adj" fmla="val 3200"/>
            </a:avLst>
          </a:prstGeom>
          <a:solidFill>
            <a:srgbClr val="EAF2EE"/>
          </a:solidFill>
          <a:ln w="12700">
            <a:solidFill>
              <a:srgbClr val="EAF2EE"/>
            </a:solidFill>
            <a:prstDash val="solid"/>
          </a:ln>
        </p:spPr>
      </p:sp>
      <p:sp>
        <p:nvSpPr>
          <p:cNvPr id="13" name="Text 10"/>
          <p:cNvSpPr txBox="1"/>
          <p:nvPr/>
        </p:nvSpPr>
        <p:spPr>
          <a:xfrm>
            <a:off x="6035040" y="1554480"/>
            <a:ext cx="5394960" cy="411480"/>
          </a:xfrm>
          <a:prstGeom prst="rect">
            <a:avLst/>
          </a:prstGeom>
          <a:noFill/>
          <a:ln/>
        </p:spPr>
        <p:txBody>
          <a:bodyPr wrap="square" lIns="0" tIns="0" rIns="0" bIns="0" rtlCol="0" anchor="ctr"/>
          <a:lstStyle/>
          <a:p>
            <a:pPr indent="0" marL="0">
              <a:buNone/>
            </a:pPr>
            <a:r>
              <a:rPr lang="en-US" sz="1500" b="1" dirty="0">
                <a:solidFill>
                  <a:srgbClr val="B3542E"/>
                </a:solidFill>
                <a:latin typeface="Calibri" pitchFamily="34" charset="0"/>
                <a:ea typeface="Calibri" pitchFamily="34" charset="-122"/>
                <a:cs typeface="Calibri" pitchFamily="34" charset="-120"/>
              </a:rPr>
              <a:t>What we would like to know</a:t>
            </a:r>
            <a:endParaRPr lang="en-US" sz="1500" dirty="0"/>
          </a:p>
        </p:txBody>
      </p:sp>
      <p:sp>
        <p:nvSpPr>
          <p:cNvPr id="14" name="Text 11"/>
          <p:cNvSpPr txBox="1"/>
          <p:nvPr/>
        </p:nvSpPr>
        <p:spPr>
          <a:xfrm>
            <a:off x="6035040" y="2057400"/>
            <a:ext cx="5349240" cy="4023360"/>
          </a:xfrm>
          <a:prstGeom prst="rect">
            <a:avLst/>
          </a:prstGeom>
          <a:noFill/>
          <a:ln/>
        </p:spPr>
        <p:txBody>
          <a:bodyPr wrap="square" lIns="0" tIns="0" rIns="0" bIns="0" rtlCol="0" anchor="t"/>
          <a:lstStyle/>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Why was a pay rule chosen over other ways of bringing retired teachers back?</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How was it settled with the parties to teachers' working conditions and with the pension side?</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Which retired teachers came back, and for what kind of work?</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Has the measure changed the way schools cover absences, and has it been assessed?</a:t>
            </a:r>
            <a:endParaRPr lang="en-US" sz="1450" dirty="0"/>
          </a:p>
        </p:txBody>
      </p:sp>
      <p:sp>
        <p:nvSpPr>
          <p:cNvPr id="15" name="Text 12"/>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11480"/>
            <a:ext cx="960120" cy="720090"/>
          </a:xfrm>
          <a:prstGeom prst="rect">
            <a:avLst/>
          </a:prstGeom>
        </p:spPr>
      </p:pic>
      <p:sp>
        <p:nvSpPr>
          <p:cNvPr id="3" name="Shape 0"/>
          <p:cNvSpPr/>
          <p:nvPr/>
        </p:nvSpPr>
        <p:spPr>
          <a:xfrm>
            <a:off x="548640" y="411480"/>
            <a:ext cx="960120" cy="720090"/>
          </a:xfrm>
          <a:prstGeom prst="rect">
            <a:avLst/>
          </a:prstGeom>
          <a:ln w="9525">
            <a:solidFill>
              <a:srgbClr val="CFDCD5"/>
            </a:solidFill>
            <a:prstDash val="solid"/>
          </a:ln>
        </p:spPr>
      </p:sp>
      <p:sp>
        <p:nvSpPr>
          <p:cNvPr id="4" name="Text 1"/>
          <p:cNvSpPr txBox="1"/>
          <p:nvPr/>
        </p:nvSpPr>
        <p:spPr>
          <a:xfrm>
            <a:off x="1691640" y="365760"/>
            <a:ext cx="594360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United States</a:t>
            </a:r>
            <a:endParaRPr lang="en-US" sz="2200" dirty="0"/>
          </a:p>
        </p:txBody>
      </p:sp>
      <p:sp>
        <p:nvSpPr>
          <p:cNvPr id="5" name="Text 2"/>
          <p:cNvSpPr txBox="1"/>
          <p:nvPr/>
        </p:nvSpPr>
        <p:spPr>
          <a:xfrm>
            <a:off x="1691640" y="822960"/>
            <a:ext cx="5943600" cy="310896"/>
          </a:xfrm>
          <a:prstGeom prst="rect">
            <a:avLst/>
          </a:prstGeom>
          <a:noFill/>
          <a:ln/>
        </p:spPr>
        <p:txBody>
          <a:bodyPr wrap="square" lIns="0" tIns="0" rIns="0" bIns="0" rtlCol="0" anchor="ctr"/>
          <a:lstStyle/>
          <a:p>
            <a:pPr indent="0" marL="0">
              <a:buNone/>
            </a:pPr>
            <a:r>
              <a:rPr lang="en-US" sz="1300" dirty="0">
                <a:solidFill>
                  <a:srgbClr val="24313A"/>
                </a:solidFill>
                <a:latin typeface="Calibri" pitchFamily="34" charset="0"/>
                <a:ea typeface="Calibri" pitchFamily="34" charset="-122"/>
                <a:cs typeface="Calibri" pitchFamily="34" charset="-120"/>
              </a:rPr>
              <a:t>Michigan</a:t>
            </a:r>
            <a:endParaRPr lang="en-US" sz="1300" dirty="0"/>
          </a:p>
        </p:txBody>
      </p:sp>
      <p:sp>
        <p:nvSpPr>
          <p:cNvPr id="6" name="Shape 3"/>
          <p:cNvSpPr/>
          <p:nvPr/>
        </p:nvSpPr>
        <p:spPr>
          <a:xfrm>
            <a:off x="8165592" y="411480"/>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165592" y="411480"/>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8" name="Text 5"/>
          <p:cNvSpPr txBox="1"/>
          <p:nvPr/>
        </p:nvSpPr>
        <p:spPr>
          <a:xfrm>
            <a:off x="7251192" y="877824"/>
            <a:ext cx="4389120" cy="274320"/>
          </a:xfrm>
          <a:prstGeom prst="rect">
            <a:avLst/>
          </a:prstGeom>
          <a:noFill/>
          <a:ln/>
        </p:spPr>
        <p:txBody>
          <a:bodyPr wrap="square" lIns="0" tIns="0" rIns="0" bIns="0" rtlCol="0" anchor="ctr"/>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Text 6"/>
          <p:cNvSpPr txBox="1"/>
          <p:nvPr/>
        </p:nvSpPr>
        <p:spPr>
          <a:xfrm>
            <a:off x="548640" y="1389888"/>
            <a:ext cx="4846320" cy="960120"/>
          </a:xfrm>
          <a:prstGeom prst="rect">
            <a:avLst/>
          </a:prstGeom>
          <a:noFill/>
          <a:ln/>
        </p:spPr>
        <p:txBody>
          <a:bodyPr wrap="square" lIns="0" tIns="0" rIns="0" bIns="0" rtlCol="0" anchor="t"/>
          <a:lstStyle/>
          <a:p>
            <a:pPr indent="0" marL="0">
              <a:buNone/>
            </a:pPr>
            <a:r>
              <a:rPr lang="en-US" sz="1850" b="1" dirty="0">
                <a:solidFill>
                  <a:srgbClr val="24313A"/>
                </a:solidFill>
                <a:latin typeface="Cambria" pitchFamily="34" charset="0"/>
                <a:ea typeface="Cambria" pitchFamily="34" charset="-122"/>
                <a:cs typeface="Cambria" pitchFamily="34" charset="-120"/>
              </a:rPr>
              <a:t>Public Act 147 of 2023: shorter wait, no earnings cap (to 2028)</a:t>
            </a:r>
            <a:endParaRPr lang="en-US" sz="1850" dirty="0"/>
          </a:p>
        </p:txBody>
      </p:sp>
      <p:sp>
        <p:nvSpPr>
          <p:cNvPr id="10" name="Text 7"/>
          <p:cNvSpPr txBox="1"/>
          <p:nvPr/>
        </p:nvSpPr>
        <p:spPr>
          <a:xfrm>
            <a:off x="548640" y="2432304"/>
            <a:ext cx="4846320" cy="1874520"/>
          </a:xfrm>
          <a:prstGeom prst="rect">
            <a:avLst/>
          </a:prstGeom>
          <a:noFill/>
          <a:ln/>
        </p:spPr>
        <p:txBody>
          <a:bodyPr wrap="square" lIns="0" tIns="0" rIns="0" bIns="0" rtlCol="0" anchor="t"/>
          <a:lstStyle/>
          <a:p>
            <a:pPr indent="0" marL="0">
              <a:lnSpc>
                <a:spcPct val="106000"/>
              </a:lnSpc>
              <a:buNone/>
            </a:pPr>
            <a:r>
              <a:rPr lang="en-US" sz="1400" dirty="0">
                <a:solidFill>
                  <a:srgbClr val="24313A"/>
                </a:solidFill>
                <a:latin typeface="Calibri" pitchFamily="34" charset="0"/>
                <a:ea typeface="Calibri" pitchFamily="34" charset="-122"/>
                <a:cs typeface="Calibri" pitchFamily="34" charset="-120"/>
              </a:rPr>
              <a:t>Retired school staff can be rehired sooner and earn without limit. The waiting period after retirement fell from nine months to six; during the wait a retiree may work if earnings stay under a ceiling, and afterwards there is no earnings cap and no penalty on the pension. Passed in response to shortages, the change expires in 2028.</a:t>
            </a:r>
            <a:endParaRPr lang="en-US" sz="1400" dirty="0"/>
          </a:p>
        </p:txBody>
      </p:sp>
      <p:sp>
        <p:nvSpPr>
          <p:cNvPr id="11" name="Text 8"/>
          <p:cNvSpPr txBox="1"/>
          <p:nvPr/>
        </p:nvSpPr>
        <p:spPr>
          <a:xfrm>
            <a:off x="548640" y="4343400"/>
            <a:ext cx="4846320" cy="1097280"/>
          </a:xfrm>
          <a:prstGeom prst="rect">
            <a:avLst/>
          </a:prstGeom>
          <a:noFill/>
          <a:ln/>
        </p:spPr>
        <p:txBody>
          <a:bodyPr wrap="square" lIns="0" tIns="0" rIns="0" bIns="0" rtlCol="0" anchor="t"/>
          <a:lstStyle/>
          <a:p>
            <a:pPr indent="0" marL="0">
              <a:buNone/>
            </a:pPr>
            <a:r>
              <a:rPr lang="en-US" sz="1250" b="1" dirty="0">
                <a:solidFill>
                  <a:srgbClr val="24313A"/>
                </a:solidFill>
                <a:latin typeface="Calibri" pitchFamily="34" charset="0"/>
                <a:ea typeface="Calibri" pitchFamily="34" charset="-122"/>
                <a:cs typeface="Calibri" pitchFamily="34" charset="-120"/>
              </a:rPr>
              <a:t>Whom to contact: </a:t>
            </a:r>
            <a:pPr indent="0" marL="0">
              <a:buNone/>
            </a:pPr>
            <a:r>
              <a:rPr lang="en-US" sz="1250" dirty="0">
                <a:solidFill>
                  <a:srgbClr val="24313A"/>
                </a:solidFill>
                <a:latin typeface="Calibri" pitchFamily="34" charset="0"/>
                <a:ea typeface="Calibri" pitchFamily="34" charset="-122"/>
                <a:cs typeface="Calibri" pitchFamily="34" charset="-120"/>
              </a:rPr>
              <a:t>Michigan Office of Retirement Services, which administers the school employees' retirement system, and the Michigan Department of Education's educator workforce office.</a:t>
            </a:r>
            <a:endParaRPr lang="en-US" sz="1250" dirty="0"/>
          </a:p>
        </p:txBody>
      </p:sp>
      <p:sp>
        <p:nvSpPr>
          <p:cNvPr id="12" name="Shape 9"/>
          <p:cNvSpPr/>
          <p:nvPr/>
        </p:nvSpPr>
        <p:spPr>
          <a:xfrm>
            <a:off x="5760720" y="1417320"/>
            <a:ext cx="5879592" cy="3429000"/>
          </a:xfrm>
          <a:prstGeom prst="roundRect">
            <a:avLst>
              <a:gd name="adj" fmla="val 3200"/>
            </a:avLst>
          </a:prstGeom>
          <a:solidFill>
            <a:srgbClr val="EAF2EE"/>
          </a:solidFill>
          <a:ln w="12700">
            <a:solidFill>
              <a:srgbClr val="EAF2EE"/>
            </a:solidFill>
            <a:prstDash val="solid"/>
          </a:ln>
        </p:spPr>
      </p:sp>
      <p:sp>
        <p:nvSpPr>
          <p:cNvPr id="13" name="Text 10"/>
          <p:cNvSpPr txBox="1"/>
          <p:nvPr/>
        </p:nvSpPr>
        <p:spPr>
          <a:xfrm>
            <a:off x="6035040" y="1554480"/>
            <a:ext cx="5394960" cy="411480"/>
          </a:xfrm>
          <a:prstGeom prst="rect">
            <a:avLst/>
          </a:prstGeom>
          <a:noFill/>
          <a:ln/>
        </p:spPr>
        <p:txBody>
          <a:bodyPr wrap="square" lIns="0" tIns="0" rIns="0" bIns="0" rtlCol="0" anchor="ctr"/>
          <a:lstStyle/>
          <a:p>
            <a:pPr indent="0" marL="0">
              <a:buNone/>
            </a:pPr>
            <a:r>
              <a:rPr lang="en-US" sz="1500" b="1" dirty="0">
                <a:solidFill>
                  <a:srgbClr val="B3542E"/>
                </a:solidFill>
                <a:latin typeface="Calibri" pitchFamily="34" charset="0"/>
                <a:ea typeface="Calibri" pitchFamily="34" charset="-122"/>
                <a:cs typeface="Calibri" pitchFamily="34" charset="-120"/>
              </a:rPr>
              <a:t>What we would like to know</a:t>
            </a:r>
            <a:endParaRPr lang="en-US" sz="1500" dirty="0"/>
          </a:p>
        </p:txBody>
      </p:sp>
      <p:sp>
        <p:nvSpPr>
          <p:cNvPr id="14" name="Text 11"/>
          <p:cNvSpPr txBox="1"/>
          <p:nvPr/>
        </p:nvSpPr>
        <p:spPr>
          <a:xfrm>
            <a:off x="6035040" y="2057400"/>
            <a:ext cx="5349240" cy="4023360"/>
          </a:xfrm>
          <a:prstGeom prst="rect">
            <a:avLst/>
          </a:prstGeom>
          <a:noFill/>
          <a:ln/>
        </p:spPr>
        <p:txBody>
          <a:bodyPr wrap="square" lIns="0" tIns="0" rIns="0" bIns="0" rtlCol="0" anchor="t"/>
          <a:lstStyle/>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was the reasoning behind loosening the rules for retirees, and how did the pension side and the schools side see it?</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How have schools and retirees actually used the new rules since they came in?</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Have you seen any unintended effects, on retirement decisions, on younger teachers or on the pension system?</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will decide whether the rules are kept when they expire, and what would you want to know before then?</a:t>
            </a:r>
            <a:endParaRPr lang="en-US" sz="1450" dirty="0"/>
          </a:p>
        </p:txBody>
      </p:sp>
      <p:sp>
        <p:nvSpPr>
          <p:cNvPr id="15" name="Text 12"/>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11480"/>
            <a:ext cx="960120" cy="720090"/>
          </a:xfrm>
          <a:prstGeom prst="rect">
            <a:avLst/>
          </a:prstGeom>
        </p:spPr>
      </p:pic>
      <p:sp>
        <p:nvSpPr>
          <p:cNvPr id="3" name="Shape 0"/>
          <p:cNvSpPr/>
          <p:nvPr/>
        </p:nvSpPr>
        <p:spPr>
          <a:xfrm>
            <a:off x="548640" y="411480"/>
            <a:ext cx="960120" cy="720090"/>
          </a:xfrm>
          <a:prstGeom prst="rect">
            <a:avLst/>
          </a:prstGeom>
          <a:ln w="9525">
            <a:solidFill>
              <a:srgbClr val="CFDCD5"/>
            </a:solidFill>
            <a:prstDash val="solid"/>
          </a:ln>
        </p:spPr>
      </p:sp>
      <p:sp>
        <p:nvSpPr>
          <p:cNvPr id="4" name="Text 1"/>
          <p:cNvSpPr txBox="1"/>
          <p:nvPr/>
        </p:nvSpPr>
        <p:spPr>
          <a:xfrm>
            <a:off x="1691640" y="365760"/>
            <a:ext cx="594360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Portugal</a:t>
            </a:r>
            <a:endParaRPr lang="en-US" sz="2200" dirty="0"/>
          </a:p>
        </p:txBody>
      </p:sp>
      <p:sp>
        <p:nvSpPr>
          <p:cNvPr id="5" name="Shape 2"/>
          <p:cNvSpPr/>
          <p:nvPr/>
        </p:nvSpPr>
        <p:spPr>
          <a:xfrm>
            <a:off x="8165592" y="411480"/>
            <a:ext cx="3474720" cy="429768"/>
          </a:xfrm>
          <a:prstGeom prst="roundRect">
            <a:avLst>
              <a:gd name="adj" fmla="val 50000"/>
            </a:avLst>
          </a:prstGeom>
          <a:solidFill>
            <a:srgbClr val="EAF2EE"/>
          </a:solidFill>
          <a:ln w="12700">
            <a:solidFill>
              <a:srgbClr val="B3542E"/>
            </a:solidFill>
            <a:prstDash val="solid"/>
          </a:ln>
        </p:spPr>
      </p:sp>
      <p:sp>
        <p:nvSpPr>
          <p:cNvPr id="6" name="Text 3"/>
          <p:cNvSpPr txBox="1"/>
          <p:nvPr/>
        </p:nvSpPr>
        <p:spPr>
          <a:xfrm>
            <a:off x="8165592" y="411480"/>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7" name="Text 4"/>
          <p:cNvSpPr txBox="1"/>
          <p:nvPr/>
        </p:nvSpPr>
        <p:spPr>
          <a:xfrm>
            <a:off x="7251192" y="877824"/>
            <a:ext cx="4389120" cy="274320"/>
          </a:xfrm>
          <a:prstGeom prst="rect">
            <a:avLst/>
          </a:prstGeom>
          <a:noFill/>
          <a:ln/>
        </p:spPr>
        <p:txBody>
          <a:bodyPr wrap="square" lIns="0" tIns="0" rIns="0" bIns="0" rtlCol="0" anchor="ctr"/>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8" name="Text 5"/>
          <p:cNvSpPr txBox="1"/>
          <p:nvPr/>
        </p:nvSpPr>
        <p:spPr>
          <a:xfrm>
            <a:off x="548640" y="1389888"/>
            <a:ext cx="4846320" cy="960120"/>
          </a:xfrm>
          <a:prstGeom prst="rect">
            <a:avLst/>
          </a:prstGeom>
          <a:noFill/>
          <a:ln/>
        </p:spPr>
        <p:txBody>
          <a:bodyPr wrap="square" lIns="0" tIns="0" rIns="0" bIns="0" rtlCol="0" anchor="t"/>
          <a:lstStyle/>
          <a:p>
            <a:pPr indent="0" marL="0">
              <a:buNone/>
            </a:pPr>
            <a:r>
              <a:rPr lang="en-US" sz="1850" b="1" dirty="0">
                <a:solidFill>
                  <a:srgbClr val="24313A"/>
                </a:solidFill>
                <a:latin typeface="Cambria" pitchFamily="34" charset="0"/>
                <a:ea typeface="Cambria" pitchFamily="34" charset="-122"/>
                <a:cs typeface="Cambria" pitchFamily="34" charset="-120"/>
              </a:rPr>
              <a:t>Decree-Law 51/2024: retired teachers in shortage posts (2024/25)</a:t>
            </a:r>
            <a:endParaRPr lang="en-US" sz="1850" dirty="0"/>
          </a:p>
        </p:txBody>
      </p:sp>
      <p:sp>
        <p:nvSpPr>
          <p:cNvPr id="9" name="Text 6"/>
          <p:cNvSpPr txBox="1"/>
          <p:nvPr/>
        </p:nvSpPr>
        <p:spPr>
          <a:xfrm>
            <a:off x="548640" y="2432304"/>
            <a:ext cx="4846320" cy="1874520"/>
          </a:xfrm>
          <a:prstGeom prst="rect">
            <a:avLst/>
          </a:prstGeom>
          <a:noFill/>
          <a:ln/>
        </p:spPr>
        <p:txBody>
          <a:bodyPr wrap="square" lIns="0" tIns="0" rIns="0" bIns="0" rtlCol="0" anchor="t"/>
          <a:lstStyle/>
          <a:p>
            <a:pPr indent="0" marL="0">
              <a:lnSpc>
                <a:spcPct val="106000"/>
              </a:lnSpc>
              <a:buNone/>
            </a:pPr>
            <a:r>
              <a:rPr lang="en-US" sz="1400" dirty="0">
                <a:solidFill>
                  <a:srgbClr val="24313A"/>
                </a:solidFill>
                <a:latin typeface="Calibri" pitchFamily="34" charset="0"/>
                <a:ea typeface="Calibri" pitchFamily="34" charset="-122"/>
                <a:cs typeface="Calibri" pitchFamily="34" charset="-120"/>
              </a:rPr>
              <a:t>Schools with an unfilled post in a shortage subject, or officially classed as under-staffed, may sign a fixed-term contract with a teacher who retired five years ago or less. The school applies through an online form and the ministry authorises the contract within a yearly quota agreed with the finance ministry. Returners keep the full pension and receive an extra payment tied to the first step of the salary scale, in proportion to the hours they teach.</a:t>
            </a:r>
            <a:endParaRPr lang="en-US" sz="1400" dirty="0"/>
          </a:p>
        </p:txBody>
      </p:sp>
      <p:sp>
        <p:nvSpPr>
          <p:cNvPr id="10" name="Text 7"/>
          <p:cNvSpPr txBox="1"/>
          <p:nvPr/>
        </p:nvSpPr>
        <p:spPr>
          <a:xfrm>
            <a:off x="548640" y="4343400"/>
            <a:ext cx="4846320" cy="1097280"/>
          </a:xfrm>
          <a:prstGeom prst="rect">
            <a:avLst/>
          </a:prstGeom>
          <a:noFill/>
          <a:ln/>
        </p:spPr>
        <p:txBody>
          <a:bodyPr wrap="square" lIns="0" tIns="0" rIns="0" bIns="0" rtlCol="0" anchor="t"/>
          <a:lstStyle/>
          <a:p>
            <a:pPr indent="0" marL="0">
              <a:buNone/>
            </a:pPr>
            <a:r>
              <a:rPr lang="en-US" sz="1250" b="1" dirty="0">
                <a:solidFill>
                  <a:srgbClr val="24313A"/>
                </a:solidFill>
                <a:latin typeface="Calibri" pitchFamily="34" charset="0"/>
                <a:ea typeface="Calibri" pitchFamily="34" charset="-122"/>
                <a:cs typeface="Calibri" pitchFamily="34" charset="-120"/>
              </a:rPr>
              <a:t>Whom to contact: </a:t>
            </a:r>
            <a:pPr indent="0" marL="0">
              <a:buNone/>
            </a:pPr>
            <a:r>
              <a:rPr lang="en-US" sz="1250" dirty="0">
                <a:solidFill>
                  <a:srgbClr val="24313A"/>
                </a:solidFill>
                <a:latin typeface="Calibri" pitchFamily="34" charset="0"/>
                <a:ea typeface="Calibri" pitchFamily="34" charset="-122"/>
                <a:cs typeface="Calibri" pitchFamily="34" charset="-120"/>
              </a:rPr>
              <a:t>Portuguese Ministry of Education, Directorate-General for School Administration, teacher recruitment.</a:t>
            </a:r>
            <a:endParaRPr lang="en-US" sz="1250" dirty="0"/>
          </a:p>
        </p:txBody>
      </p:sp>
      <p:sp>
        <p:nvSpPr>
          <p:cNvPr id="11" name="Shape 8"/>
          <p:cNvSpPr/>
          <p:nvPr/>
        </p:nvSpPr>
        <p:spPr>
          <a:xfrm>
            <a:off x="5760720" y="1417320"/>
            <a:ext cx="5879592" cy="3429000"/>
          </a:xfrm>
          <a:prstGeom prst="roundRect">
            <a:avLst>
              <a:gd name="adj" fmla="val 3200"/>
            </a:avLst>
          </a:prstGeom>
          <a:solidFill>
            <a:srgbClr val="EAF2EE"/>
          </a:solidFill>
          <a:ln w="12700">
            <a:solidFill>
              <a:srgbClr val="EAF2EE"/>
            </a:solidFill>
            <a:prstDash val="solid"/>
          </a:ln>
        </p:spPr>
      </p:sp>
      <p:sp>
        <p:nvSpPr>
          <p:cNvPr id="12" name="Text 9"/>
          <p:cNvSpPr txBox="1"/>
          <p:nvPr/>
        </p:nvSpPr>
        <p:spPr>
          <a:xfrm>
            <a:off x="6035040" y="1554480"/>
            <a:ext cx="5394960" cy="411480"/>
          </a:xfrm>
          <a:prstGeom prst="rect">
            <a:avLst/>
          </a:prstGeom>
          <a:noFill/>
          <a:ln/>
        </p:spPr>
        <p:txBody>
          <a:bodyPr wrap="square" lIns="0" tIns="0" rIns="0" bIns="0" rtlCol="0" anchor="ctr"/>
          <a:lstStyle/>
          <a:p>
            <a:pPr indent="0" marL="0">
              <a:buNone/>
            </a:pPr>
            <a:r>
              <a:rPr lang="en-US" sz="1500" b="1" dirty="0">
                <a:solidFill>
                  <a:srgbClr val="B3542E"/>
                </a:solidFill>
                <a:latin typeface="Calibri" pitchFamily="34" charset="0"/>
                <a:ea typeface="Calibri" pitchFamily="34" charset="-122"/>
                <a:cs typeface="Calibri" pitchFamily="34" charset="-120"/>
              </a:rPr>
              <a:t>What we would like to know</a:t>
            </a:r>
            <a:endParaRPr lang="en-US" sz="1500" dirty="0"/>
          </a:p>
        </p:txBody>
      </p:sp>
      <p:sp>
        <p:nvSpPr>
          <p:cNvPr id="13" name="Text 10"/>
          <p:cNvSpPr txBox="1"/>
          <p:nvPr/>
        </p:nvSpPr>
        <p:spPr>
          <a:xfrm>
            <a:off x="6035040" y="2057400"/>
            <a:ext cx="5349240" cy="4023360"/>
          </a:xfrm>
          <a:prstGeom prst="rect">
            <a:avLst/>
          </a:prstGeom>
          <a:noFill/>
          <a:ln/>
        </p:spPr>
        <p:txBody>
          <a:bodyPr wrap="square" lIns="0" tIns="0" rIns="0" bIns="0" rtlCol="0" anchor="t"/>
          <a:lstStyle/>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led the ministry to open these posts to retired teachers, and how was the quota agreed with the finance ministry?</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How did the first round go, from the posts offered to the teachers who actually started?</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do you know about why retired teachers turned the offer down, and what those who accepted were looking for?</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How has the measure been adjusted since, and what would make it work better?</a:t>
            </a:r>
            <a:endParaRPr lang="en-US" sz="1450" dirty="0"/>
          </a:p>
        </p:txBody>
      </p:sp>
      <p:sp>
        <p:nvSpPr>
          <p:cNvPr id="14" name="Text 11"/>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058400" cy="640080"/>
          </a:xfrm>
          <a:prstGeom prst="rect">
            <a:avLst/>
          </a:prstGeom>
          <a:noFill/>
          <a:ln/>
        </p:spPr>
        <p:txBody>
          <a:bodyPr wrap="square" lIns="0" tIns="0" rIns="0" bIns="0" rtlCol="0" anchor="ctr"/>
          <a:lstStyle/>
          <a:p>
            <a:pPr indent="0" marL="0">
              <a:buNone/>
            </a:pPr>
            <a:r>
              <a:rPr lang="en-US" sz="3000" b="1" dirty="0">
                <a:solidFill>
                  <a:srgbClr val="24313A"/>
                </a:solidFill>
                <a:latin typeface="Cambria" pitchFamily="34" charset="0"/>
                <a:ea typeface="Cambria" pitchFamily="34" charset="-122"/>
                <a:cs typeface="Cambria" pitchFamily="34" charset="-120"/>
              </a:rPr>
              <a:t>If one of them does not answer</a:t>
            </a:r>
            <a:endParaRPr lang="en-US" sz="3000" dirty="0"/>
          </a:p>
        </p:txBody>
      </p:sp>
      <p:sp>
        <p:nvSpPr>
          <p:cNvPr id="3" name="Shape 1"/>
          <p:cNvSpPr/>
          <p:nvPr/>
        </p:nvSpPr>
        <p:spPr>
          <a:xfrm>
            <a:off x="548640" y="1234440"/>
            <a:ext cx="11064240" cy="896112"/>
          </a:xfrm>
          <a:prstGeom prst="roundRect">
            <a:avLst>
              <a:gd name="adj" fmla="val 10204"/>
            </a:avLst>
          </a:prstGeom>
          <a:solidFill>
            <a:srgbClr val="EAF2EE"/>
          </a:solidFill>
          <a:ln w="12700">
            <a:solidFill>
              <a:srgbClr val="EAF2EE"/>
            </a:solidFill>
            <a:prstDash val="solid"/>
          </a:ln>
        </p:spPr>
      </p:sp>
      <p:sp>
        <p:nvSpPr>
          <p:cNvPr id="4" name="Text 2"/>
          <p:cNvSpPr txBox="1"/>
          <p:nvPr/>
        </p:nvSpPr>
        <p:spPr>
          <a:xfrm>
            <a:off x="777240" y="1307592"/>
            <a:ext cx="10607040" cy="749808"/>
          </a:xfrm>
          <a:prstGeom prst="rect">
            <a:avLst/>
          </a:prstGeom>
          <a:noFill/>
          <a:ln/>
        </p:spPr>
        <p:txBody>
          <a:bodyPr wrap="square" lIns="0" tIns="0" rIns="0" bIns="0" rtlCol="0" anchor="ctr"/>
          <a:lstStyle/>
          <a:p>
            <a:pPr indent="0" marL="0">
              <a:buNone/>
            </a:pPr>
            <a:r>
              <a:rPr lang="en-US" sz="1250" b="1" dirty="0">
                <a:solidFill>
                  <a:srgbClr val="24313A"/>
                </a:solidFill>
                <a:latin typeface="Calibri" pitchFamily="34" charset="0"/>
                <a:ea typeface="Calibri" pitchFamily="34" charset="-122"/>
                <a:cs typeface="Calibri" pitchFamily="34" charset="-120"/>
              </a:rPr>
              <a:t>Germany (Lower Saxony), earnings ceiling and letter to retiring teachers</a:t>
            </a:r>
            <a:endParaRPr lang="en-US" sz="1250" dirty="0"/>
          </a:p>
          <a:p>
            <a:pPr indent="0" marL="0">
              <a:buNone/>
            </a:pPr>
            <a:r>
              <a:rPr lang="en-US" sz="1250" dirty="0">
                <a:solidFill>
                  <a:srgbClr val="24313A"/>
                </a:solidFill>
                <a:latin typeface="Calibri" pitchFamily="34" charset="0"/>
                <a:ea typeface="Calibri" pitchFamily="34" charset="-122"/>
                <a:cs typeface="Calibri" pitchFamily="34" charset="-120"/>
              </a:rPr>
              <a:t>A clean before-and-after: the ceiling was raised in 2022 and abolished in 2024, with a letter campaign in between. Pension records would show how many hours pensioners now teach.</a:t>
            </a:r>
            <a:endParaRPr lang="en-US" sz="1250" dirty="0"/>
          </a:p>
        </p:txBody>
      </p:sp>
      <p:sp>
        <p:nvSpPr>
          <p:cNvPr id="5" name="Shape 3"/>
          <p:cNvSpPr/>
          <p:nvPr/>
        </p:nvSpPr>
        <p:spPr>
          <a:xfrm>
            <a:off x="548640" y="2221992"/>
            <a:ext cx="11064240" cy="896112"/>
          </a:xfrm>
          <a:prstGeom prst="roundRect">
            <a:avLst>
              <a:gd name="adj" fmla="val 10204"/>
            </a:avLst>
          </a:prstGeom>
          <a:solidFill>
            <a:srgbClr val="EAF2EE"/>
          </a:solidFill>
          <a:ln w="12700">
            <a:solidFill>
              <a:srgbClr val="EAF2EE"/>
            </a:solidFill>
            <a:prstDash val="solid"/>
          </a:ln>
        </p:spPr>
      </p:sp>
      <p:sp>
        <p:nvSpPr>
          <p:cNvPr id="6" name="Text 4"/>
          <p:cNvSpPr txBox="1"/>
          <p:nvPr/>
        </p:nvSpPr>
        <p:spPr>
          <a:xfrm>
            <a:off x="777240" y="2295144"/>
            <a:ext cx="10607040" cy="749808"/>
          </a:xfrm>
          <a:prstGeom prst="rect">
            <a:avLst/>
          </a:prstGeom>
          <a:noFill/>
          <a:ln/>
        </p:spPr>
        <p:txBody>
          <a:bodyPr wrap="square" lIns="0" tIns="0" rIns="0" bIns="0" rtlCol="0" anchor="ctr"/>
          <a:lstStyle/>
          <a:p>
            <a:pPr indent="0" marL="0">
              <a:buNone/>
            </a:pPr>
            <a:r>
              <a:rPr lang="en-US" sz="1250" b="1" dirty="0">
                <a:solidFill>
                  <a:srgbClr val="24313A"/>
                </a:solidFill>
                <a:latin typeface="Calibri" pitchFamily="34" charset="0"/>
                <a:ea typeface="Calibri" pitchFamily="34" charset="-122"/>
                <a:cs typeface="Calibri" pitchFamily="34" charset="-120"/>
              </a:rPr>
              <a:t>New Zealand, streamlined return with fees covered</a:t>
            </a:r>
            <a:endParaRPr lang="en-US" sz="1250" dirty="0"/>
          </a:p>
          <a:p>
            <a:pPr indent="0" marL="0">
              <a:buNone/>
            </a:pPr>
            <a:r>
              <a:rPr lang="en-US" sz="1250" dirty="0">
                <a:solidFill>
                  <a:srgbClr val="24313A"/>
                </a:solidFill>
                <a:latin typeface="Calibri" pitchFamily="34" charset="0"/>
                <a:ea typeface="Calibri" pitchFamily="34" charset="-122"/>
                <a:cs typeface="Calibri" pitchFamily="34" charset="-120"/>
              </a:rPr>
              <a:t>352 returners counted by April 2025; the Ministry monitors the pathway and could say who returns and whether they stay.</a:t>
            </a:r>
            <a:endParaRPr lang="en-US" sz="1250" dirty="0"/>
          </a:p>
        </p:txBody>
      </p:sp>
      <p:sp>
        <p:nvSpPr>
          <p:cNvPr id="7" name="Shape 5"/>
          <p:cNvSpPr/>
          <p:nvPr/>
        </p:nvSpPr>
        <p:spPr>
          <a:xfrm>
            <a:off x="548640" y="3209544"/>
            <a:ext cx="11064240" cy="896112"/>
          </a:xfrm>
          <a:prstGeom prst="roundRect">
            <a:avLst>
              <a:gd name="adj" fmla="val 10204"/>
            </a:avLst>
          </a:prstGeom>
          <a:solidFill>
            <a:srgbClr val="EAF2EE"/>
          </a:solidFill>
          <a:ln w="12700">
            <a:solidFill>
              <a:srgbClr val="EAF2EE"/>
            </a:solidFill>
            <a:prstDash val="solid"/>
          </a:ln>
        </p:spPr>
      </p:sp>
      <p:sp>
        <p:nvSpPr>
          <p:cNvPr id="8" name="Text 6"/>
          <p:cNvSpPr txBox="1"/>
          <p:nvPr/>
        </p:nvSpPr>
        <p:spPr>
          <a:xfrm>
            <a:off x="777240" y="3282696"/>
            <a:ext cx="10607040" cy="749808"/>
          </a:xfrm>
          <a:prstGeom prst="rect">
            <a:avLst/>
          </a:prstGeom>
          <a:noFill/>
          <a:ln/>
        </p:spPr>
        <p:txBody>
          <a:bodyPr wrap="square" lIns="0" tIns="0" rIns="0" bIns="0" rtlCol="0" anchor="ctr"/>
          <a:lstStyle/>
          <a:p>
            <a:pPr indent="0" marL="0">
              <a:buNone/>
            </a:pPr>
            <a:r>
              <a:rPr lang="en-US" sz="1250" b="1" dirty="0">
                <a:solidFill>
                  <a:srgbClr val="24313A"/>
                </a:solidFill>
                <a:latin typeface="Calibri" pitchFamily="34" charset="0"/>
                <a:ea typeface="Calibri" pitchFamily="34" charset="-122"/>
                <a:cs typeface="Calibri" pitchFamily="34" charset="-120"/>
              </a:rPr>
              <a:t>United States (New Mexico), Educational Retirees Returning to Work Act (2022)</a:t>
            </a:r>
            <a:endParaRPr lang="en-US" sz="1250" dirty="0"/>
          </a:p>
          <a:p>
            <a:pPr indent="0" marL="0">
              <a:buNone/>
            </a:pPr>
            <a:r>
              <a:rPr lang="en-US" sz="1250" dirty="0">
                <a:solidFill>
                  <a:srgbClr val="24313A"/>
                </a:solidFill>
                <a:latin typeface="Calibri" pitchFamily="34" charset="0"/>
                <a:ea typeface="Calibri" pitchFamily="34" charset="-122"/>
                <a:cs typeface="Calibri" pitchFamily="34" charset="-120"/>
              </a:rPr>
              <a:t>Every returning retiree must be approved by the Educational Retirement Board, so exact counts of applications, approvals and destinations exist; the three-year cap shows how long returners stay.</a:t>
            </a:r>
            <a:endParaRPr lang="en-US" sz="1250" dirty="0"/>
          </a:p>
        </p:txBody>
      </p:sp>
      <p:sp>
        <p:nvSpPr>
          <p:cNvPr id="9" name="Shape 7"/>
          <p:cNvSpPr/>
          <p:nvPr/>
        </p:nvSpPr>
        <p:spPr>
          <a:xfrm>
            <a:off x="548640" y="4197096"/>
            <a:ext cx="11064240" cy="896112"/>
          </a:xfrm>
          <a:prstGeom prst="roundRect">
            <a:avLst>
              <a:gd name="adj" fmla="val 10204"/>
            </a:avLst>
          </a:prstGeom>
          <a:solidFill>
            <a:srgbClr val="EAF2EE"/>
          </a:solidFill>
          <a:ln w="12700">
            <a:solidFill>
              <a:srgbClr val="EAF2EE"/>
            </a:solidFill>
            <a:prstDash val="solid"/>
          </a:ln>
        </p:spPr>
      </p:sp>
      <p:sp>
        <p:nvSpPr>
          <p:cNvPr id="10" name="Text 8"/>
          <p:cNvSpPr txBox="1"/>
          <p:nvPr/>
        </p:nvSpPr>
        <p:spPr>
          <a:xfrm>
            <a:off x="777240" y="4270248"/>
            <a:ext cx="10607040" cy="749808"/>
          </a:xfrm>
          <a:prstGeom prst="rect">
            <a:avLst/>
          </a:prstGeom>
          <a:noFill/>
          <a:ln/>
        </p:spPr>
        <p:txBody>
          <a:bodyPr wrap="square" lIns="0" tIns="0" rIns="0" bIns="0" rtlCol="0" anchor="ctr"/>
          <a:lstStyle/>
          <a:p>
            <a:pPr indent="0" marL="0">
              <a:buNone/>
            </a:pPr>
            <a:r>
              <a:rPr lang="en-US" sz="1250" b="1" dirty="0">
                <a:solidFill>
                  <a:srgbClr val="24313A"/>
                </a:solidFill>
                <a:latin typeface="Calibri" pitchFamily="34" charset="0"/>
                <a:ea typeface="Calibri" pitchFamily="34" charset="-122"/>
                <a:cs typeface="Calibri" pitchFamily="34" charset="-120"/>
              </a:rPr>
              <a:t>Singapore, Flexi-Adjunct Teaching Scheme</a:t>
            </a:r>
            <a:endParaRPr lang="en-US" sz="1250" dirty="0"/>
          </a:p>
          <a:p>
            <a:pPr indent="0" marL="0">
              <a:buNone/>
            </a:pPr>
            <a:r>
              <a:rPr lang="en-US" sz="1250" dirty="0">
                <a:solidFill>
                  <a:srgbClr val="24313A"/>
                </a:solidFill>
                <a:latin typeface="Calibri" pitchFamily="34" charset="0"/>
                <a:ea typeface="Calibri" pitchFamily="34" charset="-122"/>
                <a:cs typeface="Calibri" pitchFamily="34" charset="-120"/>
              </a:rPr>
              <a:t>A standing register of former teachers with published figures on how many join after leaving the service; the ministry could say how long they stay and what they do next.</a:t>
            </a:r>
            <a:endParaRPr lang="en-US" sz="1250" dirty="0"/>
          </a:p>
        </p:txBody>
      </p:sp>
      <p:sp>
        <p:nvSpPr>
          <p:cNvPr id="11" name="Text 9"/>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Countries to contact</dc:title>
  <dc:subject>PptxGenJS Presentation</dc:subject>
  <dc:creator>José Manuel Torres, José Elías Durán Roa</dc:creator>
  <cp:lastModifiedBy>José Manuel Torres, José Elías Durán Roa</cp:lastModifiedBy>
  <cp:revision>1</cp:revision>
  <dcterms:created xsi:type="dcterms:W3CDTF">2026-09-18T12:02:36Z</dcterms:created>
  <dcterms:modified xsi:type="dcterms:W3CDTF">2026-09-18T12:02:36Z</dcterms:modified>
</cp:coreProperties>
</file>