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questions for a first contact; sources and figures as in the main deck (slide on this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46"/>
        </a:solidFill>
      </p:bgPr>
    </p:bg>
    <p:spTree>
      <p:nvGrpSpPr>
        <p:cNvPr id="1" name=""/>
        <p:cNvGrpSpPr/>
        <p:nvPr/>
      </p:nvGrpSpPr>
      <p:grpSpPr>
        <a:xfrm>
          <a:off x="0" y="0"/>
          <a:ext cx="0" cy="0"/>
          <a:chOff x="0" y="0"/>
          <a:chExt cx="0" cy="0"/>
        </a:xfrm>
      </p:grpSpPr>
      <p:sp>
        <p:nvSpPr>
          <p:cNvPr id="2" name="Text 0"/>
          <p:cNvSpPr txBox="1"/>
          <p:nvPr/>
        </p:nvSpPr>
        <p:spPr>
          <a:xfrm>
            <a:off x="731520" y="1463040"/>
            <a:ext cx="10698480" cy="100584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Three countries to contact</a:t>
            </a:r>
            <a:endParaRPr lang="en-US" sz="4400" dirty="0"/>
          </a:p>
        </p:txBody>
      </p:sp>
      <p:sp>
        <p:nvSpPr>
          <p:cNvPr id="3" name="Text 1"/>
          <p:cNvSpPr txBox="1"/>
          <p:nvPr/>
        </p:nvSpPr>
        <p:spPr>
          <a:xfrm>
            <a:off x="731520" y="2606040"/>
            <a:ext cx="10698480" cy="731520"/>
          </a:xfrm>
          <a:prstGeom prst="rect">
            <a:avLst/>
          </a:prstGeom>
          <a:noFill/>
          <a:ln/>
        </p:spPr>
        <p:txBody>
          <a:bodyPr wrap="square" lIns="0" tIns="0" rIns="0" bIns="0" rtlCol="0" anchor="ctr"/>
          <a:lstStyle/>
          <a:p>
            <a:pPr indent="0" marL="0">
              <a:buNone/>
            </a:pPr>
            <a:r>
              <a:rPr lang="en-US" sz="2000" dirty="0">
                <a:solidFill>
                  <a:srgbClr val="CFE3D9"/>
                </a:solidFill>
                <a:latin typeface="Calibri" pitchFamily="34" charset="0"/>
                <a:ea typeface="Calibri" pitchFamily="34" charset="-122"/>
                <a:cs typeface="Calibri" pitchFamily="34" charset="-120"/>
              </a:rPr>
              <a:t>Re-attracting former teachers: the policies we want to ask about, and what we would like to learn</a:t>
            </a:r>
            <a:endParaRPr lang="en-US" sz="2000" dirty="0"/>
          </a:p>
        </p:txBody>
      </p:sp>
      <p:sp>
        <p:nvSpPr>
          <p:cNvPr id="4" name="Text 2"/>
          <p:cNvSpPr txBox="1"/>
          <p:nvPr/>
        </p:nvSpPr>
        <p:spPr>
          <a:xfrm>
            <a:off x="731520" y="3931920"/>
            <a:ext cx="9144000" cy="365760"/>
          </a:xfrm>
          <a:prstGeom prst="rect">
            <a:avLst/>
          </a:prstGeom>
          <a:noFill/>
          <a:ln/>
        </p:spPr>
        <p:txBody>
          <a:bodyPr wrap="square" lIns="0" tIns="0" rIns="0" bIns="0" rtlCol="0" anchor="ctr"/>
          <a:lstStyle/>
          <a:p>
            <a:pPr indent="0" marL="0">
              <a:buNone/>
            </a:pPr>
            <a:r>
              <a:rPr lang="en-US" sz="1300" dirty="0">
                <a:solidFill>
                  <a:srgbClr val="CFE3D9"/>
                </a:solidFill>
                <a:latin typeface="Calibri" pitchFamily="34" charset="0"/>
                <a:ea typeface="Calibri" pitchFamily="34" charset="-122"/>
                <a:cs typeface="Calibri" pitchFamily="34" charset="-120"/>
              </a:rPr>
              <a:t>José Manuel Torres – José Elías Durán Roa  ·  September 2026</a:t>
            </a:r>
            <a:endParaRPr lang="en-US" sz="1300" dirty="0"/>
          </a:p>
        </p:txBody>
      </p:sp>
      <p:pic>
        <p:nvPicPr>
          <p:cNvPr id="5" name="Image 0" descr="preencoded.png">    </p:cNvPr>
          <p:cNvPicPr>
            <a:picLocks noChangeAspect="1"/>
          </p:cNvPicPr>
          <p:nvPr/>
        </p:nvPicPr>
        <p:blipFill>
          <a:blip r:embed="rId1"/>
          <a:stretch>
            <a:fillRect/>
          </a:stretch>
        </p:blipFill>
        <p:spPr>
          <a:xfrm>
            <a:off x="731520" y="4937760"/>
            <a:ext cx="914400" cy="685800"/>
          </a:xfrm>
          <a:prstGeom prst="rect">
            <a:avLst/>
          </a:prstGeom>
        </p:spPr>
      </p:pic>
      <p:pic>
        <p:nvPicPr>
          <p:cNvPr id="6" name="Image 1" descr="preencoded.png">    </p:cNvPr>
          <p:cNvPicPr>
            <a:picLocks noChangeAspect="1"/>
          </p:cNvPicPr>
          <p:nvPr/>
        </p:nvPicPr>
        <p:blipFill>
          <a:blip r:embed="rId2"/>
          <a:stretch>
            <a:fillRect/>
          </a:stretch>
        </p:blipFill>
        <p:spPr>
          <a:xfrm>
            <a:off x="1874520" y="4937760"/>
            <a:ext cx="914400" cy="685800"/>
          </a:xfrm>
          <a:prstGeom prst="rect">
            <a:avLst/>
          </a:prstGeom>
        </p:spPr>
      </p:pic>
      <p:pic>
        <p:nvPicPr>
          <p:cNvPr id="7" name="Image 2" descr="preencoded.png">    </p:cNvPr>
          <p:cNvPicPr>
            <a:picLocks noChangeAspect="1"/>
          </p:cNvPicPr>
          <p:nvPr/>
        </p:nvPicPr>
        <p:blipFill>
          <a:blip r:embed="rId3"/>
          <a:stretch>
            <a:fillRect/>
          </a:stretch>
        </p:blipFill>
        <p:spPr>
          <a:xfrm>
            <a:off x="3017520" y="4937760"/>
            <a:ext cx="914400" cy="685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640080"/>
          </a:xfrm>
          <a:prstGeom prst="rect">
            <a:avLst/>
          </a:prstGeom>
          <a:noFill/>
          <a:ln/>
        </p:spPr>
        <p:txBody>
          <a:bodyPr wrap="square" lIns="0" tIns="0" rIns="0" bIns="0" rtlCol="0" anchor="ctr"/>
          <a:lstStyle/>
          <a:p>
            <a:pPr indent="0" marL="0">
              <a:buNone/>
            </a:pPr>
            <a:r>
              <a:rPr lang="en-US" sz="3200" b="1" dirty="0">
                <a:solidFill>
                  <a:srgbClr val="24313A"/>
                </a:solidFill>
                <a:latin typeface="Cambria" pitchFamily="34" charset="0"/>
                <a:ea typeface="Cambria" pitchFamily="34" charset="-122"/>
                <a:cs typeface="Cambria" pitchFamily="34" charset="-120"/>
              </a:rPr>
              <a:t>Why these three</a:t>
            </a:r>
            <a:endParaRPr lang="en-US" sz="3200" dirty="0"/>
          </a:p>
        </p:txBody>
      </p:sp>
      <p:sp>
        <p:nvSpPr>
          <p:cNvPr id="3" name="Text 1"/>
          <p:cNvSpPr txBox="1"/>
          <p:nvPr/>
        </p:nvSpPr>
        <p:spPr>
          <a:xfrm>
            <a:off x="548640" y="1188720"/>
            <a:ext cx="11064240" cy="1005840"/>
          </a:xfrm>
          <a:prstGeom prst="rect">
            <a:avLst/>
          </a:prstGeom>
          <a:noFill/>
          <a:ln/>
        </p:spPr>
        <p:txBody>
          <a:bodyPr wrap="square" lIns="0" tIns="0" rIns="0" bIns="0" rtlCol="0" anchor="t"/>
          <a:lstStyle/>
          <a:p>
            <a:pPr indent="0" marL="0">
              <a:buNone/>
            </a:pPr>
            <a:r>
              <a:rPr lang="en-US" sz="1450" dirty="0">
                <a:solidFill>
                  <a:srgbClr val="24313A"/>
                </a:solidFill>
                <a:latin typeface="Calibri" pitchFamily="34" charset="0"/>
                <a:ea typeface="Calibri" pitchFamily="34" charset="-122"/>
                <a:cs typeface="Calibri" pitchFamily="34" charset="-120"/>
              </a:rPr>
              <a:t>We chose the countries we can learn most from, not the ones with the most or the least information. Each one meets three tests: the policy is real and recent, it works through a different instrument from the other two, and the questions we care about have answers sitting in the administration's own records rather than in what has been published.</a:t>
            </a:r>
            <a:endParaRPr lang="en-US" sz="1450" dirty="0"/>
          </a:p>
        </p:txBody>
      </p:sp>
      <p:sp>
        <p:nvSpPr>
          <p:cNvPr id="4" name="Shape 2"/>
          <p:cNvSpPr/>
          <p:nvPr/>
        </p:nvSpPr>
        <p:spPr>
          <a:xfrm>
            <a:off x="548640" y="2468880"/>
            <a:ext cx="11064240" cy="1234440"/>
          </a:xfrm>
          <a:prstGeom prst="roundRect">
            <a:avLst>
              <a:gd name="adj" fmla="val 7407"/>
            </a:avLst>
          </a:prstGeom>
          <a:solidFill>
            <a:srgbClr val="EAF2EE"/>
          </a:solidFill>
          <a:ln w="12700">
            <a:solidFill>
              <a:srgbClr val="EAF2EE"/>
            </a:solidFill>
            <a:prstDash val="solid"/>
          </a:ln>
        </p:spPr>
      </p:sp>
      <p:pic>
        <p:nvPicPr>
          <p:cNvPr id="5" name="Image 0" descr="preencoded.png">    </p:cNvPr>
          <p:cNvPicPr>
            <a:picLocks noChangeAspect="1"/>
          </p:cNvPicPr>
          <p:nvPr/>
        </p:nvPicPr>
        <p:blipFill>
          <a:blip r:embed="rId1"/>
          <a:stretch>
            <a:fillRect/>
          </a:stretch>
        </p:blipFill>
        <p:spPr>
          <a:xfrm>
            <a:off x="777240" y="2770632"/>
            <a:ext cx="841248" cy="630936"/>
          </a:xfrm>
          <a:prstGeom prst="rect">
            <a:avLst/>
          </a:prstGeom>
        </p:spPr>
      </p:pic>
      <p:sp>
        <p:nvSpPr>
          <p:cNvPr id="6" name="Text 3"/>
          <p:cNvSpPr txBox="1"/>
          <p:nvPr/>
        </p:nvSpPr>
        <p:spPr>
          <a:xfrm>
            <a:off x="1828800" y="2578608"/>
            <a:ext cx="9601200" cy="1024128"/>
          </a:xfrm>
          <a:prstGeom prst="rect">
            <a:avLst/>
          </a:prstGeom>
          <a:noFill/>
          <a:ln/>
        </p:spPr>
        <p:txBody>
          <a:bodyPr wrap="square" lIns="0" tIns="0" rIns="0" bIns="0" rtlCol="0" anchor="ctr"/>
          <a:lstStyle/>
          <a:p>
            <a:pPr indent="0" marL="0">
              <a:buNone/>
            </a:pPr>
            <a:r>
              <a:rPr lang="en-US" sz="1300" b="1" dirty="0">
                <a:solidFill>
                  <a:srgbClr val="24313A"/>
                </a:solidFill>
                <a:latin typeface="Calibri" pitchFamily="34" charset="0"/>
                <a:ea typeface="Calibri" pitchFamily="34" charset="-122"/>
                <a:cs typeface="Calibri" pitchFamily="34" charset="-120"/>
              </a:rPr>
              <a:t>Australia (New South Wales): Teachers Re-Engage (2023–24)</a:t>
            </a:r>
            <a:endParaRPr lang="en-US" sz="1300" dirty="0"/>
          </a:p>
          <a:p>
            <a:pPr indent="0" marL="0">
              <a:buNone/>
            </a:pPr>
            <a:r>
              <a:rPr lang="en-US" sz="1300" dirty="0">
                <a:solidFill>
                  <a:srgbClr val="24313A"/>
                </a:solidFill>
                <a:latin typeface="Calibri" pitchFamily="34" charset="0"/>
                <a:ea typeface="Calibri" pitchFamily="34" charset="-122"/>
                <a:cs typeface="Calibri" pitchFamily="34" charset="-120"/>
              </a:rPr>
              <a:t>It is the cleanest example of a direct-outreach nudge with a published funnel from contacts to placements, and the missing pieces (cost, retention, who came back) exist in the department's records.</a:t>
            </a:r>
            <a:endParaRPr lang="en-US" sz="1300" dirty="0"/>
          </a:p>
        </p:txBody>
      </p:sp>
      <p:sp>
        <p:nvSpPr>
          <p:cNvPr id="7" name="Shape 4"/>
          <p:cNvSpPr/>
          <p:nvPr/>
        </p:nvSpPr>
        <p:spPr>
          <a:xfrm>
            <a:off x="548640" y="3840480"/>
            <a:ext cx="11064240" cy="1234440"/>
          </a:xfrm>
          <a:prstGeom prst="roundRect">
            <a:avLst>
              <a:gd name="adj" fmla="val 7407"/>
            </a:avLst>
          </a:prstGeom>
          <a:solidFill>
            <a:srgbClr val="EAF2EE"/>
          </a:solidFill>
          <a:ln w="12700">
            <a:solidFill>
              <a:srgbClr val="EAF2EE"/>
            </a:solidFill>
            <a:prstDash val="solid"/>
          </a:ln>
        </p:spPr>
      </p:sp>
      <p:pic>
        <p:nvPicPr>
          <p:cNvPr id="8" name="Image 1" descr="preencoded.png">    </p:cNvPr>
          <p:cNvPicPr>
            <a:picLocks noChangeAspect="1"/>
          </p:cNvPicPr>
          <p:nvPr/>
        </p:nvPicPr>
        <p:blipFill>
          <a:blip r:embed="rId2"/>
          <a:stretch>
            <a:fillRect/>
          </a:stretch>
        </p:blipFill>
        <p:spPr>
          <a:xfrm>
            <a:off x="777240" y="4142232"/>
            <a:ext cx="841248" cy="630936"/>
          </a:xfrm>
          <a:prstGeom prst="rect">
            <a:avLst/>
          </a:prstGeom>
        </p:spPr>
      </p:pic>
      <p:sp>
        <p:nvSpPr>
          <p:cNvPr id="9" name="Text 5"/>
          <p:cNvSpPr txBox="1"/>
          <p:nvPr/>
        </p:nvSpPr>
        <p:spPr>
          <a:xfrm>
            <a:off x="1828800" y="3950208"/>
            <a:ext cx="9601200" cy="1024128"/>
          </a:xfrm>
          <a:prstGeom prst="rect">
            <a:avLst/>
          </a:prstGeom>
          <a:noFill/>
          <a:ln/>
        </p:spPr>
        <p:txBody>
          <a:bodyPr wrap="square" lIns="0" tIns="0" rIns="0" bIns="0" rtlCol="0" anchor="ctr"/>
          <a:lstStyle/>
          <a:p>
            <a:pPr indent="0" marL="0">
              <a:buNone/>
            </a:pPr>
            <a:r>
              <a:rPr lang="en-US" sz="1300" b="1" dirty="0">
                <a:solidFill>
                  <a:srgbClr val="24313A"/>
                </a:solidFill>
                <a:latin typeface="Calibri" pitchFamily="34" charset="0"/>
                <a:ea typeface="Calibri" pitchFamily="34" charset="-122"/>
                <a:cs typeface="Calibri" pitchFamily="34" charset="-120"/>
              </a:rPr>
              <a:t>Canada (Quebec): Incentive pay for retired teachers who return (since 2020, permanent)</a:t>
            </a:r>
            <a:endParaRPr lang="en-US" sz="1300" dirty="0"/>
          </a:p>
          <a:p>
            <a:pPr indent="0" marL="0">
              <a:buNone/>
            </a:pPr>
            <a:r>
              <a:rPr lang="en-US" sz="1300" dirty="0">
                <a:solidFill>
                  <a:srgbClr val="24313A"/>
                </a:solidFill>
                <a:latin typeface="Calibri" pitchFamily="34" charset="0"/>
                <a:ea typeface="Calibri" pitchFamily="34" charset="-122"/>
                <a:cs typeface="Calibri" pitchFamily="34" charset="-120"/>
              </a:rPr>
              <a:t>It is the only financial incentive for retirees running at large scale and now permanent, so the ministry can show whether money changes behaviour, at what cost, and with what side effects on active substitutes and on retirement decisions.</a:t>
            </a:r>
            <a:endParaRPr lang="en-US" sz="1300" dirty="0"/>
          </a:p>
        </p:txBody>
      </p:sp>
      <p:sp>
        <p:nvSpPr>
          <p:cNvPr id="10" name="Shape 6"/>
          <p:cNvSpPr/>
          <p:nvPr/>
        </p:nvSpPr>
        <p:spPr>
          <a:xfrm>
            <a:off x="548640" y="5212080"/>
            <a:ext cx="11064240" cy="1234440"/>
          </a:xfrm>
          <a:prstGeom prst="roundRect">
            <a:avLst>
              <a:gd name="adj" fmla="val 7407"/>
            </a:avLst>
          </a:prstGeom>
          <a:solidFill>
            <a:srgbClr val="EAF2EE"/>
          </a:solidFill>
          <a:ln w="12700">
            <a:solidFill>
              <a:srgbClr val="EAF2EE"/>
            </a:solidFill>
            <a:prstDash val="solid"/>
          </a:ln>
        </p:spPr>
      </p:sp>
      <p:pic>
        <p:nvPicPr>
          <p:cNvPr id="11" name="Image 2" descr="preencoded.png">    </p:cNvPr>
          <p:cNvPicPr>
            <a:picLocks noChangeAspect="1"/>
          </p:cNvPicPr>
          <p:nvPr/>
        </p:nvPicPr>
        <p:blipFill>
          <a:blip r:embed="rId3"/>
          <a:stretch>
            <a:fillRect/>
          </a:stretch>
        </p:blipFill>
        <p:spPr>
          <a:xfrm>
            <a:off x="777240" y="5513832"/>
            <a:ext cx="841248" cy="630936"/>
          </a:xfrm>
          <a:prstGeom prst="rect">
            <a:avLst/>
          </a:prstGeom>
        </p:spPr>
      </p:pic>
      <p:sp>
        <p:nvSpPr>
          <p:cNvPr id="12" name="Text 7"/>
          <p:cNvSpPr txBox="1"/>
          <p:nvPr/>
        </p:nvSpPr>
        <p:spPr>
          <a:xfrm>
            <a:off x="1828800" y="5321808"/>
            <a:ext cx="9601200" cy="1024128"/>
          </a:xfrm>
          <a:prstGeom prst="rect">
            <a:avLst/>
          </a:prstGeom>
          <a:noFill/>
          <a:ln/>
        </p:spPr>
        <p:txBody>
          <a:bodyPr wrap="square" lIns="0" tIns="0" rIns="0" bIns="0" rtlCol="0" anchor="ctr"/>
          <a:lstStyle/>
          <a:p>
            <a:pPr indent="0" marL="0">
              <a:buNone/>
            </a:pPr>
            <a:r>
              <a:rPr lang="en-US" sz="1300" b="1" dirty="0">
                <a:solidFill>
                  <a:srgbClr val="24313A"/>
                </a:solidFill>
                <a:latin typeface="Calibri" pitchFamily="34" charset="0"/>
                <a:ea typeface="Calibri" pitchFamily="34" charset="-122"/>
                <a:cs typeface="Calibri" pitchFamily="34" charset="-120"/>
              </a:rPr>
              <a:t>Netherlands: Grant to primary schools for re-hiring former teachers (2017–2020)</a:t>
            </a:r>
            <a:endParaRPr lang="en-US" sz="1300" dirty="0"/>
          </a:p>
          <a:p>
            <a:pPr indent="0" marL="0">
              <a:buNone/>
            </a:pPr>
            <a:r>
              <a:rPr lang="en-US" sz="1300" dirty="0">
                <a:solidFill>
                  <a:srgbClr val="24313A"/>
                </a:solidFill>
                <a:latin typeface="Calibri" pitchFamily="34" charset="0"/>
                <a:ea typeface="Calibri" pitchFamily="34" charset="-122"/>
                <a:cs typeface="Calibri" pitchFamily="34" charset="-120"/>
              </a:rPr>
              <a:t>It is the only measure in our set that pays the school rather than the teacher, it is closed, so the whole story can be told, and the Netherlands has the best data on the pool of qualified teachers working outside education.</a:t>
            </a:r>
            <a:endParaRPr lang="en-US" sz="1300" dirty="0"/>
          </a:p>
        </p:txBody>
      </p:sp>
      <p:sp>
        <p:nvSpPr>
          <p:cNvPr id="13" name="Text 8"/>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Australia</a:t>
            </a:r>
            <a:endParaRPr lang="en-US" sz="2200" dirty="0"/>
          </a:p>
        </p:txBody>
      </p:sp>
      <p:sp>
        <p:nvSpPr>
          <p:cNvPr id="5" name="Text 2"/>
          <p:cNvSpPr txBox="1"/>
          <p:nvPr/>
        </p:nvSpPr>
        <p:spPr>
          <a:xfrm>
            <a:off x="1691640" y="822960"/>
            <a:ext cx="5943600" cy="310896"/>
          </a:xfrm>
          <a:prstGeom prst="rect">
            <a:avLst/>
          </a:prstGeom>
          <a:noFill/>
          <a:ln/>
        </p:spPr>
        <p:txBody>
          <a:bodyPr wrap="square" lIns="0" tIns="0" rIns="0" bIns="0" rtlCol="0" anchor="ctr"/>
          <a:lstStyle/>
          <a:p>
            <a:pPr indent="0" marL="0">
              <a:buNone/>
            </a:pPr>
            <a:r>
              <a:rPr lang="en-US" sz="1300" dirty="0">
                <a:solidFill>
                  <a:srgbClr val="24313A"/>
                </a:solidFill>
                <a:latin typeface="Calibri" pitchFamily="34" charset="0"/>
                <a:ea typeface="Calibri" pitchFamily="34" charset="-122"/>
                <a:cs typeface="Calibri" pitchFamily="34" charset="-120"/>
              </a:rPr>
              <a:t>New South Wales</a:t>
            </a:r>
            <a:endParaRPr lang="en-US" sz="1300" dirty="0"/>
          </a:p>
        </p:txBody>
      </p:sp>
      <p:sp>
        <p:nvSpPr>
          <p:cNvPr id="6" name="Shape 3"/>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Information &amp; nudges</a:t>
            </a:r>
            <a:endParaRPr lang="en-US" sz="1350" dirty="0"/>
          </a:p>
        </p:txBody>
      </p:sp>
      <p:sp>
        <p:nvSpPr>
          <p:cNvPr id="8" name="Text 5"/>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 / Retired</a:t>
            </a:r>
            <a:endParaRPr lang="en-US" sz="1100" dirty="0"/>
          </a:p>
        </p:txBody>
      </p:sp>
      <p:sp>
        <p:nvSpPr>
          <p:cNvPr id="9" name="Text 6"/>
          <p:cNvSpPr txBox="1"/>
          <p:nvPr/>
        </p:nvSpPr>
        <p:spPr>
          <a:xfrm>
            <a:off x="548640" y="1417320"/>
            <a:ext cx="4846320" cy="822960"/>
          </a:xfrm>
          <a:prstGeom prst="rect">
            <a:avLst/>
          </a:prstGeom>
          <a:noFill/>
          <a:ln/>
        </p:spPr>
        <p:txBody>
          <a:bodyPr wrap="square" lIns="0" tIns="0" rIns="0" bIns="0" rtlCol="0" anchor="t"/>
          <a:lstStyle/>
          <a:p>
            <a:pPr indent="0" marL="0">
              <a:buNone/>
            </a:pPr>
            <a:r>
              <a:rPr lang="en-US" sz="2000" b="1" dirty="0">
                <a:solidFill>
                  <a:srgbClr val="24313A"/>
                </a:solidFill>
                <a:latin typeface="Cambria" pitchFamily="34" charset="0"/>
                <a:ea typeface="Cambria" pitchFamily="34" charset="-122"/>
                <a:cs typeface="Cambria" pitchFamily="34" charset="-120"/>
              </a:rPr>
              <a:t>Teachers Re-Engage (2023–24)</a:t>
            </a:r>
            <a:endParaRPr lang="en-US" sz="2000" dirty="0"/>
          </a:p>
        </p:txBody>
      </p:sp>
      <p:sp>
        <p:nvSpPr>
          <p:cNvPr id="10" name="Text 7"/>
          <p:cNvSpPr txBox="1"/>
          <p:nvPr/>
        </p:nvSpPr>
        <p:spPr>
          <a:xfrm>
            <a:off x="548640" y="2286000"/>
            <a:ext cx="4846320" cy="21031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The Department of Education used its own staff records to contact more than 1,500 teachers who had resigned in the previous five years and offered them fast re-accreditation and a casual or temporary post. By May 2024, 260 had shown interest and 145 were placed. Nothing has been published since.</a:t>
            </a:r>
            <a:endParaRPr lang="en-US" sz="1400" dirty="0"/>
          </a:p>
        </p:txBody>
      </p:sp>
      <p:sp>
        <p:nvSpPr>
          <p:cNvPr id="11" name="Text 8"/>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NSW Department of Education, Teach NSW / school workforce division (teachers re-engage initiative team).</a:t>
            </a:r>
            <a:endParaRPr lang="en-US" sz="1250" dirty="0"/>
          </a:p>
        </p:txBody>
      </p:sp>
      <p:sp>
        <p:nvSpPr>
          <p:cNvPr id="12" name="Shape 9"/>
          <p:cNvSpPr/>
          <p:nvPr/>
        </p:nvSpPr>
        <p:spPr>
          <a:xfrm>
            <a:off x="5760720" y="1417320"/>
            <a:ext cx="5879592" cy="4754880"/>
          </a:xfrm>
          <a:prstGeom prst="roundRect">
            <a:avLst>
              <a:gd name="adj" fmla="val 2308"/>
            </a:avLst>
          </a:prstGeom>
          <a:solidFill>
            <a:srgbClr val="EAF2EE"/>
          </a:solidFill>
          <a:ln w="12700">
            <a:solidFill>
              <a:srgbClr val="EAF2EE"/>
            </a:solidFill>
            <a:prstDash val="solid"/>
          </a:ln>
        </p:spPr>
      </p:sp>
      <p:sp>
        <p:nvSpPr>
          <p:cNvPr id="13" name="Text 10"/>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4" name="Text 11"/>
          <p:cNvSpPr txBox="1"/>
          <p:nvPr/>
        </p:nvSpPr>
        <p:spPr>
          <a:xfrm>
            <a:off x="6035040" y="2011680"/>
            <a:ext cx="5349240" cy="4069080"/>
          </a:xfrm>
          <a:prstGeom prst="rect">
            <a:avLst/>
          </a:prstGeom>
          <a:noFill/>
          <a:ln/>
        </p:spPr>
        <p:txBody>
          <a:bodyPr wrap="square" lIns="0" tIns="0" rIns="0" bIns="0" rtlCol="0" anchor="t"/>
          <a:lstStyle/>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The full funnel by group: of the 1,500+ contacted, how many replied, expressed interest, were placed, and how many are still teaching 12 and 24 months later, separating retirees from those who had moved to other jobs.</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How the 1,500 were selected from the records (years since resignation, subject, region) and which contact channel worked best: letter, e-mail or phone call.</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What the streamlined re-accreditation involved in practice and how long it took a returner to be cleared to teach.</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Total cost of the initiative and cost per placement, including staff time.</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What returners asked for (casual, temporary, part-time, permanent) and what they were actually offered.</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Whether the initiative was discontinued, absorbed into regular recruitment or evaluated, and whether an evaluation can be shared.</a:t>
            </a:r>
            <a:endParaRPr lang="en-US" sz="1300" dirty="0"/>
          </a:p>
        </p:txBody>
      </p:sp>
      <p:sp>
        <p:nvSpPr>
          <p:cNvPr id="15" name="Text 12"/>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Canada</a:t>
            </a:r>
            <a:endParaRPr lang="en-US" sz="2200" dirty="0"/>
          </a:p>
        </p:txBody>
      </p:sp>
      <p:sp>
        <p:nvSpPr>
          <p:cNvPr id="5" name="Text 2"/>
          <p:cNvSpPr txBox="1"/>
          <p:nvPr/>
        </p:nvSpPr>
        <p:spPr>
          <a:xfrm>
            <a:off x="1691640" y="822960"/>
            <a:ext cx="5943600" cy="310896"/>
          </a:xfrm>
          <a:prstGeom prst="rect">
            <a:avLst/>
          </a:prstGeom>
          <a:noFill/>
          <a:ln/>
        </p:spPr>
        <p:txBody>
          <a:bodyPr wrap="square" lIns="0" tIns="0" rIns="0" bIns="0" rtlCol="0" anchor="ctr"/>
          <a:lstStyle/>
          <a:p>
            <a:pPr indent="0" marL="0">
              <a:buNone/>
            </a:pPr>
            <a:r>
              <a:rPr lang="en-US" sz="1300" dirty="0">
                <a:solidFill>
                  <a:srgbClr val="24313A"/>
                </a:solidFill>
                <a:latin typeface="Calibri" pitchFamily="34" charset="0"/>
                <a:ea typeface="Calibri" pitchFamily="34" charset="-122"/>
                <a:cs typeface="Calibri" pitchFamily="34" charset="-120"/>
              </a:rPr>
              <a:t>Quebec</a:t>
            </a:r>
            <a:endParaRPr lang="en-US" sz="1300" dirty="0"/>
          </a:p>
        </p:txBody>
      </p:sp>
      <p:sp>
        <p:nvSpPr>
          <p:cNvPr id="6" name="Shape 3"/>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7" name="Text 4"/>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8" name="Text 5"/>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Retired</a:t>
            </a:r>
            <a:endParaRPr lang="en-US" sz="1100" dirty="0"/>
          </a:p>
        </p:txBody>
      </p:sp>
      <p:sp>
        <p:nvSpPr>
          <p:cNvPr id="9" name="Text 6"/>
          <p:cNvSpPr txBox="1"/>
          <p:nvPr/>
        </p:nvSpPr>
        <p:spPr>
          <a:xfrm>
            <a:off x="548640" y="1417320"/>
            <a:ext cx="4846320" cy="822960"/>
          </a:xfrm>
          <a:prstGeom prst="rect">
            <a:avLst/>
          </a:prstGeom>
          <a:noFill/>
          <a:ln/>
        </p:spPr>
        <p:txBody>
          <a:bodyPr wrap="square" lIns="0" tIns="0" rIns="0" bIns="0" rtlCol="0" anchor="t"/>
          <a:lstStyle/>
          <a:p>
            <a:pPr indent="0" marL="0">
              <a:buNone/>
            </a:pPr>
            <a:r>
              <a:rPr lang="en-US" sz="2000" b="1" dirty="0">
                <a:solidFill>
                  <a:srgbClr val="24313A"/>
                </a:solidFill>
                <a:latin typeface="Cambria" pitchFamily="34" charset="0"/>
                <a:ea typeface="Cambria" pitchFamily="34" charset="-122"/>
                <a:cs typeface="Cambria" pitchFamily="34" charset="-120"/>
              </a:rPr>
              <a:t>Incentive pay for retired teachers who return (since 2020, permanent)</a:t>
            </a:r>
            <a:endParaRPr lang="en-US" sz="2000" dirty="0"/>
          </a:p>
        </p:txBody>
      </p:sp>
      <p:sp>
        <p:nvSpPr>
          <p:cNvPr id="10" name="Text 7"/>
          <p:cNvSpPr txBox="1"/>
          <p:nvPr/>
        </p:nvSpPr>
        <p:spPr>
          <a:xfrm>
            <a:off x="548640" y="2286000"/>
            <a:ext cx="4846320" cy="21031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Retired teachers who come back are paid from day one at the salary step they had at retirement, about 412 Canadian dollars a day (about 275 euros) instead of the 212-dollar substitute rate, while keeping the full pension. 700 retirees returned in 2020-21; more than 5,000 worked in schools in 2022-23. In 2023 the minister also wrote to every retiree.</a:t>
            </a:r>
            <a:endParaRPr lang="en-US" sz="1400" dirty="0"/>
          </a:p>
        </p:txBody>
      </p:sp>
      <p:sp>
        <p:nvSpPr>
          <p:cNvPr id="11" name="Text 8"/>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Ministère de l'Éducation du Québec, human-resources and workforce planning branch for the school network (Direction générale des relations du travail / ressources humaines du réseau).</a:t>
            </a:r>
            <a:endParaRPr lang="en-US" sz="1250" dirty="0"/>
          </a:p>
        </p:txBody>
      </p:sp>
      <p:sp>
        <p:nvSpPr>
          <p:cNvPr id="12" name="Shape 9"/>
          <p:cNvSpPr/>
          <p:nvPr/>
        </p:nvSpPr>
        <p:spPr>
          <a:xfrm>
            <a:off x="5760720" y="1417320"/>
            <a:ext cx="5879592" cy="4754880"/>
          </a:xfrm>
          <a:prstGeom prst="roundRect">
            <a:avLst>
              <a:gd name="adj" fmla="val 2308"/>
            </a:avLst>
          </a:prstGeom>
          <a:solidFill>
            <a:srgbClr val="EAF2EE"/>
          </a:solidFill>
          <a:ln w="12700">
            <a:solidFill>
              <a:srgbClr val="EAF2EE"/>
            </a:solidFill>
            <a:prstDash val="solid"/>
          </a:ln>
        </p:spPr>
      </p:sp>
      <p:sp>
        <p:nvSpPr>
          <p:cNvPr id="13" name="Text 10"/>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4" name="Text 11"/>
          <p:cNvSpPr txBox="1"/>
          <p:nvPr/>
        </p:nvSpPr>
        <p:spPr>
          <a:xfrm>
            <a:off x="6035040" y="2011680"/>
            <a:ext cx="5349240" cy="4069080"/>
          </a:xfrm>
          <a:prstGeom prst="rect">
            <a:avLst/>
          </a:prstGeom>
          <a:noFill/>
          <a:ln/>
        </p:spPr>
        <p:txBody>
          <a:bodyPr wrap="square" lIns="0" tIns="0" rIns="0" bIns="0" rtlCol="0" anchor="t"/>
          <a:lstStyle/>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Number of retirees working each year since 2019-20 (before and after the incentive), with days worked per person and the split between substitute work and fixed-term contracts.</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Annual cost of paying retirees at their former salary step rather than the substitute rate, and how it compares with the cost of unfilled absences.</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Any sign that the incentive changed retirement timing, for example teachers retiring earlier to come back at higher pay, and whether pension rules had to be adjusted.</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Effects on active substitutes and early-career teachers: did retirees take work that would otherwise have gone to them?</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The August 2023 letter: how many were sent, how many replied, and what the retirees who did not return said.</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Whether the ministry has evaluated the measure or plans to, and which data could be shared for a comparative study.</a:t>
            </a:r>
            <a:endParaRPr lang="en-US" sz="1300" dirty="0"/>
          </a:p>
        </p:txBody>
      </p:sp>
      <p:sp>
        <p:nvSpPr>
          <p:cNvPr id="15" name="Text 12"/>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11480"/>
            <a:ext cx="960120" cy="720090"/>
          </a:xfrm>
          <a:prstGeom prst="rect">
            <a:avLst/>
          </a:prstGeom>
        </p:spPr>
      </p:pic>
      <p:sp>
        <p:nvSpPr>
          <p:cNvPr id="3" name="Shape 0"/>
          <p:cNvSpPr/>
          <p:nvPr/>
        </p:nvSpPr>
        <p:spPr>
          <a:xfrm>
            <a:off x="548640" y="411480"/>
            <a:ext cx="960120" cy="720090"/>
          </a:xfrm>
          <a:prstGeom prst="rect">
            <a:avLst/>
          </a:prstGeom>
          <a:ln w="9525">
            <a:solidFill>
              <a:srgbClr val="CFDCD5"/>
            </a:solidFill>
            <a:prstDash val="solid"/>
          </a:ln>
        </p:spPr>
      </p:sp>
      <p:sp>
        <p:nvSpPr>
          <p:cNvPr id="4" name="Text 1"/>
          <p:cNvSpPr txBox="1"/>
          <p:nvPr/>
        </p:nvSpPr>
        <p:spPr>
          <a:xfrm>
            <a:off x="1691640" y="365760"/>
            <a:ext cx="5943600" cy="457200"/>
          </a:xfrm>
          <a:prstGeom prst="rect">
            <a:avLst/>
          </a:prstGeom>
          <a:noFill/>
          <a:ln/>
        </p:spPr>
        <p:txBody>
          <a:bodyPr wrap="square" lIns="0" tIns="0" rIns="0" bIns="0" rtlCol="0" anchor="ctr"/>
          <a:lstStyle/>
          <a:p>
            <a:pPr indent="0" marL="0">
              <a:buNone/>
            </a:pPr>
            <a:r>
              <a:rPr lang="en-US" sz="2200" b="1" dirty="0">
                <a:solidFill>
                  <a:srgbClr val="24313A"/>
                </a:solidFill>
                <a:latin typeface="Calibri" pitchFamily="34" charset="0"/>
                <a:ea typeface="Calibri" pitchFamily="34" charset="-122"/>
                <a:cs typeface="Calibri" pitchFamily="34" charset="-120"/>
              </a:rPr>
              <a:t>Netherlands</a:t>
            </a:r>
            <a:endParaRPr lang="en-US" sz="2200" dirty="0"/>
          </a:p>
        </p:txBody>
      </p:sp>
      <p:sp>
        <p:nvSpPr>
          <p:cNvPr id="5" name="Shape 2"/>
          <p:cNvSpPr/>
          <p:nvPr/>
        </p:nvSpPr>
        <p:spPr>
          <a:xfrm>
            <a:off x="8165592" y="411480"/>
            <a:ext cx="3474720" cy="429768"/>
          </a:xfrm>
          <a:prstGeom prst="roundRect">
            <a:avLst>
              <a:gd name="adj" fmla="val 50000"/>
            </a:avLst>
          </a:prstGeom>
          <a:solidFill>
            <a:srgbClr val="EAF2EE"/>
          </a:solidFill>
          <a:ln w="12700">
            <a:solidFill>
              <a:srgbClr val="B3542E"/>
            </a:solidFill>
            <a:prstDash val="solid"/>
          </a:ln>
        </p:spPr>
      </p:sp>
      <p:sp>
        <p:nvSpPr>
          <p:cNvPr id="6" name="Text 3"/>
          <p:cNvSpPr txBox="1"/>
          <p:nvPr/>
        </p:nvSpPr>
        <p:spPr>
          <a:xfrm>
            <a:off x="8165592" y="411480"/>
            <a:ext cx="3474720" cy="429768"/>
          </a:xfrm>
          <a:prstGeom prst="rect">
            <a:avLst/>
          </a:prstGeom>
          <a:noFill/>
          <a:ln/>
        </p:spPr>
        <p:txBody>
          <a:bodyPr wrap="square" lIns="0" tIns="0" rIns="0" bIns="0" rtlCol="0" anchor="ctr"/>
          <a:lstStyle/>
          <a:p>
            <a:pPr algn="ctr" indent="0" marL="0">
              <a:buNone/>
            </a:pPr>
            <a:r>
              <a:rPr lang="en-US" sz="1350" b="1" dirty="0">
                <a:solidFill>
                  <a:srgbClr val="B3542E"/>
                </a:solidFill>
                <a:latin typeface="Calibri" pitchFamily="34" charset="0"/>
                <a:ea typeface="Calibri" pitchFamily="34" charset="-122"/>
                <a:cs typeface="Calibri" pitchFamily="34" charset="-120"/>
              </a:rPr>
              <a:t>Financial incentives</a:t>
            </a:r>
            <a:endParaRPr lang="en-US" sz="1350" dirty="0"/>
          </a:p>
        </p:txBody>
      </p:sp>
      <p:sp>
        <p:nvSpPr>
          <p:cNvPr id="7" name="Text 4"/>
          <p:cNvSpPr txBox="1"/>
          <p:nvPr/>
        </p:nvSpPr>
        <p:spPr>
          <a:xfrm>
            <a:off x="7251192" y="877824"/>
            <a:ext cx="4389120" cy="274320"/>
          </a:xfrm>
          <a:prstGeom prst="rect">
            <a:avLst/>
          </a:prstGeom>
          <a:noFill/>
          <a:ln/>
        </p:spPr>
        <p:txBody>
          <a:bodyPr wrap="square" lIns="0" tIns="0" rIns="0" bIns="0" rtlCol="0" anchor="ctr"/>
          <a:lstStyle/>
          <a:p>
            <a:pPr algn="r" indent="0" marL="0">
              <a:buNone/>
            </a:pPr>
            <a:r>
              <a:rPr lang="en-US" sz="1100" dirty="0">
                <a:solidFill>
                  <a:srgbClr val="24313A"/>
                </a:solidFill>
                <a:latin typeface="Calibri" pitchFamily="34" charset="0"/>
                <a:ea typeface="Calibri" pitchFamily="34" charset="-122"/>
                <a:cs typeface="Calibri" pitchFamily="34" charset="-120"/>
              </a:rPr>
              <a:t>Target: Switchers / Leavers</a:t>
            </a:r>
            <a:endParaRPr lang="en-US" sz="1100" dirty="0"/>
          </a:p>
        </p:txBody>
      </p:sp>
      <p:sp>
        <p:nvSpPr>
          <p:cNvPr id="8" name="Text 5"/>
          <p:cNvSpPr txBox="1"/>
          <p:nvPr/>
        </p:nvSpPr>
        <p:spPr>
          <a:xfrm>
            <a:off x="548640" y="1417320"/>
            <a:ext cx="4846320" cy="822960"/>
          </a:xfrm>
          <a:prstGeom prst="rect">
            <a:avLst/>
          </a:prstGeom>
          <a:noFill/>
          <a:ln/>
        </p:spPr>
        <p:txBody>
          <a:bodyPr wrap="square" lIns="0" tIns="0" rIns="0" bIns="0" rtlCol="0" anchor="t"/>
          <a:lstStyle/>
          <a:p>
            <a:pPr indent="0" marL="0">
              <a:buNone/>
            </a:pPr>
            <a:r>
              <a:rPr lang="en-US" sz="2000" b="1" dirty="0">
                <a:solidFill>
                  <a:srgbClr val="24313A"/>
                </a:solidFill>
                <a:latin typeface="Cambria" pitchFamily="34" charset="0"/>
                <a:ea typeface="Cambria" pitchFamily="34" charset="-122"/>
                <a:cs typeface="Cambria" pitchFamily="34" charset="-120"/>
              </a:rPr>
              <a:t>Grant to primary schools for re-hiring former teachers (2017–2020)</a:t>
            </a:r>
            <a:endParaRPr lang="en-US" sz="2000" dirty="0"/>
          </a:p>
        </p:txBody>
      </p:sp>
      <p:sp>
        <p:nvSpPr>
          <p:cNvPr id="9" name="Text 6"/>
          <p:cNvSpPr txBox="1"/>
          <p:nvPr/>
        </p:nvSpPr>
        <p:spPr>
          <a:xfrm>
            <a:off x="548640" y="2286000"/>
            <a:ext cx="4846320" cy="2103120"/>
          </a:xfrm>
          <a:prstGeom prst="rect">
            <a:avLst/>
          </a:prstGeom>
          <a:noFill/>
          <a:ln/>
        </p:spPr>
        <p:txBody>
          <a:bodyPr wrap="square" lIns="0" tIns="0" rIns="0" bIns="0" rtlCol="0" anchor="t"/>
          <a:lstStyle/>
          <a:p>
            <a:pPr indent="0" marL="0">
              <a:lnSpc>
                <a:spcPct val="106000"/>
              </a:lnSpc>
              <a:buNone/>
            </a:pPr>
            <a:r>
              <a:rPr lang="en-US" sz="1400" dirty="0">
                <a:solidFill>
                  <a:srgbClr val="24313A"/>
                </a:solidFill>
                <a:latin typeface="Calibri" pitchFamily="34" charset="0"/>
                <a:ea typeface="Calibri" pitchFamily="34" charset="-122"/>
                <a:cs typeface="Calibri" pitchFamily="34" charset="-120"/>
              </a:rPr>
              <a:t>The Ministry of Education paid a primary-school board up to 2,500 euros for every qualified teacher it re-hired after at least twelve months out of primary teaching, on a contract of six months or more, to fund the returner's coaching and refresher training. The first budget covered 500 returners; the scheme closed in 2020.</a:t>
            </a:r>
            <a:endParaRPr lang="en-US" sz="1400" dirty="0"/>
          </a:p>
        </p:txBody>
      </p:sp>
      <p:sp>
        <p:nvSpPr>
          <p:cNvPr id="10" name="Text 7"/>
          <p:cNvSpPr txBox="1"/>
          <p:nvPr/>
        </p:nvSpPr>
        <p:spPr>
          <a:xfrm>
            <a:off x="548640" y="4343400"/>
            <a:ext cx="4846320" cy="1097280"/>
          </a:xfrm>
          <a:prstGeom prst="rect">
            <a:avLst/>
          </a:prstGeom>
          <a:noFill/>
          <a:ln/>
        </p:spPr>
        <p:txBody>
          <a:bodyPr wrap="square" lIns="0" tIns="0" rIns="0" bIns="0" rtlCol="0" anchor="t"/>
          <a:lstStyle/>
          <a:p>
            <a:pPr indent="0" marL="0">
              <a:buNone/>
            </a:pPr>
            <a:r>
              <a:rPr lang="en-US" sz="1250" b="1" dirty="0">
                <a:solidFill>
                  <a:srgbClr val="24313A"/>
                </a:solidFill>
                <a:latin typeface="Calibri" pitchFamily="34" charset="0"/>
                <a:ea typeface="Calibri" pitchFamily="34" charset="-122"/>
                <a:cs typeface="Calibri" pitchFamily="34" charset="-120"/>
              </a:rPr>
              <a:t>Whom to contact: </a:t>
            </a:r>
            <a:pPr indent="0" marL="0">
              <a:buNone/>
            </a:pPr>
            <a:r>
              <a:rPr lang="en-US" sz="1250" dirty="0">
                <a:solidFill>
                  <a:srgbClr val="24313A"/>
                </a:solidFill>
                <a:latin typeface="Calibri" pitchFamily="34" charset="0"/>
                <a:ea typeface="Calibri" pitchFamily="34" charset="-122"/>
                <a:cs typeface="Calibri" pitchFamily="34" charset="-120"/>
              </a:rPr>
              <a:t>Ministry of Education, Culture and Science (OCW), primary education directorate, and DUS-I, the agency that administered the grant.</a:t>
            </a:r>
            <a:endParaRPr lang="en-US" sz="1250" dirty="0"/>
          </a:p>
        </p:txBody>
      </p:sp>
      <p:sp>
        <p:nvSpPr>
          <p:cNvPr id="11" name="Shape 8"/>
          <p:cNvSpPr/>
          <p:nvPr/>
        </p:nvSpPr>
        <p:spPr>
          <a:xfrm>
            <a:off x="5760720" y="1417320"/>
            <a:ext cx="5879592" cy="4754880"/>
          </a:xfrm>
          <a:prstGeom prst="roundRect">
            <a:avLst>
              <a:gd name="adj" fmla="val 2308"/>
            </a:avLst>
          </a:prstGeom>
          <a:solidFill>
            <a:srgbClr val="EAF2EE"/>
          </a:solidFill>
          <a:ln w="12700">
            <a:solidFill>
              <a:srgbClr val="EAF2EE"/>
            </a:solidFill>
            <a:prstDash val="solid"/>
          </a:ln>
        </p:spPr>
      </p:sp>
      <p:sp>
        <p:nvSpPr>
          <p:cNvPr id="12" name="Text 9"/>
          <p:cNvSpPr txBox="1"/>
          <p:nvPr/>
        </p:nvSpPr>
        <p:spPr>
          <a:xfrm>
            <a:off x="6035040" y="1554480"/>
            <a:ext cx="5394960" cy="411480"/>
          </a:xfrm>
          <a:prstGeom prst="rect">
            <a:avLst/>
          </a:prstGeom>
          <a:noFill/>
          <a:ln/>
        </p:spPr>
        <p:txBody>
          <a:bodyPr wrap="square" lIns="0" tIns="0" rIns="0" bIns="0" rtlCol="0" anchor="ctr"/>
          <a:lstStyle/>
          <a:p>
            <a:pPr indent="0" marL="0">
              <a:buNone/>
            </a:pPr>
            <a:r>
              <a:rPr lang="en-US" sz="1500" b="1" dirty="0">
                <a:solidFill>
                  <a:srgbClr val="B3542E"/>
                </a:solidFill>
                <a:latin typeface="Calibri" pitchFamily="34" charset="0"/>
                <a:ea typeface="Calibri" pitchFamily="34" charset="-122"/>
                <a:cs typeface="Calibri" pitchFamily="34" charset="-120"/>
              </a:rPr>
              <a:t>What we would like to know</a:t>
            </a:r>
            <a:endParaRPr lang="en-US" sz="1500" dirty="0"/>
          </a:p>
        </p:txBody>
      </p:sp>
      <p:sp>
        <p:nvSpPr>
          <p:cNvPr id="13" name="Text 10"/>
          <p:cNvSpPr txBox="1"/>
          <p:nvPr/>
        </p:nvSpPr>
        <p:spPr>
          <a:xfrm>
            <a:off x="6035040" y="2011680"/>
            <a:ext cx="5349240" cy="4069080"/>
          </a:xfrm>
          <a:prstGeom prst="rect">
            <a:avLst/>
          </a:prstGeom>
          <a:noFill/>
          <a:ln/>
        </p:spPr>
        <p:txBody>
          <a:bodyPr wrap="square" lIns="0" tIns="0" rIns="0" bIns="0" rtlCol="0" anchor="t"/>
          <a:lstStyle/>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Take-up: how many returners were actually funded in each round, out of the 500 places, and the profile of those returners (years away, sector they came from, age).</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Whether school boards said the grant changed their decision to hire, or mostly subsidised hires that would have happened anyway.</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What the 2,500 euros was typically spent on and whether the coaching or refresher training made a difference to the returner's first months.</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Retention: how many of the funded returners were still teaching one, two and three years later.</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Why the regulation was not renewed after January 2020 and whether anything replaced it, nationally or in the regional shortage plans.</a:t>
            </a:r>
            <a:endParaRPr lang="en-US" sz="1300" dirty="0"/>
          </a:p>
          <a:p>
            <a:pPr marL="177800" indent="-177800">
              <a:lnSpc>
                <a:spcPct val="104000"/>
              </a:lnSpc>
              <a:spcAft>
                <a:spcPts val="600"/>
              </a:spcAft>
              <a:buSzPct val="100000"/>
              <a:buChar char="•"/>
            </a:pPr>
            <a:r>
              <a:rPr lang="en-US" sz="1300" dirty="0">
                <a:solidFill>
                  <a:srgbClr val="24313A"/>
                </a:solidFill>
                <a:latin typeface="Calibri" pitchFamily="34" charset="0"/>
                <a:ea typeface="Calibri" pitchFamily="34" charset="-122"/>
                <a:cs typeface="Calibri" pitchFamily="34" charset="-120"/>
              </a:rPr>
              <a:t>Any monitoring or evaluation report by OCW or DUS-I, and any later work on reaching the reserve of qualified teachers outside education.</a:t>
            </a:r>
            <a:endParaRPr lang="en-US" sz="1300" dirty="0"/>
          </a:p>
        </p:txBody>
      </p:sp>
      <p:sp>
        <p:nvSpPr>
          <p:cNvPr id="14" name="Text 11"/>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0058400" cy="640080"/>
          </a:xfrm>
          <a:prstGeom prst="rect">
            <a:avLst/>
          </a:prstGeom>
          <a:noFill/>
          <a:ln/>
        </p:spPr>
        <p:txBody>
          <a:bodyPr wrap="square" lIns="0" tIns="0" rIns="0" bIns="0" rtlCol="0" anchor="ctr"/>
          <a:lstStyle/>
          <a:p>
            <a:pPr indent="0" marL="0">
              <a:buNone/>
            </a:pPr>
            <a:r>
              <a:rPr lang="en-US" sz="3000" b="1" dirty="0">
                <a:solidFill>
                  <a:srgbClr val="24313A"/>
                </a:solidFill>
                <a:latin typeface="Cambria" pitchFamily="34" charset="0"/>
                <a:ea typeface="Cambria" pitchFamily="34" charset="-122"/>
                <a:cs typeface="Cambria" pitchFamily="34" charset="-120"/>
              </a:rPr>
              <a:t>If one of the three does not answer</a:t>
            </a:r>
            <a:endParaRPr lang="en-US" sz="3000" dirty="0"/>
          </a:p>
        </p:txBody>
      </p:sp>
      <p:sp>
        <p:nvSpPr>
          <p:cNvPr id="3" name="Shape 1"/>
          <p:cNvSpPr/>
          <p:nvPr/>
        </p:nvSpPr>
        <p:spPr>
          <a:xfrm>
            <a:off x="548640" y="1325880"/>
            <a:ext cx="11064240" cy="1051560"/>
          </a:xfrm>
          <a:prstGeom prst="roundRect">
            <a:avLst>
              <a:gd name="adj" fmla="val 8696"/>
            </a:avLst>
          </a:prstGeom>
          <a:solidFill>
            <a:srgbClr val="EAF2EE"/>
          </a:solidFill>
          <a:ln w="12700">
            <a:solidFill>
              <a:srgbClr val="EAF2EE"/>
            </a:solidFill>
            <a:prstDash val="solid"/>
          </a:ln>
        </p:spPr>
      </p:sp>
      <p:sp>
        <p:nvSpPr>
          <p:cNvPr id="4" name="Text 2"/>
          <p:cNvSpPr txBox="1"/>
          <p:nvPr/>
        </p:nvSpPr>
        <p:spPr>
          <a:xfrm>
            <a:off x="777240" y="1417320"/>
            <a:ext cx="10607040" cy="868680"/>
          </a:xfrm>
          <a:prstGeom prst="rect">
            <a:avLst/>
          </a:prstGeom>
          <a:noFill/>
          <a:ln/>
        </p:spPr>
        <p:txBody>
          <a:bodyPr wrap="square" lIns="0" tIns="0" rIns="0" bIns="0" rtlCol="0" anchor="ctr"/>
          <a:lstStyle/>
          <a:p>
            <a:pPr indent="0" marL="0">
              <a:buNone/>
            </a:pPr>
            <a:r>
              <a:rPr lang="en-US" sz="1300" b="1" dirty="0">
                <a:solidFill>
                  <a:srgbClr val="24313A"/>
                </a:solidFill>
                <a:latin typeface="Calibri" pitchFamily="34" charset="0"/>
                <a:ea typeface="Calibri" pitchFamily="34" charset="-122"/>
                <a:cs typeface="Calibri" pitchFamily="34" charset="-120"/>
              </a:rPr>
              <a:t>Australia (Victoria), Teacher Re-Engagement Initiative</a:t>
            </a:r>
            <a:endParaRPr lang="en-US" sz="1300" dirty="0"/>
          </a:p>
          <a:p>
            <a:pPr indent="0" marL="0">
              <a:buNone/>
            </a:pPr>
            <a:r>
              <a:rPr lang="en-US" sz="1300" dirty="0">
                <a:solidFill>
                  <a:srgbClr val="24313A"/>
                </a:solidFill>
                <a:latin typeface="Calibri" pitchFamily="34" charset="0"/>
                <a:ea typeface="Calibri" pitchFamily="34" charset="-122"/>
                <a:cs typeface="Calibri" pitchFamily="34" charset="-120"/>
              </a:rPr>
              <a:t>Paid 40-day placements with a known budget and 1,100+ expressions of interest; conversion into jobs never published. Same contact route as New South Wales.</a:t>
            </a:r>
            <a:endParaRPr lang="en-US" sz="1300" dirty="0"/>
          </a:p>
        </p:txBody>
      </p:sp>
      <p:sp>
        <p:nvSpPr>
          <p:cNvPr id="5" name="Shape 3"/>
          <p:cNvSpPr/>
          <p:nvPr/>
        </p:nvSpPr>
        <p:spPr>
          <a:xfrm>
            <a:off x="548640" y="2514600"/>
            <a:ext cx="11064240" cy="1051560"/>
          </a:xfrm>
          <a:prstGeom prst="roundRect">
            <a:avLst>
              <a:gd name="adj" fmla="val 8696"/>
            </a:avLst>
          </a:prstGeom>
          <a:solidFill>
            <a:srgbClr val="EAF2EE"/>
          </a:solidFill>
          <a:ln w="12700">
            <a:solidFill>
              <a:srgbClr val="EAF2EE"/>
            </a:solidFill>
            <a:prstDash val="solid"/>
          </a:ln>
        </p:spPr>
      </p:sp>
      <p:sp>
        <p:nvSpPr>
          <p:cNvPr id="6" name="Text 4"/>
          <p:cNvSpPr txBox="1"/>
          <p:nvPr/>
        </p:nvSpPr>
        <p:spPr>
          <a:xfrm>
            <a:off x="777240" y="2606040"/>
            <a:ext cx="10607040" cy="868680"/>
          </a:xfrm>
          <a:prstGeom prst="rect">
            <a:avLst/>
          </a:prstGeom>
          <a:noFill/>
          <a:ln/>
        </p:spPr>
        <p:txBody>
          <a:bodyPr wrap="square" lIns="0" tIns="0" rIns="0" bIns="0" rtlCol="0" anchor="ctr"/>
          <a:lstStyle/>
          <a:p>
            <a:pPr indent="0" marL="0">
              <a:buNone/>
            </a:pPr>
            <a:r>
              <a:rPr lang="en-US" sz="1300" b="1" dirty="0">
                <a:solidFill>
                  <a:srgbClr val="24313A"/>
                </a:solidFill>
                <a:latin typeface="Calibri" pitchFamily="34" charset="0"/>
                <a:ea typeface="Calibri" pitchFamily="34" charset="-122"/>
                <a:cs typeface="Calibri" pitchFamily="34" charset="-120"/>
              </a:rPr>
              <a:t>Germany (Lower Saxony), earnings ceiling and letter to retiring teachers</a:t>
            </a:r>
            <a:endParaRPr lang="en-US" sz="1300" dirty="0"/>
          </a:p>
          <a:p>
            <a:pPr indent="0" marL="0">
              <a:buNone/>
            </a:pPr>
            <a:r>
              <a:rPr lang="en-US" sz="1300" dirty="0">
                <a:solidFill>
                  <a:srgbClr val="24313A"/>
                </a:solidFill>
                <a:latin typeface="Calibri" pitchFamily="34" charset="0"/>
                <a:ea typeface="Calibri" pitchFamily="34" charset="-122"/>
                <a:cs typeface="Calibri" pitchFamily="34" charset="-120"/>
              </a:rPr>
              <a:t>A clean before-and-after: ceiling raised in 2022 and abolished in 2024, plus a letter campaign in 2023. Pension records would show how many hours pensioners teach.</a:t>
            </a:r>
            <a:endParaRPr lang="en-US" sz="1300" dirty="0"/>
          </a:p>
        </p:txBody>
      </p:sp>
      <p:sp>
        <p:nvSpPr>
          <p:cNvPr id="7" name="Shape 5"/>
          <p:cNvSpPr/>
          <p:nvPr/>
        </p:nvSpPr>
        <p:spPr>
          <a:xfrm>
            <a:off x="548640" y="3703320"/>
            <a:ext cx="11064240" cy="1051560"/>
          </a:xfrm>
          <a:prstGeom prst="roundRect">
            <a:avLst>
              <a:gd name="adj" fmla="val 8696"/>
            </a:avLst>
          </a:prstGeom>
          <a:solidFill>
            <a:srgbClr val="EAF2EE"/>
          </a:solidFill>
          <a:ln w="12700">
            <a:solidFill>
              <a:srgbClr val="EAF2EE"/>
            </a:solidFill>
            <a:prstDash val="solid"/>
          </a:ln>
        </p:spPr>
      </p:sp>
      <p:sp>
        <p:nvSpPr>
          <p:cNvPr id="8" name="Text 6"/>
          <p:cNvSpPr txBox="1"/>
          <p:nvPr/>
        </p:nvSpPr>
        <p:spPr>
          <a:xfrm>
            <a:off x="777240" y="3794760"/>
            <a:ext cx="10607040" cy="868680"/>
          </a:xfrm>
          <a:prstGeom prst="rect">
            <a:avLst/>
          </a:prstGeom>
          <a:noFill/>
          <a:ln/>
        </p:spPr>
        <p:txBody>
          <a:bodyPr wrap="square" lIns="0" tIns="0" rIns="0" bIns="0" rtlCol="0" anchor="ctr"/>
          <a:lstStyle/>
          <a:p>
            <a:pPr indent="0" marL="0">
              <a:buNone/>
            </a:pPr>
            <a:r>
              <a:rPr lang="en-US" sz="1300" b="1" dirty="0">
                <a:solidFill>
                  <a:srgbClr val="24313A"/>
                </a:solidFill>
                <a:latin typeface="Calibri" pitchFamily="34" charset="0"/>
                <a:ea typeface="Calibri" pitchFamily="34" charset="-122"/>
                <a:cs typeface="Calibri" pitchFamily="34" charset="-120"/>
              </a:rPr>
              <a:t>New Zealand, streamlined return with fees covered</a:t>
            </a:r>
            <a:endParaRPr lang="en-US" sz="1300" dirty="0"/>
          </a:p>
          <a:p>
            <a:pPr indent="0" marL="0">
              <a:buNone/>
            </a:pPr>
            <a:r>
              <a:rPr lang="en-US" sz="1300" dirty="0">
                <a:solidFill>
                  <a:srgbClr val="24313A"/>
                </a:solidFill>
                <a:latin typeface="Calibri" pitchFamily="34" charset="0"/>
                <a:ea typeface="Calibri" pitchFamily="34" charset="-122"/>
                <a:cs typeface="Calibri" pitchFamily="34" charset="-120"/>
              </a:rPr>
              <a:t>352 returners counted by April 2025; the Ministry monitors the pathway and could say who returns and whether they stay.</a:t>
            </a:r>
            <a:endParaRPr lang="en-US" sz="1300" dirty="0"/>
          </a:p>
        </p:txBody>
      </p:sp>
      <p:sp>
        <p:nvSpPr>
          <p:cNvPr id="9" name="Shape 7"/>
          <p:cNvSpPr/>
          <p:nvPr/>
        </p:nvSpPr>
        <p:spPr>
          <a:xfrm>
            <a:off x="548640" y="4892040"/>
            <a:ext cx="11064240" cy="1051560"/>
          </a:xfrm>
          <a:prstGeom prst="roundRect">
            <a:avLst>
              <a:gd name="adj" fmla="val 8696"/>
            </a:avLst>
          </a:prstGeom>
          <a:solidFill>
            <a:srgbClr val="EAF2EE"/>
          </a:solidFill>
          <a:ln w="12700">
            <a:solidFill>
              <a:srgbClr val="EAF2EE"/>
            </a:solidFill>
            <a:prstDash val="solid"/>
          </a:ln>
        </p:spPr>
      </p:sp>
      <p:sp>
        <p:nvSpPr>
          <p:cNvPr id="10" name="Text 8"/>
          <p:cNvSpPr txBox="1"/>
          <p:nvPr/>
        </p:nvSpPr>
        <p:spPr>
          <a:xfrm>
            <a:off x="777240" y="4983480"/>
            <a:ext cx="10607040" cy="868680"/>
          </a:xfrm>
          <a:prstGeom prst="rect">
            <a:avLst/>
          </a:prstGeom>
          <a:noFill/>
          <a:ln/>
        </p:spPr>
        <p:txBody>
          <a:bodyPr wrap="square" lIns="0" tIns="0" rIns="0" bIns="0" rtlCol="0" anchor="ctr"/>
          <a:lstStyle/>
          <a:p>
            <a:pPr indent="0" marL="0">
              <a:buNone/>
            </a:pPr>
            <a:r>
              <a:rPr lang="en-US" sz="1300" b="1" dirty="0">
                <a:solidFill>
                  <a:srgbClr val="24313A"/>
                </a:solidFill>
                <a:latin typeface="Calibri" pitchFamily="34" charset="0"/>
                <a:ea typeface="Calibri" pitchFamily="34" charset="-122"/>
                <a:cs typeface="Calibri" pitchFamily="34" charset="-120"/>
              </a:rPr>
              <a:t>Portugal, hiring of retired teachers (Decree-Law 51/2024)</a:t>
            </a:r>
            <a:endParaRPr lang="en-US" sz="1300" dirty="0"/>
          </a:p>
          <a:p>
            <a:pPr indent="0" marL="0">
              <a:buNone/>
            </a:pPr>
            <a:r>
              <a:rPr lang="en-US" sz="1300" dirty="0">
                <a:solidFill>
                  <a:srgbClr val="24313A"/>
                </a:solidFill>
                <a:latin typeface="Calibri" pitchFamily="34" charset="0"/>
                <a:ea typeface="Calibri" pitchFamily="34" charset="-122"/>
                <a:cs typeface="Calibri" pitchFamily="34" charset="-120"/>
              </a:rPr>
              <a:t>Low take-up (about 63 of 200 posts) is itself the lesson: why retirees did not come back despite pension plus pay.</a:t>
            </a:r>
            <a:endParaRPr lang="en-US" sz="1300" dirty="0"/>
          </a:p>
        </p:txBody>
      </p:sp>
      <p:sp>
        <p:nvSpPr>
          <p:cNvPr id="11" name="Text 9"/>
          <p:cNvSpPr txBox="1"/>
          <p:nvPr/>
        </p:nvSpPr>
        <p:spPr>
          <a:xfrm>
            <a:off x="11185855" y="6473952"/>
            <a:ext cx="548640" cy="274320"/>
          </a:xfrm>
          <a:prstGeom prst="rect">
            <a:avLst/>
          </a:prstGeom>
          <a:noFill/>
          <a:ln/>
        </p:spPr>
        <p:txBody>
          <a:bodyPr wrap="square" lIns="0" tIns="0" rIns="0" bIns="0" rtlCol="0" anchor="ctr"/>
          <a:lstStyle/>
          <a:p>
            <a:pPr algn="r" indent="0" marL="0">
              <a:buNone/>
            </a:pPr>
            <a:r>
              <a:rPr lang="en-US" sz="900" dirty="0">
                <a:solidFill>
                  <a:srgbClr val="24313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countries to contact</dc:title>
  <dc:subject>PptxGenJS Presentation</dc:subject>
  <dc:creator>José Manuel Torres, José Elías Durán Roa</dc:creator>
  <cp:lastModifiedBy>José Manuel Torres, José Elías Durán Roa</cp:lastModifiedBy>
  <cp:revision>1</cp:revision>
  <dcterms:created xsi:type="dcterms:W3CDTF">2026-09-17T15:49:33Z</dcterms:created>
  <dcterms:modified xsi:type="dcterms:W3CDTF">2026-09-17T15:49:33Z</dcterms:modified>
</cp:coreProperties>
</file>