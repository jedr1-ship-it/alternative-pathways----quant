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6"/>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100584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Five countries to contact</a:t>
            </a:r>
            <a:endParaRPr lang="en-US" sz="4400" dirty="0"/>
          </a:p>
        </p:txBody>
      </p:sp>
      <p:sp>
        <p:nvSpPr>
          <p:cNvPr id="3" name="Text 1"/>
          <p:cNvSpPr txBox="1"/>
          <p:nvPr/>
        </p:nvSpPr>
        <p:spPr>
          <a:xfrm>
            <a:off x="731520" y="2606040"/>
            <a:ext cx="10698480" cy="731520"/>
          </a:xfrm>
          <a:prstGeom prst="rect">
            <a:avLst/>
          </a:prstGeom>
          <a:noFill/>
          <a:ln/>
        </p:spPr>
        <p:txBody>
          <a:bodyPr wrap="square" lIns="0" tIns="0" rIns="0" bIns="0" rtlCol="0" anchor="ctr"/>
          <a:lstStyle/>
          <a:p>
            <a:pPr indent="0" marL="0">
              <a:buNone/>
            </a:pPr>
            <a:r>
              <a:rPr lang="en-US" sz="2000" dirty="0">
                <a:solidFill>
                  <a:srgbClr val="CFE3D9"/>
                </a:solidFill>
                <a:latin typeface="Calibri" pitchFamily="34" charset="0"/>
                <a:ea typeface="Calibri" pitchFamily="34" charset="-122"/>
                <a:cs typeface="Calibri" pitchFamily="34" charset="-120"/>
              </a:rPr>
              <a:t>Re-attracting former teachers: the policies we want to ask about, and what we would like to learn</a:t>
            </a:r>
            <a:endParaRPr lang="en-US" sz="2000" dirty="0"/>
          </a:p>
        </p:txBody>
      </p:sp>
      <p:sp>
        <p:nvSpPr>
          <p:cNvPr id="4" name="Text 2"/>
          <p:cNvSpPr txBox="1"/>
          <p:nvPr/>
        </p:nvSpPr>
        <p:spPr>
          <a:xfrm>
            <a:off x="731520" y="3931920"/>
            <a:ext cx="9144000" cy="365760"/>
          </a:xfrm>
          <a:prstGeom prst="rect">
            <a:avLst/>
          </a:prstGeom>
          <a:noFill/>
          <a:ln/>
        </p:spPr>
        <p:txBody>
          <a:bodyPr wrap="square" lIns="0" tIns="0" rIns="0" bIns="0" rtlCol="0" anchor="ctr"/>
          <a:lstStyle/>
          <a:p>
            <a:pPr indent="0" marL="0">
              <a:buNone/>
            </a:pPr>
            <a:r>
              <a:rPr lang="en-US" sz="1300" dirty="0">
                <a:solidFill>
                  <a:srgbClr val="CFE3D9"/>
                </a:solidFill>
                <a:latin typeface="Calibri" pitchFamily="34" charset="0"/>
                <a:ea typeface="Calibri" pitchFamily="34" charset="-122"/>
                <a:cs typeface="Calibri" pitchFamily="34" charset="-120"/>
              </a:rPr>
              <a:t>José Manuel Torres – José Elías Durán Roa  ·  September 2026</a:t>
            </a:r>
            <a:endParaRPr lang="en-US" sz="1300" dirty="0"/>
          </a:p>
        </p:txBody>
      </p:sp>
      <p:pic>
        <p:nvPicPr>
          <p:cNvPr id="5" name="Image 0" descr="preencoded.png">    </p:cNvPr>
          <p:cNvPicPr>
            <a:picLocks noChangeAspect="1"/>
          </p:cNvPicPr>
          <p:nvPr/>
        </p:nvPicPr>
        <p:blipFill>
          <a:blip r:embed="rId1"/>
          <a:stretch>
            <a:fillRect/>
          </a:stretch>
        </p:blipFill>
        <p:spPr>
          <a:xfrm>
            <a:off x="731520" y="4937760"/>
            <a:ext cx="914400" cy="685800"/>
          </a:xfrm>
          <a:prstGeom prst="rect">
            <a:avLst/>
          </a:prstGeom>
        </p:spPr>
      </p:pic>
      <p:pic>
        <p:nvPicPr>
          <p:cNvPr id="6" name="Image 1" descr="preencoded.png">    </p:cNvPr>
          <p:cNvPicPr>
            <a:picLocks noChangeAspect="1"/>
          </p:cNvPicPr>
          <p:nvPr/>
        </p:nvPicPr>
        <p:blipFill>
          <a:blip r:embed="rId2"/>
          <a:stretch>
            <a:fillRect/>
          </a:stretch>
        </p:blipFill>
        <p:spPr>
          <a:xfrm>
            <a:off x="1874520" y="4937760"/>
            <a:ext cx="914400" cy="685800"/>
          </a:xfrm>
          <a:prstGeom prst="rect">
            <a:avLst/>
          </a:prstGeom>
        </p:spPr>
      </p:pic>
      <p:pic>
        <p:nvPicPr>
          <p:cNvPr id="7" name="Image 2" descr="preencoded.png">    </p:cNvPr>
          <p:cNvPicPr>
            <a:picLocks noChangeAspect="1"/>
          </p:cNvPicPr>
          <p:nvPr/>
        </p:nvPicPr>
        <p:blipFill>
          <a:blip r:embed="rId3"/>
          <a:stretch>
            <a:fillRect/>
          </a:stretch>
        </p:blipFill>
        <p:spPr>
          <a:xfrm>
            <a:off x="3017520" y="4937760"/>
            <a:ext cx="914400" cy="685800"/>
          </a:xfrm>
          <a:prstGeom prst="rect">
            <a:avLst/>
          </a:prstGeom>
        </p:spPr>
      </p:pic>
      <p:pic>
        <p:nvPicPr>
          <p:cNvPr id="8" name="Image 3" descr="preencoded.png">    </p:cNvPr>
          <p:cNvPicPr>
            <a:picLocks noChangeAspect="1"/>
          </p:cNvPicPr>
          <p:nvPr/>
        </p:nvPicPr>
        <p:blipFill>
          <a:blip r:embed="rId4"/>
          <a:stretch>
            <a:fillRect/>
          </a:stretch>
        </p:blipFill>
        <p:spPr>
          <a:xfrm>
            <a:off x="4160520" y="4937760"/>
            <a:ext cx="914400" cy="685800"/>
          </a:xfrm>
          <a:prstGeom prst="rect">
            <a:avLst/>
          </a:prstGeom>
        </p:spPr>
      </p:pic>
      <p:pic>
        <p:nvPicPr>
          <p:cNvPr id="9" name="Image 4" descr="preencoded.png">    </p:cNvPr>
          <p:cNvPicPr>
            <a:picLocks noChangeAspect="1"/>
          </p:cNvPicPr>
          <p:nvPr/>
        </p:nvPicPr>
        <p:blipFill>
          <a:blip r:embed="rId5"/>
          <a:stretch>
            <a:fillRect/>
          </a:stretch>
        </p:blipFill>
        <p:spPr>
          <a:xfrm>
            <a:off x="5303520" y="4937760"/>
            <a:ext cx="9144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24313A"/>
                </a:solidFill>
                <a:latin typeface="Cambria" pitchFamily="34" charset="0"/>
                <a:ea typeface="Cambria" pitchFamily="34" charset="-122"/>
                <a:cs typeface="Cambria" pitchFamily="34" charset="-120"/>
              </a:rPr>
              <a:t>Why these five</a:t>
            </a:r>
            <a:endParaRPr lang="en-US" sz="3200" dirty="0"/>
          </a:p>
        </p:txBody>
      </p:sp>
      <p:sp>
        <p:nvSpPr>
          <p:cNvPr id="3" name="Text 1"/>
          <p:cNvSpPr txBox="1"/>
          <p:nvPr/>
        </p:nvSpPr>
        <p:spPr>
          <a:xfrm>
            <a:off x="548640" y="1143000"/>
            <a:ext cx="11064240" cy="777240"/>
          </a:xfrm>
          <a:prstGeom prst="rect">
            <a:avLst/>
          </a:prstGeom>
          <a:noFill/>
          <a:ln/>
        </p:spPr>
        <p:txBody>
          <a:bodyPr wrap="square" lIns="0" tIns="0" rIns="0" bIns="0" rtlCol="0" anchor="t"/>
          <a:lstStyle/>
          <a:p>
            <a:pPr indent="0" marL="0">
              <a:buNone/>
            </a:pPr>
            <a:r>
              <a:rPr lang="en-US" sz="1350" dirty="0">
                <a:solidFill>
                  <a:srgbClr val="24313A"/>
                </a:solidFill>
                <a:latin typeface="Calibri" pitchFamily="34" charset="0"/>
                <a:ea typeface="Calibri" pitchFamily="34" charset="-122"/>
                <a:cs typeface="Calibri" pitchFamily="34" charset="-120"/>
              </a:rPr>
              <a:t>We chose the countries we can learn most from, not the ones with the most or the least information. Each one passes three tests: the policy is real and recent, it adds a different instrument or lesson to the others, and the questions we care about have answers sitting in the administration's own records rather than in what has been published.</a:t>
            </a:r>
            <a:endParaRPr lang="en-US" sz="1350" dirty="0"/>
          </a:p>
        </p:txBody>
      </p:sp>
      <p:sp>
        <p:nvSpPr>
          <p:cNvPr id="4" name="Shape 2"/>
          <p:cNvSpPr/>
          <p:nvPr/>
        </p:nvSpPr>
        <p:spPr>
          <a:xfrm>
            <a:off x="548640" y="2011680"/>
            <a:ext cx="11064240" cy="804672"/>
          </a:xfrm>
          <a:prstGeom prst="roundRect">
            <a:avLst>
              <a:gd name="adj" fmla="val 11364"/>
            </a:avLst>
          </a:prstGeom>
          <a:solidFill>
            <a:srgbClr val="EAF2EE"/>
          </a:solidFill>
          <a:ln w="12700">
            <a:solidFill>
              <a:srgbClr val="EAF2EE"/>
            </a:solidFill>
            <a:prstDash val="solid"/>
          </a:ln>
        </p:spPr>
      </p:sp>
      <p:pic>
        <p:nvPicPr>
          <p:cNvPr id="5" name="Image 0" descr="preencoded.png">    </p:cNvPr>
          <p:cNvPicPr>
            <a:picLocks noChangeAspect="1"/>
          </p:cNvPicPr>
          <p:nvPr/>
        </p:nvPicPr>
        <p:blipFill>
          <a:blip r:embed="rId1"/>
          <a:stretch>
            <a:fillRect/>
          </a:stretch>
        </p:blipFill>
        <p:spPr>
          <a:xfrm>
            <a:off x="777240" y="2153412"/>
            <a:ext cx="694944" cy="521208"/>
          </a:xfrm>
          <a:prstGeom prst="rect">
            <a:avLst/>
          </a:prstGeom>
        </p:spPr>
      </p:pic>
      <p:sp>
        <p:nvSpPr>
          <p:cNvPr id="6" name="Text 3"/>
          <p:cNvSpPr txBox="1"/>
          <p:nvPr/>
        </p:nvSpPr>
        <p:spPr>
          <a:xfrm>
            <a:off x="1691640" y="2066544"/>
            <a:ext cx="9784080" cy="694944"/>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Australia (New South Wales): Teachers Re-Engage (2023–24)</a:t>
            </a:r>
            <a:endParaRPr lang="en-US" sz="1150" dirty="0"/>
          </a:p>
          <a:p>
            <a:pPr indent="0" marL="0">
              <a:buNone/>
            </a:pPr>
            <a:r>
              <a:rPr lang="en-US" sz="1150" dirty="0">
                <a:solidFill>
                  <a:srgbClr val="24313A"/>
                </a:solidFill>
                <a:latin typeface="Calibri" pitchFamily="34" charset="0"/>
                <a:ea typeface="Calibri" pitchFamily="34" charset="-122"/>
                <a:cs typeface="Calibri" pitchFamily="34" charset="-120"/>
              </a:rPr>
              <a:t>It is the cleanest example of a direct-outreach nudge with a published funnel from contacts to placements, and the missing pieces (cost, retention, who came back) exist in the department's records.</a:t>
            </a:r>
            <a:endParaRPr lang="en-US" sz="1150" dirty="0"/>
          </a:p>
        </p:txBody>
      </p:sp>
      <p:sp>
        <p:nvSpPr>
          <p:cNvPr id="7" name="Shape 4"/>
          <p:cNvSpPr/>
          <p:nvPr/>
        </p:nvSpPr>
        <p:spPr>
          <a:xfrm>
            <a:off x="548640" y="2907792"/>
            <a:ext cx="11064240" cy="804672"/>
          </a:xfrm>
          <a:prstGeom prst="roundRect">
            <a:avLst>
              <a:gd name="adj" fmla="val 11364"/>
            </a:avLst>
          </a:prstGeom>
          <a:solidFill>
            <a:srgbClr val="EAF2EE"/>
          </a:solidFill>
          <a:ln w="12700">
            <a:solidFill>
              <a:srgbClr val="EAF2EE"/>
            </a:solidFill>
            <a:prstDash val="solid"/>
          </a:ln>
        </p:spPr>
      </p:sp>
      <p:pic>
        <p:nvPicPr>
          <p:cNvPr id="8" name="Image 1" descr="preencoded.png">    </p:cNvPr>
          <p:cNvPicPr>
            <a:picLocks noChangeAspect="1"/>
          </p:cNvPicPr>
          <p:nvPr/>
        </p:nvPicPr>
        <p:blipFill>
          <a:blip r:embed="rId2"/>
          <a:stretch>
            <a:fillRect/>
          </a:stretch>
        </p:blipFill>
        <p:spPr>
          <a:xfrm>
            <a:off x="777240" y="3049524"/>
            <a:ext cx="694944" cy="521208"/>
          </a:xfrm>
          <a:prstGeom prst="rect">
            <a:avLst/>
          </a:prstGeom>
        </p:spPr>
      </p:pic>
      <p:sp>
        <p:nvSpPr>
          <p:cNvPr id="9" name="Text 5"/>
          <p:cNvSpPr txBox="1"/>
          <p:nvPr/>
        </p:nvSpPr>
        <p:spPr>
          <a:xfrm>
            <a:off x="1691640" y="2962656"/>
            <a:ext cx="9784080" cy="694944"/>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Austria: Regional education authorities recruit retired teachers back (2022–)</a:t>
            </a:r>
            <a:endParaRPr lang="en-US" sz="1150" dirty="0"/>
          </a:p>
          <a:p>
            <a:pPr indent="0" marL="0">
              <a:buNone/>
            </a:pPr>
            <a:r>
              <a:rPr lang="en-US" sz="1150" dirty="0">
                <a:solidFill>
                  <a:srgbClr val="24313A"/>
                </a:solidFill>
                <a:latin typeface="Calibri" pitchFamily="34" charset="0"/>
                <a:ea typeface="Calibri" pitchFamily="34" charset="-122"/>
                <a:cs typeface="Calibri" pitchFamily="34" charset="-120"/>
              </a:rPr>
              <a:t>It is the one case where a cheap nudge visibly failed and was replaced by a different one, with a 2025 academic study pointing to pension and seniority rules as the barrier: the negative lesson the other four cannot give.</a:t>
            </a:r>
            <a:endParaRPr lang="en-US" sz="1150" dirty="0"/>
          </a:p>
        </p:txBody>
      </p:sp>
      <p:sp>
        <p:nvSpPr>
          <p:cNvPr id="10" name="Shape 6"/>
          <p:cNvSpPr/>
          <p:nvPr/>
        </p:nvSpPr>
        <p:spPr>
          <a:xfrm>
            <a:off x="548640" y="3803904"/>
            <a:ext cx="11064240" cy="804672"/>
          </a:xfrm>
          <a:prstGeom prst="roundRect">
            <a:avLst>
              <a:gd name="adj" fmla="val 11364"/>
            </a:avLst>
          </a:prstGeom>
          <a:solidFill>
            <a:srgbClr val="EAF2EE"/>
          </a:solidFill>
          <a:ln w="12700">
            <a:solidFill>
              <a:srgbClr val="EAF2EE"/>
            </a:solidFill>
            <a:prstDash val="solid"/>
          </a:ln>
        </p:spPr>
      </p:sp>
      <p:pic>
        <p:nvPicPr>
          <p:cNvPr id="11" name="Image 2" descr="preencoded.png">    </p:cNvPr>
          <p:cNvPicPr>
            <a:picLocks noChangeAspect="1"/>
          </p:cNvPicPr>
          <p:nvPr/>
        </p:nvPicPr>
        <p:blipFill>
          <a:blip r:embed="rId3"/>
          <a:stretch>
            <a:fillRect/>
          </a:stretch>
        </p:blipFill>
        <p:spPr>
          <a:xfrm>
            <a:off x="777240" y="3945636"/>
            <a:ext cx="694944" cy="521208"/>
          </a:xfrm>
          <a:prstGeom prst="rect">
            <a:avLst/>
          </a:prstGeom>
        </p:spPr>
      </p:pic>
      <p:sp>
        <p:nvSpPr>
          <p:cNvPr id="12" name="Text 7"/>
          <p:cNvSpPr txBox="1"/>
          <p:nvPr/>
        </p:nvSpPr>
        <p:spPr>
          <a:xfrm>
            <a:off x="1691640" y="3858768"/>
            <a:ext cx="9784080" cy="694944"/>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Canada (Quebec): Incentive pay for retired teachers who return (since 2020, permanent)</a:t>
            </a:r>
            <a:endParaRPr lang="en-US" sz="1150" dirty="0"/>
          </a:p>
          <a:p>
            <a:pPr indent="0" marL="0">
              <a:buNone/>
            </a:pPr>
            <a:r>
              <a:rPr lang="en-US" sz="1150" dirty="0">
                <a:solidFill>
                  <a:srgbClr val="24313A"/>
                </a:solidFill>
                <a:latin typeface="Calibri" pitchFamily="34" charset="0"/>
                <a:ea typeface="Calibri" pitchFamily="34" charset="-122"/>
                <a:cs typeface="Calibri" pitchFamily="34" charset="-120"/>
              </a:rPr>
              <a:t>It is the only financial incentive for retirees running at large scale and now permanent, so the ministry can show whether money changes behaviour, at what cost, and with what side effects on active substitutes and on retirement decisions.</a:t>
            </a:r>
            <a:endParaRPr lang="en-US" sz="1150" dirty="0"/>
          </a:p>
        </p:txBody>
      </p:sp>
      <p:sp>
        <p:nvSpPr>
          <p:cNvPr id="13" name="Shape 8"/>
          <p:cNvSpPr/>
          <p:nvPr/>
        </p:nvSpPr>
        <p:spPr>
          <a:xfrm>
            <a:off x="548640" y="4700016"/>
            <a:ext cx="11064240" cy="804672"/>
          </a:xfrm>
          <a:prstGeom prst="roundRect">
            <a:avLst>
              <a:gd name="adj" fmla="val 11364"/>
            </a:avLst>
          </a:prstGeom>
          <a:solidFill>
            <a:srgbClr val="EAF2EE"/>
          </a:solidFill>
          <a:ln w="12700">
            <a:solidFill>
              <a:srgbClr val="EAF2EE"/>
            </a:solidFill>
            <a:prstDash val="solid"/>
          </a:ln>
        </p:spPr>
      </p:sp>
      <p:pic>
        <p:nvPicPr>
          <p:cNvPr id="14" name="Image 3" descr="preencoded.png">    </p:cNvPr>
          <p:cNvPicPr>
            <a:picLocks noChangeAspect="1"/>
          </p:cNvPicPr>
          <p:nvPr/>
        </p:nvPicPr>
        <p:blipFill>
          <a:blip r:embed="rId4"/>
          <a:stretch>
            <a:fillRect/>
          </a:stretch>
        </p:blipFill>
        <p:spPr>
          <a:xfrm>
            <a:off x="777240" y="4841748"/>
            <a:ext cx="694944" cy="521208"/>
          </a:xfrm>
          <a:prstGeom prst="rect">
            <a:avLst/>
          </a:prstGeom>
        </p:spPr>
      </p:pic>
      <p:sp>
        <p:nvSpPr>
          <p:cNvPr id="15" name="Text 9"/>
          <p:cNvSpPr txBox="1"/>
          <p:nvPr/>
        </p:nvSpPr>
        <p:spPr>
          <a:xfrm>
            <a:off x="1691640" y="4754880"/>
            <a:ext cx="9784080" cy="694944"/>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Netherlands: Grant to primary schools for re-hiring former teachers (2017–2020)</a:t>
            </a:r>
            <a:endParaRPr lang="en-US" sz="1150" dirty="0"/>
          </a:p>
          <a:p>
            <a:pPr indent="0" marL="0">
              <a:buNone/>
            </a:pPr>
            <a:r>
              <a:rPr lang="en-US" sz="1150" dirty="0">
                <a:solidFill>
                  <a:srgbClr val="24313A"/>
                </a:solidFill>
                <a:latin typeface="Calibri" pitchFamily="34" charset="0"/>
                <a:ea typeface="Calibri" pitchFamily="34" charset="-122"/>
                <a:cs typeface="Calibri" pitchFamily="34" charset="-120"/>
              </a:rPr>
              <a:t>It is the only measure in our set that pays the school rather than the teacher, it is closed, so the whole story can be told, and the Netherlands has the best data on the pool of qualified teachers working outside education.</a:t>
            </a:r>
            <a:endParaRPr lang="en-US" sz="1150" dirty="0"/>
          </a:p>
        </p:txBody>
      </p:sp>
      <p:sp>
        <p:nvSpPr>
          <p:cNvPr id="16" name="Shape 10"/>
          <p:cNvSpPr/>
          <p:nvPr/>
        </p:nvSpPr>
        <p:spPr>
          <a:xfrm>
            <a:off x="548640" y="5596128"/>
            <a:ext cx="11064240" cy="804672"/>
          </a:xfrm>
          <a:prstGeom prst="roundRect">
            <a:avLst>
              <a:gd name="adj" fmla="val 11364"/>
            </a:avLst>
          </a:prstGeom>
          <a:solidFill>
            <a:srgbClr val="EAF2EE"/>
          </a:solidFill>
          <a:ln w="12700">
            <a:solidFill>
              <a:srgbClr val="EAF2EE"/>
            </a:solidFill>
            <a:prstDash val="solid"/>
          </a:ln>
        </p:spPr>
      </p:sp>
      <p:pic>
        <p:nvPicPr>
          <p:cNvPr id="17" name="Image 4" descr="preencoded.png">    </p:cNvPr>
          <p:cNvPicPr>
            <a:picLocks noChangeAspect="1"/>
          </p:cNvPicPr>
          <p:nvPr/>
        </p:nvPicPr>
        <p:blipFill>
          <a:blip r:embed="rId5"/>
          <a:stretch>
            <a:fillRect/>
          </a:stretch>
        </p:blipFill>
        <p:spPr>
          <a:xfrm>
            <a:off x="777240" y="5737860"/>
            <a:ext cx="694944" cy="521208"/>
          </a:xfrm>
          <a:prstGeom prst="rect">
            <a:avLst/>
          </a:prstGeom>
        </p:spPr>
      </p:pic>
      <p:sp>
        <p:nvSpPr>
          <p:cNvPr id="18" name="Text 11"/>
          <p:cNvSpPr txBox="1"/>
          <p:nvPr/>
        </p:nvSpPr>
        <p:spPr>
          <a:xfrm>
            <a:off x="1691640" y="5650992"/>
            <a:ext cx="9784080" cy="694944"/>
          </a:xfrm>
          <a:prstGeom prst="rect">
            <a:avLst/>
          </a:prstGeom>
          <a:noFill/>
          <a:ln/>
        </p:spPr>
        <p:txBody>
          <a:bodyPr wrap="square" lIns="0" tIns="0" rIns="0" bIns="0" rtlCol="0" anchor="ctr"/>
          <a:lstStyle/>
          <a:p>
            <a:pPr indent="0" marL="0">
              <a:buNone/>
            </a:pPr>
            <a:r>
              <a:rPr lang="en-US" sz="1150" b="1" dirty="0">
                <a:solidFill>
                  <a:srgbClr val="24313A"/>
                </a:solidFill>
                <a:latin typeface="Calibri" pitchFamily="34" charset="0"/>
                <a:ea typeface="Calibri" pitchFamily="34" charset="-122"/>
                <a:cs typeface="Calibri" pitchFamily="34" charset="-120"/>
              </a:rPr>
              <a:t>United States (Michigan): Public Act 147 of 2023: shorter wait and no earnings cap for retirees who return</a:t>
            </a:r>
            <a:endParaRPr lang="en-US" sz="1150" dirty="0"/>
          </a:p>
          <a:p>
            <a:pPr indent="0" marL="0">
              <a:buNone/>
            </a:pPr>
            <a:r>
              <a:rPr lang="en-US" sz="1150" dirty="0">
                <a:solidFill>
                  <a:srgbClr val="24313A"/>
                </a:solidFill>
                <a:latin typeface="Calibri" pitchFamily="34" charset="0"/>
                <a:ea typeface="Calibri" pitchFamily="34" charset="-122"/>
                <a:cs typeface="Calibri" pitchFamily="34" charset="-120"/>
              </a:rPr>
              <a:t>A clean before-and-after in a single state, with every rehired retiree recorded by the state pension office, and a 2028 expiry that forces the state to decide, and probably to measure, whether it worked.</a:t>
            </a:r>
            <a:endParaRPr lang="en-US" sz="1150" dirty="0"/>
          </a:p>
        </p:txBody>
      </p:sp>
      <p:sp>
        <p:nvSpPr>
          <p:cNvPr id="19"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New South Wales</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Text 6"/>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Teachers Re-Engage (2023–24)</a:t>
            </a:r>
            <a:endParaRPr lang="en-US" sz="2000" dirty="0"/>
          </a:p>
        </p:txBody>
      </p:sp>
      <p:sp>
        <p:nvSpPr>
          <p:cNvPr id="10" name="Text 7"/>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Department of Education used its own staff records to contact more than 1,500 teachers who had resigned in the previous five years and offered them fast re-accreditation and a casual or temporary post. By May 2024, 260 had shown interest and 145 were placed. Nothing has been published since.</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NSW Department of Education, Teach NSW / school workforce division (teachers re-engage initiative team).</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did the idea of contacting former teachers directly come about, and how was it organised inside the department?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did you learn about who responds to this kind of approach, and who does not?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made it easy or hard for those who came back to settle into teaching again?</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Looking back, what would you keep, change or drop, and does the initiative continue in some form?</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Austria</a:t>
            </a:r>
            <a:endParaRPr lang="en-US" sz="2200" dirty="0"/>
          </a:p>
        </p:txBody>
      </p:sp>
      <p:sp>
        <p:nvSpPr>
          <p:cNvPr id="5" name="Shape 2"/>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7" name="Text 4"/>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8" name="Text 5"/>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Regional education authorities recruit retired teachers back (2022–)</a:t>
            </a:r>
            <a:endParaRPr lang="en-US" sz="2000" dirty="0"/>
          </a:p>
        </p:txBody>
      </p:sp>
      <p:sp>
        <p:nvSpPr>
          <p:cNvPr id="9" name="Text 6"/>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From late 2022 Austria's regional education directorates tried to bring retired teachers back. Vienna wrote to about 300 recent retirees and got three positive replies; it then asked every principal to talk personally with teachers approaching 65 about staying on, often part-time. Vorarlberg created a post to promote the option. Returners keep the full pension and are paid on the beginner's scale; take-up has been a few dozen teachers nationwide.</a:t>
            </a:r>
            <a:endParaRPr lang="en-US" sz="1400" dirty="0"/>
          </a:p>
        </p:txBody>
      </p:sp>
      <p:sp>
        <p:nvSpPr>
          <p:cNvPr id="10" name="Text 7"/>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Vienna regional education directorate (staffing unit), the Federal Ministry of Education's teacher-personnel section, and the authors of the 2025 European Journal of Teacher Education study.</a:t>
            </a:r>
            <a:endParaRPr lang="en-US" sz="1250" dirty="0"/>
          </a:p>
        </p:txBody>
      </p:sp>
      <p:sp>
        <p:nvSpPr>
          <p:cNvPr id="11" name="Shape 8"/>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2" name="Text 9"/>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3" name="Text 10"/>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Why did you decide to approach retired teachers, and how did the different regions go about it?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did retirees say when they declined, and what convinced the few who came back?</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Which rules on pensions, contracts or seniority get in the way, and is anything being done about them?</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Do you see retired teachers as a real reserve for the future, or only as an emergency measure?</a:t>
            </a:r>
            <a:endParaRPr lang="en-US" sz="1450" dirty="0"/>
          </a:p>
        </p:txBody>
      </p:sp>
      <p:sp>
        <p:nvSpPr>
          <p:cNvPr id="14"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Canada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Quebec</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Text 6"/>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Incentive pay for retired teachers who return (since 2020, permanent)</a:t>
            </a:r>
            <a:endParaRPr lang="en-US" sz="2000" dirty="0"/>
          </a:p>
        </p:txBody>
      </p:sp>
      <p:sp>
        <p:nvSpPr>
          <p:cNvPr id="10" name="Text 7"/>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Retired teachers who come back are paid from day one at the salary step they had at retirement, about 412 Canadian dollars a day (about 275 euros) instead of the 212-dollar substitute rate, while keeping the full pension. 700 retirees returned in 2020-21; more than 5,000 worked in schools in 2022-23. In 2023 the minister also wrote to every retiree.</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Quebec Ministry of Education, human-resources and workforce-planning branch for the school network.</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led the ministry to pay returning retirees on their former salary scale, and why was it made permanent?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has the return of retirees played out in schools, for the retirees themselves, for substitutes and for school teams?</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do you know about who comes back, for how long, and why others do not?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do you weigh the cost of the measure against what it delivers, and how do you see it evolving?</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Netherlands</a:t>
            </a:r>
            <a:endParaRPr lang="en-US" sz="2200" dirty="0"/>
          </a:p>
        </p:txBody>
      </p:sp>
      <p:sp>
        <p:nvSpPr>
          <p:cNvPr id="5" name="Shape 2"/>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Text 5"/>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Grant to primary schools for re-hiring former teachers (2017–2020)</a:t>
            </a:r>
            <a:endParaRPr lang="en-US" sz="2000" dirty="0"/>
          </a:p>
        </p:txBody>
      </p:sp>
      <p:sp>
        <p:nvSpPr>
          <p:cNvPr id="9" name="Text 6"/>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Ministry of Education paid a primary-school board up to 2,500 euros for every qualified teacher it re-hired after at least twelve months out of primary teaching, on a contract of six months or more, to fund the returner's coaching and refresher training. The first budget covered 500 returners; the scheme closed in 2020.</a:t>
            </a:r>
            <a:endParaRPr lang="en-US" sz="1400" dirty="0"/>
          </a:p>
        </p:txBody>
      </p:sp>
      <p:sp>
        <p:nvSpPr>
          <p:cNvPr id="10" name="Text 7"/>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Dutch Ministry of Education, Culture and Science, primary-education directorate, and the ministry's subsidy agency (DUS-I) that administered the grant.</a:t>
            </a:r>
            <a:endParaRPr lang="en-US" sz="1250" dirty="0"/>
          </a:p>
        </p:txBody>
      </p:sp>
      <p:sp>
        <p:nvSpPr>
          <p:cNvPr id="11" name="Shape 8"/>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2" name="Text 9"/>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3" name="Text 10"/>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was the thinking behind paying the school rather than the returning teacher, and how did schools use the money?</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did you learn about the teachers who came back through the scheme, and about those who stayed away?</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Why did the scheme end, and what has taken its place since?</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would you advise a country thinking of a similar scheme today?</a:t>
            </a:r>
            <a:endParaRPr lang="en-US" sz="1450" dirty="0"/>
          </a:p>
        </p:txBody>
      </p:sp>
      <p:sp>
        <p:nvSpPr>
          <p:cNvPr id="14"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United States</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Michigan</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Text 6"/>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Public Act 147 of 2023: shorter wait and no earnings cap for retirees who return</a:t>
            </a:r>
            <a:endParaRPr lang="en-US" sz="2000" dirty="0"/>
          </a:p>
        </p:txBody>
      </p:sp>
      <p:sp>
        <p:nvSpPr>
          <p:cNvPr id="10" name="Text 7"/>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Public Act 147 cut the waiting period before a retired school employee can be rehired from nine months to six, allowed limited earnings during the wait (below 15,100 dollars a year, about 13,000 euros) and removed the earnings cap afterwards, so retirees keep the full pension whatever they earn. Signed in October 2023 in response to shortages, it expires on 10 October 2028.</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Michigan Office of Retirement Services, which administers the school employees' retirement system, and the Michigan Department of Education's educator workforce office.</a:t>
            </a:r>
            <a:endParaRPr lang="en-US" sz="1250" dirty="0"/>
          </a:p>
        </p:txBody>
      </p:sp>
      <p:sp>
        <p:nvSpPr>
          <p:cNvPr id="12" name="Shape 9"/>
          <p:cNvSpPr/>
          <p:nvPr/>
        </p:nvSpPr>
        <p:spPr>
          <a:xfrm>
            <a:off x="5760720" y="1417320"/>
            <a:ext cx="5879592" cy="3429000"/>
          </a:xfrm>
          <a:prstGeom prst="roundRect">
            <a:avLst>
              <a:gd name="adj" fmla="val 3200"/>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57400"/>
            <a:ext cx="5349240" cy="4023360"/>
          </a:xfrm>
          <a:prstGeom prst="rect">
            <a:avLst/>
          </a:prstGeom>
          <a:noFill/>
          <a:ln/>
        </p:spPr>
        <p:txBody>
          <a:bodyPr wrap="square" lIns="0" tIns="0" rIns="0" bIns="0" rtlCol="0" anchor="t"/>
          <a:lstStyle/>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was the reasoning behind loosening the rules for retirees, and how did the pension side and the schools side see it?</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How have schools and retirees actually used the new rules since they came in?</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Have you seen any unintended effects, on retirement decisions, on younger teachers or on the pension system?</a:t>
            </a:r>
            <a:endParaRPr lang="en-US" sz="1450" dirty="0"/>
          </a:p>
          <a:p>
            <a:pPr marL="177800" indent="-177800">
              <a:lnSpc>
                <a:spcPct val="104000"/>
              </a:lnSpc>
              <a:spcAft>
                <a:spcPts val="1000"/>
              </a:spcAft>
              <a:buSzPct val="100000"/>
              <a:buChar char="•"/>
            </a:pPr>
            <a:r>
              <a:rPr lang="en-US" sz="1450" dirty="0">
                <a:solidFill>
                  <a:srgbClr val="24313A"/>
                </a:solidFill>
                <a:latin typeface="Calibri" pitchFamily="34" charset="0"/>
                <a:ea typeface="Calibri" pitchFamily="34" charset="-122"/>
                <a:cs typeface="Calibri" pitchFamily="34" charset="-120"/>
              </a:rPr>
              <a:t>What will decide whether the rules are kept when they expire, and what would you want to know before then?</a:t>
            </a:r>
            <a:endParaRPr lang="en-US" sz="145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If one of the five does not answer</a:t>
            </a:r>
            <a:endParaRPr lang="en-US" sz="3000" dirty="0"/>
          </a:p>
        </p:txBody>
      </p:sp>
      <p:sp>
        <p:nvSpPr>
          <p:cNvPr id="3" name="Shape 1"/>
          <p:cNvSpPr/>
          <p:nvPr/>
        </p:nvSpPr>
        <p:spPr>
          <a:xfrm>
            <a:off x="548640" y="1234440"/>
            <a:ext cx="11064240" cy="896112"/>
          </a:xfrm>
          <a:prstGeom prst="roundRect">
            <a:avLst>
              <a:gd name="adj" fmla="val 10204"/>
            </a:avLst>
          </a:prstGeom>
          <a:solidFill>
            <a:srgbClr val="EAF2EE"/>
          </a:solidFill>
          <a:ln w="12700">
            <a:solidFill>
              <a:srgbClr val="EAF2EE"/>
            </a:solidFill>
            <a:prstDash val="solid"/>
          </a:ln>
        </p:spPr>
      </p:sp>
      <p:sp>
        <p:nvSpPr>
          <p:cNvPr id="4" name="Text 2"/>
          <p:cNvSpPr txBox="1"/>
          <p:nvPr/>
        </p:nvSpPr>
        <p:spPr>
          <a:xfrm>
            <a:off x="777240" y="1307592"/>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Australia (Victoria), Teacher Re-Engagement Initiative</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Paid 40-day placements with a known budget and 1,100+ expressions of interest; conversion into jobs never published. Same contact route as New South Wales.</a:t>
            </a:r>
            <a:endParaRPr lang="en-US" sz="1250" dirty="0"/>
          </a:p>
        </p:txBody>
      </p:sp>
      <p:sp>
        <p:nvSpPr>
          <p:cNvPr id="5" name="Shape 3"/>
          <p:cNvSpPr/>
          <p:nvPr/>
        </p:nvSpPr>
        <p:spPr>
          <a:xfrm>
            <a:off x="548640" y="2221992"/>
            <a:ext cx="11064240" cy="896112"/>
          </a:xfrm>
          <a:prstGeom prst="roundRect">
            <a:avLst>
              <a:gd name="adj" fmla="val 10204"/>
            </a:avLst>
          </a:prstGeom>
          <a:solidFill>
            <a:srgbClr val="EAF2EE"/>
          </a:solidFill>
          <a:ln w="12700">
            <a:solidFill>
              <a:srgbClr val="EAF2EE"/>
            </a:solidFill>
            <a:prstDash val="solid"/>
          </a:ln>
        </p:spPr>
      </p:sp>
      <p:sp>
        <p:nvSpPr>
          <p:cNvPr id="6" name="Text 4"/>
          <p:cNvSpPr txBox="1"/>
          <p:nvPr/>
        </p:nvSpPr>
        <p:spPr>
          <a:xfrm>
            <a:off x="777240" y="2295144"/>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Germany (Lower Saxony), earnings ceiling and letter to retiring teachers</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A clean before-and-after: ceiling raised in 2022 and abolished in 2024, plus a letter campaign in 2023. Pension records would show how many hours pensioners teach.</a:t>
            </a:r>
            <a:endParaRPr lang="en-US" sz="1250" dirty="0"/>
          </a:p>
        </p:txBody>
      </p:sp>
      <p:sp>
        <p:nvSpPr>
          <p:cNvPr id="7" name="Shape 5"/>
          <p:cNvSpPr/>
          <p:nvPr/>
        </p:nvSpPr>
        <p:spPr>
          <a:xfrm>
            <a:off x="548640" y="3209544"/>
            <a:ext cx="11064240" cy="896112"/>
          </a:xfrm>
          <a:prstGeom prst="roundRect">
            <a:avLst>
              <a:gd name="adj" fmla="val 10204"/>
            </a:avLst>
          </a:prstGeom>
          <a:solidFill>
            <a:srgbClr val="EAF2EE"/>
          </a:solidFill>
          <a:ln w="12700">
            <a:solidFill>
              <a:srgbClr val="EAF2EE"/>
            </a:solidFill>
            <a:prstDash val="solid"/>
          </a:ln>
        </p:spPr>
      </p:sp>
      <p:sp>
        <p:nvSpPr>
          <p:cNvPr id="8" name="Text 6"/>
          <p:cNvSpPr txBox="1"/>
          <p:nvPr/>
        </p:nvSpPr>
        <p:spPr>
          <a:xfrm>
            <a:off x="777240" y="3282696"/>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New Zealand, streamlined return with fees covered</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352 returners counted by April 2025; the Ministry monitors the pathway and could say who returns and whether they stay.</a:t>
            </a:r>
            <a:endParaRPr lang="en-US" sz="1250" dirty="0"/>
          </a:p>
        </p:txBody>
      </p:sp>
      <p:sp>
        <p:nvSpPr>
          <p:cNvPr id="9" name="Shape 7"/>
          <p:cNvSpPr/>
          <p:nvPr/>
        </p:nvSpPr>
        <p:spPr>
          <a:xfrm>
            <a:off x="548640" y="4197096"/>
            <a:ext cx="11064240" cy="896112"/>
          </a:xfrm>
          <a:prstGeom prst="roundRect">
            <a:avLst>
              <a:gd name="adj" fmla="val 10204"/>
            </a:avLst>
          </a:prstGeom>
          <a:solidFill>
            <a:srgbClr val="EAF2EE"/>
          </a:solidFill>
          <a:ln w="12700">
            <a:solidFill>
              <a:srgbClr val="EAF2EE"/>
            </a:solidFill>
            <a:prstDash val="solid"/>
          </a:ln>
        </p:spPr>
      </p:sp>
      <p:sp>
        <p:nvSpPr>
          <p:cNvPr id="10" name="Text 8"/>
          <p:cNvSpPr txBox="1"/>
          <p:nvPr/>
        </p:nvSpPr>
        <p:spPr>
          <a:xfrm>
            <a:off x="777240" y="4270248"/>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Portugal, hiring of retired teachers (Decree-Law 51/2024)</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Low take-up (about 63 of 200 posts) is itself the lesson: why retirees did not come back despite pension plus pay.</a:t>
            </a:r>
            <a:endParaRPr lang="en-US" sz="1250" dirty="0"/>
          </a:p>
        </p:txBody>
      </p:sp>
      <p:sp>
        <p:nvSpPr>
          <p:cNvPr id="11" name="Shape 9"/>
          <p:cNvSpPr/>
          <p:nvPr/>
        </p:nvSpPr>
        <p:spPr>
          <a:xfrm>
            <a:off x="548640" y="5184648"/>
            <a:ext cx="11064240" cy="896112"/>
          </a:xfrm>
          <a:prstGeom prst="roundRect">
            <a:avLst>
              <a:gd name="adj" fmla="val 10204"/>
            </a:avLst>
          </a:prstGeom>
          <a:solidFill>
            <a:srgbClr val="EAF2EE"/>
          </a:solidFill>
          <a:ln w="12700">
            <a:solidFill>
              <a:srgbClr val="EAF2EE"/>
            </a:solidFill>
            <a:prstDash val="solid"/>
          </a:ln>
        </p:spPr>
      </p:sp>
      <p:sp>
        <p:nvSpPr>
          <p:cNvPr id="12" name="Text 10"/>
          <p:cNvSpPr txBox="1"/>
          <p:nvPr/>
        </p:nvSpPr>
        <p:spPr>
          <a:xfrm>
            <a:off x="777240" y="5257800"/>
            <a:ext cx="10607040" cy="749808"/>
          </a:xfrm>
          <a:prstGeom prst="rect">
            <a:avLst/>
          </a:prstGeom>
          <a:noFill/>
          <a:ln/>
        </p:spPr>
        <p:txBody>
          <a:bodyPr wrap="square" lIns="0" tIns="0" rIns="0" bIns="0" rtlCol="0" anchor="ctr"/>
          <a:lstStyle/>
          <a:p>
            <a:pPr indent="0" marL="0">
              <a:buNone/>
            </a:pPr>
            <a:r>
              <a:rPr lang="en-US" sz="1250" b="1" dirty="0">
                <a:solidFill>
                  <a:srgbClr val="24313A"/>
                </a:solidFill>
                <a:latin typeface="Calibri" pitchFamily="34" charset="0"/>
                <a:ea typeface="Calibri" pitchFamily="34" charset="-122"/>
                <a:cs typeface="Calibri" pitchFamily="34" charset="-120"/>
              </a:rPr>
              <a:t>United States (New Mexico), Educational Retirees Returning to Work Act (2022)</a:t>
            </a:r>
            <a:endParaRPr lang="en-US" sz="1250" dirty="0"/>
          </a:p>
          <a:p>
            <a:pPr indent="0" marL="0">
              <a:buNone/>
            </a:pPr>
            <a:r>
              <a:rPr lang="en-US" sz="1250" dirty="0">
                <a:solidFill>
                  <a:srgbClr val="24313A"/>
                </a:solidFill>
                <a:latin typeface="Calibri" pitchFamily="34" charset="0"/>
                <a:ea typeface="Calibri" pitchFamily="34" charset="-122"/>
                <a:cs typeface="Calibri" pitchFamily="34" charset="-120"/>
              </a:rPr>
              <a:t>Every returning retiree must be approved by the Educational Retirement Board, so exact counts of applications, approvals and destinations exist; the three-year cap shows how long returners stay.</a:t>
            </a:r>
            <a:endParaRPr lang="en-US" sz="1250" dirty="0"/>
          </a:p>
        </p:txBody>
      </p:sp>
      <p:sp>
        <p:nvSpPr>
          <p:cNvPr id="13"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 countries to contact</dc:title>
  <dc:subject>PptxGenJS Presentation</dc:subject>
  <dc:creator>José Manuel Torres, José Elías Durán Roa</dc:creator>
  <cp:lastModifiedBy>José Manuel Torres, José Elías Durán Roa</cp:lastModifiedBy>
  <cp:revision>1</cp:revision>
  <dcterms:created xsi:type="dcterms:W3CDTF">2026-09-17T18:49:39Z</dcterms:created>
  <dcterms:modified xsi:type="dcterms:W3CDTF">2026-09-17T18:49:39Z</dcterms:modified>
</cp:coreProperties>
</file>