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questions for a first contact; sources and figures as in the main deck (slide on this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463040"/>
            <a:ext cx="10698480" cy="100584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Five countries to contact</a:t>
            </a:r>
            <a:endParaRPr lang="en-US" sz="4400" dirty="0"/>
          </a:p>
        </p:txBody>
      </p:sp>
      <p:sp>
        <p:nvSpPr>
          <p:cNvPr id="3" name="Text 1"/>
          <p:cNvSpPr txBox="1"/>
          <p:nvPr/>
        </p:nvSpPr>
        <p:spPr>
          <a:xfrm>
            <a:off x="731520" y="2606040"/>
            <a:ext cx="10698480" cy="731520"/>
          </a:xfrm>
          <a:prstGeom prst="rect">
            <a:avLst/>
          </a:prstGeom>
          <a:noFill/>
          <a:ln/>
        </p:spPr>
        <p:txBody>
          <a:bodyPr wrap="square" lIns="0" tIns="0" rIns="0" bIns="0" rtlCol="0" anchor="ctr"/>
          <a:lstStyle/>
          <a:p>
            <a:pPr indent="0" marL="0">
              <a:buNone/>
            </a:pPr>
            <a:r>
              <a:rPr lang="en-US" sz="2000" dirty="0">
                <a:solidFill>
                  <a:srgbClr val="CFE3D9"/>
                </a:solidFill>
                <a:latin typeface="Calibri" pitchFamily="34" charset="0"/>
                <a:ea typeface="Calibri" pitchFamily="34" charset="-122"/>
                <a:cs typeface="Calibri" pitchFamily="34" charset="-120"/>
              </a:rPr>
              <a:t>Re-attracting former teachers: the policies we want to ask about, and what we would like to learn</a:t>
            </a:r>
            <a:endParaRPr lang="en-US" sz="2000" dirty="0"/>
          </a:p>
        </p:txBody>
      </p:sp>
      <p:sp>
        <p:nvSpPr>
          <p:cNvPr id="4" name="Text 2"/>
          <p:cNvSpPr txBox="1"/>
          <p:nvPr/>
        </p:nvSpPr>
        <p:spPr>
          <a:xfrm>
            <a:off x="731520" y="393192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731520" y="4937760"/>
            <a:ext cx="914400" cy="685800"/>
          </a:xfrm>
          <a:prstGeom prst="rect">
            <a:avLst/>
          </a:prstGeom>
        </p:spPr>
      </p:pic>
      <p:pic>
        <p:nvPicPr>
          <p:cNvPr id="6" name="Image 1" descr="preencoded.png">    </p:cNvPr>
          <p:cNvPicPr>
            <a:picLocks noChangeAspect="1"/>
          </p:cNvPicPr>
          <p:nvPr/>
        </p:nvPicPr>
        <p:blipFill>
          <a:blip r:embed="rId2"/>
          <a:stretch>
            <a:fillRect/>
          </a:stretch>
        </p:blipFill>
        <p:spPr>
          <a:xfrm>
            <a:off x="1874520" y="4937760"/>
            <a:ext cx="914400" cy="685800"/>
          </a:xfrm>
          <a:prstGeom prst="rect">
            <a:avLst/>
          </a:prstGeom>
        </p:spPr>
      </p:pic>
      <p:pic>
        <p:nvPicPr>
          <p:cNvPr id="7" name="Image 2" descr="preencoded.png">    </p:cNvPr>
          <p:cNvPicPr>
            <a:picLocks noChangeAspect="1"/>
          </p:cNvPicPr>
          <p:nvPr/>
        </p:nvPicPr>
        <p:blipFill>
          <a:blip r:embed="rId3"/>
          <a:stretch>
            <a:fillRect/>
          </a:stretch>
        </p:blipFill>
        <p:spPr>
          <a:xfrm>
            <a:off x="3017520" y="4937760"/>
            <a:ext cx="914400" cy="685800"/>
          </a:xfrm>
          <a:prstGeom prst="rect">
            <a:avLst/>
          </a:prstGeom>
        </p:spPr>
      </p:pic>
      <p:pic>
        <p:nvPicPr>
          <p:cNvPr id="8" name="Image 3" descr="preencoded.png">    </p:cNvPr>
          <p:cNvPicPr>
            <a:picLocks noChangeAspect="1"/>
          </p:cNvPicPr>
          <p:nvPr/>
        </p:nvPicPr>
        <p:blipFill>
          <a:blip r:embed="rId4"/>
          <a:stretch>
            <a:fillRect/>
          </a:stretch>
        </p:blipFill>
        <p:spPr>
          <a:xfrm>
            <a:off x="4160520" y="4937760"/>
            <a:ext cx="914400" cy="685800"/>
          </a:xfrm>
          <a:prstGeom prst="rect">
            <a:avLst/>
          </a:prstGeom>
        </p:spPr>
      </p:pic>
      <p:pic>
        <p:nvPicPr>
          <p:cNvPr id="9" name="Image 4" descr="preencoded.png">    </p:cNvPr>
          <p:cNvPicPr>
            <a:picLocks noChangeAspect="1"/>
          </p:cNvPicPr>
          <p:nvPr/>
        </p:nvPicPr>
        <p:blipFill>
          <a:blip r:embed="rId5"/>
          <a:stretch>
            <a:fillRect/>
          </a:stretch>
        </p:blipFill>
        <p:spPr>
          <a:xfrm>
            <a:off x="5303520" y="4937760"/>
            <a:ext cx="914400" cy="685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640080"/>
          </a:xfrm>
          <a:prstGeom prst="rect">
            <a:avLst/>
          </a:prstGeom>
          <a:noFill/>
          <a:ln/>
        </p:spPr>
        <p:txBody>
          <a:bodyPr wrap="square" lIns="0" tIns="0" rIns="0" bIns="0" rtlCol="0" anchor="ctr"/>
          <a:lstStyle/>
          <a:p>
            <a:pPr indent="0" marL="0">
              <a:buNone/>
            </a:pPr>
            <a:r>
              <a:rPr lang="en-US" sz="3200" b="1" dirty="0">
                <a:solidFill>
                  <a:srgbClr val="24313A"/>
                </a:solidFill>
                <a:latin typeface="Cambria" pitchFamily="34" charset="0"/>
                <a:ea typeface="Cambria" pitchFamily="34" charset="-122"/>
                <a:cs typeface="Cambria" pitchFamily="34" charset="-120"/>
              </a:rPr>
              <a:t>Why these five</a:t>
            </a:r>
            <a:endParaRPr lang="en-US" sz="3200" dirty="0"/>
          </a:p>
        </p:txBody>
      </p:sp>
      <p:sp>
        <p:nvSpPr>
          <p:cNvPr id="3" name="Text 1"/>
          <p:cNvSpPr txBox="1"/>
          <p:nvPr/>
        </p:nvSpPr>
        <p:spPr>
          <a:xfrm>
            <a:off x="548640" y="1143000"/>
            <a:ext cx="11064240" cy="777240"/>
          </a:xfrm>
          <a:prstGeom prst="rect">
            <a:avLst/>
          </a:prstGeom>
          <a:noFill/>
          <a:ln/>
        </p:spPr>
        <p:txBody>
          <a:bodyPr wrap="square" lIns="0" tIns="0" rIns="0" bIns="0" rtlCol="0" anchor="t"/>
          <a:lstStyle/>
          <a:p>
            <a:pPr indent="0" marL="0">
              <a:buNone/>
            </a:pPr>
            <a:r>
              <a:rPr lang="en-US" sz="1350" dirty="0">
                <a:solidFill>
                  <a:srgbClr val="24313A"/>
                </a:solidFill>
                <a:latin typeface="Calibri" pitchFamily="34" charset="0"/>
                <a:ea typeface="Calibri" pitchFamily="34" charset="-122"/>
                <a:cs typeface="Calibri" pitchFamily="34" charset="-120"/>
              </a:rPr>
              <a:t>We chose the countries we can learn most from, not the ones with the most or the least information. Each one passes three tests: the policy is real and recent, it adds a different instrument or lesson to the others, and the questions we care about have answers sitting in the administration's own records rather than in what has been published.</a:t>
            </a:r>
            <a:endParaRPr lang="en-US" sz="1350" dirty="0"/>
          </a:p>
        </p:txBody>
      </p:sp>
      <p:sp>
        <p:nvSpPr>
          <p:cNvPr id="4" name="Shape 2"/>
          <p:cNvSpPr/>
          <p:nvPr/>
        </p:nvSpPr>
        <p:spPr>
          <a:xfrm>
            <a:off x="548640" y="2011680"/>
            <a:ext cx="11064240" cy="804672"/>
          </a:xfrm>
          <a:prstGeom prst="roundRect">
            <a:avLst>
              <a:gd name="adj" fmla="val 11364"/>
            </a:avLst>
          </a:prstGeom>
          <a:solidFill>
            <a:srgbClr val="EAF2EE"/>
          </a:solidFill>
          <a:ln w="12700">
            <a:solidFill>
              <a:srgbClr val="EAF2EE"/>
            </a:solidFill>
            <a:prstDash val="solid"/>
          </a:ln>
        </p:spPr>
      </p:sp>
      <p:pic>
        <p:nvPicPr>
          <p:cNvPr id="5" name="Image 0" descr="preencoded.png">    </p:cNvPr>
          <p:cNvPicPr>
            <a:picLocks noChangeAspect="1"/>
          </p:cNvPicPr>
          <p:nvPr/>
        </p:nvPicPr>
        <p:blipFill>
          <a:blip r:embed="rId1"/>
          <a:stretch>
            <a:fillRect/>
          </a:stretch>
        </p:blipFill>
        <p:spPr>
          <a:xfrm>
            <a:off x="777240" y="2153412"/>
            <a:ext cx="694944" cy="521208"/>
          </a:xfrm>
          <a:prstGeom prst="rect">
            <a:avLst/>
          </a:prstGeom>
        </p:spPr>
      </p:pic>
      <p:sp>
        <p:nvSpPr>
          <p:cNvPr id="6" name="Text 3"/>
          <p:cNvSpPr txBox="1"/>
          <p:nvPr/>
        </p:nvSpPr>
        <p:spPr>
          <a:xfrm>
            <a:off x="1691640" y="2066544"/>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Australia (New South Wales): Teachers Re-Engage (since 2023)</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cleanest example of a direct-outreach nudge with a published funnel from contacts to placements, and the missing pieces (cost, retention, who came back) exist in the department's records.</a:t>
            </a:r>
            <a:endParaRPr lang="en-US" sz="1150" dirty="0"/>
          </a:p>
        </p:txBody>
      </p:sp>
      <p:sp>
        <p:nvSpPr>
          <p:cNvPr id="7" name="Shape 4"/>
          <p:cNvSpPr/>
          <p:nvPr/>
        </p:nvSpPr>
        <p:spPr>
          <a:xfrm>
            <a:off x="548640" y="2907792"/>
            <a:ext cx="11064240" cy="804672"/>
          </a:xfrm>
          <a:prstGeom prst="roundRect">
            <a:avLst>
              <a:gd name="adj" fmla="val 11364"/>
            </a:avLst>
          </a:prstGeom>
          <a:solidFill>
            <a:srgbClr val="EAF2EE"/>
          </a:solidFill>
          <a:ln w="12700">
            <a:solidFill>
              <a:srgbClr val="EAF2EE"/>
            </a:solidFill>
            <a:prstDash val="solid"/>
          </a:ln>
        </p:spPr>
      </p:sp>
      <p:pic>
        <p:nvPicPr>
          <p:cNvPr id="8" name="Image 1" descr="preencoded.png">    </p:cNvPr>
          <p:cNvPicPr>
            <a:picLocks noChangeAspect="1"/>
          </p:cNvPicPr>
          <p:nvPr/>
        </p:nvPicPr>
        <p:blipFill>
          <a:blip r:embed="rId2"/>
          <a:stretch>
            <a:fillRect/>
          </a:stretch>
        </p:blipFill>
        <p:spPr>
          <a:xfrm>
            <a:off x="777240" y="3049524"/>
            <a:ext cx="694944" cy="521208"/>
          </a:xfrm>
          <a:prstGeom prst="rect">
            <a:avLst/>
          </a:prstGeom>
        </p:spPr>
      </p:pic>
      <p:sp>
        <p:nvSpPr>
          <p:cNvPr id="9" name="Text 5"/>
          <p:cNvSpPr txBox="1"/>
          <p:nvPr/>
        </p:nvSpPr>
        <p:spPr>
          <a:xfrm>
            <a:off x="1691640" y="2962656"/>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Austria: Regional education authorities recruit retired teachers back (2022–)</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one case where a cheap nudge visibly failed and was replaced by a different one, with a 2025 academic study pointing to pension and seniority rules as the barrier: the negative lesson the other four cannot give.</a:t>
            </a:r>
            <a:endParaRPr lang="en-US" sz="1150" dirty="0"/>
          </a:p>
        </p:txBody>
      </p:sp>
      <p:sp>
        <p:nvSpPr>
          <p:cNvPr id="10" name="Shape 6"/>
          <p:cNvSpPr/>
          <p:nvPr/>
        </p:nvSpPr>
        <p:spPr>
          <a:xfrm>
            <a:off x="548640" y="3803904"/>
            <a:ext cx="11064240" cy="804672"/>
          </a:xfrm>
          <a:prstGeom prst="roundRect">
            <a:avLst>
              <a:gd name="adj" fmla="val 11364"/>
            </a:avLst>
          </a:prstGeom>
          <a:solidFill>
            <a:srgbClr val="EAF2EE"/>
          </a:solidFill>
          <a:ln w="12700">
            <a:solidFill>
              <a:srgbClr val="EAF2EE"/>
            </a:solidFill>
            <a:prstDash val="solid"/>
          </a:ln>
        </p:spPr>
      </p:sp>
      <p:pic>
        <p:nvPicPr>
          <p:cNvPr id="11" name="Image 2" descr="preencoded.png">    </p:cNvPr>
          <p:cNvPicPr>
            <a:picLocks noChangeAspect="1"/>
          </p:cNvPicPr>
          <p:nvPr/>
        </p:nvPicPr>
        <p:blipFill>
          <a:blip r:embed="rId3"/>
          <a:stretch>
            <a:fillRect/>
          </a:stretch>
        </p:blipFill>
        <p:spPr>
          <a:xfrm>
            <a:off x="777240" y="3945636"/>
            <a:ext cx="694944" cy="521208"/>
          </a:xfrm>
          <a:prstGeom prst="rect">
            <a:avLst/>
          </a:prstGeom>
        </p:spPr>
      </p:pic>
      <p:sp>
        <p:nvSpPr>
          <p:cNvPr id="12" name="Text 7"/>
          <p:cNvSpPr txBox="1"/>
          <p:nvPr/>
        </p:nvSpPr>
        <p:spPr>
          <a:xfrm>
            <a:off x="1691640" y="3858768"/>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Canada (Quebec): Incentive pay for retired teachers who return (since 2020, permanent)</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only financial incentive for retirees running at large scale and now permanent, so the ministry can show whether money changes behaviour, at what cost, and with what side effects on active substitutes and on retirement decisions.</a:t>
            </a:r>
            <a:endParaRPr lang="en-US" sz="1150" dirty="0"/>
          </a:p>
        </p:txBody>
      </p:sp>
      <p:sp>
        <p:nvSpPr>
          <p:cNvPr id="13" name="Shape 8"/>
          <p:cNvSpPr/>
          <p:nvPr/>
        </p:nvSpPr>
        <p:spPr>
          <a:xfrm>
            <a:off x="548640" y="4700016"/>
            <a:ext cx="11064240" cy="804672"/>
          </a:xfrm>
          <a:prstGeom prst="roundRect">
            <a:avLst>
              <a:gd name="adj" fmla="val 11364"/>
            </a:avLst>
          </a:prstGeom>
          <a:solidFill>
            <a:srgbClr val="EAF2EE"/>
          </a:solidFill>
          <a:ln w="12700">
            <a:solidFill>
              <a:srgbClr val="EAF2EE"/>
            </a:solidFill>
            <a:prstDash val="solid"/>
          </a:ln>
        </p:spPr>
      </p:sp>
      <p:pic>
        <p:nvPicPr>
          <p:cNvPr id="14" name="Image 3" descr="preencoded.png">    </p:cNvPr>
          <p:cNvPicPr>
            <a:picLocks noChangeAspect="1"/>
          </p:cNvPicPr>
          <p:nvPr/>
        </p:nvPicPr>
        <p:blipFill>
          <a:blip r:embed="rId4"/>
          <a:stretch>
            <a:fillRect/>
          </a:stretch>
        </p:blipFill>
        <p:spPr>
          <a:xfrm>
            <a:off x="777240" y="4841748"/>
            <a:ext cx="694944" cy="521208"/>
          </a:xfrm>
          <a:prstGeom prst="rect">
            <a:avLst/>
          </a:prstGeom>
        </p:spPr>
      </p:pic>
      <p:sp>
        <p:nvSpPr>
          <p:cNvPr id="15" name="Text 9"/>
          <p:cNvSpPr txBox="1"/>
          <p:nvPr/>
        </p:nvSpPr>
        <p:spPr>
          <a:xfrm>
            <a:off x="1691640" y="4754880"/>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Netherlands: Grant to primary schools for re-hiring former teachers (2017–2020)</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It is the only measure in our set that pays the school rather than the teacher, it is closed, so the whole story can be told, and the Netherlands has the best data on the pool of qualified teachers working outside education.</a:t>
            </a:r>
            <a:endParaRPr lang="en-US" sz="1150" dirty="0"/>
          </a:p>
        </p:txBody>
      </p:sp>
      <p:sp>
        <p:nvSpPr>
          <p:cNvPr id="16" name="Shape 10"/>
          <p:cNvSpPr/>
          <p:nvPr/>
        </p:nvSpPr>
        <p:spPr>
          <a:xfrm>
            <a:off x="548640" y="5596128"/>
            <a:ext cx="11064240" cy="804672"/>
          </a:xfrm>
          <a:prstGeom prst="roundRect">
            <a:avLst>
              <a:gd name="adj" fmla="val 11364"/>
            </a:avLst>
          </a:prstGeom>
          <a:solidFill>
            <a:srgbClr val="EAF2EE"/>
          </a:solidFill>
          <a:ln w="12700">
            <a:solidFill>
              <a:srgbClr val="EAF2EE"/>
            </a:solidFill>
            <a:prstDash val="solid"/>
          </a:ln>
        </p:spPr>
      </p:sp>
      <p:pic>
        <p:nvPicPr>
          <p:cNvPr id="17" name="Image 4" descr="preencoded.png">    </p:cNvPr>
          <p:cNvPicPr>
            <a:picLocks noChangeAspect="1"/>
          </p:cNvPicPr>
          <p:nvPr/>
        </p:nvPicPr>
        <p:blipFill>
          <a:blip r:embed="rId5"/>
          <a:stretch>
            <a:fillRect/>
          </a:stretch>
        </p:blipFill>
        <p:spPr>
          <a:xfrm>
            <a:off x="777240" y="5737860"/>
            <a:ext cx="694944" cy="521208"/>
          </a:xfrm>
          <a:prstGeom prst="rect">
            <a:avLst/>
          </a:prstGeom>
        </p:spPr>
      </p:pic>
      <p:sp>
        <p:nvSpPr>
          <p:cNvPr id="18" name="Text 11"/>
          <p:cNvSpPr txBox="1"/>
          <p:nvPr/>
        </p:nvSpPr>
        <p:spPr>
          <a:xfrm>
            <a:off x="1691640" y="5650992"/>
            <a:ext cx="9784080" cy="694944"/>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United States (Michigan): Public Act 147 of 2023: shorter wait and no earnings cap for retirees who return</a:t>
            </a:r>
            <a:endParaRPr lang="en-US" sz="1150" dirty="0"/>
          </a:p>
          <a:p>
            <a:pPr indent="0" marL="0">
              <a:buNone/>
            </a:pPr>
            <a:r>
              <a:rPr lang="en-US" sz="1150" dirty="0">
                <a:solidFill>
                  <a:srgbClr val="24313A"/>
                </a:solidFill>
                <a:latin typeface="Calibri" pitchFamily="34" charset="0"/>
                <a:ea typeface="Calibri" pitchFamily="34" charset="-122"/>
                <a:cs typeface="Calibri" pitchFamily="34" charset="-120"/>
              </a:rPr>
              <a:t>A clean before-and-after in a single state, with every rehired retiree recorded by the state pension office, and a 2028 expiry that forces the state to decide, and probably to measure, whether it worked.</a:t>
            </a:r>
            <a:endParaRPr lang="en-US" sz="1150" dirty="0"/>
          </a:p>
        </p:txBody>
      </p:sp>
      <p:sp>
        <p:nvSpPr>
          <p:cNvPr id="19"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Teachers Re-Engage (since 2023)</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It was launched just after teachers received one of the largest pay rises in decades and a cut in administrative work, and the department credits both with helping the returns.</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NSW Department of Education, Teach NSW / school workforce division (teachers re-engage initiative team).</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did the idea of contacting former teachers directly come about, and how was it organised inside the department?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who responds to this kind of approach, and who does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made it easy or hard for those who came back to settle into teaching again?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Looking back, what would you keep, change or drop, and does the initiative continue in some form?</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regional education directorates ask teachers who have retired, or are about to, to keep teaching. Vienna started by writing to recent retirees; when almost nobody replied, it had principals raise the subject personally with staff approaching retirement age, usually offering reduced hours. A teacher who returns keeps the full pension and signs a separate contract paid on the beginner's salary scale. Take-up has stayed small.</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Vienna regional education directorate (staffing unit), the Federal Ministry of Education's teacher-personnel section, and the authors of the 2025 European Journal of Teacher Education study.</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Why did you decide to approach retired teachers, and how did the different regions go about it?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retirees say when they declined, and what convinced the few who came back?</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Which rules on pensions, contracts or seniority get in the way, and is anything being done about them?</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Do you see retired teachers as a real reserve for the future, or only as an emergency measure?</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Incentive pay for retired teachers who return (since 2020, permanent)</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Retired teachers who come back to the classroom are paid at the salary step they had reached when they retired, far above the ordinary substitute rate, and keep their pension in full. Introduced during the pandemic and later made permanent, the measure was reinforced by a personal letter from the minister to every retired teacher inviting them back.</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Quebec Ministry of Education, human-resources and workforce-planning branch for the school network.</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led the ministry to pay returning retirees on their former salary scale, and why was it made permanent?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has the return of retirees played out in schools, for the retirees themselves, for substitutes and for school teams?</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do you know about who comes back, for how long, and why others do not?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do you weigh the cost of the measure against what it delivers, and how do you see it evolving?</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Text 5"/>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000" dirty="0"/>
          </a:p>
        </p:txBody>
      </p:sp>
      <p:sp>
        <p:nvSpPr>
          <p:cNvPr id="9" name="Text 6"/>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The ministry paid the school rather than the teacher. A primary-school board that hired a qualified teacher who had been out of primary education for at least a year, on a contract of six months or more, received a grant earmarked for that person's coaching and refresher training in the first months back. The scheme ran for two years and then closed.</a:t>
            </a:r>
            <a:endParaRPr lang="en-US" sz="1400" dirty="0"/>
          </a:p>
        </p:txBody>
      </p:sp>
      <p:sp>
        <p:nvSpPr>
          <p:cNvPr id="10" name="Text 7"/>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Dutch Ministry of Education, Culture and Science, primary-education directorate, and the ministry's subsidy agency (DUS-I) that administered the grant.</a:t>
            </a:r>
            <a:endParaRPr lang="en-US" sz="1250" dirty="0"/>
          </a:p>
        </p:txBody>
      </p:sp>
      <p:sp>
        <p:nvSpPr>
          <p:cNvPr id="11" name="Shape 8"/>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2" name="Text 9"/>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3" name="Text 10"/>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thinking behind paying the school rather than the returning teacher, and how did schools use the money?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did you learn about the teachers who came back through the scheme, and about those who stayed away?</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Why did the scheme end, and what has taken its place since?</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would you advise a country thinking of a similar scheme today?</a:t>
            </a:r>
            <a:endParaRPr lang="en-US" sz="1450" dirty="0"/>
          </a:p>
        </p:txBody>
      </p:sp>
      <p:sp>
        <p:nvSpPr>
          <p:cNvPr id="14"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11480"/>
            <a:ext cx="960120" cy="720090"/>
          </a:xfrm>
          <a:prstGeom prst="rect">
            <a:avLst/>
          </a:prstGeom>
        </p:spPr>
      </p:pic>
      <p:sp>
        <p:nvSpPr>
          <p:cNvPr id="3" name="Shape 0"/>
          <p:cNvSpPr/>
          <p:nvPr/>
        </p:nvSpPr>
        <p:spPr>
          <a:xfrm>
            <a:off x="548640" y="411480"/>
            <a:ext cx="960120" cy="720090"/>
          </a:xfrm>
          <a:prstGeom prst="rect">
            <a:avLst/>
          </a:prstGeom>
          <a:ln w="9525">
            <a:solidFill>
              <a:srgbClr val="CFDCD5"/>
            </a:solidFill>
            <a:prstDash val="solid"/>
          </a:ln>
        </p:spPr>
      </p:sp>
      <p:sp>
        <p:nvSpPr>
          <p:cNvPr id="4" name="Text 1"/>
          <p:cNvSpPr txBox="1"/>
          <p:nvPr/>
        </p:nvSpPr>
        <p:spPr>
          <a:xfrm>
            <a:off x="1691640" y="365760"/>
            <a:ext cx="59436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91640" y="822960"/>
            <a:ext cx="5943600" cy="310896"/>
          </a:xfrm>
          <a:prstGeom prst="rect">
            <a:avLst/>
          </a:prstGeom>
          <a:noFill/>
          <a:ln/>
        </p:spPr>
        <p:txBody>
          <a:bodyPr wrap="square" lIns="0" tIns="0" rIns="0" bIns="0" rtlCol="0" anchor="ctr"/>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165592" y="411480"/>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165592" y="411480"/>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251192" y="877824"/>
            <a:ext cx="4389120" cy="274320"/>
          </a:xfrm>
          <a:prstGeom prst="rect">
            <a:avLst/>
          </a:prstGeom>
          <a:noFill/>
          <a:ln/>
        </p:spPr>
        <p:txBody>
          <a:bodyPr wrap="square" lIns="0" tIns="0" rIns="0" bIns="0" rtlCol="0" anchor="ctr"/>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Text 6"/>
          <p:cNvSpPr txBox="1"/>
          <p:nvPr/>
        </p:nvSpPr>
        <p:spPr>
          <a:xfrm>
            <a:off x="548640" y="1417320"/>
            <a:ext cx="4846320" cy="822960"/>
          </a:xfrm>
          <a:prstGeom prst="rect">
            <a:avLst/>
          </a:prstGeom>
          <a:noFill/>
          <a:ln/>
        </p:spPr>
        <p:txBody>
          <a:bodyPr wrap="square" lIns="0" tIns="0" rIns="0" bIns="0" rtlCol="0" anchor="t"/>
          <a:lstStyle/>
          <a:p>
            <a:pPr indent="0" marL="0">
              <a:buNone/>
            </a:pPr>
            <a:r>
              <a:rPr lang="en-US" sz="20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000" dirty="0"/>
          </a:p>
        </p:txBody>
      </p:sp>
      <p:sp>
        <p:nvSpPr>
          <p:cNvPr id="10" name="Text 7"/>
          <p:cNvSpPr txBox="1"/>
          <p:nvPr/>
        </p:nvSpPr>
        <p:spPr>
          <a:xfrm>
            <a:off x="548640" y="2286000"/>
            <a:ext cx="4846320" cy="2103120"/>
          </a:xfrm>
          <a:prstGeom prst="rect">
            <a:avLst/>
          </a:prstGeom>
          <a:noFill/>
          <a:ln/>
        </p:spPr>
        <p:txBody>
          <a:bodyPr wrap="square" lIns="0" tIns="0" rIns="0" bIns="0" rtlCol="0" anchor="t"/>
          <a:lstStyle/>
          <a:p>
            <a:pPr indent="0" marL="0">
              <a:lnSpc>
                <a:spcPct val="106000"/>
              </a:lnSpc>
              <a:buNone/>
            </a:pPr>
            <a:r>
              <a:rPr lang="en-US" sz="1400" dirty="0">
                <a:solidFill>
                  <a:srgbClr val="24313A"/>
                </a:solidFill>
                <a:latin typeface="Calibri" pitchFamily="34" charset="0"/>
                <a:ea typeface="Calibri" pitchFamily="34" charset="-122"/>
                <a:cs typeface="Calibri" pitchFamily="34" charset="-120"/>
              </a:rPr>
              <a:t>Retired school staff can be rehired sooner and earn without limit. The waiting period after retirement fell from nine months to six; during the wait a retiree may work if earnings stay under a ceiling, and afterwards there is no earnings cap and no penalty on the pension. Passed in response to shortages, the change expires in 2028.</a:t>
            </a:r>
            <a:endParaRPr lang="en-US" sz="1400" dirty="0"/>
          </a:p>
        </p:txBody>
      </p:sp>
      <p:sp>
        <p:nvSpPr>
          <p:cNvPr id="11" name="Text 8"/>
          <p:cNvSpPr txBox="1"/>
          <p:nvPr/>
        </p:nvSpPr>
        <p:spPr>
          <a:xfrm>
            <a:off x="548640" y="4343400"/>
            <a:ext cx="4846320" cy="1097280"/>
          </a:xfrm>
          <a:prstGeom prst="rect">
            <a:avLst/>
          </a:prstGeom>
          <a:noFill/>
          <a:ln/>
        </p:spPr>
        <p:txBody>
          <a:bodyPr wrap="square" lIns="0" tIns="0" rIns="0" bIns="0" rtlCol="0" anchor="t"/>
          <a:lstStyle/>
          <a:p>
            <a:pPr indent="0" marL="0">
              <a:buNone/>
            </a:pPr>
            <a:r>
              <a:rPr lang="en-US" sz="1250" b="1" dirty="0">
                <a:solidFill>
                  <a:srgbClr val="24313A"/>
                </a:solidFill>
                <a:latin typeface="Calibri" pitchFamily="34" charset="0"/>
                <a:ea typeface="Calibri" pitchFamily="34" charset="-122"/>
                <a:cs typeface="Calibri" pitchFamily="34" charset="-120"/>
              </a:rPr>
              <a:t>Whom to contact: </a:t>
            </a:r>
            <a:pPr indent="0" marL="0">
              <a:buNone/>
            </a:pPr>
            <a:r>
              <a:rPr lang="en-US" sz="1250" dirty="0">
                <a:solidFill>
                  <a:srgbClr val="24313A"/>
                </a:solidFill>
                <a:latin typeface="Calibri" pitchFamily="34" charset="0"/>
                <a:ea typeface="Calibri" pitchFamily="34" charset="-122"/>
                <a:cs typeface="Calibri" pitchFamily="34" charset="-120"/>
              </a:rPr>
              <a:t>Michigan Office of Retirement Services, which administers the school employees' retirement system, and the Michigan Department of Education's educator workforce office.</a:t>
            </a:r>
            <a:endParaRPr lang="en-US" sz="1250" dirty="0"/>
          </a:p>
        </p:txBody>
      </p:sp>
      <p:sp>
        <p:nvSpPr>
          <p:cNvPr id="12" name="Shape 9"/>
          <p:cNvSpPr/>
          <p:nvPr/>
        </p:nvSpPr>
        <p:spPr>
          <a:xfrm>
            <a:off x="5760720" y="1417320"/>
            <a:ext cx="5879592" cy="3429000"/>
          </a:xfrm>
          <a:prstGeom prst="roundRect">
            <a:avLst>
              <a:gd name="adj" fmla="val 3200"/>
            </a:avLst>
          </a:prstGeom>
          <a:solidFill>
            <a:srgbClr val="EAF2EE"/>
          </a:solidFill>
          <a:ln w="12700">
            <a:solidFill>
              <a:srgbClr val="EAF2EE"/>
            </a:solidFill>
            <a:prstDash val="solid"/>
          </a:ln>
        </p:spPr>
      </p:sp>
      <p:sp>
        <p:nvSpPr>
          <p:cNvPr id="13" name="Text 10"/>
          <p:cNvSpPr txBox="1"/>
          <p:nvPr/>
        </p:nvSpPr>
        <p:spPr>
          <a:xfrm>
            <a:off x="6035040" y="1554480"/>
            <a:ext cx="5394960" cy="411480"/>
          </a:xfrm>
          <a:prstGeom prst="rect">
            <a:avLst/>
          </a:prstGeom>
          <a:noFill/>
          <a:ln/>
        </p:spPr>
        <p:txBody>
          <a:bodyPr wrap="square" lIns="0" tIns="0" rIns="0" bIns="0" rtlCol="0" anchor="ctr"/>
          <a:lstStyle/>
          <a:p>
            <a:pPr indent="0" marL="0">
              <a:buNone/>
            </a:pPr>
            <a:r>
              <a:rPr lang="en-US" sz="1500" b="1" dirty="0">
                <a:solidFill>
                  <a:srgbClr val="B3542E"/>
                </a:solidFill>
                <a:latin typeface="Calibri" pitchFamily="34" charset="0"/>
                <a:ea typeface="Calibri" pitchFamily="34" charset="-122"/>
                <a:cs typeface="Calibri" pitchFamily="34" charset="-120"/>
              </a:rPr>
              <a:t>What we would like to know</a:t>
            </a:r>
            <a:endParaRPr lang="en-US" sz="1500" dirty="0"/>
          </a:p>
        </p:txBody>
      </p:sp>
      <p:sp>
        <p:nvSpPr>
          <p:cNvPr id="14" name="Text 11"/>
          <p:cNvSpPr txBox="1"/>
          <p:nvPr/>
        </p:nvSpPr>
        <p:spPr>
          <a:xfrm>
            <a:off x="6035040" y="2057400"/>
            <a:ext cx="5349240" cy="402336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was the reasoning behind loosening the rules for retirees, and how did the pension side and the schools side see it?</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How have schools and retirees actually used the new rules since they came in?</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Have you seen any unintended effects, on retirement decisions, on younger teachers or on the pension system?</a:t>
            </a:r>
            <a:endParaRPr lang="en-US" sz="1450" dirty="0"/>
          </a:p>
          <a:p>
            <a:pPr marL="177800" indent="-177800">
              <a:lnSpc>
                <a:spcPct val="104000"/>
              </a:lnSpc>
              <a:spcAft>
                <a:spcPts val="1000"/>
              </a:spcAft>
              <a:buSzPct val="100000"/>
              <a:buChar char="•"/>
            </a:pPr>
            <a:r>
              <a:rPr lang="en-US" sz="1450" dirty="0">
                <a:solidFill>
                  <a:srgbClr val="24313A"/>
                </a:solidFill>
                <a:latin typeface="Calibri" pitchFamily="34" charset="0"/>
                <a:ea typeface="Calibri" pitchFamily="34" charset="-122"/>
                <a:cs typeface="Calibri" pitchFamily="34" charset="-120"/>
              </a:rPr>
              <a:t>What will decide whether the rules are kept when they expire, and what would you want to know before then?</a:t>
            </a:r>
            <a:endParaRPr lang="en-US" sz="1450" dirty="0"/>
          </a:p>
        </p:txBody>
      </p:sp>
      <p:sp>
        <p:nvSpPr>
          <p:cNvPr id="15" name="Text 12"/>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05840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If one of the five does not answer</a:t>
            </a:r>
            <a:endParaRPr lang="en-US" sz="3000" dirty="0"/>
          </a:p>
        </p:txBody>
      </p:sp>
      <p:sp>
        <p:nvSpPr>
          <p:cNvPr id="3" name="Shape 1"/>
          <p:cNvSpPr/>
          <p:nvPr/>
        </p:nvSpPr>
        <p:spPr>
          <a:xfrm>
            <a:off x="548640" y="1234440"/>
            <a:ext cx="11064240" cy="896112"/>
          </a:xfrm>
          <a:prstGeom prst="roundRect">
            <a:avLst>
              <a:gd name="adj" fmla="val 10204"/>
            </a:avLst>
          </a:prstGeom>
          <a:solidFill>
            <a:srgbClr val="EAF2EE"/>
          </a:solidFill>
          <a:ln w="12700">
            <a:solidFill>
              <a:srgbClr val="EAF2EE"/>
            </a:solidFill>
            <a:prstDash val="solid"/>
          </a:ln>
        </p:spPr>
      </p:sp>
      <p:sp>
        <p:nvSpPr>
          <p:cNvPr id="4" name="Text 2"/>
          <p:cNvSpPr txBox="1"/>
          <p:nvPr/>
        </p:nvSpPr>
        <p:spPr>
          <a:xfrm>
            <a:off x="777240" y="1307592"/>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Australia (Victoria), Teacher Re-Engagement Initiative</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Paid placements with a known budget and strong initial interest; conversion into jobs never published, and funding after mid-2025 unconfirmed. Same contact route as New South Wales.</a:t>
            </a:r>
            <a:endParaRPr lang="en-US" sz="1250" dirty="0"/>
          </a:p>
        </p:txBody>
      </p:sp>
      <p:sp>
        <p:nvSpPr>
          <p:cNvPr id="5" name="Shape 3"/>
          <p:cNvSpPr/>
          <p:nvPr/>
        </p:nvSpPr>
        <p:spPr>
          <a:xfrm>
            <a:off x="548640" y="2221992"/>
            <a:ext cx="11064240" cy="896112"/>
          </a:xfrm>
          <a:prstGeom prst="roundRect">
            <a:avLst>
              <a:gd name="adj" fmla="val 10204"/>
            </a:avLst>
          </a:prstGeom>
          <a:solidFill>
            <a:srgbClr val="EAF2EE"/>
          </a:solidFill>
          <a:ln w="12700">
            <a:solidFill>
              <a:srgbClr val="EAF2EE"/>
            </a:solidFill>
            <a:prstDash val="solid"/>
          </a:ln>
        </p:spPr>
      </p:sp>
      <p:sp>
        <p:nvSpPr>
          <p:cNvPr id="6" name="Text 4"/>
          <p:cNvSpPr txBox="1"/>
          <p:nvPr/>
        </p:nvSpPr>
        <p:spPr>
          <a:xfrm>
            <a:off x="777240" y="2295144"/>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Germany (Lower Saxony), earnings ceiling and letter to retiring teachers</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A clean before-and-after: the ceiling was raised in 2022 and abolished in 2024, with a letter campaign in between. Pension records would show how many hours pensioners now teach.</a:t>
            </a:r>
            <a:endParaRPr lang="en-US" sz="1250" dirty="0"/>
          </a:p>
        </p:txBody>
      </p:sp>
      <p:sp>
        <p:nvSpPr>
          <p:cNvPr id="7" name="Shape 5"/>
          <p:cNvSpPr/>
          <p:nvPr/>
        </p:nvSpPr>
        <p:spPr>
          <a:xfrm>
            <a:off x="548640" y="3209544"/>
            <a:ext cx="11064240" cy="896112"/>
          </a:xfrm>
          <a:prstGeom prst="roundRect">
            <a:avLst>
              <a:gd name="adj" fmla="val 10204"/>
            </a:avLst>
          </a:prstGeom>
          <a:solidFill>
            <a:srgbClr val="EAF2EE"/>
          </a:solidFill>
          <a:ln w="12700">
            <a:solidFill>
              <a:srgbClr val="EAF2EE"/>
            </a:solidFill>
            <a:prstDash val="solid"/>
          </a:ln>
        </p:spPr>
      </p:sp>
      <p:sp>
        <p:nvSpPr>
          <p:cNvPr id="8" name="Text 6"/>
          <p:cNvSpPr txBox="1"/>
          <p:nvPr/>
        </p:nvSpPr>
        <p:spPr>
          <a:xfrm>
            <a:off x="777240" y="3282696"/>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New Zealand, streamlined return with fees covered</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352 returners counted by April 2025; the Ministry monitors the pathway and could say who returns and whether they stay.</a:t>
            </a:r>
            <a:endParaRPr lang="en-US" sz="1250" dirty="0"/>
          </a:p>
        </p:txBody>
      </p:sp>
      <p:sp>
        <p:nvSpPr>
          <p:cNvPr id="9" name="Shape 7"/>
          <p:cNvSpPr/>
          <p:nvPr/>
        </p:nvSpPr>
        <p:spPr>
          <a:xfrm>
            <a:off x="548640" y="4197096"/>
            <a:ext cx="11064240" cy="896112"/>
          </a:xfrm>
          <a:prstGeom prst="roundRect">
            <a:avLst>
              <a:gd name="adj" fmla="val 10204"/>
            </a:avLst>
          </a:prstGeom>
          <a:solidFill>
            <a:srgbClr val="EAF2EE"/>
          </a:solidFill>
          <a:ln w="12700">
            <a:solidFill>
              <a:srgbClr val="EAF2EE"/>
            </a:solidFill>
            <a:prstDash val="solid"/>
          </a:ln>
        </p:spPr>
      </p:sp>
      <p:sp>
        <p:nvSpPr>
          <p:cNvPr id="10" name="Text 8"/>
          <p:cNvSpPr txBox="1"/>
          <p:nvPr/>
        </p:nvSpPr>
        <p:spPr>
          <a:xfrm>
            <a:off x="777240" y="4270248"/>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Portugal, hiring of retired teachers (Decree-Law 51/2024)</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Low take-up (about 63 of 200 posts) is itself the lesson: why retirees did not come back despite pension plus pay.</a:t>
            </a:r>
            <a:endParaRPr lang="en-US" sz="1250" dirty="0"/>
          </a:p>
        </p:txBody>
      </p:sp>
      <p:sp>
        <p:nvSpPr>
          <p:cNvPr id="11" name="Shape 9"/>
          <p:cNvSpPr/>
          <p:nvPr/>
        </p:nvSpPr>
        <p:spPr>
          <a:xfrm>
            <a:off x="548640" y="5184648"/>
            <a:ext cx="11064240" cy="896112"/>
          </a:xfrm>
          <a:prstGeom prst="roundRect">
            <a:avLst>
              <a:gd name="adj" fmla="val 10204"/>
            </a:avLst>
          </a:prstGeom>
          <a:solidFill>
            <a:srgbClr val="EAF2EE"/>
          </a:solidFill>
          <a:ln w="12700">
            <a:solidFill>
              <a:srgbClr val="EAF2EE"/>
            </a:solidFill>
            <a:prstDash val="solid"/>
          </a:ln>
        </p:spPr>
      </p:sp>
      <p:sp>
        <p:nvSpPr>
          <p:cNvPr id="12" name="Text 10"/>
          <p:cNvSpPr txBox="1"/>
          <p:nvPr/>
        </p:nvSpPr>
        <p:spPr>
          <a:xfrm>
            <a:off x="777240" y="5257800"/>
            <a:ext cx="10607040" cy="749808"/>
          </a:xfrm>
          <a:prstGeom prst="rect">
            <a:avLst/>
          </a:prstGeom>
          <a:noFill/>
          <a:ln/>
        </p:spPr>
        <p:txBody>
          <a:bodyPr wrap="square" lIns="0" tIns="0" rIns="0" bIns="0" rtlCol="0" anchor="ctr"/>
          <a:lstStyle/>
          <a:p>
            <a:pPr indent="0" marL="0">
              <a:buNone/>
            </a:pPr>
            <a:r>
              <a:rPr lang="en-US" sz="1250" b="1" dirty="0">
                <a:solidFill>
                  <a:srgbClr val="24313A"/>
                </a:solidFill>
                <a:latin typeface="Calibri" pitchFamily="34" charset="0"/>
                <a:ea typeface="Calibri" pitchFamily="34" charset="-122"/>
                <a:cs typeface="Calibri" pitchFamily="34" charset="-120"/>
              </a:rPr>
              <a:t>United States (New Mexico), Educational Retirees Returning to Work Act (2022)</a:t>
            </a:r>
            <a:endParaRPr lang="en-US" sz="1250" dirty="0"/>
          </a:p>
          <a:p>
            <a:pPr indent="0" marL="0">
              <a:buNone/>
            </a:pPr>
            <a:r>
              <a:rPr lang="en-US" sz="1250" dirty="0">
                <a:solidFill>
                  <a:srgbClr val="24313A"/>
                </a:solidFill>
                <a:latin typeface="Calibri" pitchFamily="34" charset="0"/>
                <a:ea typeface="Calibri" pitchFamily="34" charset="-122"/>
                <a:cs typeface="Calibri" pitchFamily="34" charset="-120"/>
              </a:rPr>
              <a:t>Every returning retiree must be approved by the Educational Retirement Board, so exact counts of applications, approvals and destinations exist; the three-year cap shows how long returners stay.</a:t>
            </a:r>
            <a:endParaRPr lang="en-US" sz="1250" dirty="0"/>
          </a:p>
        </p:txBody>
      </p:sp>
      <p:sp>
        <p:nvSpPr>
          <p:cNvPr id="13"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Five countries to contact</dc:title>
  <dc:subject>PptxGenJS Presentation</dc:subject>
  <dc:creator>José Manuel Torres, José Elías Durán Roa</dc:creator>
  <cp:lastModifiedBy>José Manuel Torres, José Elías Durán Roa</cp:lastModifiedBy>
  <cp:revision>1</cp:revision>
  <dcterms:created xsi:type="dcterms:W3CDTF">2026-09-18T06:56:47Z</dcterms:created>
  <dcterms:modified xsi:type="dcterms:W3CDTF">2026-09-18T06:56:47Z</dcterms:modified>
</cp:coreProperties>
</file>