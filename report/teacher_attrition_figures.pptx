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figs_png/g1_workforce.png">    </p:cNvPr>
          <p:cNvPicPr>
            <a:picLocks noChangeAspect="1"/>
          </p:cNvPicPr>
          <p:nvPr/>
        </p:nvPicPr>
        <p:blipFill>
          <a:blip r:embed="rId1"/>
          <a:stretch>
            <a:fillRect/>
          </a:stretch>
        </p:blipFill>
        <p:spPr>
          <a:xfrm>
            <a:off x="603177" y="274320"/>
            <a:ext cx="10982597"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College-graduate teachers aged 18+ whose longest job last year was K–12 teaching; ASEC supplement weights. Thin gray lines are annual values; blue lines are centered 3-year averages, with endpoint values printed. “Public school,” “part-time,” and “pension plan” refer to the longest job held last year; the open circle marks 2013, a year with a reduced sample due to the ASEC redesign. Source: author’s calculations from March CPS supplements, survey years 2006–2025.</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figs_png/g2_evolution.png">    </p:cNvPr>
          <p:cNvPicPr>
            <a:picLocks noChangeAspect="1"/>
          </p:cNvPicPr>
          <p:nvPr/>
        </p:nvPicPr>
        <p:blipFill>
          <a:blip r:embed="rId1"/>
          <a:stretch>
            <a:fillRect/>
          </a:stretch>
        </p:blipFill>
        <p:spPr>
          <a:xfrm>
            <a:off x="882396" y="274320"/>
            <a:ext cx="10424160"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Share of college-graduate teachers (longest job last calendar year) not employed in a teaching occupation the following March; ASEC weights. Shaded band: 95 percent confidence interval using a design factor of 1.5. Dotted line: the 1997–2024 mean (8.6). The gray band marks the Covid supplements. Source: author’s calculations from March CPS supplements, survey years 1998–2025.</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figs_png/g3_flow100.png">    </p:cNvPr>
          <p:cNvPicPr>
            <a:picLocks noChangeAspect="1"/>
          </p:cNvPicPr>
          <p:nvPr/>
        </p:nvPicPr>
        <p:blipFill>
          <a:blip r:embed="rId1"/>
          <a:stretch>
            <a:fillRect/>
          </a:stretch>
        </p:blipFill>
        <p:spPr>
          <a:xfrm>
            <a:off x="655784" y="274320"/>
            <a:ext cx="10877384"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College-graduate leavers pooled over calendar 2015–2024, ASEC weights. Top bar: labor force status the March after the teaching year; “out of the labor force” is split at age 55. Bottom bar: the occupational destination of the 26 employed leavers, rescaled to sum to their total. Source: author’s calculations from March CPS supplements.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figs_png/g4_routes_age.png">    </p:cNvPr>
          <p:cNvPicPr>
            <a:picLocks noChangeAspect="1"/>
          </p:cNvPicPr>
          <p:nvPr/>
        </p:nvPicPr>
        <p:blipFill>
          <a:blip r:embed="rId1"/>
          <a:stretch>
            <a:fillRect/>
          </a:stretch>
        </p:blipFill>
        <p:spPr>
          <a:xfrm>
            <a:off x="1006493" y="274320"/>
            <a:ext cx="10175966"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College-graduate teachers pooled over calendar 2015–2024, ASEC weights; ten age groups. The black line is the total leaving rate; stacked areas decompose it into exits to another job, unemployment, and out of the labor force. Source: author’s calculations from March CPS supplements.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figs_png/g10_sector_routes.png">    </p:cNvPr>
          <p:cNvPicPr>
            <a:picLocks noChangeAspect="1"/>
          </p:cNvPicPr>
          <p:nvPr/>
        </p:nvPicPr>
        <p:blipFill>
          <a:blip r:embed="rId1"/>
          <a:stretch>
            <a:fillRect/>
          </a:stretch>
        </p:blipFill>
        <p:spPr>
          <a:xfrm>
            <a:off x="1684254" y="274320"/>
            <a:ext cx="8820443"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Route-specific annual exit rates of college-graduate teachers by sector of the last-year job (class of worker: government vs. private), pooled 2015–2024, ASEC weights. A private-school teacher who moves to a public school—or vice versa—remains a teacher and is not a leaver here. Source: author’s calculations from March CPS supplements.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figs_png/g8_newbaby.png">    </p:cNvPr>
          <p:cNvPicPr>
            <a:picLocks noChangeAspect="1"/>
          </p:cNvPicPr>
          <p:nvPr/>
        </p:nvPicPr>
        <p:blipFill>
          <a:blip r:embed="rId1"/>
          <a:stretch>
            <a:fillRect/>
          </a:stretch>
        </p:blipFill>
        <p:spPr>
          <a:xfrm>
            <a:off x="1590173" y="274320"/>
            <a:ext cx="9008606"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Average marginal effect of a new baby (own child aged 0 in the household) on the probability that a woman leaves each profession, from profession-specific probits with age, age squared, marital status, education, and year effects; whiskers are 95 percent confidence intervals. Solid bars are significant at 5 percent; light bars are not. Samples pool 2010–2024. Source: author’s calculations from March CPS supplements.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figs_png/g9_mothers.png">    </p:cNvPr>
          <p:cNvPicPr>
            <a:picLocks noChangeAspect="1"/>
          </p:cNvPicPr>
          <p:nvPr/>
        </p:nvPicPr>
        <p:blipFill>
          <a:blip r:embed="rId1"/>
          <a:stretch>
            <a:fillRect/>
          </a:stretch>
        </p:blipFill>
        <p:spPr>
          <a:xfrm>
            <a:off x="882396" y="274320"/>
            <a:ext cx="10424160"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Women teachers aged 22–45, college graduates; annual probability of leaving the labor force (thin lines) and centered 3-year averages (bold), separately for those with and without an own child under 6 at home. Endpoint values printed. Source: author’s calculations from March CPS supplements, survey years 1998–2025.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figs_png/n5_cyclicality.png">    </p:cNvPr>
          <p:cNvPicPr>
            <a:picLocks noChangeAspect="1"/>
          </p:cNvPicPr>
          <p:nvPr/>
        </p:nvPicPr>
        <p:blipFill>
          <a:blip r:embed="rId1"/>
          <a:stretch>
            <a:fillRect/>
          </a:stretch>
        </p:blipFill>
        <p:spPr>
          <a:xfrm>
            <a:off x="470916" y="793341"/>
            <a:ext cx="11247120" cy="4174039"/>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Left: the leaving series (annual, from calendar 2000) against the BLS national unemployment rate (annual average). Right: binned scatter (deciles of the unemployment rate in the survey month, March of t+1, when the exit is observed) of the two labor-market routes, with OLS fits on the underlying annual data; correlations are −0.16 (to another job) and +0.29 (out of the labor force). Unemployment: BLS via FRED (UNRATE). Source: author’s calculations from March CPS supplements.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figs_png/n5b_states_trio.png">    </p:cNvPr>
          <p:cNvPicPr>
            <a:picLocks noChangeAspect="1"/>
          </p:cNvPicPr>
          <p:nvPr/>
        </p:nvPicPr>
        <p:blipFill>
          <a:blip r:embed="rId1"/>
          <a:stretch>
            <a:fillRect/>
          </a:stretch>
        </p:blipFill>
        <p:spPr>
          <a:xfrm>
            <a:off x="470916" y="331623"/>
            <a:ext cx="11247120" cy="5097474"/>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Annual state leaving rates of college-graduate teachers (dots; one per year, 1997–2024) against the state unemployment rate in the survey month (BLS Local Area Unemployment Statistics), with OLS fits. North Carolina and New Jersey are shown as examples of the two signs. State of residence is recovered from the household records of the raw files. Source: author’s calculations from March CPS supplements.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figs_png/g5b_earnings_density.png">    </p:cNvPr>
          <p:cNvPicPr>
            <a:picLocks noChangeAspect="1"/>
          </p:cNvPicPr>
          <p:nvPr/>
        </p:nvPicPr>
        <p:blipFill>
          <a:blip r:embed="rId1"/>
          <a:stretch>
            <a:fillRect/>
          </a:stretch>
        </p:blipFill>
        <p:spPr>
          <a:xfrm>
            <a:off x="1109008" y="274320"/>
            <a:ext cx="9970936"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Kernel densities of the person-level change in annual wage and salary earnings (log points ×100) between the teaching year and the next, for teachers linked across consecutive supplements (rotation-group links, survey years 2011–2025; identity validated on sex and age). Navy: stayers (12,195 links; median +3). Red: leavers employed the following year (225 links; median +15). “Lose big”/“win big” denote changes beyond ±30 log points. The sample conditions on positive earnings in both years; 47 percent of all leavers report zero earnings the following year. Bandwidth 0.25. Source: author’s calculations from March CPS supplements.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igs_png/n6b_pay_windows.png">    </p:cNvPr>
          <p:cNvPicPr>
            <a:picLocks noChangeAspect="1"/>
          </p:cNvPicPr>
          <p:nvPr/>
        </p:nvPicPr>
        <p:blipFill>
          <a:blip r:embed="rId1"/>
          <a:stretch>
            <a:fillRect/>
          </a:stretch>
        </p:blipFill>
        <p:spPr>
          <a:xfrm>
            <a:off x="1130590" y="274320"/>
            <a:ext cx="9927771"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Weighted median annual wage and salary earnings of full-time, full-year college graduates aged 25–60, in each profession and overall, deflated to 2024 dollars with the CPI-U; the two windows pool survey years 2004–2014 and 2015–2025. Filled dots (with values): recent window. Source: author’s calculations from March CPS supplements; CPI: BLS via FRED.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igs_png/g6_ame.png">    </p:cNvPr>
          <p:cNvPicPr>
            <a:picLocks noChangeAspect="1"/>
          </p:cNvPicPr>
          <p:nvPr/>
        </p:nvPicPr>
        <p:blipFill>
          <a:blip r:embed="rId1"/>
          <a:stretch>
            <a:fillRect/>
          </a:stretch>
        </p:blipFill>
        <p:spPr>
          <a:xfrm>
            <a:off x="2619756" y="274320"/>
            <a:ext cx="6949440"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Average marginal effects (percentage points) on the probability of leaving teaching, from a probit on college-graduate teachers pooled over calendar 2015–2024 with year effects; whiskers are 95 percent confidence intervals; filled markers are significant at 5 percent. “Worked full year” is 50+ weeks at the last-year job; “part-time” is under 35 weekly hours. n = 28,900. Source: author’s calculations from March CPS supplements.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igs_png/g7_professions.png">    </p:cNvPr>
          <p:cNvPicPr>
            <a:picLocks noChangeAspect="1"/>
          </p:cNvPicPr>
          <p:nvPr/>
        </p:nvPicPr>
        <p:blipFill>
          <a:blip r:embed="rId1"/>
          <a:stretch>
            <a:fillRect/>
          </a:stretch>
        </p:blipFill>
        <p:spPr>
          <a:xfrm>
            <a:off x="1562233" y="274320"/>
            <a:ext cx="9064487" cy="5212080"/>
          </a:xfrm>
          <a:prstGeom prst="rect">
            <a:avLst/>
          </a:prstGeom>
        </p:spPr>
      </p:pic>
      <p:sp>
        <p:nvSpPr>
          <p:cNvPr id="3" name="Text 0"/>
          <p:cNvSpPr/>
          <p:nvPr/>
        </p:nvSpPr>
        <p:spPr>
          <a:xfrm>
            <a:off x="457200" y="5623560"/>
            <a:ext cx="11274552" cy="1097280"/>
          </a:xfrm>
          <a:prstGeom prst="rect">
            <a:avLst/>
          </a:prstGeom>
          <a:noFill/>
          <a:ln/>
        </p:spPr>
        <p:txBody>
          <a:bodyPr wrap="square" lIns="0" tIns="0" rIns="0" bIns="0" rtlCol="0" anchor="t"/>
          <a:lstStyle/>
          <a:p>
            <a:pPr algn="l" indent="0" marL="0">
              <a:buNone/>
            </a:pPr>
            <a:r>
              <a:rPr lang="en-US" sz="950" dirty="0">
                <a:solidFill>
                  <a:srgbClr val="5A6572"/>
                </a:solidFill>
                <a:latin typeface="Calibri" pitchFamily="34" charset="0"/>
                <a:ea typeface="Calibri" pitchFamily="34" charset="-122"/>
                <a:cs typeface="Calibri" pitchFamily="34" charset="-120"/>
              </a:rPr>
              <a:t>Notes: Annual rate of leaving each profession (same route-based definition as for teachers, college graduates, ASEC weights), pooled over survey years 2004–2014 (open) and 2015–2025 (filled, with values). Occupation codes harmonized across the 2002, 2010, and 2018 Census classification regimes. Source: author’s calculations from March CPS supplements.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2026-07-21T09:24:59Z</dcterms:created>
  <dcterms:modified xsi:type="dcterms:W3CDTF">2026-07-21T09:24:59Z</dcterms:modified>
</cp:coreProperties>
</file>