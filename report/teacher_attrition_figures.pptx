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literatures, one gap. The follow-up surveys have depth but no frequency, and the CPS papers have frequency but stop at the level. I take the instrument all the way down: routes, prices, profiles, and the margins that move the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oecd_logo.png">    </p:cNvPr>
          <p:cNvPicPr>
            <a:picLocks noChangeAspect="1"/>
          </p:cNvPicPr>
          <p:nvPr/>
        </p:nvPicPr>
        <p:blipFill>
          <a:blip r:embed="rId1"/>
          <a:stretch>
            <a:fillRect/>
          </a:stretch>
        </p:blipFill>
        <p:spPr>
          <a:xfrm>
            <a:off x="640080" y="411480"/>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algn="l" indent="0" marL="0">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algn="l" indent="0" marL="0">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algn="l" indent="0" marL="0">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algn="l" indent="0" marL="0">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40080" y="4526280"/>
            <a:ext cx="10881360" cy="320040"/>
          </a:xfrm>
          <a:prstGeom prst="rect">
            <a:avLst/>
          </a:prstGeom>
          <a:noFill/>
          <a:ln/>
        </p:spPr>
        <p:txBody>
          <a:bodyPr wrap="square" lIns="0" tIns="0" rIns="0" bIns="0" rtlCol="0" anchor="ctr"/>
          <a:lstStyle/>
          <a:p>
            <a:pPr algn="l" indent="0" marL="0">
              <a:buNone/>
            </a:pPr>
            <a:r>
              <a:rPr lang="en-US" sz="1250" dirty="0">
                <a:solidFill>
                  <a:srgbClr val="5A6572"/>
                </a:solidFill>
                <a:latin typeface="Garamond" pitchFamily="34" charset="0"/>
                <a:ea typeface="Garamond" pitchFamily="34" charset="-122"/>
                <a:cs typeface="Garamond" pitchFamily="34" charset="-120"/>
              </a:rPr>
              <a:t>University of Alicante · OECD · July 2026</a:t>
            </a:r>
            <a:endParaRPr lang="en-US" sz="1250" dirty="0"/>
          </a:p>
        </p:txBody>
      </p:sp>
      <p:sp>
        <p:nvSpPr>
          <p:cNvPr id="8" name="Shape 5"/>
          <p:cNvSpPr/>
          <p:nvPr/>
        </p:nvSpPr>
        <p:spPr>
          <a:xfrm>
            <a:off x="0" y="6263640"/>
            <a:ext cx="12188952" cy="594360"/>
          </a:xfrm>
          <a:prstGeom prst="rect">
            <a:avLst/>
          </a:prstGeom>
          <a:solidFill>
            <a:srgbClr val="00549F"/>
          </a:solidFill>
          <a:ln/>
        </p:spPr>
      </p:sp>
      <p:sp>
        <p:nvSpPr>
          <p:cNvPr id="9" name="Text 6"/>
          <p:cNvSpPr/>
          <p:nvPr/>
        </p:nvSpPr>
        <p:spPr>
          <a:xfrm>
            <a:off x="640080" y="6263640"/>
            <a:ext cx="10881360" cy="594360"/>
          </a:xfrm>
          <a:prstGeom prst="rect">
            <a:avLst/>
          </a:prstGeom>
          <a:noFill/>
          <a:ln/>
        </p:spPr>
        <p:txBody>
          <a:bodyPr wrap="square" lIns="0" tIns="0" rIns="0" bIns="0" rtlCol="0" anchor="ctr"/>
          <a:lstStyle/>
          <a:p>
            <a:pPr algn="l" indent="0" marL="0">
              <a:buNone/>
            </a:pPr>
            <a:r>
              <a:rPr lang="en-US" sz="1100" dirty="0">
                <a:solidFill>
                  <a:srgbClr val="FFFFFF"/>
                </a:solidFill>
                <a:latin typeface="Garamond" pitchFamily="34" charset="0"/>
                <a:ea typeface="Garamond" pitchFamily="34" charset="-122"/>
                <a:cs typeface="Garamond" pitchFamily="34" charset="-120"/>
              </a:rPr>
              <a:t>oecd.org  ·  Education and Skills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10515600" cy="50292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Motivation</a:t>
            </a:r>
            <a:endParaRPr lang="en-US" sz="2600" dirty="0"/>
          </a:p>
        </p:txBody>
      </p:sp>
      <p:sp>
        <p:nvSpPr>
          <p:cNvPr id="3" name="Shape 1"/>
          <p:cNvSpPr/>
          <p:nvPr/>
        </p:nvSpPr>
        <p:spPr>
          <a:xfrm>
            <a:off x="822960" y="1024128"/>
            <a:ext cx="10543032" cy="0"/>
          </a:xfrm>
          <a:prstGeom prst="line">
            <a:avLst/>
          </a:prstGeom>
          <a:noFill/>
          <a:ln w="15240">
            <a:solidFill>
              <a:srgbClr val="00549F"/>
            </a:solidFill>
            <a:prstDash val="solid"/>
          </a:ln>
        </p:spPr>
      </p:sp>
      <p:sp>
        <p:nvSpPr>
          <p:cNvPr id="4" name="Text 2"/>
          <p:cNvSpPr/>
          <p:nvPr/>
        </p:nvSpPr>
        <p:spPr>
          <a:xfrm>
            <a:off x="822960" y="1371600"/>
            <a:ext cx="10515600" cy="86868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endParaRPr lang="en-US" sz="1550" dirty="0"/>
          </a:p>
        </p:txBody>
      </p:sp>
      <p:sp>
        <p:nvSpPr>
          <p:cNvPr id="5" name="Text 3"/>
          <p:cNvSpPr/>
          <p:nvPr/>
        </p:nvSpPr>
        <p:spPr>
          <a:xfrm>
            <a:off x="822960" y="2084832"/>
            <a:ext cx="10515600" cy="86868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endParaRPr lang="en-US" sz="1550" dirty="0"/>
          </a:p>
        </p:txBody>
      </p:sp>
      <p:sp>
        <p:nvSpPr>
          <p:cNvPr id="6" name="Text 4"/>
          <p:cNvSpPr/>
          <p:nvPr/>
        </p:nvSpPr>
        <p:spPr>
          <a:xfrm>
            <a:off x="822960" y="3044952"/>
            <a:ext cx="10515600" cy="86868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Researchers found a creative solution, the CPS, the largest longitudinal survey in the US. Harris &amp; Adams (2007) and Aldeman &amp; Yi (2025) used it to show that teacher attrition is similar to that of comparable professions.</a:t>
            </a:r>
            <a:endParaRPr lang="en-US" sz="1550" dirty="0"/>
          </a:p>
        </p:txBody>
      </p:sp>
      <p:sp>
        <p:nvSpPr>
          <p:cNvPr id="7" name="Text 5"/>
          <p:cNvSpPr/>
          <p:nvPr/>
        </p:nvSpPr>
        <p:spPr>
          <a:xfrm>
            <a:off x="822960" y="4233672"/>
            <a:ext cx="10515600" cy="45720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Contribution</a:t>
            </a:r>
            <a:endParaRPr lang="en-US" sz="2600" dirty="0"/>
          </a:p>
        </p:txBody>
      </p:sp>
      <p:sp>
        <p:nvSpPr>
          <p:cNvPr id="8" name="Shape 6"/>
          <p:cNvSpPr/>
          <p:nvPr/>
        </p:nvSpPr>
        <p:spPr>
          <a:xfrm>
            <a:off x="822960" y="4754880"/>
            <a:ext cx="10543032" cy="0"/>
          </a:xfrm>
          <a:prstGeom prst="line">
            <a:avLst/>
          </a:prstGeom>
          <a:noFill/>
          <a:ln w="15240">
            <a:solidFill>
              <a:srgbClr val="00549F"/>
            </a:solidFill>
            <a:prstDash val="solid"/>
          </a:ln>
        </p:spPr>
      </p:sp>
      <p:sp>
        <p:nvSpPr>
          <p:cNvPr id="9" name="Text 7"/>
          <p:cNvSpPr/>
          <p:nvPr/>
        </p:nvSpPr>
        <p:spPr>
          <a:xfrm>
            <a:off x="822960" y="5010912"/>
            <a:ext cx="10515600" cy="118872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I build the longest measurement of teacher attrition in the US, twenty-eight consecutive years (1998–2025) from a single instrument, and characterize who leaves, where they go, what leaving pays, who returns, and what moves the rate, from a new baby to the business cycle.</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10515600" cy="50292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Data</a:t>
            </a:r>
            <a:endParaRPr lang="en-US" sz="2600" dirty="0"/>
          </a:p>
        </p:txBody>
      </p:sp>
      <p:sp>
        <p:nvSpPr>
          <p:cNvPr id="3" name="Shape 1"/>
          <p:cNvSpPr/>
          <p:nvPr/>
        </p:nvSpPr>
        <p:spPr>
          <a:xfrm>
            <a:off x="822960" y="1024128"/>
            <a:ext cx="10543032" cy="0"/>
          </a:xfrm>
          <a:prstGeom prst="line">
            <a:avLst/>
          </a:prstGeom>
          <a:noFill/>
          <a:ln w="15240">
            <a:solidFill>
              <a:srgbClr val="00549F"/>
            </a:solidFill>
            <a:prstDash val="solid"/>
          </a:ln>
        </p:spPr>
      </p:sp>
      <p:sp>
        <p:nvSpPr>
          <p:cNvPr id="4" name="Text 2"/>
          <p:cNvSpPr/>
          <p:nvPr/>
        </p:nvSpPr>
        <p:spPr>
          <a:xfrm>
            <a:off x="822960" y="160020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The Current Population Survey (CPS) is the main household survey in the US, used to compute the country’s official employment statistics.</a:t>
            </a:r>
            <a:endParaRPr lang="en-US" sz="1600" dirty="0"/>
          </a:p>
        </p:txBody>
      </p:sp>
      <p:sp>
        <p:nvSpPr>
          <p:cNvPr id="5" name="Text 3"/>
          <p:cNvSpPr/>
          <p:nvPr/>
        </p:nvSpPr>
        <p:spPr>
          <a:xfrm>
            <a:off x="822960" y="246888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I pool all its rounds from 1998 to 2025 into a single file and turn it into a tool for following teachers.</a:t>
            </a:r>
            <a:endParaRPr lang="en-US" sz="1600" dirty="0"/>
          </a:p>
        </p:txBody>
      </p:sp>
      <p:sp>
        <p:nvSpPr>
          <p:cNvPr id="6" name="Text 4"/>
          <p:cNvSpPr/>
          <p:nvPr/>
        </p:nvSpPr>
        <p:spPr>
          <a:xfrm>
            <a:off x="822960" y="333756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Each March, respondents report the longest job held last calendar year and their occupation today. Whoever taught last year and no longer teaches has left the profession within the year.</a:t>
            </a:r>
            <a:endParaRPr lang="en-US" sz="1600" dirty="0"/>
          </a:p>
        </p:txBody>
      </p:sp>
      <p:sp>
        <p:nvSpPr>
          <p:cNvPr id="7" name="Text 5"/>
          <p:cNvSpPr/>
          <p:nvPr/>
        </p:nvSpPr>
        <p:spPr>
          <a:xfrm>
            <a:off x="822960" y="448056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My final dataset holds 5 million individual records, with 104,545 teachers, around 3,700 per year.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2026-07-21T15:21:31Z</dcterms:created>
  <dcterms:modified xsi:type="dcterms:W3CDTF">2026-07-21T15:21:31Z</dcterms:modified>
</cp:coreProperties>
</file>