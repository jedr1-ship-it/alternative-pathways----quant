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one instrument, twenty-eight years. The exodus is the claim, the anatomy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sees professions, not schools. One question asked the same way for twenty-eight years beats any patchwork of administrative sources. Calendar 2025 enters the series the day the Census releases the 2026 supplement in the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workforce is aging and its pension coverage has fallen from 80 to 66 percent. The contract is deteriorating on exactly the margin that predicts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every 100 leavers, only 26 hold another job the next March. The exodus scenario, a working-age teacher productively employed elsewhere, is barely one leaver in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 profile is a U. The left arm is career search, the right arm is retirement. Mid-career teachers, the ones schools most need to keep, are the least mobile workers in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Private schools lose teachers at twice the public rate, through every route. Tenure, salary schedules and pensions are retention policy that already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birth raises a teacher's exit by twice as much as a nurse's. Teaching is the college profession where a classroom cannot be covered part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exit to home is disappearing. The gap between mothers and other young women teachers went from seven points to under two in twenty-five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Booms do not poach teachers. Where exits respond to the cycle at all, recessions push them out. The poaching story has no support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Fifty-one regressions, three significant slopes. Mississippi and Pennsylvania say recessions push exits up, New Jersey says the opposite, and the large states are precise zeros. No systematic poaching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Switching pays a median of 15 log points, with enormous tails. A quarter lose big, and 47 percent of all leavers earn nothing at all. Leaving is a gamble, and teachers act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real pay slipped from 68,000 to 66,000 dollars while the college median rose to 90,000. The penalty now stands at 28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predicts exit, the person barely does. Full-year work, hours and pension coverage dwarf every demographic. The one personal event that matters is a birth.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and accounting are the only professions here whose attrition fell across decades. Every health and social profession rose. Whatever pushes pharmacists and therapists up is economy wide, not a crisis of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280160" y="2148840"/>
            <a:ext cx="9628632" cy="731520"/>
          </a:xfrm>
          <a:prstGeom prst="rect">
            <a:avLst/>
          </a:prstGeom>
          <a:noFill/>
          <a:ln/>
        </p:spPr>
        <p:txBody>
          <a:bodyPr wrap="square" lIns="0" tIns="0" rIns="0" bIns="0" rtlCol="0" anchor="ctr"/>
          <a:lstStyle/>
          <a:p>
            <a:pPr algn="ctr" indent="0" marL="0">
              <a:buNone/>
            </a:pPr>
            <a:r>
              <a:rPr lang="en-US" sz="3000" b="1" dirty="0">
                <a:solidFill>
                  <a:srgbClr val="26456E"/>
                </a:solidFill>
                <a:latin typeface="Garamond" pitchFamily="34" charset="0"/>
                <a:ea typeface="Garamond" pitchFamily="34" charset="-122"/>
                <a:cs typeface="Garamond" pitchFamily="34" charset="-120"/>
              </a:rPr>
              <a:t>Who Leaves Teaching, and Why?</a:t>
            </a:r>
            <a:endParaRPr lang="en-US" sz="3000" dirty="0"/>
          </a:p>
        </p:txBody>
      </p:sp>
      <p:sp>
        <p:nvSpPr>
          <p:cNvPr id="3" name="Text 1"/>
          <p:cNvSpPr/>
          <p:nvPr/>
        </p:nvSpPr>
        <p:spPr>
          <a:xfrm>
            <a:off x="1280160" y="2907792"/>
            <a:ext cx="9628632" cy="457200"/>
          </a:xfrm>
          <a:prstGeom prst="rect">
            <a:avLst/>
          </a:prstGeom>
          <a:noFill/>
          <a:ln/>
        </p:spPr>
        <p:txBody>
          <a:bodyPr wrap="square" lIns="0" tIns="0" rIns="0" bIns="0" rtlCol="0" anchor="ctr"/>
          <a:lstStyle/>
          <a:p>
            <a:pPr algn="ctr" indent="0" marL="0">
              <a:buNone/>
            </a:pPr>
            <a:r>
              <a:rPr lang="en-US" sz="165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1650" dirty="0"/>
          </a:p>
        </p:txBody>
      </p:sp>
      <p:sp>
        <p:nvSpPr>
          <p:cNvPr id="4" name="Text 2"/>
          <p:cNvSpPr/>
          <p:nvPr/>
        </p:nvSpPr>
        <p:spPr>
          <a:xfrm>
            <a:off x="1280160" y="4114800"/>
            <a:ext cx="9628632" cy="384048"/>
          </a:xfrm>
          <a:prstGeom prst="rect">
            <a:avLst/>
          </a:prstGeom>
          <a:noFill/>
          <a:ln/>
        </p:spPr>
        <p:txBody>
          <a:bodyPr wrap="square" lIns="0" tIns="0" rIns="0" bIns="0" rtlCol="0" anchor="ctr"/>
          <a:lstStyle/>
          <a:p>
            <a:pPr algn="ctr" indent="0" marL="0">
              <a:buNone/>
            </a:pPr>
            <a:r>
              <a:rPr lang="en-US" sz="1600" dirty="0">
                <a:solidFill>
                  <a:srgbClr val="1A2430"/>
                </a:solidFill>
                <a:latin typeface="Garamond" pitchFamily="34" charset="0"/>
                <a:ea typeface="Garamond" pitchFamily="34" charset="-122"/>
                <a:cs typeface="Garamond" pitchFamily="34" charset="-120"/>
              </a:rPr>
              <a:t>José Elías Durán Roa</a:t>
            </a:r>
            <a:endParaRPr lang="en-US" sz="1600" dirty="0"/>
          </a:p>
        </p:txBody>
      </p:sp>
      <p:sp>
        <p:nvSpPr>
          <p:cNvPr id="5" name="Text 3"/>
          <p:cNvSpPr/>
          <p:nvPr/>
        </p:nvSpPr>
        <p:spPr>
          <a:xfrm>
            <a:off x="1280160" y="4517136"/>
            <a:ext cx="9628632" cy="329184"/>
          </a:xfrm>
          <a:prstGeom prst="rect">
            <a:avLst/>
          </a:prstGeom>
          <a:noFill/>
          <a:ln/>
        </p:spPr>
        <p:txBody>
          <a:bodyPr wrap="square" lIns="0" tIns="0" rIns="0" bIns="0" rtlCol="0" anchor="ctr"/>
          <a:lstStyle/>
          <a:p>
            <a:pPr algn="ctr" indent="0" marL="0">
              <a:buNone/>
            </a:pPr>
            <a:r>
              <a:rPr lang="en-US" sz="1250" i="1" dirty="0">
                <a:solidFill>
                  <a:srgbClr val="5A6572"/>
                </a:solidFill>
                <a:latin typeface="Garamond" pitchFamily="34" charset="0"/>
                <a:ea typeface="Garamond" pitchFamily="34" charset="-122"/>
                <a:cs typeface="Garamond" pitchFamily="34" charset="-120"/>
              </a:rPr>
              <a:t>University of Alicante and OECD</a:t>
            </a:r>
            <a:endParaRPr lang="en-US" sz="1250" dirty="0"/>
          </a:p>
        </p:txBody>
      </p:sp>
      <p:sp>
        <p:nvSpPr>
          <p:cNvPr id="6" name="Text 4"/>
          <p:cNvSpPr/>
          <p:nvPr/>
        </p:nvSpPr>
        <p:spPr>
          <a:xfrm>
            <a:off x="1280160" y="5257800"/>
            <a:ext cx="9628632" cy="310896"/>
          </a:xfrm>
          <a:prstGeom prst="rect">
            <a:avLst/>
          </a:prstGeom>
          <a:noFill/>
          <a:ln/>
        </p:spPr>
        <p:txBody>
          <a:bodyPr wrap="square" lIns="0" tIns="0" rIns="0" bIns="0" rtlCol="0" anchor="ctr"/>
          <a:lstStyle/>
          <a:p>
            <a:pPr algn="ctr" indent="0" marL="0">
              <a:buNone/>
            </a:pPr>
            <a:r>
              <a:rPr lang="en-US" sz="1200" dirty="0">
                <a:solidFill>
                  <a:srgbClr val="5A6572"/>
                </a:solidFill>
                <a:latin typeface="Garamond" pitchFamily="34" charset="0"/>
                <a:ea typeface="Garamond" pitchFamily="34" charset="-122"/>
                <a:cs typeface="Garamond" pitchFamily="34" charset="-120"/>
              </a:rPr>
              <a:t>July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502920"/>
            <a:ext cx="9875520" cy="548640"/>
          </a:xfrm>
          <a:prstGeom prst="rect">
            <a:avLst/>
          </a:prstGeom>
          <a:noFill/>
          <a:ln/>
        </p:spPr>
        <p:txBody>
          <a:bodyPr wrap="square" lIns="0" tIns="0" rIns="0" bIns="0" rtlCol="0" anchor="ctr"/>
          <a:lstStyle/>
          <a:p>
            <a:pPr algn="l" indent="0" marL="0">
              <a:buNone/>
            </a:pPr>
            <a:r>
              <a:rPr lang="en-US" sz="2400" b="1" dirty="0">
                <a:solidFill>
                  <a:srgbClr val="1F3B66"/>
                </a:solidFill>
                <a:latin typeface="Garamond" pitchFamily="34" charset="0"/>
                <a:ea typeface="Garamond" pitchFamily="34" charset="-122"/>
                <a:cs typeface="Garamond" pitchFamily="34" charset="-120"/>
              </a:rPr>
              <a:t>Data</a:t>
            </a:r>
            <a:endParaRPr lang="en-US" sz="2400" dirty="0"/>
          </a:p>
        </p:txBody>
      </p:sp>
      <p:sp>
        <p:nvSpPr>
          <p:cNvPr id="3" name="Text 1"/>
          <p:cNvSpPr/>
          <p:nvPr/>
        </p:nvSpPr>
        <p:spPr>
          <a:xfrm>
            <a:off x="1143000" y="1874520"/>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March supplement of the Current Population Survey, survey years 1998 to 2025.</a:t>
            </a:r>
            <a:endParaRPr lang="en-US" sz="1550" dirty="0"/>
          </a:p>
        </p:txBody>
      </p:sp>
      <p:sp>
        <p:nvSpPr>
          <p:cNvPr id="4" name="Text 2"/>
          <p:cNvSpPr/>
          <p:nvPr/>
        </p:nvSpPr>
        <p:spPr>
          <a:xfrm>
            <a:off x="1143000" y="2532888"/>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One retrospective question: the longest job held last calendar year, compared with the occupation held this week. Whoever taught last year and no longer teaches this March has left the profession.</a:t>
            </a:r>
            <a:endParaRPr lang="en-US" sz="1550" dirty="0"/>
          </a:p>
        </p:txBody>
      </p:sp>
      <p:sp>
        <p:nvSpPr>
          <p:cNvPr id="5" name="Text 3"/>
          <p:cNvSpPr/>
          <p:nvPr/>
        </p:nvSpPr>
        <p:spPr>
          <a:xfrm>
            <a:off x="1143000" y="3557016"/>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The pooled file holds 5,009,129 person-year records, 104,545 of them teacher-years, covering calendar years 1997 to 2024.</a:t>
            </a:r>
            <a:endParaRPr lang="en-US" sz="1550" dirty="0"/>
          </a:p>
        </p:txBody>
      </p:sp>
      <p:sp>
        <p:nvSpPr>
          <p:cNvPr id="6" name="Text 4"/>
          <p:cNvSpPr/>
          <p:nvPr/>
        </p:nvSpPr>
        <p:spPr>
          <a:xfrm>
            <a:off x="1143000" y="4581144"/>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Every variable is read from the raw Census files at its officially documented position. All estimates use ASEC supplement weights.</a:t>
            </a:r>
            <a:endParaRPr lang="en-US" sz="1550" dirty="0"/>
          </a:p>
        </p:txBody>
      </p:sp>
      <p:sp>
        <p:nvSpPr>
          <p:cNvPr id="7" name="Text 5"/>
          <p:cNvSpPr/>
          <p:nvPr/>
        </p:nvSpPr>
        <p:spPr>
          <a:xfrm>
            <a:off x="1143000" y="6035040"/>
            <a:ext cx="9902952" cy="292608"/>
          </a:xfrm>
          <a:prstGeom prst="rect">
            <a:avLst/>
          </a:prstGeom>
          <a:noFill/>
          <a:ln/>
        </p:spPr>
        <p:txBody>
          <a:bodyPr wrap="square" lIns="0" tIns="0" rIns="0" bIns="0" rtlCol="0" anchor="ctr"/>
          <a:lstStyle/>
          <a:p>
            <a:pPr algn="l" indent="0" marL="0">
              <a:buNone/>
            </a:pPr>
            <a:r>
              <a:rPr lang="en-US" sz="1150" i="1" dirty="0">
                <a:solidFill>
                  <a:srgbClr val="5A6572"/>
                </a:solidFill>
                <a:latin typeface="Garamond" pitchFamily="34" charset="0"/>
                <a:ea typeface="Garamond" pitchFamily="34" charset="-122"/>
                <a:cs typeface="Garamond" pitchFamily="34" charset="-120"/>
              </a:rPr>
              <a:t>The March 2026 supplement, covering calendar 2025, is not yet public.</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r>
          <p:cNvPicPr>
            <a:picLocks noChangeAspect="1"/>
          </p:cNvPicPr>
          <p:nvPr/>
        </p:nvPicPr>
        <p:blipFill>
          <a:blip r:embed="rId1"/>
          <a:stretch>
            <a:fillRect/>
          </a:stretch>
        </p:blipFill>
        <p:spPr>
          <a:xfrm>
            <a:off x="1133040" y="804672"/>
            <a:ext cx="992287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3. Destinations of Teachers Who Leave the Profession</a:t>
            </a:r>
            <a:endParaRPr lang="en-US" sz="2100" dirty="0"/>
          </a:p>
        </p:txBody>
      </p:sp>
      <p:pic>
        <p:nvPicPr>
          <p:cNvPr id="3" name="Image 0" descr="figs_png/g3_flow100.png">    </p:cNvPr>
          <p:cNvPicPr>
            <a:picLocks noChangeAspect="1"/>
          </p:cNvPicPr>
          <p:nvPr/>
        </p:nvPicPr>
        <p:blipFill>
          <a:blip r:embed="rId1"/>
          <a:stretch>
            <a:fillRect/>
          </a:stretch>
        </p:blipFill>
        <p:spPr>
          <a:xfrm>
            <a:off x="1180570" y="804672"/>
            <a:ext cx="9827812"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leavers pooled over calendar 2015–2024, ASEC weights. Top bar: labor force status the March after the teaching year; “out of the labor force” is split at age 55. Bottom bar: the occupational destination of the 26 employed leavers, rescaled to sum to their total. Source: author’s calculations from March CPS supplements.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4. Leaving Teaching by Age and Route</a:t>
            </a:r>
            <a:endParaRPr lang="en-US" sz="2100" dirty="0"/>
          </a:p>
        </p:txBody>
      </p:sp>
      <p:pic>
        <p:nvPicPr>
          <p:cNvPr id="3" name="Image 0" descr="figs_png/g4_routes_age.png">    </p:cNvPr>
          <p:cNvPicPr>
            <a:picLocks noChangeAspect="1"/>
          </p:cNvPicPr>
          <p:nvPr/>
        </p:nvPicPr>
        <p:blipFill>
          <a:blip r:embed="rId1"/>
          <a:stretch>
            <a:fillRect/>
          </a:stretch>
        </p:blipFill>
        <p:spPr>
          <a:xfrm>
            <a:off x="1497439" y="804672"/>
            <a:ext cx="9194074"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5. Exit Routes by School Sector</a:t>
            </a:r>
            <a:endParaRPr lang="en-US" sz="2100" dirty="0"/>
          </a:p>
        </p:txBody>
      </p:sp>
      <p:pic>
        <p:nvPicPr>
          <p:cNvPr id="3" name="Image 0" descr="figs_png/g10_sector_routes.png">    </p:cNvPr>
          <p:cNvPicPr>
            <a:picLocks noChangeAspect="1"/>
          </p:cNvPicPr>
          <p:nvPr/>
        </p:nvPicPr>
        <p:blipFill>
          <a:blip r:embed="rId1"/>
          <a:stretch>
            <a:fillRect/>
          </a:stretch>
        </p:blipFill>
        <p:spPr>
          <a:xfrm>
            <a:off x="2109802" y="804672"/>
            <a:ext cx="796934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Route-specific annual exit rates of college-graduate teachers by sector of the last-year job (class of worker: government vs. private), pooled 2015–2024, ASEC weights. A private-school teacher who moves to a public school—or vice versa—remains a teacher and is not a leaver here. Source: author’s calculations from March CPS supplements.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6. The Effect of a New Baby on Leaving, by Profession</a:t>
            </a:r>
            <a:endParaRPr lang="en-US" sz="2100" dirty="0"/>
          </a:p>
        </p:txBody>
      </p:sp>
      <p:pic>
        <p:nvPicPr>
          <p:cNvPr id="3" name="Image 0" descr="figs_png/g8_newbaby.png">    </p:cNvPr>
          <p:cNvPicPr>
            <a:picLocks noChangeAspect="1"/>
          </p:cNvPicPr>
          <p:nvPr/>
        </p:nvPicPr>
        <p:blipFill>
          <a:blip r:embed="rId1"/>
          <a:stretch>
            <a:fillRect/>
          </a:stretch>
        </p:blipFill>
        <p:spPr>
          <a:xfrm>
            <a:off x="2024799" y="804672"/>
            <a:ext cx="8139355"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7. Labor Force Exit of Women Teachers, With and Without Young Children</a:t>
            </a:r>
            <a:endParaRPr lang="en-US" sz="2100" dirty="0"/>
          </a:p>
        </p:txBody>
      </p:sp>
      <p:pic>
        <p:nvPicPr>
          <p:cNvPr id="3" name="Image 0" descr="figs_png/g9_mothers.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Women teachers aged 22–45, college graduates; annual probability of leaving the labor force (thin lines) and centered 3-year averages (bold), separately for those with and without an own child under 6 at home. Endpoint values printed. Source: author’s calculations from March CPS supplements, survey years 1998–2025.</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8. Leaving Teaching and the Unemployment Rate, 1997–2024</a:t>
            </a:r>
            <a:endParaRPr lang="en-US" sz="2100" dirty="0"/>
          </a:p>
        </p:txBody>
      </p:sp>
      <p:pic>
        <p:nvPicPr>
          <p:cNvPr id="3" name="Image 0" descr="figs_png/n5_cyclicality.png">    </p:cNvPr>
          <p:cNvPicPr>
            <a:picLocks noChangeAspect="1"/>
          </p:cNvPicPr>
          <p:nvPr/>
        </p:nvPicPr>
        <p:blipFill>
          <a:blip r:embed="rId1"/>
          <a:stretch>
            <a:fillRect/>
          </a:stretch>
        </p:blipFill>
        <p:spPr>
          <a:xfrm>
            <a:off x="470916" y="1072233"/>
            <a:ext cx="11247120" cy="4174039"/>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9. Leaving and State Unemployment: Two Examples</a:t>
            </a:r>
            <a:endParaRPr lang="en-US" sz="2100" dirty="0"/>
          </a:p>
        </p:txBody>
      </p:sp>
      <p:pic>
        <p:nvPicPr>
          <p:cNvPr id="3" name="Image 0" descr="figs_png/n5b_states_trio.png">    </p:cNvPr>
          <p:cNvPicPr>
            <a:picLocks noChangeAspect="1"/>
          </p:cNvPicPr>
          <p:nvPr/>
        </p:nvPicPr>
        <p:blipFill>
          <a:blip r:embed="rId1"/>
          <a:stretch>
            <a:fillRect/>
          </a:stretch>
        </p:blipFill>
        <p:spPr>
          <a:xfrm>
            <a:off x="899307" y="804672"/>
            <a:ext cx="1039033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state leaving rates of college-graduate teachers (dots; one per year, 1997–2024) against the state unemployment rate in the survey month (BLS Local Area Unemployment Statistics), with OLS fits. North Carolina and New Jersey are shown as examples of the two signs. State of residence is recovered from the household records of the raw files. Source: author’s calculations from March CPS supplements.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10. The Distribution of Earnings Changes: Stayers and Leavers</a:t>
            </a:r>
            <a:endParaRPr lang="en-US" sz="2100" dirty="0"/>
          </a:p>
        </p:txBody>
      </p:sp>
      <p:pic>
        <p:nvPicPr>
          <p:cNvPr id="3" name="Image 0" descr="figs_png/g5b_earnings_density.png">    </p:cNvPr>
          <p:cNvPicPr>
            <a:picLocks noChangeAspect="1"/>
          </p:cNvPicPr>
          <p:nvPr/>
        </p:nvPicPr>
        <p:blipFill>
          <a:blip r:embed="rId1"/>
          <a:stretch>
            <a:fillRect/>
          </a:stretch>
        </p:blipFill>
        <p:spPr>
          <a:xfrm>
            <a:off x="1590062" y="804672"/>
            <a:ext cx="900882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11. Real Median Earnings by Profession, 2004–2014 and 2015–2025</a:t>
            </a:r>
            <a:endParaRPr lang="en-US" sz="2100" dirty="0"/>
          </a:p>
        </p:txBody>
      </p:sp>
      <p:pic>
        <p:nvPicPr>
          <p:cNvPr id="3" name="Image 0" descr="figs_png/n6b_pay_windows.png">    </p:cNvPr>
          <p:cNvPicPr>
            <a:picLocks noChangeAspect="1"/>
          </p:cNvPicPr>
          <p:nvPr/>
        </p:nvPicPr>
        <p:blipFill>
          <a:blip r:embed="rId1"/>
          <a:stretch>
            <a:fillRect/>
          </a:stretch>
        </p:blipFill>
        <p:spPr>
          <a:xfrm>
            <a:off x="1609562" y="804672"/>
            <a:ext cx="896982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100" dirty="0"/>
          </a:p>
        </p:txBody>
      </p:sp>
      <p:pic>
        <p:nvPicPr>
          <p:cNvPr id="3" name="Image 0" descr="figs_png/g6_ame.png">    </p:cNvPr>
          <p:cNvPicPr>
            <a:picLocks noChangeAspect="1"/>
          </p:cNvPicPr>
          <p:nvPr/>
        </p:nvPicPr>
        <p:blipFill>
          <a:blip r:embed="rId1"/>
          <a:stretch>
            <a:fillRect/>
          </a:stretch>
        </p:blipFill>
        <p:spPr>
          <a:xfrm>
            <a:off x="2955036" y="804672"/>
            <a:ext cx="627888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“Worked full year” is 50+ weeks at the last-year job; “part-time” is under 35 weekly hours. n = 28,900. Source: author’s calculations from March CPS supplements.</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13. Rates of Leaving by Profession, 2004–2014 and 2015–2025</a:t>
            </a:r>
            <a:endParaRPr lang="en-US" sz="2100" dirty="0"/>
          </a:p>
        </p:txBody>
      </p:sp>
      <p:pic>
        <p:nvPicPr>
          <p:cNvPr id="3" name="Image 0" descr="figs_png/g7_professions.png">    </p:cNvPr>
          <p:cNvPicPr>
            <a:picLocks noChangeAspect="1"/>
          </p:cNvPicPr>
          <p:nvPr/>
        </p:nvPicPr>
        <p:blipFill>
          <a:blip r:embed="rId1"/>
          <a:stretch>
            <a:fillRect/>
          </a:stretch>
        </p:blipFill>
        <p:spPr>
          <a:xfrm>
            <a:off x="1999554" y="804672"/>
            <a:ext cx="818984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rate of leaving each profession (same route-based definition as for teachers, college graduates, ASEC weights), pooled over survey years 2004–2014 (open) and 2015–2025 (filled, with values). Occupation codes harmonized across the 2002, 2010, and 2018 Census classification regimes. Source: author’s calculations from March CPS supplements.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2026-07-21T10:23:55Z</dcterms:created>
  <dcterms:modified xsi:type="dcterms:W3CDTF">2026-07-21T10:23:55Z</dcterms:modified>
</cp:coreProperties>
</file>