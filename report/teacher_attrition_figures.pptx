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literatures, one gap. The follow-up surveys have depth but no frequency, and the CPS papers have frequency but stop at the level. I take the CPS instrument all the way down: routes, ages, sectors, states, family events, and earnings.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three significant slopes. Mississippi and Pennsylvania say recessions push exits up, New Jersey says the opposite, and the large states are precise zeros. No systematic poaching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real pay slipped from 68,000 to 66,000 dollars while the college median rose to 90,000. The penalty now stands at 28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and accounting are the only professions here whose attrition fell across decades. Every health and social profession rose. Whatever pushes pharmacists and therapists up is economy 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280160" y="2148840"/>
            <a:ext cx="9628632" cy="731520"/>
          </a:xfrm>
          <a:prstGeom prst="rect">
            <a:avLst/>
          </a:prstGeom>
          <a:noFill/>
          <a:ln/>
        </p:spPr>
        <p:txBody>
          <a:bodyPr wrap="square" lIns="0" tIns="0" rIns="0" bIns="0" rtlCol="0" anchor="ctr"/>
          <a:lstStyle/>
          <a:p>
            <a:pPr algn="ctr" indent="0" marL="0">
              <a:buNone/>
            </a:pPr>
            <a:r>
              <a:rPr lang="en-US" sz="3000" b="1" dirty="0">
                <a:solidFill>
                  <a:srgbClr val="26456E"/>
                </a:solidFill>
                <a:latin typeface="Garamond" pitchFamily="34" charset="0"/>
                <a:ea typeface="Garamond" pitchFamily="34" charset="-122"/>
                <a:cs typeface="Garamond" pitchFamily="34" charset="-120"/>
              </a:rPr>
              <a:t>Who Leaves Teaching, and Why?</a:t>
            </a:r>
            <a:endParaRPr lang="en-US" sz="3000" dirty="0"/>
          </a:p>
        </p:txBody>
      </p:sp>
      <p:sp>
        <p:nvSpPr>
          <p:cNvPr id="3" name="Text 1"/>
          <p:cNvSpPr/>
          <p:nvPr/>
        </p:nvSpPr>
        <p:spPr>
          <a:xfrm>
            <a:off x="1280160" y="2907792"/>
            <a:ext cx="9628632" cy="457200"/>
          </a:xfrm>
          <a:prstGeom prst="rect">
            <a:avLst/>
          </a:prstGeom>
          <a:noFill/>
          <a:ln/>
        </p:spPr>
        <p:txBody>
          <a:bodyPr wrap="square" lIns="0" tIns="0" rIns="0" bIns="0" rtlCol="0" anchor="ctr"/>
          <a:lstStyle/>
          <a:p>
            <a:pPr algn="ctr" indent="0" marL="0">
              <a:buNone/>
            </a:pPr>
            <a:r>
              <a:rPr lang="en-US" sz="165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650" dirty="0"/>
          </a:p>
        </p:txBody>
      </p:sp>
      <p:sp>
        <p:nvSpPr>
          <p:cNvPr id="4" name="Text 2"/>
          <p:cNvSpPr/>
          <p:nvPr/>
        </p:nvSpPr>
        <p:spPr>
          <a:xfrm>
            <a:off x="1280160" y="4114800"/>
            <a:ext cx="9628632" cy="384048"/>
          </a:xfrm>
          <a:prstGeom prst="rect">
            <a:avLst/>
          </a:prstGeom>
          <a:noFill/>
          <a:ln/>
        </p:spPr>
        <p:txBody>
          <a:bodyPr wrap="square" lIns="0" tIns="0" rIns="0" bIns="0" rtlCol="0" anchor="ctr"/>
          <a:lstStyle/>
          <a:p>
            <a:pPr algn="ctr" indent="0" marL="0">
              <a:buNone/>
            </a:pPr>
            <a:r>
              <a:rPr lang="en-US" sz="1600" dirty="0">
                <a:solidFill>
                  <a:srgbClr val="1A2430"/>
                </a:solidFill>
                <a:latin typeface="Garamond" pitchFamily="34" charset="0"/>
                <a:ea typeface="Garamond" pitchFamily="34" charset="-122"/>
                <a:cs typeface="Garamond" pitchFamily="34" charset="-120"/>
              </a:rPr>
              <a:t>José Elías Durán Roa</a:t>
            </a:r>
            <a:endParaRPr lang="en-US" sz="1600" dirty="0"/>
          </a:p>
        </p:txBody>
      </p:sp>
      <p:sp>
        <p:nvSpPr>
          <p:cNvPr id="5" name="Text 3"/>
          <p:cNvSpPr/>
          <p:nvPr/>
        </p:nvSpPr>
        <p:spPr>
          <a:xfrm>
            <a:off x="1280160" y="4517136"/>
            <a:ext cx="9628632" cy="329184"/>
          </a:xfrm>
          <a:prstGeom prst="rect">
            <a:avLst/>
          </a:prstGeom>
          <a:noFill/>
          <a:ln/>
        </p:spPr>
        <p:txBody>
          <a:bodyPr wrap="square" lIns="0" tIns="0" rIns="0" bIns="0" rtlCol="0" anchor="ctr"/>
          <a:lstStyle/>
          <a:p>
            <a:pPr algn="ctr" indent="0" marL="0">
              <a:buNone/>
            </a:pPr>
            <a:r>
              <a:rPr lang="en-US" sz="1250" i="1" dirty="0">
                <a:solidFill>
                  <a:srgbClr val="5A6572"/>
                </a:solidFill>
                <a:latin typeface="Garamond" pitchFamily="34" charset="0"/>
                <a:ea typeface="Garamond" pitchFamily="34" charset="-122"/>
                <a:cs typeface="Garamond" pitchFamily="34" charset="-120"/>
              </a:rPr>
              <a:t>University of Alicante and OECD</a:t>
            </a:r>
            <a:endParaRPr lang="en-US" sz="1250" dirty="0"/>
          </a:p>
        </p:txBody>
      </p:sp>
      <p:sp>
        <p:nvSpPr>
          <p:cNvPr id="6" name="Text 4"/>
          <p:cNvSpPr/>
          <p:nvPr/>
        </p:nvSpPr>
        <p:spPr>
          <a:xfrm>
            <a:off x="1280160" y="5257800"/>
            <a:ext cx="9628632" cy="310896"/>
          </a:xfrm>
          <a:prstGeom prst="rect">
            <a:avLst/>
          </a:prstGeom>
          <a:noFill/>
          <a:ln/>
        </p:spPr>
        <p:txBody>
          <a:bodyPr wrap="square" lIns="0" tIns="0" rIns="0" bIns="0" rtlCol="0" anchor="ctr"/>
          <a:lstStyle/>
          <a:p>
            <a:pPr algn="ctr" indent="0" marL="0">
              <a:buNone/>
            </a:pPr>
            <a:r>
              <a:rPr lang="en-US" sz="1200" dirty="0">
                <a:solidFill>
                  <a:srgbClr val="5A6572"/>
                </a:solidFill>
                <a:latin typeface="Garamond" pitchFamily="34" charset="0"/>
                <a:ea typeface="Garamond" pitchFamily="34" charset="-122"/>
                <a:cs typeface="Garamond" pitchFamily="34" charset="-120"/>
              </a:rPr>
              <a:t>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502920"/>
            <a:ext cx="9875520" cy="548640"/>
          </a:xfrm>
          <a:prstGeom prst="rect">
            <a:avLst/>
          </a:prstGeom>
          <a:noFill/>
          <a:ln/>
        </p:spPr>
        <p:txBody>
          <a:bodyPr wrap="square" lIns="0" tIns="0" rIns="0" bIns="0" rtlCol="0" anchor="ctr"/>
          <a:lstStyle/>
          <a:p>
            <a:pPr algn="l" indent="0" marL="0">
              <a:buNone/>
            </a:pPr>
            <a:r>
              <a:rPr lang="en-US" sz="24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914400" y="155448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One in six American teachers is said to leave every year. That number mixes teachers who change schools with teachers who leave the classroom for good; only the second group is an exodus.</a:t>
            </a:r>
            <a:endParaRPr lang="en-US" sz="1550" dirty="0"/>
          </a:p>
        </p:txBody>
      </p:sp>
      <p:sp>
        <p:nvSpPr>
          <p:cNvPr id="4" name="Text 2"/>
          <p:cNvSpPr/>
          <p:nvPr/>
        </p:nvSpPr>
        <p:spPr>
          <a:xfrm>
            <a:off x="914400" y="278892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The official measure of profession leaving, the NCES Teacher Follow-up Survey, runs only every few years, covers public schools only, and follows small samples.</a:t>
            </a:r>
            <a:endParaRPr lang="en-US" sz="1550" dirty="0"/>
          </a:p>
        </p:txBody>
      </p:sp>
      <p:sp>
        <p:nvSpPr>
          <p:cNvPr id="5" name="Text 3"/>
          <p:cNvSpPr/>
          <p:nvPr/>
        </p:nvSpPr>
        <p:spPr>
          <a:xfrm>
            <a:off x="914400" y="374904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Harris and Adams (2007) and Aldeman and Yi (2025) measure leaving instead with a single question of the March CPS. This deck takes their instrument to its full depth and length: every supplement since 1998, every exit routed, priced, and modeled.</a:t>
            </a:r>
            <a:endParaRPr lang="en-US" sz="1550" dirty="0"/>
          </a:p>
        </p:txBody>
      </p:sp>
      <p:sp>
        <p:nvSpPr>
          <p:cNvPr id="6" name="Text 4"/>
          <p:cNvSpPr/>
          <p:nvPr/>
        </p:nvSpPr>
        <p:spPr>
          <a:xfrm>
            <a:off x="914400" y="498348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The result is an annual, all-sector, twenty-eight-year series that complements the NCES surveys and reconciles the numbers in the public debate.</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502920"/>
            <a:ext cx="9875520" cy="548640"/>
          </a:xfrm>
          <a:prstGeom prst="rect">
            <a:avLst/>
          </a:prstGeom>
          <a:noFill/>
          <a:ln/>
        </p:spPr>
        <p:txBody>
          <a:bodyPr wrap="square" lIns="0" tIns="0" rIns="0" bIns="0" rtlCol="0" anchor="ctr"/>
          <a:lstStyle/>
          <a:p>
            <a:pPr algn="l" indent="0" marL="0">
              <a:buNone/>
            </a:pPr>
            <a:r>
              <a:rPr lang="en-US" sz="2400" b="1" dirty="0">
                <a:solidFill>
                  <a:srgbClr val="1F3B66"/>
                </a:solidFill>
                <a:latin typeface="Garamond" pitchFamily="34" charset="0"/>
                <a:ea typeface="Garamond" pitchFamily="34" charset="-122"/>
                <a:cs typeface="Garamond" pitchFamily="34" charset="-120"/>
              </a:rPr>
              <a:t>Data</a:t>
            </a:r>
            <a:endParaRPr lang="en-US" sz="2400" dirty="0"/>
          </a:p>
        </p:txBody>
      </p:sp>
      <p:sp>
        <p:nvSpPr>
          <p:cNvPr id="3" name="Text 1"/>
          <p:cNvSpPr/>
          <p:nvPr/>
        </p:nvSpPr>
        <p:spPr>
          <a:xfrm>
            <a:off x="1143000" y="1874520"/>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March supplement of the Current Population Survey, survey years 1998 to 2025.</a:t>
            </a:r>
            <a:endParaRPr lang="en-US" sz="1550" dirty="0"/>
          </a:p>
        </p:txBody>
      </p:sp>
      <p:sp>
        <p:nvSpPr>
          <p:cNvPr id="4" name="Text 2"/>
          <p:cNvSpPr/>
          <p:nvPr/>
        </p:nvSpPr>
        <p:spPr>
          <a:xfrm>
            <a:off x="1143000" y="2532888"/>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One retrospective question: the longest job held last calendar year, compared with the occupation held this week. Whoever taught last year and no longer teaches this March has left the profession.</a:t>
            </a:r>
            <a:endParaRPr lang="en-US" sz="1550" dirty="0"/>
          </a:p>
        </p:txBody>
      </p:sp>
      <p:sp>
        <p:nvSpPr>
          <p:cNvPr id="5" name="Text 3"/>
          <p:cNvSpPr/>
          <p:nvPr/>
        </p:nvSpPr>
        <p:spPr>
          <a:xfrm>
            <a:off x="1143000" y="3557016"/>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The pooled file holds 5,009,129 person-year records, 104,545 of them teacher-years, covering calendar years 1997 to 2024.</a:t>
            </a:r>
            <a:endParaRPr lang="en-US" sz="1550" dirty="0"/>
          </a:p>
        </p:txBody>
      </p:sp>
      <p:sp>
        <p:nvSpPr>
          <p:cNvPr id="6" name="Text 4"/>
          <p:cNvSpPr/>
          <p:nvPr/>
        </p:nvSpPr>
        <p:spPr>
          <a:xfrm>
            <a:off x="1143000" y="4581144"/>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Every variable is read from the raw Census files at its officially documented position. All estimates use ASEC supplement weights.</a:t>
            </a:r>
            <a:endParaRPr lang="en-US" sz="1550" dirty="0"/>
          </a:p>
        </p:txBody>
      </p:sp>
      <p:sp>
        <p:nvSpPr>
          <p:cNvPr id="7" name="Text 5"/>
          <p:cNvSpPr/>
          <p:nvPr/>
        </p:nvSpPr>
        <p:spPr>
          <a:xfrm>
            <a:off x="1143000" y="6035040"/>
            <a:ext cx="9902952" cy="292608"/>
          </a:xfrm>
          <a:prstGeom prst="rect">
            <a:avLst/>
          </a:prstGeom>
          <a:noFill/>
          <a:ln/>
        </p:spPr>
        <p:txBody>
          <a:bodyPr wrap="square" lIns="0" tIns="0" rIns="0" bIns="0" rtlCol="0" anchor="ctr"/>
          <a:lstStyle/>
          <a:p>
            <a:pPr algn="l" indent="0" marL="0">
              <a:buNone/>
            </a:pPr>
            <a:r>
              <a:rPr lang="en-US" sz="1150" i="1" dirty="0">
                <a:solidFill>
                  <a:srgbClr val="5A6572"/>
                </a:solidFill>
                <a:latin typeface="Garamond" pitchFamily="34" charset="0"/>
                <a:ea typeface="Garamond" pitchFamily="34" charset="-122"/>
                <a:cs typeface="Garamond" pitchFamily="34" charset="-120"/>
              </a:rPr>
              <a:t>The March 2026 supplement, covering calendar 2025, is not yet public.</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2026-07-21T10:31:21Z</dcterms:created>
  <dcterms:modified xsi:type="dcterms:W3CDTF">2026-07-21T10:31:21Z</dcterms:modified>
</cp:coreProperties>
</file>