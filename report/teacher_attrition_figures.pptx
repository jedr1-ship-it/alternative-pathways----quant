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four significant slopes, all on the recession side. Not one state shows teachers leaving when the economy heats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pay is flat at 66,000 dollars while every comparison profession moved up. The penalty grew from 20 to 28 percent of the college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is the only profession here whose attrition fell across decades. Whatever is pushing pharmacists and therapists up is economy-wide,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1965960"/>
            <a:ext cx="10725912" cy="914400"/>
          </a:xfrm>
          <a:prstGeom prst="rect">
            <a:avLst/>
          </a:prstGeom>
          <a:noFill/>
          <a:ln/>
        </p:spPr>
        <p:txBody>
          <a:bodyPr wrap="square" lIns="0" tIns="0" rIns="0" bIns="0" rtlCol="0" anchor="ctr"/>
          <a:lstStyle/>
          <a:p>
            <a:pPr algn="ctr" indent="0" marL="0">
              <a:buNone/>
            </a:pPr>
            <a:r>
              <a:rPr lang="en-US" sz="4000" dirty="0">
                <a:solidFill>
                  <a:srgbClr val="1A2430"/>
                </a:solidFill>
                <a:latin typeface="Garamond" pitchFamily="34" charset="0"/>
                <a:ea typeface="Garamond" pitchFamily="34" charset="-122"/>
                <a:cs typeface="Garamond" pitchFamily="34" charset="-120"/>
              </a:rPr>
              <a:t>Who Leaves Teaching, and Why?</a:t>
            </a:r>
            <a:endParaRPr lang="en-US" sz="4000" dirty="0"/>
          </a:p>
        </p:txBody>
      </p:sp>
      <p:sp>
        <p:nvSpPr>
          <p:cNvPr id="3" name="Text 1"/>
          <p:cNvSpPr/>
          <p:nvPr/>
        </p:nvSpPr>
        <p:spPr>
          <a:xfrm>
            <a:off x="731520" y="2971800"/>
            <a:ext cx="10725912" cy="548640"/>
          </a:xfrm>
          <a:prstGeom prst="rect">
            <a:avLst/>
          </a:prstGeom>
          <a:noFill/>
          <a:ln/>
        </p:spPr>
        <p:txBody>
          <a:bodyPr wrap="square" lIns="0" tIns="0" rIns="0" bIns="0" rtlCol="0" anchor="ctr"/>
          <a:lstStyle/>
          <a:p>
            <a:pPr algn="ctr" indent="0" marL="0">
              <a:buNone/>
            </a:pPr>
            <a:r>
              <a:rPr lang="en-US" sz="22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2200" dirty="0"/>
          </a:p>
        </p:txBody>
      </p:sp>
      <p:sp>
        <p:nvSpPr>
          <p:cNvPr id="4" name="Text 2"/>
          <p:cNvSpPr/>
          <p:nvPr/>
        </p:nvSpPr>
        <p:spPr>
          <a:xfrm>
            <a:off x="731520" y="3977640"/>
            <a:ext cx="10725912" cy="411480"/>
          </a:xfrm>
          <a:prstGeom prst="rect">
            <a:avLst/>
          </a:prstGeom>
          <a:noFill/>
          <a:ln/>
        </p:spPr>
        <p:txBody>
          <a:bodyPr wrap="square" lIns="0" tIns="0" rIns="0" bIns="0" rtlCol="0" anchor="ctr"/>
          <a:lstStyle/>
          <a:p>
            <a:pPr algn="ctr" indent="0" marL="0">
              <a:buNone/>
            </a:pPr>
            <a:r>
              <a:rPr lang="en-US" sz="1700" dirty="0">
                <a:solidFill>
                  <a:srgbClr val="1A2430"/>
                </a:solidFill>
                <a:latin typeface="Garamond" pitchFamily="34" charset="0"/>
                <a:ea typeface="Garamond" pitchFamily="34" charset="-122"/>
                <a:cs typeface="Garamond" pitchFamily="34" charset="-120"/>
              </a:rPr>
              <a:t>José Elías Durán Roa</a:t>
            </a:r>
            <a:endParaRPr lang="en-US" sz="1700" dirty="0"/>
          </a:p>
        </p:txBody>
      </p:sp>
      <p:sp>
        <p:nvSpPr>
          <p:cNvPr id="5" name="Text 3"/>
          <p:cNvSpPr/>
          <p:nvPr/>
        </p:nvSpPr>
        <p:spPr>
          <a:xfrm>
            <a:off x="731520" y="4434840"/>
            <a:ext cx="10725912" cy="365760"/>
          </a:xfrm>
          <a:prstGeom prst="rect">
            <a:avLst/>
          </a:prstGeom>
          <a:noFill/>
          <a:ln/>
        </p:spPr>
        <p:txBody>
          <a:bodyPr wrap="square" lIns="0" tIns="0" rIns="0" bIns="0" rtlCol="0" anchor="ctr"/>
          <a:lstStyle/>
          <a:p>
            <a:pPr algn="ctr" indent="0" marL="0">
              <a:buNone/>
            </a:pPr>
            <a:r>
              <a:rPr lang="en-US" sz="1300" dirty="0">
                <a:solidFill>
                  <a:srgbClr val="5A6572"/>
                </a:solidFill>
                <a:latin typeface="Garamond" pitchFamily="34" charset="0"/>
                <a:ea typeface="Garamond" pitchFamily="34" charset="-122"/>
                <a:cs typeface="Garamond" pitchFamily="34" charset="-120"/>
              </a:rPr>
              <a:t>July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11274552" cy="548640"/>
          </a:xfrm>
          <a:prstGeom prst="rect">
            <a:avLst/>
          </a:prstGeom>
          <a:noFill/>
          <a:ln/>
        </p:spPr>
        <p:txBody>
          <a:bodyPr wrap="square" lIns="0" tIns="0" rIns="0" bIns="0" rtlCol="0" anchor="ctr"/>
          <a:lstStyle/>
          <a:p>
            <a:pPr algn="ctr" indent="0" marL="0">
              <a:buNone/>
            </a:pPr>
            <a:r>
              <a:rPr lang="en-US" sz="2600" dirty="0">
                <a:solidFill>
                  <a:srgbClr val="1A2430"/>
                </a:solidFill>
                <a:latin typeface="Garamond" pitchFamily="34" charset="0"/>
                <a:ea typeface="Garamond" pitchFamily="34" charset="-122"/>
                <a:cs typeface="Garamond" pitchFamily="34" charset="-120"/>
              </a:rPr>
              <a:t>Data</a:t>
            </a:r>
            <a:endParaRPr lang="en-US" sz="2600" dirty="0"/>
          </a:p>
        </p:txBody>
      </p:sp>
      <p:sp>
        <p:nvSpPr>
          <p:cNvPr id="3" name="Text 1"/>
          <p:cNvSpPr/>
          <p:nvPr/>
        </p:nvSpPr>
        <p:spPr>
          <a:xfrm>
            <a:off x="1005840" y="1234440"/>
            <a:ext cx="10177272" cy="384048"/>
          </a:xfrm>
          <a:prstGeom prst="rect">
            <a:avLst/>
          </a:prstGeom>
          <a:noFill/>
          <a:ln/>
        </p:spPr>
        <p:txBody>
          <a:bodyPr wrap="square" lIns="0" tIns="0" rIns="0" bIns="0" rtlCol="0" anchor="ctr"/>
          <a:lstStyle/>
          <a:p>
            <a:pPr algn="l" indent="0" marL="0">
              <a:buNone/>
            </a:pPr>
            <a:r>
              <a:rPr lang="en-US" sz="1650" dirty="0">
                <a:solidFill>
                  <a:srgbClr val="2A5DB0"/>
                </a:solidFill>
                <a:latin typeface="Garamond" pitchFamily="34" charset="0"/>
                <a:ea typeface="Garamond" pitchFamily="34" charset="-122"/>
                <a:cs typeface="Garamond" pitchFamily="34" charset="-120"/>
              </a:rPr>
              <a:t>The question</a:t>
            </a:r>
            <a:endParaRPr lang="en-US" sz="1650" dirty="0"/>
          </a:p>
        </p:txBody>
      </p:sp>
      <p:sp>
        <p:nvSpPr>
          <p:cNvPr id="4" name="Text 2"/>
          <p:cNvSpPr/>
          <p:nvPr/>
        </p:nvSpPr>
        <p:spPr>
          <a:xfrm>
            <a:off x="1005840" y="1636776"/>
            <a:ext cx="10177272" cy="1170432"/>
          </a:xfrm>
          <a:prstGeom prst="rect">
            <a:avLst/>
          </a:prstGeom>
          <a:noFill/>
          <a:ln/>
        </p:spPr>
        <p:txBody>
          <a:bodyPr wrap="square" lIns="0" tIns="0" rIns="0" bIns="0" rtlCol="0" anchor="t"/>
          <a:lstStyle/>
          <a:p>
            <a:pPr algn="just" indent="0" marL="0">
              <a:buNone/>
            </a:pPr>
            <a:r>
              <a:rPr lang="en-US" sz="1350" dirty="0">
                <a:solidFill>
                  <a:srgbClr val="1A2430"/>
                </a:solidFill>
                <a:latin typeface="Garamond" pitchFamily="34" charset="0"/>
                <a:ea typeface="Garamond" pitchFamily="34" charset="-122"/>
                <a:cs typeface="Garamond" pitchFamily="34" charset="-120"/>
              </a:rPr>
              <a:t>One in six American teachers is said to leave every year. That number mixes teachers who change schools with teachers who leave the classroom for good. Everything that follows tracks only the second group, the one the word exodus refers to.</a:t>
            </a:r>
            <a:endParaRPr lang="en-US" sz="1350" dirty="0"/>
          </a:p>
        </p:txBody>
      </p:sp>
      <p:sp>
        <p:nvSpPr>
          <p:cNvPr id="5" name="Text 3"/>
          <p:cNvSpPr/>
          <p:nvPr/>
        </p:nvSpPr>
        <p:spPr>
          <a:xfrm>
            <a:off x="1005840" y="3017520"/>
            <a:ext cx="10177272" cy="384048"/>
          </a:xfrm>
          <a:prstGeom prst="rect">
            <a:avLst/>
          </a:prstGeom>
          <a:noFill/>
          <a:ln/>
        </p:spPr>
        <p:txBody>
          <a:bodyPr wrap="square" lIns="0" tIns="0" rIns="0" bIns="0" rtlCol="0" anchor="ctr"/>
          <a:lstStyle/>
          <a:p>
            <a:pPr algn="l" indent="0" marL="0">
              <a:buNone/>
            </a:pPr>
            <a:r>
              <a:rPr lang="en-US" sz="1650" dirty="0">
                <a:solidFill>
                  <a:srgbClr val="2A5DB0"/>
                </a:solidFill>
                <a:latin typeface="Garamond" pitchFamily="34" charset="0"/>
                <a:ea typeface="Garamond" pitchFamily="34" charset="-122"/>
                <a:cs typeface="Garamond" pitchFamily="34" charset="-120"/>
              </a:rPr>
              <a:t>The instrument</a:t>
            </a:r>
            <a:endParaRPr lang="en-US" sz="1650" dirty="0"/>
          </a:p>
        </p:txBody>
      </p:sp>
      <p:sp>
        <p:nvSpPr>
          <p:cNvPr id="6" name="Text 4"/>
          <p:cNvSpPr/>
          <p:nvPr/>
        </p:nvSpPr>
        <p:spPr>
          <a:xfrm>
            <a:off x="1005840" y="3419856"/>
            <a:ext cx="10177272" cy="1170432"/>
          </a:xfrm>
          <a:prstGeom prst="rect">
            <a:avLst/>
          </a:prstGeom>
          <a:noFill/>
          <a:ln/>
        </p:spPr>
        <p:txBody>
          <a:bodyPr wrap="square" lIns="0" tIns="0" rIns="0" bIns="0" rtlCol="0" anchor="t"/>
          <a:lstStyle/>
          <a:p>
            <a:pPr algn="just" indent="0" marL="0">
              <a:buNone/>
            </a:pPr>
            <a:r>
              <a:rPr lang="en-US" sz="1350" dirty="0">
                <a:solidFill>
                  <a:srgbClr val="1A2430"/>
                </a:solidFill>
                <a:latin typeface="Garamond" pitchFamily="34" charset="0"/>
                <a:ea typeface="Garamond" pitchFamily="34" charset="-122"/>
                <a:cs typeface="Garamond" pitchFamily="34" charset="-120"/>
              </a:rPr>
              <a:t>The March supplement of the Current Population Survey asks two questions of every household: the longest job held last calendar year, and the occupation this week. Whoever taught last year and no longer teaches this March has left the profession within fifteen months. The survey also records where they landed and what they earn.</a:t>
            </a:r>
            <a:endParaRPr lang="en-US" sz="1350" dirty="0"/>
          </a:p>
        </p:txBody>
      </p:sp>
      <p:sp>
        <p:nvSpPr>
          <p:cNvPr id="7" name="Text 5"/>
          <p:cNvSpPr/>
          <p:nvPr/>
        </p:nvSpPr>
        <p:spPr>
          <a:xfrm>
            <a:off x="1005840" y="4800600"/>
            <a:ext cx="10177272" cy="384048"/>
          </a:xfrm>
          <a:prstGeom prst="rect">
            <a:avLst/>
          </a:prstGeom>
          <a:noFill/>
          <a:ln/>
        </p:spPr>
        <p:txBody>
          <a:bodyPr wrap="square" lIns="0" tIns="0" rIns="0" bIns="0" rtlCol="0" anchor="ctr"/>
          <a:lstStyle/>
          <a:p>
            <a:pPr algn="l" indent="0" marL="0">
              <a:buNone/>
            </a:pPr>
            <a:r>
              <a:rPr lang="en-US" sz="1650" dirty="0">
                <a:solidFill>
                  <a:srgbClr val="2A5DB0"/>
                </a:solidFill>
                <a:latin typeface="Garamond" pitchFamily="34" charset="0"/>
                <a:ea typeface="Garamond" pitchFamily="34" charset="-122"/>
                <a:cs typeface="Garamond" pitchFamily="34" charset="-120"/>
              </a:rPr>
              <a:t>The database</a:t>
            </a:r>
            <a:endParaRPr lang="en-US" sz="1650" dirty="0"/>
          </a:p>
        </p:txBody>
      </p:sp>
      <p:sp>
        <p:nvSpPr>
          <p:cNvPr id="8" name="Text 6"/>
          <p:cNvSpPr/>
          <p:nvPr/>
        </p:nvSpPr>
        <p:spPr>
          <a:xfrm>
            <a:off x="1005840" y="5202936"/>
            <a:ext cx="10177272" cy="1170432"/>
          </a:xfrm>
          <a:prstGeom prst="rect">
            <a:avLst/>
          </a:prstGeom>
          <a:noFill/>
          <a:ln/>
        </p:spPr>
        <p:txBody>
          <a:bodyPr wrap="square" lIns="0" tIns="0" rIns="0" bIns="0" rtlCol="0" anchor="t"/>
          <a:lstStyle/>
          <a:p>
            <a:pPr algn="just" indent="0" marL="0">
              <a:buNone/>
            </a:pPr>
            <a:r>
              <a:rPr lang="en-US" sz="1350" dirty="0">
                <a:solidFill>
                  <a:srgbClr val="1A2430"/>
                </a:solidFill>
                <a:latin typeface="Garamond" pitchFamily="34" charset="0"/>
                <a:ea typeface="Garamond" pitchFamily="34" charset="-122"/>
                <a:cs typeface="Garamond" pitchFamily="34" charset="-120"/>
              </a:rPr>
              <a:t>All twenty-eight supplements, survey years 1998 to 2025, read from the raw Census files at their officially documented positions. 5,009,129 person-year records, 104,545 of them teacher-years, covering calendar years 1997 to 2024. All estimates use ASEC supplement weights. The 2026 supplement, which will add calendar 2025, is not yet public.</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2026-07-21T09:46:32Z</dcterms:created>
  <dcterms:modified xsi:type="dcterms:W3CDTF">2026-07-21T09:46:32Z</dcterms:modified>
</cp:coreProperties>
</file>