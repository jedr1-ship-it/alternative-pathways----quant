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four significant slopes, all on the recession side. Not one state shows teachers leaving when the economy heats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pay is flat at 66,000 dollars while every comparison profession moved up. The penalty grew from 20 to 28 percent of the college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is the only profession here whose attrition fell across decades. Whatever is pushing pharmacists and therapists up is economy-wide,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2103120"/>
            <a:ext cx="10360152" cy="777240"/>
          </a:xfrm>
          <a:prstGeom prst="rect">
            <a:avLst/>
          </a:prstGeom>
          <a:noFill/>
          <a:ln/>
        </p:spPr>
        <p:txBody>
          <a:bodyPr wrap="square" lIns="0" tIns="0" rIns="0" bIns="0" rtlCol="0" anchor="ctr"/>
          <a:lstStyle/>
          <a:p>
            <a:pPr algn="ctr" indent="0" marL="0">
              <a:buNone/>
            </a:pPr>
            <a:r>
              <a:rPr lang="en-US" sz="3700" dirty="0">
                <a:solidFill>
                  <a:srgbClr val="1A2430"/>
                </a:solidFill>
                <a:latin typeface="Garamond" pitchFamily="34" charset="0"/>
                <a:ea typeface="Garamond" pitchFamily="34" charset="-122"/>
                <a:cs typeface="Garamond" pitchFamily="34" charset="-120"/>
              </a:rPr>
              <a:t>Who Leaves Teaching, and Why?</a:t>
            </a:r>
            <a:endParaRPr lang="en-US" sz="3700" dirty="0"/>
          </a:p>
        </p:txBody>
      </p:sp>
      <p:sp>
        <p:nvSpPr>
          <p:cNvPr id="3" name="Text 1"/>
          <p:cNvSpPr/>
          <p:nvPr/>
        </p:nvSpPr>
        <p:spPr>
          <a:xfrm>
            <a:off x="914400" y="2907792"/>
            <a:ext cx="10360152" cy="457200"/>
          </a:xfrm>
          <a:prstGeom prst="rect">
            <a:avLst/>
          </a:prstGeom>
          <a:noFill/>
          <a:ln/>
        </p:spPr>
        <p:txBody>
          <a:bodyPr wrap="square" lIns="0" tIns="0" rIns="0" bIns="0" rtlCol="0" anchor="ctr"/>
          <a:lstStyle/>
          <a:p>
            <a:pPr algn="ctr" indent="0" marL="0">
              <a:buNone/>
            </a:pPr>
            <a:r>
              <a:rPr lang="en-US" sz="1800" i="1" dirty="0">
                <a:solidFill>
                  <a:srgbClr val="5A6572"/>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4" name="Text 2"/>
          <p:cNvSpPr/>
          <p:nvPr/>
        </p:nvSpPr>
        <p:spPr>
          <a:xfrm>
            <a:off x="914400" y="4069080"/>
            <a:ext cx="10360152" cy="365760"/>
          </a:xfrm>
          <a:prstGeom prst="rect">
            <a:avLst/>
          </a:prstGeom>
          <a:noFill/>
          <a:ln/>
        </p:spPr>
        <p:txBody>
          <a:bodyPr wrap="square" lIns="0" tIns="0" rIns="0" bIns="0" rtlCol="0" anchor="ctr"/>
          <a:lstStyle/>
          <a:p>
            <a:pPr algn="ctr" indent="0" marL="0">
              <a:buNone/>
            </a:pPr>
            <a:r>
              <a:rPr lang="en-US" sz="1600" dirty="0">
                <a:solidFill>
                  <a:srgbClr val="1A2430"/>
                </a:solidFill>
                <a:latin typeface="Garamond" pitchFamily="34" charset="0"/>
                <a:ea typeface="Garamond" pitchFamily="34" charset="-122"/>
                <a:cs typeface="Garamond" pitchFamily="34" charset="-120"/>
              </a:rPr>
              <a:t>José Elías Durán Roa</a:t>
            </a:r>
            <a:endParaRPr lang="en-US" sz="1600" dirty="0"/>
          </a:p>
        </p:txBody>
      </p:sp>
      <p:sp>
        <p:nvSpPr>
          <p:cNvPr id="5" name="Text 3"/>
          <p:cNvSpPr/>
          <p:nvPr/>
        </p:nvSpPr>
        <p:spPr>
          <a:xfrm>
            <a:off x="914400" y="4462272"/>
            <a:ext cx="10360152" cy="320040"/>
          </a:xfrm>
          <a:prstGeom prst="rect">
            <a:avLst/>
          </a:prstGeom>
          <a:noFill/>
          <a:ln/>
        </p:spPr>
        <p:txBody>
          <a:bodyPr wrap="square" lIns="0" tIns="0" rIns="0" bIns="0" rtlCol="0" anchor="ctr"/>
          <a:lstStyle/>
          <a:p>
            <a:pPr algn="ctr" indent="0" marL="0">
              <a:buNone/>
            </a:pPr>
            <a:r>
              <a:rPr lang="en-US" sz="1250" dirty="0">
                <a:solidFill>
                  <a:srgbClr val="5A6572"/>
                </a:solidFill>
                <a:latin typeface="Garamond" pitchFamily="34" charset="0"/>
                <a:ea typeface="Garamond" pitchFamily="34" charset="-122"/>
                <a:cs typeface="Garamond" pitchFamily="34" charset="-120"/>
              </a:rPr>
              <a:t>University of Alicante · OECD Directorate for Education and Skills</a:t>
            </a:r>
            <a:endParaRPr lang="en-US" sz="1250" dirty="0"/>
          </a:p>
        </p:txBody>
      </p:sp>
      <p:sp>
        <p:nvSpPr>
          <p:cNvPr id="6" name="Text 4"/>
          <p:cNvSpPr/>
          <p:nvPr/>
        </p:nvSpPr>
        <p:spPr>
          <a:xfrm>
            <a:off x="914400" y="4892040"/>
            <a:ext cx="10360152" cy="292608"/>
          </a:xfrm>
          <a:prstGeom prst="rect">
            <a:avLst/>
          </a:prstGeom>
          <a:noFill/>
          <a:ln/>
        </p:spPr>
        <p:txBody>
          <a:bodyPr wrap="square" lIns="0" tIns="0" rIns="0" bIns="0" rtlCol="0" anchor="ctr"/>
          <a:lstStyle/>
          <a:p>
            <a:pPr algn="ctr" indent="0" marL="0">
              <a:buNone/>
            </a:pPr>
            <a:r>
              <a:rPr lang="en-US" sz="1150" dirty="0">
                <a:solidFill>
                  <a:srgbClr val="5A6572"/>
                </a:solidFill>
                <a:latin typeface="Garamond" pitchFamily="34" charset="0"/>
                <a:ea typeface="Garamond" pitchFamily="34" charset="-122"/>
                <a:cs typeface="Garamond" pitchFamily="34" charset="-120"/>
              </a:rPr>
              <a:t>July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51560" y="685800"/>
            <a:ext cx="10058400" cy="502920"/>
          </a:xfrm>
          <a:prstGeom prst="rect">
            <a:avLst/>
          </a:prstGeom>
          <a:noFill/>
          <a:ln/>
        </p:spPr>
        <p:txBody>
          <a:bodyPr wrap="square" lIns="0" tIns="0" rIns="0" bIns="0" rtlCol="0" anchor="ctr"/>
          <a:lstStyle/>
          <a:p>
            <a:pPr algn="l" indent="0" marL="0">
              <a:buNone/>
            </a:pPr>
            <a:r>
              <a:rPr lang="en-US" sz="2400" dirty="0">
                <a:solidFill>
                  <a:srgbClr val="1A2430"/>
                </a:solidFill>
                <a:latin typeface="Garamond" pitchFamily="34" charset="0"/>
                <a:ea typeface="Garamond" pitchFamily="34" charset="-122"/>
                <a:cs typeface="Garamond" pitchFamily="34" charset="-120"/>
              </a:rPr>
              <a:t>Data</a:t>
            </a:r>
            <a:endParaRPr lang="en-US" sz="2400" dirty="0"/>
          </a:p>
        </p:txBody>
      </p:sp>
      <p:sp>
        <p:nvSpPr>
          <p:cNvPr id="3" name="Text 1"/>
          <p:cNvSpPr/>
          <p:nvPr/>
        </p:nvSpPr>
        <p:spPr>
          <a:xfrm>
            <a:off x="1051560" y="1828800"/>
            <a:ext cx="10058400"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March supplement of the Current Population Survey, survey years 1998 to 2025.</a:t>
            </a:r>
            <a:endParaRPr lang="en-US" sz="1550" dirty="0"/>
          </a:p>
        </p:txBody>
      </p:sp>
      <p:sp>
        <p:nvSpPr>
          <p:cNvPr id="4" name="Text 2"/>
          <p:cNvSpPr/>
          <p:nvPr/>
        </p:nvSpPr>
        <p:spPr>
          <a:xfrm>
            <a:off x="1051560" y="2514600"/>
            <a:ext cx="10058400"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One retrospective question: the longest job held last calendar year, compared with the occupation held this week. Whoever taught last year and no longer teaches this March has left the profession.</a:t>
            </a:r>
            <a:endParaRPr lang="en-US" sz="1550" dirty="0"/>
          </a:p>
        </p:txBody>
      </p:sp>
      <p:sp>
        <p:nvSpPr>
          <p:cNvPr id="5" name="Text 3"/>
          <p:cNvSpPr/>
          <p:nvPr/>
        </p:nvSpPr>
        <p:spPr>
          <a:xfrm>
            <a:off x="1051560" y="3566160"/>
            <a:ext cx="10058400"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5,009,129 person-year records, 104,545 of them teacher-years, covering calendar years 1997 to 2024.</a:t>
            </a:r>
            <a:endParaRPr lang="en-US" sz="1550" dirty="0"/>
          </a:p>
        </p:txBody>
      </p:sp>
      <p:sp>
        <p:nvSpPr>
          <p:cNvPr id="6" name="Text 4"/>
          <p:cNvSpPr/>
          <p:nvPr/>
        </p:nvSpPr>
        <p:spPr>
          <a:xfrm>
            <a:off x="1051560" y="4251960"/>
            <a:ext cx="10058400"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Read from the raw Census files at their officially documented record positions. All estimates use ASEC supplement weights.</a:t>
            </a:r>
            <a:endParaRPr lang="en-US" sz="1550" dirty="0"/>
          </a:p>
        </p:txBody>
      </p:sp>
      <p:sp>
        <p:nvSpPr>
          <p:cNvPr id="7" name="Text 5"/>
          <p:cNvSpPr/>
          <p:nvPr/>
        </p:nvSpPr>
        <p:spPr>
          <a:xfrm>
            <a:off x="1051560" y="5989320"/>
            <a:ext cx="10058400" cy="320040"/>
          </a:xfrm>
          <a:prstGeom prst="rect">
            <a:avLst/>
          </a:prstGeom>
          <a:noFill/>
          <a:ln/>
        </p:spPr>
        <p:txBody>
          <a:bodyPr wrap="square" lIns="0" tIns="0" rIns="0" bIns="0" rtlCol="0" anchor="ctr"/>
          <a:lstStyle/>
          <a:p>
            <a:pPr algn="l" indent="0" marL="0">
              <a:buNone/>
            </a:pPr>
            <a:r>
              <a:rPr lang="en-US" sz="1150" i="1" dirty="0">
                <a:solidFill>
                  <a:srgbClr val="5A6572"/>
                </a:solidFill>
                <a:latin typeface="Garamond" pitchFamily="34" charset="0"/>
                <a:ea typeface="Garamond" pitchFamily="34" charset="-122"/>
                <a:cs typeface="Garamond" pitchFamily="34" charset="-120"/>
              </a:rPr>
              <a:t>The March 2026 supplement, covering calendar 2025, is not yet public.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2026-07-21T09:49:32Z</dcterms:created>
  <dcterms:modified xsi:type="dcterms:W3CDTF">2026-07-21T09:49:32Z</dcterms:modified>
</cp:coreProperties>
</file>