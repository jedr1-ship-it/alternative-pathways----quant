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</a:pPr>
            <a:r>
              <a:rPr sz="2800" b="1">
                <a:solidFill>
                  <a:srgbClr val="102D5E"/>
                </a:solidFill>
                <a:latin typeface="Garamond"/>
              </a:rPr>
              <a:t>Is the same person validated year to year?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800"/>
              </a:spcAft>
            </a:pPr>
            <a:r>
              <a:rPr sz="2000" b="1">
                <a:solidFill>
                  <a:srgbClr val="2D6CB5"/>
                </a:solidFill>
                <a:latin typeface="Garamond"/>
              </a:rPr>
              <a:t>▪  </a:t>
            </a:r>
            <a:r>
              <a:rPr sz="2000" b="0">
                <a:solidFill>
                  <a:srgbClr val="212529"/>
                </a:solidFill>
                <a:latin typeface="Garamond"/>
              </a:rPr>
              <a:t>In the field, identity is </a:t>
            </a:r>
            <a:r>
              <a:rPr sz="2000" b="1">
                <a:solidFill>
                  <a:srgbClr val="102D5E"/>
                </a:solidFill>
                <a:latin typeface="Garamond"/>
              </a:rPr>
              <a:t>known</a:t>
            </a:r>
            <a:r>
              <a:rPr sz="2000" b="0">
                <a:solidFill>
                  <a:srgbClr val="212529"/>
                </a:solidFill>
                <a:latin typeface="Garamond"/>
              </a:rPr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01168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600"/>
              </a:spcAft>
            </a:pPr>
            <a:r>
              <a:rPr sz="1900" b="1">
                <a:solidFill>
                  <a:srgbClr val="102D5E"/>
                </a:solidFill>
                <a:latin typeface="Garamond"/>
              </a:rPr>
              <a:t>(a)  </a:t>
            </a:r>
            <a:r>
              <a:rPr sz="1900" b="0">
                <a:solidFill>
                  <a:srgbClr val="212529"/>
                </a:solidFill>
                <a:latin typeface="Garamond"/>
              </a:rPr>
              <a:t>The interviewer carries the household roster forward month to month</a:t>
            </a:r>
          </a:p>
          <a:p>
            <a:pPr>
              <a:lnSpc>
                <a:spcPts val="2432"/>
              </a:lnSpc>
              <a:spcAft>
                <a:spcPts val="600"/>
              </a:spcAft>
            </a:pPr>
            <a:r>
              <a:rPr sz="1900" b="1">
                <a:solidFill>
                  <a:srgbClr val="102D5E"/>
                </a:solidFill>
                <a:latin typeface="Garamond"/>
              </a:rPr>
              <a:t>(b)  </a:t>
            </a:r>
            <a:r>
              <a:rPr sz="1900" b="0">
                <a:solidFill>
                  <a:srgbClr val="212529"/>
                </a:solidFill>
                <a:latin typeface="Garamond"/>
              </a:rPr>
              <a:t>Each member keeps their line number</a:t>
            </a:r>
          </a:p>
          <a:p>
            <a:pPr>
              <a:lnSpc>
                <a:spcPts val="2432"/>
              </a:lnSpc>
              <a:spcAft>
                <a:spcPts val="600"/>
              </a:spcAft>
            </a:pPr>
            <a:r>
              <a:rPr sz="1900" b="1">
                <a:solidFill>
                  <a:srgbClr val="102D5E"/>
                </a:solidFill>
                <a:latin typeface="Garamond"/>
              </a:rPr>
              <a:t>(c)  </a:t>
            </a:r>
            <a:r>
              <a:rPr sz="1900" b="0">
                <a:solidFill>
                  <a:srgbClr val="212529"/>
                </a:solidFill>
                <a:latin typeface="Garamond"/>
              </a:rPr>
              <a:t>Occupation is asked by dependent interviewing (“last month you said…”)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800"/>
              </a:spcAft>
            </a:pPr>
            <a:r>
              <a:rPr sz="2000" b="1">
                <a:solidFill>
                  <a:srgbClr val="2D6CB5"/>
                </a:solidFill>
                <a:latin typeface="Garamond"/>
              </a:rPr>
              <a:t>▪  </a:t>
            </a:r>
            <a:r>
              <a:rPr sz="2000" b="0">
                <a:solidFill>
                  <a:srgbClr val="212529"/>
                </a:solidFill>
                <a:latin typeface="Garamond"/>
              </a:rPr>
              <a:t>In the public files, identity is </a:t>
            </a:r>
            <a:r>
              <a:rPr sz="2000" b="1">
                <a:solidFill>
                  <a:srgbClr val="8F2B36"/>
                </a:solidFill>
                <a:latin typeface="Garamond"/>
              </a:rPr>
              <a:t>inferred</a:t>
            </a:r>
            <a:r>
              <a:rPr sz="2000" b="0">
                <a:solidFill>
                  <a:srgbClr val="212529"/>
                </a:solidFill>
                <a:latin typeface="Garamond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1605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600"/>
              </a:spcAft>
            </a:pPr>
            <a:r>
              <a:rPr sz="1900" b="1">
                <a:solidFill>
                  <a:srgbClr val="102D5E"/>
                </a:solidFill>
                <a:latin typeface="Garamond"/>
              </a:rPr>
              <a:t>(a)  </a:t>
            </a:r>
            <a:r>
              <a:rPr sz="1900" b="0">
                <a:solidFill>
                  <a:srgbClr val="212529"/>
                </a:solidFill>
                <a:latin typeface="Garamond"/>
              </a:rPr>
              <a:t>There is no person identifier: household id + dwelling id + line number reconstruct it</a:t>
            </a:r>
          </a:p>
          <a:p>
            <a:pPr>
              <a:lnSpc>
                <a:spcPts val="2432"/>
              </a:lnSpc>
              <a:spcAft>
                <a:spcPts val="600"/>
              </a:spcAft>
            </a:pPr>
            <a:r>
              <a:rPr sz="1900" b="1">
                <a:solidFill>
                  <a:srgbClr val="102D5E"/>
                </a:solidFill>
                <a:latin typeface="Garamond"/>
              </a:rPr>
              <a:t>(b)  </a:t>
            </a:r>
            <a:r>
              <a:rPr sz="1900" b="0">
                <a:solidFill>
                  <a:srgbClr val="212529"/>
                </a:solidFill>
                <a:latin typeface="Garamond"/>
              </a:rPr>
              <a:t>Each link is validated on sex, race, and age advancing 0–2 years</a:t>
            </a:r>
          </a:p>
          <a:p>
            <a:pPr>
              <a:lnSpc>
                <a:spcPts val="2432"/>
              </a:lnSpc>
              <a:spcAft>
                <a:spcPts val="600"/>
              </a:spcAft>
            </a:pPr>
            <a:r>
              <a:rPr sz="1900" b="1">
                <a:solidFill>
                  <a:srgbClr val="102D5E"/>
                </a:solidFill>
                <a:latin typeface="Garamond"/>
              </a:rPr>
              <a:t>(c)  </a:t>
            </a:r>
            <a:r>
              <a:rPr sz="1900" b="1">
                <a:solidFill>
                  <a:srgbClr val="8F2B36"/>
                </a:solidFill>
                <a:latin typeface="Garamond"/>
              </a:rPr>
              <a:t>A mover replaced by someone of the same sex and similar age can slip through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10469880" y="6327648"/>
            <a:ext cx="99486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