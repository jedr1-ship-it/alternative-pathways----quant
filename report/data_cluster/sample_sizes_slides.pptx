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96012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The sample, survey by survey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234439"/>
            <a:ext cx="4206240" cy="0"/>
          </a:xfrm>
          <a:prstGeom prst="line">
            <a:avLst/>
          </a:prstGeom>
          <a:ln w="1778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5800" y="1298448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12529"/>
                </a:solidFill>
                <a:latin typeface="Garamond"/>
              </a:rPr>
              <a:t>Survey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99032" y="129844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12529"/>
                </a:solidFill>
                <a:latin typeface="Garamond"/>
              </a:rPr>
              <a:t>March suppl.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9464" y="12984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12529"/>
                </a:solidFill>
                <a:latin typeface="Garamond"/>
              </a:rPr>
              <a:t>Teachers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83864" y="1298448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12529"/>
                </a:solidFill>
                <a:latin typeface="Garamond"/>
              </a:rPr>
              <a:t>All 12 months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1545336"/>
            <a:ext cx="4206240" cy="0"/>
          </a:xfrm>
          <a:prstGeom prst="line">
            <a:avLst/>
          </a:prstGeom>
          <a:ln w="762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1600200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1998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60020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94,990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9464" y="16002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2,607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3864" y="1600200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848916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1999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2" y="1848916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95,801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9464" y="184891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2,697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3864" y="1848916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097633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2" y="2097633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97,217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9464" y="2097633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2,714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83864" y="2097633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346350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99032" y="234635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94,050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9464" y="234635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2,619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3864" y="2346350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2595067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2" y="2595067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149,879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9464" y="259506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4,584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83864" y="2595067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284378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284378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149,844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69464" y="284378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4,173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83864" y="284378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3092500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99032" y="309250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148,180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69464" y="30925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4,292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83864" y="3092500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3341217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99032" y="3341217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146,518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69464" y="334121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4,331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83864" y="3341217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385,573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358993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99032" y="358993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145,752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69464" y="358993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4,121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83864" y="358993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382,007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3838651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99032" y="3838651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144,918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69464" y="3838651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4,299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83864" y="3838651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377,803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4087368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99032" y="408736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145,609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69464" y="40873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4,332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83864" y="4087368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376,110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433608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399032" y="433608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147,163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69464" y="433608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4,416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83864" y="433608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379,674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4584801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399032" y="4584801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149,071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69464" y="4584801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4,337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483864" y="4584801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381,708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" y="4833518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99032" y="483351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146,785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69464" y="483351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4,282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83864" y="4833518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379,927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85800" y="5109667"/>
            <a:ext cx="4206240" cy="0"/>
          </a:xfrm>
          <a:prstGeom prst="line">
            <a:avLst/>
          </a:prstGeom>
          <a:ln w="1778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583680" y="1234439"/>
            <a:ext cx="4206240" cy="0"/>
          </a:xfrm>
          <a:prstGeom prst="line">
            <a:avLst/>
          </a:prstGeom>
          <a:ln w="1778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6583680" y="1298448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12529"/>
                </a:solidFill>
                <a:latin typeface="Garamond"/>
              </a:rPr>
              <a:t>Survey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296912" y="129844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12529"/>
                </a:solidFill>
                <a:latin typeface="Garamond"/>
              </a:rPr>
              <a:t>March suppl.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67344" y="12984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12529"/>
                </a:solidFill>
                <a:latin typeface="Garamond"/>
              </a:rPr>
              <a:t>Teachers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381744" y="1298448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12529"/>
                </a:solidFill>
                <a:latin typeface="Garamond"/>
              </a:rPr>
              <a:t>All 12 months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583680" y="1545336"/>
            <a:ext cx="4206240" cy="0"/>
          </a:xfrm>
          <a:prstGeom prst="line">
            <a:avLst/>
          </a:prstGeom>
          <a:ln w="762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6583680" y="1600200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96912" y="160020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144,803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67344" y="16002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4,142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381744" y="1600200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378,498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583680" y="1848916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96912" y="1848916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145,762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467344" y="184891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4,160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381744" y="1848916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378,505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83680" y="2097633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296912" y="2097633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100,633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67344" y="2097633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2,875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381744" y="2097633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387,617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583680" y="2346350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96912" y="234635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144,279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467344" y="234635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4,301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381744" y="2346350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381,968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583680" y="2595067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296912" y="2595067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134,562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67344" y="259506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3,936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381744" y="2595067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381,159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83680" y="284378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296912" y="284378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135,750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67344" y="284378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4,019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381744" y="284378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376,197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583680" y="3092500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296912" y="309250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132,144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67344" y="30925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4,028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381744" y="3092500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366,072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583680" y="3341217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296912" y="3341217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132,868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67344" y="334121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3,966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381744" y="3341217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356,027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0" y="358993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2020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296912" y="358993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117,763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467344" y="358993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3,308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381744" y="358993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335,867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583680" y="3838651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296912" y="3838651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121,845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467344" y="3838651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3,224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381744" y="3838651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331,439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83680" y="4087368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2022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96912" y="408736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114,158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467344" y="40873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3,031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381744" y="4087368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317,729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583680" y="433608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2023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296912" y="433608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110,008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467344" y="433608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3,131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381744" y="433608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312,873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583680" y="4584801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2024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296912" y="4584801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109,367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467344" y="4584801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2,990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381744" y="4584801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310,239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583680" y="4833518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2025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296912" y="483351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108,044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467344" y="483351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2,905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381744" y="4833518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302,652*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6583680" y="5109667"/>
            <a:ext cx="4206240" cy="0"/>
          </a:xfrm>
          <a:prstGeom prst="line">
            <a:avLst/>
          </a:prstGeom>
          <a:ln w="1778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6583680" y="5173675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02D5E"/>
                </a:solidFill>
                <a:latin typeface="Garamond"/>
              </a:rPr>
              <a:t>Total (ASEC)   3,607,763 adults, 103,820 teachers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85800" y="5173675"/>
            <a:ext cx="539496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480"/>
                </a:solidFill>
                <a:latin typeface="Garamond"/>
              </a:rPr>
              <a:t>Distinct adults (18+) in both columns. The supplement interviews each person once; the basic survey interviews each adult about three times a year (0.9–1.2 million interviews), so we keep about one person in three and one interview in eight (monthly files cached from 2005; * 2025: eleven months).</a:t>
            </a:r>
          </a:p>
        </p:txBody>
      </p:sp>
      <p:sp>
        <p:nvSpPr>
          <p:cNvPr id="131" name="Rounded Rectangle 130">
            <a:hlinkClick action="ppaction://hlinksldjump" r:id="rId2"/>
          </p:cNvPr>
          <p:cNvSpPr/>
          <p:nvPr/>
        </p:nvSpPr>
        <p:spPr>
          <a:xfrm>
            <a:off x="9464040" y="274320"/>
            <a:ext cx="1777593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Sample sizes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464040" y="676656"/>
            <a:ext cx="237744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480"/>
                </a:solidFill>
                <a:latin typeface="Garamond"/>
              </a:rPr>
              <a:t>(copy this button to the main deck)</a:t>
            </a:r>
          </a:p>
        </p:txBody>
      </p:sp>
      <p:sp>
        <p:nvSpPr>
          <p:cNvPr id="133" name="Rounded Rectangle 132">
            <a:hlinkClick action="ppaction://hlinksldjump" r:id="rId3"/>
          </p:cNvPr>
          <p:cNvSpPr/>
          <p:nvPr/>
        </p:nvSpPr>
        <p:spPr>
          <a:xfrm>
            <a:off x="685800" y="6327648"/>
            <a:ext cx="2071116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Monthly samples</a:t>
            </a:r>
          </a:p>
        </p:txBody>
      </p:sp>
      <p:sp>
        <p:nvSpPr>
          <p:cNvPr id="134" name="Rounded Rectangle 133">
            <a:hlinkClick action="ppaction://hlinksldjump" r:id="rId2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96012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The sample, month by month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88136"/>
            <a:ext cx="10844784" cy="0"/>
          </a:xfrm>
          <a:prstGeom prst="line">
            <a:avLst/>
          </a:prstGeom>
          <a:ln w="1778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371600" y="1152144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212529"/>
                </a:solidFill>
                <a:latin typeface="Garamond"/>
              </a:rPr>
              <a:t>2006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99032"/>
            <a:ext cx="6035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New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75104" y="139903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Seen this yr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9504" y="139903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Seen last yr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3904" y="1399032"/>
            <a:ext cx="7315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Total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152144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212529"/>
                </a:solidFill>
                <a:latin typeface="Garamond"/>
              </a:rPr>
              <a:t>2015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399032"/>
            <a:ext cx="6035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New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58384" y="139903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Seen this yr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2784" y="139903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Seen last yr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87184" y="1399032"/>
            <a:ext cx="7315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Total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1152144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212529"/>
                </a:solidFill>
                <a:latin typeface="Garamond"/>
              </a:rPr>
              <a:t>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399032"/>
            <a:ext cx="6035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New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4" y="139903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Seen this yr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6064" y="139903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Seen last yr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70464" y="1399032"/>
            <a:ext cx="7315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Total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" y="1664208"/>
            <a:ext cx="10844784" cy="0"/>
          </a:xfrm>
          <a:prstGeom prst="line">
            <a:avLst/>
          </a:prstGeom>
          <a:ln w="762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7200" y="173736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January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1737360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17,455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173736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9504" y="173736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84,488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03904" y="1737360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101,943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1737360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19,653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8384" y="173736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72784" y="173736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82,788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87184" y="1737360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102,441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1737360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14,052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41664" y="173736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6064" y="173736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64,717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70464" y="1737360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78,769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194950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February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1949500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17,165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75104" y="194950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72,393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89504" y="194950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11,921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03904" y="1949500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101,479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1949500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18,402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58384" y="194950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72,164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72784" y="194950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10,291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87184" y="1949500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100,857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60" y="1949500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15,049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41664" y="194950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53,329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56064" y="194950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10,610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70464" y="1949500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78,988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216164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02D5E"/>
                </a:solidFill>
                <a:latin typeface="Garamond"/>
              </a:rPr>
              <a:t>March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2161641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16,785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75104" y="216164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72,672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89504" y="216164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11,070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03904" y="2161641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100,527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54880" y="2161641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18,705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58384" y="216164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71,415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72784" y="216164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9,461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87184" y="2161641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99,581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38160" y="2161641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13,399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41664" y="216164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54,077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56064" y="216164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8,506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70464" y="2161641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75,982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2373782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April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371600" y="2373782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16,815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75104" y="2373782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73,339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89504" y="2373782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11,560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03904" y="2373782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101,714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54880" y="2373782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19,024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58384" y="2373782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72,657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72784" y="2373782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9,736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87184" y="2373782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101,417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8160" y="2373782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14,209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741664" y="2373782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55,044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56064" y="2373782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9,653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70464" y="2373782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78,906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" y="2585923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May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371600" y="2585923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16,826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75104" y="2585923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73,089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889504" y="2585923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11,511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03904" y="2585923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101,426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754880" y="2585923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18,832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358384" y="2585923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72,279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72784" y="2585923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9,692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87184" y="2585923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100,803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138160" y="2585923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14,023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741664" y="2585923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55,915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656064" y="2585923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9,412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570464" y="2585923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79,350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57200" y="279806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June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371600" y="2798064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16,910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975104" y="279806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72,986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889504" y="279806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11,598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03904" y="2798064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101,494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754880" y="2798064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18,127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358384" y="279806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71,715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72784" y="279806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9,466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187184" y="2798064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99,308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138160" y="2798064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13,471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741664" y="279806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55,709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656064" y="279806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9,300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570464" y="2798064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78,480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57200" y="301020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July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371600" y="3010204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17,087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975104" y="301020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73,591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889504" y="301020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11,617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803904" y="3010204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102,295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754880" y="3010204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19,046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358384" y="301020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70,510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272784" y="301020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9,677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187184" y="3010204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99,233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138160" y="3010204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14,061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741664" y="301020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55,485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656064" y="301020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9,406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570464" y="3010204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78,952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57200" y="3222345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August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371600" y="3222345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17,366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975104" y="3222345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74,178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889504" y="3222345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11,393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803904" y="3222345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102,937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754880" y="3222345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16,976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358384" y="3222345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71,588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272784" y="3222345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11,330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187184" y="3222345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99,894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138160" y="3222345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14,493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741664" y="3222345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55,728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656064" y="3222345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9,493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570464" y="3222345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79,714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57200" y="3434486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September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371600" y="3434486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17,096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975104" y="3434486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73,730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889504" y="3434486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11,383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803904" y="3434486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102,209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754880" y="3434486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16,829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358384" y="3434486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71,694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272784" y="3434486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11,284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87184" y="3434486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99,807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138160" y="3434486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13,788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741664" y="3434486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56,093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656064" y="3434486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9,206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570464" y="3434486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79,087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57200" y="3646627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October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371600" y="3646627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16,920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975104" y="3646627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84,310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889504" y="3646627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951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803904" y="3646627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102,181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754880" y="3646627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17,124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358384" y="3646627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82,021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272784" y="3646627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1,292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187184" y="3646627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100,437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138160" y="3646627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13,670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741664" y="3646627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64,024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656064" y="3646627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1,364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570464" y="3646627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79,058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57200" y="385876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November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371600" y="3858768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16,985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975104" y="385876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84,631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889504" y="385876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494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803904" y="3858768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102,110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754880" y="3858768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16,805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358384" y="385876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83,121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72784" y="385876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571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187184" y="3858768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100,497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138160" y="3858768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13,830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741664" y="385876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64,493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656064" y="385876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659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570464" y="3858768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78,982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407090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December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371600" y="4070908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16,410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975104" y="407090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84,906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889504" y="407090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201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803904" y="4070908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101,517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754880" y="4070908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16,607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358384" y="407090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82,730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272784" y="407090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250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7187184" y="4070908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99,587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138160" y="4070908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13,564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41664" y="407090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64,761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656064" y="407090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304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570464" y="4070908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78,629</a:t>
            </a:r>
          </a:p>
        </p:txBody>
      </p:sp>
      <p:cxnSp>
        <p:nvCxnSpPr>
          <p:cNvPr id="176" name="Connector 175"/>
          <p:cNvCxnSpPr/>
          <p:nvPr/>
        </p:nvCxnSpPr>
        <p:spPr>
          <a:xfrm>
            <a:off x="457200" y="4301337"/>
            <a:ext cx="10844784" cy="0"/>
          </a:xfrm>
          <a:prstGeom prst="line">
            <a:avLst/>
          </a:prstGeom>
          <a:ln w="762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TextBox 176"/>
          <p:cNvSpPr txBox="1"/>
          <p:nvPr/>
        </p:nvSpPr>
        <p:spPr>
          <a:xfrm>
            <a:off x="457200" y="435620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12529"/>
                </a:solidFill>
                <a:latin typeface="Garamond"/>
              </a:rPr>
              <a:t>Sum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371600" y="4356201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203,820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975104" y="435620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839,825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889504" y="435620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178,187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803904" y="4356201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1,221,832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754880" y="4356201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216,130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5358384" y="435620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821,894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272784" y="435620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165,838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7187184" y="4356201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1,203,862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8138160" y="4356201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167,609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741664" y="435620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634,658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9656064" y="435620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142,630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570464" y="4356201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944,897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457200" y="4584801"/>
            <a:ext cx="329184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12529"/>
                </a:solidFill>
                <a:latin typeface="Garamond"/>
              </a:rPr>
              <a:t>Distinct persons (New + Seen last yr)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371600" y="4584801"/>
            <a:ext cx="316382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382,007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4754880" y="4584801"/>
            <a:ext cx="316382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381,968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8138160" y="4584801"/>
            <a:ext cx="316382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310,239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57200" y="4813401"/>
            <a:ext cx="329184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02D5E"/>
                </a:solidFill>
                <a:latin typeface="Garamond"/>
              </a:rPr>
              <a:t>March supplement (ASEC), each person once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371600" y="4813401"/>
            <a:ext cx="316382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145,752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754880" y="4813401"/>
            <a:ext cx="316382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144,279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8138160" y="4813401"/>
            <a:ext cx="316382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109,367</a:t>
            </a:r>
          </a:p>
        </p:txBody>
      </p:sp>
      <p:cxnSp>
        <p:nvCxnSpPr>
          <p:cNvPr id="198" name="Connector 197"/>
          <p:cNvCxnSpPr/>
          <p:nvPr/>
        </p:nvCxnSpPr>
        <p:spPr>
          <a:xfrm>
            <a:off x="457200" y="5042001"/>
            <a:ext cx="10844784" cy="0"/>
          </a:xfrm>
          <a:prstGeom prst="line">
            <a:avLst/>
          </a:prstGeom>
          <a:ln w="1778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TextBox 198"/>
          <p:cNvSpPr txBox="1"/>
          <p:nvPr/>
        </p:nvSpPr>
        <p:spPr>
          <a:xfrm>
            <a:off x="457200" y="5160873"/>
            <a:ext cx="112471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480"/>
                </a:solidFill>
                <a:latin typeface="Garamond"/>
              </a:rPr>
              <a:t>Adults (18+); every cell counts persons. Within a month: New + Seen this yr + Seen last yr = Total, the month’s interviews (≈100k in the 2000s). Down a column: the Totals sum to the year’s interviews (2006: 1,221,832), while New + Seen last yr counts each person exactly once → distinct persons (2006: 203,820 + 178,187 = 382,007). The ASEC = the March respondents + the February–April oversamples: 38% of the distinct persons, 12% of the interviews, 1.45× a single March.</a:t>
            </a:r>
          </a:p>
        </p:txBody>
      </p:sp>
      <p:sp>
        <p:nvSpPr>
          <p:cNvPr id="200" name="Rounded Rectangle 199">
            <a:hlinkClick action="ppaction://hlinksldjump" r:id="rId2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