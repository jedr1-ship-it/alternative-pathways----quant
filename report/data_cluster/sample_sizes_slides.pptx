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96012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>
                <a:solidFill>
                  <a:srgbClr val="102D5E"/>
                </a:solidFill>
                <a:latin typeface="Garamond"/>
              </a:rPr>
              <a:t>The sample, survey by survey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85800" y="1252728"/>
            <a:ext cx="4206240" cy="0"/>
          </a:xfrm>
          <a:prstGeom prst="line">
            <a:avLst/>
          </a:prstGeom>
          <a:ln w="12700">
            <a:solidFill>
              <a:srgbClr val="21252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85800" y="1298448"/>
            <a:ext cx="71323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12529"/>
                </a:solidFill>
                <a:latin typeface="Garamond"/>
              </a:rPr>
              <a:t>Survey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99032" y="1298448"/>
            <a:ext cx="117043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1" i="0">
                <a:solidFill>
                  <a:srgbClr val="212529"/>
                </a:solidFill>
                <a:latin typeface="Garamond"/>
              </a:rPr>
              <a:t>March suppl.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9464" y="1298448"/>
            <a:ext cx="914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1" i="0">
                <a:solidFill>
                  <a:srgbClr val="212529"/>
                </a:solidFill>
                <a:latin typeface="Garamond"/>
              </a:rPr>
              <a:t>Teachers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83864" y="1298448"/>
            <a:ext cx="131673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1" i="0">
                <a:solidFill>
                  <a:srgbClr val="212529"/>
                </a:solidFill>
                <a:latin typeface="Garamond"/>
              </a:rPr>
              <a:t>All 12 months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85800" y="1536192"/>
            <a:ext cx="4206240" cy="0"/>
          </a:xfrm>
          <a:prstGeom prst="line">
            <a:avLst/>
          </a:prstGeom>
          <a:ln w="12700">
            <a:solidFill>
              <a:srgbClr val="21252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85800" y="1600200"/>
            <a:ext cx="71323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212529"/>
                </a:solidFill>
                <a:latin typeface="Garamond"/>
              </a:rPr>
              <a:t>1998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99032" y="1600200"/>
            <a:ext cx="117043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212529"/>
                </a:solidFill>
                <a:latin typeface="Garamond"/>
              </a:rPr>
              <a:t>94,990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9464" y="160020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212529"/>
                </a:solidFill>
                <a:latin typeface="Garamond"/>
              </a:rPr>
              <a:t>2,607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83864" y="1600200"/>
            <a:ext cx="131673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212529"/>
                </a:solidFill>
                <a:latin typeface="Garamond"/>
              </a:rPr>
              <a:t>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1848916"/>
            <a:ext cx="71323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212529"/>
                </a:solidFill>
                <a:latin typeface="Garamond"/>
              </a:rPr>
              <a:t>1999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99032" y="1848916"/>
            <a:ext cx="117043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212529"/>
                </a:solidFill>
                <a:latin typeface="Garamond"/>
              </a:rPr>
              <a:t>95,801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9464" y="1848916"/>
            <a:ext cx="914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212529"/>
                </a:solidFill>
                <a:latin typeface="Garamond"/>
              </a:rPr>
              <a:t>2,697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83864" y="1848916"/>
            <a:ext cx="131673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212529"/>
                </a:solidFill>
                <a:latin typeface="Garamond"/>
              </a:rPr>
              <a:t>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2097633"/>
            <a:ext cx="71323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212529"/>
                </a:solidFill>
                <a:latin typeface="Garamond"/>
              </a:rPr>
              <a:t>2000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99032" y="2097633"/>
            <a:ext cx="117043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212529"/>
                </a:solidFill>
                <a:latin typeface="Garamond"/>
              </a:rPr>
              <a:t>97,217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69464" y="2097633"/>
            <a:ext cx="914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212529"/>
                </a:solidFill>
                <a:latin typeface="Garamond"/>
              </a:rPr>
              <a:t>2,714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83864" y="2097633"/>
            <a:ext cx="131673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212529"/>
                </a:solidFill>
                <a:latin typeface="Garamond"/>
              </a:rPr>
              <a:t>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2346350"/>
            <a:ext cx="71323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212529"/>
                </a:solidFill>
                <a:latin typeface="Garamond"/>
              </a:rPr>
              <a:t>2001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99032" y="2346350"/>
            <a:ext cx="117043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212529"/>
                </a:solidFill>
                <a:latin typeface="Garamond"/>
              </a:rPr>
              <a:t>94,050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69464" y="234635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212529"/>
                </a:solidFill>
                <a:latin typeface="Garamond"/>
              </a:rPr>
              <a:t>2,619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83864" y="2346350"/>
            <a:ext cx="131673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212529"/>
                </a:solidFill>
                <a:latin typeface="Garamond"/>
              </a:rPr>
              <a:t>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2595067"/>
            <a:ext cx="71323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212529"/>
                </a:solidFill>
                <a:latin typeface="Garamond"/>
              </a:rPr>
              <a:t>2002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99032" y="2595067"/>
            <a:ext cx="117043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212529"/>
                </a:solidFill>
                <a:latin typeface="Garamond"/>
              </a:rPr>
              <a:t>149,879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69464" y="2595067"/>
            <a:ext cx="914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212529"/>
                </a:solidFill>
                <a:latin typeface="Garamond"/>
              </a:rPr>
              <a:t>4,584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83864" y="2595067"/>
            <a:ext cx="131673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212529"/>
                </a:solidFill>
                <a:latin typeface="Garamond"/>
              </a:rPr>
              <a:t>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2843784"/>
            <a:ext cx="71323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212529"/>
                </a:solidFill>
                <a:latin typeface="Garamond"/>
              </a:rPr>
              <a:t>2003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99032" y="2843784"/>
            <a:ext cx="117043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212529"/>
                </a:solidFill>
                <a:latin typeface="Garamond"/>
              </a:rPr>
              <a:t>149,844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69464" y="2843784"/>
            <a:ext cx="914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212529"/>
                </a:solidFill>
                <a:latin typeface="Garamond"/>
              </a:rPr>
              <a:t>4,173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83864" y="2843784"/>
            <a:ext cx="131673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212529"/>
                </a:solidFill>
                <a:latin typeface="Garamond"/>
              </a:rPr>
              <a:t>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3092500"/>
            <a:ext cx="71323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212529"/>
                </a:solidFill>
                <a:latin typeface="Garamond"/>
              </a:rPr>
              <a:t>2004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99032" y="3092500"/>
            <a:ext cx="117043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212529"/>
                </a:solidFill>
                <a:latin typeface="Garamond"/>
              </a:rPr>
              <a:t>148,180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569464" y="309250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212529"/>
                </a:solidFill>
                <a:latin typeface="Garamond"/>
              </a:rPr>
              <a:t>4,292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83864" y="3092500"/>
            <a:ext cx="131673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212529"/>
                </a:solidFill>
                <a:latin typeface="Garamond"/>
              </a:rPr>
              <a:t>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" y="3341217"/>
            <a:ext cx="71323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212529"/>
                </a:solidFill>
                <a:latin typeface="Garamond"/>
              </a:rPr>
              <a:t>2005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99032" y="3341217"/>
            <a:ext cx="117043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212529"/>
                </a:solidFill>
                <a:latin typeface="Garamond"/>
              </a:rPr>
              <a:t>146,518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569464" y="3341217"/>
            <a:ext cx="914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212529"/>
                </a:solidFill>
                <a:latin typeface="Garamond"/>
              </a:rPr>
              <a:t>4,331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483864" y="3341217"/>
            <a:ext cx="131673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212529"/>
                </a:solidFill>
                <a:latin typeface="Garamond"/>
              </a:rPr>
              <a:t>1,230,200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" y="3589934"/>
            <a:ext cx="71323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212529"/>
                </a:solidFill>
                <a:latin typeface="Garamond"/>
              </a:rPr>
              <a:t>2006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399032" y="3589934"/>
            <a:ext cx="117043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212529"/>
                </a:solidFill>
                <a:latin typeface="Garamond"/>
              </a:rPr>
              <a:t>145,752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569464" y="3589934"/>
            <a:ext cx="914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212529"/>
                </a:solidFill>
                <a:latin typeface="Garamond"/>
              </a:rPr>
              <a:t>4,121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483864" y="3589934"/>
            <a:ext cx="131673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212529"/>
                </a:solidFill>
                <a:latin typeface="Garamond"/>
              </a:rPr>
              <a:t>1,221,832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" y="3838651"/>
            <a:ext cx="71323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212529"/>
                </a:solidFill>
                <a:latin typeface="Garamond"/>
              </a:rPr>
              <a:t>2007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399032" y="3838651"/>
            <a:ext cx="117043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212529"/>
                </a:solidFill>
                <a:latin typeface="Garamond"/>
              </a:rPr>
              <a:t>144,918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569464" y="3838651"/>
            <a:ext cx="914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212529"/>
                </a:solidFill>
                <a:latin typeface="Garamond"/>
              </a:rPr>
              <a:t>4,299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483864" y="3838651"/>
            <a:ext cx="131673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212529"/>
                </a:solidFill>
                <a:latin typeface="Garamond"/>
              </a:rPr>
              <a:t>1,211,261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5800" y="4087368"/>
            <a:ext cx="71323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212529"/>
                </a:solidFill>
                <a:latin typeface="Garamond"/>
              </a:rPr>
              <a:t>2008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399032" y="4087368"/>
            <a:ext cx="117043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212529"/>
                </a:solidFill>
                <a:latin typeface="Garamond"/>
              </a:rPr>
              <a:t>145,609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569464" y="4087368"/>
            <a:ext cx="914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212529"/>
                </a:solidFill>
                <a:latin typeface="Garamond"/>
              </a:rPr>
              <a:t>4,332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483864" y="4087368"/>
            <a:ext cx="131673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212529"/>
                </a:solidFill>
                <a:latin typeface="Garamond"/>
              </a:rPr>
              <a:t>1,209,862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85800" y="4336084"/>
            <a:ext cx="71323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212529"/>
                </a:solidFill>
                <a:latin typeface="Garamond"/>
              </a:rPr>
              <a:t>2009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399032" y="4336084"/>
            <a:ext cx="117043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212529"/>
                </a:solidFill>
                <a:latin typeface="Garamond"/>
              </a:rPr>
              <a:t>147,163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569464" y="4336084"/>
            <a:ext cx="914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212529"/>
                </a:solidFill>
                <a:latin typeface="Garamond"/>
              </a:rPr>
              <a:t>4,416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483864" y="4336084"/>
            <a:ext cx="131673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212529"/>
                </a:solidFill>
                <a:latin typeface="Garamond"/>
              </a:rPr>
              <a:t>1,226,441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85800" y="4584801"/>
            <a:ext cx="71323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212529"/>
                </a:solidFill>
                <a:latin typeface="Garamond"/>
              </a:rPr>
              <a:t>2010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399032" y="4584801"/>
            <a:ext cx="117043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212529"/>
                </a:solidFill>
                <a:latin typeface="Garamond"/>
              </a:rPr>
              <a:t>149,071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569464" y="4584801"/>
            <a:ext cx="914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212529"/>
                </a:solidFill>
                <a:latin typeface="Garamond"/>
              </a:rPr>
              <a:t>4,337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483864" y="4584801"/>
            <a:ext cx="131673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212529"/>
                </a:solidFill>
                <a:latin typeface="Garamond"/>
              </a:rPr>
              <a:t>1,230,780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85800" y="4833518"/>
            <a:ext cx="71323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212529"/>
                </a:solidFill>
                <a:latin typeface="Garamond"/>
              </a:rPr>
              <a:t>2011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399032" y="4833518"/>
            <a:ext cx="117043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212529"/>
                </a:solidFill>
                <a:latin typeface="Garamond"/>
              </a:rPr>
              <a:t>146,785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569464" y="4833518"/>
            <a:ext cx="914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212529"/>
                </a:solidFill>
                <a:latin typeface="Garamond"/>
              </a:rPr>
              <a:t>4,282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483864" y="4833518"/>
            <a:ext cx="131673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212529"/>
                </a:solidFill>
                <a:latin typeface="Garamond"/>
              </a:rPr>
              <a:t>1,221,274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685800" y="5100523"/>
            <a:ext cx="4206240" cy="0"/>
          </a:xfrm>
          <a:prstGeom prst="line">
            <a:avLst/>
          </a:prstGeom>
          <a:ln w="12700">
            <a:solidFill>
              <a:srgbClr val="21252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6583680" y="1252728"/>
            <a:ext cx="4206240" cy="0"/>
          </a:xfrm>
          <a:prstGeom prst="line">
            <a:avLst/>
          </a:prstGeom>
          <a:ln w="12700">
            <a:solidFill>
              <a:srgbClr val="21252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6583680" y="1298448"/>
            <a:ext cx="71323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12529"/>
                </a:solidFill>
                <a:latin typeface="Garamond"/>
              </a:rPr>
              <a:t>Survey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296912" y="1298448"/>
            <a:ext cx="117043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1" i="0">
                <a:solidFill>
                  <a:srgbClr val="212529"/>
                </a:solidFill>
                <a:latin typeface="Garamond"/>
              </a:rPr>
              <a:t>March suppl.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467344" y="1298448"/>
            <a:ext cx="914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1" i="0">
                <a:solidFill>
                  <a:srgbClr val="212529"/>
                </a:solidFill>
                <a:latin typeface="Garamond"/>
              </a:rPr>
              <a:t>Teachers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381744" y="1298448"/>
            <a:ext cx="131673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1" i="0">
                <a:solidFill>
                  <a:srgbClr val="212529"/>
                </a:solidFill>
                <a:latin typeface="Garamond"/>
              </a:rPr>
              <a:t>All 12 months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6583680" y="1536192"/>
            <a:ext cx="4206240" cy="0"/>
          </a:xfrm>
          <a:prstGeom prst="line">
            <a:avLst/>
          </a:prstGeom>
          <a:ln w="12700">
            <a:solidFill>
              <a:srgbClr val="21252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6583680" y="1600200"/>
            <a:ext cx="71323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212529"/>
                </a:solidFill>
                <a:latin typeface="Garamond"/>
              </a:rPr>
              <a:t>2012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296912" y="1600200"/>
            <a:ext cx="117043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212529"/>
                </a:solidFill>
                <a:latin typeface="Garamond"/>
              </a:rPr>
              <a:t>144,803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467344" y="160020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212529"/>
                </a:solidFill>
                <a:latin typeface="Garamond"/>
              </a:rPr>
              <a:t>4,142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381744" y="1600200"/>
            <a:ext cx="131673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212529"/>
                </a:solidFill>
                <a:latin typeface="Garamond"/>
              </a:rPr>
              <a:t>1,215,614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583680" y="1848916"/>
            <a:ext cx="71323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212529"/>
                </a:solidFill>
                <a:latin typeface="Garamond"/>
              </a:rPr>
              <a:t>2013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296912" y="1848916"/>
            <a:ext cx="117043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212529"/>
                </a:solidFill>
                <a:latin typeface="Garamond"/>
              </a:rPr>
              <a:t>145,762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467344" y="1848916"/>
            <a:ext cx="914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212529"/>
                </a:solidFill>
                <a:latin typeface="Garamond"/>
              </a:rPr>
              <a:t>4,160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381744" y="1848916"/>
            <a:ext cx="131673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212529"/>
                </a:solidFill>
                <a:latin typeface="Garamond"/>
              </a:rPr>
              <a:t>1,210,672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583680" y="2097633"/>
            <a:ext cx="71323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212529"/>
                </a:solidFill>
                <a:latin typeface="Garamond"/>
              </a:rPr>
              <a:t>2014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296912" y="2097633"/>
            <a:ext cx="117043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212529"/>
                </a:solidFill>
                <a:latin typeface="Garamond"/>
              </a:rPr>
              <a:t>100,633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467344" y="2097633"/>
            <a:ext cx="914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212529"/>
                </a:solidFill>
                <a:latin typeface="Garamond"/>
              </a:rPr>
              <a:t>2,875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381744" y="2097633"/>
            <a:ext cx="131673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212529"/>
                </a:solidFill>
                <a:latin typeface="Garamond"/>
              </a:rPr>
              <a:t>1,218,742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583680" y="2346350"/>
            <a:ext cx="71323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212529"/>
                </a:solidFill>
                <a:latin typeface="Garamond"/>
              </a:rPr>
              <a:t>2015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96912" y="2346350"/>
            <a:ext cx="117043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212529"/>
                </a:solidFill>
                <a:latin typeface="Garamond"/>
              </a:rPr>
              <a:t>144,279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467344" y="234635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212529"/>
                </a:solidFill>
                <a:latin typeface="Garamond"/>
              </a:rPr>
              <a:t>4,301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381744" y="2346350"/>
            <a:ext cx="131673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212529"/>
                </a:solidFill>
                <a:latin typeface="Garamond"/>
              </a:rPr>
              <a:t>1,203,862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583680" y="2595067"/>
            <a:ext cx="71323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212529"/>
                </a:solidFill>
                <a:latin typeface="Garamond"/>
              </a:rPr>
              <a:t>2016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296912" y="2595067"/>
            <a:ext cx="117043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212529"/>
                </a:solidFill>
                <a:latin typeface="Garamond"/>
              </a:rPr>
              <a:t>134,562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467344" y="2595067"/>
            <a:ext cx="914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212529"/>
                </a:solidFill>
                <a:latin typeface="Garamond"/>
              </a:rPr>
              <a:t>3,936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9381744" y="2595067"/>
            <a:ext cx="131673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212529"/>
                </a:solidFill>
                <a:latin typeface="Garamond"/>
              </a:rPr>
              <a:t>1,202,067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583680" y="2843784"/>
            <a:ext cx="71323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212529"/>
                </a:solidFill>
                <a:latin typeface="Garamond"/>
              </a:rPr>
              <a:t>2017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296912" y="2843784"/>
            <a:ext cx="117043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212529"/>
                </a:solidFill>
                <a:latin typeface="Garamond"/>
              </a:rPr>
              <a:t>135,750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467344" y="2843784"/>
            <a:ext cx="914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212529"/>
                </a:solidFill>
                <a:latin typeface="Garamond"/>
              </a:rPr>
              <a:t>4,019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381744" y="2843784"/>
            <a:ext cx="131673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212529"/>
                </a:solidFill>
                <a:latin typeface="Garamond"/>
              </a:rPr>
              <a:t>1,186,031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583680" y="3092500"/>
            <a:ext cx="71323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212529"/>
                </a:solidFill>
                <a:latin typeface="Garamond"/>
              </a:rPr>
              <a:t>2018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7296912" y="3092500"/>
            <a:ext cx="117043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212529"/>
                </a:solidFill>
                <a:latin typeface="Garamond"/>
              </a:rPr>
              <a:t>132,144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467344" y="309250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212529"/>
                </a:solidFill>
                <a:latin typeface="Garamond"/>
              </a:rPr>
              <a:t>4,028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9381744" y="3092500"/>
            <a:ext cx="131673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212529"/>
                </a:solidFill>
                <a:latin typeface="Garamond"/>
              </a:rPr>
              <a:t>1,150,355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583680" y="3341217"/>
            <a:ext cx="71323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212529"/>
                </a:solidFill>
                <a:latin typeface="Garamond"/>
              </a:rPr>
              <a:t>2019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7296912" y="3341217"/>
            <a:ext cx="117043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212529"/>
                </a:solidFill>
                <a:latin typeface="Garamond"/>
              </a:rPr>
              <a:t>132,868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467344" y="3341217"/>
            <a:ext cx="914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212529"/>
                </a:solidFill>
                <a:latin typeface="Garamond"/>
              </a:rPr>
              <a:t>3,966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9381744" y="3341217"/>
            <a:ext cx="131673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212529"/>
                </a:solidFill>
                <a:latin typeface="Garamond"/>
              </a:rPr>
              <a:t>1,112,619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6583680" y="3589934"/>
            <a:ext cx="71323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212529"/>
                </a:solidFill>
                <a:latin typeface="Garamond"/>
              </a:rPr>
              <a:t>2020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7296912" y="3589934"/>
            <a:ext cx="117043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212529"/>
                </a:solidFill>
                <a:latin typeface="Garamond"/>
              </a:rPr>
              <a:t>117,763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467344" y="3589934"/>
            <a:ext cx="914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212529"/>
                </a:solidFill>
                <a:latin typeface="Garamond"/>
              </a:rPr>
              <a:t>3,308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9381744" y="3589934"/>
            <a:ext cx="131673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212529"/>
                </a:solidFill>
                <a:latin typeface="Garamond"/>
              </a:rPr>
              <a:t>1,001,837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6583680" y="3838651"/>
            <a:ext cx="71323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212529"/>
                </a:solidFill>
                <a:latin typeface="Garamond"/>
              </a:rPr>
              <a:t>2021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7296912" y="3838651"/>
            <a:ext cx="117043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212529"/>
                </a:solidFill>
                <a:latin typeface="Garamond"/>
              </a:rPr>
              <a:t>121,845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8467344" y="3838651"/>
            <a:ext cx="914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212529"/>
                </a:solidFill>
                <a:latin typeface="Garamond"/>
              </a:rPr>
              <a:t>3,224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9381744" y="3838651"/>
            <a:ext cx="131673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212529"/>
                </a:solidFill>
                <a:latin typeface="Garamond"/>
              </a:rPr>
              <a:t>1,006,676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6583680" y="4087368"/>
            <a:ext cx="71323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212529"/>
                </a:solidFill>
                <a:latin typeface="Garamond"/>
              </a:rPr>
              <a:t>2022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96912" y="4087368"/>
            <a:ext cx="117043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212529"/>
                </a:solidFill>
                <a:latin typeface="Garamond"/>
              </a:rPr>
              <a:t>114,158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467344" y="4087368"/>
            <a:ext cx="914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212529"/>
                </a:solidFill>
                <a:latin typeface="Garamond"/>
              </a:rPr>
              <a:t>3,031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9381744" y="4087368"/>
            <a:ext cx="131673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212529"/>
                </a:solidFill>
                <a:latin typeface="Garamond"/>
              </a:rPr>
              <a:t>964,927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6583680" y="4336084"/>
            <a:ext cx="71323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212529"/>
                </a:solidFill>
                <a:latin typeface="Garamond"/>
              </a:rPr>
              <a:t>2023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7296912" y="4336084"/>
            <a:ext cx="117043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212529"/>
                </a:solidFill>
                <a:latin typeface="Garamond"/>
              </a:rPr>
              <a:t>110,008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8467344" y="4336084"/>
            <a:ext cx="914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212529"/>
                </a:solidFill>
                <a:latin typeface="Garamond"/>
              </a:rPr>
              <a:t>3,131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9381744" y="4336084"/>
            <a:ext cx="131673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212529"/>
                </a:solidFill>
                <a:latin typeface="Garamond"/>
              </a:rPr>
              <a:t>948,329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6583680" y="4584801"/>
            <a:ext cx="71323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212529"/>
                </a:solidFill>
                <a:latin typeface="Garamond"/>
              </a:rPr>
              <a:t>2024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7296912" y="4584801"/>
            <a:ext cx="117043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212529"/>
                </a:solidFill>
                <a:latin typeface="Garamond"/>
              </a:rPr>
              <a:t>109,367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8467344" y="4584801"/>
            <a:ext cx="914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212529"/>
                </a:solidFill>
                <a:latin typeface="Garamond"/>
              </a:rPr>
              <a:t>2,990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9381744" y="4584801"/>
            <a:ext cx="131673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212529"/>
                </a:solidFill>
                <a:latin typeface="Garamond"/>
              </a:rPr>
              <a:t>944,897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6583680" y="4833518"/>
            <a:ext cx="71323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212529"/>
                </a:solidFill>
                <a:latin typeface="Garamond"/>
              </a:rPr>
              <a:t>2025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7296912" y="4833518"/>
            <a:ext cx="117043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212529"/>
                </a:solidFill>
                <a:latin typeface="Garamond"/>
              </a:rPr>
              <a:t>108,044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8467344" y="4833518"/>
            <a:ext cx="914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212529"/>
                </a:solidFill>
                <a:latin typeface="Garamond"/>
              </a:rPr>
              <a:t>2,905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9381744" y="4833518"/>
            <a:ext cx="131673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212529"/>
                </a:solidFill>
                <a:latin typeface="Garamond"/>
              </a:rPr>
              <a:t>833,766*</a:t>
            </a:r>
          </a:p>
        </p:txBody>
      </p:sp>
      <p:cxnSp>
        <p:nvCxnSpPr>
          <p:cNvPr id="128" name="Connector 127"/>
          <p:cNvCxnSpPr/>
          <p:nvPr/>
        </p:nvCxnSpPr>
        <p:spPr>
          <a:xfrm>
            <a:off x="6583680" y="5100523"/>
            <a:ext cx="4206240" cy="0"/>
          </a:xfrm>
          <a:prstGeom prst="line">
            <a:avLst/>
          </a:prstGeom>
          <a:ln w="12700">
            <a:solidFill>
              <a:srgbClr val="21252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9" name="TextBox 128"/>
          <p:cNvSpPr txBox="1"/>
          <p:nvPr/>
        </p:nvSpPr>
        <p:spPr>
          <a:xfrm>
            <a:off x="6583680" y="5173675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02D5E"/>
                </a:solidFill>
                <a:latin typeface="Garamond"/>
              </a:rPr>
              <a:t>Total   3,607,763 adults, 103,820 teachers (ASEC);  22,918,278 monthly interviews (2005–24)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685800" y="5173675"/>
            <a:ext cx="5394960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6B7480"/>
                </a:solidFill>
                <a:latin typeface="Garamond"/>
              </a:rPr>
              <a:t>Adults (18+), the analysis universe; with children the ASEC files hold 5.0 million records. All 12 months: adult interviews in that year's basic monthly files (cached from 2005; * 2025: eleven months).</a:t>
            </a:r>
          </a:p>
        </p:txBody>
      </p:sp>
      <p:sp>
        <p:nvSpPr>
          <p:cNvPr id="131" name="Rounded Rectangle 130">
            <a:hlinkClick action="ppaction://hlinksldjump" r:id="rId2"/>
          </p:cNvPr>
          <p:cNvSpPr/>
          <p:nvPr/>
        </p:nvSpPr>
        <p:spPr>
          <a:xfrm>
            <a:off x="9464040" y="274320"/>
            <a:ext cx="1777593" cy="365760"/>
          </a:xfrm>
          <a:prstGeom prst="roundRect">
            <a:avLst/>
          </a:prstGeom>
          <a:solidFill>
            <a:srgbClr val="BE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0" bIns="0"/>
          <a:lstStyle/>
          <a:p>
            <a:pPr algn="ctr"/>
            <a:r>
              <a:rPr sz="1800" b="1">
                <a:solidFill>
                  <a:srgbClr val="102D5E"/>
                </a:solidFill>
                <a:latin typeface="Garamond"/>
              </a:rPr>
              <a:t>☞ </a:t>
            </a:r>
            <a:r>
              <a:rPr sz="1400">
                <a:solidFill>
                  <a:srgbClr val="102D5E"/>
                </a:solidFill>
                <a:latin typeface="Garamond"/>
              </a:rPr>
              <a:t>Sample sizes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464040" y="676656"/>
            <a:ext cx="2377440" cy="173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6B7480"/>
                </a:solidFill>
                <a:latin typeface="Garamond"/>
              </a:rPr>
              <a:t>(copy this button to the main deck)</a:t>
            </a:r>
          </a:p>
        </p:txBody>
      </p:sp>
      <p:sp>
        <p:nvSpPr>
          <p:cNvPr id="133" name="Rounded Rectangle 132">
            <a:hlinkClick action="ppaction://hlinksldjump" r:id="rId3"/>
          </p:cNvPr>
          <p:cNvSpPr/>
          <p:nvPr/>
        </p:nvSpPr>
        <p:spPr>
          <a:xfrm>
            <a:off x="685800" y="6327648"/>
            <a:ext cx="2071116" cy="365760"/>
          </a:xfrm>
          <a:prstGeom prst="roundRect">
            <a:avLst/>
          </a:prstGeom>
          <a:solidFill>
            <a:srgbClr val="BE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0" bIns="0"/>
          <a:lstStyle/>
          <a:p>
            <a:pPr algn="ctr"/>
            <a:r>
              <a:rPr sz="1800" b="1">
                <a:solidFill>
                  <a:srgbClr val="102D5E"/>
                </a:solidFill>
                <a:latin typeface="Garamond"/>
              </a:rPr>
              <a:t>☞ </a:t>
            </a:r>
            <a:r>
              <a:rPr sz="1400">
                <a:solidFill>
                  <a:srgbClr val="102D5E"/>
                </a:solidFill>
                <a:latin typeface="Garamond"/>
              </a:rPr>
              <a:t>Monthly samples</a:t>
            </a:r>
          </a:p>
        </p:txBody>
      </p:sp>
      <p:sp>
        <p:nvSpPr>
          <p:cNvPr id="134" name="Rounded Rectangle 133">
            <a:hlinkClick action="ppaction://hlinksldjump" r:id="rId2"/>
          </p:cNvPr>
          <p:cNvSpPr/>
          <p:nvPr/>
        </p:nvSpPr>
        <p:spPr>
          <a:xfrm>
            <a:off x="10469880" y="6327648"/>
            <a:ext cx="994867" cy="365760"/>
          </a:xfrm>
          <a:prstGeom prst="roundRect">
            <a:avLst/>
          </a:prstGeom>
          <a:solidFill>
            <a:srgbClr val="BE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0" bIns="0"/>
          <a:lstStyle/>
          <a:p>
            <a:pPr algn="ctr"/>
            <a:r>
              <a:rPr sz="1800" b="1">
                <a:solidFill>
                  <a:srgbClr val="102D5E"/>
                </a:solidFill>
                <a:latin typeface="Garamond"/>
              </a:rPr>
              <a:t>☞ </a:t>
            </a:r>
            <a:r>
              <a:rPr sz="1400">
                <a:solidFill>
                  <a:srgbClr val="102D5E"/>
                </a:solidFill>
                <a:latin typeface="Garamond"/>
              </a:rPr>
              <a:t>Back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96012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>
                <a:solidFill>
                  <a:srgbClr val="102D5E"/>
                </a:solidFill>
                <a:latin typeface="Garamond"/>
              </a:rPr>
              <a:t>The sample, month by month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554480" y="1252728"/>
            <a:ext cx="8046719" cy="0"/>
          </a:xfrm>
          <a:prstGeom prst="line">
            <a:avLst/>
          </a:prstGeom>
          <a:ln w="12700">
            <a:solidFill>
              <a:srgbClr val="21252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389120" y="1298448"/>
            <a:ext cx="14173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212529"/>
                </a:solidFill>
                <a:latin typeface="Garamond"/>
              </a:rPr>
              <a:t>2006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79" y="1298448"/>
            <a:ext cx="14173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212529"/>
                </a:solidFill>
                <a:latin typeface="Garamond"/>
              </a:rPr>
              <a:t>2015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0" y="1298448"/>
            <a:ext cx="14173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212529"/>
                </a:solidFill>
                <a:latin typeface="Garamond"/>
              </a:rPr>
              <a:t>2024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554480" y="1554480"/>
            <a:ext cx="8046719" cy="0"/>
          </a:xfrm>
          <a:prstGeom prst="line">
            <a:avLst/>
          </a:prstGeom>
          <a:ln w="12700">
            <a:solidFill>
              <a:srgbClr val="21252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554480" y="1627631"/>
            <a:ext cx="2834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212529"/>
                </a:solidFill>
                <a:latin typeface="Garamond"/>
              </a:rPr>
              <a:t>January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1627631"/>
            <a:ext cx="1417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50" b="0" i="0">
                <a:solidFill>
                  <a:srgbClr val="212529"/>
                </a:solidFill>
                <a:latin typeface="Garamond"/>
              </a:rPr>
              <a:t>101,943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79" y="1627631"/>
            <a:ext cx="1417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50" b="0" i="0">
                <a:solidFill>
                  <a:srgbClr val="212529"/>
                </a:solidFill>
                <a:latin typeface="Garamond"/>
              </a:rPr>
              <a:t>102,441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1627631"/>
            <a:ext cx="1417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50" b="0" i="0">
                <a:solidFill>
                  <a:srgbClr val="212529"/>
                </a:solidFill>
                <a:latin typeface="Garamond"/>
              </a:rPr>
              <a:t>78,769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1888236"/>
            <a:ext cx="2834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212529"/>
                </a:solidFill>
                <a:latin typeface="Garamond"/>
              </a:rPr>
              <a:t>February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1888236"/>
            <a:ext cx="1417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50" b="0" i="0">
                <a:solidFill>
                  <a:srgbClr val="212529"/>
                </a:solidFill>
                <a:latin typeface="Garamond"/>
              </a:rPr>
              <a:t>101,479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79" y="1888236"/>
            <a:ext cx="1417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50" b="0" i="0">
                <a:solidFill>
                  <a:srgbClr val="212529"/>
                </a:solidFill>
                <a:latin typeface="Garamond"/>
              </a:rPr>
              <a:t>100,857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1888236"/>
            <a:ext cx="1417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50" b="0" i="0">
                <a:solidFill>
                  <a:srgbClr val="212529"/>
                </a:solidFill>
                <a:latin typeface="Garamond"/>
              </a:rPr>
              <a:t>78,988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2148840"/>
            <a:ext cx="2834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02D5E"/>
                </a:solidFill>
                <a:latin typeface="Garamond"/>
              </a:rPr>
              <a:t>March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2148840"/>
            <a:ext cx="1417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50" b="1" i="0">
                <a:solidFill>
                  <a:srgbClr val="102D5E"/>
                </a:solidFill>
                <a:latin typeface="Garamond"/>
              </a:rPr>
              <a:t>100,527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79" y="2148840"/>
            <a:ext cx="1417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50" b="1" i="0">
                <a:solidFill>
                  <a:srgbClr val="102D5E"/>
                </a:solidFill>
                <a:latin typeface="Garamond"/>
              </a:rPr>
              <a:t>99,581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2148840"/>
            <a:ext cx="1417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50" b="1" i="0">
                <a:solidFill>
                  <a:srgbClr val="102D5E"/>
                </a:solidFill>
                <a:latin typeface="Garamond"/>
              </a:rPr>
              <a:t>75,982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2409444"/>
            <a:ext cx="2834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212529"/>
                </a:solidFill>
                <a:latin typeface="Garamond"/>
              </a:rPr>
              <a:t>April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2409444"/>
            <a:ext cx="1417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50" b="0" i="0">
                <a:solidFill>
                  <a:srgbClr val="212529"/>
                </a:solidFill>
                <a:latin typeface="Garamond"/>
              </a:rPr>
              <a:t>101,714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79" y="2409444"/>
            <a:ext cx="1417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50" b="0" i="0">
                <a:solidFill>
                  <a:srgbClr val="212529"/>
                </a:solidFill>
                <a:latin typeface="Garamond"/>
              </a:rPr>
              <a:t>101,417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2409444"/>
            <a:ext cx="1417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50" b="0" i="0">
                <a:solidFill>
                  <a:srgbClr val="212529"/>
                </a:solidFill>
                <a:latin typeface="Garamond"/>
              </a:rPr>
              <a:t>78,906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2670048"/>
            <a:ext cx="2834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212529"/>
                </a:solidFill>
                <a:latin typeface="Garamond"/>
              </a:rPr>
              <a:t>May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2670048"/>
            <a:ext cx="1417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50" b="0" i="0">
                <a:solidFill>
                  <a:srgbClr val="212529"/>
                </a:solidFill>
                <a:latin typeface="Garamond"/>
              </a:rPr>
              <a:t>101,426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79" y="2670048"/>
            <a:ext cx="1417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50" b="0" i="0">
                <a:solidFill>
                  <a:srgbClr val="212529"/>
                </a:solidFill>
                <a:latin typeface="Garamond"/>
              </a:rPr>
              <a:t>100,803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2670048"/>
            <a:ext cx="1417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50" b="0" i="0">
                <a:solidFill>
                  <a:srgbClr val="212529"/>
                </a:solidFill>
                <a:latin typeface="Garamond"/>
              </a:rPr>
              <a:t>79,350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54480" y="2930652"/>
            <a:ext cx="2834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212529"/>
                </a:solidFill>
                <a:latin typeface="Garamond"/>
              </a:rPr>
              <a:t>June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0" y="2930652"/>
            <a:ext cx="1417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50" b="0" i="0">
                <a:solidFill>
                  <a:srgbClr val="212529"/>
                </a:solidFill>
                <a:latin typeface="Garamond"/>
              </a:rPr>
              <a:t>101,494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79" y="2930652"/>
            <a:ext cx="1417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50" b="0" i="0">
                <a:solidFill>
                  <a:srgbClr val="212529"/>
                </a:solidFill>
                <a:latin typeface="Garamond"/>
              </a:rPr>
              <a:t>99,308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0" y="2930652"/>
            <a:ext cx="1417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50" b="0" i="0">
                <a:solidFill>
                  <a:srgbClr val="212529"/>
                </a:solidFill>
                <a:latin typeface="Garamond"/>
              </a:rPr>
              <a:t>78,480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54480" y="3191256"/>
            <a:ext cx="2834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212529"/>
                </a:solidFill>
                <a:latin typeface="Garamond"/>
              </a:rPr>
              <a:t>July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89120" y="3191256"/>
            <a:ext cx="1417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50" b="0" i="0">
                <a:solidFill>
                  <a:srgbClr val="212529"/>
                </a:solidFill>
                <a:latin typeface="Garamond"/>
              </a:rPr>
              <a:t>102,295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26479" y="3191256"/>
            <a:ext cx="1417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50" b="0" i="0">
                <a:solidFill>
                  <a:srgbClr val="212529"/>
                </a:solidFill>
                <a:latin typeface="Garamond"/>
              </a:rPr>
              <a:t>99,233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63840" y="3191256"/>
            <a:ext cx="1417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50" b="0" i="0">
                <a:solidFill>
                  <a:srgbClr val="212529"/>
                </a:solidFill>
                <a:latin typeface="Garamond"/>
              </a:rPr>
              <a:t>78,952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54480" y="3451860"/>
            <a:ext cx="2834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212529"/>
                </a:solidFill>
                <a:latin typeface="Garamond"/>
              </a:rPr>
              <a:t>August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89120" y="3451860"/>
            <a:ext cx="1417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50" b="0" i="0">
                <a:solidFill>
                  <a:srgbClr val="212529"/>
                </a:solidFill>
                <a:latin typeface="Garamond"/>
              </a:rPr>
              <a:t>102,937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26479" y="3451860"/>
            <a:ext cx="1417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50" b="0" i="0">
                <a:solidFill>
                  <a:srgbClr val="212529"/>
                </a:solidFill>
                <a:latin typeface="Garamond"/>
              </a:rPr>
              <a:t>99,894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63840" y="3451860"/>
            <a:ext cx="1417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50" b="0" i="0">
                <a:solidFill>
                  <a:srgbClr val="212529"/>
                </a:solidFill>
                <a:latin typeface="Garamond"/>
              </a:rPr>
              <a:t>79,714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554480" y="3712464"/>
            <a:ext cx="2834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212529"/>
                </a:solidFill>
                <a:latin typeface="Garamond"/>
              </a:rPr>
              <a:t>September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89120" y="3712464"/>
            <a:ext cx="1417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50" b="0" i="0">
                <a:solidFill>
                  <a:srgbClr val="212529"/>
                </a:solidFill>
                <a:latin typeface="Garamond"/>
              </a:rPr>
              <a:t>102,209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26479" y="3712464"/>
            <a:ext cx="1417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50" b="0" i="0">
                <a:solidFill>
                  <a:srgbClr val="212529"/>
                </a:solidFill>
                <a:latin typeface="Garamond"/>
              </a:rPr>
              <a:t>99,807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63840" y="3712464"/>
            <a:ext cx="1417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50" b="0" i="0">
                <a:solidFill>
                  <a:srgbClr val="212529"/>
                </a:solidFill>
                <a:latin typeface="Garamond"/>
              </a:rPr>
              <a:t>79,087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554480" y="3973068"/>
            <a:ext cx="2834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212529"/>
                </a:solidFill>
                <a:latin typeface="Garamond"/>
              </a:rPr>
              <a:t>October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389120" y="3973068"/>
            <a:ext cx="1417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50" b="0" i="0">
                <a:solidFill>
                  <a:srgbClr val="212529"/>
                </a:solidFill>
                <a:latin typeface="Garamond"/>
              </a:rPr>
              <a:t>102,181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26479" y="3973068"/>
            <a:ext cx="1417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50" b="0" i="0">
                <a:solidFill>
                  <a:srgbClr val="212529"/>
                </a:solidFill>
                <a:latin typeface="Garamond"/>
              </a:rPr>
              <a:t>100,437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63840" y="3973068"/>
            <a:ext cx="1417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50" b="0" i="0">
                <a:solidFill>
                  <a:srgbClr val="212529"/>
                </a:solidFill>
                <a:latin typeface="Garamond"/>
              </a:rPr>
              <a:t>79,058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554480" y="4233672"/>
            <a:ext cx="2834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212529"/>
                </a:solidFill>
                <a:latin typeface="Garamond"/>
              </a:rPr>
              <a:t>November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389120" y="4233672"/>
            <a:ext cx="1417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50" b="0" i="0">
                <a:solidFill>
                  <a:srgbClr val="212529"/>
                </a:solidFill>
                <a:latin typeface="Garamond"/>
              </a:rPr>
              <a:t>102,110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126479" y="4233672"/>
            <a:ext cx="1417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50" b="0" i="0">
                <a:solidFill>
                  <a:srgbClr val="212529"/>
                </a:solidFill>
                <a:latin typeface="Garamond"/>
              </a:rPr>
              <a:t>100,497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863840" y="4233672"/>
            <a:ext cx="1417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50" b="0" i="0">
                <a:solidFill>
                  <a:srgbClr val="212529"/>
                </a:solidFill>
                <a:latin typeface="Garamond"/>
              </a:rPr>
              <a:t>78,982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554480" y="4494276"/>
            <a:ext cx="2834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212529"/>
                </a:solidFill>
                <a:latin typeface="Garamond"/>
              </a:rPr>
              <a:t>December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389120" y="4494276"/>
            <a:ext cx="1417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50" b="0" i="0">
                <a:solidFill>
                  <a:srgbClr val="212529"/>
                </a:solidFill>
                <a:latin typeface="Garamond"/>
              </a:rPr>
              <a:t>101,517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126479" y="4494276"/>
            <a:ext cx="1417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50" b="0" i="0">
                <a:solidFill>
                  <a:srgbClr val="212529"/>
                </a:solidFill>
                <a:latin typeface="Garamond"/>
              </a:rPr>
              <a:t>99,587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863840" y="4494276"/>
            <a:ext cx="1417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50" b="0" i="0">
                <a:solidFill>
                  <a:srgbClr val="212529"/>
                </a:solidFill>
                <a:latin typeface="Garamond"/>
              </a:rPr>
              <a:t>78,629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1554480" y="4773168"/>
            <a:ext cx="8046719" cy="0"/>
          </a:xfrm>
          <a:prstGeom prst="line">
            <a:avLst/>
          </a:prstGeom>
          <a:ln w="12700">
            <a:solidFill>
              <a:srgbClr val="21252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1554480" y="4846320"/>
            <a:ext cx="2834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02D5E"/>
                </a:solidFill>
                <a:latin typeface="Garamond"/>
              </a:rPr>
              <a:t>March supplement (ASEC)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389120" y="4846320"/>
            <a:ext cx="1417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50" b="1" i="0">
                <a:solidFill>
                  <a:srgbClr val="102D5E"/>
                </a:solidFill>
                <a:latin typeface="Garamond"/>
              </a:rPr>
              <a:t>145,752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126479" y="4846320"/>
            <a:ext cx="1417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50" b="1" i="0">
                <a:solidFill>
                  <a:srgbClr val="102D5E"/>
                </a:solidFill>
                <a:latin typeface="Garamond"/>
              </a:rPr>
              <a:t>144,279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863840" y="4846320"/>
            <a:ext cx="1417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50" b="1" i="0">
                <a:solidFill>
                  <a:srgbClr val="102D5E"/>
                </a:solidFill>
                <a:latin typeface="Garamond"/>
              </a:rPr>
              <a:t>109,367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1554480" y="5120640"/>
            <a:ext cx="8046719" cy="0"/>
          </a:xfrm>
          <a:prstGeom prst="line">
            <a:avLst/>
          </a:prstGeom>
          <a:ln w="12700">
            <a:solidFill>
              <a:srgbClr val="21252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1554480" y="5257800"/>
            <a:ext cx="8778240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6B7480"/>
                </a:solidFill>
                <a:latin typeface="Garamond"/>
              </a:rPr>
              <a:t>Adults (18+) per file, basic monthly interviews. The March supplement contains the March basic respondents plus additional households, mostly from the February and April rotations (the SCHIP expansion) — about 1.45× a single March.</a:t>
            </a:r>
          </a:p>
        </p:txBody>
      </p:sp>
      <p:sp>
        <p:nvSpPr>
          <p:cNvPr id="63" name="Rounded Rectangle 62">
            <a:hlinkClick action="ppaction://hlinksldjump" r:id="rId2"/>
          </p:cNvPr>
          <p:cNvSpPr/>
          <p:nvPr/>
        </p:nvSpPr>
        <p:spPr>
          <a:xfrm>
            <a:off x="10469880" y="6327648"/>
            <a:ext cx="994867" cy="365760"/>
          </a:xfrm>
          <a:prstGeom prst="roundRect">
            <a:avLst/>
          </a:prstGeom>
          <a:solidFill>
            <a:srgbClr val="BE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0" bIns="0"/>
          <a:lstStyle/>
          <a:p>
            <a:pPr algn="ctr"/>
            <a:r>
              <a:rPr sz="1800" b="1">
                <a:solidFill>
                  <a:srgbClr val="102D5E"/>
                </a:solidFill>
                <a:latin typeface="Garamond"/>
              </a:rPr>
              <a:t>☞ </a:t>
            </a:r>
            <a:r>
              <a:rPr sz="1400">
                <a:solidFill>
                  <a:srgbClr val="102D5E"/>
                </a:solidFill>
                <a:latin typeface="Garamond"/>
              </a:rPr>
              <a:t>Back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