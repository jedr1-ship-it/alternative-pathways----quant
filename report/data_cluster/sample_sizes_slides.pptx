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sample, survey by survey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252728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129844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12529"/>
                </a:solidFill>
                <a:latin typeface="Garamond"/>
              </a:rPr>
              <a:t>Survey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99032" y="129844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March suppl.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9464" y="12984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Teachers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3864" y="129844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All 12 months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536192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16002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1998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6002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94,990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9464" y="16002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2,607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3864" y="16002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848916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1999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1848916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95,801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9464" y="18489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2,697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1848916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097633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2097633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97,217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9464" y="2097633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2,714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864" y="2097633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34635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9032" y="234635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94,050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234635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2,619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3864" y="234635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59506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2" y="259506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149,879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9464" y="259506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4,584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83864" y="259506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8437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28437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149,844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9464" y="28437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83864" y="28437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30925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2" y="30925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148,180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9464" y="30925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4,292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3864" y="30925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334121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99032" y="334121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146,518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9464" y="334121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83864" y="334121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385,573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358993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99032" y="358993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145,752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69464" y="358993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83864" y="358993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382,007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383865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99032" y="383865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144,918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9464" y="383865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4,299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83864" y="383865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377,803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08736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99032" y="408736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145,609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69464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4,332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83864" y="408736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376,110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43360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99032" y="43360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147,163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69464" y="43360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4,416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83864" y="43360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379,674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458480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99032" y="458480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149,071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69464" y="458480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83864" y="458480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381,708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483351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99032" y="483351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146,785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69464" y="483351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4,282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83864" y="483351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379,927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85800" y="5100523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583680" y="1252728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583680" y="129844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12529"/>
                </a:solidFill>
                <a:latin typeface="Garamond"/>
              </a:rPr>
              <a:t>Survey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96912" y="129844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March suppl.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67344" y="12984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Teachers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81744" y="129844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All 12 months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583680" y="1536192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583680" y="16002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96912" y="16002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144,803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67344" y="16002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4,142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81744" y="16002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378,498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83680" y="1848916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6912" y="1848916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145,762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67344" y="18489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81744" y="1848916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378,505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83680" y="2097633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96912" y="2097633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100,633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67344" y="2097633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2,875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81744" y="2097633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387,617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83680" y="234635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96912" y="234635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144,279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67344" y="234635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4,301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81744" y="234635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381,968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83680" y="259506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296912" y="259506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134,562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67344" y="259506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3,936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81744" y="259506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381,159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83680" y="28437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296912" y="28437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135,750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67344" y="28437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4,019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81744" y="28437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376,197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83680" y="30925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296912" y="30925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132,144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67344" y="30925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4,028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81744" y="30925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366,072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83680" y="334121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96912" y="334121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132,868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67344" y="334121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3,966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381744" y="334121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356,027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0" y="358993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296912" y="358993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117,763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467344" y="358993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3,308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81744" y="358993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335,867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83680" y="383865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296912" y="383865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121,845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467344" y="383865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3,224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381744" y="383865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331,439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83680" y="408736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96912" y="408736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114,158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467344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3,031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381744" y="408736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317,729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83680" y="43360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296912" y="43360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110,008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467344" y="43360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3,131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381744" y="43360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312,873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83680" y="458480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296912" y="458480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109,367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467344" y="458480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2,990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381744" y="458480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310,239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83680" y="483351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296912" y="483351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108,044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467344" y="483351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2,905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381744" y="483351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302,652*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6583680" y="5100523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6583680" y="5173675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02D5E"/>
                </a:solidFill>
                <a:latin typeface="Garamond"/>
              </a:rPr>
              <a:t>Total (ASEC)   3,607,763 adults, 103,820 teachers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85800" y="5173675"/>
            <a:ext cx="539496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480"/>
                </a:solidFill>
                <a:latin typeface="Garamond"/>
              </a:rPr>
              <a:t>Distinct adults (18+) in both columns. The supplement interviews each person once; the basic survey interviews each adult about three times a year (0.9–1.2 million interviews), so we keep about one person in three and one interview in eight (monthly files cached from 2005; * 2025: eleven months).</a:t>
            </a:r>
          </a:p>
        </p:txBody>
      </p:sp>
      <p:sp>
        <p:nvSpPr>
          <p:cNvPr id="131" name="Rounded Rectangle 130">
            <a:hlinkClick action="ppaction://hlinksldjump" r:id="rId2"/>
          </p:cNvPr>
          <p:cNvSpPr/>
          <p:nvPr/>
        </p:nvSpPr>
        <p:spPr>
          <a:xfrm>
            <a:off x="9464040" y="274320"/>
            <a:ext cx="1777593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Sample sizes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464040" y="676656"/>
            <a:ext cx="237744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480"/>
                </a:solidFill>
                <a:latin typeface="Garamond"/>
              </a:rPr>
              <a:t>(copy this button to the main deck)</a:t>
            </a:r>
          </a:p>
        </p:txBody>
      </p:sp>
      <p:sp>
        <p:nvSpPr>
          <p:cNvPr id="133" name="Rounded Rectangle 132">
            <a:hlinkClick action="ppaction://hlinksldjump" r:id="rId3"/>
          </p:cNvPr>
          <p:cNvSpPr/>
          <p:nvPr/>
        </p:nvSpPr>
        <p:spPr>
          <a:xfrm>
            <a:off x="685800" y="6327648"/>
            <a:ext cx="2071116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Monthly samples</a:t>
            </a:r>
          </a:p>
        </p:txBody>
      </p:sp>
      <p:sp>
        <p:nvSpPr>
          <p:cNvPr id="134" name="Rounded Rectangle 133">
            <a:hlinkClick action="ppaction://hlinksldjump" r:id="rId2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sample, month by month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06424"/>
            <a:ext cx="10680191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371600" y="1152144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12529"/>
                </a:solidFill>
                <a:latin typeface="Garamond"/>
              </a:rPr>
              <a:t>2006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99032"/>
            <a:ext cx="69494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66543" y="1399032"/>
            <a:ext cx="84124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Earlier
this 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07791" y="139903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Last
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94176" y="139903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1152144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12529"/>
                </a:solidFill>
                <a:latin typeface="Garamond"/>
              </a:rPr>
              <a:t>2015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0016" y="1399032"/>
            <a:ext cx="69494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New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59" y="1399032"/>
            <a:ext cx="84124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Earlier
this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139903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Last
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22592" y="139903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Total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1152144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12529"/>
                </a:solidFill>
                <a:latin typeface="Garamond"/>
              </a:rP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1" y="1399032"/>
            <a:ext cx="69494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New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1399032"/>
            <a:ext cx="84124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Earlier
this year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64624" y="139903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Last
year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51007" y="139903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Total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1828800"/>
            <a:ext cx="10680191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190195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January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1901952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17,455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6543" y="1901952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07791" y="1901952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84,488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4176" y="1901952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101,943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0016" y="1901952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19,653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59" y="1901952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7" y="1901952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82,788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2592" y="1901952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102,441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28431" y="1901952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14,052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3376" y="1901952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64624" y="1901952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64,717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51007" y="1901952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78,769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211409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February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2114092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17,165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66543" y="2114092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72,393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07791" y="2114092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11,921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94176" y="2114092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101,479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0016" y="2114092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18,402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59" y="2114092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72,164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6207" y="2114092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10,291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22592" y="2114092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100,857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28431" y="2114092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15,049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23376" y="2114092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53,329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64624" y="2114092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10,610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51007" y="2114092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78,988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232623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02D5E"/>
                </a:solidFill>
                <a:latin typeface="Garamond"/>
              </a:rPr>
              <a:t>March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2326233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16,785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66543" y="2326233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72,672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07791" y="2326233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11,070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94176" y="2326233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100,527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00016" y="2326233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18,705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94959" y="2326233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71,415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7" y="2326233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9,461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22592" y="2326233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99,581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28431" y="2326233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13,399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23376" y="2326233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54,077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64624" y="2326233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8,506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51007" y="2326233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75,982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253837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April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71600" y="2538374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16,815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66543" y="2538374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73,339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07791" y="2538374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11,560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4176" y="2538374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101,714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00016" y="2538374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19,024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94959" y="2538374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72,657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36207" y="2538374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9,736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22592" y="2538374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101,417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28431" y="2538374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14,209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23376" y="2538374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55,044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64624" y="2538374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9,653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51007" y="2538374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78,906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275051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May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71600" y="2750515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16,826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66543" y="2750515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73,089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07791" y="2750515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11,511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94176" y="2750515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101,426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700016" y="2750515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18,832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94959" y="2750515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72,279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6207" y="2750515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9,692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022592" y="2750515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100,803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28431" y="2750515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14,023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23376" y="2750515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55,915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64624" y="2750515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9,412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351007" y="2750515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79,350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7200" y="296265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June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71600" y="2962656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16,910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66543" y="2962656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72,986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907791" y="2962656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11,598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94176" y="2962656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101,494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700016" y="2962656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18,127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394959" y="2962656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71,715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36207" y="2962656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9,466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22592" y="2962656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99,308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28431" y="2962656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13,471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723376" y="2962656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55,709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564624" y="2962656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9,300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351007" y="2962656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78,480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200" y="317479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July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71600" y="3174796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17,087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066543" y="3174796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73,591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907791" y="3174796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11,617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694176" y="3174796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102,295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00016" y="3174796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19,046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94959" y="3174796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70,510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36207" y="3174796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9,677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022592" y="3174796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99,233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28431" y="3174796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14,061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723376" y="3174796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55,485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564624" y="3174796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9,406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351007" y="3174796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78,952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57200" y="338693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August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371600" y="3386937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17,366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66543" y="3386937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74,178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907791" y="3386937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11,393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94176" y="3386937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102,937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700016" y="3386937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16,976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394959" y="3386937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71,588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236207" y="3386937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11,330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022592" y="3386937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99,894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028431" y="3386937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14,493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723376" y="3386937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55,728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564624" y="3386937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9,493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351007" y="3386937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79,714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57200" y="359907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September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371600" y="3599078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17,096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66543" y="3599078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73,730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907791" y="3599078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11,383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94176" y="3599078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102,209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700016" y="3599078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16,829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94959" y="3599078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71,694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236207" y="3599078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11,284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022592" y="3599078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99,807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028431" y="3599078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13,788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723376" y="3599078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56,093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564624" y="3599078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9,206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351007" y="3599078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79,087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57200" y="3811219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October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71600" y="3811219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16,920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066543" y="3811219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84,310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07791" y="3811219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951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694176" y="3811219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102,181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700016" y="3811219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17,124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394959" y="3811219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82,021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236207" y="3811219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1,292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022592" y="3811219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100,437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028431" y="3811219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13,670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723376" y="3811219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64,024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564624" y="3811219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1,364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51007" y="3811219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79,058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7200" y="4023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November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371600" y="4023360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16,985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066543" y="4023360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84,631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907791" y="4023360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494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694176" y="4023360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102,110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700016" y="4023360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16,805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394959" y="4023360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83,121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36207" y="4023360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571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022592" y="4023360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100,497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028431" y="4023360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13,830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723376" y="4023360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64,493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64624" y="4023360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51007" y="4023360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78,982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4235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December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371600" y="4235500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16,410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66543" y="4235500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84,906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907791" y="4235500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201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694176" y="4235500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101,517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700016" y="4235500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16,607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394959" y="4235500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82,730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236207" y="4235500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250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022592" y="4235500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99,587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028431" y="4235500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13,564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23376" y="4235500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64,761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64624" y="4235500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304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51007" y="4235500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78,629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457200" y="4465929"/>
            <a:ext cx="10680191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TextBox 176"/>
          <p:cNvSpPr txBox="1"/>
          <p:nvPr/>
        </p:nvSpPr>
        <p:spPr>
          <a:xfrm>
            <a:off x="457200" y="452079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12529"/>
                </a:solidFill>
                <a:latin typeface="Garamond"/>
              </a:rPr>
              <a:t>Sum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371600" y="4520793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203,820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066543" y="4520793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839,825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907791" y="4520793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178,187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694176" y="4520793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1,221,832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700016" y="4520793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216,130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394959" y="4520793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821,894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236207" y="4520793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165,838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022592" y="4520793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1,203,862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028431" y="4520793"/>
            <a:ext cx="69494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167,609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723376" y="4520793"/>
            <a:ext cx="841248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634,658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564624" y="4520793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142,630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351007" y="4520793"/>
            <a:ext cx="78638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944,897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57200" y="4749393"/>
            <a:ext cx="329184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12529"/>
                </a:solidFill>
                <a:latin typeface="Garamond"/>
              </a:rPr>
              <a:t>Distinct persons (New + Last year)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371600" y="4749393"/>
            <a:ext cx="3108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382,007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700016" y="4749393"/>
            <a:ext cx="3108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381,968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028431" y="4749393"/>
            <a:ext cx="3108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310,239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57200" y="4977993"/>
            <a:ext cx="329184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02D5E"/>
                </a:solidFill>
                <a:latin typeface="Garamond"/>
              </a:rPr>
              <a:t>March supplement (ASEC), each person once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371600" y="4977993"/>
            <a:ext cx="3108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145,752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700016" y="4977993"/>
            <a:ext cx="3108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144,279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8028431" y="4977993"/>
            <a:ext cx="3108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109,367</a:t>
            </a:r>
          </a:p>
        </p:txBody>
      </p:sp>
      <p:cxnSp>
        <p:nvCxnSpPr>
          <p:cNvPr id="198" name="Connector 197"/>
          <p:cNvCxnSpPr/>
          <p:nvPr/>
        </p:nvCxnSpPr>
        <p:spPr>
          <a:xfrm>
            <a:off x="457200" y="5206593"/>
            <a:ext cx="10680191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457200" y="5325465"/>
            <a:ext cx="112471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480"/>
                </a:solidFill>
                <a:latin typeface="Garamond"/>
              </a:rPr>
              <a:t>Adults (18+); every cell counts persons. Within a month: New + Earlier this year + Last year = Total, the month’s interviews (≈100k in the 2000s). Down a column: the Totals sum to the year’s interviews (2006: 1,221,832), while New + Last year counts each person exactly once → distinct persons (2006: 203,820 + 178,187 = 382,007). The ASEC = the March respondents + the February–April oversamples: 38% of the distinct persons, 12% of the interviews, 1.45× a single March.</a:t>
            </a:r>
          </a:p>
        </p:txBody>
      </p:sp>
      <p:sp>
        <p:nvSpPr>
          <p:cNvPr id="200" name="Rounded Rectangle 199">
            <a:hlinkClick action="ppaction://hlinksldjump" r:id="rId2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