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415"/>
              </a:lnSpc>
            </a:pPr>
            <a:r>
              <a:rPr sz="2800" b="1">
                <a:solidFill>
                  <a:srgbClr val="102D5E"/>
                </a:solidFill>
                <a:latin typeface="Garamond"/>
              </a:rPr>
              <a:t>The sample, survey by survey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822960" y="1188720"/>
            <a:ext cx="4389120" cy="0"/>
          </a:xfrm>
          <a:prstGeom prst="line">
            <a:avLst/>
          </a:prstGeom>
          <a:ln w="1524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12618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25"/>
              </a:lnSpc>
            </a:pPr>
            <a:r>
              <a:rPr sz="1250" b="1">
                <a:solidFill>
                  <a:srgbClr val="212529"/>
                </a:solidFill>
                <a:latin typeface="Garamond"/>
              </a:rPr>
              <a:t>Survey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26187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1">
                <a:solidFill>
                  <a:srgbClr val="212529"/>
                </a:solidFill>
                <a:latin typeface="Garamond"/>
              </a:rPr>
              <a:t>All persons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40" y="126187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1">
                <a:solidFill>
                  <a:srgbClr val="212529"/>
                </a:solidFill>
                <a:latin typeface="Garamond"/>
              </a:rPr>
              <a:t>Teachers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1536192"/>
            <a:ext cx="4389120" cy="0"/>
          </a:xfrm>
          <a:prstGeom prst="line">
            <a:avLst/>
          </a:prstGeom>
          <a:ln w="889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1581912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1998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581912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131,617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40" y="158191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2,620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17827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1999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817827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132,324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1817827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2,719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053742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053742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133,710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205374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2,743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289657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2289657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128,821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2289657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2,646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2525572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2525572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217,219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0" y="252557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4,632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2761488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2761488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216,424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40" y="276148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4,201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2997403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2997403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213,241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40" y="2997403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4,344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3233318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37360" y="3233318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210,648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40" y="323331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4,361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3469233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3469233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208,562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40" y="3469233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4,161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3705148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37360" y="3705148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206,639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49040" y="370514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4,336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3941064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37360" y="3941064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206,404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49040" y="3941064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4,357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4176979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37360" y="4176979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207,921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49040" y="4176979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4,448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4412894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37360" y="4412894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209,802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49040" y="4412894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4,357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4648809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37360" y="4648809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204,983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49040" y="4648809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4,301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22960" y="4912156"/>
            <a:ext cx="4389120" cy="0"/>
          </a:xfrm>
          <a:prstGeom prst="line">
            <a:avLst/>
          </a:prstGeom>
          <a:ln w="1524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675120" y="1188720"/>
            <a:ext cx="4389120" cy="0"/>
          </a:xfrm>
          <a:prstGeom prst="line">
            <a:avLst/>
          </a:prstGeom>
          <a:ln w="1524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675120" y="12618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25"/>
              </a:lnSpc>
            </a:pPr>
            <a:r>
              <a:rPr sz="1250" b="1">
                <a:solidFill>
                  <a:srgbClr val="212529"/>
                </a:solidFill>
                <a:latin typeface="Garamond"/>
              </a:rPr>
              <a:t>Survey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89520" y="126187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1">
                <a:solidFill>
                  <a:srgbClr val="212529"/>
                </a:solidFill>
                <a:latin typeface="Garamond"/>
              </a:rPr>
              <a:t>All persons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126187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1">
                <a:solidFill>
                  <a:srgbClr val="212529"/>
                </a:solidFill>
                <a:latin typeface="Garamond"/>
              </a:rPr>
              <a:t>Teachers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675120" y="1536192"/>
            <a:ext cx="4389120" cy="0"/>
          </a:xfrm>
          <a:prstGeom prst="line">
            <a:avLst/>
          </a:prstGeom>
          <a:ln w="889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6675120" y="1581912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89520" y="1581912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201,398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01200" y="158191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4,184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75120" y="1817827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89520" y="1817827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202,634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0" y="1817827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4,192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75120" y="2053742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89520" y="2053742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139,415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01200" y="205374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2,896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75120" y="2289657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89520" y="2289657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199,024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01200" y="2289657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4,333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75120" y="2525572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2016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89520" y="2525572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185,487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01200" y="252557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3,972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75120" y="2761488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2017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89520" y="2761488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185,914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01200" y="276148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4,045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75120" y="2997403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2018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89520" y="2997403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180,084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01200" y="2997403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4,053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75120" y="3233318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2019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89520" y="3233318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180,101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01200" y="323331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3,986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675120" y="3469233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589520" y="3469233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157,959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01200" y="3469233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3,321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675120" y="3705148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2021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589520" y="3705148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163,543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601200" y="370514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3,232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675120" y="3941064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2022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589520" y="3941064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152,732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601200" y="3941064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3,040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75120" y="4176979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2023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589520" y="4176979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146,133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01200" y="4176979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3,141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675120" y="4412894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89520" y="4412894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144,265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601200" y="4412894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3,006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675120" y="4648809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2025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589520" y="4648809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142,125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601200" y="4648809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403"/>
              </a:lnSpc>
            </a:pPr>
            <a:r>
              <a:rPr sz="1150" b="0">
                <a:solidFill>
                  <a:srgbClr val="212529"/>
                </a:solidFill>
                <a:latin typeface="Garamond"/>
              </a:rPr>
              <a:t>2,918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6675120" y="4912156"/>
            <a:ext cx="4389120" cy="0"/>
          </a:xfrm>
          <a:prstGeom prst="line">
            <a:avLst/>
          </a:prstGeom>
          <a:ln w="1524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6675120" y="499445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25"/>
              </a:lnSpc>
            </a:pPr>
            <a:r>
              <a:rPr sz="1250" b="1">
                <a:solidFill>
                  <a:srgbClr val="102D5E"/>
                </a:solidFill>
                <a:latin typeface="Garamond"/>
              </a:rPr>
              <a:t>Total  5,009,129 persons, 104,545 teachers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22960" y="4994452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42"/>
              </a:lnSpc>
            </a:pPr>
            <a:r>
              <a:rPr sz="1100" b="0">
                <a:solidFill>
                  <a:srgbClr val="6B7480"/>
                </a:solidFill>
                <a:latin typeface="Garamond"/>
              </a:rPr>
              <a:t>March supplements 1998–2025. Teachers: longest job last year was K–12 teaching.</a:t>
            </a:r>
          </a:p>
        </p:txBody>
      </p:sp>
      <p:sp>
        <p:nvSpPr>
          <p:cNvPr id="101" name="Rounded Rectangle 100">
            <a:hlinkClick action="ppaction://hlinksldjump" r:id="rId3"/>
          </p:cNvPr>
          <p:cNvSpPr/>
          <p:nvPr/>
        </p:nvSpPr>
        <p:spPr>
          <a:xfrm>
            <a:off x="822960" y="6327648"/>
            <a:ext cx="2071116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Monthly samples</a:t>
            </a:r>
          </a:p>
        </p:txBody>
      </p:sp>
      <p:sp>
        <p:nvSpPr>
          <p:cNvPr id="102" name="Rounded Rectangle 101">
            <a:hlinkClick action="ppaction://hlinksldjump" r:id="rId2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  <p:sp>
        <p:nvSpPr>
          <p:cNvPr id="103" name="Rounded Rectangle 102">
            <a:hlinkClick action="ppaction://hlinksldjump" r:id="rId2"/>
          </p:cNvPr>
          <p:cNvSpPr/>
          <p:nvPr/>
        </p:nvSpPr>
        <p:spPr>
          <a:xfrm>
            <a:off x="8778240" y="274320"/>
            <a:ext cx="1777593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Sample sizes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732520" y="67665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159"/>
              </a:lnSpc>
            </a:pPr>
            <a:r>
              <a:rPr sz="950" b="0">
                <a:solidFill>
                  <a:srgbClr val="6B7480"/>
                </a:solidFill>
                <a:latin typeface="Garamond"/>
              </a:rPr>
              <a:t>(copy this button to the main deck)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415"/>
              </a:lnSpc>
            </a:pPr>
            <a:r>
              <a:rPr sz="2800" b="1">
                <a:solidFill>
                  <a:srgbClr val="102D5E"/>
                </a:solidFill>
                <a:latin typeface="Garamond"/>
              </a:rPr>
              <a:t>The sample, month by month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554480" y="1234440"/>
            <a:ext cx="8321040" cy="0"/>
          </a:xfrm>
          <a:prstGeom prst="line">
            <a:avLst/>
          </a:prstGeom>
          <a:ln w="1524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554480" y="130759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86"/>
              </a:lnSpc>
            </a:pPr>
            <a:r>
              <a:rPr sz="1300" b="1">
                <a:solidFill>
                  <a:srgbClr val="212529"/>
                </a:solidFill>
                <a:latin typeface="Garamond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307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86"/>
              </a:lnSpc>
            </a:pPr>
            <a:r>
              <a:rPr sz="1300" b="1">
                <a:solidFill>
                  <a:srgbClr val="212529"/>
                </a:solidFill>
                <a:latin typeface="Garamond"/>
              </a:rPr>
              <a:t>2006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07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86"/>
              </a:lnSpc>
            </a:pPr>
            <a:r>
              <a:rPr sz="1300" b="1">
                <a:solidFill>
                  <a:srgbClr val="212529"/>
                </a:solidFill>
                <a:latin typeface="Garamond"/>
              </a:rPr>
              <a:t>2015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307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86"/>
              </a:lnSpc>
            </a:pPr>
            <a:r>
              <a:rPr sz="1300" b="1">
                <a:solidFill>
                  <a:srgbClr val="212529"/>
                </a:solidFill>
                <a:latin typeface="Garamond"/>
              </a:rPr>
              <a:t>2024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54480" y="1600200"/>
            <a:ext cx="8321040" cy="0"/>
          </a:xfrm>
          <a:prstGeom prst="line">
            <a:avLst/>
          </a:prstGeom>
          <a:ln w="889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554480" y="1645920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January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645920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101,943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645920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102,441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645920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78,769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1920240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February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920240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101,479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920240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100,857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1920240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78,988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194560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25"/>
              </a:lnSpc>
            </a:pPr>
            <a:r>
              <a:rPr sz="1250" b="1">
                <a:solidFill>
                  <a:srgbClr val="102D5E"/>
                </a:solidFill>
                <a:latin typeface="Garamond"/>
              </a:rPr>
              <a:t>March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194560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1">
                <a:solidFill>
                  <a:srgbClr val="102D5E"/>
                </a:solidFill>
                <a:latin typeface="Garamond"/>
              </a:rPr>
              <a:t>100,527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194560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1">
                <a:solidFill>
                  <a:srgbClr val="102D5E"/>
                </a:solidFill>
                <a:latin typeface="Garamond"/>
              </a:rPr>
              <a:t>99,581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194560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1">
                <a:solidFill>
                  <a:srgbClr val="102D5E"/>
                </a:solidFill>
                <a:latin typeface="Garamond"/>
              </a:rPr>
              <a:t>75,982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2468879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April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2468879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101,714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468879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101,417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468879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78,906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2743199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May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2743199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101,426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743199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100,803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743199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79,350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3017519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June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3017519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101,494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017519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99,308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3017519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78,480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54480" y="3291839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July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3291839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102,295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291839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99,233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3291839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78,952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3566159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August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3566159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102,937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3566159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99,894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3566159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79,714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54480" y="3840479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September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0" y="3840479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102,209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3840479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99,807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3840479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79,087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54480" y="4114799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October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0" y="4114799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102,181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4114799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100,437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4114799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79,058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54480" y="4389119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November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0" y="4389119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102,110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4389119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100,497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0" y="4389119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78,982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54480" y="4663439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December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0" y="4663439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101,517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0" y="4663439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99,587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0" y="4663439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25"/>
              </a:lnSpc>
            </a:pPr>
            <a:r>
              <a:rPr sz="1250" b="0">
                <a:solidFill>
                  <a:srgbClr val="212529"/>
                </a:solidFill>
                <a:latin typeface="Garamond"/>
              </a:rPr>
              <a:t>78,629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1554480" y="4956047"/>
            <a:ext cx="8321040" cy="0"/>
          </a:xfrm>
          <a:prstGeom prst="line">
            <a:avLst/>
          </a:prstGeom>
          <a:ln w="889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1554480" y="5029199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86"/>
              </a:lnSpc>
            </a:pPr>
            <a:r>
              <a:rPr sz="1300" b="1">
                <a:solidFill>
                  <a:srgbClr val="102D5E"/>
                </a:solidFill>
                <a:latin typeface="Garamond"/>
              </a:rPr>
              <a:t>March supplement (ASEC)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0" y="5029199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86"/>
              </a:lnSpc>
            </a:pPr>
            <a:r>
              <a:rPr sz="1300" b="1">
                <a:solidFill>
                  <a:srgbClr val="102D5E"/>
                </a:solidFill>
                <a:latin typeface="Garamond"/>
              </a:rPr>
              <a:t>208,562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0" y="5029199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86"/>
              </a:lnSpc>
            </a:pPr>
            <a:r>
              <a:rPr sz="1300" b="1">
                <a:solidFill>
                  <a:srgbClr val="102D5E"/>
                </a:solidFill>
                <a:latin typeface="Garamond"/>
              </a:rPr>
              <a:t>199,024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0" y="5029199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86"/>
              </a:lnSpc>
            </a:pPr>
            <a:r>
              <a:rPr sz="1300" b="1">
                <a:solidFill>
                  <a:srgbClr val="102D5E"/>
                </a:solidFill>
                <a:latin typeface="Garamond"/>
              </a:rPr>
              <a:t>144,265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554480" y="5358383"/>
            <a:ext cx="8321040" cy="0"/>
          </a:xfrm>
          <a:prstGeom prst="line">
            <a:avLst/>
          </a:prstGeom>
          <a:ln w="1524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554480" y="5486399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42"/>
              </a:lnSpc>
            </a:pPr>
            <a:r>
              <a:rPr sz="1100" b="0">
                <a:solidFill>
                  <a:srgbClr val="6B7480"/>
                </a:solidFill>
                <a:latin typeface="Garamond"/>
              </a:rPr>
              <a:t>Persons per file, basic monthly interviews. The March supplement roughly doubles the March sample through the February and April oversamples and the SCHIP expansion.</a:t>
            </a:r>
          </a:p>
        </p:txBody>
      </p:sp>
      <p:sp>
        <p:nvSpPr>
          <p:cNvPr id="64" name="Rounded Rectangle 63">
            <a:hlinkClick action="ppaction://hlinksldjump" r:id="rId2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