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survey by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903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94,990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946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95,801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97,217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946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2,714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946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4,584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386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946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8386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148,180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946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946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385,573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9903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386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903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144,918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946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8386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377,803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9903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145,609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946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8386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9903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147,163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946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4,416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386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379,674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9903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149,071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6946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8386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381,708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903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146,785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946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8386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379,927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58368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9691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6734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8174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58368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58368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9691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144,803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8174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378,498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8368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691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145,762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6734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8174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378,505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8368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9691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100,633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6734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2,875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8174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387,617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8368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9691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144,279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6734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174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8368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9691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134,562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734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174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381,159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8368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9691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135,750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734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8174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376,197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8368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9691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132,144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6734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8174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366,072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8368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9691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132,868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6734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8174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356,027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9691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117,763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6734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174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335,867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9691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121,845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734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3,224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8174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331,439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9691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114,158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6734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3,031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8174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317,729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29691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110,008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6734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3,131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8174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312,873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9691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109,367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6734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38174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9691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108,044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6734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8174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302,652*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58368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6583680" y="5173675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02D5E"/>
                </a:solidFill>
                <a:latin typeface="Garamond"/>
              </a:rPr>
              <a:t>Total (ASEC)   3,607,763 adults, 103,820 teachers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5800" y="5173675"/>
            <a:ext cx="53949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480"/>
                </a:solidFill>
                <a:latin typeface="Garamond"/>
              </a:rPr>
              <a:t>Distinct adults (18+) in both columns. The supplement interviews each person once; the basic survey interviews each adult about three times a year (0.9–1.2 million interviews), so we keep about one person in three and one interview in eight (monthly files cached from 2005; * 2025: eleven months).</a:t>
            </a:r>
          </a:p>
        </p:txBody>
      </p:sp>
      <p:sp>
        <p:nvSpPr>
          <p:cNvPr id="131" name="Rounded Rectangle 130">
            <a:hlinkClick action="ppaction://hlinksldjump" r:id="rId2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464040" y="676656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133" name="Rounded Rectangle 132">
            <a:hlinkClick action="ppaction://hlinksldjump" r:id="rId3"/>
          </p:cNvPr>
          <p:cNvSpPr/>
          <p:nvPr/>
        </p:nvSpPr>
        <p:spPr>
          <a:xfrm>
            <a:off x="68580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samples</a:t>
            </a:r>
          </a:p>
        </p:txBody>
      </p:sp>
      <p:sp>
        <p:nvSpPr>
          <p:cNvPr id="134" name="Rounded Rectangle 133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month by month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43000"/>
            <a:ext cx="827532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148840" y="1188720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46304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46304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6B7480"/>
                </a:solidFill>
                <a:latin typeface="Garamond"/>
              </a:rPr>
              <a:t>Seen 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2856" y="1188720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856" y="146304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7256" y="146304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6B7480"/>
                </a:solidFill>
                <a:latin typeface="Garamond"/>
              </a:rPr>
              <a:t>Seen 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6871" y="1188720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76871" y="146304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146304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6B7480"/>
                </a:solidFill>
                <a:latin typeface="Garamond"/>
              </a:rPr>
              <a:t>Seen before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1719072"/>
            <a:ext cx="827532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792224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January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792224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17,455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1792224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84,488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1792224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19,653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7256" y="1792224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82,788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6871" y="1792224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14,052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1" y="1792224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64,717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022652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February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2022652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17,165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022652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84,314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022652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18,402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7256" y="2022652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82,455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1" y="2022652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15,049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1271" y="2022652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63,939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253081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02D5E"/>
                </a:solidFill>
                <a:latin typeface="Garamond"/>
              </a:rPr>
              <a:t>March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2253081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16,785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253081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83,742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2253081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18,705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77256" y="2253081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80,876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1" y="2253081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13,399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1271" y="2253081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62,583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2483510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April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248351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16,815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248351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84,899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2856" y="248351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19,024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77256" y="248351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82,393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76871" y="248351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14,209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91271" y="248351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64,697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713939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May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2713939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16,826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2713939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84,600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2856" y="2713939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18,832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77256" y="2713939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81,971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76871" y="2713939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14,023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91271" y="2713939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65,327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2944367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June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2944367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3240" y="2944367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84,584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62856" y="2944367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18,127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77256" y="2944367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81,181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76871" y="2944367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13,471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91271" y="2944367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65,009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3174796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July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3174796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17,087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63240" y="3174796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85,208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3174796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19,046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77256" y="3174796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80,187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76871" y="3174796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14,061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91271" y="3174796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64,891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3405225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August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3405225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17,366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63240" y="3405225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85,571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62856" y="3405225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16,976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77256" y="3405225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82,918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76871" y="3405225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14,493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91271" y="3405225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65,221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3635654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September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48840" y="3635654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17,096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63240" y="3635654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85,113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62856" y="3635654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16,829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77256" y="3635654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82,978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76871" y="3635654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13,788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1271" y="3635654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65,299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3866083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October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8840" y="3866083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16,920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63240" y="3866083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85,261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62856" y="3866083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17,124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7256" y="3866083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83,313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76871" y="3866083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13,670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91271" y="3866083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65,388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4096511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November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48840" y="4096511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16,985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063240" y="4096511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85,125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62856" y="4096511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16,805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77256" y="4096511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83,692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76871" y="4096511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13,830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91271" y="4096511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65,152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4326940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December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48840" y="432694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16,410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63240" y="432694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85,107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62856" y="432694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16,607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77256" y="432694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82,980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76871" y="4326940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13,564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891271" y="4326940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65,065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31520" y="4575657"/>
            <a:ext cx="827532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731520" y="4639665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12529"/>
                </a:solidFill>
                <a:latin typeface="Garamond"/>
              </a:rPr>
              <a:t>Sum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48840" y="4639665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203,820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63240" y="4639665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1,018,012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62856" y="4639665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216,130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77256" y="4639665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987,732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76871" y="4639665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167,609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91271" y="4639665"/>
            <a:ext cx="111556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777,288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1520" y="4886553"/>
            <a:ext cx="2331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12529"/>
                </a:solidFill>
                <a:latin typeface="Garamond"/>
              </a:rPr>
              <a:t>Distinct persons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48840" y="4886553"/>
            <a:ext cx="2029967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562856" y="4886553"/>
            <a:ext cx="2029967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76871" y="4886553"/>
            <a:ext cx="2029967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1520" y="5133441"/>
            <a:ext cx="28803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02D5E"/>
                </a:solidFill>
                <a:latin typeface="Garamond"/>
              </a:rPr>
              <a:t>March supplement (ASEC)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48840" y="5133441"/>
            <a:ext cx="2029967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145,752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62856" y="5133441"/>
            <a:ext cx="2029967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144,279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76871" y="5133441"/>
            <a:ext cx="2029967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02D5E"/>
                </a:solidFill>
                <a:latin typeface="Garamond"/>
              </a:rPr>
              <a:t>109,367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731520" y="5380329"/>
            <a:ext cx="827532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731520" y="5517489"/>
            <a:ext cx="10607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480"/>
                </a:solidFill>
                <a:latin typeface="Garamond"/>
              </a:rPr>
              <a:t>Adults (18+). New: first interview ever; seen before: interviewed in an earlier month or in the previous year (each household is interviewed in eight months over two years). New + seen before = that month's interviews; the year's new entrants plus those carried over from the previous year give the distinct persons. The ASEC interviews each person once: the March respondents plus the February–April oversamples, 1.45× a single March.</a:t>
            </a:r>
          </a:p>
        </p:txBody>
      </p:sp>
      <p:sp>
        <p:nvSpPr>
          <p:cNvPr id="116" name="Rounded Rectangle 115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