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survey by survey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9903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946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94,990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946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1999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95,801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386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97,217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946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2,714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8386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9903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94,050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946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2,619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946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4,584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386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9903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149,844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6946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8386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9903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148,180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946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8386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9903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146,518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6946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385,573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9903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6946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8386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382,007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9903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144,918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946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4,299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8386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377,803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9903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145,609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6946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8386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2009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9903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147,163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6946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4,416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8386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379,674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9903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149,071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946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4,337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8386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381,708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9903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146,785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6946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4,282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8386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379,927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8580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583680" y="1252728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583680" y="129844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212529"/>
                </a:solidFill>
                <a:latin typeface="Garamond"/>
              </a:rPr>
              <a:t>Survey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96912" y="129844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March suppl.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67344" y="129844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Teachers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81744" y="129844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212529"/>
                </a:solidFill>
                <a:latin typeface="Garamond"/>
              </a:rPr>
              <a:t>All 12 months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583680" y="1536192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6583680" y="16002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96912" y="16002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144,803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67344" y="16002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4,142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81744" y="16002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378,498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583680" y="1848916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6912" y="18489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145,762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467344" y="184891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81744" y="1848916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378,505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83680" y="2097633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96912" y="2097633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100,633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67344" y="2097633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2,875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81744" y="2097633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387,617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83680" y="234635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96912" y="234635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144,279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67344" y="234635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4,301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381744" y="234635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381,968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83680" y="259506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296912" y="259506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134,562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67344" y="259506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381744" y="259506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381,159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80" y="28437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96912" y="28437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135,750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67344" y="28437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81744" y="28437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376,197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83680" y="3092500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296912" y="30925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132,144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67344" y="30925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4,028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381744" y="3092500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366,072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583680" y="3341217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296912" y="3341217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132,868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67344" y="334121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3,966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381744" y="3341217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356,027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58993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296912" y="358993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117,763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67344" y="358993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381744" y="358993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335,867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83680" y="383865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296912" y="383865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121,845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467344" y="383865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3,224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81744" y="383865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331,439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83680" y="408736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96912" y="408736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114,158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67344" y="40873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3,031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81744" y="408736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317,729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83680" y="4336084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296912" y="433608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110,008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67344" y="433608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3,131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381744" y="4336084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312,873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583680" y="4584801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96912" y="458480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109,367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67344" y="4584801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2,990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381744" y="4584801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310,239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583680" y="4833518"/>
            <a:ext cx="7132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212529"/>
                </a:solidFill>
                <a:latin typeface="Garamond"/>
              </a:rPr>
              <a:t>2025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96912" y="483351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108,044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467344" y="483351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2,905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381744" y="4833518"/>
            <a:ext cx="13167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212529"/>
                </a:solidFill>
                <a:latin typeface="Garamond"/>
              </a:rPr>
              <a:t>302,652*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6583680" y="5100523"/>
            <a:ext cx="42062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6583680" y="5173675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Total (ASEC)   3,607,763 adults, 103,820 teachers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85800" y="5173675"/>
            <a:ext cx="539496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Distinct adults (18+) in both columns. The supplement interviews each person once; the basic survey interviews each adult about three times a year (0.9–1.2 million interviews), so we keep about one person in three and one interview in eight (monthly files cached from 2005; * 2025: eleven months).</a:t>
            </a:r>
          </a:p>
        </p:txBody>
      </p:sp>
      <p:sp>
        <p:nvSpPr>
          <p:cNvPr id="131" name="Rounded Rectangle 130">
            <a:hlinkClick action="ppaction://hlinksldjump" r:id="rId2"/>
          </p:cNvPr>
          <p:cNvSpPr/>
          <p:nvPr/>
        </p:nvSpPr>
        <p:spPr>
          <a:xfrm>
            <a:off x="9464040" y="274320"/>
            <a:ext cx="1777593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Sample sizes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464040" y="676656"/>
            <a:ext cx="2377440" cy="173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7480"/>
                </a:solidFill>
                <a:latin typeface="Garamond"/>
              </a:rPr>
              <a:t>(copy this button to the main deck)</a:t>
            </a:r>
          </a:p>
        </p:txBody>
      </p:sp>
      <p:sp>
        <p:nvSpPr>
          <p:cNvPr id="133" name="Rounded Rectangle 132">
            <a:hlinkClick action="ppaction://hlinksldjump" r:id="rId3"/>
          </p:cNvPr>
          <p:cNvSpPr/>
          <p:nvPr/>
        </p:nvSpPr>
        <p:spPr>
          <a:xfrm>
            <a:off x="685800" y="6327648"/>
            <a:ext cx="2071116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Monthly samples</a:t>
            </a:r>
          </a:p>
        </p:txBody>
      </p:sp>
      <p:sp>
        <p:nvSpPr>
          <p:cNvPr id="134" name="Rounded Rectangle 133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96012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02D5E"/>
                </a:solidFill>
                <a:latin typeface="Garamond"/>
              </a:rPr>
              <a:t>The sample, month by month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554480" y="1252728"/>
            <a:ext cx="8046719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389120" y="129844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212529"/>
                </a:solidFill>
                <a:latin typeface="Garamond"/>
              </a:rPr>
              <a:t>2006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79" y="129844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212529"/>
                </a:solidFill>
                <a:latin typeface="Garamond"/>
              </a:rPr>
              <a:t>2015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298448"/>
            <a:ext cx="1417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212529"/>
                </a:solidFill>
                <a:latin typeface="Garamond"/>
              </a:rPr>
              <a:t>2024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54480" y="1554480"/>
            <a:ext cx="8046719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554480" y="1627631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January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27631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101,943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9" y="1627631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102,441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27631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78,769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888236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February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88823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101,479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9" y="188823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100,857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8823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78,988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14884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214884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100,527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214884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99,581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214884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75,982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40944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April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40944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101,714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9" y="240944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101,417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40944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78,906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26700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May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267004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101,426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79" y="267004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100,803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7004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79,350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293065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June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93065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101,494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293065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99,308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293065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78,480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3191256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July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19125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102,295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79" y="319125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99,233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319125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78,952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345186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August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345186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102,937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9" y="345186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99,894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45186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79,714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3712464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September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371246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102,209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79" y="371246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99,807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3712464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79,087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397306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October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397306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102,181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79" y="397306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100,437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0" y="3973068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79,058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54480" y="4233672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November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423367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102,110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79" y="423367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100,497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423367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78,982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54480" y="4494276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12529"/>
                </a:solidFill>
                <a:latin typeface="Garamond"/>
              </a:rPr>
              <a:t>December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9120" y="449427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101,517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79" y="449427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99,587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63840" y="449427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212529"/>
                </a:solidFill>
                <a:latin typeface="Garamond"/>
              </a:rPr>
              <a:t>78,629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554480" y="4773168"/>
            <a:ext cx="8046719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554480" y="4846320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02D5E"/>
                </a:solidFill>
                <a:latin typeface="Garamond"/>
              </a:rPr>
              <a:t>March supplement (ASEC)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0" y="484632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145,752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79" y="484632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144,279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63840" y="4846320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102D5E"/>
                </a:solidFill>
                <a:latin typeface="Garamond"/>
              </a:rPr>
              <a:t>109,367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554480" y="5120640"/>
            <a:ext cx="8046719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54480" y="5257800"/>
            <a:ext cx="8778240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480"/>
                </a:solidFill>
                <a:latin typeface="Garamond"/>
              </a:rPr>
              <a:t>Adults (18+) per file, basic monthly interviews. The March supplement contains the March basic respondents plus additional households, mostly from the February and April rotations (the SCHIP expansion) — about 1.45× a single March.</a:t>
            </a:r>
          </a:p>
        </p:txBody>
      </p:sp>
      <p:sp>
        <p:nvSpPr>
          <p:cNvPr id="63" name="Rounded Rectangle 62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