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GUION. En este gráfico veis cuatro líneas y unos puntos. Cada línea es una forma distinta de medir lo mismo, calculada sobre los mismos registros del CPS, de la menos estricta a la más precisa. Los puntos son la referencia nacional, el Teacher Follow-up Survey del NCES (8,0 en su última ola).</a:t>
            </a:r>
          </a:p>
          <a:p/>
          <a:p>
            <a:r>
              <a:t>ANY SIGHTING (~18): entra cualquiera visto enseñando en una sola entrevista del año 1. Más del doble de la referencia por tres causas: (1) dominante, a quién deja entrar un solo avistamiento — sustitutos y spells de un mes. Ojo con el dato: de los vistos enseñando en UNA sola entrevista del año 1, el 55% no aparece enseñando en NINGUNA de sus entrevistas del año 2 (no significa 'nunca más': el CPS solo los ve 16 meses). El gradiente: una vez 55%, dos 30%, tres 17%, cuatro 11%. (2) Un solo mes de código de ocupación es ruidoso. (3) La estacionalidad pesa poco: solo-verano es ~3% de estos leavers.</a:t>
            </a:r>
          </a:p>
          <a:p/>
          <a:p>
            <a:r>
              <a:t>MONTH PAIRS (~15): la unidad es el par mes-mes+12, no la persona; la misma persona puede contar como leaver en un par y stayer en otro. La caída de tres puntos hasta la siguiente línea es lo que se gana imponiendo un veredicto por persona.</a:t>
            </a:r>
          </a:p>
          <a:p/>
          <a:p>
            <a:r>
              <a:t>PANEL (~13): una persona, un veredicto (profesor si enseña en 2+ entrevistas del año 1; leaver solo si nunca enseña en el año 2, con 2+ entrevistas, una fuera del verano). Queda 4-5 puntos sobre el recall por dos razones: (1) concepto de año puntual — quien enseñó casi todo el año pero no en esas entrevistas cuenta como leaver; (2) retornos — uno de cada seis leavers del panel vuelve a enseñar en tres meses; la medida anual los absorbe.</a:t>
            </a:r>
          </a:p>
          <a:p/>
          <a:p>
            <a:r>
              <a:t>ANNUAL RECALL (8,6): empleo más largo del año anterior y ya no enseña en marzo. Comparte concepto con la encuesta oficial (empleo principal del año) y por eso aterriza junto a los puntos. Su riesgo propio: error de recuerdo.</a:t>
            </a:r>
          </a:p>
          <a:p/>
          <a:p>
            <a:r>
              <a:t>EJE: el recall empieza en 1997 (suplementos armonizados desde 1998); las líneas de panel empiezan en 2005 porque el identificador de hogar solo es único desde mayo de 2004.</a:t>
            </a:r>
          </a:p>
          <a:p/>
          <a:p>
            <a:r>
              <a:t>CIERRE: ninguna línea es 'la correcta'; cada construcción responde a una pregunta distinta. Si construyes tu variable de abandono desde una encuesta porque el registro administrativo no es accesible, debes saber qué elección tomas y qué le hace a tu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74519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050"/>
              </a:lnSpc>
              <a:spcAft>
                <a:spcPts val="600"/>
              </a:spcAft>
            </a:pPr>
            <a:r>
              <a:rPr sz="3000" b="0" i="0">
                <a:solidFill>
                  <a:srgbClr val="23373B"/>
                </a:solidFill>
                <a:latin typeface="Segoe UI"/>
              </a:rPr>
              <a:t>Measuring Teacher Attrition with Labour Force Survey Data</a:t>
            </a:r>
          </a:p>
          <a:p>
            <a:pPr algn="ctr">
              <a:lnSpc>
                <a:spcPts val="2565"/>
              </a:lnSpc>
              <a:spcAft>
                <a:spcPts val="0"/>
              </a:spcAft>
            </a:pPr>
            <a:r>
              <a:rPr sz="1900" b="0" i="0">
                <a:solidFill>
                  <a:srgbClr val="6B7480"/>
                </a:solidFill>
                <a:latin typeface="Segoe UI"/>
              </a:rPr>
              <a:t>The Case of the United States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7448" y="3456432"/>
            <a:ext cx="2743200" cy="32004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23373B"/>
                </a:solidFill>
                <a:latin typeface="Segoe UI"/>
              </a:rPr>
              <a:t>José Elías Durán Roa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5196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Segoe UI"/>
              </a:rPr>
              <a:t>Data Cluster · Directorate for Education and Skills</a:t>
            </a:r>
          </a:p>
        </p:txBody>
      </p:sp>
      <p:pic>
        <p:nvPicPr>
          <p:cNvPr id="6" name="Picture 5" descr="oec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7" y="5074920"/>
            <a:ext cx="1645920" cy="4183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Why this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379"/>
              </a:lnSpc>
              <a:spcAft>
                <a:spcPts val="300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We study the decision to leave teaching. That needs each person’s leave-or-stay outcome, plus covariates.</a:t>
            </a:r>
          </a:p>
          <a:p>
            <a:pPr algn="l">
              <a:lnSpc>
                <a:spcPts val="2379"/>
              </a:lnSpc>
              <a:spcAft>
                <a:spcPts val="300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Administrative records count best — but access is hard, coverage is partial, covariates are few.</a:t>
            </a:r>
          </a:p>
          <a:p>
            <a:pPr algn="l">
              <a:lnSpc>
                <a:spcPts val="2379"/>
              </a:lnSpc>
              <a:spcAft>
                <a:spcPts val="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So we build the outcome from a household survey. This talk is about doing that carefully.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1.  A user’s guide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to building a leaving rate from a survey: each choice, each error, each effect on the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2.  An implementation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on 28 years of the CPS, checked against the NCES reference.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3.  The substance: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who leaves, and what correlates with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01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290"/>
              </a:lnSpc>
              <a:spcAft>
                <a:spcPts val="0"/>
              </a:spcAft>
            </a:pPr>
            <a:r>
              <a:rPr sz="5400" b="1" i="0">
                <a:solidFill>
                  <a:srgbClr val="EB811B"/>
                </a:solidFill>
                <a:latin typeface="Segoe U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0332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240"/>
              </a:lnSpc>
              <a:spcAft>
                <a:spcPts val="0"/>
              </a:spcAft>
            </a:pPr>
            <a:r>
              <a:rPr sz="2400" b="0" i="0">
                <a:solidFill>
                  <a:srgbClr val="FAFAFA"/>
                </a:solidFill>
                <a:latin typeface="Segoe UI"/>
              </a:rPr>
              <a:t>The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Where do the official numbers come from?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379"/>
              </a:lnSpc>
              <a:spcAft>
                <a:spcPts val="300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National reference: the NCES Teacher Follow-up Survey. Itself a survey. Eight waves since 1988.</a:t>
            </a:r>
          </a:p>
          <a:p>
            <a:pPr algn="l">
              <a:lnSpc>
                <a:spcPts val="2379"/>
              </a:lnSpc>
              <a:spcAft>
                <a:spcPts val="300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Administrative data: state by state, public sector, and they measure system exit, not profession exit.</a:t>
            </a:r>
          </a:p>
          <a:p>
            <a:pPr algn="l">
              <a:lnSpc>
                <a:spcPts val="2379"/>
              </a:lnSpc>
              <a:spcAft>
                <a:spcPts val="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No national administrative count exists.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The CPS replicates the official picture, every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298448"/>
            <a:ext cx="10543032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297680" y="1389888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CPS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38988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NTPS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38988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Difference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773936"/>
            <a:ext cx="10543032" cy="0"/>
          </a:xfrm>
          <a:prstGeom prst="line">
            <a:avLst/>
          </a:prstGeom>
          <a:ln w="9525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188366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Measurement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883664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EB811B"/>
                </a:solidFill>
                <a:latin typeface="Segoe UI"/>
              </a:rPr>
              <a:t>every year, 1997–2024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1883664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23373B"/>
                </a:solidFill>
                <a:latin typeface="Segoe UI"/>
              </a:rPr>
              <a:t>occasional waves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286000"/>
            <a:ext cx="10543032" cy="0"/>
          </a:xfrm>
          <a:prstGeom prst="line">
            <a:avLst/>
          </a:prstGeom>
          <a:ln w="9525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3591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0"/>
              </a:spcAft>
            </a:pPr>
            <a:r>
              <a:rPr sz="1150" b="0" i="1">
                <a:solidFill>
                  <a:srgbClr val="6B7480"/>
                </a:solidFill>
                <a:latin typeface="Segoe UI"/>
              </a:rPr>
              <a:t>Example wave: 2020–21, the latest NTPS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Female (%)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706624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75.5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706624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76.8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2706624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−1.3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90672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Master’s degree or higher (%)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09067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57.0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09067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61.0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09067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−4.0 ***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47472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Average age (years)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4747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44.0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4747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42.9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34747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+1.1 ***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2960" y="3877056"/>
            <a:ext cx="10543032" cy="0"/>
          </a:xfrm>
          <a:prstGeom prst="line">
            <a:avLst/>
          </a:prstGeom>
          <a:ln w="9525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22960" y="3968496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Teachers observed in the wave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968496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3,855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96849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23373B"/>
                </a:solidFill>
                <a:latin typeface="Segoe UI"/>
              </a:rPr>
              <a:t>39,633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4352544"/>
            <a:ext cx="10543032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4535424"/>
            <a:ext cx="105430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0"/>
              </a:spcAft>
            </a:pPr>
            <a:r>
              <a:rPr sz="1150" b="0" i="1">
                <a:solidFill>
                  <a:srgbClr val="6B7480"/>
                </a:solidFill>
                <a:latin typeface="Segoe UI"/>
              </a:rPr>
              <a:t>Public school teachers, weighted. Stars test the CPS mean against the NTPS estimate: *** p&lt;0.001. Sources: NCES 2022-113, Digest 209.10, NCES 2024-024.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Full sample:  </a:t>
            </a:r>
            <a:r>
              <a:rPr sz="1400" b="1" i="0">
                <a:solidFill>
                  <a:srgbClr val="23373B"/>
                </a:solidFill>
                <a:latin typeface="Segoe UI"/>
              </a:rPr>
              <a:t>5.0 million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 records,  </a:t>
            </a:r>
            <a:r>
              <a:rPr sz="1400" b="1" i="0">
                <a:solidFill>
                  <a:srgbClr val="23373B"/>
                </a:solidFill>
                <a:latin typeface="Segoe UI"/>
              </a:rPr>
              <a:t>104,545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 teacher observations,  </a:t>
            </a:r>
            <a:r>
              <a:rPr sz="1400" b="1" i="0">
                <a:solidFill>
                  <a:srgbClr val="23373B"/>
                </a:solidFill>
                <a:latin typeface="Segoe UI"/>
              </a:rPr>
              <a:t>48,842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 teachers in the linked panel.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interviewed 4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14884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55"/>
              </a:lnSpc>
              <a:spcAft>
                <a:spcPts val="0"/>
              </a:spcAft>
            </a:pPr>
            <a:r>
              <a:rPr sz="1300" b="0" i="1">
                <a:solidFill>
                  <a:srgbClr val="6B7480"/>
                </a:solidFill>
                <a:latin typeface="Segoe UI"/>
              </a:rPr>
              <a:t>8 months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488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7B2530"/>
                </a:solidFill>
                <a:latin typeface="Segoe UI"/>
              </a:rPr>
              <a:t>interviewed 4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6032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481899" y="256032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0839" y="256032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9778" y="256032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8718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7657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76597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35536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4476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53415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12354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294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30234" y="256032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89173" y="256032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48113" y="256032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07052" y="256032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18211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Segoe UI"/>
              </a:rPr>
              <a:t>Mar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99778" y="318211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Segoe UI"/>
              </a:rPr>
              <a:t>Jun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0234" y="318211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Segoe UI"/>
              </a:rPr>
              <a:t>Mar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07052" y="318211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Segoe UI"/>
              </a:rPr>
              <a:t>Jun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493008"/>
            <a:ext cx="26357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Segoe UI"/>
              </a:rPr>
              <a:t>year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0234" y="3493008"/>
            <a:ext cx="26357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Segoe UI"/>
              </a:rPr>
              <a:t>year 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52429" y="4069080"/>
            <a:ext cx="7907274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371600" y="422452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23373B"/>
                </a:solidFill>
                <a:latin typeface="Segoe UI"/>
              </a:rPr>
              <a:t>the same interview, twelve months later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8</a:t>
            </a:r>
          </a:p>
        </p:txBody>
      </p:sp>
      <p:pic>
        <p:nvPicPr>
          <p:cNvPr id="3" name="Picture 2" descr="codes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8" y="182880"/>
            <a:ext cx="11213835" cy="6309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01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290"/>
              </a:lnSpc>
              <a:spcAft>
                <a:spcPts val="0"/>
              </a:spcAft>
            </a:pPr>
            <a:r>
              <a:rPr sz="5400" b="1" i="0">
                <a:solidFill>
                  <a:srgbClr val="EB811B"/>
                </a:solidFill>
                <a:latin typeface="Segoe U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0332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240"/>
              </a:lnSpc>
              <a:spcAft>
                <a:spcPts val="0"/>
              </a:spcAft>
            </a:pPr>
            <a:r>
              <a:rPr sz="2400" b="0" i="0">
                <a:solidFill>
                  <a:srgbClr val="FAFAFA"/>
                </a:solidFill>
                <a:latin typeface="Segoe UI"/>
              </a:rPr>
              <a:t>Measuring the leaving 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Two ways to measure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EB811B"/>
                </a:solidFill>
                <a:latin typeface="Segoe UI"/>
              </a:rPr>
              <a:t>Follow the person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0"/>
              </a:spcAft>
            </a:pPr>
            <a:r>
              <a:rPr sz="1450" b="0" i="0">
                <a:solidFill>
                  <a:srgbClr val="23373B"/>
                </a:solidFill>
                <a:latin typeface="Segoe UI"/>
              </a:rPr>
              <a:t>No person identifier in the CPS. We link 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600"/>
              </a:spcAft>
            </a:pPr>
            <a:r>
              <a:rPr sz="1450" b="0" i="0">
                <a:solidFill>
                  <a:srgbClr val="23373B"/>
                </a:solidFill>
                <a:latin typeface="Segoe UI"/>
              </a:rPr>
              <a:t>household identifier</a:t>
            </a:r>
          </a:p>
          <a:p>
            <a:pPr algn="l">
              <a:lnSpc>
                <a:spcPts val="1957"/>
              </a:lnSpc>
              <a:spcAft>
                <a:spcPts val="600"/>
              </a:spcAft>
            </a:pPr>
            <a:r>
              <a:rPr sz="1450" b="0" i="0">
                <a:solidFill>
                  <a:srgbClr val="23373B"/>
                </a:solidFill>
                <a:latin typeface="Segoe UI"/>
              </a:rPr>
              <a:t>dwelling identifier</a:t>
            </a:r>
          </a:p>
          <a:p>
            <a:pPr algn="l">
              <a:lnSpc>
                <a:spcPts val="1957"/>
              </a:lnSpc>
              <a:spcAft>
                <a:spcPts val="1000"/>
              </a:spcAft>
            </a:pPr>
            <a:r>
              <a:rPr sz="1450" b="0" i="0">
                <a:solidFill>
                  <a:srgbClr val="23373B"/>
                </a:solidFill>
                <a:latin typeface="Segoe UI"/>
              </a:rPr>
              <a:t>person line number</a:t>
            </a:r>
          </a:p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Segoe UI"/>
              </a:rPr>
              <a:t>checked: sex, race, age +0–2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EB811B"/>
                </a:solidFill>
                <a:latin typeface="Segoe UI"/>
              </a:rPr>
              <a:t>Ask about last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7"/>
              </a:lnSpc>
              <a:spcAft>
                <a:spcPts val="1200"/>
              </a:spcAft>
            </a:pPr>
            <a:r>
              <a:rPr sz="1450" b="0" i="0">
                <a:solidFill>
                  <a:srgbClr val="23373B"/>
                </a:solidFill>
                <a:latin typeface="Segoe UI"/>
              </a:rPr>
              <a:t>Each March, the supplement asks about the previous calendar year: longest job, weeks, earnings.</a:t>
            </a:r>
          </a:p>
          <a:p>
            <a:pPr algn="l">
              <a:lnSpc>
                <a:spcPts val="1957"/>
              </a:lnSpc>
              <a:spcAft>
                <a:spcPts val="1200"/>
              </a:spcAft>
            </a:pPr>
            <a:r>
              <a:rPr sz="1450" b="0" i="0">
                <a:solidFill>
                  <a:srgbClr val="23373B"/>
                </a:solidFill>
                <a:latin typeface="Segoe UI"/>
              </a:rPr>
              <a:t>Taught last year, not teaching now ⇒ left.</a:t>
            </a:r>
          </a:p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Segoe UI"/>
              </a:rPr>
              <a:t>The measure used in the literature.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Four definitions, one language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Four interviews in year 1, four in year 2, twelve months apart.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83080"/>
            <a:ext cx="10607040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566160" y="187451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23373B"/>
                </a:solidFill>
                <a:latin typeface="Segoe UI"/>
              </a:rPr>
              <a:t>A teacher: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874519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23373B"/>
                </a:solidFill>
                <a:latin typeface="Segoe UI"/>
              </a:rPr>
              <a:t>A leaver: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267712"/>
            <a:ext cx="10607040" cy="0"/>
          </a:xfrm>
          <a:prstGeom prst="line">
            <a:avLst/>
          </a:prstGeom>
          <a:ln w="9525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414016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Any sighting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14016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seen teaching in ≥ 1 of the 4 year-1 interviews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414016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seen teaching in none of the 4 year-2 interviews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2724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Month pairs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12724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each teaching interview counts on its 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127248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not seen teaching twelve months later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40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EB811B"/>
                </a:solidFill>
                <a:latin typeface="Segoe UI"/>
              </a:rPr>
              <a:t>Panel (benchmark)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84048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seen teaching in ≥ 2 of the 4 year-1 interviews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84048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seen teaching in none of the 4 year-2 interviews 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553712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Annual recall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553712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teaching was the longest job of last year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553712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not teaching at the March interview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22960" y="5285232"/>
            <a:ext cx="10607040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" y="5449824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1">
                <a:solidFill>
                  <a:srgbClr val="6B7480"/>
                </a:solidFill>
                <a:latin typeface="Segoe UI"/>
              </a:rPr>
              <a:t>* At least two year-2 interviews, one outside the summer.  Annual recall is the only one not built by counting interviews.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One dataset, one rate per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12</a:t>
            </a:r>
          </a:p>
        </p:txBody>
      </p:sp>
      <p:pic>
        <p:nvPicPr>
          <p:cNvPr id="5" name="Picture 4" descr="v_all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52" y="1097280"/>
            <a:ext cx="8738616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The definition moves the rate by a factor of four.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270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Fix the definition before comparing studies.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9224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0"/>
              </a:spcAft>
            </a:pPr>
            <a:r>
              <a:rPr sz="1150" b="0" i="1">
                <a:solidFill>
                  <a:srgbClr val="6B7480"/>
                </a:solidFill>
                <a:latin typeface="Segoe UI"/>
              </a:rPr>
              <a:t>Recall: ≈3,700 teachers per year. Panel: ≈2,500. Dots: NCES follow-up.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Why the lines differ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EB811B"/>
                </a:solidFill>
                <a:latin typeface="Segoe UI"/>
              </a:rPr>
              <a:t>18.2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155448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75"/>
              </a:lnSpc>
              <a:spcAft>
                <a:spcPts val="0"/>
              </a:spcAft>
            </a:pPr>
            <a:r>
              <a:rPr sz="1500" b="1" i="0">
                <a:solidFill>
                  <a:srgbClr val="23373B"/>
                </a:solidFill>
                <a:latin typeface="Segoe UI"/>
              </a:rPr>
              <a:t>Any sighting.  </a:t>
            </a:r>
            <a:r>
              <a:rPr sz="1500" b="0" i="0">
                <a:solidFill>
                  <a:srgbClr val="23373B"/>
                </a:solidFill>
                <a:latin typeface="Segoe UI"/>
              </a:rPr>
              <a:t>Lets in substitutes and one-month spells.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9572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EB811B"/>
                </a:solidFill>
                <a:latin typeface="Segoe UI"/>
              </a:rPr>
              <a:t>15.4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395728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75"/>
              </a:lnSpc>
              <a:spcAft>
                <a:spcPts val="0"/>
              </a:spcAft>
            </a:pPr>
            <a:r>
              <a:rPr sz="1500" b="1" i="0">
                <a:solidFill>
                  <a:srgbClr val="23373B"/>
                </a:solidFill>
                <a:latin typeface="Segoe UI"/>
              </a:rPr>
              <a:t>Month pairs.  </a:t>
            </a:r>
            <a:r>
              <a:rPr sz="1500" b="0" i="0">
                <a:solidFill>
                  <a:srgbClr val="23373B"/>
                </a:solidFill>
                <a:latin typeface="Segoe UI"/>
              </a:rPr>
              <a:t>Counts the same person several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3697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EB811B"/>
                </a:solidFill>
                <a:latin typeface="Segoe UI"/>
              </a:rPr>
              <a:t>13.0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236976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75"/>
              </a:lnSpc>
              <a:spcAft>
                <a:spcPts val="0"/>
              </a:spcAft>
            </a:pPr>
            <a:r>
              <a:rPr sz="1500" b="1" i="0">
                <a:solidFill>
                  <a:srgbClr val="23373B"/>
                </a:solidFill>
                <a:latin typeface="Segoe UI"/>
              </a:rPr>
              <a:t>Panel.  </a:t>
            </a:r>
            <a:r>
              <a:rPr sz="1500" b="0" i="0">
                <a:solidFill>
                  <a:srgbClr val="23373B"/>
                </a:solidFill>
                <a:latin typeface="Segoe UI"/>
              </a:rPr>
              <a:t>One verdict per person — but one leaver in six is back within three months.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78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EB811B"/>
                </a:solidFill>
                <a:latin typeface="Segoe UI"/>
              </a:rPr>
              <a:t>8.6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078224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75"/>
              </a:lnSpc>
              <a:spcAft>
                <a:spcPts val="0"/>
              </a:spcAft>
            </a:pPr>
            <a:r>
              <a:rPr sz="1500" b="1" i="0">
                <a:solidFill>
                  <a:srgbClr val="23373B"/>
                </a:solidFill>
                <a:latin typeface="Segoe UI"/>
              </a:rPr>
              <a:t>Annual recall.  </a:t>
            </a:r>
            <a:r>
              <a:rPr sz="1500" b="0" i="0">
                <a:solidFill>
                  <a:srgbClr val="23373B"/>
                </a:solidFill>
                <a:latin typeface="Segoe UI"/>
              </a:rPr>
              <a:t>The official concept: the year’s main job.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1947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EB811B"/>
                </a:solidFill>
                <a:latin typeface="Segoe UI"/>
              </a:rPr>
              <a:t>8.0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919472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75"/>
              </a:lnSpc>
              <a:spcAft>
                <a:spcPts val="0"/>
              </a:spcAft>
            </a:pPr>
            <a:r>
              <a:rPr sz="1500" b="1" i="0">
                <a:solidFill>
                  <a:srgbClr val="23373B"/>
                </a:solidFill>
                <a:latin typeface="Segoe UI"/>
              </a:rPr>
              <a:t>NCES follow-up.  </a:t>
            </a:r>
            <a:r>
              <a:rPr sz="1500" b="0" i="0">
                <a:solidFill>
                  <a:srgbClr val="23373B"/>
                </a:solidFill>
                <a:latin typeface="Segoe UI"/>
              </a:rPr>
              <a:t>The reference.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1">
                <a:solidFill>
                  <a:srgbClr val="6B7480"/>
                </a:solidFill>
                <a:latin typeface="Segoe UI"/>
              </a:rPr>
              <a:t>The choice, not the data, drives the spread.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Seen once, gone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14</a:t>
            </a:r>
          </a:p>
        </p:txBody>
      </p:sp>
      <p:pic>
        <p:nvPicPr>
          <p:cNvPr id="5" name="Picture 4" descr="sighting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9" y="1051560"/>
            <a:ext cx="8503920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5321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Seen teaching once: 54 percent not seen teaching a year later. Seen four times: 10.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Caveat.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Linkage follows addresses: movers drop out, and movers leave more.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01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290"/>
              </a:lnSpc>
              <a:spcAft>
                <a:spcPts val="0"/>
              </a:spcAft>
            </a:pPr>
            <a:r>
              <a:rPr sz="5400" b="1" i="0">
                <a:solidFill>
                  <a:srgbClr val="EB811B"/>
                </a:solidFill>
                <a:latin typeface="Segoe U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0332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240"/>
              </a:lnSpc>
              <a:spcAft>
                <a:spcPts val="0"/>
              </a:spcAft>
            </a:pPr>
            <a:r>
              <a:rPr sz="2400" b="0" i="0">
                <a:solidFill>
                  <a:srgbClr val="FAFAFA"/>
                </a:solidFill>
                <a:latin typeface="Segoe UI"/>
              </a:rPr>
              <a:t>What the data show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Why teachers leave: what the CPS sees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463040"/>
            <a:ext cx="10543032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05840" y="157276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23373B"/>
                </a:solidFill>
                <a:latin typeface="Segoe UI"/>
              </a:rPr>
              <a:t>Reasons in the literature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7276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23373B"/>
                </a:solidFill>
                <a:latin typeface="Segoe UI"/>
              </a:rPr>
              <a:t>In the CPS?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975104"/>
            <a:ext cx="10543032" cy="0"/>
          </a:xfrm>
          <a:prstGeom prst="line">
            <a:avLst/>
          </a:prstGeom>
          <a:ln w="9525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05840" y="2121408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Working 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12140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Segoe UI"/>
              </a:rPr>
              <a:t>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96896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Organizational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59689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Segoe UI"/>
              </a:rPr>
              <a:t>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072384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Autonomy and intrinsic motives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07238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Segoe UI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Financial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5478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EB811B"/>
                </a:solidFill>
                <a:latin typeface="Segoe UI"/>
              </a:rPr>
              <a:t>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0233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Personal life-cycle motives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0233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EB811B"/>
                </a:solidFill>
                <a:latin typeface="Segoe UI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4517136"/>
            <a:ext cx="10543032" cy="0"/>
          </a:xfrm>
          <a:prstGeom prst="line">
            <a:avLst/>
          </a:prstGeom>
          <a:ln w="9525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05840" y="4626864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0" i="0">
                <a:solidFill>
                  <a:srgbClr val="23373B"/>
                </a:solidFill>
                <a:latin typeface="Segoe UI"/>
              </a:rPr>
              <a:t>Sociodemographics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6268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EB811B"/>
                </a:solidFill>
                <a:latin typeface="Segoe UI"/>
              </a:rPr>
              <a:t>yes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22960" y="5065776"/>
            <a:ext cx="10543032" cy="0"/>
          </a:xfrm>
          <a:prstGeom prst="line">
            <a:avLst/>
          </a:prstGeom>
          <a:ln w="17780">
            <a:solidFill>
              <a:srgbClr val="2337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Five messages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10"/>
              </a:lnSpc>
              <a:spcAft>
                <a:spcPts val="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1.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Economics beats demographics.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10"/>
              </a:lnSpc>
              <a:spcAft>
                <a:spcPts val="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2.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Exits concentrate among part-time, part-year, low-paid teachers.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10"/>
              </a:lnSpc>
              <a:spcAft>
                <a:spcPts val="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3.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Those exits leave employment — not for better jobs.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976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10"/>
              </a:lnSpc>
              <a:spcAft>
                <a:spcPts val="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4.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A birth is the largest single trigger.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10"/>
              </a:lnSpc>
              <a:spcAft>
                <a:spcPts val="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5.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Pensions retain, and states differ widely.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Leaving teaching, 1997–2024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18</a:t>
            </a:r>
          </a:p>
        </p:txBody>
      </p:sp>
      <p:pic>
        <p:nvPicPr>
          <p:cNvPr id="5" name="Picture 4" descr="g2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99" y="1143000"/>
            <a:ext cx="896112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Flat around 8.6 since 1997.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270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A steady cost, not an emergency.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Teachers next to comparable professions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19</a:t>
            </a:r>
          </a:p>
        </p:txBody>
      </p:sp>
      <p:pic>
        <p:nvPicPr>
          <p:cNvPr id="5" name="Picture 4" descr="leave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99" y="1143000"/>
            <a:ext cx="896112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Teachers are no outlier.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270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Benchmarks temper alarm.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Destinations, 2024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20</a:t>
            </a:r>
          </a:p>
        </p:txBody>
      </p:sp>
      <p:pic>
        <p:nvPicPr>
          <p:cNvPr id="5" name="Picture 4" descr="g3_flow100_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305" y="1143000"/>
            <a:ext cx="9360908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A third find another job; most leave employment.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270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The rival is retirement and care, not other employers.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Who leaves the labor force before 55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21</a:t>
            </a:r>
          </a:p>
        </p:txBody>
      </p:sp>
      <p:pic>
        <p:nvPicPr>
          <p:cNvPr id="5" name="Picture 4" descr="yellow_flow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305" y="1143000"/>
            <a:ext cx="9360908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Half of the early exits are mothers.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270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Childcare policy is retention policy.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By age and route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22</a:t>
            </a:r>
          </a:p>
        </p:txBody>
      </p:sp>
      <p:pic>
        <p:nvPicPr>
          <p:cNvPr id="5" name="Picture 4" descr="g4_routes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547" y="1143000"/>
            <a:ext cx="874242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U-shaped in age; non-employment at both ends.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270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Different exits, different instruments.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The econometric specification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23</a:t>
            </a:r>
          </a:p>
        </p:txBody>
      </p:sp>
      <p:pic>
        <p:nvPicPr>
          <p:cNvPr id="5" name="Picture 4" descr="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44952"/>
            <a:ext cx="9966960" cy="13564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4069080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00"/>
              </a:lnSpc>
              <a:spcAft>
                <a:spcPts val="1400"/>
              </a:spcAft>
            </a:pPr>
            <a:r>
              <a:rPr sz="1500" b="1" i="0">
                <a:solidFill>
                  <a:srgbClr val="EB811B"/>
                </a:solidFill>
                <a:latin typeface="Segoe UI"/>
              </a:rPr>
              <a:t>▸   </a:t>
            </a:r>
            <a:r>
              <a:rPr sz="1500" b="0" i="0">
                <a:solidFill>
                  <a:srgbClr val="23373B"/>
                </a:solidFill>
                <a:latin typeface="Segoe UI"/>
              </a:rPr>
              <a:t>Probit, 2015–2024, year effects, n = 28,900. AMEs in points.</a:t>
            </a:r>
          </a:p>
          <a:p>
            <a:pPr algn="l">
              <a:lnSpc>
                <a:spcPts val="2100"/>
              </a:lnSpc>
              <a:spcAft>
                <a:spcPts val="0"/>
              </a:spcAft>
            </a:pPr>
            <a:r>
              <a:rPr sz="1500" b="1" i="0">
                <a:solidFill>
                  <a:srgbClr val="EB811B"/>
                </a:solidFill>
                <a:latin typeface="Segoe UI"/>
              </a:rPr>
              <a:t>▸   </a:t>
            </a:r>
            <a:r>
              <a:rPr sz="1500" b="0" i="0">
                <a:solidFill>
                  <a:srgbClr val="23373B"/>
                </a:solidFill>
                <a:latin typeface="Segoe UI"/>
              </a:rPr>
              <a:t>Robust: logit, LPM, state and year FE, full window, occupation-pair definition.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What correlates with leaving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24</a:t>
            </a:r>
          </a:p>
        </p:txBody>
      </p:sp>
      <p:pic>
        <p:nvPicPr>
          <p:cNvPr id="5" name="Picture 4" descr="ame_semi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252" y="1143000"/>
            <a:ext cx="812101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Attachment and compensation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270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The levers are contractual.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A new baby, by profession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25</a:t>
            </a:r>
          </a:p>
        </p:txBody>
      </p:sp>
      <p:pic>
        <p:nvPicPr>
          <p:cNvPr id="5" name="Picture 4" descr="g8_newba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143000"/>
            <a:ext cx="7739149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A birth adds 5.9 points — the most of any profession.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270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Parental leave targets the largest trigger.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Across states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26</a:t>
            </a:r>
          </a:p>
        </p:txBody>
      </p:sp>
      <p:pic>
        <p:nvPicPr>
          <p:cNvPr id="5" name="Picture 4" descr="states_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109" y="1143000"/>
            <a:ext cx="104013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From 4 to 13 percent across states.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270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State institutions are first-order.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Relative pay since 1997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27</a:t>
            </a:r>
          </a:p>
        </p:txBody>
      </p:sp>
      <p:pic>
        <p:nvPicPr>
          <p:cNvPr id="5" name="Picture 4" descr="msg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89" y="1143000"/>
            <a:ext cx="10867741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Teacher pay fell 4 percent; other graduates gained.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270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A stock, not a shock.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By position in the pay distribution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28</a:t>
            </a:r>
          </a:p>
        </p:txBody>
      </p:sp>
      <p:pic>
        <p:nvPicPr>
          <p:cNvPr id="5" name="Picture 4" descr="pay3_decil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99" y="1143000"/>
            <a:ext cx="896112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Exits pile up in the lowest deciles.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270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Stabilize the bottom.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Pension coverage, across states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29</a:t>
            </a:r>
          </a:p>
        </p:txBody>
      </p:sp>
      <p:pic>
        <p:nvPicPr>
          <p:cNvPr id="5" name="Picture 4" descr="pension_scatter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603" y="1143000"/>
            <a:ext cx="7660312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EB811B"/>
                </a:solidFill>
                <a:latin typeface="Segoe UI"/>
              </a:rPr>
              <a:t>Message.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More coverage, fewer leavers.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270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23373B"/>
                </a:solidFill>
                <a:latin typeface="Segoe UI"/>
              </a:rPr>
              <a:t>Policy.  </a:t>
            </a:r>
            <a:r>
              <a:rPr sz="1400" b="0" i="0">
                <a:solidFill>
                  <a:srgbClr val="23373B"/>
                </a:solidFill>
                <a:latin typeface="Segoe UI"/>
              </a:rPr>
              <a:t>Pension design retains.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0">
                <a:solidFill>
                  <a:srgbClr val="23373B"/>
                </a:solidFill>
                <a:latin typeface="Segoe UI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11155680" cy="25603"/>
          </a:xfrm>
          <a:prstGeom prst="rect">
            <a:avLst/>
          </a:prstGeom>
          <a:solidFill>
            <a:srgbClr val="EB8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Segoe U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379"/>
              </a:lnSpc>
              <a:spcAft>
                <a:spcPts val="300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A labour force survey measures attrition yearly — and matches the official picture.</a:t>
            </a:r>
          </a:p>
          <a:p>
            <a:pPr algn="l">
              <a:lnSpc>
                <a:spcPts val="2379"/>
              </a:lnSpc>
              <a:spcAft>
                <a:spcPts val="300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The definition is first-order: 5 to 19 percent from the same records.</a:t>
            </a:r>
          </a:p>
          <a:p>
            <a:pPr algn="l">
              <a:lnSpc>
                <a:spcPts val="2379"/>
              </a:lnSpc>
              <a:spcAft>
                <a:spcPts val="0"/>
              </a:spcAft>
            </a:pPr>
            <a:r>
              <a:rPr sz="1700" b="1" i="0">
                <a:solidFill>
                  <a:srgbClr val="EB811B"/>
                </a:solidFill>
                <a:latin typeface="Segoe UI"/>
              </a:rPr>
              <a:t>▸   </a:t>
            </a:r>
            <a:r>
              <a:rPr sz="1700" b="0" i="0">
                <a:solidFill>
                  <a:srgbClr val="23373B"/>
                </a:solidFill>
                <a:latin typeface="Segoe UI"/>
              </a:rPr>
              <a:t>Attachment, pay, pensions and births drive exits. And the design travels to any LFS.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