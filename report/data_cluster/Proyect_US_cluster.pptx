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417320"/>
            <a:ext cx="10789920" cy="82296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build one of the longest continuous measures of teacher attrition in the United States, twenty-eight consecutive years (1998–2025).</a:t>
            </a:r>
          </a:p>
        </p:txBody>
      </p:sp>
      <p:sp>
        <p:nvSpPr>
          <p:cNvPr id="5" name="TextBox 4"/>
          <p:cNvSpPr txBox="1"/>
          <p:nvPr/>
        </p:nvSpPr>
        <p:spPr>
          <a:xfrm>
            <a:off x="822960" y="2743200"/>
            <a:ext cx="10789920" cy="5120640"/>
          </a:xfrm>
          <a:prstGeom prst="rect">
            <a:avLst/>
          </a:prstGeom>
          <a:noFill/>
        </p:spPr>
        <p:txBody>
          <a:bodyPr wrap="square" lIns="0" rIns="0" tIns="0" bIns="0">
            <a:spAutoFit/>
          </a:bodyPr>
          <a:lstStyle/>
          <a:p>
            <a:pPr algn="l">
              <a:lnSpc>
                <a:spcPts val="2560"/>
              </a:lnSpc>
              <a:spcAft>
                <a:spcPts val="3000"/>
              </a:spcAft>
            </a:pPr>
            <a:r>
              <a:rPr sz="2000" b="1" i="0">
                <a:solidFill>
                  <a:srgbClr val="2D6CB5"/>
                </a:solidFill>
                <a:latin typeface="Garamond"/>
              </a:rPr>
              <a:t>▪  </a:t>
            </a:r>
            <a:r>
              <a:rPr sz="2000" b="1" i="0">
                <a:solidFill>
                  <a:srgbClr val="102D5E"/>
                </a:solidFill>
                <a:latin typeface="Garamond"/>
              </a:rPr>
              <a:t>One source.  </a:t>
            </a:r>
            <a:r>
              <a:rPr sz="2000" b="0" i="0">
                <a:solidFill>
                  <a:srgbClr val="212529"/>
                </a:solidFill>
                <a:latin typeface="Garamond"/>
              </a:rPr>
              <a:t>A single instrument and a single definition over the whole period.</a:t>
            </a:r>
          </a:p>
          <a:p>
            <a:pPr algn="l">
              <a:lnSpc>
                <a:spcPts val="2560"/>
              </a:lnSpc>
              <a:spcAft>
                <a:spcPts val="3000"/>
              </a:spcAft>
            </a:pPr>
            <a:r>
              <a:rPr sz="2000" b="1" i="0">
                <a:solidFill>
                  <a:srgbClr val="2D6CB5"/>
                </a:solidFill>
                <a:latin typeface="Garamond"/>
              </a:rPr>
              <a:t>▪  </a:t>
            </a:r>
            <a:r>
              <a:rPr sz="2000" b="1" i="0">
                <a:solidFill>
                  <a:srgbClr val="102D5E"/>
                </a:solidFill>
                <a:latin typeface="Garamond"/>
              </a:rPr>
              <a:t>No gaps.  </a:t>
            </a:r>
            <a:r>
              <a:rPr sz="2000" b="0" i="0">
                <a:solidFill>
                  <a:srgbClr val="212529"/>
                </a:solidFill>
                <a:latin typeface="Garamond"/>
              </a:rPr>
              <a:t>Twenty-eight consecutive years against a quadrennial official benchmark.</a:t>
            </a:r>
          </a:p>
          <a:p>
            <a:pPr algn="l">
              <a:lnSpc>
                <a:spcPts val="2560"/>
              </a:lnSpc>
              <a:spcAft>
                <a:spcPts val="0"/>
              </a:spcAft>
            </a:pPr>
            <a:r>
              <a:rPr sz="2000" b="1" i="0">
                <a:solidFill>
                  <a:srgbClr val="2D6CB5"/>
                </a:solidFill>
                <a:latin typeface="Garamond"/>
              </a:rPr>
              <a:t>▪  </a:t>
            </a:r>
            <a:r>
              <a:rPr sz="2000" b="1" i="0">
                <a:solidFill>
                  <a:srgbClr val="102D5E"/>
                </a:solidFill>
                <a:latin typeface="Garamond"/>
              </a:rPr>
              <a:t>Beyond the rate.  </a:t>
            </a:r>
            <a:r>
              <a:rPr sz="2000" b="0" i="0">
                <a:solidFill>
                  <a:srgbClr val="212529"/>
                </a:solidFill>
                <a:latin typeface="Garamond"/>
              </a:rPr>
              <a:t>Who leaves, where they go, and what leaving pays.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In a normal month the CPS interviews about 50,000 households; in March the supplement adds some 20,000 more, interviewed in February and April — about 70,000 households in all.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Garamond"/>
              </a:rPr>
              <a:t>1.   </a:t>
            </a:r>
            <a:r>
              <a:rPr sz="1500" b="0" i="0">
                <a:solidFill>
                  <a:srgbClr val="212529"/>
                </a:solidFill>
                <a:latin typeface="Garamond"/>
              </a:rPr>
              <a:t>Individual matching errors: the sex–race–age check discards ~5% of links; a same-profile replacement slipping through is not measurable.</a:t>
            </a:r>
          </a:p>
          <a:p>
            <a:pPr algn="l">
              <a:lnSpc>
                <a:spcPts val="1920"/>
              </a:lnSpc>
              <a:spcAft>
                <a:spcPts val="1300"/>
              </a:spcAft>
            </a:pPr>
            <a:r>
              <a:rPr sz="1500" b="1" i="0">
                <a:solidFill>
                  <a:srgbClr val="2D6CB5"/>
                </a:solidFill>
                <a:latin typeface="Garamond"/>
              </a:rPr>
              <a:t>2.   </a:t>
            </a:r>
            <a:r>
              <a:rPr sz="1500" b="0" i="0">
                <a:solidFill>
                  <a:srgbClr val="212529"/>
                </a:solidFill>
                <a:latin typeface="Garamond"/>
              </a:rPr>
              <a:t>Internal migration: ~8% a year — the address responds but the person has moved (the Census mover rate is 8%).</a:t>
            </a:r>
          </a:p>
          <a:p>
            <a:pPr algn="l">
              <a:lnSpc>
                <a:spcPts val="1920"/>
              </a:lnSpc>
              <a:spcAft>
                <a:spcPts val="1300"/>
              </a:spcAft>
            </a:pPr>
            <a:r>
              <a:rPr sz="1500" b="1" i="0">
                <a:solidFill>
                  <a:srgbClr val="2D6CB5"/>
                </a:solidFill>
                <a:latin typeface="Garamond"/>
              </a:rPr>
              <a:t>3.   </a:t>
            </a:r>
            <a:r>
              <a:rPr sz="1500" b="0" i="0">
                <a:solidFill>
                  <a:srgbClr val="212529"/>
                </a:solidFill>
                <a:latin typeface="Garamond"/>
              </a:rPr>
              <a:t>Normal survey attrition: ~10% a year — the address is due for re-interview but never responds again (7% in 2015, 12% in 2023).</a:t>
            </a:r>
          </a:p>
          <a:p>
            <a:pPr algn="l">
              <a:lnSpc>
                <a:spcPts val="1920"/>
              </a:lnSpc>
              <a:spcAft>
                <a:spcPts val="1300"/>
              </a:spcAft>
            </a:pPr>
            <a:r>
              <a:rPr sz="1500" b="1" i="0">
                <a:solidFill>
                  <a:srgbClr val="2D6CB5"/>
                </a:solidFill>
                <a:latin typeface="Garamond"/>
              </a:rPr>
              <a:t>4.   </a:t>
            </a:r>
            <a:r>
              <a:rPr sz="1500" b="0" i="0">
                <a:solidFill>
                  <a:srgbClr val="212529"/>
                </a:solidFill>
                <a:latin typeface="Garamond"/>
              </a:rPr>
              <a:t>Strong seasonality in teaching.</a:t>
            </a:r>
          </a:p>
          <a:p>
            <a:pPr algn="l">
              <a:lnSpc>
                <a:spcPts val="1920"/>
              </a:lnSpc>
              <a:spcAft>
                <a:spcPts val="0"/>
              </a:spcAft>
            </a:pPr>
            <a:r>
              <a:rPr sz="1500" b="1" i="0">
                <a:solidFill>
                  <a:srgbClr val="2D6CB5"/>
                </a:solidFill>
                <a:latin typeface="Garamond"/>
              </a:rPr>
              <a:t>5.   </a:t>
            </a:r>
            <a:r>
              <a:rPr sz="15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Using only March, we observe ~4,000 teachers a year, once each. Using all twelve months we would observe ~11,000 teachers, three times each — but the retrospective questions that define the leaving rate are only asked in March.</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are not being poached: 7 of every 10 leavers exit employment altogether — to retirement, home or unemployment. Only 3 in 10 trade teaching for another job.</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Put retention efforts where they can work: the first years of the career (mentoring, stable placements). Retirements can only be planned for, not prevented.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