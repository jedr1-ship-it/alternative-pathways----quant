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3.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8.xml"/><Relationship Id="rId3" Type="http://schemas.openxmlformats.org/officeDocument/2006/relationships/slide" Target="slide39.xml"/><Relationship Id="rId4" Type="http://schemas.openxmlformats.org/officeDocument/2006/relationships/slide" Target="slide3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0.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2.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 Id="rId7"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slide" Target="slide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104,545 of them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calendar year, including the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Identifying a teacher: the census occupation codes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cxnSp>
        <p:nvCxnSpPr>
          <p:cNvPr id="4" name="Connector 3"/>
          <p:cNvCxnSpPr/>
          <p:nvPr/>
        </p:nvCxnSpPr>
        <p:spPr>
          <a:xfrm>
            <a:off x="822960" y="1325880"/>
            <a:ext cx="1078992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435607"/>
            <a:ext cx="2194560" cy="475488"/>
          </a:xfrm>
          <a:prstGeom prst="rect">
            <a:avLst/>
          </a:prstGeom>
          <a:noFill/>
        </p:spPr>
        <p:txBody>
          <a:bodyPr wrap="square" lIns="0" rIns="0" tIns="0" bIns="0">
            <a:spAutoFit/>
          </a:bodyPr>
          <a:lstStyle/>
          <a:p>
            <a:pPr algn="ctr">
              <a:lnSpc>
                <a:spcPts val="2048"/>
              </a:lnSpc>
              <a:spcAft>
                <a:spcPts val="0"/>
              </a:spcAft>
            </a:pPr>
            <a:r>
              <a:rPr sz="1600" b="1" i="0">
                <a:solidFill>
                  <a:srgbClr val="212529"/>
                </a:solidFill>
                <a:latin typeface="Garamond"/>
              </a:rPr>
              <a:t>1990 codes</a:t>
            </a:r>
          </a:p>
        </p:txBody>
      </p:sp>
      <p:sp>
        <p:nvSpPr>
          <p:cNvPr id="6" name="TextBox 5"/>
          <p:cNvSpPr txBox="1"/>
          <p:nvPr/>
        </p:nvSpPr>
        <p:spPr>
          <a:xfrm>
            <a:off x="6949440" y="1435607"/>
            <a:ext cx="2377440" cy="475488"/>
          </a:xfrm>
          <a:prstGeom prst="rect">
            <a:avLst/>
          </a:prstGeom>
          <a:noFill/>
        </p:spPr>
        <p:txBody>
          <a:bodyPr wrap="square" lIns="0" rIns="0" tIns="0" bIns="0">
            <a:spAutoFit/>
          </a:bodyPr>
          <a:lstStyle/>
          <a:p>
            <a:pPr algn="ctr">
              <a:lnSpc>
                <a:spcPts val="2048"/>
              </a:lnSpc>
              <a:spcAft>
                <a:spcPts val="0"/>
              </a:spcAft>
            </a:pPr>
            <a:r>
              <a:rPr sz="1600" b="1" i="0">
                <a:solidFill>
                  <a:srgbClr val="212529"/>
                </a:solidFill>
                <a:latin typeface="Garamond"/>
              </a:rPr>
              <a:t>2002/2010 codes</a:t>
            </a:r>
          </a:p>
        </p:txBody>
      </p:sp>
      <p:sp>
        <p:nvSpPr>
          <p:cNvPr id="7" name="TextBox 6"/>
          <p:cNvSpPr txBox="1"/>
          <p:nvPr/>
        </p:nvSpPr>
        <p:spPr>
          <a:xfrm>
            <a:off x="9418320" y="1435607"/>
            <a:ext cx="2194560" cy="475488"/>
          </a:xfrm>
          <a:prstGeom prst="rect">
            <a:avLst/>
          </a:prstGeom>
          <a:noFill/>
        </p:spPr>
        <p:txBody>
          <a:bodyPr wrap="square" lIns="0" rIns="0" tIns="0" bIns="0">
            <a:spAutoFit/>
          </a:bodyPr>
          <a:lstStyle/>
          <a:p>
            <a:pPr algn="ctr">
              <a:lnSpc>
                <a:spcPts val="2048"/>
              </a:lnSpc>
              <a:spcAft>
                <a:spcPts val="0"/>
              </a:spcAft>
            </a:pPr>
            <a:r>
              <a:rPr sz="1600" b="1" i="0">
                <a:solidFill>
                  <a:srgbClr val="212529"/>
                </a:solidFill>
                <a:latin typeface="Garamond"/>
              </a:rPr>
              <a:t>2018 codes</a:t>
            </a:r>
          </a:p>
        </p:txBody>
      </p:sp>
      <p:sp>
        <p:nvSpPr>
          <p:cNvPr id="8" name="TextBox 7"/>
          <p:cNvSpPr txBox="1"/>
          <p:nvPr/>
        </p:nvSpPr>
        <p:spPr>
          <a:xfrm>
            <a:off x="4663440" y="1911095"/>
            <a:ext cx="2194560" cy="475488"/>
          </a:xfrm>
          <a:prstGeom prst="rect">
            <a:avLst/>
          </a:prstGeom>
          <a:noFill/>
        </p:spPr>
        <p:txBody>
          <a:bodyPr wrap="square" lIns="0" rIns="0" tIns="0" bIns="0">
            <a:spAutoFit/>
          </a:bodyPr>
          <a:lstStyle/>
          <a:p>
            <a:pPr algn="ctr">
              <a:lnSpc>
                <a:spcPts val="1536"/>
              </a:lnSpc>
              <a:spcAft>
                <a:spcPts val="0"/>
              </a:spcAft>
            </a:pPr>
            <a:r>
              <a:rPr sz="1200" b="0" i="0">
                <a:solidFill>
                  <a:srgbClr val="6B7480"/>
                </a:solidFill>
                <a:latin typeface="Garamond"/>
              </a:rPr>
              <a:t>surveys 1998–2002</a:t>
            </a:r>
          </a:p>
        </p:txBody>
      </p:sp>
      <p:sp>
        <p:nvSpPr>
          <p:cNvPr id="9" name="TextBox 8"/>
          <p:cNvSpPr txBox="1"/>
          <p:nvPr/>
        </p:nvSpPr>
        <p:spPr>
          <a:xfrm>
            <a:off x="6949440" y="1911095"/>
            <a:ext cx="2377440" cy="475488"/>
          </a:xfrm>
          <a:prstGeom prst="rect">
            <a:avLst/>
          </a:prstGeom>
          <a:noFill/>
        </p:spPr>
        <p:txBody>
          <a:bodyPr wrap="square" lIns="0" rIns="0" tIns="0" bIns="0">
            <a:spAutoFit/>
          </a:bodyPr>
          <a:lstStyle/>
          <a:p>
            <a:pPr algn="ctr">
              <a:lnSpc>
                <a:spcPts val="1536"/>
              </a:lnSpc>
              <a:spcAft>
                <a:spcPts val="0"/>
              </a:spcAft>
            </a:pPr>
            <a:r>
              <a:rPr sz="1200" b="0" i="0">
                <a:solidFill>
                  <a:srgbClr val="6B7480"/>
                </a:solidFill>
                <a:latin typeface="Garamond"/>
              </a:rPr>
              <a:t>surveys 2003–2019</a:t>
            </a:r>
          </a:p>
        </p:txBody>
      </p:sp>
      <p:sp>
        <p:nvSpPr>
          <p:cNvPr id="10" name="TextBox 9"/>
          <p:cNvSpPr txBox="1"/>
          <p:nvPr/>
        </p:nvSpPr>
        <p:spPr>
          <a:xfrm>
            <a:off x="9418320" y="1911095"/>
            <a:ext cx="2194560" cy="475488"/>
          </a:xfrm>
          <a:prstGeom prst="rect">
            <a:avLst/>
          </a:prstGeom>
          <a:noFill/>
        </p:spPr>
        <p:txBody>
          <a:bodyPr wrap="square" lIns="0" rIns="0" tIns="0" bIns="0">
            <a:spAutoFit/>
          </a:bodyPr>
          <a:lstStyle/>
          <a:p>
            <a:pPr algn="ctr">
              <a:lnSpc>
                <a:spcPts val="1536"/>
              </a:lnSpc>
              <a:spcAft>
                <a:spcPts val="0"/>
              </a:spcAft>
            </a:pPr>
            <a:r>
              <a:rPr sz="1200" b="0" i="0">
                <a:solidFill>
                  <a:srgbClr val="6B7480"/>
                </a:solidFill>
                <a:latin typeface="Garamond"/>
              </a:rPr>
              <a:t>surveys 2020–2025</a:t>
            </a:r>
          </a:p>
        </p:txBody>
      </p:sp>
      <p:cxnSp>
        <p:nvCxnSpPr>
          <p:cNvPr id="11" name="Connector 10"/>
          <p:cNvCxnSpPr/>
          <p:nvPr/>
        </p:nvCxnSpPr>
        <p:spPr>
          <a:xfrm>
            <a:off x="822960" y="2404872"/>
            <a:ext cx="1078992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22960" y="2514600"/>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Pre-K and kindergarten</a:t>
            </a:r>
          </a:p>
        </p:txBody>
      </p:sp>
      <p:sp>
        <p:nvSpPr>
          <p:cNvPr id="13" name="TextBox 12"/>
          <p:cNvSpPr txBox="1"/>
          <p:nvPr/>
        </p:nvSpPr>
        <p:spPr>
          <a:xfrm>
            <a:off x="4663440" y="2514600"/>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155</a:t>
            </a:r>
          </a:p>
        </p:txBody>
      </p:sp>
      <p:sp>
        <p:nvSpPr>
          <p:cNvPr id="14" name="TextBox 13"/>
          <p:cNvSpPr txBox="1"/>
          <p:nvPr/>
        </p:nvSpPr>
        <p:spPr>
          <a:xfrm>
            <a:off x="6949440" y="2514600"/>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2300</a:t>
            </a:r>
          </a:p>
        </p:txBody>
      </p:sp>
      <p:sp>
        <p:nvSpPr>
          <p:cNvPr id="15" name="TextBox 14"/>
          <p:cNvSpPr txBox="1"/>
          <p:nvPr/>
        </p:nvSpPr>
        <p:spPr>
          <a:xfrm>
            <a:off x="9418320" y="2514600"/>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2300</a:t>
            </a:r>
          </a:p>
        </p:txBody>
      </p:sp>
      <p:sp>
        <p:nvSpPr>
          <p:cNvPr id="16" name="TextBox 15"/>
          <p:cNvSpPr txBox="1"/>
          <p:nvPr/>
        </p:nvSpPr>
        <p:spPr>
          <a:xfrm>
            <a:off x="822960" y="2990088"/>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Elementary (and middle)</a:t>
            </a:r>
          </a:p>
        </p:txBody>
      </p:sp>
      <p:sp>
        <p:nvSpPr>
          <p:cNvPr id="17" name="TextBox 16"/>
          <p:cNvSpPr txBox="1"/>
          <p:nvPr/>
        </p:nvSpPr>
        <p:spPr>
          <a:xfrm>
            <a:off x="4663440" y="2990088"/>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156</a:t>
            </a:r>
          </a:p>
        </p:txBody>
      </p:sp>
      <p:sp>
        <p:nvSpPr>
          <p:cNvPr id="18" name="TextBox 17"/>
          <p:cNvSpPr txBox="1"/>
          <p:nvPr/>
        </p:nvSpPr>
        <p:spPr>
          <a:xfrm>
            <a:off x="6949440" y="2990088"/>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2310</a:t>
            </a:r>
          </a:p>
        </p:txBody>
      </p:sp>
      <p:sp>
        <p:nvSpPr>
          <p:cNvPr id="19" name="TextBox 18"/>
          <p:cNvSpPr txBox="1"/>
          <p:nvPr/>
        </p:nvSpPr>
        <p:spPr>
          <a:xfrm>
            <a:off x="9418320" y="2990088"/>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2310</a:t>
            </a:r>
          </a:p>
        </p:txBody>
      </p:sp>
      <p:sp>
        <p:nvSpPr>
          <p:cNvPr id="20" name="TextBox 19"/>
          <p:cNvSpPr txBox="1"/>
          <p:nvPr/>
        </p:nvSpPr>
        <p:spPr>
          <a:xfrm>
            <a:off x="822960" y="3465576"/>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Secondary</a:t>
            </a:r>
          </a:p>
        </p:txBody>
      </p:sp>
      <p:sp>
        <p:nvSpPr>
          <p:cNvPr id="21" name="TextBox 20"/>
          <p:cNvSpPr txBox="1"/>
          <p:nvPr/>
        </p:nvSpPr>
        <p:spPr>
          <a:xfrm>
            <a:off x="4663440" y="3465576"/>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157</a:t>
            </a:r>
          </a:p>
        </p:txBody>
      </p:sp>
      <p:sp>
        <p:nvSpPr>
          <p:cNvPr id="22" name="TextBox 21"/>
          <p:cNvSpPr txBox="1"/>
          <p:nvPr/>
        </p:nvSpPr>
        <p:spPr>
          <a:xfrm>
            <a:off x="6949440" y="3465576"/>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2320</a:t>
            </a:r>
          </a:p>
        </p:txBody>
      </p:sp>
      <p:sp>
        <p:nvSpPr>
          <p:cNvPr id="23" name="TextBox 22"/>
          <p:cNvSpPr txBox="1"/>
          <p:nvPr/>
        </p:nvSpPr>
        <p:spPr>
          <a:xfrm>
            <a:off x="9418320" y="3465576"/>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2320</a:t>
            </a:r>
          </a:p>
        </p:txBody>
      </p:sp>
      <p:sp>
        <p:nvSpPr>
          <p:cNvPr id="24" name="TextBox 23"/>
          <p:cNvSpPr txBox="1"/>
          <p:nvPr/>
        </p:nvSpPr>
        <p:spPr>
          <a:xfrm>
            <a:off x="822960" y="3941064"/>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Special education</a:t>
            </a:r>
          </a:p>
        </p:txBody>
      </p:sp>
      <p:sp>
        <p:nvSpPr>
          <p:cNvPr id="25" name="TextBox 24"/>
          <p:cNvSpPr txBox="1"/>
          <p:nvPr/>
        </p:nvSpPr>
        <p:spPr>
          <a:xfrm>
            <a:off x="4663440" y="3941064"/>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158</a:t>
            </a:r>
          </a:p>
        </p:txBody>
      </p:sp>
      <p:sp>
        <p:nvSpPr>
          <p:cNvPr id="26" name="TextBox 25"/>
          <p:cNvSpPr txBox="1"/>
          <p:nvPr/>
        </p:nvSpPr>
        <p:spPr>
          <a:xfrm>
            <a:off x="6949440" y="3941064"/>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2330</a:t>
            </a:r>
          </a:p>
        </p:txBody>
      </p:sp>
      <p:sp>
        <p:nvSpPr>
          <p:cNvPr id="27" name="TextBox 26"/>
          <p:cNvSpPr txBox="1"/>
          <p:nvPr/>
        </p:nvSpPr>
        <p:spPr>
          <a:xfrm>
            <a:off x="9418320" y="3941064"/>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2330</a:t>
            </a:r>
          </a:p>
        </p:txBody>
      </p:sp>
      <p:sp>
        <p:nvSpPr>
          <p:cNvPr id="28" name="TextBox 27"/>
          <p:cNvSpPr txBox="1"/>
          <p:nvPr/>
        </p:nvSpPr>
        <p:spPr>
          <a:xfrm>
            <a:off x="822960" y="4416552"/>
            <a:ext cx="3657600" cy="475488"/>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Other teachers and instructors</a:t>
            </a:r>
          </a:p>
        </p:txBody>
      </p:sp>
      <p:sp>
        <p:nvSpPr>
          <p:cNvPr id="29" name="TextBox 28"/>
          <p:cNvSpPr txBox="1"/>
          <p:nvPr/>
        </p:nvSpPr>
        <p:spPr>
          <a:xfrm>
            <a:off x="4663440" y="4416552"/>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159</a:t>
            </a:r>
          </a:p>
        </p:txBody>
      </p:sp>
      <p:sp>
        <p:nvSpPr>
          <p:cNvPr id="30" name="TextBox 29"/>
          <p:cNvSpPr txBox="1"/>
          <p:nvPr/>
        </p:nvSpPr>
        <p:spPr>
          <a:xfrm>
            <a:off x="6949440" y="4416552"/>
            <a:ext cx="237744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2340</a:t>
            </a:r>
          </a:p>
        </p:txBody>
      </p:sp>
      <p:sp>
        <p:nvSpPr>
          <p:cNvPr id="31" name="TextBox 30"/>
          <p:cNvSpPr txBox="1"/>
          <p:nvPr/>
        </p:nvSpPr>
        <p:spPr>
          <a:xfrm>
            <a:off x="9418320" y="4416552"/>
            <a:ext cx="2194560" cy="475488"/>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2360</a:t>
            </a:r>
          </a:p>
        </p:txBody>
      </p:sp>
      <p:cxnSp>
        <p:nvCxnSpPr>
          <p:cNvPr id="32" name="Connector 31"/>
          <p:cNvCxnSpPr/>
          <p:nvPr/>
        </p:nvCxnSpPr>
        <p:spPr>
          <a:xfrm>
            <a:off x="822960" y="4928616"/>
            <a:ext cx="1078992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822960" y="5148072"/>
            <a:ext cx="10789920" cy="73152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The K–12 block maps one-to-one across the three regimes. The group is constant over time even where single codes are not.</a:t>
            </a:r>
          </a:p>
        </p:txBody>
      </p:sp>
      <p:sp>
        <p:nvSpPr>
          <p:cNvPr id="34" name="Rounded Rectangle 33">
            <a:hlinkClick action="ppaction://hlinksldjump" r:id="rId2"/>
          </p:cNvPr>
          <p:cNvSpPr/>
          <p:nvPr/>
        </p:nvSpPr>
        <p:spPr>
          <a:xfrm>
            <a:off x="822960" y="6327648"/>
            <a:ext cx="1777593"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TextBox 3"/>
          <p:cNvSpPr txBox="1"/>
          <p:nvPr/>
        </p:nvSpPr>
        <p:spPr>
          <a:xfrm>
            <a:off x="822960" y="1280160"/>
            <a:ext cx="5212080" cy="457200"/>
          </a:xfrm>
          <a:prstGeom prst="rect">
            <a:avLst/>
          </a:prstGeom>
          <a:noFill/>
        </p:spPr>
        <p:txBody>
          <a:bodyPr wrap="square" lIns="0" rIns="0" tIns="0" bIns="0">
            <a:spAutoFit/>
          </a:bodyPr>
          <a:lstStyle/>
          <a:p>
            <a:pPr algn="l">
              <a:lnSpc>
                <a:spcPts val="2304"/>
              </a:lnSpc>
              <a:spcAft>
                <a:spcPts val="0"/>
              </a:spcAft>
            </a:pPr>
            <a:r>
              <a:rPr sz="1800" b="1" i="0">
                <a:solidFill>
                  <a:srgbClr val="102D5E"/>
                </a:solidFill>
                <a:latin typeface="Garamond"/>
              </a:rPr>
              <a:t>A. Following individuals</a:t>
            </a:r>
          </a:p>
        </p:txBody>
      </p:sp>
      <p:sp>
        <p:nvSpPr>
          <p:cNvPr id="5" name="TextBox 4"/>
          <p:cNvSpPr txBox="1"/>
          <p:nvPr/>
        </p:nvSpPr>
        <p:spPr>
          <a:xfrm>
            <a:off x="822960" y="1828800"/>
            <a:ext cx="52120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Identity is not certain, validation can admit noisy people.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Movers are lost. About 25% of addresses are not found a year later.</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household attrition on top.</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6" name="TextBox 5"/>
          <p:cNvSpPr txBox="1"/>
          <p:nvPr/>
        </p:nvSpPr>
        <p:spPr>
          <a:xfrm>
            <a:off x="6492240" y="1280160"/>
            <a:ext cx="5120640" cy="457200"/>
          </a:xfrm>
          <a:prstGeom prst="rect">
            <a:avLst/>
          </a:prstGeom>
          <a:noFill/>
        </p:spPr>
        <p:txBody>
          <a:bodyPr wrap="square" lIns="0" rIns="0" tIns="0" bIns="0">
            <a:spAutoFit/>
          </a:bodyPr>
          <a:lstStyle/>
          <a:p>
            <a:pPr algn="l">
              <a:lnSpc>
                <a:spcPts val="2304"/>
              </a:lnSpc>
              <a:spcAft>
                <a:spcPts val="0"/>
              </a:spcAft>
            </a:pPr>
            <a:r>
              <a:rPr sz="1800" b="1" i="0">
                <a:solidFill>
                  <a:srgbClr val="102D5E"/>
                </a:solidFill>
                <a:latin typeface="Garamond"/>
              </a:rPr>
              <a:t>B. Retrospective March</a:t>
            </a:r>
          </a:p>
        </p:txBody>
      </p:sp>
      <p:sp>
        <p:nvSpPr>
          <p:cNvPr id="7" name="TextBox 6"/>
          <p:cNvSpPr txBox="1"/>
          <p:nvPr/>
        </p:nvSpPr>
        <p:spPr>
          <a:xfrm>
            <a:off x="6492240" y="1828800"/>
            <a:ext cx="512064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Recall bias.</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Less sample. One observation per person per year (~3,700 teachers) against ~11,000 monthly teacher observations.</a:t>
            </a:r>
          </a:p>
          <a:p>
            <a:pPr algn="l">
              <a:lnSpc>
                <a:spcPts val="1920"/>
              </a:lnSpc>
              <a:spcAft>
                <a:spcPts val="0"/>
              </a:spcAft>
            </a:pPr>
            <a:r>
              <a:rPr sz="1500" b="1" i="0">
                <a:solidFill>
                  <a:srgbClr val="2D6CB5"/>
                </a:solidFill>
                <a:latin typeface="Garamond"/>
              </a:rPr>
              <a:t>3.   </a:t>
            </a:r>
            <a:r>
              <a:rPr sz="1500" b="0" i="0">
                <a:solidFill>
                  <a:srgbClr val="212529"/>
                </a:solidFill>
                <a:latin typeface="Garamond"/>
              </a:rPr>
              <a:t>Only March-to-March transitions. Within-year spells are smoothed away.</a:t>
            </a:r>
          </a:p>
        </p:txBody>
      </p:sp>
      <p:sp>
        <p:nvSpPr>
          <p:cNvPr id="8" name="Rounded Rectangle 7">
            <a:hlinkClick action="ppaction://hlinksldjump" r:id="rId2"/>
          </p:cNvPr>
          <p:cNvSpPr/>
          <p:nvPr/>
        </p:nvSpPr>
        <p:spPr>
          <a:xfrm>
            <a:off x="822960" y="6327648"/>
            <a:ext cx="1777593"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Linkage loss</a:t>
            </a:r>
          </a:p>
        </p:txBody>
      </p:sp>
      <p:sp>
        <p:nvSpPr>
          <p:cNvPr id="9" name="Rounded Rectangle 8">
            <a:hlinkClick action="ppaction://hlinksldjump" r:id="rId3"/>
          </p:cNvPr>
          <p:cNvSpPr/>
          <p:nvPr/>
        </p:nvSpPr>
        <p:spPr>
          <a:xfrm>
            <a:off x="2746857" y="6327648"/>
            <a:ext cx="2756001"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Definition sensitivity</a:t>
            </a:r>
          </a:p>
        </p:txBody>
      </p:sp>
      <p:sp>
        <p:nvSpPr>
          <p:cNvPr id="10" name="Rounded Rectangle 9">
            <a:hlinkClick action="ppaction://hlinksldjump" r:id="rId4"/>
          </p:cNvPr>
          <p:cNvSpPr/>
          <p:nvPr/>
        </p:nvSpPr>
        <p:spPr>
          <a:xfrm>
            <a:off x="5649163" y="6327648"/>
            <a:ext cx="1581912"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37360"/>
            <a:ext cx="1069848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47088"/>
            <a:ext cx="4114800" cy="640080"/>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47088"/>
            <a:ext cx="4023360" cy="640080"/>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505456"/>
            <a:ext cx="1069848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61518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61518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61518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255263"/>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255263"/>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255263"/>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89534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89534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89534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53542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53542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53542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517550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517550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517550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815584"/>
            <a:ext cx="2194560" cy="64008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815584"/>
            <a:ext cx="411480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815584"/>
            <a:ext cx="4023360" cy="64008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6492240"/>
            <a:ext cx="1069848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six, on one axis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280160"/>
            <a:ext cx="1069848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389888"/>
            <a:ext cx="164592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389888"/>
            <a:ext cx="164592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389888"/>
            <a:ext cx="173736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389888"/>
            <a:ext cx="1554480" cy="42976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Accountants</a:t>
            </a:r>
          </a:p>
        </p:txBody>
      </p:sp>
      <p:cxnSp>
        <p:nvCxnSpPr>
          <p:cNvPr id="9" name="Connector 8"/>
          <p:cNvCxnSpPr/>
          <p:nvPr/>
        </p:nvCxnSpPr>
        <p:spPr>
          <a:xfrm>
            <a:off x="822960" y="1837943"/>
            <a:ext cx="1069848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1947672"/>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1947672"/>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1947672"/>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1947672"/>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1947672"/>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a:t>
            </a:r>
          </a:p>
        </p:txBody>
      </p:sp>
      <p:sp>
        <p:nvSpPr>
          <p:cNvPr id="15" name="TextBox 14"/>
          <p:cNvSpPr txBox="1"/>
          <p:nvPr/>
        </p:nvSpPr>
        <p:spPr>
          <a:xfrm>
            <a:off x="822960" y="2377439"/>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77439"/>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77439"/>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77439"/>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77439"/>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44.1</a:t>
            </a:r>
          </a:p>
        </p:txBody>
      </p:sp>
      <p:sp>
        <p:nvSpPr>
          <p:cNvPr id="20" name="TextBox 19"/>
          <p:cNvSpPr txBox="1"/>
          <p:nvPr/>
        </p:nvSpPr>
        <p:spPr>
          <a:xfrm>
            <a:off x="822960" y="2807207"/>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807207"/>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807207"/>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807207"/>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807207"/>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31.3</a:t>
            </a:r>
          </a:p>
        </p:txBody>
      </p:sp>
      <p:sp>
        <p:nvSpPr>
          <p:cNvPr id="25" name="TextBox 24"/>
          <p:cNvSpPr txBox="1"/>
          <p:nvPr/>
        </p:nvSpPr>
        <p:spPr>
          <a:xfrm>
            <a:off x="822960" y="3236975"/>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23697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23697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236975"/>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236975"/>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11.0</a:t>
            </a:r>
          </a:p>
        </p:txBody>
      </p:sp>
      <p:sp>
        <p:nvSpPr>
          <p:cNvPr id="30" name="TextBox 29"/>
          <p:cNvSpPr txBox="1"/>
          <p:nvPr/>
        </p:nvSpPr>
        <p:spPr>
          <a:xfrm>
            <a:off x="822960" y="3666743"/>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666743"/>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666743"/>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666743"/>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666743"/>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49.5</a:t>
            </a:r>
          </a:p>
        </p:txBody>
      </p:sp>
      <p:sp>
        <p:nvSpPr>
          <p:cNvPr id="35" name="TextBox 34"/>
          <p:cNvSpPr txBox="1"/>
          <p:nvPr/>
        </p:nvSpPr>
        <p:spPr>
          <a:xfrm>
            <a:off x="822960" y="4096511"/>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4096511"/>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4096511"/>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4096511"/>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4096511"/>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77,000</a:t>
            </a:r>
          </a:p>
        </p:txBody>
      </p:sp>
      <p:cxnSp>
        <p:nvCxnSpPr>
          <p:cNvPr id="40" name="Connector 39"/>
          <p:cNvCxnSpPr/>
          <p:nvPr/>
        </p:nvCxnSpPr>
        <p:spPr>
          <a:xfrm>
            <a:off x="822960" y="4544567"/>
            <a:ext cx="1069848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654295"/>
            <a:ext cx="3657600" cy="42976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65429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654295"/>
            <a:ext cx="164592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654295"/>
            <a:ext cx="173736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654295"/>
            <a:ext cx="1554480" cy="42976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6,897</a:t>
            </a:r>
          </a:p>
        </p:txBody>
      </p:sp>
      <p:cxnSp>
        <p:nvCxnSpPr>
          <p:cNvPr id="46" name="Connector 45"/>
          <p:cNvCxnSpPr/>
          <p:nvPr/>
        </p:nvCxnSpPr>
        <p:spPr>
          <a:xfrm>
            <a:off x="822960" y="5120639"/>
            <a:ext cx="1069848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5230367"/>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shares its age and gender profile with nursing and social work. What sets it apart is pay and the public sector.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about the same rate as comparable professions. What makes teaching special is not how many leave, but who leaves and where they go.</a:t>
            </a:r>
          </a:p>
        </p:txBody>
      </p:sp>
      <p:sp>
        <p:nvSpPr>
          <p:cNvPr id="6" name="Rounded Rectangle 5">
            <a:hlinkClick action="ppaction://hlinksldjump" r:id="rId3"/>
          </p:cNvPr>
          <p:cNvSpPr/>
          <p:nvPr/>
        </p:nvSpPr>
        <p:spPr>
          <a:xfrm>
            <a:off x="822960" y="6327648"/>
            <a:ext cx="2168956"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36% of the employed leavers move to occupations where fewer than half of US workers hold a college degree (in red).</a:t>
            </a:r>
          </a:p>
        </p:txBody>
      </p:sp>
      <p:sp>
        <p:nvSpPr>
          <p:cNvPr id="6" name="Rounded Rectangle 5">
            <a:hlinkClick action="ppaction://hlinksldjump" r:id="rId3"/>
          </p:cNvPr>
          <p:cNvSpPr/>
          <p:nvPr/>
        </p:nvSpPr>
        <p:spPr>
          <a:xfrm>
            <a:off x="822960" y="6327648"/>
            <a:ext cx="1679752"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concentrated among the young and the childless. 45% of those under 30 are enrolled in school, against 3% of the mothers with a child at home.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691640"/>
            <a:ext cx="10789920" cy="5120640"/>
          </a:xfrm>
          <a:prstGeom prst="rect">
            <a:avLst/>
          </a:prstGeom>
          <a:noFill/>
        </p:spPr>
        <p:txBody>
          <a:bodyPr wrap="square" lIns="0" rIns="0" tIns="0" bIns="0">
            <a:spAutoFit/>
          </a:bodyPr>
          <a:lstStyle/>
          <a:p>
            <a:pPr algn="l">
              <a:lnSpc>
                <a:spcPts val="2432"/>
              </a:lnSpc>
              <a:spcAft>
                <a:spcPts val="4400"/>
              </a:spcAft>
            </a:pPr>
            <a:r>
              <a:rPr sz="1900" b="1" i="0">
                <a:solidFill>
                  <a:srgbClr val="2D6CB5"/>
                </a:solidFill>
                <a:latin typeface="Garamond"/>
              </a:rPr>
              <a:t>▪  </a:t>
            </a:r>
            <a:r>
              <a:rPr sz="1900" b="1" i="0">
                <a:solidFill>
                  <a:srgbClr val="102D5E"/>
                </a:solidFill>
                <a:latin typeface="Garamond"/>
              </a:rPr>
              <a:t>Retirees.  </a:t>
            </a:r>
            <a:r>
              <a:rPr sz="1900" b="0" i="0">
                <a:solidFill>
                  <a:srgbClr val="212529"/>
                </a:solidFill>
                <a:latin typeface="Garamond"/>
              </a:rPr>
              <a:t>About 3% of teachers retire each year, a third of all exits. Delaying retirement is a short-term margin that extends careers but does not reintegrate anyone.</a:t>
            </a:r>
          </a:p>
          <a:p>
            <a:pPr algn="l">
              <a:lnSpc>
                <a:spcPts val="2432"/>
              </a:lnSpc>
              <a:spcAft>
                <a:spcPts val="4400"/>
              </a:spcAft>
            </a:pPr>
            <a:r>
              <a:rPr sz="1900" b="1" i="0">
                <a:solidFill>
                  <a:srgbClr val="2D6CB5"/>
                </a:solidFill>
                <a:latin typeface="Garamond"/>
              </a:rPr>
              <a:t>▪  </a:t>
            </a:r>
            <a:r>
              <a:rPr sz="1900" b="1" i="0">
                <a:solidFill>
                  <a:srgbClr val="102D5E"/>
                </a:solidFill>
                <a:latin typeface="Garamond"/>
              </a:rPr>
              <a:t>Switchers.  </a:t>
            </a:r>
            <a:r>
              <a:rPr sz="1900" b="0" i="0">
                <a:solidFill>
                  <a:srgbClr val="212529"/>
                </a:solidFill>
                <a:latin typeface="Garamond"/>
              </a:rPr>
              <a:t>About 2% of teachers move to another job each year, more than a third of them to jobs that do not require a degree. The margin is real but moderate, so shortages cannot be closed through retention alone.</a:t>
            </a:r>
          </a:p>
          <a:p>
            <a:pPr algn="l">
              <a:lnSpc>
                <a:spcPts val="2432"/>
              </a:lnSpc>
              <a:spcAft>
                <a:spcPts val="0"/>
              </a:spcAft>
            </a:pPr>
            <a:r>
              <a:rPr sz="1900" b="1" i="0">
                <a:solidFill>
                  <a:srgbClr val="2D6CB5"/>
                </a:solidFill>
                <a:latin typeface="Garamond"/>
              </a:rPr>
              <a:t>▪  </a:t>
            </a:r>
            <a:r>
              <a:rPr sz="1900" b="1" i="0">
                <a:solidFill>
                  <a:srgbClr val="102D5E"/>
                </a:solidFill>
                <a:latin typeface="Garamond"/>
              </a:rPr>
              <a:t>Early exits.  </a:t>
            </a:r>
            <a:r>
              <a:rPr sz="1900" b="0" i="0">
                <a:solidFill>
                  <a:srgbClr val="212529"/>
                </a:solidFill>
                <a:latin typeface="Garamond"/>
              </a:rPr>
              <a:t>About 2% of teachers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24</a:t>
            </a:r>
          </a:p>
        </p:txBody>
      </p:sp>
      <p:pic>
        <p:nvPicPr>
          <p:cNvPr id="4" name="Picture 3" descr="equation3.png"/>
          <p:cNvPicPr>
            <a:picLocks noChangeAspect="1"/>
          </p:cNvPicPr>
          <p:nvPr/>
        </p:nvPicPr>
        <p:blipFill>
          <a:blip r:embed="rId2"/>
          <a:stretch>
            <a:fillRect/>
          </a:stretch>
        </p:blipFill>
        <p:spPr>
          <a:xfrm>
            <a:off x="1920240" y="1251808"/>
            <a:ext cx="8321040" cy="1062543"/>
          </a:xfrm>
          <a:prstGeom prst="rect">
            <a:avLst/>
          </a:prstGeom>
        </p:spPr>
      </p:pic>
      <p:cxnSp>
        <p:nvCxnSpPr>
          <p:cNvPr id="5" name="Connector 4"/>
          <p:cNvCxnSpPr/>
          <p:nvPr/>
        </p:nvCxnSpPr>
        <p:spPr>
          <a:xfrm>
            <a:off x="1280160" y="2606040"/>
            <a:ext cx="1014984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1280160" y="2715768"/>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Garamond"/>
              </a:rPr>
              <a:t>y</a:t>
            </a:r>
          </a:p>
        </p:txBody>
      </p:sp>
      <p:sp>
        <p:nvSpPr>
          <p:cNvPr id="7" name="TextBox 6"/>
          <p:cNvSpPr txBox="1"/>
          <p:nvPr/>
        </p:nvSpPr>
        <p:spPr>
          <a:xfrm>
            <a:off x="2286000" y="2715768"/>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teacher i left teaching in year t</a:t>
            </a:r>
          </a:p>
        </p:txBody>
      </p:sp>
      <p:sp>
        <p:nvSpPr>
          <p:cNvPr id="8" name="TextBox 7"/>
          <p:cNvSpPr txBox="1"/>
          <p:nvPr/>
        </p:nvSpPr>
        <p:spPr>
          <a:xfrm>
            <a:off x="1280160" y="3108960"/>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Garamond"/>
              </a:rPr>
              <a:t>a</a:t>
            </a:r>
          </a:p>
        </p:txBody>
      </p:sp>
      <p:sp>
        <p:nvSpPr>
          <p:cNvPr id="9" name="TextBox 8"/>
          <p:cNvSpPr txBox="1"/>
          <p:nvPr/>
        </p:nvSpPr>
        <p:spPr>
          <a:xfrm>
            <a:off x="2286000" y="3108960"/>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job attachment – full-year contract, part-time contract</a:t>
            </a:r>
          </a:p>
        </p:txBody>
      </p:sp>
      <p:sp>
        <p:nvSpPr>
          <p:cNvPr id="10" name="TextBox 9"/>
          <p:cNvSpPr txBox="1"/>
          <p:nvPr/>
        </p:nvSpPr>
        <p:spPr>
          <a:xfrm>
            <a:off x="1280160" y="3502152"/>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Garamond"/>
              </a:rPr>
              <a:t>c</a:t>
            </a:r>
          </a:p>
        </p:txBody>
      </p:sp>
      <p:sp>
        <p:nvSpPr>
          <p:cNvPr id="11" name="TextBox 10"/>
          <p:cNvSpPr txBox="1"/>
          <p:nvPr/>
        </p:nvSpPr>
        <p:spPr>
          <a:xfrm>
            <a:off x="2286000" y="3502152"/>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pay and security – pension plan, public sector, bottom-quartile household income</a:t>
            </a:r>
          </a:p>
        </p:txBody>
      </p:sp>
      <p:sp>
        <p:nvSpPr>
          <p:cNvPr id="12" name="TextBox 11"/>
          <p:cNvSpPr txBox="1"/>
          <p:nvPr/>
        </p:nvSpPr>
        <p:spPr>
          <a:xfrm>
            <a:off x="1280160" y="3895344"/>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Garamond"/>
              </a:rPr>
              <a:t>f</a:t>
            </a:r>
          </a:p>
        </p:txBody>
      </p:sp>
      <p:sp>
        <p:nvSpPr>
          <p:cNvPr id="13" name="TextBox 12"/>
          <p:cNvSpPr txBox="1"/>
          <p:nvPr/>
        </p:nvSpPr>
        <p:spPr>
          <a:xfrm>
            <a:off x="2286000" y="3895344"/>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family – new baby, children, marital status</a:t>
            </a:r>
          </a:p>
        </p:txBody>
      </p:sp>
      <p:sp>
        <p:nvSpPr>
          <p:cNvPr id="14" name="TextBox 13"/>
          <p:cNvSpPr txBox="1"/>
          <p:nvPr/>
        </p:nvSpPr>
        <p:spPr>
          <a:xfrm>
            <a:off x="1280160" y="4288536"/>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Garamond"/>
              </a:rPr>
              <a:t>h</a:t>
            </a:r>
          </a:p>
        </p:txBody>
      </p:sp>
      <p:sp>
        <p:nvSpPr>
          <p:cNvPr id="15" name="TextBox 14"/>
          <p:cNvSpPr txBox="1"/>
          <p:nvPr/>
        </p:nvSpPr>
        <p:spPr>
          <a:xfrm>
            <a:off x="2286000" y="4288536"/>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health – self-reported health, disability</a:t>
            </a:r>
          </a:p>
        </p:txBody>
      </p:sp>
      <p:sp>
        <p:nvSpPr>
          <p:cNvPr id="16" name="TextBox 15"/>
          <p:cNvSpPr txBox="1"/>
          <p:nvPr/>
        </p:nvSpPr>
        <p:spPr>
          <a:xfrm>
            <a:off x="1280160" y="4681728"/>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Garamond"/>
              </a:rPr>
              <a:t>d</a:t>
            </a:r>
          </a:p>
        </p:txBody>
      </p:sp>
      <p:sp>
        <p:nvSpPr>
          <p:cNvPr id="17" name="TextBox 16"/>
          <p:cNvSpPr txBox="1"/>
          <p:nvPr/>
        </p:nvSpPr>
        <p:spPr>
          <a:xfrm>
            <a:off x="2286000" y="4681728"/>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demographics – age, sex, race, education</a:t>
            </a:r>
          </a:p>
        </p:txBody>
      </p:sp>
      <p:sp>
        <p:nvSpPr>
          <p:cNvPr id="18" name="TextBox 17"/>
          <p:cNvSpPr txBox="1"/>
          <p:nvPr/>
        </p:nvSpPr>
        <p:spPr>
          <a:xfrm>
            <a:off x="1280160" y="5074920"/>
            <a:ext cx="914400" cy="393192"/>
          </a:xfrm>
          <a:prstGeom prst="rect">
            <a:avLst/>
          </a:prstGeom>
          <a:noFill/>
        </p:spPr>
        <p:txBody>
          <a:bodyPr wrap="square" lIns="0" rIns="0" tIns="0" bIns="0">
            <a:spAutoFit/>
          </a:bodyPr>
          <a:lstStyle/>
          <a:p>
            <a:pPr algn="l">
              <a:lnSpc>
                <a:spcPts val="1792"/>
              </a:lnSpc>
              <a:spcAft>
                <a:spcPts val="0"/>
              </a:spcAft>
            </a:pPr>
            <a:r>
              <a:rPr sz="1400" b="1" i="0">
                <a:solidFill>
                  <a:srgbClr val="102D5E"/>
                </a:solidFill>
                <a:latin typeface="Garamond"/>
              </a:rPr>
              <a:t>δt</a:t>
            </a:r>
          </a:p>
        </p:txBody>
      </p:sp>
      <p:sp>
        <p:nvSpPr>
          <p:cNvPr id="19" name="TextBox 18"/>
          <p:cNvSpPr txBox="1"/>
          <p:nvPr/>
        </p:nvSpPr>
        <p:spPr>
          <a:xfrm>
            <a:off x="2286000" y="5074920"/>
            <a:ext cx="9144000" cy="393192"/>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year fixed effects (state FE variant in the appendix)</a:t>
            </a:r>
          </a:p>
        </p:txBody>
      </p:sp>
      <p:cxnSp>
        <p:nvCxnSpPr>
          <p:cNvPr id="20" name="Connector 19"/>
          <p:cNvCxnSpPr/>
          <p:nvPr/>
        </p:nvCxnSpPr>
        <p:spPr>
          <a:xfrm>
            <a:off x="1280160" y="5504688"/>
            <a:ext cx="1014984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280160" y="5632703"/>
            <a:ext cx="9875520" cy="411480"/>
          </a:xfrm>
          <a:prstGeom prst="rect">
            <a:avLst/>
          </a:prstGeom>
          <a:noFill/>
        </p:spPr>
        <p:txBody>
          <a:bodyPr wrap="square" lIns="0" rIns="0" tIns="0" bIns="0">
            <a:spAutoFit/>
          </a:bodyPr>
          <a:lstStyle/>
          <a:p>
            <a:pPr algn="l">
              <a:lnSpc>
                <a:spcPts val="1792"/>
              </a:lnSpc>
              <a:spcAft>
                <a:spcPts val="0"/>
              </a:spcAft>
            </a:pPr>
            <a:r>
              <a:rPr sz="1400" b="0" i="0">
                <a:solidFill>
                  <a:srgbClr val="212529"/>
                </a:solidFill>
                <a:latin typeface="Garamond"/>
              </a:rPr>
              <a:t>Probit, average marginal effects, robust standard errors. 2018–2024, n = 18,571.</a:t>
            </a:r>
          </a:p>
        </p:txBody>
      </p:sp>
      <p:sp>
        <p:nvSpPr>
          <p:cNvPr id="22" name="Rounded Rectangle 21">
            <a:hlinkClick action="ppaction://hlinksldjump" r:id="rId3"/>
          </p:cNvPr>
          <p:cNvSpPr/>
          <p:nvPr/>
        </p:nvSpPr>
        <p:spPr>
          <a:xfrm>
            <a:off x="822960" y="6327648"/>
            <a:ext cx="897026"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LPM</a:t>
            </a:r>
          </a:p>
        </p:txBody>
      </p:sp>
      <p:sp>
        <p:nvSpPr>
          <p:cNvPr id="23" name="Rounded Rectangle 22">
            <a:hlinkClick action="ppaction://hlinksldjump" r:id="rId4"/>
          </p:cNvPr>
          <p:cNvSpPr/>
          <p:nvPr/>
        </p:nvSpPr>
        <p:spPr>
          <a:xfrm>
            <a:off x="1866290" y="6327648"/>
            <a:ext cx="1973275"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Logit / probit</a:t>
            </a:r>
          </a:p>
        </p:txBody>
      </p:sp>
      <p:sp>
        <p:nvSpPr>
          <p:cNvPr id="24" name="Rounded Rectangle 23">
            <a:hlinkClick action="ppaction://hlinksldjump" r:id="rId5"/>
          </p:cNvPr>
          <p:cNvSpPr/>
          <p:nvPr/>
        </p:nvSpPr>
        <p:spPr>
          <a:xfrm>
            <a:off x="3985869" y="6327648"/>
            <a:ext cx="1386230"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Bounded?</a:t>
            </a:r>
          </a:p>
        </p:txBody>
      </p:sp>
      <p:sp>
        <p:nvSpPr>
          <p:cNvPr id="25" name="Rounded Rectangle 24">
            <a:hlinkClick action="ppaction://hlinksldjump" r:id="rId6"/>
          </p:cNvPr>
          <p:cNvSpPr/>
          <p:nvPr/>
        </p:nvSpPr>
        <p:spPr>
          <a:xfrm>
            <a:off x="5518404" y="6327648"/>
            <a:ext cx="2071116"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What we observe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Real teacher pay is 4% below its 1997 level while every comparison group gained ground. The gap to other graduates is now $29,000 a year.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rises when unemployment rises (correlation +0.32). Teachers are pushed out in bad times more than pulled away in good 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sp>
        <p:nvSpPr>
          <p:cNvPr id="4" name="TextBox 3"/>
          <p:cNvSpPr txBox="1"/>
          <p:nvPr/>
        </p:nvSpPr>
        <p:spPr>
          <a:xfrm>
            <a:off x="822960" y="1325880"/>
            <a:ext cx="10789920" cy="5120640"/>
          </a:xfrm>
          <a:prstGeom prst="rect">
            <a:avLst/>
          </a:prstGeom>
          <a:noFill/>
        </p:spPr>
        <p:txBody>
          <a:bodyPr wrap="square" lIns="0" rIns="0" tIns="0" bIns="0">
            <a:spAutoFit/>
          </a:bodyPr>
          <a:lstStyle/>
          <a:p>
            <a:pPr algn="l">
              <a:lnSpc>
                <a:spcPts val="2112"/>
              </a:lnSpc>
              <a:spcAft>
                <a:spcPts val="2000"/>
              </a:spcAft>
            </a:pPr>
            <a:r>
              <a:rPr sz="1650" b="1" i="0">
                <a:solidFill>
                  <a:srgbClr val="2D6CB5"/>
                </a:solidFill>
                <a:latin typeface="Garamond"/>
              </a:rPr>
              <a:t>▪  </a:t>
            </a:r>
            <a:r>
              <a:rPr sz="1650" b="0" i="0">
                <a:solidFill>
                  <a:srgbClr val="212529"/>
                </a:solidFill>
                <a:latin typeface="Garamond"/>
              </a:rPr>
              <a:t>Teacher attrition is not bad in itself. Much of it reflects an active labor market, and it moves with the general cycle. The question for policy is who leaves, and why.</a:t>
            </a:r>
          </a:p>
          <a:p>
            <a:pPr algn="l">
              <a:lnSpc>
                <a:spcPts val="2112"/>
              </a:lnSpc>
              <a:spcAft>
                <a:spcPts val="2000"/>
              </a:spcAft>
            </a:pPr>
            <a:r>
              <a:rPr sz="1650" b="1" i="0">
                <a:solidFill>
                  <a:srgbClr val="2D6CB5"/>
                </a:solidFill>
                <a:latin typeface="Garamond"/>
              </a:rPr>
              <a:t>▪  </a:t>
            </a:r>
            <a:r>
              <a:rPr sz="1650" b="0" i="0">
                <a:solidFill>
                  <a:srgbClr val="212529"/>
                </a:solidFill>
                <a:latin typeface="Garamond"/>
              </a:rPr>
              <a:t>Working conditions weigh heavily. A full-year contract is the single strongest protection against leaving, so job security is fundamental to retain a teacher.</a:t>
            </a:r>
          </a:p>
          <a:p>
            <a:pPr algn="l">
              <a:lnSpc>
                <a:spcPts val="2112"/>
              </a:lnSpc>
              <a:spcAft>
                <a:spcPts val="2000"/>
              </a:spcAft>
            </a:pPr>
            <a:r>
              <a:rPr sz="1650" b="1" i="0">
                <a:solidFill>
                  <a:srgbClr val="2D6CB5"/>
                </a:solidFill>
                <a:latin typeface="Garamond"/>
              </a:rPr>
              <a:t>▪  </a:t>
            </a:r>
            <a:r>
              <a:rPr sz="1650" b="0" i="0">
                <a:solidFill>
                  <a:srgbClr val="212529"/>
                </a:solidFill>
                <a:latin typeface="Garamond"/>
              </a:rPr>
              <a:t>Not everyone who leaves earns more afterwards, and leaving concentrates at the bottom of the pay scale. The financial lever still has room as a retention incentive.</a:t>
            </a:r>
          </a:p>
          <a:p>
            <a:pPr algn="l">
              <a:lnSpc>
                <a:spcPts val="2112"/>
              </a:lnSpc>
              <a:spcAft>
                <a:spcPts val="0"/>
              </a:spcAft>
            </a:pPr>
            <a:r>
              <a:rPr sz="1650" b="1" i="0">
                <a:solidFill>
                  <a:srgbClr val="2D6CB5"/>
                </a:solidFill>
                <a:latin typeface="Garamond"/>
              </a:rPr>
              <a:t>▪  </a:t>
            </a:r>
            <a:r>
              <a:rPr sz="1650" b="0" i="0">
                <a:solidFill>
                  <a:srgbClr val="212529"/>
                </a:solidFill>
                <a:latin typeface="Garamond"/>
              </a:rPr>
              <a:t>A quarter of exits are neither another job nor retirement but care at home or further study. For that group flexibility is the incentive that can bring them back, and additional qualifications should pay when they return.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325880"/>
            <a:ext cx="10789920" cy="5120640"/>
          </a:xfrm>
          <a:prstGeom prst="rect">
            <a:avLst/>
          </a:prstGeom>
          <a:noFill/>
        </p:spPr>
        <p:txBody>
          <a:bodyPr wrap="square" lIns="0" rIns="0" tIns="0" bIns="0">
            <a:spAutoFit/>
          </a:bodyPr>
          <a:lstStyle/>
          <a:p>
            <a:pPr algn="l">
              <a:lnSpc>
                <a:spcPts val="2112"/>
              </a:lnSpc>
              <a:spcAft>
                <a:spcPts val="2000"/>
              </a:spcAft>
            </a:pPr>
            <a:r>
              <a:rPr sz="1650" b="1" i="0">
                <a:solidFill>
                  <a:srgbClr val="2D6CB5"/>
                </a:solidFill>
                <a:latin typeface="Garamond"/>
              </a:rPr>
              <a:t>▪  </a:t>
            </a:r>
            <a:r>
              <a:rPr sz="1650" b="1" i="0">
                <a:solidFill>
                  <a:srgbClr val="102D5E"/>
                </a:solidFill>
                <a:latin typeface="Garamond"/>
              </a:rPr>
              <a:t>Short term.  </a:t>
            </a:r>
            <a:r>
              <a:rPr sz="1650" b="0" i="0">
                <a:solidFill>
                  <a:srgbClr val="212529"/>
                </a:solidFill>
                <a:latin typeface="Garamond"/>
              </a:rPr>
              <a:t>Retirees, about 3% of teachers each year, are a pool that can cover local shortages. They bring experience and positive spillovers to the schools that re-engage them.</a:t>
            </a:r>
          </a:p>
          <a:p>
            <a:pPr algn="l">
              <a:lnSpc>
                <a:spcPts val="2112"/>
              </a:lnSpc>
              <a:spcAft>
                <a:spcPts val="2000"/>
              </a:spcAft>
            </a:pPr>
            <a:r>
              <a:rPr sz="1650" b="1" i="0">
                <a:solidFill>
                  <a:srgbClr val="2D6CB5"/>
                </a:solidFill>
                <a:latin typeface="Garamond"/>
              </a:rPr>
              <a:t>▪  </a:t>
            </a:r>
            <a:r>
              <a:rPr sz="1650" b="1" i="0">
                <a:solidFill>
                  <a:srgbClr val="102D5E"/>
                </a:solidFill>
                <a:latin typeface="Garamond"/>
              </a:rPr>
              <a:t>Medium term.  </a:t>
            </a:r>
            <a:r>
              <a:rPr sz="1650" b="0" i="0">
                <a:solidFill>
                  <a:srgbClr val="212529"/>
                </a:solidFill>
                <a:latin typeface="Garamond"/>
              </a:rPr>
              <a:t>The young. The probability of leaving is highest at the start of the career, so mentoring and accompaniment belong where the risk is.</a:t>
            </a:r>
          </a:p>
          <a:p>
            <a:pPr algn="l">
              <a:lnSpc>
                <a:spcPts val="2112"/>
              </a:lnSpc>
              <a:spcAft>
                <a:spcPts val="2000"/>
              </a:spcAft>
            </a:pPr>
            <a:r>
              <a:rPr sz="1650" b="1" i="0">
                <a:solidFill>
                  <a:srgbClr val="2D6CB5"/>
                </a:solidFill>
                <a:latin typeface="Garamond"/>
              </a:rPr>
              <a:t>▪  </a:t>
            </a:r>
            <a:r>
              <a:rPr sz="1650" b="1" i="0">
                <a:solidFill>
                  <a:srgbClr val="102D5E"/>
                </a:solidFill>
                <a:latin typeface="Garamond"/>
              </a:rPr>
              <a:t>Across the board.  </a:t>
            </a:r>
            <a:r>
              <a:rPr sz="1650" b="0" i="0">
                <a:solidFill>
                  <a:srgbClr val="212529"/>
                </a:solidFill>
                <a:latin typeface="Garamond"/>
              </a:rPr>
              <a:t>Economic security (full-year contracts, pension coverage) and flexibility, so that teachers who want to stay or to return can do so. Insecurity should not be the reason a position is left.</a:t>
            </a:r>
          </a:p>
          <a:p>
            <a:pPr algn="l">
              <a:lnSpc>
                <a:spcPts val="2112"/>
              </a:lnSpc>
              <a:spcAft>
                <a:spcPts val="0"/>
              </a:spcAft>
            </a:pPr>
            <a:r>
              <a:rPr sz="1650" b="1" i="0">
                <a:solidFill>
                  <a:srgbClr val="2D6CB5"/>
                </a:solidFill>
                <a:latin typeface="Garamond"/>
              </a:rPr>
              <a:t>▪  </a:t>
            </a:r>
            <a:r>
              <a:rPr sz="1650" b="1" i="0">
                <a:solidFill>
                  <a:srgbClr val="102D5E"/>
                </a:solidFill>
                <a:latin typeface="Garamond"/>
              </a:rPr>
              <a:t>Caveat.  </a:t>
            </a:r>
            <a:r>
              <a:rPr sz="165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33</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cxnSp>
        <p:nvCxnSpPr>
          <p:cNvPr id="4" name="Connector 3"/>
          <p:cNvCxnSpPr/>
          <p:nvPr/>
        </p:nvCxnSpPr>
        <p:spPr>
          <a:xfrm>
            <a:off x="822960" y="1554480"/>
            <a:ext cx="1060704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274320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Instrument</a:t>
            </a:r>
          </a:p>
        </p:txBody>
      </p:sp>
      <p:sp>
        <p:nvSpPr>
          <p:cNvPr id="6" name="TextBox 5"/>
          <p:cNvSpPr txBox="1"/>
          <p:nvPr/>
        </p:nvSpPr>
        <p:spPr>
          <a:xfrm>
            <a:off x="3749039" y="1664207"/>
            <a:ext cx="393192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What it asks</a:t>
            </a:r>
          </a:p>
        </p:txBody>
      </p:sp>
      <p:sp>
        <p:nvSpPr>
          <p:cNvPr id="7" name="TextBox 6"/>
          <p:cNvSpPr txBox="1"/>
          <p:nvPr/>
        </p:nvSpPr>
        <p:spPr>
          <a:xfrm>
            <a:off x="7863840" y="1664207"/>
            <a:ext cx="356616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What it produces</a:t>
            </a:r>
          </a:p>
        </p:txBody>
      </p:sp>
      <p:cxnSp>
        <p:nvCxnSpPr>
          <p:cNvPr id="8" name="Connector 7"/>
          <p:cNvCxnSpPr/>
          <p:nvPr/>
        </p:nvCxnSpPr>
        <p:spPr>
          <a:xfrm>
            <a:off x="822960" y="2139696"/>
            <a:ext cx="1060704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49424"/>
            <a:ext cx="274320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Basic monthly interview</a:t>
            </a:r>
          </a:p>
        </p:txBody>
      </p:sp>
      <p:sp>
        <p:nvSpPr>
          <p:cNvPr id="10" name="TextBox 9"/>
          <p:cNvSpPr txBox="1"/>
          <p:nvPr/>
        </p:nvSpPr>
        <p:spPr>
          <a:xfrm>
            <a:off x="3749039" y="2249424"/>
            <a:ext cx="39319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Labor force status in the reference week, occupation, hours</a:t>
            </a:r>
          </a:p>
        </p:txBody>
      </p:sp>
      <p:sp>
        <p:nvSpPr>
          <p:cNvPr id="11" name="TextBox 10"/>
          <p:cNvSpPr txBox="1"/>
          <p:nvPr/>
        </p:nvSpPr>
        <p:spPr>
          <a:xfrm>
            <a:off x="7863840" y="2249424"/>
            <a:ext cx="356616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The official monthly unemployment rate, employment and earnings statistics</a:t>
            </a:r>
          </a:p>
        </p:txBody>
      </p:sp>
      <p:sp>
        <p:nvSpPr>
          <p:cNvPr id="12" name="TextBox 11"/>
          <p:cNvSpPr txBox="1"/>
          <p:nvPr/>
        </p:nvSpPr>
        <p:spPr>
          <a:xfrm>
            <a:off x="822960" y="3483864"/>
            <a:ext cx="274320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Topical supplements</a:t>
            </a:r>
          </a:p>
        </p:txBody>
      </p:sp>
      <p:sp>
        <p:nvSpPr>
          <p:cNvPr id="13" name="TextBox 12"/>
          <p:cNvSpPr txBox="1"/>
          <p:nvPr/>
        </p:nvSpPr>
        <p:spPr>
          <a:xfrm>
            <a:off x="3749039" y="3483864"/>
            <a:ext cx="39319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School enrollment (Oct.), voting (Nov.), tobacco, computer use</a:t>
            </a:r>
          </a:p>
        </p:txBody>
      </p:sp>
      <p:sp>
        <p:nvSpPr>
          <p:cNvPr id="14" name="TextBox 13"/>
          <p:cNvSpPr txBox="1"/>
          <p:nvPr/>
        </p:nvSpPr>
        <p:spPr>
          <a:xfrm>
            <a:off x="7863840" y="3483864"/>
            <a:ext cx="356616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Topic-specific official statistics</a:t>
            </a:r>
          </a:p>
        </p:txBody>
      </p:sp>
      <p:sp>
        <p:nvSpPr>
          <p:cNvPr id="15" name="TextBox 14"/>
          <p:cNvSpPr txBox="1"/>
          <p:nvPr/>
        </p:nvSpPr>
        <p:spPr>
          <a:xfrm>
            <a:off x="822960" y="4443984"/>
            <a:ext cx="274320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March supplement (ASEC)</a:t>
            </a:r>
          </a:p>
        </p:txBody>
      </p:sp>
      <p:sp>
        <p:nvSpPr>
          <p:cNvPr id="16" name="TextBox 15"/>
          <p:cNvSpPr txBox="1"/>
          <p:nvPr/>
        </p:nvSpPr>
        <p:spPr>
          <a:xfrm>
            <a:off x="3749039" y="4443984"/>
            <a:ext cx="39319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The previous calendar year, from the longest job to weeks, income and benefits</a:t>
            </a:r>
          </a:p>
        </p:txBody>
      </p:sp>
      <p:sp>
        <p:nvSpPr>
          <p:cNvPr id="17" name="TextBox 16"/>
          <p:cNvSpPr txBox="1"/>
          <p:nvPr/>
        </p:nvSpPr>
        <p:spPr>
          <a:xfrm>
            <a:off x="7863840" y="4443984"/>
            <a:ext cx="356616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5715000"/>
            <a:ext cx="1060704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286000"/>
            <a:ext cx="1060704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395728"/>
            <a:ext cx="2560320" cy="47548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395728"/>
            <a:ext cx="914400" cy="47548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89504"/>
            <a:ext cx="1060704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99232"/>
            <a:ext cx="2560320" cy="47548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99232"/>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474720"/>
            <a:ext cx="2560320" cy="47548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474720"/>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950208"/>
            <a:ext cx="2560320" cy="47548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950208"/>
            <a:ext cx="914400" cy="47548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462272"/>
            <a:ext cx="1060704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70001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cxnSp>
        <p:nvCxnSpPr>
          <p:cNvPr id="4" name="Connector 3"/>
          <p:cNvCxnSpPr/>
          <p:nvPr/>
        </p:nvCxnSpPr>
        <p:spPr>
          <a:xfrm>
            <a:off x="822960" y="1463040"/>
            <a:ext cx="1078992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572768"/>
            <a:ext cx="512064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In the field</a:t>
            </a:r>
          </a:p>
        </p:txBody>
      </p:sp>
      <p:sp>
        <p:nvSpPr>
          <p:cNvPr id="6" name="TextBox 5"/>
          <p:cNvSpPr txBox="1"/>
          <p:nvPr/>
        </p:nvSpPr>
        <p:spPr>
          <a:xfrm>
            <a:off x="6309360" y="1572768"/>
            <a:ext cx="5303520" cy="457200"/>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In the public files</a:t>
            </a:r>
          </a:p>
        </p:txBody>
      </p:sp>
      <p:cxnSp>
        <p:nvCxnSpPr>
          <p:cNvPr id="7" name="Connector 6"/>
          <p:cNvCxnSpPr/>
          <p:nvPr/>
        </p:nvCxnSpPr>
        <p:spPr>
          <a:xfrm>
            <a:off x="822960" y="2048256"/>
            <a:ext cx="1078992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57984"/>
            <a:ext cx="512064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Roster carried forward by the interviewer</a:t>
            </a:r>
          </a:p>
        </p:txBody>
      </p:sp>
      <p:sp>
        <p:nvSpPr>
          <p:cNvPr id="9" name="TextBox 8"/>
          <p:cNvSpPr txBox="1"/>
          <p:nvPr/>
        </p:nvSpPr>
        <p:spPr>
          <a:xfrm>
            <a:off x="6309360" y="2157984"/>
            <a:ext cx="53035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No person identifier at all</a:t>
            </a:r>
          </a:p>
        </p:txBody>
      </p:sp>
      <p:sp>
        <p:nvSpPr>
          <p:cNvPr id="10" name="TextBox 9"/>
          <p:cNvSpPr txBox="1"/>
          <p:nvPr/>
        </p:nvSpPr>
        <p:spPr>
          <a:xfrm>
            <a:off x="822960" y="2889504"/>
            <a:ext cx="512064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Each member keeps a line number</a:t>
            </a:r>
          </a:p>
        </p:txBody>
      </p:sp>
      <p:sp>
        <p:nvSpPr>
          <p:cNvPr id="11" name="TextBox 10"/>
          <p:cNvSpPr txBox="1"/>
          <p:nvPr/>
        </p:nvSpPr>
        <p:spPr>
          <a:xfrm>
            <a:off x="6309360" y="2889504"/>
            <a:ext cx="53035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Household id + dwelling id + line number reconstruct it</a:t>
            </a:r>
          </a:p>
        </p:txBody>
      </p:sp>
      <p:sp>
        <p:nvSpPr>
          <p:cNvPr id="12" name="TextBox 11"/>
          <p:cNvSpPr txBox="1"/>
          <p:nvPr/>
        </p:nvSpPr>
        <p:spPr>
          <a:xfrm>
            <a:off x="822960" y="3941064"/>
            <a:ext cx="512064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Occupation asked by dependent interviewing month to month</a:t>
            </a:r>
          </a:p>
        </p:txBody>
      </p:sp>
      <p:sp>
        <p:nvSpPr>
          <p:cNvPr id="13" name="TextBox 12"/>
          <p:cNvSpPr txBox="1"/>
          <p:nvPr/>
        </p:nvSpPr>
        <p:spPr>
          <a:xfrm>
            <a:off x="6309360" y="3941064"/>
            <a:ext cx="5303520" cy="45720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Validated on sex, race, age advancing 0–2 years</a:t>
            </a:r>
          </a:p>
        </p:txBody>
      </p:sp>
      <p:sp>
        <p:nvSpPr>
          <p:cNvPr id="14" name="TextBox 13"/>
          <p:cNvSpPr txBox="1"/>
          <p:nvPr/>
        </p:nvSpPr>
        <p:spPr>
          <a:xfrm>
            <a:off x="822960" y="4992624"/>
            <a:ext cx="5120640" cy="457200"/>
          </a:xfrm>
          <a:prstGeom prst="rect">
            <a:avLst/>
          </a:prstGeom>
          <a:noFill/>
        </p:spPr>
        <p:txBody>
          <a:bodyPr wrap="square" lIns="0" rIns="0" tIns="0" bIns="0">
            <a:spAutoFit/>
          </a:bodyPr>
          <a:lstStyle/>
          <a:p>
            <a:pPr algn="l">
              <a:lnSpc>
                <a:spcPts val="1920"/>
              </a:lnSpc>
              <a:spcAft>
                <a:spcPts val="0"/>
              </a:spcAft>
            </a:pPr>
            <a:r>
              <a:rPr sz="1500" b="1" i="0">
                <a:solidFill>
                  <a:srgbClr val="102D5E"/>
                </a:solidFill>
                <a:latin typeface="Garamond"/>
              </a:rPr>
              <a:t>Identity is known</a:t>
            </a:r>
          </a:p>
        </p:txBody>
      </p:sp>
      <p:sp>
        <p:nvSpPr>
          <p:cNvPr id="15" name="TextBox 14"/>
          <p:cNvSpPr txBox="1"/>
          <p:nvPr/>
        </p:nvSpPr>
        <p:spPr>
          <a:xfrm>
            <a:off x="6309360" y="4992624"/>
            <a:ext cx="5303520" cy="457200"/>
          </a:xfrm>
          <a:prstGeom prst="rect">
            <a:avLst/>
          </a:prstGeom>
          <a:noFill/>
        </p:spPr>
        <p:txBody>
          <a:bodyPr wrap="square" lIns="0" rIns="0" tIns="0" bIns="0">
            <a:spAutoFit/>
          </a:bodyPr>
          <a:lstStyle/>
          <a:p>
            <a:pPr algn="l">
              <a:lnSpc>
                <a:spcPts val="1920"/>
              </a:lnSpc>
              <a:spcAft>
                <a:spcPts val="0"/>
              </a:spcAft>
            </a:pPr>
            <a:r>
              <a:rPr sz="150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6355080"/>
            <a:ext cx="1078992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rofs_ext.png"/>
          <p:cNvPicPr>
            <a:picLocks noChangeAspect="1"/>
          </p:cNvPicPr>
          <p:nvPr/>
        </p:nvPicPr>
        <p:blipFill>
          <a:blip r:embed="rId2"/>
          <a:stretch>
            <a:fillRect/>
          </a:stretch>
        </p:blipFill>
        <p:spPr>
          <a:xfrm>
            <a:off x="1297304" y="1097280"/>
            <a:ext cx="956691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cxnSp>
        <p:nvCxnSpPr>
          <p:cNvPr id="4" name="Connector 3"/>
          <p:cNvCxnSpPr/>
          <p:nvPr/>
        </p:nvCxnSpPr>
        <p:spPr>
          <a:xfrm>
            <a:off x="548640" y="1371600"/>
            <a:ext cx="539496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481328"/>
            <a:ext cx="3017520" cy="384048"/>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481328"/>
            <a:ext cx="1097280" cy="384048"/>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481328"/>
            <a:ext cx="1097280" cy="384048"/>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65376"/>
            <a:ext cx="1097280" cy="384048"/>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65376"/>
            <a:ext cx="1097280" cy="384048"/>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267712"/>
            <a:ext cx="539496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377440"/>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37744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37744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761488"/>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761488"/>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761488"/>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3145536"/>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3145536"/>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3145536"/>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529584"/>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529584"/>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529584"/>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913632"/>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913632"/>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913632"/>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4297680"/>
            <a:ext cx="3017520" cy="384048"/>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429768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4297680"/>
            <a:ext cx="1097280" cy="384048"/>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718304"/>
            <a:ext cx="539496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864608"/>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822960" y="1463040"/>
            <a:ext cx="9143999"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572768"/>
            <a:ext cx="6949440" cy="475488"/>
          </a:xfrm>
          <a:prstGeom prst="rect">
            <a:avLst/>
          </a:prstGeom>
          <a:noFill/>
        </p:spPr>
        <p:txBody>
          <a:bodyPr wrap="square" lIns="0" rIns="0" tIns="0" bIns="0">
            <a:spAutoFit/>
          </a:bodyPr>
          <a:lstStyle/>
          <a:p>
            <a:pPr algn="l">
              <a:lnSpc>
                <a:spcPts val="1984"/>
              </a:lnSpc>
              <a:spcAft>
                <a:spcPts val="0"/>
              </a:spcAft>
            </a:pPr>
            <a:r>
              <a:rPr sz="1550" b="1" i="0">
                <a:solidFill>
                  <a:srgbClr val="212529"/>
                </a:solidFill>
                <a:latin typeface="Garamond"/>
              </a:rPr>
              <a:t>Of every 100 employed leavers…</a:t>
            </a:r>
          </a:p>
        </p:txBody>
      </p:sp>
      <p:sp>
        <p:nvSpPr>
          <p:cNvPr id="6" name="TextBox 5"/>
          <p:cNvSpPr txBox="1"/>
          <p:nvPr/>
        </p:nvSpPr>
        <p:spPr>
          <a:xfrm>
            <a:off x="7955279" y="1572768"/>
            <a:ext cx="2011680" cy="475488"/>
          </a:xfrm>
          <a:prstGeom prst="rect">
            <a:avLst/>
          </a:prstGeom>
          <a:noFill/>
        </p:spPr>
        <p:txBody>
          <a:bodyPr wrap="square" lIns="0" rIns="0" tIns="0" bIns="0">
            <a:spAutoFit/>
          </a:bodyPr>
          <a:lstStyle/>
          <a:p>
            <a:pPr algn="r">
              <a:lnSpc>
                <a:spcPts val="1984"/>
              </a:lnSpc>
              <a:spcAft>
                <a:spcPts val="0"/>
              </a:spcAft>
            </a:pPr>
            <a:r>
              <a:rPr sz="1550" b="1" i="0">
                <a:solidFill>
                  <a:srgbClr val="212529"/>
                </a:solidFill>
                <a:latin typeface="Garamond"/>
              </a:rPr>
              <a:t>share</a:t>
            </a:r>
          </a:p>
        </p:txBody>
      </p:sp>
      <p:cxnSp>
        <p:nvCxnSpPr>
          <p:cNvPr id="7" name="Connector 6"/>
          <p:cNvCxnSpPr/>
          <p:nvPr/>
        </p:nvCxnSpPr>
        <p:spPr>
          <a:xfrm>
            <a:off x="822960" y="2066544"/>
            <a:ext cx="9143999"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Education, non-teaching</a:t>
            </a:r>
          </a:p>
        </p:txBody>
      </p:sp>
      <p:sp>
        <p:nvSpPr>
          <p:cNvPr id="9" name="TextBox 8"/>
          <p:cNvSpPr txBox="1"/>
          <p:nvPr/>
        </p:nvSpPr>
        <p:spPr>
          <a:xfrm>
            <a:off x="7955279" y="2176272"/>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Garamond"/>
              </a:rPr>
              <a:t>22.6</a:t>
            </a:r>
          </a:p>
        </p:txBody>
      </p:sp>
      <p:sp>
        <p:nvSpPr>
          <p:cNvPr id="10" name="TextBox 9"/>
          <p:cNvSpPr txBox="1"/>
          <p:nvPr/>
        </p:nvSpPr>
        <p:spPr>
          <a:xfrm>
            <a:off x="822960" y="2651760"/>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Care</a:t>
            </a:r>
          </a:p>
        </p:txBody>
      </p:sp>
      <p:sp>
        <p:nvSpPr>
          <p:cNvPr id="11" name="TextBox 10"/>
          <p:cNvSpPr txBox="1"/>
          <p:nvPr/>
        </p:nvSpPr>
        <p:spPr>
          <a:xfrm>
            <a:off x="7955279" y="2651760"/>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Garamond"/>
              </a:rPr>
              <a:t>8.5</a:t>
            </a:r>
          </a:p>
        </p:txBody>
      </p:sp>
      <p:sp>
        <p:nvSpPr>
          <p:cNvPr id="12" name="TextBox 11"/>
          <p:cNvSpPr txBox="1"/>
          <p:nvPr/>
        </p:nvSpPr>
        <p:spPr>
          <a:xfrm>
            <a:off x="822960" y="3127248"/>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Professional and managerial</a:t>
            </a:r>
          </a:p>
        </p:txBody>
      </p:sp>
      <p:sp>
        <p:nvSpPr>
          <p:cNvPr id="13" name="TextBox 12"/>
          <p:cNvSpPr txBox="1"/>
          <p:nvPr/>
        </p:nvSpPr>
        <p:spPr>
          <a:xfrm>
            <a:off x="7955279" y="3127248"/>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Garamond"/>
              </a:rPr>
              <a:t>32.4</a:t>
            </a:r>
          </a:p>
        </p:txBody>
      </p:sp>
      <p:sp>
        <p:nvSpPr>
          <p:cNvPr id="14" name="TextBox 13"/>
          <p:cNvSpPr txBox="1"/>
          <p:nvPr/>
        </p:nvSpPr>
        <p:spPr>
          <a:xfrm>
            <a:off x="822960" y="3602736"/>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Sales, office and manual</a:t>
            </a:r>
          </a:p>
        </p:txBody>
      </p:sp>
      <p:sp>
        <p:nvSpPr>
          <p:cNvPr id="15" name="TextBox 14"/>
          <p:cNvSpPr txBox="1"/>
          <p:nvPr/>
        </p:nvSpPr>
        <p:spPr>
          <a:xfrm>
            <a:off x="7955279" y="3602736"/>
            <a:ext cx="2011680" cy="475488"/>
          </a:xfrm>
          <a:prstGeom prst="rect">
            <a:avLst/>
          </a:prstGeom>
          <a:noFill/>
        </p:spPr>
        <p:txBody>
          <a:bodyPr wrap="square" lIns="0" rIns="0" tIns="0" bIns="0">
            <a:spAutoFit/>
          </a:bodyPr>
          <a:lstStyle/>
          <a:p>
            <a:pPr algn="r">
              <a:lnSpc>
                <a:spcPts val="1984"/>
              </a:lnSpc>
              <a:spcAft>
                <a:spcPts val="0"/>
              </a:spcAft>
            </a:pPr>
            <a:r>
              <a:rPr sz="1550" b="0" i="0">
                <a:solidFill>
                  <a:srgbClr val="212529"/>
                </a:solidFill>
                <a:latin typeface="Garamond"/>
              </a:rPr>
              <a:t>36.5</a:t>
            </a:r>
          </a:p>
        </p:txBody>
      </p:sp>
      <p:cxnSp>
        <p:nvCxnSpPr>
          <p:cNvPr id="16" name="Connector 15"/>
          <p:cNvCxnSpPr/>
          <p:nvPr/>
        </p:nvCxnSpPr>
        <p:spPr>
          <a:xfrm>
            <a:off x="822960" y="4096512"/>
            <a:ext cx="9143999"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4206240"/>
            <a:ext cx="6949440" cy="475488"/>
          </a:xfrm>
          <a:prstGeom prst="rect">
            <a:avLst/>
          </a:prstGeom>
          <a:noFill/>
        </p:spPr>
        <p:txBody>
          <a:bodyPr wrap="square" lIns="0" rIns="0" tIns="0" bIns="0">
            <a:spAutoFit/>
          </a:bodyPr>
          <a:lstStyle/>
          <a:p>
            <a:pPr algn="l">
              <a:lnSpc>
                <a:spcPts val="1984"/>
              </a:lnSpc>
              <a:spcAft>
                <a:spcPts val="0"/>
              </a:spcAft>
            </a:pPr>
            <a:r>
              <a:rPr sz="1550" b="0" i="0">
                <a:solidFill>
                  <a:srgbClr val="8F2B36"/>
                </a:solidFill>
                <a:latin typeface="Garamond"/>
              </a:rPr>
              <a:t>Memo: occupations where fewer than half of US workers hold a college degree (in red)</a:t>
            </a:r>
          </a:p>
        </p:txBody>
      </p:sp>
      <p:sp>
        <p:nvSpPr>
          <p:cNvPr id="18" name="TextBox 17"/>
          <p:cNvSpPr txBox="1"/>
          <p:nvPr/>
        </p:nvSpPr>
        <p:spPr>
          <a:xfrm>
            <a:off x="7955279" y="4206240"/>
            <a:ext cx="2011680" cy="475488"/>
          </a:xfrm>
          <a:prstGeom prst="rect">
            <a:avLst/>
          </a:prstGeom>
          <a:noFill/>
        </p:spPr>
        <p:txBody>
          <a:bodyPr wrap="square" lIns="0" rIns="0" tIns="0" bIns="0">
            <a:spAutoFit/>
          </a:bodyPr>
          <a:lstStyle/>
          <a:p>
            <a:pPr algn="r">
              <a:lnSpc>
                <a:spcPts val="1984"/>
              </a:lnSpc>
              <a:spcAft>
                <a:spcPts val="0"/>
              </a:spcAft>
            </a:pPr>
            <a:r>
              <a:rPr sz="1550" b="1" i="0">
                <a:solidFill>
                  <a:srgbClr val="8F2B36"/>
                </a:solidFill>
                <a:latin typeface="Garamond"/>
              </a:rPr>
              <a:t>36.3</a:t>
            </a:r>
          </a:p>
        </p:txBody>
      </p:sp>
      <p:cxnSp>
        <p:nvCxnSpPr>
          <p:cNvPr id="19" name="Connector 18"/>
          <p:cNvCxnSpPr/>
          <p:nvPr/>
        </p:nvCxnSpPr>
        <p:spPr>
          <a:xfrm>
            <a:off x="822960" y="4718304"/>
            <a:ext cx="9143999"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956048"/>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cxnSp>
        <p:nvCxnSpPr>
          <p:cNvPr id="4" name="Connector 3"/>
          <p:cNvCxnSpPr/>
          <p:nvPr/>
        </p:nvCxnSpPr>
        <p:spPr>
          <a:xfrm>
            <a:off x="1005840" y="1298448"/>
            <a:ext cx="950976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9748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2186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73989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261104"/>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782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53035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843016"/>
            <a:ext cx="950976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925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62179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651052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651052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651052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651052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821424"/>
            <a:ext cx="950976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949440"/>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cxnSp>
        <p:nvCxnSpPr>
          <p:cNvPr id="4" name="Connector 3"/>
          <p:cNvCxnSpPr/>
          <p:nvPr/>
        </p:nvCxnSpPr>
        <p:spPr>
          <a:xfrm>
            <a:off x="1005840" y="1298448"/>
            <a:ext cx="950976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3230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9748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9748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95351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2186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2186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47472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73989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73989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995928"/>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261104"/>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261104"/>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517136"/>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782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782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5038344"/>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53035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53035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559552"/>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843016"/>
            <a:ext cx="950976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92531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92531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62179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62179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528816"/>
            <a:ext cx="950976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656832"/>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cxnSp>
        <p:nvCxnSpPr>
          <p:cNvPr id="4" name="Connector 3"/>
          <p:cNvCxnSpPr/>
          <p:nvPr/>
        </p:nvCxnSpPr>
        <p:spPr>
          <a:xfrm>
            <a:off x="822960" y="1554480"/>
            <a:ext cx="1024128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512064"/>
          </a:xfrm>
          <a:prstGeom prst="rect">
            <a:avLst/>
          </a:prstGeom>
          <a:noFill/>
        </p:spPr>
        <p:txBody>
          <a:bodyPr wrap="square" lIns="0" rIns="0" tIns="0" bIns="0">
            <a:spAutoFit/>
          </a:bodyPr>
          <a:lstStyle/>
          <a:p>
            <a:pPr algn="l">
              <a:lnSpc>
                <a:spcPts val="2112"/>
              </a:lnSpc>
              <a:spcAft>
                <a:spcPts val="0"/>
              </a:spcAft>
            </a:pPr>
            <a:r>
              <a:rPr sz="1650" b="1" i="0">
                <a:solidFill>
                  <a:srgbClr val="212529"/>
                </a:solidFill>
                <a:latin typeface="Garamond"/>
              </a:rPr>
              <a:t>Reasons in the literature</a:t>
            </a:r>
          </a:p>
        </p:txBody>
      </p:sp>
      <p:sp>
        <p:nvSpPr>
          <p:cNvPr id="6" name="TextBox 5"/>
          <p:cNvSpPr txBox="1"/>
          <p:nvPr/>
        </p:nvSpPr>
        <p:spPr>
          <a:xfrm>
            <a:off x="7955279" y="1664207"/>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Garamond"/>
              </a:rPr>
              <a:t>Working conditions</a:t>
            </a:r>
          </a:p>
        </p:txBody>
      </p:sp>
      <p:sp>
        <p:nvSpPr>
          <p:cNvPr id="9" name="TextBox 8"/>
          <p:cNvSpPr txBox="1"/>
          <p:nvPr/>
        </p:nvSpPr>
        <p:spPr>
          <a:xfrm>
            <a:off x="7955279" y="2304288"/>
            <a:ext cx="3108960" cy="512064"/>
          </a:xfrm>
          <a:prstGeom prst="rect">
            <a:avLst/>
          </a:prstGeom>
          <a:noFill/>
        </p:spPr>
        <p:txBody>
          <a:bodyPr wrap="square" lIns="0" rIns="0" tIns="0" bIns="0">
            <a:spAutoFit/>
          </a:bodyPr>
          <a:lstStyle/>
          <a:p>
            <a:pPr algn="l">
              <a:lnSpc>
                <a:spcPts val="2112"/>
              </a:lnSpc>
              <a:spcAft>
                <a:spcPts val="0"/>
              </a:spcAft>
            </a:pPr>
            <a:r>
              <a:rPr sz="1650" b="0" i="0">
                <a:solidFill>
                  <a:srgbClr val="6B7480"/>
                </a:solidFill>
                <a:latin typeface="Garamond"/>
              </a:rPr>
              <a:t>no</a:t>
            </a:r>
          </a:p>
        </p:txBody>
      </p:sp>
      <p:sp>
        <p:nvSpPr>
          <p:cNvPr id="10" name="TextBox 9"/>
          <p:cNvSpPr txBox="1"/>
          <p:nvPr/>
        </p:nvSpPr>
        <p:spPr>
          <a:xfrm>
            <a:off x="822960" y="2816352"/>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Garamond"/>
              </a:rPr>
              <a:t>Organizational support</a:t>
            </a:r>
          </a:p>
        </p:txBody>
      </p:sp>
      <p:sp>
        <p:nvSpPr>
          <p:cNvPr id="11" name="TextBox 10"/>
          <p:cNvSpPr txBox="1"/>
          <p:nvPr/>
        </p:nvSpPr>
        <p:spPr>
          <a:xfrm>
            <a:off x="7955279" y="2816352"/>
            <a:ext cx="3108960" cy="512064"/>
          </a:xfrm>
          <a:prstGeom prst="rect">
            <a:avLst/>
          </a:prstGeom>
          <a:noFill/>
        </p:spPr>
        <p:txBody>
          <a:bodyPr wrap="square" lIns="0" rIns="0" tIns="0" bIns="0">
            <a:spAutoFit/>
          </a:bodyPr>
          <a:lstStyle/>
          <a:p>
            <a:pPr algn="l">
              <a:lnSpc>
                <a:spcPts val="2112"/>
              </a:lnSpc>
              <a:spcAft>
                <a:spcPts val="0"/>
              </a:spcAft>
            </a:pPr>
            <a:r>
              <a:rPr sz="1650" b="0" i="0">
                <a:solidFill>
                  <a:srgbClr val="6B7480"/>
                </a:solidFill>
                <a:latin typeface="Garamond"/>
              </a:rPr>
              <a:t>no</a:t>
            </a:r>
          </a:p>
        </p:txBody>
      </p:sp>
      <p:sp>
        <p:nvSpPr>
          <p:cNvPr id="12" name="TextBox 11"/>
          <p:cNvSpPr txBox="1"/>
          <p:nvPr/>
        </p:nvSpPr>
        <p:spPr>
          <a:xfrm>
            <a:off x="822960" y="3328416"/>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Garamond"/>
              </a:rPr>
              <a:t>Autonomy and intrinsic motives</a:t>
            </a:r>
          </a:p>
        </p:txBody>
      </p:sp>
      <p:sp>
        <p:nvSpPr>
          <p:cNvPr id="13" name="TextBox 12"/>
          <p:cNvSpPr txBox="1"/>
          <p:nvPr/>
        </p:nvSpPr>
        <p:spPr>
          <a:xfrm>
            <a:off x="7955279" y="3328416"/>
            <a:ext cx="3108960" cy="512064"/>
          </a:xfrm>
          <a:prstGeom prst="rect">
            <a:avLst/>
          </a:prstGeom>
          <a:noFill/>
        </p:spPr>
        <p:txBody>
          <a:bodyPr wrap="square" lIns="0" rIns="0" tIns="0" bIns="0">
            <a:spAutoFit/>
          </a:bodyPr>
          <a:lstStyle/>
          <a:p>
            <a:pPr algn="l">
              <a:lnSpc>
                <a:spcPts val="2112"/>
              </a:lnSpc>
              <a:spcAft>
                <a:spcPts val="0"/>
              </a:spcAft>
            </a:pPr>
            <a:r>
              <a:rPr sz="1650" b="0" i="0">
                <a:solidFill>
                  <a:srgbClr val="6B7480"/>
                </a:solidFill>
                <a:latin typeface="Garamond"/>
              </a:rPr>
              <a:t>no</a:t>
            </a:r>
          </a:p>
        </p:txBody>
      </p:sp>
      <p:sp>
        <p:nvSpPr>
          <p:cNvPr id="14" name="TextBox 13"/>
          <p:cNvSpPr txBox="1"/>
          <p:nvPr/>
        </p:nvSpPr>
        <p:spPr>
          <a:xfrm>
            <a:off x="822960" y="3840480"/>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Garamond"/>
              </a:rPr>
              <a:t>Financial factors</a:t>
            </a:r>
          </a:p>
        </p:txBody>
      </p:sp>
      <p:sp>
        <p:nvSpPr>
          <p:cNvPr id="15" name="TextBox 14"/>
          <p:cNvSpPr txBox="1"/>
          <p:nvPr/>
        </p:nvSpPr>
        <p:spPr>
          <a:xfrm>
            <a:off x="7955279" y="3840480"/>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102D5E"/>
                </a:solidFill>
                <a:latin typeface="Garamond"/>
              </a:rPr>
              <a:t>yes</a:t>
            </a:r>
          </a:p>
        </p:txBody>
      </p:sp>
      <p:sp>
        <p:nvSpPr>
          <p:cNvPr id="16" name="TextBox 15"/>
          <p:cNvSpPr txBox="1"/>
          <p:nvPr/>
        </p:nvSpPr>
        <p:spPr>
          <a:xfrm>
            <a:off x="822960" y="4352544"/>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Garamond"/>
              </a:rPr>
              <a:t>Personal life-cycle motives</a:t>
            </a:r>
          </a:p>
        </p:txBody>
      </p:sp>
      <p:sp>
        <p:nvSpPr>
          <p:cNvPr id="17" name="TextBox 16"/>
          <p:cNvSpPr txBox="1"/>
          <p:nvPr/>
        </p:nvSpPr>
        <p:spPr>
          <a:xfrm>
            <a:off x="7955279" y="4352544"/>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102D5E"/>
                </a:solidFill>
                <a:latin typeface="Garamond"/>
              </a:rPr>
              <a:t>yes</a:t>
            </a:r>
          </a:p>
        </p:txBody>
      </p:sp>
      <p:cxnSp>
        <p:nvCxnSpPr>
          <p:cNvPr id="18" name="Connector 17"/>
          <p:cNvCxnSpPr/>
          <p:nvPr/>
        </p:nvCxnSpPr>
        <p:spPr>
          <a:xfrm>
            <a:off x="822960" y="4882896"/>
            <a:ext cx="10241280" cy="0"/>
          </a:xfrm>
          <a:prstGeom prst="line">
            <a:avLst/>
          </a:prstGeom>
          <a:ln w="8890">
            <a:solidFill>
              <a:srgbClr val="212529"/>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992624"/>
            <a:ext cx="6949440" cy="512064"/>
          </a:xfrm>
          <a:prstGeom prst="rect">
            <a:avLst/>
          </a:prstGeom>
          <a:noFill/>
        </p:spPr>
        <p:txBody>
          <a:bodyPr wrap="square" lIns="0" rIns="0" tIns="0" bIns="0">
            <a:spAutoFit/>
          </a:bodyPr>
          <a:lstStyle/>
          <a:p>
            <a:pPr algn="l">
              <a:lnSpc>
                <a:spcPts val="2112"/>
              </a:lnSpc>
              <a:spcAft>
                <a:spcPts val="0"/>
              </a:spcAft>
            </a:pPr>
            <a:r>
              <a:rPr sz="1650" b="0" i="0">
                <a:solidFill>
                  <a:srgbClr val="212529"/>
                </a:solidFill>
                <a:latin typeface="Garamond"/>
              </a:rPr>
              <a:t>Sociodemographics</a:t>
            </a:r>
          </a:p>
        </p:txBody>
      </p:sp>
      <p:sp>
        <p:nvSpPr>
          <p:cNvPr id="20" name="TextBox 19"/>
          <p:cNvSpPr txBox="1"/>
          <p:nvPr/>
        </p:nvSpPr>
        <p:spPr>
          <a:xfrm>
            <a:off x="7955279" y="4992624"/>
            <a:ext cx="3108960" cy="512064"/>
          </a:xfrm>
          <a:prstGeom prst="rect">
            <a:avLst/>
          </a:prstGeom>
          <a:noFill/>
        </p:spPr>
        <p:txBody>
          <a:bodyPr wrap="square" lIns="0" rIns="0" tIns="0" bIns="0">
            <a:spAutoFit/>
          </a:bodyPr>
          <a:lstStyle/>
          <a:p>
            <a:pPr algn="l">
              <a:lnSpc>
                <a:spcPts val="2112"/>
              </a:lnSpc>
              <a:spcAft>
                <a:spcPts val="0"/>
              </a:spcAft>
            </a:pPr>
            <a:r>
              <a:rPr sz="1650" b="1" i="0">
                <a:solidFill>
                  <a:srgbClr val="102D5E"/>
                </a:solidFill>
                <a:latin typeface="Garamond"/>
              </a:rPr>
              <a:t>yes</a:t>
            </a:r>
          </a:p>
        </p:txBody>
      </p:sp>
      <p:cxnSp>
        <p:nvCxnSpPr>
          <p:cNvPr id="21" name="Connector 20"/>
          <p:cNvCxnSpPr/>
          <p:nvPr/>
        </p:nvCxnSpPr>
        <p:spPr>
          <a:xfrm>
            <a:off x="822960" y="5541264"/>
            <a:ext cx="10241280" cy="0"/>
          </a:xfrm>
          <a:prstGeom prst="line">
            <a:avLst/>
          </a:prstGeom>
          <a:ln w="16510">
            <a:solidFill>
              <a:srgbClr val="212529"/>
            </a:solidFill>
          </a:ln>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D5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400">
                <a:solidFill>
                  <a:srgbClr val="102D5E"/>
                </a:solidFill>
                <a:latin typeface="Garamond"/>
              </a:rPr>
              <a:t>☞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