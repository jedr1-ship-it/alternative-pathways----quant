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4.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8.xml"/><Relationship Id="rId4" Type="http://schemas.openxmlformats.org/officeDocument/2006/relationships/slide" Target="slide49.xml"/><Relationship Id="rId5" Type="http://schemas.openxmlformats.org/officeDocument/2006/relationships/slide" Target="slide50.xml"/><Relationship Id="rId6" Type="http://schemas.openxmlformats.org/officeDocument/2006/relationships/slide" Target="slide5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1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3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teacher group, three coding regimes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466344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1998–2002</a:t>
            </a:r>
          </a:p>
        </p:txBody>
      </p:sp>
      <p:sp>
        <p:nvSpPr>
          <p:cNvPr id="5" name="TextBox 4"/>
          <p:cNvSpPr txBox="1"/>
          <p:nvPr/>
        </p:nvSpPr>
        <p:spPr>
          <a:xfrm>
            <a:off x="722376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2003–2019</a:t>
            </a:r>
          </a:p>
        </p:txBody>
      </p:sp>
      <p:sp>
        <p:nvSpPr>
          <p:cNvPr id="6" name="TextBox 5"/>
          <p:cNvSpPr txBox="1"/>
          <p:nvPr/>
        </p:nvSpPr>
        <p:spPr>
          <a:xfrm>
            <a:off x="978408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2020–2025</a:t>
            </a:r>
          </a:p>
        </p:txBody>
      </p:sp>
      <p:sp>
        <p:nvSpPr>
          <p:cNvPr id="7" name="TextBox 6"/>
          <p:cNvSpPr txBox="1"/>
          <p:nvPr/>
        </p:nvSpPr>
        <p:spPr>
          <a:xfrm>
            <a:off x="822960" y="1965960"/>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Pre-K and kindergarten</a:t>
            </a:r>
          </a:p>
        </p:txBody>
      </p:sp>
      <p:sp>
        <p:nvSpPr>
          <p:cNvPr id="8" name="TextBox 7"/>
          <p:cNvSpPr txBox="1"/>
          <p:nvPr/>
        </p:nvSpPr>
        <p:spPr>
          <a:xfrm>
            <a:off x="466344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155</a:t>
            </a:r>
          </a:p>
        </p:txBody>
      </p:sp>
      <p:sp>
        <p:nvSpPr>
          <p:cNvPr id="9" name="TextBox 8"/>
          <p:cNvSpPr txBox="1"/>
          <p:nvPr/>
        </p:nvSpPr>
        <p:spPr>
          <a:xfrm>
            <a:off x="630936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0" name="TextBox 9"/>
          <p:cNvSpPr txBox="1"/>
          <p:nvPr/>
        </p:nvSpPr>
        <p:spPr>
          <a:xfrm>
            <a:off x="722376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1" name="TextBox 10"/>
          <p:cNvSpPr txBox="1"/>
          <p:nvPr/>
        </p:nvSpPr>
        <p:spPr>
          <a:xfrm>
            <a:off x="886968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2" name="TextBox 11"/>
          <p:cNvSpPr txBox="1"/>
          <p:nvPr/>
        </p:nvSpPr>
        <p:spPr>
          <a:xfrm>
            <a:off x="978408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3" name="TextBox 12"/>
          <p:cNvSpPr txBox="1"/>
          <p:nvPr/>
        </p:nvSpPr>
        <p:spPr>
          <a:xfrm>
            <a:off x="822960" y="2532888"/>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Elementary (and middle)</a:t>
            </a:r>
          </a:p>
        </p:txBody>
      </p:sp>
      <p:sp>
        <p:nvSpPr>
          <p:cNvPr id="14" name="TextBox 13"/>
          <p:cNvSpPr txBox="1"/>
          <p:nvPr/>
        </p:nvSpPr>
        <p:spPr>
          <a:xfrm>
            <a:off x="466344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156</a:t>
            </a:r>
          </a:p>
        </p:txBody>
      </p:sp>
      <p:sp>
        <p:nvSpPr>
          <p:cNvPr id="15" name="TextBox 14"/>
          <p:cNvSpPr txBox="1"/>
          <p:nvPr/>
        </p:nvSpPr>
        <p:spPr>
          <a:xfrm>
            <a:off x="630936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6" name="TextBox 15"/>
          <p:cNvSpPr txBox="1"/>
          <p:nvPr/>
        </p:nvSpPr>
        <p:spPr>
          <a:xfrm>
            <a:off x="722376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7" name="TextBox 16"/>
          <p:cNvSpPr txBox="1"/>
          <p:nvPr/>
        </p:nvSpPr>
        <p:spPr>
          <a:xfrm>
            <a:off x="886968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8" name="TextBox 17"/>
          <p:cNvSpPr txBox="1"/>
          <p:nvPr/>
        </p:nvSpPr>
        <p:spPr>
          <a:xfrm>
            <a:off x="978408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9" name="TextBox 18"/>
          <p:cNvSpPr txBox="1"/>
          <p:nvPr/>
        </p:nvSpPr>
        <p:spPr>
          <a:xfrm>
            <a:off x="822960" y="3099816"/>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Secondary</a:t>
            </a:r>
          </a:p>
        </p:txBody>
      </p:sp>
      <p:sp>
        <p:nvSpPr>
          <p:cNvPr id="20" name="TextBox 19"/>
          <p:cNvSpPr txBox="1"/>
          <p:nvPr/>
        </p:nvSpPr>
        <p:spPr>
          <a:xfrm>
            <a:off x="466344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157</a:t>
            </a:r>
          </a:p>
        </p:txBody>
      </p:sp>
      <p:sp>
        <p:nvSpPr>
          <p:cNvPr id="21" name="TextBox 20"/>
          <p:cNvSpPr txBox="1"/>
          <p:nvPr/>
        </p:nvSpPr>
        <p:spPr>
          <a:xfrm>
            <a:off x="630936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2" name="TextBox 21"/>
          <p:cNvSpPr txBox="1"/>
          <p:nvPr/>
        </p:nvSpPr>
        <p:spPr>
          <a:xfrm>
            <a:off x="722376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3" name="TextBox 22"/>
          <p:cNvSpPr txBox="1"/>
          <p:nvPr/>
        </p:nvSpPr>
        <p:spPr>
          <a:xfrm>
            <a:off x="886968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4" name="TextBox 23"/>
          <p:cNvSpPr txBox="1"/>
          <p:nvPr/>
        </p:nvSpPr>
        <p:spPr>
          <a:xfrm>
            <a:off x="978408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5" name="TextBox 24"/>
          <p:cNvSpPr txBox="1"/>
          <p:nvPr/>
        </p:nvSpPr>
        <p:spPr>
          <a:xfrm>
            <a:off x="822960" y="3666744"/>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Special education</a:t>
            </a:r>
          </a:p>
        </p:txBody>
      </p:sp>
      <p:sp>
        <p:nvSpPr>
          <p:cNvPr id="26" name="TextBox 25"/>
          <p:cNvSpPr txBox="1"/>
          <p:nvPr/>
        </p:nvSpPr>
        <p:spPr>
          <a:xfrm>
            <a:off x="466344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158</a:t>
            </a:r>
          </a:p>
        </p:txBody>
      </p:sp>
      <p:sp>
        <p:nvSpPr>
          <p:cNvPr id="27" name="TextBox 26"/>
          <p:cNvSpPr txBox="1"/>
          <p:nvPr/>
        </p:nvSpPr>
        <p:spPr>
          <a:xfrm>
            <a:off x="630936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8" name="TextBox 27"/>
          <p:cNvSpPr txBox="1"/>
          <p:nvPr/>
        </p:nvSpPr>
        <p:spPr>
          <a:xfrm>
            <a:off x="722376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29" name="TextBox 28"/>
          <p:cNvSpPr txBox="1"/>
          <p:nvPr/>
        </p:nvSpPr>
        <p:spPr>
          <a:xfrm>
            <a:off x="886968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0" name="TextBox 29"/>
          <p:cNvSpPr txBox="1"/>
          <p:nvPr/>
        </p:nvSpPr>
        <p:spPr>
          <a:xfrm>
            <a:off x="978408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31" name="TextBox 30"/>
          <p:cNvSpPr txBox="1"/>
          <p:nvPr/>
        </p:nvSpPr>
        <p:spPr>
          <a:xfrm>
            <a:off x="822960" y="4233672"/>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Other teachers and instructors</a:t>
            </a:r>
          </a:p>
        </p:txBody>
      </p:sp>
      <p:sp>
        <p:nvSpPr>
          <p:cNvPr id="32" name="TextBox 31"/>
          <p:cNvSpPr txBox="1"/>
          <p:nvPr/>
        </p:nvSpPr>
        <p:spPr>
          <a:xfrm>
            <a:off x="466344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159</a:t>
            </a:r>
          </a:p>
        </p:txBody>
      </p:sp>
      <p:sp>
        <p:nvSpPr>
          <p:cNvPr id="33" name="TextBox 32"/>
          <p:cNvSpPr txBox="1"/>
          <p:nvPr/>
        </p:nvSpPr>
        <p:spPr>
          <a:xfrm>
            <a:off x="6309360" y="4233672"/>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4" name="TextBox 33"/>
          <p:cNvSpPr txBox="1"/>
          <p:nvPr/>
        </p:nvSpPr>
        <p:spPr>
          <a:xfrm>
            <a:off x="722376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2340</a:t>
            </a:r>
          </a:p>
        </p:txBody>
      </p:sp>
      <p:sp>
        <p:nvSpPr>
          <p:cNvPr id="35" name="TextBox 34"/>
          <p:cNvSpPr txBox="1"/>
          <p:nvPr/>
        </p:nvSpPr>
        <p:spPr>
          <a:xfrm>
            <a:off x="8869680" y="4233672"/>
            <a:ext cx="100584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a:t>
            </a:r>
          </a:p>
        </p:txBody>
      </p:sp>
      <p:sp>
        <p:nvSpPr>
          <p:cNvPr id="36" name="TextBox 35"/>
          <p:cNvSpPr txBox="1"/>
          <p:nvPr/>
        </p:nvSpPr>
        <p:spPr>
          <a:xfrm>
            <a:off x="978408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2360</a:t>
            </a:r>
          </a:p>
        </p:txBody>
      </p:sp>
      <p:sp>
        <p:nvSpPr>
          <p:cNvPr id="37" name="TextBox 36"/>
          <p:cNvSpPr txBox="1"/>
          <p:nvPr/>
        </p:nvSpPr>
        <p:spPr>
          <a:xfrm>
            <a:off x="822960" y="5120640"/>
            <a:ext cx="10789920" cy="91440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In 2003 every code changed but the five categories did not. In 2020 a single code changed. We always use the block, never a single code across regimes.</a:t>
            </a:r>
          </a:p>
        </p:txBody>
      </p:sp>
      <p:sp>
        <p:nvSpPr>
          <p:cNvPr id="38" name="Rounded Rectangle 37">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parenting story. 64% of this group are parents with a child at home, most of them mothers.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184987" y="1051560"/>
            <a:ext cx="9791544"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to study follows age, and teacher leavers mirror the typical graduate out of the labor force: 45% of those under 30 are enrolled in school, next to 60% among all graduates. After 40, almost none study.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