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39.xml"/><Relationship Id="rId4" Type="http://schemas.openxmlformats.org/officeDocument/2006/relationships/slide" Target="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0.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2.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 Id="rId7"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92024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280160"/>
          </a:xfrm>
          <a:prstGeom prst="rect">
            <a:avLst/>
          </a:prstGeom>
          <a:noFill/>
        </p:spPr>
        <p:txBody>
          <a:bodyPr wrap="square" lIns="0" rIns="0" tIns="0" bIns="0">
            <a:spAutoFit/>
          </a:bodyPr>
          <a:lstStyle/>
          <a:p>
            <a:pPr algn="ctr">
              <a:lnSpc>
                <a:spcPts val="3840"/>
              </a:lnSpc>
              <a:spcAft>
                <a:spcPts val="800"/>
              </a:spcAft>
            </a:pPr>
            <a:r>
              <a:rPr sz="3000" b="1" i="0">
                <a:solidFill>
                  <a:srgbClr val="FFFFFF"/>
                </a:solidFill>
                <a:latin typeface="Arial"/>
              </a:rPr>
              <a:t>Measuring Teacher Attrition with Labour Force Survey Data</a:t>
            </a:r>
          </a:p>
          <a:p>
            <a:pPr algn="ctr">
              <a:lnSpc>
                <a:spcPts val="2560"/>
              </a:lnSpc>
              <a:spcAft>
                <a:spcPts val="0"/>
              </a:spcAft>
            </a:pPr>
            <a:r>
              <a:rPr sz="2000" b="0" i="0">
                <a:solidFill>
                  <a:srgbClr val="D7E3F2"/>
                </a:solidFill>
                <a:latin typeface="Arial"/>
              </a:rPr>
              <a:t>The Case of the United States</a:t>
            </a:r>
          </a:p>
        </p:txBody>
      </p:sp>
      <p:sp>
        <p:nvSpPr>
          <p:cNvPr id="4" name="TextBox 3"/>
          <p:cNvSpPr txBox="1"/>
          <p:nvPr/>
        </p:nvSpPr>
        <p:spPr>
          <a:xfrm>
            <a:off x="914400" y="4572000"/>
            <a:ext cx="10360152" cy="457200"/>
          </a:xfrm>
          <a:prstGeom prst="rect">
            <a:avLst/>
          </a:prstGeom>
          <a:noFill/>
        </p:spPr>
        <p:txBody>
          <a:bodyPr wrap="square" lIns="0" rIns="0" tIns="0" bIns="0">
            <a:spAutoFit/>
          </a:bodyPr>
          <a:lstStyle/>
          <a:p>
            <a:pPr algn="ctr">
              <a:lnSpc>
                <a:spcPts val="2304"/>
              </a:lnSpc>
              <a:spcAft>
                <a:spcPts val="0"/>
              </a:spcAft>
            </a:pPr>
            <a:r>
              <a:rPr sz="1800" b="0" i="0">
                <a:solidFill>
                  <a:srgbClr val="212529"/>
                </a:solidFill>
                <a:latin typeface="Arial"/>
              </a:rPr>
              <a:t>José Elías Durán Roa</a:t>
            </a:r>
          </a:p>
        </p:txBody>
      </p:sp>
      <p:sp>
        <p:nvSpPr>
          <p:cNvPr id="5" name="TextBox 4"/>
          <p:cNvSpPr txBox="1"/>
          <p:nvPr/>
        </p:nvSpPr>
        <p:spPr>
          <a:xfrm>
            <a:off x="914400" y="5074920"/>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Arial"/>
              </a:rPr>
              <a:t>Data Cluster · Directorate for Education and Skills</a:t>
            </a:r>
          </a:p>
        </p:txBody>
      </p:sp>
      <p:pic>
        <p:nvPicPr>
          <p:cNvPr id="6" name="Picture 5" descr="oecd_logo.png"/>
          <p:cNvPicPr>
            <a:picLocks noChangeAspect="1"/>
          </p:cNvPicPr>
          <p:nvPr/>
        </p:nvPicPr>
        <p:blipFill>
          <a:blip r:embed="rId2"/>
          <a:stretch>
            <a:fillRect/>
          </a:stretch>
        </p:blipFill>
        <p:spPr>
          <a:xfrm>
            <a:off x="5318607" y="5623560"/>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Motivation and problem</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a:t>
            </a:r>
          </a:p>
        </p:txBody>
      </p:sp>
      <p:sp>
        <p:nvSpPr>
          <p:cNvPr id="5" name="TextBox 4"/>
          <p:cNvSpPr txBox="1"/>
          <p:nvPr/>
        </p:nvSpPr>
        <p:spPr>
          <a:xfrm>
            <a:off x="822960" y="1234440"/>
            <a:ext cx="10789920" cy="45720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Arial"/>
              </a:rPr>
              <a:t>Motivation</a:t>
            </a:r>
          </a:p>
        </p:txBody>
      </p:sp>
      <p:sp>
        <p:nvSpPr>
          <p:cNvPr id="6" name="TextBox 5"/>
          <p:cNvSpPr txBox="1"/>
          <p:nvPr/>
        </p:nvSpPr>
        <p:spPr>
          <a:xfrm>
            <a:off x="822960" y="1828800"/>
            <a:ext cx="10789920" cy="5120640"/>
          </a:xfrm>
          <a:prstGeom prst="rect">
            <a:avLst/>
          </a:prstGeom>
          <a:noFill/>
        </p:spPr>
        <p:txBody>
          <a:bodyPr wrap="square" lIns="0" rIns="0" tIns="0" bIns="0">
            <a:spAutoFit/>
          </a:bodyPr>
          <a:lstStyle/>
          <a:p>
            <a:pPr algn="l">
              <a:lnSpc>
                <a:spcPts val="2560"/>
              </a:lnSpc>
              <a:spcAft>
                <a:spcPts val="2000"/>
              </a:spcAft>
            </a:pPr>
            <a:r>
              <a:rPr sz="2000" b="1" i="0">
                <a:solidFill>
                  <a:srgbClr val="2D6CB5"/>
                </a:solidFill>
                <a:latin typeface="Arial"/>
              </a:rPr>
              <a:t>▪  </a:t>
            </a:r>
            <a:r>
              <a:rPr sz="2000" b="0" i="0">
                <a:solidFill>
                  <a:srgbClr val="212529"/>
                </a:solidFill>
                <a:latin typeface="Arial"/>
              </a:rPr>
              <a:t>Understand why teachers leave the profession.</a:t>
            </a:r>
          </a:p>
          <a:p>
            <a:pPr algn="l">
              <a:lnSpc>
                <a:spcPts val="2560"/>
              </a:lnSpc>
              <a:spcAft>
                <a:spcPts val="0"/>
              </a:spcAft>
            </a:pPr>
            <a:r>
              <a:rPr sz="2000" b="1" i="0">
                <a:solidFill>
                  <a:srgbClr val="2D6CB5"/>
                </a:solidFill>
                <a:latin typeface="Arial"/>
              </a:rPr>
              <a:t>▪  </a:t>
            </a:r>
            <a:r>
              <a:rPr sz="2000" b="0" i="0">
                <a:solidFill>
                  <a:srgbClr val="212529"/>
                </a:solidFill>
                <a:latin typeface="Arial"/>
              </a:rPr>
              <a:t>Is there a real policy margin to soften teacher shortages by retaining teachers, or bringing them back?</a:t>
            </a:r>
          </a:p>
        </p:txBody>
      </p:sp>
      <p:sp>
        <p:nvSpPr>
          <p:cNvPr id="7" name="TextBox 6"/>
          <p:cNvSpPr txBox="1"/>
          <p:nvPr/>
        </p:nvSpPr>
        <p:spPr>
          <a:xfrm>
            <a:off x="822960" y="3657600"/>
            <a:ext cx="10789920" cy="45720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Arial"/>
              </a:rPr>
              <a:t>Problem</a:t>
            </a:r>
          </a:p>
        </p:txBody>
      </p:sp>
      <p:sp>
        <p:nvSpPr>
          <p:cNvPr id="8" name="TextBox 7"/>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2000"/>
              </a:spcAft>
            </a:pPr>
            <a:r>
              <a:rPr sz="2000" b="1" i="0">
                <a:solidFill>
                  <a:srgbClr val="2D6CB5"/>
                </a:solidFill>
                <a:latin typeface="Arial"/>
              </a:rPr>
              <a:t>▪  </a:t>
            </a:r>
            <a:r>
              <a:rPr sz="2000" b="0" i="0">
                <a:solidFill>
                  <a:srgbClr val="212529"/>
                </a:solidFill>
                <a:latin typeface="Arial"/>
              </a:rPr>
              <a:t>Official microdata on teachers are not publicly available for many countries.</a:t>
            </a:r>
          </a:p>
          <a:p>
            <a:pPr algn="l">
              <a:lnSpc>
                <a:spcPts val="2560"/>
              </a:lnSpc>
              <a:spcAft>
                <a:spcPts val="0"/>
              </a:spcAft>
            </a:pPr>
            <a:r>
              <a:rPr sz="2000" b="1" i="0">
                <a:solidFill>
                  <a:srgbClr val="2D6CB5"/>
                </a:solidFill>
                <a:latin typeface="Arial"/>
              </a:rPr>
              <a:t>▪  </a:t>
            </a:r>
            <a:r>
              <a:rPr sz="2000" b="0" i="0">
                <a:solidFill>
                  <a:srgbClr val="212529"/>
                </a:solidFill>
                <a:latin typeface="Arial"/>
              </a:rPr>
              <a:t>We start with the United States, the country with the most information available.</a:t>
            </a:r>
          </a:p>
        </p:txBody>
      </p:sp>
      <p:sp>
        <p:nvSpPr>
          <p:cNvPr id="9" name="Rounded Rectangle 8">
            <a:hlinkClick action="ppaction://hlinksldjump" r:id="rId2"/>
          </p:cNvPr>
          <p:cNvSpPr/>
          <p:nvPr/>
        </p:nvSpPr>
        <p:spPr>
          <a:xfrm>
            <a:off x="822960" y="6364224"/>
            <a:ext cx="1708099"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Contribution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a:t>
            </a:r>
          </a:p>
        </p:txBody>
      </p:sp>
      <p:sp>
        <p:nvSpPr>
          <p:cNvPr id="5" name="TextBox 4"/>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Arial"/>
              </a:rPr>
              <a:t>We use the Current Population Survey to</a:t>
            </a:r>
          </a:p>
        </p:txBody>
      </p:sp>
      <p:sp>
        <p:nvSpPr>
          <p:cNvPr id="6" name="TextBox 5"/>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Arial"/>
              </a:rPr>
              <a:t>1.   </a:t>
            </a:r>
            <a:r>
              <a:rPr sz="2200" b="0" i="0">
                <a:solidFill>
                  <a:srgbClr val="212529"/>
                </a:solidFill>
                <a:latin typeface="Arial"/>
              </a:rPr>
              <a:t>reproduce and extend the official statistics on teachers leaving the profession;</a:t>
            </a:r>
          </a:p>
          <a:p>
            <a:pPr algn="l">
              <a:lnSpc>
                <a:spcPts val="2816"/>
              </a:lnSpc>
              <a:spcAft>
                <a:spcPts val="0"/>
              </a:spcAft>
            </a:pPr>
            <a:r>
              <a:rPr sz="2200" b="1" i="0">
                <a:solidFill>
                  <a:srgbClr val="2D6CB5"/>
                </a:solidFill>
                <a:latin typeface="Arial"/>
              </a:rPr>
              <a:t>2.   </a:t>
            </a:r>
            <a:r>
              <a:rPr sz="2200" b="0" i="0">
                <a:solidFill>
                  <a:srgbClr val="212529"/>
                </a:solidFill>
                <a:latin typeface="Arial"/>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Arial"/>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Arial"/>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The Current Population Survey</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5</a:t>
            </a:r>
          </a:p>
        </p:txBody>
      </p:sp>
      <p:sp>
        <p:nvSpPr>
          <p:cNvPr id="5" name="TextBox 4"/>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Arial"/>
              </a:rPr>
              <a:t>▪  </a:t>
            </a:r>
            <a:r>
              <a:rPr sz="2000" b="0" i="0">
                <a:solidFill>
                  <a:srgbClr val="212529"/>
                </a:solidFill>
                <a:latin typeface="Arial"/>
              </a:rPr>
              <a:t>The monthly household survey of the United States, run by the Census Bureau for the Bureau of Labor Statistics. Nationally representative of the civilian non-institutional population.</a:t>
            </a:r>
          </a:p>
          <a:p>
            <a:pPr algn="l">
              <a:lnSpc>
                <a:spcPts val="2560"/>
              </a:lnSpc>
              <a:spcAft>
                <a:spcPts val="4600"/>
              </a:spcAft>
            </a:pPr>
            <a:r>
              <a:rPr sz="2000" b="1" i="0">
                <a:solidFill>
                  <a:srgbClr val="2D6CB5"/>
                </a:solidFill>
                <a:latin typeface="Arial"/>
              </a:rPr>
              <a:t>▪  </a:t>
            </a:r>
            <a:r>
              <a:rPr sz="2000" b="0" i="0">
                <a:solidFill>
                  <a:srgbClr val="212529"/>
                </a:solidFill>
                <a:latin typeface="Arial"/>
              </a:rPr>
              <a:t>We pool 28 consecutive March supplements, 1998–2025, which give us 5.0 million person-year records.</a:t>
            </a:r>
          </a:p>
          <a:p>
            <a:pPr algn="l">
              <a:lnSpc>
                <a:spcPts val="2560"/>
              </a:lnSpc>
              <a:spcAft>
                <a:spcPts val="0"/>
              </a:spcAft>
            </a:pPr>
            <a:r>
              <a:rPr sz="2000" b="1" i="0">
                <a:solidFill>
                  <a:srgbClr val="2D6CB5"/>
                </a:solidFill>
                <a:latin typeface="Arial"/>
              </a:rPr>
              <a:t>▪  </a:t>
            </a:r>
            <a:r>
              <a:rPr sz="2000" b="0" i="0">
                <a:solidFill>
                  <a:srgbClr val="212529"/>
                </a:solidFill>
                <a:latin typeface="Arial"/>
              </a:rPr>
              <a:t>104,545 of them are teachers, about 3,700 per year.</a:t>
            </a:r>
          </a:p>
        </p:txBody>
      </p:sp>
      <p:sp>
        <p:nvSpPr>
          <p:cNvPr id="6" name="Rounded Rectangle 5">
            <a:hlinkClick action="ppaction://hlinksldjump" r:id="rId2"/>
          </p:cNvPr>
          <p:cNvSpPr/>
          <p:nvPr/>
        </p:nvSpPr>
        <p:spPr>
          <a:xfrm>
            <a:off x="822960" y="6364224"/>
            <a:ext cx="1367942"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unemployment</a:t>
            </a:r>
          </a:p>
        </p:txBody>
      </p:sp>
      <p:sp>
        <p:nvSpPr>
          <p:cNvPr id="7" name="Rounded Rectangle 6">
            <a:hlinkClick action="ppaction://hlinksldjump" r:id="rId3"/>
          </p:cNvPr>
          <p:cNvSpPr/>
          <p:nvPr/>
        </p:nvSpPr>
        <p:spPr>
          <a:xfrm>
            <a:off x="2337206" y="6364224"/>
            <a:ext cx="1197864"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interviews</a:t>
            </a:r>
          </a:p>
        </p:txBody>
      </p:sp>
      <p:sp>
        <p:nvSpPr>
          <p:cNvPr id="8" name="Rounded Rectangle 7">
            <a:hlinkClick action="ppaction://hlinksldjump" r:id="rId4"/>
          </p:cNvPr>
          <p:cNvSpPr/>
          <p:nvPr/>
        </p:nvSpPr>
        <p:spPr>
          <a:xfrm>
            <a:off x="3681374" y="6364224"/>
            <a:ext cx="1112824"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migration</a:t>
            </a:r>
          </a:p>
        </p:txBody>
      </p:sp>
      <p:sp>
        <p:nvSpPr>
          <p:cNvPr id="9" name="Rounded Rectangle 8">
            <a:hlinkClick action="ppaction://hlinksldjump" r:id="rId5"/>
          </p:cNvPr>
          <p:cNvSpPr/>
          <p:nvPr/>
        </p:nvSpPr>
        <p:spPr>
          <a:xfrm>
            <a:off x="4940503" y="6364224"/>
            <a:ext cx="1027785"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The March supplement (ASEC)</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6</a:t>
            </a:r>
          </a:p>
        </p:txBody>
      </p:sp>
      <p:sp>
        <p:nvSpPr>
          <p:cNvPr id="5" name="TextBox 4"/>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Arial"/>
              </a:rPr>
              <a:t>▪  </a:t>
            </a:r>
            <a:r>
              <a:rPr sz="2000" b="0" i="0">
                <a:solidFill>
                  <a:srgbClr val="212529"/>
                </a:solidFill>
                <a:latin typeface="Arial"/>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Arial"/>
              </a:rPr>
              <a:t>▪  </a:t>
            </a:r>
            <a:r>
              <a:rPr sz="2000" b="0" i="0">
                <a:solidFill>
                  <a:srgbClr val="212529"/>
                </a:solidFill>
                <a:latin typeface="Arial"/>
              </a:rPr>
              <a:t>About 90,000 households, counting the March sample plus oversamples interviewed in February and April.</a:t>
            </a:r>
          </a:p>
          <a:p>
            <a:pPr algn="l">
              <a:lnSpc>
                <a:spcPts val="2560"/>
              </a:lnSpc>
              <a:spcAft>
                <a:spcPts val="0"/>
              </a:spcAft>
            </a:pPr>
            <a:r>
              <a:rPr sz="2000" b="1" i="0">
                <a:solidFill>
                  <a:srgbClr val="2D6CB5"/>
                </a:solidFill>
                <a:latin typeface="Arial"/>
              </a:rPr>
              <a:t>▪  </a:t>
            </a:r>
            <a:r>
              <a:rPr sz="2000" b="0" i="0">
                <a:solidFill>
                  <a:srgbClr val="212529"/>
                </a:solidFill>
                <a:latin typeface="Arial"/>
              </a:rPr>
              <a:t>Every adult reports on the previous calendar year, including the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Identifying a teacher: the census occupation codes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7</a:t>
            </a:r>
          </a:p>
        </p:txBody>
      </p:sp>
      <p:cxnSp>
        <p:nvCxnSpPr>
          <p:cNvPr id="5" name="Connector 4"/>
          <p:cNvCxnSpPr/>
          <p:nvPr/>
        </p:nvCxnSpPr>
        <p:spPr>
          <a:xfrm>
            <a:off x="822960" y="1325880"/>
            <a:ext cx="1078992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663440" y="1435607"/>
            <a:ext cx="2194560" cy="475488"/>
          </a:xfrm>
          <a:prstGeom prst="rect">
            <a:avLst/>
          </a:prstGeom>
          <a:noFill/>
        </p:spPr>
        <p:txBody>
          <a:bodyPr wrap="square" lIns="0" rIns="0" tIns="0" bIns="0">
            <a:spAutoFit/>
          </a:bodyPr>
          <a:lstStyle/>
          <a:p>
            <a:pPr algn="ctr">
              <a:lnSpc>
                <a:spcPts val="2048"/>
              </a:lnSpc>
              <a:spcAft>
                <a:spcPts val="0"/>
              </a:spcAft>
            </a:pPr>
            <a:r>
              <a:rPr sz="1600" b="1" i="0">
                <a:solidFill>
                  <a:srgbClr val="212529"/>
                </a:solidFill>
                <a:latin typeface="Arial"/>
              </a:rPr>
              <a:t>1990 codes</a:t>
            </a:r>
          </a:p>
        </p:txBody>
      </p:sp>
      <p:sp>
        <p:nvSpPr>
          <p:cNvPr id="7" name="TextBox 6"/>
          <p:cNvSpPr txBox="1"/>
          <p:nvPr/>
        </p:nvSpPr>
        <p:spPr>
          <a:xfrm>
            <a:off x="6949440" y="1435607"/>
            <a:ext cx="2377440" cy="475488"/>
          </a:xfrm>
          <a:prstGeom prst="rect">
            <a:avLst/>
          </a:prstGeom>
          <a:noFill/>
        </p:spPr>
        <p:txBody>
          <a:bodyPr wrap="square" lIns="0" rIns="0" tIns="0" bIns="0">
            <a:spAutoFit/>
          </a:bodyPr>
          <a:lstStyle/>
          <a:p>
            <a:pPr algn="ctr">
              <a:lnSpc>
                <a:spcPts val="2048"/>
              </a:lnSpc>
              <a:spcAft>
                <a:spcPts val="0"/>
              </a:spcAft>
            </a:pPr>
            <a:r>
              <a:rPr sz="1600" b="1" i="0">
                <a:solidFill>
                  <a:srgbClr val="212529"/>
                </a:solidFill>
                <a:latin typeface="Arial"/>
              </a:rPr>
              <a:t>2002/2010 codes</a:t>
            </a:r>
          </a:p>
        </p:txBody>
      </p:sp>
      <p:sp>
        <p:nvSpPr>
          <p:cNvPr id="8" name="TextBox 7"/>
          <p:cNvSpPr txBox="1"/>
          <p:nvPr/>
        </p:nvSpPr>
        <p:spPr>
          <a:xfrm>
            <a:off x="9418320" y="1435607"/>
            <a:ext cx="2194560" cy="475488"/>
          </a:xfrm>
          <a:prstGeom prst="rect">
            <a:avLst/>
          </a:prstGeom>
          <a:noFill/>
        </p:spPr>
        <p:txBody>
          <a:bodyPr wrap="square" lIns="0" rIns="0" tIns="0" bIns="0">
            <a:spAutoFit/>
          </a:bodyPr>
          <a:lstStyle/>
          <a:p>
            <a:pPr algn="ctr">
              <a:lnSpc>
                <a:spcPts val="2048"/>
              </a:lnSpc>
              <a:spcAft>
                <a:spcPts val="0"/>
              </a:spcAft>
            </a:pPr>
            <a:r>
              <a:rPr sz="1600" b="1" i="0">
                <a:solidFill>
                  <a:srgbClr val="212529"/>
                </a:solidFill>
                <a:latin typeface="Arial"/>
              </a:rPr>
              <a:t>2018 codes</a:t>
            </a:r>
          </a:p>
        </p:txBody>
      </p:sp>
      <p:sp>
        <p:nvSpPr>
          <p:cNvPr id="9" name="TextBox 8"/>
          <p:cNvSpPr txBox="1"/>
          <p:nvPr/>
        </p:nvSpPr>
        <p:spPr>
          <a:xfrm>
            <a:off x="4663440" y="1911095"/>
            <a:ext cx="2194560" cy="475488"/>
          </a:xfrm>
          <a:prstGeom prst="rect">
            <a:avLst/>
          </a:prstGeom>
          <a:noFill/>
        </p:spPr>
        <p:txBody>
          <a:bodyPr wrap="square" lIns="0" rIns="0" tIns="0" bIns="0">
            <a:spAutoFit/>
          </a:bodyPr>
          <a:lstStyle/>
          <a:p>
            <a:pPr algn="ctr">
              <a:lnSpc>
                <a:spcPts val="1536"/>
              </a:lnSpc>
              <a:spcAft>
                <a:spcPts val="0"/>
              </a:spcAft>
            </a:pPr>
            <a:r>
              <a:rPr sz="1200" b="0" i="0">
                <a:solidFill>
                  <a:srgbClr val="6B7480"/>
                </a:solidFill>
                <a:latin typeface="Arial"/>
              </a:rPr>
              <a:t>surveys 1998–2002</a:t>
            </a:r>
          </a:p>
        </p:txBody>
      </p:sp>
      <p:sp>
        <p:nvSpPr>
          <p:cNvPr id="10" name="TextBox 9"/>
          <p:cNvSpPr txBox="1"/>
          <p:nvPr/>
        </p:nvSpPr>
        <p:spPr>
          <a:xfrm>
            <a:off x="6949440" y="1911095"/>
            <a:ext cx="2377440" cy="475488"/>
          </a:xfrm>
          <a:prstGeom prst="rect">
            <a:avLst/>
          </a:prstGeom>
          <a:noFill/>
        </p:spPr>
        <p:txBody>
          <a:bodyPr wrap="square" lIns="0" rIns="0" tIns="0" bIns="0">
            <a:spAutoFit/>
          </a:bodyPr>
          <a:lstStyle/>
          <a:p>
            <a:pPr algn="ctr">
              <a:lnSpc>
                <a:spcPts val="1536"/>
              </a:lnSpc>
              <a:spcAft>
                <a:spcPts val="0"/>
              </a:spcAft>
            </a:pPr>
            <a:r>
              <a:rPr sz="1200" b="0" i="0">
                <a:solidFill>
                  <a:srgbClr val="6B7480"/>
                </a:solidFill>
                <a:latin typeface="Arial"/>
              </a:rPr>
              <a:t>surveys 2003–2019</a:t>
            </a:r>
          </a:p>
        </p:txBody>
      </p:sp>
      <p:sp>
        <p:nvSpPr>
          <p:cNvPr id="11" name="TextBox 10"/>
          <p:cNvSpPr txBox="1"/>
          <p:nvPr/>
        </p:nvSpPr>
        <p:spPr>
          <a:xfrm>
            <a:off x="9418320" y="1911095"/>
            <a:ext cx="2194560" cy="475488"/>
          </a:xfrm>
          <a:prstGeom prst="rect">
            <a:avLst/>
          </a:prstGeom>
          <a:noFill/>
        </p:spPr>
        <p:txBody>
          <a:bodyPr wrap="square" lIns="0" rIns="0" tIns="0" bIns="0">
            <a:spAutoFit/>
          </a:bodyPr>
          <a:lstStyle/>
          <a:p>
            <a:pPr algn="ctr">
              <a:lnSpc>
                <a:spcPts val="1536"/>
              </a:lnSpc>
              <a:spcAft>
                <a:spcPts val="0"/>
              </a:spcAft>
            </a:pPr>
            <a:r>
              <a:rPr sz="1200" b="0" i="0">
                <a:solidFill>
                  <a:srgbClr val="6B7480"/>
                </a:solidFill>
                <a:latin typeface="Arial"/>
              </a:rPr>
              <a:t>surveys 2020–2025</a:t>
            </a:r>
          </a:p>
        </p:txBody>
      </p:sp>
      <p:cxnSp>
        <p:nvCxnSpPr>
          <p:cNvPr id="12" name="Connector 11"/>
          <p:cNvCxnSpPr/>
          <p:nvPr/>
        </p:nvCxnSpPr>
        <p:spPr>
          <a:xfrm>
            <a:off x="822960" y="2404872"/>
            <a:ext cx="1078992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514600"/>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Arial"/>
              </a:rPr>
              <a:t>Pre-K and kindergarten</a:t>
            </a:r>
          </a:p>
        </p:txBody>
      </p:sp>
      <p:sp>
        <p:nvSpPr>
          <p:cNvPr id="14" name="TextBox 13"/>
          <p:cNvSpPr txBox="1"/>
          <p:nvPr/>
        </p:nvSpPr>
        <p:spPr>
          <a:xfrm>
            <a:off x="4663440" y="2514600"/>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155</a:t>
            </a:r>
          </a:p>
        </p:txBody>
      </p:sp>
      <p:sp>
        <p:nvSpPr>
          <p:cNvPr id="15" name="TextBox 14"/>
          <p:cNvSpPr txBox="1"/>
          <p:nvPr/>
        </p:nvSpPr>
        <p:spPr>
          <a:xfrm>
            <a:off x="6949440" y="2514600"/>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2300</a:t>
            </a:r>
          </a:p>
        </p:txBody>
      </p:sp>
      <p:sp>
        <p:nvSpPr>
          <p:cNvPr id="16" name="TextBox 15"/>
          <p:cNvSpPr txBox="1"/>
          <p:nvPr/>
        </p:nvSpPr>
        <p:spPr>
          <a:xfrm>
            <a:off x="9418320" y="2514600"/>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2300</a:t>
            </a:r>
          </a:p>
        </p:txBody>
      </p:sp>
      <p:sp>
        <p:nvSpPr>
          <p:cNvPr id="17" name="TextBox 16"/>
          <p:cNvSpPr txBox="1"/>
          <p:nvPr/>
        </p:nvSpPr>
        <p:spPr>
          <a:xfrm>
            <a:off x="822960" y="2990088"/>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Arial"/>
              </a:rPr>
              <a:t>Elementary (and middle)</a:t>
            </a:r>
          </a:p>
        </p:txBody>
      </p:sp>
      <p:sp>
        <p:nvSpPr>
          <p:cNvPr id="18" name="TextBox 17"/>
          <p:cNvSpPr txBox="1"/>
          <p:nvPr/>
        </p:nvSpPr>
        <p:spPr>
          <a:xfrm>
            <a:off x="4663440" y="2990088"/>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156</a:t>
            </a:r>
          </a:p>
        </p:txBody>
      </p:sp>
      <p:sp>
        <p:nvSpPr>
          <p:cNvPr id="19" name="TextBox 18"/>
          <p:cNvSpPr txBox="1"/>
          <p:nvPr/>
        </p:nvSpPr>
        <p:spPr>
          <a:xfrm>
            <a:off x="6949440" y="2990088"/>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2310</a:t>
            </a:r>
          </a:p>
        </p:txBody>
      </p:sp>
      <p:sp>
        <p:nvSpPr>
          <p:cNvPr id="20" name="TextBox 19"/>
          <p:cNvSpPr txBox="1"/>
          <p:nvPr/>
        </p:nvSpPr>
        <p:spPr>
          <a:xfrm>
            <a:off x="9418320" y="2990088"/>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2310</a:t>
            </a:r>
          </a:p>
        </p:txBody>
      </p:sp>
      <p:sp>
        <p:nvSpPr>
          <p:cNvPr id="21" name="TextBox 20"/>
          <p:cNvSpPr txBox="1"/>
          <p:nvPr/>
        </p:nvSpPr>
        <p:spPr>
          <a:xfrm>
            <a:off x="822960" y="3465576"/>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Arial"/>
              </a:rPr>
              <a:t>Secondary</a:t>
            </a:r>
          </a:p>
        </p:txBody>
      </p:sp>
      <p:sp>
        <p:nvSpPr>
          <p:cNvPr id="22" name="TextBox 21"/>
          <p:cNvSpPr txBox="1"/>
          <p:nvPr/>
        </p:nvSpPr>
        <p:spPr>
          <a:xfrm>
            <a:off x="4663440" y="3465576"/>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157</a:t>
            </a:r>
          </a:p>
        </p:txBody>
      </p:sp>
      <p:sp>
        <p:nvSpPr>
          <p:cNvPr id="23" name="TextBox 22"/>
          <p:cNvSpPr txBox="1"/>
          <p:nvPr/>
        </p:nvSpPr>
        <p:spPr>
          <a:xfrm>
            <a:off x="6949440" y="3465576"/>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2320</a:t>
            </a:r>
          </a:p>
        </p:txBody>
      </p:sp>
      <p:sp>
        <p:nvSpPr>
          <p:cNvPr id="24" name="TextBox 23"/>
          <p:cNvSpPr txBox="1"/>
          <p:nvPr/>
        </p:nvSpPr>
        <p:spPr>
          <a:xfrm>
            <a:off x="9418320" y="3465576"/>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2320</a:t>
            </a:r>
          </a:p>
        </p:txBody>
      </p:sp>
      <p:sp>
        <p:nvSpPr>
          <p:cNvPr id="25" name="TextBox 24"/>
          <p:cNvSpPr txBox="1"/>
          <p:nvPr/>
        </p:nvSpPr>
        <p:spPr>
          <a:xfrm>
            <a:off x="822960" y="3941064"/>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Arial"/>
              </a:rPr>
              <a:t>Special education</a:t>
            </a:r>
          </a:p>
        </p:txBody>
      </p:sp>
      <p:sp>
        <p:nvSpPr>
          <p:cNvPr id="26" name="TextBox 25"/>
          <p:cNvSpPr txBox="1"/>
          <p:nvPr/>
        </p:nvSpPr>
        <p:spPr>
          <a:xfrm>
            <a:off x="4663440" y="3941064"/>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158</a:t>
            </a:r>
          </a:p>
        </p:txBody>
      </p:sp>
      <p:sp>
        <p:nvSpPr>
          <p:cNvPr id="27" name="TextBox 26"/>
          <p:cNvSpPr txBox="1"/>
          <p:nvPr/>
        </p:nvSpPr>
        <p:spPr>
          <a:xfrm>
            <a:off x="6949440" y="3941064"/>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2330</a:t>
            </a:r>
          </a:p>
        </p:txBody>
      </p:sp>
      <p:sp>
        <p:nvSpPr>
          <p:cNvPr id="28" name="TextBox 27"/>
          <p:cNvSpPr txBox="1"/>
          <p:nvPr/>
        </p:nvSpPr>
        <p:spPr>
          <a:xfrm>
            <a:off x="9418320" y="3941064"/>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2330</a:t>
            </a:r>
          </a:p>
        </p:txBody>
      </p:sp>
      <p:sp>
        <p:nvSpPr>
          <p:cNvPr id="29" name="TextBox 28"/>
          <p:cNvSpPr txBox="1"/>
          <p:nvPr/>
        </p:nvSpPr>
        <p:spPr>
          <a:xfrm>
            <a:off x="822960" y="4416552"/>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Arial"/>
              </a:rPr>
              <a:t>Other teachers and instructors</a:t>
            </a:r>
          </a:p>
        </p:txBody>
      </p:sp>
      <p:sp>
        <p:nvSpPr>
          <p:cNvPr id="30" name="TextBox 29"/>
          <p:cNvSpPr txBox="1"/>
          <p:nvPr/>
        </p:nvSpPr>
        <p:spPr>
          <a:xfrm>
            <a:off x="4663440" y="4416552"/>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159</a:t>
            </a:r>
          </a:p>
        </p:txBody>
      </p:sp>
      <p:sp>
        <p:nvSpPr>
          <p:cNvPr id="31" name="TextBox 30"/>
          <p:cNvSpPr txBox="1"/>
          <p:nvPr/>
        </p:nvSpPr>
        <p:spPr>
          <a:xfrm>
            <a:off x="6949440" y="4416552"/>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2340</a:t>
            </a:r>
          </a:p>
        </p:txBody>
      </p:sp>
      <p:sp>
        <p:nvSpPr>
          <p:cNvPr id="32" name="TextBox 31"/>
          <p:cNvSpPr txBox="1"/>
          <p:nvPr/>
        </p:nvSpPr>
        <p:spPr>
          <a:xfrm>
            <a:off x="9418320" y="4416552"/>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2360</a:t>
            </a:r>
          </a:p>
        </p:txBody>
      </p:sp>
      <p:cxnSp>
        <p:nvCxnSpPr>
          <p:cNvPr id="33" name="Connector 32"/>
          <p:cNvCxnSpPr/>
          <p:nvPr/>
        </p:nvCxnSpPr>
        <p:spPr>
          <a:xfrm>
            <a:off x="822960" y="4928616"/>
            <a:ext cx="1078992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22960" y="5148072"/>
            <a:ext cx="10789920" cy="73152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Arial"/>
              </a:rPr>
              <a:t>The K–12 block maps one-to-one across the three regimes. The group is constant over time even where single codes are not.</a:t>
            </a:r>
          </a:p>
        </p:txBody>
      </p:sp>
      <p:sp>
        <p:nvSpPr>
          <p:cNvPr id="35" name="Rounded Rectangle 34">
            <a:hlinkClick action="ppaction://hlinksldjump" r:id="rId2"/>
          </p:cNvPr>
          <p:cNvSpPr/>
          <p:nvPr/>
        </p:nvSpPr>
        <p:spPr>
          <a:xfrm>
            <a:off x="822960" y="6364224"/>
            <a:ext cx="1367942"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How a household is interviewed</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8</a:t>
            </a:r>
          </a:p>
        </p:txBody>
      </p:sp>
      <p:sp>
        <p:nvSpPr>
          <p:cNvPr id="5" name="TextBox 4"/>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Arial"/>
              </a:rPr>
              <a:t>interviewed 4 months</a:t>
            </a:r>
          </a:p>
        </p:txBody>
      </p:sp>
      <p:sp>
        <p:nvSpPr>
          <p:cNvPr id="6" name="TextBox 5"/>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Arial"/>
              </a:rPr>
              <a:t>8 months out</a:t>
            </a:r>
          </a:p>
        </p:txBody>
      </p:sp>
      <p:sp>
        <p:nvSpPr>
          <p:cNvPr id="7" name="TextBox 6"/>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Arial"/>
              </a:rPr>
              <a:t>interviewed 4 months</a:t>
            </a:r>
          </a:p>
        </p:txBody>
      </p:sp>
      <p:sp>
        <p:nvSpPr>
          <p:cNvPr id="8" name="Rectangle 7"/>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1</a:t>
            </a:r>
          </a:p>
        </p:txBody>
      </p:sp>
      <p:sp>
        <p:nvSpPr>
          <p:cNvPr id="9" name="Rectangle 8"/>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2</a:t>
            </a:r>
          </a:p>
        </p:txBody>
      </p:sp>
      <p:sp>
        <p:nvSpPr>
          <p:cNvPr id="10" name="Rectangle 9"/>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3</a:t>
            </a:r>
          </a:p>
        </p:txBody>
      </p:sp>
      <p:sp>
        <p:nvSpPr>
          <p:cNvPr id="11" name="Rectangle 10"/>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4</a:t>
            </a:r>
          </a:p>
        </p:txBody>
      </p:sp>
      <p:sp>
        <p:nvSpPr>
          <p:cNvPr id="12" name="Rectangle 11"/>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5</a:t>
            </a:r>
          </a:p>
        </p:txBody>
      </p:sp>
      <p:sp>
        <p:nvSpPr>
          <p:cNvPr id="21" name="Rectangle 20"/>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6</a:t>
            </a:r>
          </a:p>
        </p:txBody>
      </p:sp>
      <p:sp>
        <p:nvSpPr>
          <p:cNvPr id="22" name="Rectangle 21"/>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7</a:t>
            </a:r>
          </a:p>
        </p:txBody>
      </p:sp>
      <p:sp>
        <p:nvSpPr>
          <p:cNvPr id="23" name="Rectangle 22"/>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Arial"/>
              </a:rPr>
              <a:t>8</a:t>
            </a:r>
          </a:p>
        </p:txBody>
      </p:sp>
      <p:sp>
        <p:nvSpPr>
          <p:cNvPr id="24" name="TextBox 23"/>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Arial"/>
              </a:rPr>
              <a:t>Mar</a:t>
            </a:r>
          </a:p>
        </p:txBody>
      </p:sp>
      <p:sp>
        <p:nvSpPr>
          <p:cNvPr id="25" name="TextBox 24"/>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Arial"/>
              </a:rPr>
              <a:t>Jun</a:t>
            </a:r>
          </a:p>
        </p:txBody>
      </p:sp>
      <p:sp>
        <p:nvSpPr>
          <p:cNvPr id="26" name="TextBox 25"/>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Arial"/>
              </a:rPr>
              <a:t>Mar</a:t>
            </a:r>
          </a:p>
        </p:txBody>
      </p:sp>
      <p:sp>
        <p:nvSpPr>
          <p:cNvPr id="27" name="TextBox 26"/>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Arial"/>
              </a:rPr>
              <a:t>Jun</a:t>
            </a:r>
          </a:p>
        </p:txBody>
      </p:sp>
      <p:sp>
        <p:nvSpPr>
          <p:cNvPr id="28" name="TextBox 27"/>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Arial"/>
              </a:rPr>
              <a:t>year 1</a:t>
            </a:r>
          </a:p>
        </p:txBody>
      </p:sp>
      <p:sp>
        <p:nvSpPr>
          <p:cNvPr id="29" name="TextBox 28"/>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Arial"/>
              </a:rPr>
              <a:t>year 2</a:t>
            </a:r>
          </a:p>
        </p:txBody>
      </p:sp>
      <p:cxnSp>
        <p:nvCxnSpPr>
          <p:cNvPr id="30" name="Connector 29"/>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Arial"/>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Two ways to identify a leaver</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9</a:t>
            </a:r>
          </a:p>
        </p:txBody>
      </p:sp>
      <p:sp>
        <p:nvSpPr>
          <p:cNvPr id="5" name="TextBox 4"/>
          <p:cNvSpPr txBox="1"/>
          <p:nvPr/>
        </p:nvSpPr>
        <p:spPr>
          <a:xfrm>
            <a:off x="822960" y="1371600"/>
            <a:ext cx="5212080" cy="457200"/>
          </a:xfrm>
          <a:prstGeom prst="rect">
            <a:avLst/>
          </a:prstGeom>
          <a:noFill/>
        </p:spPr>
        <p:txBody>
          <a:bodyPr wrap="square" lIns="0" rIns="0" tIns="0" bIns="0">
            <a:spAutoFit/>
          </a:bodyPr>
          <a:lstStyle/>
          <a:p>
            <a:pPr algn="l">
              <a:lnSpc>
                <a:spcPts val="2432"/>
              </a:lnSpc>
              <a:spcAft>
                <a:spcPts val="0"/>
              </a:spcAft>
            </a:pPr>
            <a:r>
              <a:rPr sz="1900" b="1" i="0">
                <a:solidFill>
                  <a:srgbClr val="102D5E"/>
                </a:solidFill>
                <a:latin typeface="Arial"/>
              </a:rPr>
              <a:t>A. Follow the individual</a:t>
            </a:r>
          </a:p>
        </p:txBody>
      </p:sp>
      <p:sp>
        <p:nvSpPr>
          <p:cNvPr id="6" name="TextBox 5"/>
          <p:cNvSpPr txBox="1"/>
          <p:nvPr/>
        </p:nvSpPr>
        <p:spPr>
          <a:xfrm>
            <a:off x="822960" y="2011680"/>
            <a:ext cx="5212080" cy="457200"/>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Arial"/>
              </a:rPr>
              <a:t>All months. Links require matching</a:t>
            </a:r>
          </a:p>
        </p:txBody>
      </p:sp>
      <p:sp>
        <p:nvSpPr>
          <p:cNvPr id="7" name="TextBox 6"/>
          <p:cNvSpPr txBox="1"/>
          <p:nvPr/>
        </p:nvSpPr>
        <p:spPr>
          <a:xfrm>
            <a:off x="822960" y="2606040"/>
            <a:ext cx="5212080" cy="2011680"/>
          </a:xfrm>
          <a:prstGeom prst="rect">
            <a:avLst/>
          </a:prstGeom>
          <a:noFill/>
        </p:spPr>
        <p:txBody>
          <a:bodyPr wrap="square" lIns="0" rIns="0" tIns="0" bIns="0">
            <a:spAutoFit/>
          </a:bodyPr>
          <a:lstStyle/>
          <a:p>
            <a:pPr algn="l">
              <a:lnSpc>
                <a:spcPts val="2048"/>
              </a:lnSpc>
              <a:spcAft>
                <a:spcPts val="800"/>
              </a:spcAft>
            </a:pPr>
            <a:r>
              <a:rPr sz="1600" b="0" i="0">
                <a:solidFill>
                  <a:srgbClr val="212529"/>
                </a:solidFill>
                <a:latin typeface="Arial"/>
              </a:rPr>
              <a:t>household identifier</a:t>
            </a:r>
          </a:p>
          <a:p>
            <a:pPr algn="l">
              <a:lnSpc>
                <a:spcPts val="2048"/>
              </a:lnSpc>
              <a:spcAft>
                <a:spcPts val="800"/>
              </a:spcAft>
            </a:pPr>
            <a:r>
              <a:rPr sz="1600" b="0" i="0">
                <a:solidFill>
                  <a:srgbClr val="212529"/>
                </a:solidFill>
                <a:latin typeface="Arial"/>
              </a:rPr>
              <a:t>dwelling identifier</a:t>
            </a:r>
          </a:p>
          <a:p>
            <a:pPr algn="l">
              <a:lnSpc>
                <a:spcPts val="2048"/>
              </a:lnSpc>
              <a:spcAft>
                <a:spcPts val="1200"/>
              </a:spcAft>
            </a:pPr>
            <a:r>
              <a:rPr sz="1600" b="0" i="0">
                <a:solidFill>
                  <a:srgbClr val="212529"/>
                </a:solidFill>
                <a:latin typeface="Arial"/>
              </a:rPr>
              <a:t>person line number</a:t>
            </a:r>
          </a:p>
          <a:p>
            <a:pPr algn="l">
              <a:lnSpc>
                <a:spcPts val="1920"/>
              </a:lnSpc>
              <a:spcAft>
                <a:spcPts val="0"/>
              </a:spcAft>
            </a:pPr>
            <a:r>
              <a:rPr sz="1500" b="0" i="0">
                <a:solidFill>
                  <a:srgbClr val="6B7480"/>
                </a:solidFill>
                <a:latin typeface="Arial"/>
              </a:rPr>
              <a:t>validated on sex, race, age +0–2</a:t>
            </a:r>
          </a:p>
        </p:txBody>
      </p:sp>
      <p:sp>
        <p:nvSpPr>
          <p:cNvPr id="8" name="TextBox 7"/>
          <p:cNvSpPr txBox="1"/>
          <p:nvPr/>
        </p:nvSpPr>
        <p:spPr>
          <a:xfrm>
            <a:off x="6492240" y="1371600"/>
            <a:ext cx="5029200" cy="457200"/>
          </a:xfrm>
          <a:prstGeom prst="rect">
            <a:avLst/>
          </a:prstGeom>
          <a:noFill/>
        </p:spPr>
        <p:txBody>
          <a:bodyPr wrap="square" lIns="0" rIns="0" tIns="0" bIns="0">
            <a:spAutoFit/>
          </a:bodyPr>
          <a:lstStyle/>
          <a:p>
            <a:pPr algn="l">
              <a:lnSpc>
                <a:spcPts val="2432"/>
              </a:lnSpc>
              <a:spcAft>
                <a:spcPts val="0"/>
              </a:spcAft>
            </a:pPr>
            <a:r>
              <a:rPr sz="1900" b="1" i="0">
                <a:solidFill>
                  <a:srgbClr val="102D5E"/>
                </a:solidFill>
                <a:latin typeface="Arial"/>
              </a:rPr>
              <a:t>B. Ask about last year</a:t>
            </a:r>
          </a:p>
        </p:txBody>
      </p:sp>
      <p:sp>
        <p:nvSpPr>
          <p:cNvPr id="9" name="TextBox 8"/>
          <p:cNvSpPr txBox="1"/>
          <p:nvPr/>
        </p:nvSpPr>
        <p:spPr>
          <a:xfrm>
            <a:off x="6492240" y="2011680"/>
            <a:ext cx="5029200" cy="2194560"/>
          </a:xfrm>
          <a:prstGeom prst="rect">
            <a:avLst/>
          </a:prstGeom>
          <a:noFill/>
        </p:spPr>
        <p:txBody>
          <a:bodyPr wrap="square" lIns="0" rIns="0" tIns="0" bIns="0">
            <a:spAutoFit/>
          </a:bodyPr>
          <a:lstStyle/>
          <a:p>
            <a:pPr algn="l">
              <a:lnSpc>
                <a:spcPts val="2048"/>
              </a:lnSpc>
              <a:spcAft>
                <a:spcPts val="1400"/>
              </a:spcAft>
            </a:pPr>
            <a:r>
              <a:rPr sz="1600" b="0" i="0">
                <a:solidFill>
                  <a:srgbClr val="212529"/>
                </a:solidFill>
                <a:latin typeface="Arial"/>
              </a:rPr>
              <a:t>The March supplement, retrospectively.</a:t>
            </a:r>
          </a:p>
          <a:p>
            <a:pPr algn="l">
              <a:lnSpc>
                <a:spcPts val="2048"/>
              </a:lnSpc>
              <a:spcAft>
                <a:spcPts val="0"/>
              </a:spcAft>
            </a:pPr>
            <a:r>
              <a:rPr sz="1600" b="0" i="0">
                <a:solidFill>
                  <a:srgbClr val="212529"/>
                </a:solidFill>
                <a:latin typeface="Arial"/>
              </a:rPr>
              <a:t>Taught as last year’s longest job and not teaching this March ⇒ left.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Disadvantages of each option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10</a:t>
            </a:r>
          </a:p>
        </p:txBody>
      </p:sp>
      <p:sp>
        <p:nvSpPr>
          <p:cNvPr id="5" name="TextBox 4"/>
          <p:cNvSpPr txBox="1"/>
          <p:nvPr/>
        </p:nvSpPr>
        <p:spPr>
          <a:xfrm>
            <a:off x="822960" y="1280160"/>
            <a:ext cx="5212080" cy="457200"/>
          </a:xfrm>
          <a:prstGeom prst="rect">
            <a:avLst/>
          </a:prstGeom>
          <a:noFill/>
        </p:spPr>
        <p:txBody>
          <a:bodyPr wrap="square" lIns="0" rIns="0" tIns="0" bIns="0">
            <a:spAutoFit/>
          </a:bodyPr>
          <a:lstStyle/>
          <a:p>
            <a:pPr algn="l">
              <a:lnSpc>
                <a:spcPts val="2304"/>
              </a:lnSpc>
              <a:spcAft>
                <a:spcPts val="0"/>
              </a:spcAft>
            </a:pPr>
            <a:r>
              <a:rPr sz="1800" b="1" i="0">
                <a:solidFill>
                  <a:srgbClr val="102D5E"/>
                </a:solidFill>
                <a:latin typeface="Arial"/>
              </a:rPr>
              <a:t>A. Following individuals</a:t>
            </a:r>
          </a:p>
        </p:txBody>
      </p:sp>
      <p:sp>
        <p:nvSpPr>
          <p:cNvPr id="6" name="TextBox 5"/>
          <p:cNvSpPr txBox="1"/>
          <p:nvPr/>
        </p:nvSpPr>
        <p:spPr>
          <a:xfrm>
            <a:off x="822960" y="1828800"/>
            <a:ext cx="52120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Arial"/>
              </a:rPr>
              <a:t>1.   </a:t>
            </a:r>
            <a:r>
              <a:rPr sz="1500" b="0" i="0">
                <a:solidFill>
                  <a:srgbClr val="212529"/>
                </a:solidFill>
                <a:latin typeface="Arial"/>
              </a:rPr>
              <a:t>Identity is not certain, validation can admit noisy people.</a:t>
            </a:r>
          </a:p>
          <a:p>
            <a:pPr algn="l">
              <a:lnSpc>
                <a:spcPts val="1920"/>
              </a:lnSpc>
              <a:spcAft>
                <a:spcPts val="1300"/>
              </a:spcAft>
            </a:pPr>
            <a:r>
              <a:rPr sz="1500" b="1" i="0">
                <a:solidFill>
                  <a:srgbClr val="2D6CB5"/>
                </a:solidFill>
                <a:latin typeface="Arial"/>
              </a:rPr>
              <a:t>2.   </a:t>
            </a:r>
            <a:r>
              <a:rPr sz="1500" b="0" i="0">
                <a:solidFill>
                  <a:srgbClr val="212529"/>
                </a:solidFill>
                <a:latin typeface="Arial"/>
              </a:rPr>
              <a:t>Movers are lost. About 25% of addresses are not found a year later.</a:t>
            </a:r>
          </a:p>
          <a:p>
            <a:pPr algn="l">
              <a:lnSpc>
                <a:spcPts val="1920"/>
              </a:lnSpc>
              <a:spcAft>
                <a:spcPts val="1300"/>
              </a:spcAft>
            </a:pPr>
            <a:r>
              <a:rPr sz="1500" b="1" i="0">
                <a:solidFill>
                  <a:srgbClr val="2D6CB5"/>
                </a:solidFill>
                <a:latin typeface="Arial"/>
              </a:rPr>
              <a:t>3.   </a:t>
            </a:r>
            <a:r>
              <a:rPr sz="1500" b="0" i="0">
                <a:solidFill>
                  <a:srgbClr val="212529"/>
                </a:solidFill>
                <a:latin typeface="Arial"/>
              </a:rPr>
              <a:t>Normal household attrition on top.</a:t>
            </a:r>
          </a:p>
          <a:p>
            <a:pPr algn="l">
              <a:lnSpc>
                <a:spcPts val="1920"/>
              </a:lnSpc>
              <a:spcAft>
                <a:spcPts val="1300"/>
              </a:spcAft>
            </a:pPr>
            <a:r>
              <a:rPr sz="1500" b="1" i="0">
                <a:solidFill>
                  <a:srgbClr val="2D6CB5"/>
                </a:solidFill>
                <a:latin typeface="Arial"/>
              </a:rPr>
              <a:t>4.   </a:t>
            </a:r>
            <a:r>
              <a:rPr sz="1500" b="0" i="0">
                <a:solidFill>
                  <a:srgbClr val="212529"/>
                </a:solidFill>
                <a:latin typeface="Arial"/>
              </a:rPr>
              <a:t>Strong seasonality in teaching.</a:t>
            </a:r>
          </a:p>
          <a:p>
            <a:pPr algn="l">
              <a:lnSpc>
                <a:spcPts val="1920"/>
              </a:lnSpc>
              <a:spcAft>
                <a:spcPts val="0"/>
              </a:spcAft>
            </a:pPr>
            <a:r>
              <a:rPr sz="1500" b="1" i="0">
                <a:solidFill>
                  <a:srgbClr val="2D6CB5"/>
                </a:solidFill>
                <a:latin typeface="Arial"/>
              </a:rPr>
              <a:t>5.   </a:t>
            </a:r>
            <a:r>
              <a:rPr sz="1500" b="0" i="0">
                <a:solidFill>
                  <a:srgbClr val="212529"/>
                </a:solidFill>
                <a:latin typeface="Arial"/>
              </a:rPr>
              <a:t>Many ways to define the rate (next slide).</a:t>
            </a:r>
          </a:p>
        </p:txBody>
      </p:sp>
      <p:sp>
        <p:nvSpPr>
          <p:cNvPr id="7" name="TextBox 6"/>
          <p:cNvSpPr txBox="1"/>
          <p:nvPr/>
        </p:nvSpPr>
        <p:spPr>
          <a:xfrm>
            <a:off x="6492240" y="1280160"/>
            <a:ext cx="5120640" cy="457200"/>
          </a:xfrm>
          <a:prstGeom prst="rect">
            <a:avLst/>
          </a:prstGeom>
          <a:noFill/>
        </p:spPr>
        <p:txBody>
          <a:bodyPr wrap="square" lIns="0" rIns="0" tIns="0" bIns="0">
            <a:spAutoFit/>
          </a:bodyPr>
          <a:lstStyle/>
          <a:p>
            <a:pPr algn="l">
              <a:lnSpc>
                <a:spcPts val="2304"/>
              </a:lnSpc>
              <a:spcAft>
                <a:spcPts val="0"/>
              </a:spcAft>
            </a:pPr>
            <a:r>
              <a:rPr sz="1800" b="1" i="0">
                <a:solidFill>
                  <a:srgbClr val="102D5E"/>
                </a:solidFill>
                <a:latin typeface="Arial"/>
              </a:rPr>
              <a:t>B. Retrospective March</a:t>
            </a:r>
          </a:p>
        </p:txBody>
      </p:sp>
      <p:sp>
        <p:nvSpPr>
          <p:cNvPr id="8" name="TextBox 7"/>
          <p:cNvSpPr txBox="1"/>
          <p:nvPr/>
        </p:nvSpPr>
        <p:spPr>
          <a:xfrm>
            <a:off x="6492240" y="1828800"/>
            <a:ext cx="512064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Arial"/>
              </a:rPr>
              <a:t>1.   </a:t>
            </a:r>
            <a:r>
              <a:rPr sz="1500" b="0" i="0">
                <a:solidFill>
                  <a:srgbClr val="212529"/>
                </a:solidFill>
                <a:latin typeface="Arial"/>
              </a:rPr>
              <a:t>Recall bias.</a:t>
            </a:r>
          </a:p>
          <a:p>
            <a:pPr algn="l">
              <a:lnSpc>
                <a:spcPts val="1920"/>
              </a:lnSpc>
              <a:spcAft>
                <a:spcPts val="1300"/>
              </a:spcAft>
            </a:pPr>
            <a:r>
              <a:rPr sz="1500" b="1" i="0">
                <a:solidFill>
                  <a:srgbClr val="2D6CB5"/>
                </a:solidFill>
                <a:latin typeface="Arial"/>
              </a:rPr>
              <a:t>2.   </a:t>
            </a:r>
            <a:r>
              <a:rPr sz="1500" b="0" i="0">
                <a:solidFill>
                  <a:srgbClr val="212529"/>
                </a:solidFill>
                <a:latin typeface="Arial"/>
              </a:rPr>
              <a:t>Less sample. One observation per person per year (~3,700 teachers) against ~11,000 monthly teacher observations.</a:t>
            </a:r>
          </a:p>
          <a:p>
            <a:pPr algn="l">
              <a:lnSpc>
                <a:spcPts val="1920"/>
              </a:lnSpc>
              <a:spcAft>
                <a:spcPts val="0"/>
              </a:spcAft>
            </a:pPr>
            <a:r>
              <a:rPr sz="1500" b="1" i="0">
                <a:solidFill>
                  <a:srgbClr val="2D6CB5"/>
                </a:solidFill>
                <a:latin typeface="Arial"/>
              </a:rPr>
              <a:t>3.   </a:t>
            </a:r>
            <a:r>
              <a:rPr sz="1500" b="0" i="0">
                <a:solidFill>
                  <a:srgbClr val="212529"/>
                </a:solidFill>
                <a:latin typeface="Arial"/>
              </a:rPr>
              <a:t>Only March-to-March transitions. Within-year spells are smoothed away.</a:t>
            </a:r>
          </a:p>
        </p:txBody>
      </p:sp>
      <p:sp>
        <p:nvSpPr>
          <p:cNvPr id="9" name="Rounded Rectangle 8">
            <a:hlinkClick action="ppaction://hlinksldjump" r:id="rId2"/>
          </p:cNvPr>
          <p:cNvSpPr/>
          <p:nvPr/>
        </p:nvSpPr>
        <p:spPr>
          <a:xfrm>
            <a:off x="822960" y="6364224"/>
            <a:ext cx="1367942"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linkage loss</a:t>
            </a:r>
          </a:p>
        </p:txBody>
      </p:sp>
      <p:sp>
        <p:nvSpPr>
          <p:cNvPr id="10" name="Rounded Rectangle 9">
            <a:hlinkClick action="ppaction://hlinksldjump" r:id="rId3"/>
          </p:cNvPr>
          <p:cNvSpPr/>
          <p:nvPr/>
        </p:nvSpPr>
        <p:spPr>
          <a:xfrm>
            <a:off x="2337206" y="6364224"/>
            <a:ext cx="2218334"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definition sensitivity</a:t>
            </a:r>
          </a:p>
        </p:txBody>
      </p:sp>
      <p:sp>
        <p:nvSpPr>
          <p:cNvPr id="11" name="Rounded Rectangle 10">
            <a:hlinkClick action="ppaction://hlinksldjump" r:id="rId4"/>
          </p:cNvPr>
          <p:cNvSpPr/>
          <p:nvPr/>
        </p:nvSpPr>
        <p:spPr>
          <a:xfrm>
            <a:off x="4701844" y="6364224"/>
            <a:ext cx="1197864"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Six ways to define leaving, simplest to strictest</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11</a:t>
            </a:r>
          </a:p>
        </p:txBody>
      </p:sp>
      <p:sp>
        <p:nvSpPr>
          <p:cNvPr id="5" name="TextBox 4"/>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Arial"/>
              </a:rPr>
              <a:t>Unit: the individual. Four interviews in year 1, four in year 2.</a:t>
            </a:r>
          </a:p>
        </p:txBody>
      </p:sp>
      <p:cxnSp>
        <p:nvCxnSpPr>
          <p:cNvPr id="6" name="Connector 5"/>
          <p:cNvCxnSpPr/>
          <p:nvPr/>
        </p:nvCxnSpPr>
        <p:spPr>
          <a:xfrm>
            <a:off x="822960" y="1737360"/>
            <a:ext cx="1069848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200400" y="1847088"/>
            <a:ext cx="4114800" cy="640080"/>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Arial"/>
              </a:rPr>
              <a:t>A teacher…</a:t>
            </a:r>
          </a:p>
        </p:txBody>
      </p:sp>
      <p:sp>
        <p:nvSpPr>
          <p:cNvPr id="8" name="TextBox 7"/>
          <p:cNvSpPr txBox="1"/>
          <p:nvPr/>
        </p:nvSpPr>
        <p:spPr>
          <a:xfrm>
            <a:off x="7498079" y="1847088"/>
            <a:ext cx="4023360" cy="640080"/>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Arial"/>
              </a:rPr>
              <a:t>A leaver…</a:t>
            </a:r>
          </a:p>
        </p:txBody>
      </p:sp>
      <p:cxnSp>
        <p:nvCxnSpPr>
          <p:cNvPr id="9" name="Connector 8"/>
          <p:cNvCxnSpPr/>
          <p:nvPr/>
        </p:nvCxnSpPr>
        <p:spPr>
          <a:xfrm>
            <a:off x="822960" y="2505456"/>
            <a:ext cx="1069848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61518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Arial"/>
              </a:rPr>
              <a:t>Single</a:t>
            </a:r>
          </a:p>
        </p:txBody>
      </p:sp>
      <p:sp>
        <p:nvSpPr>
          <p:cNvPr id="11" name="TextBox 10"/>
          <p:cNvSpPr txBox="1"/>
          <p:nvPr/>
        </p:nvSpPr>
        <p:spPr>
          <a:xfrm>
            <a:off x="3200400" y="261518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 1 of the 4 year-1 interviews</a:t>
            </a:r>
          </a:p>
        </p:txBody>
      </p:sp>
      <p:sp>
        <p:nvSpPr>
          <p:cNvPr id="12" name="TextBox 11"/>
          <p:cNvSpPr txBox="1"/>
          <p:nvPr/>
        </p:nvSpPr>
        <p:spPr>
          <a:xfrm>
            <a:off x="7498079" y="261518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none of the 4 year-2 interviews</a:t>
            </a:r>
          </a:p>
        </p:txBody>
      </p:sp>
      <p:sp>
        <p:nvSpPr>
          <p:cNvPr id="13" name="TextBox 12"/>
          <p:cNvSpPr txBox="1"/>
          <p:nvPr/>
        </p:nvSpPr>
        <p:spPr>
          <a:xfrm>
            <a:off x="822960" y="3255263"/>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Arial"/>
              </a:rPr>
              <a:t>Pair</a:t>
            </a:r>
          </a:p>
        </p:txBody>
      </p:sp>
      <p:sp>
        <p:nvSpPr>
          <p:cNvPr id="14" name="TextBox 13"/>
          <p:cNvSpPr txBox="1"/>
          <p:nvPr/>
        </p:nvSpPr>
        <p:spPr>
          <a:xfrm>
            <a:off x="3200400" y="3255263"/>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 2 of the 4</a:t>
            </a:r>
          </a:p>
        </p:txBody>
      </p:sp>
      <p:sp>
        <p:nvSpPr>
          <p:cNvPr id="15" name="TextBox 14"/>
          <p:cNvSpPr txBox="1"/>
          <p:nvPr/>
        </p:nvSpPr>
        <p:spPr>
          <a:xfrm>
            <a:off x="7498079" y="3255263"/>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none of the 4</a:t>
            </a:r>
          </a:p>
        </p:txBody>
      </p:sp>
      <p:sp>
        <p:nvSpPr>
          <p:cNvPr id="16" name="TextBox 15"/>
          <p:cNvSpPr txBox="1"/>
          <p:nvPr/>
        </p:nvSpPr>
        <p:spPr>
          <a:xfrm>
            <a:off x="822960" y="389534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Arial"/>
              </a:rPr>
              <a:t>Triple</a:t>
            </a:r>
          </a:p>
        </p:txBody>
      </p:sp>
      <p:sp>
        <p:nvSpPr>
          <p:cNvPr id="17" name="TextBox 16"/>
          <p:cNvSpPr txBox="1"/>
          <p:nvPr/>
        </p:nvSpPr>
        <p:spPr>
          <a:xfrm>
            <a:off x="3200400" y="389534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 3 of the 4</a:t>
            </a:r>
          </a:p>
        </p:txBody>
      </p:sp>
      <p:sp>
        <p:nvSpPr>
          <p:cNvPr id="18" name="TextBox 17"/>
          <p:cNvSpPr txBox="1"/>
          <p:nvPr/>
        </p:nvSpPr>
        <p:spPr>
          <a:xfrm>
            <a:off x="7498079" y="389534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none of the 4</a:t>
            </a:r>
          </a:p>
        </p:txBody>
      </p:sp>
      <p:sp>
        <p:nvSpPr>
          <p:cNvPr id="19" name="TextBox 18"/>
          <p:cNvSpPr txBox="1"/>
          <p:nvPr/>
        </p:nvSpPr>
        <p:spPr>
          <a:xfrm>
            <a:off x="822960" y="453542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Arial"/>
              </a:rPr>
              <a:t>Strict</a:t>
            </a:r>
          </a:p>
        </p:txBody>
      </p:sp>
      <p:sp>
        <p:nvSpPr>
          <p:cNvPr id="20" name="TextBox 19"/>
          <p:cNvSpPr txBox="1"/>
          <p:nvPr/>
        </p:nvSpPr>
        <p:spPr>
          <a:xfrm>
            <a:off x="3200400" y="453542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all 4</a:t>
            </a:r>
          </a:p>
        </p:txBody>
      </p:sp>
      <p:sp>
        <p:nvSpPr>
          <p:cNvPr id="21" name="TextBox 20"/>
          <p:cNvSpPr txBox="1"/>
          <p:nvPr/>
        </p:nvSpPr>
        <p:spPr>
          <a:xfrm>
            <a:off x="7498079" y="453542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seen teaching in none of the 4</a:t>
            </a:r>
          </a:p>
        </p:txBody>
      </p:sp>
      <p:sp>
        <p:nvSpPr>
          <p:cNvPr id="22" name="TextBox 21"/>
          <p:cNvSpPr txBox="1"/>
          <p:nvPr/>
        </p:nvSpPr>
        <p:spPr>
          <a:xfrm>
            <a:off x="822960" y="517550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Arial"/>
              </a:rPr>
              <a:t>Month pairs</a:t>
            </a:r>
          </a:p>
        </p:txBody>
      </p:sp>
      <p:sp>
        <p:nvSpPr>
          <p:cNvPr id="23" name="TextBox 22"/>
          <p:cNvSpPr txBox="1"/>
          <p:nvPr/>
        </p:nvSpPr>
        <p:spPr>
          <a:xfrm>
            <a:off x="3200400" y="517550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each teaching month, on its own</a:t>
            </a:r>
          </a:p>
        </p:txBody>
      </p:sp>
      <p:sp>
        <p:nvSpPr>
          <p:cNvPr id="24" name="TextBox 23"/>
          <p:cNvSpPr txBox="1"/>
          <p:nvPr/>
        </p:nvSpPr>
        <p:spPr>
          <a:xfrm>
            <a:off x="7498079" y="517550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not seen teaching twelve months later</a:t>
            </a:r>
          </a:p>
        </p:txBody>
      </p:sp>
      <p:sp>
        <p:nvSpPr>
          <p:cNvPr id="25" name="TextBox 24"/>
          <p:cNvSpPr txBox="1"/>
          <p:nvPr/>
        </p:nvSpPr>
        <p:spPr>
          <a:xfrm>
            <a:off x="822960" y="581558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Arial"/>
              </a:rPr>
              <a:t>Annual recall</a:t>
            </a:r>
          </a:p>
        </p:txBody>
      </p:sp>
      <p:sp>
        <p:nvSpPr>
          <p:cNvPr id="26" name="TextBox 25"/>
          <p:cNvSpPr txBox="1"/>
          <p:nvPr/>
        </p:nvSpPr>
        <p:spPr>
          <a:xfrm>
            <a:off x="3200400" y="581558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teaching was last year’s longest job</a:t>
            </a:r>
          </a:p>
        </p:txBody>
      </p:sp>
      <p:sp>
        <p:nvSpPr>
          <p:cNvPr id="27" name="TextBox 26"/>
          <p:cNvSpPr txBox="1"/>
          <p:nvPr/>
        </p:nvSpPr>
        <p:spPr>
          <a:xfrm>
            <a:off x="7498079" y="581558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not teaching at the March interview</a:t>
            </a:r>
          </a:p>
        </p:txBody>
      </p:sp>
      <p:cxnSp>
        <p:nvCxnSpPr>
          <p:cNvPr id="28" name="Connector 27"/>
          <p:cNvCxnSpPr/>
          <p:nvPr/>
        </p:nvCxnSpPr>
        <p:spPr>
          <a:xfrm>
            <a:off x="822960" y="6492240"/>
            <a:ext cx="1069848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The six, on one axis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12</a:t>
            </a:r>
          </a:p>
        </p:txBody>
      </p:sp>
      <p:pic>
        <p:nvPicPr>
          <p:cNvPr id="5" name="Picture 4" descr="defs6.png"/>
          <p:cNvPicPr>
            <a:picLocks noChangeAspect="1"/>
          </p:cNvPicPr>
          <p:nvPr/>
        </p:nvPicPr>
        <p:blipFill>
          <a:blip r:embed="rId2"/>
          <a:stretch>
            <a:fillRect/>
          </a:stretch>
        </p:blipFill>
        <p:spPr>
          <a:xfrm>
            <a:off x="1297305" y="1097280"/>
            <a:ext cx="9566910" cy="4937760"/>
          </a:xfrm>
          <a:prstGeom prst="rect">
            <a:avLst/>
          </a:prstGeom>
        </p:spPr>
      </p:pic>
      <p:sp>
        <p:nvSpPr>
          <p:cNvPr id="6" name="TextBox 5"/>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Arial"/>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Arial"/>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Arial"/>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Leaving teaching, 1997–2024</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14</a:t>
            </a:r>
          </a:p>
        </p:txBody>
      </p:sp>
      <p:pic>
        <p:nvPicPr>
          <p:cNvPr id="5" name="Picture 4"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Around 8 of every 100 teachers leave each year, and the rate has been stable for 25 years. Attrition is a permanent flow, not a recent crisis.</a:t>
            </a:r>
          </a:p>
        </p:txBody>
      </p:sp>
      <p:sp>
        <p:nvSpPr>
          <p:cNvPr id="7" name="Rounded Rectangle 6">
            <a:hlinkClick action="ppaction://hlinksldjump" r:id="rId3"/>
          </p:cNvPr>
          <p:cNvSpPr/>
          <p:nvPr/>
        </p:nvSpPr>
        <p:spPr>
          <a:xfrm>
            <a:off x="822960" y="6364224"/>
            <a:ext cx="179313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Comparable professions: who we compare teachers with</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15</a:t>
            </a:r>
          </a:p>
        </p:txBody>
      </p:sp>
      <p:cxnSp>
        <p:nvCxnSpPr>
          <p:cNvPr id="5" name="Connector 4"/>
          <p:cNvCxnSpPr/>
          <p:nvPr/>
        </p:nvCxnSpPr>
        <p:spPr>
          <a:xfrm>
            <a:off x="822960" y="1280160"/>
            <a:ext cx="1069848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663440" y="1389888"/>
            <a:ext cx="164592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Teachers</a:t>
            </a:r>
          </a:p>
        </p:txBody>
      </p:sp>
      <p:sp>
        <p:nvSpPr>
          <p:cNvPr id="7" name="TextBox 6"/>
          <p:cNvSpPr txBox="1"/>
          <p:nvPr/>
        </p:nvSpPr>
        <p:spPr>
          <a:xfrm>
            <a:off x="6400800" y="1389888"/>
            <a:ext cx="164592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Nurses</a:t>
            </a:r>
          </a:p>
        </p:txBody>
      </p:sp>
      <p:sp>
        <p:nvSpPr>
          <p:cNvPr id="8" name="TextBox 7"/>
          <p:cNvSpPr txBox="1"/>
          <p:nvPr/>
        </p:nvSpPr>
        <p:spPr>
          <a:xfrm>
            <a:off x="8138160" y="1389888"/>
            <a:ext cx="173736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Social workers</a:t>
            </a:r>
          </a:p>
        </p:txBody>
      </p:sp>
      <p:sp>
        <p:nvSpPr>
          <p:cNvPr id="9" name="TextBox 8"/>
          <p:cNvSpPr txBox="1"/>
          <p:nvPr/>
        </p:nvSpPr>
        <p:spPr>
          <a:xfrm>
            <a:off x="9966960" y="1389888"/>
            <a:ext cx="155448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Accountants</a:t>
            </a:r>
          </a:p>
        </p:txBody>
      </p:sp>
      <p:cxnSp>
        <p:nvCxnSpPr>
          <p:cNvPr id="10" name="Connector 9"/>
          <p:cNvCxnSpPr/>
          <p:nvPr/>
        </p:nvCxnSpPr>
        <p:spPr>
          <a:xfrm>
            <a:off x="822960" y="1837943"/>
            <a:ext cx="1069848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1947672"/>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Female (%)</a:t>
            </a:r>
          </a:p>
        </p:txBody>
      </p:sp>
      <p:sp>
        <p:nvSpPr>
          <p:cNvPr id="12" name="TextBox 11"/>
          <p:cNvSpPr txBox="1"/>
          <p:nvPr/>
        </p:nvSpPr>
        <p:spPr>
          <a:xfrm>
            <a:off x="4663440" y="1947672"/>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76.0</a:t>
            </a:r>
          </a:p>
        </p:txBody>
      </p:sp>
      <p:sp>
        <p:nvSpPr>
          <p:cNvPr id="13" name="TextBox 12"/>
          <p:cNvSpPr txBox="1"/>
          <p:nvPr/>
        </p:nvSpPr>
        <p:spPr>
          <a:xfrm>
            <a:off x="6400800" y="1947672"/>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88.2</a:t>
            </a:r>
          </a:p>
        </p:txBody>
      </p:sp>
      <p:sp>
        <p:nvSpPr>
          <p:cNvPr id="14" name="TextBox 13"/>
          <p:cNvSpPr txBox="1"/>
          <p:nvPr/>
        </p:nvSpPr>
        <p:spPr>
          <a:xfrm>
            <a:off x="8138160" y="1947672"/>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82.9</a:t>
            </a:r>
          </a:p>
        </p:txBody>
      </p:sp>
      <p:sp>
        <p:nvSpPr>
          <p:cNvPr id="15" name="TextBox 14"/>
          <p:cNvSpPr txBox="1"/>
          <p:nvPr/>
        </p:nvSpPr>
        <p:spPr>
          <a:xfrm>
            <a:off x="9966960" y="1947672"/>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57.0</a:t>
            </a:r>
          </a:p>
        </p:txBody>
      </p:sp>
      <p:sp>
        <p:nvSpPr>
          <p:cNvPr id="16" name="TextBox 15"/>
          <p:cNvSpPr txBox="1"/>
          <p:nvPr/>
        </p:nvSpPr>
        <p:spPr>
          <a:xfrm>
            <a:off x="822960" y="2377439"/>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Average age (years)</a:t>
            </a:r>
          </a:p>
        </p:txBody>
      </p:sp>
      <p:sp>
        <p:nvSpPr>
          <p:cNvPr id="17" name="TextBox 16"/>
          <p:cNvSpPr txBox="1"/>
          <p:nvPr/>
        </p:nvSpPr>
        <p:spPr>
          <a:xfrm>
            <a:off x="4663440" y="2377439"/>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44.4</a:t>
            </a:r>
          </a:p>
        </p:txBody>
      </p:sp>
      <p:sp>
        <p:nvSpPr>
          <p:cNvPr id="18" name="TextBox 17"/>
          <p:cNvSpPr txBox="1"/>
          <p:nvPr/>
        </p:nvSpPr>
        <p:spPr>
          <a:xfrm>
            <a:off x="6400800" y="2377439"/>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43.1</a:t>
            </a:r>
          </a:p>
        </p:txBody>
      </p:sp>
      <p:sp>
        <p:nvSpPr>
          <p:cNvPr id="19" name="TextBox 18"/>
          <p:cNvSpPr txBox="1"/>
          <p:nvPr/>
        </p:nvSpPr>
        <p:spPr>
          <a:xfrm>
            <a:off x="8138160" y="2377439"/>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43.4</a:t>
            </a:r>
          </a:p>
        </p:txBody>
      </p:sp>
      <p:sp>
        <p:nvSpPr>
          <p:cNvPr id="20" name="TextBox 19"/>
          <p:cNvSpPr txBox="1"/>
          <p:nvPr/>
        </p:nvSpPr>
        <p:spPr>
          <a:xfrm>
            <a:off x="9966960" y="2377439"/>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44.1</a:t>
            </a:r>
          </a:p>
        </p:txBody>
      </p:sp>
      <p:sp>
        <p:nvSpPr>
          <p:cNvPr id="21" name="TextBox 20"/>
          <p:cNvSpPr txBox="1"/>
          <p:nvPr/>
        </p:nvSpPr>
        <p:spPr>
          <a:xfrm>
            <a:off x="822960" y="2807207"/>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Master’s or higher (%)</a:t>
            </a:r>
          </a:p>
        </p:txBody>
      </p:sp>
      <p:sp>
        <p:nvSpPr>
          <p:cNvPr id="22" name="TextBox 21"/>
          <p:cNvSpPr txBox="1"/>
          <p:nvPr/>
        </p:nvSpPr>
        <p:spPr>
          <a:xfrm>
            <a:off x="4663440" y="2807207"/>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51.9</a:t>
            </a:r>
          </a:p>
        </p:txBody>
      </p:sp>
      <p:sp>
        <p:nvSpPr>
          <p:cNvPr id="23" name="TextBox 22"/>
          <p:cNvSpPr txBox="1"/>
          <p:nvPr/>
        </p:nvSpPr>
        <p:spPr>
          <a:xfrm>
            <a:off x="6400800" y="2807207"/>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25.9</a:t>
            </a:r>
          </a:p>
        </p:txBody>
      </p:sp>
      <p:sp>
        <p:nvSpPr>
          <p:cNvPr id="24" name="TextBox 23"/>
          <p:cNvSpPr txBox="1"/>
          <p:nvPr/>
        </p:nvSpPr>
        <p:spPr>
          <a:xfrm>
            <a:off x="8138160" y="2807207"/>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50.8</a:t>
            </a:r>
          </a:p>
        </p:txBody>
      </p:sp>
      <p:sp>
        <p:nvSpPr>
          <p:cNvPr id="25" name="TextBox 24"/>
          <p:cNvSpPr txBox="1"/>
          <p:nvPr/>
        </p:nvSpPr>
        <p:spPr>
          <a:xfrm>
            <a:off x="9966960" y="2807207"/>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31.3</a:t>
            </a:r>
          </a:p>
        </p:txBody>
      </p:sp>
      <p:sp>
        <p:nvSpPr>
          <p:cNvPr id="26" name="TextBox 25"/>
          <p:cNvSpPr txBox="1"/>
          <p:nvPr/>
        </p:nvSpPr>
        <p:spPr>
          <a:xfrm>
            <a:off x="822960" y="3236975"/>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Public sector (%)</a:t>
            </a:r>
          </a:p>
        </p:txBody>
      </p:sp>
      <p:sp>
        <p:nvSpPr>
          <p:cNvPr id="27" name="TextBox 26"/>
          <p:cNvSpPr txBox="1"/>
          <p:nvPr/>
        </p:nvSpPr>
        <p:spPr>
          <a:xfrm>
            <a:off x="4663440" y="323697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70.2</a:t>
            </a:r>
          </a:p>
        </p:txBody>
      </p:sp>
      <p:sp>
        <p:nvSpPr>
          <p:cNvPr id="28" name="TextBox 27"/>
          <p:cNvSpPr txBox="1"/>
          <p:nvPr/>
        </p:nvSpPr>
        <p:spPr>
          <a:xfrm>
            <a:off x="6400800" y="323697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12.3</a:t>
            </a:r>
          </a:p>
        </p:txBody>
      </p:sp>
      <p:sp>
        <p:nvSpPr>
          <p:cNvPr id="29" name="TextBox 28"/>
          <p:cNvSpPr txBox="1"/>
          <p:nvPr/>
        </p:nvSpPr>
        <p:spPr>
          <a:xfrm>
            <a:off x="8138160" y="3236975"/>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43.1</a:t>
            </a:r>
          </a:p>
        </p:txBody>
      </p:sp>
      <p:sp>
        <p:nvSpPr>
          <p:cNvPr id="30" name="TextBox 29"/>
          <p:cNvSpPr txBox="1"/>
          <p:nvPr/>
        </p:nvSpPr>
        <p:spPr>
          <a:xfrm>
            <a:off x="9966960" y="3236975"/>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11.0</a:t>
            </a:r>
          </a:p>
        </p:txBody>
      </p:sp>
      <p:sp>
        <p:nvSpPr>
          <p:cNvPr id="31" name="TextBox 30"/>
          <p:cNvSpPr txBox="1"/>
          <p:nvPr/>
        </p:nvSpPr>
        <p:spPr>
          <a:xfrm>
            <a:off x="822960" y="3666743"/>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Weeks worked</a:t>
            </a:r>
          </a:p>
        </p:txBody>
      </p:sp>
      <p:sp>
        <p:nvSpPr>
          <p:cNvPr id="32" name="TextBox 31"/>
          <p:cNvSpPr txBox="1"/>
          <p:nvPr/>
        </p:nvSpPr>
        <p:spPr>
          <a:xfrm>
            <a:off x="4663440" y="3666743"/>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46.6</a:t>
            </a:r>
          </a:p>
        </p:txBody>
      </p:sp>
      <p:sp>
        <p:nvSpPr>
          <p:cNvPr id="33" name="TextBox 32"/>
          <p:cNvSpPr txBox="1"/>
          <p:nvPr/>
        </p:nvSpPr>
        <p:spPr>
          <a:xfrm>
            <a:off x="6400800" y="3666743"/>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49.3</a:t>
            </a:r>
          </a:p>
        </p:txBody>
      </p:sp>
      <p:sp>
        <p:nvSpPr>
          <p:cNvPr id="34" name="TextBox 33"/>
          <p:cNvSpPr txBox="1"/>
          <p:nvPr/>
        </p:nvSpPr>
        <p:spPr>
          <a:xfrm>
            <a:off x="8138160" y="3666743"/>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49.6</a:t>
            </a:r>
          </a:p>
        </p:txBody>
      </p:sp>
      <p:sp>
        <p:nvSpPr>
          <p:cNvPr id="35" name="TextBox 34"/>
          <p:cNvSpPr txBox="1"/>
          <p:nvPr/>
        </p:nvSpPr>
        <p:spPr>
          <a:xfrm>
            <a:off x="9966960" y="3666743"/>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49.5</a:t>
            </a:r>
          </a:p>
        </p:txBody>
      </p:sp>
      <p:sp>
        <p:nvSpPr>
          <p:cNvPr id="36" name="TextBox 35"/>
          <p:cNvSpPr txBox="1"/>
          <p:nvPr/>
        </p:nvSpPr>
        <p:spPr>
          <a:xfrm>
            <a:off x="822960" y="4096511"/>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Median annual wage ($)</a:t>
            </a:r>
          </a:p>
        </p:txBody>
      </p:sp>
      <p:sp>
        <p:nvSpPr>
          <p:cNvPr id="37" name="TextBox 36"/>
          <p:cNvSpPr txBox="1"/>
          <p:nvPr/>
        </p:nvSpPr>
        <p:spPr>
          <a:xfrm>
            <a:off x="4663440" y="4096511"/>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56,000</a:t>
            </a:r>
          </a:p>
        </p:txBody>
      </p:sp>
      <p:sp>
        <p:nvSpPr>
          <p:cNvPr id="38" name="TextBox 37"/>
          <p:cNvSpPr txBox="1"/>
          <p:nvPr/>
        </p:nvSpPr>
        <p:spPr>
          <a:xfrm>
            <a:off x="6400800" y="4096511"/>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80,000</a:t>
            </a:r>
          </a:p>
        </p:txBody>
      </p:sp>
      <p:sp>
        <p:nvSpPr>
          <p:cNvPr id="39" name="TextBox 38"/>
          <p:cNvSpPr txBox="1"/>
          <p:nvPr/>
        </p:nvSpPr>
        <p:spPr>
          <a:xfrm>
            <a:off x="8138160" y="4096511"/>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57,000</a:t>
            </a:r>
          </a:p>
        </p:txBody>
      </p:sp>
      <p:sp>
        <p:nvSpPr>
          <p:cNvPr id="40" name="TextBox 39"/>
          <p:cNvSpPr txBox="1"/>
          <p:nvPr/>
        </p:nvSpPr>
        <p:spPr>
          <a:xfrm>
            <a:off x="9966960" y="4096511"/>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77,000</a:t>
            </a:r>
          </a:p>
        </p:txBody>
      </p:sp>
      <p:cxnSp>
        <p:nvCxnSpPr>
          <p:cNvPr id="41" name="Connector 40"/>
          <p:cNvCxnSpPr/>
          <p:nvPr/>
        </p:nvCxnSpPr>
        <p:spPr>
          <a:xfrm>
            <a:off x="822960" y="4544567"/>
            <a:ext cx="1069848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22960" y="4654295"/>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Observations</a:t>
            </a:r>
          </a:p>
        </p:txBody>
      </p:sp>
      <p:sp>
        <p:nvSpPr>
          <p:cNvPr id="43" name="TextBox 42"/>
          <p:cNvSpPr txBox="1"/>
          <p:nvPr/>
        </p:nvSpPr>
        <p:spPr>
          <a:xfrm>
            <a:off x="4663440" y="465429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28,932</a:t>
            </a:r>
          </a:p>
        </p:txBody>
      </p:sp>
      <p:sp>
        <p:nvSpPr>
          <p:cNvPr id="44" name="TextBox 43"/>
          <p:cNvSpPr txBox="1"/>
          <p:nvPr/>
        </p:nvSpPr>
        <p:spPr>
          <a:xfrm>
            <a:off x="6400800" y="465429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13,107</a:t>
            </a:r>
          </a:p>
        </p:txBody>
      </p:sp>
      <p:sp>
        <p:nvSpPr>
          <p:cNvPr id="45" name="TextBox 44"/>
          <p:cNvSpPr txBox="1"/>
          <p:nvPr/>
        </p:nvSpPr>
        <p:spPr>
          <a:xfrm>
            <a:off x="8138160" y="4654295"/>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3,407</a:t>
            </a:r>
          </a:p>
        </p:txBody>
      </p:sp>
      <p:sp>
        <p:nvSpPr>
          <p:cNvPr id="46" name="TextBox 45"/>
          <p:cNvSpPr txBox="1"/>
          <p:nvPr/>
        </p:nvSpPr>
        <p:spPr>
          <a:xfrm>
            <a:off x="9966960" y="4654295"/>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6,897</a:t>
            </a:r>
          </a:p>
        </p:txBody>
      </p:sp>
      <p:cxnSp>
        <p:nvCxnSpPr>
          <p:cNvPr id="47" name="Connector 46"/>
          <p:cNvCxnSpPr/>
          <p:nvPr/>
        </p:nvCxnSpPr>
        <p:spPr>
          <a:xfrm>
            <a:off x="822960" y="5120639"/>
            <a:ext cx="1069848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22960" y="5230367"/>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Arial"/>
              </a:rPr>
              <a:t>College graduates, pooled 2015–2024, weighted; wages from 2020–2024.</a:t>
            </a:r>
          </a:p>
        </p:txBody>
      </p:sp>
      <p:sp>
        <p:nvSpPr>
          <p:cNvPr id="49" name="Rounded Rectangle 48"/>
          <p:cNvSpPr/>
          <p:nvPr/>
        </p:nvSpPr>
        <p:spPr>
          <a:xfrm>
            <a:off x="502920" y="5989320"/>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450" b="1">
                <a:solidFill>
                  <a:srgbClr val="102D5E"/>
                </a:solidFill>
                <a:latin typeface="Arial"/>
              </a:rPr>
              <a:t>Key message.  </a:t>
            </a:r>
            <a:r>
              <a:rPr sz="1450" b="0">
                <a:solidFill>
                  <a:srgbClr val="212529"/>
                </a:solidFill>
                <a:latin typeface="Arial"/>
              </a:rPr>
              <a:t>Teaching shares its age and gender profile with nursing and social work. What sets it apart is pay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Leaving the occupation, by profession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16</a:t>
            </a:r>
          </a:p>
        </p:txBody>
      </p:sp>
      <p:pic>
        <p:nvPicPr>
          <p:cNvPr id="5" name="Picture 4"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Teachers leave at about the same rate as comparable professions. What makes teaching special is not how many leave, but who leaves and where they go.</a:t>
            </a:r>
          </a:p>
        </p:txBody>
      </p:sp>
      <p:sp>
        <p:nvSpPr>
          <p:cNvPr id="7" name="Rounded Rectangle 6">
            <a:hlinkClick action="ppaction://hlinksldjump" r:id="rId3"/>
          </p:cNvPr>
          <p:cNvSpPr/>
          <p:nvPr/>
        </p:nvSpPr>
        <p:spPr>
          <a:xfrm>
            <a:off x="822960" y="6364224"/>
            <a:ext cx="1708099"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Arial"/>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Arial"/>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Of every 100 leavers (average, 2020–2024)</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18</a:t>
            </a:r>
          </a:p>
        </p:txBody>
      </p:sp>
      <p:pic>
        <p:nvPicPr>
          <p:cNvPr id="5" name="Picture 4"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A third find another job, a third retire, and the rest split between early labor-force exit and unemployment.</a:t>
            </a:r>
          </a:p>
        </p:txBody>
      </p:sp>
      <p:sp>
        <p:nvSpPr>
          <p:cNvPr id="7" name="Rounded Rectangle 6">
            <a:hlinkClick action="ppaction://hlinksldjump" r:id="rId3"/>
          </p:cNvPr>
          <p:cNvSpPr/>
          <p:nvPr/>
        </p:nvSpPr>
        <p:spPr>
          <a:xfrm>
            <a:off x="822960" y="6364224"/>
            <a:ext cx="179313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Where the employed leavers go</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19</a:t>
            </a:r>
          </a:p>
        </p:txBody>
      </p:sp>
      <p:pic>
        <p:nvPicPr>
          <p:cNvPr id="5" name="Picture 4"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6" name="Rounded Rectangle 5"/>
          <p:cNvSpPr/>
          <p:nvPr/>
        </p:nvSpPr>
        <p:spPr>
          <a:xfrm>
            <a:off x="502920" y="5760720"/>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450" b="1">
                <a:solidFill>
                  <a:srgbClr val="102D5E"/>
                </a:solidFill>
                <a:latin typeface="Arial"/>
              </a:rPr>
              <a:t>Key message.  </a:t>
            </a:r>
            <a:r>
              <a:rPr sz="1450" b="0">
                <a:solidFill>
                  <a:srgbClr val="212529"/>
                </a:solidFill>
                <a:latin typeface="Arial"/>
              </a:rPr>
              <a:t>36% of the employed leavers move to occupations where fewer than half of US workers hold a college degree (in red).</a:t>
            </a:r>
          </a:p>
        </p:txBody>
      </p:sp>
      <p:sp>
        <p:nvSpPr>
          <p:cNvPr id="7" name="Rounded Rectangle 6">
            <a:hlinkClick action="ppaction://hlinksldjump" r:id="rId3"/>
          </p:cNvPr>
          <p:cNvSpPr/>
          <p:nvPr/>
        </p:nvSpPr>
        <p:spPr>
          <a:xfrm>
            <a:off x="822960" y="6364224"/>
            <a:ext cx="1282903"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Who leaves the labor force before 55 (average, 2020–2024)</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20</a:t>
            </a:r>
          </a:p>
        </p:txBody>
      </p:sp>
      <p:pic>
        <p:nvPicPr>
          <p:cNvPr id="5" name="Picture 4"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And the youngest of them leave to study</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21</a:t>
            </a:r>
          </a:p>
        </p:txBody>
      </p:sp>
      <p:pic>
        <p:nvPicPr>
          <p:cNvPr id="5" name="Picture 4"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Studying is concentrated among the young and the childless. 45% of those under 30 are enrolled in school, against 3% of the mothers with a child at home.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What this says for policy: three margins, quantified</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22</a:t>
            </a:r>
          </a:p>
        </p:txBody>
      </p:sp>
      <p:sp>
        <p:nvSpPr>
          <p:cNvPr id="5" name="TextBox 4"/>
          <p:cNvSpPr txBox="1"/>
          <p:nvPr/>
        </p:nvSpPr>
        <p:spPr>
          <a:xfrm>
            <a:off x="822960" y="1691640"/>
            <a:ext cx="10789920" cy="5120640"/>
          </a:xfrm>
          <a:prstGeom prst="rect">
            <a:avLst/>
          </a:prstGeom>
          <a:noFill/>
        </p:spPr>
        <p:txBody>
          <a:bodyPr wrap="square" lIns="0" rIns="0" tIns="0" bIns="0">
            <a:spAutoFit/>
          </a:bodyPr>
          <a:lstStyle/>
          <a:p>
            <a:pPr algn="l">
              <a:lnSpc>
                <a:spcPts val="2432"/>
              </a:lnSpc>
              <a:spcAft>
                <a:spcPts val="4400"/>
              </a:spcAft>
            </a:pPr>
            <a:r>
              <a:rPr sz="1900" b="1" i="0">
                <a:solidFill>
                  <a:srgbClr val="2D6CB5"/>
                </a:solidFill>
                <a:latin typeface="Arial"/>
              </a:rPr>
              <a:t>▪  </a:t>
            </a:r>
            <a:r>
              <a:rPr sz="1900" b="1" i="0">
                <a:solidFill>
                  <a:srgbClr val="102D5E"/>
                </a:solidFill>
                <a:latin typeface="Arial"/>
              </a:rPr>
              <a:t>Retirees.  </a:t>
            </a:r>
            <a:r>
              <a:rPr sz="1900" b="0" i="0">
                <a:solidFill>
                  <a:srgbClr val="212529"/>
                </a:solidFill>
                <a:latin typeface="Arial"/>
              </a:rPr>
              <a:t>About 3% of teachers retire each year, a third of all exits. Delaying retirement is a short-term margin that extends careers but does not reintegrate anyone.</a:t>
            </a:r>
          </a:p>
          <a:p>
            <a:pPr algn="l">
              <a:lnSpc>
                <a:spcPts val="2432"/>
              </a:lnSpc>
              <a:spcAft>
                <a:spcPts val="4400"/>
              </a:spcAft>
            </a:pPr>
            <a:r>
              <a:rPr sz="1900" b="1" i="0">
                <a:solidFill>
                  <a:srgbClr val="2D6CB5"/>
                </a:solidFill>
                <a:latin typeface="Arial"/>
              </a:rPr>
              <a:t>▪  </a:t>
            </a:r>
            <a:r>
              <a:rPr sz="1900" b="1" i="0">
                <a:solidFill>
                  <a:srgbClr val="102D5E"/>
                </a:solidFill>
                <a:latin typeface="Arial"/>
              </a:rPr>
              <a:t>Switchers.  </a:t>
            </a:r>
            <a:r>
              <a:rPr sz="1900" b="0" i="0">
                <a:solidFill>
                  <a:srgbClr val="212529"/>
                </a:solidFill>
                <a:latin typeface="Arial"/>
              </a:rPr>
              <a:t>About 2% of teachers move to another job each year, more than a third of them to jobs that do not require a degree. The margin is real but moderate, so shortages cannot be closed through retention alone.</a:t>
            </a:r>
          </a:p>
          <a:p>
            <a:pPr algn="l">
              <a:lnSpc>
                <a:spcPts val="2432"/>
              </a:lnSpc>
              <a:spcAft>
                <a:spcPts val="0"/>
              </a:spcAft>
            </a:pPr>
            <a:r>
              <a:rPr sz="1900" b="1" i="0">
                <a:solidFill>
                  <a:srgbClr val="2D6CB5"/>
                </a:solidFill>
                <a:latin typeface="Arial"/>
              </a:rPr>
              <a:t>▪  </a:t>
            </a:r>
            <a:r>
              <a:rPr sz="1900" b="1" i="0">
                <a:solidFill>
                  <a:srgbClr val="102D5E"/>
                </a:solidFill>
                <a:latin typeface="Arial"/>
              </a:rPr>
              <a:t>Early exits.  </a:t>
            </a:r>
            <a:r>
              <a:rPr sz="1900" b="0" i="0">
                <a:solidFill>
                  <a:srgbClr val="212529"/>
                </a:solidFill>
                <a:latin typeface="Arial"/>
              </a:rPr>
              <a:t>About 2% of teachers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Arial"/>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Arial"/>
              </a:rPr>
              <a:t>Correlations: why they leave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Specification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24</a:t>
            </a:r>
          </a:p>
        </p:txBody>
      </p:sp>
      <p:pic>
        <p:nvPicPr>
          <p:cNvPr id="5" name="Picture 4" descr="equation3.png"/>
          <p:cNvPicPr>
            <a:picLocks noChangeAspect="1"/>
          </p:cNvPicPr>
          <p:nvPr/>
        </p:nvPicPr>
        <p:blipFill>
          <a:blip r:embed="rId2"/>
          <a:stretch>
            <a:fillRect/>
          </a:stretch>
        </p:blipFill>
        <p:spPr>
          <a:xfrm>
            <a:off x="1920240" y="1251808"/>
            <a:ext cx="8321040" cy="1062543"/>
          </a:xfrm>
          <a:prstGeom prst="rect">
            <a:avLst/>
          </a:prstGeom>
        </p:spPr>
      </p:pic>
      <p:cxnSp>
        <p:nvCxnSpPr>
          <p:cNvPr id="6" name="Connector 5"/>
          <p:cNvCxnSpPr/>
          <p:nvPr/>
        </p:nvCxnSpPr>
        <p:spPr>
          <a:xfrm>
            <a:off x="1280160" y="2606040"/>
            <a:ext cx="1014984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280160" y="2715768"/>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y</a:t>
            </a:r>
          </a:p>
        </p:txBody>
      </p:sp>
      <p:sp>
        <p:nvSpPr>
          <p:cNvPr id="8" name="TextBox 7"/>
          <p:cNvSpPr txBox="1"/>
          <p:nvPr/>
        </p:nvSpPr>
        <p:spPr>
          <a:xfrm>
            <a:off x="2286000" y="2715768"/>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teacher i left teaching in year t</a:t>
            </a:r>
          </a:p>
        </p:txBody>
      </p:sp>
      <p:sp>
        <p:nvSpPr>
          <p:cNvPr id="9" name="TextBox 8"/>
          <p:cNvSpPr txBox="1"/>
          <p:nvPr/>
        </p:nvSpPr>
        <p:spPr>
          <a:xfrm>
            <a:off x="1280160" y="3108960"/>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a</a:t>
            </a:r>
          </a:p>
        </p:txBody>
      </p:sp>
      <p:sp>
        <p:nvSpPr>
          <p:cNvPr id="10" name="TextBox 9"/>
          <p:cNvSpPr txBox="1"/>
          <p:nvPr/>
        </p:nvSpPr>
        <p:spPr>
          <a:xfrm>
            <a:off x="2286000" y="3108960"/>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job attachment – full-year contract, part-time contract</a:t>
            </a:r>
          </a:p>
        </p:txBody>
      </p:sp>
      <p:sp>
        <p:nvSpPr>
          <p:cNvPr id="11" name="TextBox 10"/>
          <p:cNvSpPr txBox="1"/>
          <p:nvPr/>
        </p:nvSpPr>
        <p:spPr>
          <a:xfrm>
            <a:off x="1280160" y="3502152"/>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c</a:t>
            </a:r>
          </a:p>
        </p:txBody>
      </p:sp>
      <p:sp>
        <p:nvSpPr>
          <p:cNvPr id="12" name="TextBox 11"/>
          <p:cNvSpPr txBox="1"/>
          <p:nvPr/>
        </p:nvSpPr>
        <p:spPr>
          <a:xfrm>
            <a:off x="2286000" y="3502152"/>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pay and security – pension plan, public sector, bottom-quartile household income</a:t>
            </a:r>
          </a:p>
        </p:txBody>
      </p:sp>
      <p:sp>
        <p:nvSpPr>
          <p:cNvPr id="13" name="TextBox 12"/>
          <p:cNvSpPr txBox="1"/>
          <p:nvPr/>
        </p:nvSpPr>
        <p:spPr>
          <a:xfrm>
            <a:off x="1280160" y="3895344"/>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f</a:t>
            </a:r>
          </a:p>
        </p:txBody>
      </p:sp>
      <p:sp>
        <p:nvSpPr>
          <p:cNvPr id="14" name="TextBox 13"/>
          <p:cNvSpPr txBox="1"/>
          <p:nvPr/>
        </p:nvSpPr>
        <p:spPr>
          <a:xfrm>
            <a:off x="2286000" y="3895344"/>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family – new baby, children, marital status</a:t>
            </a:r>
          </a:p>
        </p:txBody>
      </p:sp>
      <p:sp>
        <p:nvSpPr>
          <p:cNvPr id="15" name="TextBox 14"/>
          <p:cNvSpPr txBox="1"/>
          <p:nvPr/>
        </p:nvSpPr>
        <p:spPr>
          <a:xfrm>
            <a:off x="1280160" y="4288536"/>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h</a:t>
            </a:r>
          </a:p>
        </p:txBody>
      </p:sp>
      <p:sp>
        <p:nvSpPr>
          <p:cNvPr id="16" name="TextBox 15"/>
          <p:cNvSpPr txBox="1"/>
          <p:nvPr/>
        </p:nvSpPr>
        <p:spPr>
          <a:xfrm>
            <a:off x="2286000" y="4288536"/>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health – self-reported health, disability</a:t>
            </a:r>
          </a:p>
        </p:txBody>
      </p:sp>
      <p:sp>
        <p:nvSpPr>
          <p:cNvPr id="17" name="TextBox 16"/>
          <p:cNvSpPr txBox="1"/>
          <p:nvPr/>
        </p:nvSpPr>
        <p:spPr>
          <a:xfrm>
            <a:off x="1280160" y="4681728"/>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d</a:t>
            </a:r>
          </a:p>
        </p:txBody>
      </p:sp>
      <p:sp>
        <p:nvSpPr>
          <p:cNvPr id="18" name="TextBox 17"/>
          <p:cNvSpPr txBox="1"/>
          <p:nvPr/>
        </p:nvSpPr>
        <p:spPr>
          <a:xfrm>
            <a:off x="2286000" y="4681728"/>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demographics – age, sex, race, education</a:t>
            </a:r>
          </a:p>
        </p:txBody>
      </p:sp>
      <p:sp>
        <p:nvSpPr>
          <p:cNvPr id="19" name="TextBox 18"/>
          <p:cNvSpPr txBox="1"/>
          <p:nvPr/>
        </p:nvSpPr>
        <p:spPr>
          <a:xfrm>
            <a:off x="1280160" y="5074920"/>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Arial"/>
              </a:rPr>
              <a:t>δt</a:t>
            </a:r>
          </a:p>
        </p:txBody>
      </p:sp>
      <p:sp>
        <p:nvSpPr>
          <p:cNvPr id="20" name="TextBox 19"/>
          <p:cNvSpPr txBox="1"/>
          <p:nvPr/>
        </p:nvSpPr>
        <p:spPr>
          <a:xfrm>
            <a:off x="2286000" y="5074920"/>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year fixed effects (state FE variant in the appendix)</a:t>
            </a:r>
          </a:p>
        </p:txBody>
      </p:sp>
      <p:cxnSp>
        <p:nvCxnSpPr>
          <p:cNvPr id="21" name="Connector 20"/>
          <p:cNvCxnSpPr/>
          <p:nvPr/>
        </p:nvCxnSpPr>
        <p:spPr>
          <a:xfrm>
            <a:off x="1280160" y="5504688"/>
            <a:ext cx="1014984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280160" y="5632703"/>
            <a:ext cx="9875520" cy="411480"/>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Arial"/>
              </a:rPr>
              <a:t>Probit, average marginal effects, robust standard errors. 2018–2024, n = 18,571.</a:t>
            </a:r>
          </a:p>
        </p:txBody>
      </p:sp>
      <p:sp>
        <p:nvSpPr>
          <p:cNvPr id="23" name="Rounded Rectangle 22">
            <a:hlinkClick action="ppaction://hlinksldjump" r:id="rId3"/>
          </p:cNvPr>
          <p:cNvSpPr/>
          <p:nvPr/>
        </p:nvSpPr>
        <p:spPr>
          <a:xfrm>
            <a:off x="822960" y="6364224"/>
            <a:ext cx="602589"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LPM</a:t>
            </a:r>
          </a:p>
        </p:txBody>
      </p:sp>
      <p:sp>
        <p:nvSpPr>
          <p:cNvPr id="24" name="Rounded Rectangle 23">
            <a:hlinkClick action="ppaction://hlinksldjump" r:id="rId4"/>
          </p:cNvPr>
          <p:cNvSpPr/>
          <p:nvPr/>
        </p:nvSpPr>
        <p:spPr>
          <a:xfrm>
            <a:off x="1571853" y="6364224"/>
            <a:ext cx="1538020"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logit / probit</a:t>
            </a:r>
          </a:p>
        </p:txBody>
      </p:sp>
      <p:sp>
        <p:nvSpPr>
          <p:cNvPr id="25" name="Rounded Rectangle 24">
            <a:hlinkClick action="ppaction://hlinksldjump" r:id="rId5"/>
          </p:cNvPr>
          <p:cNvSpPr/>
          <p:nvPr/>
        </p:nvSpPr>
        <p:spPr>
          <a:xfrm>
            <a:off x="3256178" y="6364224"/>
            <a:ext cx="1027785"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bounded?</a:t>
            </a:r>
          </a:p>
        </p:txBody>
      </p:sp>
      <p:sp>
        <p:nvSpPr>
          <p:cNvPr id="26" name="Rounded Rectangle 25">
            <a:hlinkClick action="ppaction://hlinksldjump" r:id="rId6"/>
          </p:cNvPr>
          <p:cNvSpPr/>
          <p:nvPr/>
        </p:nvSpPr>
        <p:spPr>
          <a:xfrm>
            <a:off x="4430268" y="6364224"/>
            <a:ext cx="1623060"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what we observe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What correlates with leaving</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25</a:t>
            </a:r>
          </a:p>
        </p:txBody>
      </p:sp>
      <p:pic>
        <p:nvPicPr>
          <p:cNvPr id="5" name="Picture 4"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Relative pay since 1997</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26</a:t>
            </a:r>
          </a:p>
        </p:txBody>
      </p:sp>
      <p:pic>
        <p:nvPicPr>
          <p:cNvPr id="5" name="Picture 4" descr="msgA3.png"/>
          <p:cNvPicPr>
            <a:picLocks noChangeAspect="1"/>
          </p:cNvPicPr>
          <p:nvPr/>
        </p:nvPicPr>
        <p:blipFill>
          <a:blip r:embed="rId2"/>
          <a:stretch>
            <a:fillRect/>
          </a:stretch>
        </p:blipFill>
        <p:spPr>
          <a:xfrm>
            <a:off x="702337" y="1097280"/>
            <a:ext cx="10756845" cy="443484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Real teacher pay is 4% below its 1997 level while every comparison group gained ground. The gap to other graduates is now $29,000 a year.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Leaving, by position in the teacher pay distribution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27</a:t>
            </a:r>
          </a:p>
        </p:txBody>
      </p:sp>
      <p:pic>
        <p:nvPicPr>
          <p:cNvPr id="5" name="Picture 4"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Leaving is concentrated in the bottom two pay deciles, where part-year and part-time contracts live. Above the median, pay barely matters.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Pension coverage and leaving, across states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28</a:t>
            </a:r>
          </a:p>
        </p:txBody>
      </p:sp>
      <p:pic>
        <p:nvPicPr>
          <p:cNvPr id="5" name="Picture 4"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States where more teachers have a pension plan lose fewer teachers before 55. Economic security retains.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Leaving and the cycle</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29</a:t>
            </a:r>
          </a:p>
        </p:txBody>
      </p:sp>
      <p:pic>
        <p:nvPicPr>
          <p:cNvPr id="5" name="Picture 4" descr="cycle1.png"/>
          <p:cNvPicPr>
            <a:picLocks noChangeAspect="1"/>
          </p:cNvPicPr>
          <p:nvPr/>
        </p:nvPicPr>
        <p:blipFill>
          <a:blip r:embed="rId2"/>
          <a:stretch>
            <a:fillRect/>
          </a:stretch>
        </p:blipFill>
        <p:spPr>
          <a:xfrm>
            <a:off x="1329145" y="1097280"/>
            <a:ext cx="9503228" cy="4434840"/>
          </a:xfrm>
          <a:prstGeom prst="rect">
            <a:avLst/>
          </a:prstGeom>
        </p:spPr>
      </p:pic>
      <p:sp>
        <p:nvSpPr>
          <p:cNvPr id="6" name="Rounded Rectangle 5"/>
          <p:cNvSpPr/>
          <p:nvPr/>
        </p:nvSpPr>
        <p:spPr>
          <a:xfrm>
            <a:off x="502920" y="5614416"/>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550" b="1">
                <a:solidFill>
                  <a:srgbClr val="102D5E"/>
                </a:solidFill>
                <a:latin typeface="Arial"/>
              </a:rPr>
              <a:t>Key message.  </a:t>
            </a:r>
            <a:r>
              <a:rPr sz="1550" b="0">
                <a:solidFill>
                  <a:srgbClr val="212529"/>
                </a:solidFill>
                <a:latin typeface="Arial"/>
              </a:rPr>
              <a:t>Leaving rises when unemployment rises (correlation +0.32). Teachers are pushed out in bad times more than pulled away in good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Conclusions: what we learn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30</a:t>
            </a:r>
          </a:p>
        </p:txBody>
      </p:sp>
      <p:sp>
        <p:nvSpPr>
          <p:cNvPr id="5" name="TextBox 4"/>
          <p:cNvSpPr txBox="1"/>
          <p:nvPr/>
        </p:nvSpPr>
        <p:spPr>
          <a:xfrm>
            <a:off x="822960" y="1325880"/>
            <a:ext cx="10789920" cy="5120640"/>
          </a:xfrm>
          <a:prstGeom prst="rect">
            <a:avLst/>
          </a:prstGeom>
          <a:noFill/>
        </p:spPr>
        <p:txBody>
          <a:bodyPr wrap="square" lIns="0" rIns="0" tIns="0" bIns="0">
            <a:spAutoFit/>
          </a:bodyPr>
          <a:lstStyle/>
          <a:p>
            <a:pPr algn="l">
              <a:lnSpc>
                <a:spcPts val="2112"/>
              </a:lnSpc>
              <a:spcAft>
                <a:spcPts val="2000"/>
              </a:spcAft>
            </a:pPr>
            <a:r>
              <a:rPr sz="1650" b="1" i="0">
                <a:solidFill>
                  <a:srgbClr val="2D6CB5"/>
                </a:solidFill>
                <a:latin typeface="Arial"/>
              </a:rPr>
              <a:t>▪  </a:t>
            </a:r>
            <a:r>
              <a:rPr sz="1650" b="0" i="0">
                <a:solidFill>
                  <a:srgbClr val="212529"/>
                </a:solidFill>
                <a:latin typeface="Arial"/>
              </a:rPr>
              <a:t>Teacher attrition is not bad in itself. Much of it reflects an active labor market, and it moves with the general cycle. The question for policy is who leaves, and why.</a:t>
            </a:r>
          </a:p>
          <a:p>
            <a:pPr algn="l">
              <a:lnSpc>
                <a:spcPts val="2112"/>
              </a:lnSpc>
              <a:spcAft>
                <a:spcPts val="2000"/>
              </a:spcAft>
            </a:pPr>
            <a:r>
              <a:rPr sz="1650" b="1" i="0">
                <a:solidFill>
                  <a:srgbClr val="2D6CB5"/>
                </a:solidFill>
                <a:latin typeface="Arial"/>
              </a:rPr>
              <a:t>▪  </a:t>
            </a:r>
            <a:r>
              <a:rPr sz="1650" b="0" i="0">
                <a:solidFill>
                  <a:srgbClr val="212529"/>
                </a:solidFill>
                <a:latin typeface="Arial"/>
              </a:rPr>
              <a:t>Working conditions weigh heavily. A full-year contract is the single strongest protection against leaving, so job security is fundamental to retain a teacher.</a:t>
            </a:r>
          </a:p>
          <a:p>
            <a:pPr algn="l">
              <a:lnSpc>
                <a:spcPts val="2112"/>
              </a:lnSpc>
              <a:spcAft>
                <a:spcPts val="2000"/>
              </a:spcAft>
            </a:pPr>
            <a:r>
              <a:rPr sz="1650" b="1" i="0">
                <a:solidFill>
                  <a:srgbClr val="2D6CB5"/>
                </a:solidFill>
                <a:latin typeface="Arial"/>
              </a:rPr>
              <a:t>▪  </a:t>
            </a:r>
            <a:r>
              <a:rPr sz="1650" b="0" i="0">
                <a:solidFill>
                  <a:srgbClr val="212529"/>
                </a:solidFill>
                <a:latin typeface="Arial"/>
              </a:rPr>
              <a:t>Not everyone who leaves earns more afterwards, and leaving concentrates at the bottom of the pay scale. The financial lever still has room as a retention incentive.</a:t>
            </a:r>
          </a:p>
          <a:p>
            <a:pPr algn="l">
              <a:lnSpc>
                <a:spcPts val="2112"/>
              </a:lnSpc>
              <a:spcAft>
                <a:spcPts val="0"/>
              </a:spcAft>
            </a:pPr>
            <a:r>
              <a:rPr sz="1650" b="1" i="0">
                <a:solidFill>
                  <a:srgbClr val="2D6CB5"/>
                </a:solidFill>
                <a:latin typeface="Arial"/>
              </a:rPr>
              <a:t>▪  </a:t>
            </a:r>
            <a:r>
              <a:rPr sz="1650" b="0" i="0">
                <a:solidFill>
                  <a:srgbClr val="212529"/>
                </a:solidFill>
                <a:latin typeface="Arial"/>
              </a:rPr>
              <a:t>A quarter of exits are neither another job nor retirement but care at home or further study. For that group flexibility is the incentive that can bring them back, and additional qualifications should pay when they return.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Conclusions: where the policy margins are</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31</a:t>
            </a:r>
          </a:p>
        </p:txBody>
      </p:sp>
      <p:sp>
        <p:nvSpPr>
          <p:cNvPr id="5" name="TextBox 4"/>
          <p:cNvSpPr txBox="1"/>
          <p:nvPr/>
        </p:nvSpPr>
        <p:spPr>
          <a:xfrm>
            <a:off x="822960" y="1325880"/>
            <a:ext cx="10789920" cy="5120640"/>
          </a:xfrm>
          <a:prstGeom prst="rect">
            <a:avLst/>
          </a:prstGeom>
          <a:noFill/>
        </p:spPr>
        <p:txBody>
          <a:bodyPr wrap="square" lIns="0" rIns="0" tIns="0" bIns="0">
            <a:spAutoFit/>
          </a:bodyPr>
          <a:lstStyle/>
          <a:p>
            <a:pPr algn="l">
              <a:lnSpc>
                <a:spcPts val="2112"/>
              </a:lnSpc>
              <a:spcAft>
                <a:spcPts val="2000"/>
              </a:spcAft>
            </a:pPr>
            <a:r>
              <a:rPr sz="1650" b="1" i="0">
                <a:solidFill>
                  <a:srgbClr val="2D6CB5"/>
                </a:solidFill>
                <a:latin typeface="Arial"/>
              </a:rPr>
              <a:t>▪  </a:t>
            </a:r>
            <a:r>
              <a:rPr sz="1650" b="1" i="0">
                <a:solidFill>
                  <a:srgbClr val="102D5E"/>
                </a:solidFill>
                <a:latin typeface="Arial"/>
              </a:rPr>
              <a:t>Short term.  </a:t>
            </a:r>
            <a:r>
              <a:rPr sz="1650" b="0" i="0">
                <a:solidFill>
                  <a:srgbClr val="212529"/>
                </a:solidFill>
                <a:latin typeface="Arial"/>
              </a:rPr>
              <a:t>Retirees, about 3% of teachers each year, are a pool that can cover local shortages. They bring experience and positive spillovers to the schools that re-engage them.</a:t>
            </a:r>
          </a:p>
          <a:p>
            <a:pPr algn="l">
              <a:lnSpc>
                <a:spcPts val="2112"/>
              </a:lnSpc>
              <a:spcAft>
                <a:spcPts val="2000"/>
              </a:spcAft>
            </a:pPr>
            <a:r>
              <a:rPr sz="1650" b="1" i="0">
                <a:solidFill>
                  <a:srgbClr val="2D6CB5"/>
                </a:solidFill>
                <a:latin typeface="Arial"/>
              </a:rPr>
              <a:t>▪  </a:t>
            </a:r>
            <a:r>
              <a:rPr sz="1650" b="1" i="0">
                <a:solidFill>
                  <a:srgbClr val="102D5E"/>
                </a:solidFill>
                <a:latin typeface="Arial"/>
              </a:rPr>
              <a:t>Medium term.  </a:t>
            </a:r>
            <a:r>
              <a:rPr sz="1650" b="0" i="0">
                <a:solidFill>
                  <a:srgbClr val="212529"/>
                </a:solidFill>
                <a:latin typeface="Arial"/>
              </a:rPr>
              <a:t>The young. The probability of leaving is highest at the start of the career, so mentoring and accompaniment belong where the risk is.</a:t>
            </a:r>
          </a:p>
          <a:p>
            <a:pPr algn="l">
              <a:lnSpc>
                <a:spcPts val="2112"/>
              </a:lnSpc>
              <a:spcAft>
                <a:spcPts val="2000"/>
              </a:spcAft>
            </a:pPr>
            <a:r>
              <a:rPr sz="1650" b="1" i="0">
                <a:solidFill>
                  <a:srgbClr val="2D6CB5"/>
                </a:solidFill>
                <a:latin typeface="Arial"/>
              </a:rPr>
              <a:t>▪  </a:t>
            </a:r>
            <a:r>
              <a:rPr sz="1650" b="1" i="0">
                <a:solidFill>
                  <a:srgbClr val="102D5E"/>
                </a:solidFill>
                <a:latin typeface="Arial"/>
              </a:rPr>
              <a:t>Across the board.  </a:t>
            </a:r>
            <a:r>
              <a:rPr sz="1650" b="0" i="0">
                <a:solidFill>
                  <a:srgbClr val="212529"/>
                </a:solidFill>
                <a:latin typeface="Arial"/>
              </a:rPr>
              <a:t>Economic security (full-year contracts, pension coverage) and flexibility, so that teachers who want to stay or to return can do so. Insecurity should not be the reason a position is left.</a:t>
            </a:r>
          </a:p>
          <a:p>
            <a:pPr algn="l">
              <a:lnSpc>
                <a:spcPts val="2112"/>
              </a:lnSpc>
              <a:spcAft>
                <a:spcPts val="0"/>
              </a:spcAft>
            </a:pPr>
            <a:r>
              <a:rPr sz="1650" b="1" i="0">
                <a:solidFill>
                  <a:srgbClr val="2D6CB5"/>
                </a:solidFill>
                <a:latin typeface="Arial"/>
              </a:rPr>
              <a:t>▪  </a:t>
            </a:r>
            <a:r>
              <a:rPr sz="1650" b="1" i="0">
                <a:solidFill>
                  <a:srgbClr val="102D5E"/>
                </a:solidFill>
                <a:latin typeface="Arial"/>
              </a:rPr>
              <a:t>Caveat.  </a:t>
            </a:r>
            <a:r>
              <a:rPr sz="1650" b="0" i="0">
                <a:solidFill>
                  <a:srgbClr val="212529"/>
                </a:solidFill>
                <a:latin typeface="Arial"/>
              </a:rPr>
              <a:t>We observe financial and life-cycle motives, not conditions inside schools. These are margins, not the full story.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Arial"/>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Arial"/>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Where official numbers exist, and when</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33</a:t>
            </a:r>
          </a:p>
        </p:txBody>
      </p:sp>
      <p:pic>
        <p:nvPicPr>
          <p:cNvPr id="5" name="Picture 4" descr="tfs_waves.png"/>
          <p:cNvPicPr>
            <a:picLocks noChangeAspect="1"/>
          </p:cNvPicPr>
          <p:nvPr/>
        </p:nvPicPr>
        <p:blipFill>
          <a:blip r:embed="rId2"/>
          <a:stretch>
            <a:fillRect/>
          </a:stretch>
        </p:blipFill>
        <p:spPr>
          <a:xfrm>
            <a:off x="1731873" y="1051560"/>
            <a:ext cx="8697772" cy="3749040"/>
          </a:xfrm>
          <a:prstGeom prst="rect">
            <a:avLst/>
          </a:prstGeom>
        </p:spPr>
      </p:pic>
      <p:sp>
        <p:nvSpPr>
          <p:cNvPr id="6" name="TextBox 5"/>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7" name="Rounded Rectangle 6">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One survey, three instruments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34</a:t>
            </a:r>
          </a:p>
        </p:txBody>
      </p:sp>
      <p:cxnSp>
        <p:nvCxnSpPr>
          <p:cNvPr id="5" name="Connector 4"/>
          <p:cNvCxnSpPr/>
          <p:nvPr/>
        </p:nvCxnSpPr>
        <p:spPr>
          <a:xfrm>
            <a:off x="822960" y="1554480"/>
            <a:ext cx="1060704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664207"/>
            <a:ext cx="274320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Arial"/>
              </a:rPr>
              <a:t>Instrument</a:t>
            </a:r>
          </a:p>
        </p:txBody>
      </p:sp>
      <p:sp>
        <p:nvSpPr>
          <p:cNvPr id="7" name="TextBox 6"/>
          <p:cNvSpPr txBox="1"/>
          <p:nvPr/>
        </p:nvSpPr>
        <p:spPr>
          <a:xfrm>
            <a:off x="3749039" y="1664207"/>
            <a:ext cx="393192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Arial"/>
              </a:rPr>
              <a:t>What it asks</a:t>
            </a:r>
          </a:p>
        </p:txBody>
      </p:sp>
      <p:sp>
        <p:nvSpPr>
          <p:cNvPr id="8" name="TextBox 7"/>
          <p:cNvSpPr txBox="1"/>
          <p:nvPr/>
        </p:nvSpPr>
        <p:spPr>
          <a:xfrm>
            <a:off x="7863840" y="1664207"/>
            <a:ext cx="356616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Arial"/>
              </a:rPr>
              <a:t>What it produces</a:t>
            </a:r>
          </a:p>
        </p:txBody>
      </p:sp>
      <p:cxnSp>
        <p:nvCxnSpPr>
          <p:cNvPr id="9" name="Connector 8"/>
          <p:cNvCxnSpPr/>
          <p:nvPr/>
        </p:nvCxnSpPr>
        <p:spPr>
          <a:xfrm>
            <a:off x="822960" y="2139696"/>
            <a:ext cx="1060704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249424"/>
            <a:ext cx="274320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Basic monthly interview</a:t>
            </a:r>
          </a:p>
        </p:txBody>
      </p:sp>
      <p:sp>
        <p:nvSpPr>
          <p:cNvPr id="11" name="TextBox 10"/>
          <p:cNvSpPr txBox="1"/>
          <p:nvPr/>
        </p:nvSpPr>
        <p:spPr>
          <a:xfrm>
            <a:off x="3749039" y="2249424"/>
            <a:ext cx="39319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Labor force status in the reference week, occupation, hours</a:t>
            </a:r>
          </a:p>
        </p:txBody>
      </p:sp>
      <p:sp>
        <p:nvSpPr>
          <p:cNvPr id="12" name="TextBox 11"/>
          <p:cNvSpPr txBox="1"/>
          <p:nvPr/>
        </p:nvSpPr>
        <p:spPr>
          <a:xfrm>
            <a:off x="7863840" y="2249424"/>
            <a:ext cx="356616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The official monthly unemployment rate, employment and earnings statistics</a:t>
            </a:r>
          </a:p>
        </p:txBody>
      </p:sp>
      <p:sp>
        <p:nvSpPr>
          <p:cNvPr id="13" name="TextBox 12"/>
          <p:cNvSpPr txBox="1"/>
          <p:nvPr/>
        </p:nvSpPr>
        <p:spPr>
          <a:xfrm>
            <a:off x="822960" y="3483864"/>
            <a:ext cx="274320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Topical supplements</a:t>
            </a:r>
          </a:p>
        </p:txBody>
      </p:sp>
      <p:sp>
        <p:nvSpPr>
          <p:cNvPr id="14" name="TextBox 13"/>
          <p:cNvSpPr txBox="1"/>
          <p:nvPr/>
        </p:nvSpPr>
        <p:spPr>
          <a:xfrm>
            <a:off x="3749039" y="3483864"/>
            <a:ext cx="39319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School enrollment (Oct.), voting (Nov.), tobacco, computer use</a:t>
            </a:r>
          </a:p>
        </p:txBody>
      </p:sp>
      <p:sp>
        <p:nvSpPr>
          <p:cNvPr id="15" name="TextBox 14"/>
          <p:cNvSpPr txBox="1"/>
          <p:nvPr/>
        </p:nvSpPr>
        <p:spPr>
          <a:xfrm>
            <a:off x="7863840" y="3483864"/>
            <a:ext cx="356616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Topic-specific official statistics</a:t>
            </a:r>
          </a:p>
        </p:txBody>
      </p:sp>
      <p:sp>
        <p:nvSpPr>
          <p:cNvPr id="16" name="TextBox 15"/>
          <p:cNvSpPr txBox="1"/>
          <p:nvPr/>
        </p:nvSpPr>
        <p:spPr>
          <a:xfrm>
            <a:off x="822960" y="4443984"/>
            <a:ext cx="274320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March supplement (ASEC)</a:t>
            </a:r>
          </a:p>
        </p:txBody>
      </p:sp>
      <p:sp>
        <p:nvSpPr>
          <p:cNvPr id="17" name="TextBox 16"/>
          <p:cNvSpPr txBox="1"/>
          <p:nvPr/>
        </p:nvSpPr>
        <p:spPr>
          <a:xfrm>
            <a:off x="3749039" y="4443984"/>
            <a:ext cx="39319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The previous calendar year, from the longest job to weeks, income and benefits</a:t>
            </a:r>
          </a:p>
        </p:txBody>
      </p:sp>
      <p:sp>
        <p:nvSpPr>
          <p:cNvPr id="18" name="TextBox 17"/>
          <p:cNvSpPr txBox="1"/>
          <p:nvPr/>
        </p:nvSpPr>
        <p:spPr>
          <a:xfrm>
            <a:off x="7863840" y="4443984"/>
            <a:ext cx="356616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Official income, poverty and health-insurance statistics, and our retrospective measure</a:t>
            </a:r>
          </a:p>
        </p:txBody>
      </p:sp>
      <p:cxnSp>
        <p:nvCxnSpPr>
          <p:cNvPr id="19" name="Connector 18"/>
          <p:cNvCxnSpPr/>
          <p:nvPr/>
        </p:nvCxnSpPr>
        <p:spPr>
          <a:xfrm>
            <a:off x="822960" y="5715000"/>
            <a:ext cx="1060704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20" name="Rounded Rectangle 19">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Are interviews monthly? Who is new each month?</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35</a:t>
            </a:r>
          </a:p>
        </p:txBody>
      </p:sp>
      <p:sp>
        <p:nvSpPr>
          <p:cNvPr id="5" name="TextBox 4"/>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Arial"/>
              </a:rPr>
              <a:t>Yes. Every month, one eighth of the sample sits in each position of the 4-8-4 rotation. Verified in all 251 monthly files, January 2005 to November 2025.</a:t>
            </a:r>
          </a:p>
        </p:txBody>
      </p:sp>
      <p:cxnSp>
        <p:nvCxnSpPr>
          <p:cNvPr id="6" name="Connector 5"/>
          <p:cNvCxnSpPr/>
          <p:nvPr/>
        </p:nvCxnSpPr>
        <p:spPr>
          <a:xfrm>
            <a:off x="822960" y="2286000"/>
            <a:ext cx="1060704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395728"/>
            <a:ext cx="2560320" cy="47548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Arial"/>
              </a:rPr>
              <a:t>Month in sample</a:t>
            </a:r>
          </a:p>
        </p:txBody>
      </p:sp>
      <p:sp>
        <p:nvSpPr>
          <p:cNvPr id="8" name="TextBox 7"/>
          <p:cNvSpPr txBox="1"/>
          <p:nvPr/>
        </p:nvSpPr>
        <p:spPr>
          <a:xfrm>
            <a:off x="347472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1</a:t>
            </a:r>
          </a:p>
        </p:txBody>
      </p:sp>
      <p:sp>
        <p:nvSpPr>
          <p:cNvPr id="9" name="TextBox 8"/>
          <p:cNvSpPr txBox="1"/>
          <p:nvPr/>
        </p:nvSpPr>
        <p:spPr>
          <a:xfrm>
            <a:off x="448056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2</a:t>
            </a:r>
          </a:p>
        </p:txBody>
      </p:sp>
      <p:sp>
        <p:nvSpPr>
          <p:cNvPr id="10" name="TextBox 9"/>
          <p:cNvSpPr txBox="1"/>
          <p:nvPr/>
        </p:nvSpPr>
        <p:spPr>
          <a:xfrm>
            <a:off x="548640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3</a:t>
            </a:r>
          </a:p>
        </p:txBody>
      </p:sp>
      <p:sp>
        <p:nvSpPr>
          <p:cNvPr id="11" name="TextBox 10"/>
          <p:cNvSpPr txBox="1"/>
          <p:nvPr/>
        </p:nvSpPr>
        <p:spPr>
          <a:xfrm>
            <a:off x="649224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4</a:t>
            </a:r>
          </a:p>
        </p:txBody>
      </p:sp>
      <p:sp>
        <p:nvSpPr>
          <p:cNvPr id="12" name="TextBox 11"/>
          <p:cNvSpPr txBox="1"/>
          <p:nvPr/>
        </p:nvSpPr>
        <p:spPr>
          <a:xfrm>
            <a:off x="7498079"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5</a:t>
            </a:r>
          </a:p>
        </p:txBody>
      </p:sp>
      <p:sp>
        <p:nvSpPr>
          <p:cNvPr id="13" name="TextBox 12"/>
          <p:cNvSpPr txBox="1"/>
          <p:nvPr/>
        </p:nvSpPr>
        <p:spPr>
          <a:xfrm>
            <a:off x="850392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6</a:t>
            </a:r>
          </a:p>
        </p:txBody>
      </p:sp>
      <p:sp>
        <p:nvSpPr>
          <p:cNvPr id="14" name="TextBox 13"/>
          <p:cNvSpPr txBox="1"/>
          <p:nvPr/>
        </p:nvSpPr>
        <p:spPr>
          <a:xfrm>
            <a:off x="950976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7</a:t>
            </a:r>
          </a:p>
        </p:txBody>
      </p:sp>
      <p:sp>
        <p:nvSpPr>
          <p:cNvPr id="15" name="TextBox 14"/>
          <p:cNvSpPr txBox="1"/>
          <p:nvPr/>
        </p:nvSpPr>
        <p:spPr>
          <a:xfrm>
            <a:off x="1051560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Arial"/>
              </a:rPr>
              <a:t>8</a:t>
            </a:r>
          </a:p>
        </p:txBody>
      </p:sp>
      <p:cxnSp>
        <p:nvCxnSpPr>
          <p:cNvPr id="16" name="Connector 15"/>
          <p:cNvCxnSpPr/>
          <p:nvPr/>
        </p:nvCxnSpPr>
        <p:spPr>
          <a:xfrm>
            <a:off x="822960" y="2889504"/>
            <a:ext cx="1060704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2999232"/>
            <a:ext cx="2560320" cy="47548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Average share (%)</a:t>
            </a:r>
          </a:p>
        </p:txBody>
      </p:sp>
      <p:sp>
        <p:nvSpPr>
          <p:cNvPr id="18" name="TextBox 17"/>
          <p:cNvSpPr txBox="1"/>
          <p:nvPr/>
        </p:nvSpPr>
        <p:spPr>
          <a:xfrm>
            <a:off x="347472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12.4</a:t>
            </a:r>
          </a:p>
        </p:txBody>
      </p:sp>
      <p:sp>
        <p:nvSpPr>
          <p:cNvPr id="19" name="TextBox 18"/>
          <p:cNvSpPr txBox="1"/>
          <p:nvPr/>
        </p:nvSpPr>
        <p:spPr>
          <a:xfrm>
            <a:off x="448056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12.5</a:t>
            </a:r>
          </a:p>
        </p:txBody>
      </p:sp>
      <p:sp>
        <p:nvSpPr>
          <p:cNvPr id="20" name="TextBox 19"/>
          <p:cNvSpPr txBox="1"/>
          <p:nvPr/>
        </p:nvSpPr>
        <p:spPr>
          <a:xfrm>
            <a:off x="548640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12.6</a:t>
            </a:r>
          </a:p>
        </p:txBody>
      </p:sp>
      <p:sp>
        <p:nvSpPr>
          <p:cNvPr id="21" name="TextBox 20"/>
          <p:cNvSpPr txBox="1"/>
          <p:nvPr/>
        </p:nvSpPr>
        <p:spPr>
          <a:xfrm>
            <a:off x="649224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12.5</a:t>
            </a:r>
          </a:p>
        </p:txBody>
      </p:sp>
      <p:sp>
        <p:nvSpPr>
          <p:cNvPr id="22" name="TextBox 21"/>
          <p:cNvSpPr txBox="1"/>
          <p:nvPr/>
        </p:nvSpPr>
        <p:spPr>
          <a:xfrm>
            <a:off x="7498079"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12.6</a:t>
            </a:r>
          </a:p>
        </p:txBody>
      </p:sp>
      <p:sp>
        <p:nvSpPr>
          <p:cNvPr id="23" name="TextBox 22"/>
          <p:cNvSpPr txBox="1"/>
          <p:nvPr/>
        </p:nvSpPr>
        <p:spPr>
          <a:xfrm>
            <a:off x="850392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12.5</a:t>
            </a:r>
          </a:p>
        </p:txBody>
      </p:sp>
      <p:sp>
        <p:nvSpPr>
          <p:cNvPr id="24" name="TextBox 23"/>
          <p:cNvSpPr txBox="1"/>
          <p:nvPr/>
        </p:nvSpPr>
        <p:spPr>
          <a:xfrm>
            <a:off x="950976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12.4</a:t>
            </a:r>
          </a:p>
        </p:txBody>
      </p:sp>
      <p:sp>
        <p:nvSpPr>
          <p:cNvPr id="25" name="TextBox 24"/>
          <p:cNvSpPr txBox="1"/>
          <p:nvPr/>
        </p:nvSpPr>
        <p:spPr>
          <a:xfrm>
            <a:off x="1051560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12.5</a:t>
            </a:r>
          </a:p>
        </p:txBody>
      </p:sp>
      <p:sp>
        <p:nvSpPr>
          <p:cNvPr id="26" name="TextBox 25"/>
          <p:cNvSpPr txBox="1"/>
          <p:nvPr/>
        </p:nvSpPr>
        <p:spPr>
          <a:xfrm>
            <a:off x="822960" y="3474720"/>
            <a:ext cx="2560320" cy="47548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Minimum (%)</a:t>
            </a:r>
          </a:p>
        </p:txBody>
      </p:sp>
      <p:sp>
        <p:nvSpPr>
          <p:cNvPr id="27" name="TextBox 26"/>
          <p:cNvSpPr txBox="1"/>
          <p:nvPr/>
        </p:nvSpPr>
        <p:spPr>
          <a:xfrm>
            <a:off x="347472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10.1</a:t>
            </a:r>
          </a:p>
        </p:txBody>
      </p:sp>
      <p:sp>
        <p:nvSpPr>
          <p:cNvPr id="28" name="TextBox 27"/>
          <p:cNvSpPr txBox="1"/>
          <p:nvPr/>
        </p:nvSpPr>
        <p:spPr>
          <a:xfrm>
            <a:off x="448056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11.1</a:t>
            </a:r>
          </a:p>
        </p:txBody>
      </p:sp>
      <p:sp>
        <p:nvSpPr>
          <p:cNvPr id="29" name="TextBox 28"/>
          <p:cNvSpPr txBox="1"/>
          <p:nvPr/>
        </p:nvSpPr>
        <p:spPr>
          <a:xfrm>
            <a:off x="548640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11.5</a:t>
            </a:r>
          </a:p>
        </p:txBody>
      </p:sp>
      <p:sp>
        <p:nvSpPr>
          <p:cNvPr id="30" name="TextBox 29"/>
          <p:cNvSpPr txBox="1"/>
          <p:nvPr/>
        </p:nvSpPr>
        <p:spPr>
          <a:xfrm>
            <a:off x="649224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11.8</a:t>
            </a:r>
          </a:p>
        </p:txBody>
      </p:sp>
      <p:sp>
        <p:nvSpPr>
          <p:cNvPr id="31" name="TextBox 30"/>
          <p:cNvSpPr txBox="1"/>
          <p:nvPr/>
        </p:nvSpPr>
        <p:spPr>
          <a:xfrm>
            <a:off x="7498079"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12.0</a:t>
            </a:r>
          </a:p>
        </p:txBody>
      </p:sp>
      <p:sp>
        <p:nvSpPr>
          <p:cNvPr id="32" name="TextBox 31"/>
          <p:cNvSpPr txBox="1"/>
          <p:nvPr/>
        </p:nvSpPr>
        <p:spPr>
          <a:xfrm>
            <a:off x="850392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12.0</a:t>
            </a:r>
          </a:p>
        </p:txBody>
      </p:sp>
      <p:sp>
        <p:nvSpPr>
          <p:cNvPr id="33" name="TextBox 32"/>
          <p:cNvSpPr txBox="1"/>
          <p:nvPr/>
        </p:nvSpPr>
        <p:spPr>
          <a:xfrm>
            <a:off x="950976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11.9</a:t>
            </a:r>
          </a:p>
        </p:txBody>
      </p:sp>
      <p:sp>
        <p:nvSpPr>
          <p:cNvPr id="34" name="TextBox 33"/>
          <p:cNvSpPr txBox="1"/>
          <p:nvPr/>
        </p:nvSpPr>
        <p:spPr>
          <a:xfrm>
            <a:off x="1051560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12.0</a:t>
            </a:r>
          </a:p>
        </p:txBody>
      </p:sp>
      <p:sp>
        <p:nvSpPr>
          <p:cNvPr id="35" name="TextBox 34"/>
          <p:cNvSpPr txBox="1"/>
          <p:nvPr/>
        </p:nvSpPr>
        <p:spPr>
          <a:xfrm>
            <a:off x="822960" y="3950208"/>
            <a:ext cx="2560320" cy="47548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Maximum (%)</a:t>
            </a:r>
          </a:p>
        </p:txBody>
      </p:sp>
      <p:sp>
        <p:nvSpPr>
          <p:cNvPr id="36" name="TextBox 35"/>
          <p:cNvSpPr txBox="1"/>
          <p:nvPr/>
        </p:nvSpPr>
        <p:spPr>
          <a:xfrm>
            <a:off x="347472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13.0</a:t>
            </a:r>
          </a:p>
        </p:txBody>
      </p:sp>
      <p:sp>
        <p:nvSpPr>
          <p:cNvPr id="37" name="TextBox 36"/>
          <p:cNvSpPr txBox="1"/>
          <p:nvPr/>
        </p:nvSpPr>
        <p:spPr>
          <a:xfrm>
            <a:off x="448056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13.0</a:t>
            </a:r>
          </a:p>
        </p:txBody>
      </p:sp>
      <p:sp>
        <p:nvSpPr>
          <p:cNvPr id="38" name="TextBox 37"/>
          <p:cNvSpPr txBox="1"/>
          <p:nvPr/>
        </p:nvSpPr>
        <p:spPr>
          <a:xfrm>
            <a:off x="548640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13.1</a:t>
            </a:r>
          </a:p>
        </p:txBody>
      </p:sp>
      <p:sp>
        <p:nvSpPr>
          <p:cNvPr id="39" name="TextBox 38"/>
          <p:cNvSpPr txBox="1"/>
          <p:nvPr/>
        </p:nvSpPr>
        <p:spPr>
          <a:xfrm>
            <a:off x="649224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13.0</a:t>
            </a:r>
          </a:p>
        </p:txBody>
      </p:sp>
      <p:sp>
        <p:nvSpPr>
          <p:cNvPr id="40" name="TextBox 39"/>
          <p:cNvSpPr txBox="1"/>
          <p:nvPr/>
        </p:nvSpPr>
        <p:spPr>
          <a:xfrm>
            <a:off x="7498079"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14.9</a:t>
            </a:r>
          </a:p>
        </p:txBody>
      </p:sp>
      <p:sp>
        <p:nvSpPr>
          <p:cNvPr id="41" name="TextBox 40"/>
          <p:cNvSpPr txBox="1"/>
          <p:nvPr/>
        </p:nvSpPr>
        <p:spPr>
          <a:xfrm>
            <a:off x="850392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13.9</a:t>
            </a:r>
          </a:p>
        </p:txBody>
      </p:sp>
      <p:sp>
        <p:nvSpPr>
          <p:cNvPr id="42" name="TextBox 41"/>
          <p:cNvSpPr txBox="1"/>
          <p:nvPr/>
        </p:nvSpPr>
        <p:spPr>
          <a:xfrm>
            <a:off x="950976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13.5</a:t>
            </a:r>
          </a:p>
        </p:txBody>
      </p:sp>
      <p:sp>
        <p:nvSpPr>
          <p:cNvPr id="43" name="TextBox 42"/>
          <p:cNvSpPr txBox="1"/>
          <p:nvPr/>
        </p:nvSpPr>
        <p:spPr>
          <a:xfrm>
            <a:off x="1051560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Arial"/>
              </a:rPr>
              <a:t>13.2</a:t>
            </a:r>
          </a:p>
        </p:txBody>
      </p:sp>
      <p:cxnSp>
        <p:nvCxnSpPr>
          <p:cNvPr id="44" name="Connector 43"/>
          <p:cNvCxnSpPr/>
          <p:nvPr/>
        </p:nvCxnSpPr>
        <p:spPr>
          <a:xfrm>
            <a:off x="822960" y="4462272"/>
            <a:ext cx="1060704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22960" y="470001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So each month, about 12.5% of households are new, 37.5% sit in months 2–4, and 50% are returning in months 5–8. Month-to-month overlap is 75% and year-to-year overlap is 50%, by design.</a:t>
            </a:r>
          </a:p>
        </p:txBody>
      </p:sp>
      <p:sp>
        <p:nvSpPr>
          <p:cNvPr id="46" name="Rounded Rectangle 45">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Internal migration in the United States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36</a:t>
            </a:r>
          </a:p>
        </p:txBody>
      </p:sp>
      <p:pic>
        <p:nvPicPr>
          <p:cNvPr id="5" name="Picture 4"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6" name="Rounded Rectangle 5"/>
          <p:cNvSpPr/>
          <p:nvPr/>
        </p:nvSpPr>
        <p:spPr>
          <a:xfrm>
            <a:off x="502920" y="5806440"/>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450" b="1">
                <a:solidFill>
                  <a:srgbClr val="102D5E"/>
                </a:solidFill>
                <a:latin typeface="Arial"/>
              </a:rPr>
              <a:t>Key message.  </a:t>
            </a:r>
            <a:r>
              <a:rPr sz="1450" b="0">
                <a:solidFill>
                  <a:srgbClr val="212529"/>
                </a:solidFill>
                <a:latin typeface="Arial"/>
              </a:rPr>
              <a:t>In 2023, 7.8% of Americans moved. This is the loss channel of any address-based panel.  (Census Bureau, CPS ASEC, table A-1.)</a:t>
            </a:r>
          </a:p>
        </p:txBody>
      </p:sp>
      <p:sp>
        <p:nvSpPr>
          <p:cNvPr id="7" name="Rounded Rectangle 6">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Is the same person validated year to year?</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37</a:t>
            </a:r>
          </a:p>
        </p:txBody>
      </p:sp>
      <p:cxnSp>
        <p:nvCxnSpPr>
          <p:cNvPr id="5" name="Connector 4"/>
          <p:cNvCxnSpPr/>
          <p:nvPr/>
        </p:nvCxnSpPr>
        <p:spPr>
          <a:xfrm>
            <a:off x="822960" y="1463040"/>
            <a:ext cx="1078992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572768"/>
            <a:ext cx="512064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Arial"/>
              </a:rPr>
              <a:t>In the field</a:t>
            </a:r>
          </a:p>
        </p:txBody>
      </p:sp>
      <p:sp>
        <p:nvSpPr>
          <p:cNvPr id="7" name="TextBox 6"/>
          <p:cNvSpPr txBox="1"/>
          <p:nvPr/>
        </p:nvSpPr>
        <p:spPr>
          <a:xfrm>
            <a:off x="6309360" y="1572768"/>
            <a:ext cx="530352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Arial"/>
              </a:rPr>
              <a:t>In the public files</a:t>
            </a:r>
          </a:p>
        </p:txBody>
      </p:sp>
      <p:cxnSp>
        <p:nvCxnSpPr>
          <p:cNvPr id="8" name="Connector 7"/>
          <p:cNvCxnSpPr/>
          <p:nvPr/>
        </p:nvCxnSpPr>
        <p:spPr>
          <a:xfrm>
            <a:off x="822960" y="2048256"/>
            <a:ext cx="1078992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157984"/>
            <a:ext cx="512064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Roster carried forward by the interviewer</a:t>
            </a:r>
          </a:p>
        </p:txBody>
      </p:sp>
      <p:sp>
        <p:nvSpPr>
          <p:cNvPr id="10" name="TextBox 9"/>
          <p:cNvSpPr txBox="1"/>
          <p:nvPr/>
        </p:nvSpPr>
        <p:spPr>
          <a:xfrm>
            <a:off x="6309360" y="2157984"/>
            <a:ext cx="53035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No person identifier at all</a:t>
            </a:r>
          </a:p>
        </p:txBody>
      </p:sp>
      <p:sp>
        <p:nvSpPr>
          <p:cNvPr id="11" name="TextBox 10"/>
          <p:cNvSpPr txBox="1"/>
          <p:nvPr/>
        </p:nvSpPr>
        <p:spPr>
          <a:xfrm>
            <a:off x="822960" y="2889504"/>
            <a:ext cx="512064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Each member keeps a line number</a:t>
            </a:r>
          </a:p>
        </p:txBody>
      </p:sp>
      <p:sp>
        <p:nvSpPr>
          <p:cNvPr id="12" name="TextBox 11"/>
          <p:cNvSpPr txBox="1"/>
          <p:nvPr/>
        </p:nvSpPr>
        <p:spPr>
          <a:xfrm>
            <a:off x="6309360" y="2889504"/>
            <a:ext cx="53035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Household id + dwelling id + line number reconstruct it</a:t>
            </a:r>
          </a:p>
        </p:txBody>
      </p:sp>
      <p:sp>
        <p:nvSpPr>
          <p:cNvPr id="13" name="TextBox 12"/>
          <p:cNvSpPr txBox="1"/>
          <p:nvPr/>
        </p:nvSpPr>
        <p:spPr>
          <a:xfrm>
            <a:off x="822960" y="3941064"/>
            <a:ext cx="512064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Occupation asked by dependent interviewing month to month</a:t>
            </a:r>
          </a:p>
        </p:txBody>
      </p:sp>
      <p:sp>
        <p:nvSpPr>
          <p:cNvPr id="14" name="TextBox 13"/>
          <p:cNvSpPr txBox="1"/>
          <p:nvPr/>
        </p:nvSpPr>
        <p:spPr>
          <a:xfrm>
            <a:off x="6309360" y="3941064"/>
            <a:ext cx="53035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Arial"/>
              </a:rPr>
              <a:t>Validated on sex, race, age advancing 0–2 years</a:t>
            </a:r>
          </a:p>
        </p:txBody>
      </p:sp>
      <p:sp>
        <p:nvSpPr>
          <p:cNvPr id="15" name="TextBox 14"/>
          <p:cNvSpPr txBox="1"/>
          <p:nvPr/>
        </p:nvSpPr>
        <p:spPr>
          <a:xfrm>
            <a:off x="822960" y="4992624"/>
            <a:ext cx="5120640" cy="457200"/>
          </a:xfrm>
          <a:prstGeom prst="rect">
            <a:avLst/>
          </a:prstGeom>
          <a:noFill/>
        </p:spPr>
        <p:txBody>
          <a:bodyPr wrap="square" lIns="0" rIns="0" tIns="0" bIns="0">
            <a:spAutoFit/>
          </a:bodyPr>
          <a:lstStyle/>
          <a:p>
            <a:pPr algn="l">
              <a:lnSpc>
                <a:spcPts val="1920"/>
              </a:lnSpc>
              <a:spcAft>
                <a:spcPts val="0"/>
              </a:spcAft>
            </a:pPr>
            <a:r>
              <a:rPr sz="1500" b="1" i="0">
                <a:solidFill>
                  <a:srgbClr val="102D5E"/>
                </a:solidFill>
                <a:latin typeface="Arial"/>
              </a:rPr>
              <a:t>Identity is known</a:t>
            </a:r>
          </a:p>
        </p:txBody>
      </p:sp>
      <p:sp>
        <p:nvSpPr>
          <p:cNvPr id="16" name="TextBox 15"/>
          <p:cNvSpPr txBox="1"/>
          <p:nvPr/>
        </p:nvSpPr>
        <p:spPr>
          <a:xfrm>
            <a:off x="6309360" y="4992624"/>
            <a:ext cx="5303520" cy="457200"/>
          </a:xfrm>
          <a:prstGeom prst="rect">
            <a:avLst/>
          </a:prstGeom>
          <a:noFill/>
        </p:spPr>
        <p:txBody>
          <a:bodyPr wrap="square" lIns="0" rIns="0" tIns="0" bIns="0">
            <a:spAutoFit/>
          </a:bodyPr>
          <a:lstStyle/>
          <a:p>
            <a:pPr algn="l">
              <a:lnSpc>
                <a:spcPts val="1920"/>
              </a:lnSpc>
              <a:spcAft>
                <a:spcPts val="0"/>
              </a:spcAft>
            </a:pPr>
            <a:r>
              <a:rPr sz="1500" b="1" i="0">
                <a:solidFill>
                  <a:srgbClr val="8F2B36"/>
                </a:solidFill>
                <a:latin typeface="Arial"/>
              </a:rPr>
              <a:t>Identity is inferred. A mover replaced by someone of the same sex and similar age can slip through</a:t>
            </a:r>
          </a:p>
        </p:txBody>
      </p:sp>
      <p:cxnSp>
        <p:nvCxnSpPr>
          <p:cNvPr id="17" name="Connector 16"/>
          <p:cNvCxnSpPr/>
          <p:nvPr/>
        </p:nvCxnSpPr>
        <p:spPr>
          <a:xfrm>
            <a:off x="822960" y="6355080"/>
            <a:ext cx="1078992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18" name="Rounded Rectangle 17">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How much is lost in linking, and who</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38</a:t>
            </a:r>
          </a:p>
        </p:txBody>
      </p:sp>
      <p:pic>
        <p:nvPicPr>
          <p:cNvPr id="5" name="Picture 4"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6" name="Rounded Rectangle 5"/>
          <p:cNvSpPr/>
          <p:nvPr/>
        </p:nvSpPr>
        <p:spPr>
          <a:xfrm>
            <a:off x="502920" y="5806440"/>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450" b="1">
                <a:solidFill>
                  <a:srgbClr val="102D5E"/>
                </a:solidFill>
                <a:latin typeface="Arial"/>
              </a:rPr>
              <a:t>Key message.  </a:t>
            </a:r>
            <a:r>
              <a:rPr sz="1450" b="0">
                <a:solidFill>
                  <a:srgbClr val="212529"/>
                </a:solidFill>
                <a:latin typeface="Arial"/>
              </a:rPr>
              <a:t>Teachers link more than other graduates, not less. But movers leave teaching more, so panel measures are lower bounds on mobility-related exit.</a:t>
            </a:r>
          </a:p>
        </p:txBody>
      </p:sp>
      <p:sp>
        <p:nvSpPr>
          <p:cNvPr id="7" name="Rounded Rectangle 6">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Why the rate falls as the definition tightens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39</a:t>
            </a:r>
          </a:p>
        </p:txBody>
      </p:sp>
      <p:pic>
        <p:nvPicPr>
          <p:cNvPr id="5" name="Picture 4"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6" name="TextBox 5"/>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Arial"/>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7" name="Rounded Rectangle 6">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Public vs private schools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40</a:t>
            </a:r>
          </a:p>
        </p:txBody>
      </p:sp>
      <p:pic>
        <p:nvPicPr>
          <p:cNvPr id="5" name="Picture 4"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6" name="Rounded Rectangle 5">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More professions, and their average</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41</a:t>
            </a:r>
          </a:p>
        </p:txBody>
      </p:sp>
      <p:pic>
        <p:nvPicPr>
          <p:cNvPr id="5" name="Picture 4" descr="profs_ext.png"/>
          <p:cNvPicPr>
            <a:picLocks noChangeAspect="1"/>
          </p:cNvPicPr>
          <p:nvPr/>
        </p:nvPicPr>
        <p:blipFill>
          <a:blip r:embed="rId2"/>
          <a:stretch>
            <a:fillRect/>
          </a:stretch>
        </p:blipFill>
        <p:spPr>
          <a:xfrm>
            <a:off x="1297304" y="1097280"/>
            <a:ext cx="9566910" cy="4937760"/>
          </a:xfrm>
          <a:prstGeom prst="rect">
            <a:avLst/>
          </a:prstGeom>
        </p:spPr>
      </p:pic>
      <p:sp>
        <p:nvSpPr>
          <p:cNvPr id="6" name="Rounded Rectangle 5">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Our destinations vs the NCES follow-up survey</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42</a:t>
            </a:r>
          </a:p>
        </p:txBody>
      </p:sp>
      <p:cxnSp>
        <p:nvCxnSpPr>
          <p:cNvPr id="5" name="Connector 4"/>
          <p:cNvCxnSpPr/>
          <p:nvPr/>
        </p:nvCxnSpPr>
        <p:spPr>
          <a:xfrm>
            <a:off x="548640" y="1371600"/>
            <a:ext cx="539496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481328"/>
            <a:ext cx="3017520" cy="384048"/>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Arial"/>
              </a:rPr>
              <a:t>Of every 100 leavers…</a:t>
            </a:r>
          </a:p>
        </p:txBody>
      </p:sp>
      <p:sp>
        <p:nvSpPr>
          <p:cNvPr id="7" name="TextBox 6"/>
          <p:cNvSpPr txBox="1"/>
          <p:nvPr/>
        </p:nvSpPr>
        <p:spPr>
          <a:xfrm>
            <a:off x="3657600" y="1481328"/>
            <a:ext cx="1097280" cy="384048"/>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Arial"/>
              </a:rPr>
              <a:t>CPS</a:t>
            </a:r>
          </a:p>
        </p:txBody>
      </p:sp>
      <p:sp>
        <p:nvSpPr>
          <p:cNvPr id="8" name="TextBox 7"/>
          <p:cNvSpPr txBox="1"/>
          <p:nvPr/>
        </p:nvSpPr>
        <p:spPr>
          <a:xfrm>
            <a:off x="4846320" y="1481328"/>
            <a:ext cx="1097280" cy="384048"/>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Arial"/>
              </a:rPr>
              <a:t>TFS</a:t>
            </a:r>
          </a:p>
        </p:txBody>
      </p:sp>
      <p:sp>
        <p:nvSpPr>
          <p:cNvPr id="9" name="TextBox 8"/>
          <p:cNvSpPr txBox="1"/>
          <p:nvPr/>
        </p:nvSpPr>
        <p:spPr>
          <a:xfrm>
            <a:off x="3657600" y="1865376"/>
            <a:ext cx="1097280" cy="384048"/>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Arial"/>
              </a:rPr>
              <a:t>2020–24 avg.</a:t>
            </a:r>
          </a:p>
        </p:txBody>
      </p:sp>
      <p:sp>
        <p:nvSpPr>
          <p:cNvPr id="10" name="TextBox 9"/>
          <p:cNvSpPr txBox="1"/>
          <p:nvPr/>
        </p:nvSpPr>
        <p:spPr>
          <a:xfrm>
            <a:off x="4846320" y="1865376"/>
            <a:ext cx="1097280" cy="384048"/>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Arial"/>
              </a:rPr>
              <a:t>2021–22</a:t>
            </a:r>
          </a:p>
        </p:txBody>
      </p:sp>
      <p:cxnSp>
        <p:nvCxnSpPr>
          <p:cNvPr id="11" name="Connector 10"/>
          <p:cNvCxnSpPr/>
          <p:nvPr/>
        </p:nvCxnSpPr>
        <p:spPr>
          <a:xfrm>
            <a:off x="548640" y="2267712"/>
            <a:ext cx="539496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2377440"/>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Arial"/>
              </a:rPr>
              <a:t>Working in another job</a:t>
            </a:r>
          </a:p>
        </p:txBody>
      </p:sp>
      <p:sp>
        <p:nvSpPr>
          <p:cNvPr id="13" name="TextBox 12"/>
          <p:cNvSpPr txBox="1"/>
          <p:nvPr/>
        </p:nvSpPr>
        <p:spPr>
          <a:xfrm>
            <a:off x="3657600" y="237744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28.8</a:t>
            </a:r>
          </a:p>
        </p:txBody>
      </p:sp>
      <p:sp>
        <p:nvSpPr>
          <p:cNvPr id="14" name="TextBox 13"/>
          <p:cNvSpPr txBox="1"/>
          <p:nvPr/>
        </p:nvSpPr>
        <p:spPr>
          <a:xfrm>
            <a:off x="4846320" y="237744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57.2</a:t>
            </a:r>
          </a:p>
        </p:txBody>
      </p:sp>
      <p:sp>
        <p:nvSpPr>
          <p:cNvPr id="15" name="TextBox 14"/>
          <p:cNvSpPr txBox="1"/>
          <p:nvPr/>
        </p:nvSpPr>
        <p:spPr>
          <a:xfrm>
            <a:off x="548640" y="2761488"/>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Arial"/>
              </a:rPr>
              <a:t>   K–12, non-teaching</a:t>
            </a:r>
          </a:p>
        </p:txBody>
      </p:sp>
      <p:sp>
        <p:nvSpPr>
          <p:cNvPr id="16" name="TextBox 15"/>
          <p:cNvSpPr txBox="1"/>
          <p:nvPr/>
        </p:nvSpPr>
        <p:spPr>
          <a:xfrm>
            <a:off x="3657600" y="2761488"/>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a:t>
            </a:r>
          </a:p>
        </p:txBody>
      </p:sp>
      <p:sp>
        <p:nvSpPr>
          <p:cNvPr id="17" name="TextBox 16"/>
          <p:cNvSpPr txBox="1"/>
          <p:nvPr/>
        </p:nvSpPr>
        <p:spPr>
          <a:xfrm>
            <a:off x="4846320" y="2761488"/>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39.3</a:t>
            </a:r>
          </a:p>
        </p:txBody>
      </p:sp>
      <p:sp>
        <p:nvSpPr>
          <p:cNvPr id="18" name="TextBox 17"/>
          <p:cNvSpPr txBox="1"/>
          <p:nvPr/>
        </p:nvSpPr>
        <p:spPr>
          <a:xfrm>
            <a:off x="548640" y="3145536"/>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Arial"/>
              </a:rPr>
              <a:t>   outside education</a:t>
            </a:r>
          </a:p>
        </p:txBody>
      </p:sp>
      <p:sp>
        <p:nvSpPr>
          <p:cNvPr id="19" name="TextBox 18"/>
          <p:cNvSpPr txBox="1"/>
          <p:nvPr/>
        </p:nvSpPr>
        <p:spPr>
          <a:xfrm>
            <a:off x="3657600" y="3145536"/>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a:t>
            </a:r>
          </a:p>
        </p:txBody>
      </p:sp>
      <p:sp>
        <p:nvSpPr>
          <p:cNvPr id="20" name="TextBox 19"/>
          <p:cNvSpPr txBox="1"/>
          <p:nvPr/>
        </p:nvSpPr>
        <p:spPr>
          <a:xfrm>
            <a:off x="4846320" y="3145536"/>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11.8</a:t>
            </a:r>
          </a:p>
        </p:txBody>
      </p:sp>
      <p:sp>
        <p:nvSpPr>
          <p:cNvPr id="21" name="TextBox 20"/>
          <p:cNvSpPr txBox="1"/>
          <p:nvPr/>
        </p:nvSpPr>
        <p:spPr>
          <a:xfrm>
            <a:off x="548640" y="3529584"/>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Arial"/>
              </a:rPr>
              <a:t>Retired / out of LF, 55+</a:t>
            </a:r>
          </a:p>
        </p:txBody>
      </p:sp>
      <p:sp>
        <p:nvSpPr>
          <p:cNvPr id="22" name="TextBox 21"/>
          <p:cNvSpPr txBox="1"/>
          <p:nvPr/>
        </p:nvSpPr>
        <p:spPr>
          <a:xfrm>
            <a:off x="3657600" y="3529584"/>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36.4</a:t>
            </a:r>
          </a:p>
        </p:txBody>
      </p:sp>
      <p:sp>
        <p:nvSpPr>
          <p:cNvPr id="23" name="TextBox 22"/>
          <p:cNvSpPr txBox="1"/>
          <p:nvPr/>
        </p:nvSpPr>
        <p:spPr>
          <a:xfrm>
            <a:off x="4846320" y="3529584"/>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27.7</a:t>
            </a:r>
          </a:p>
        </p:txBody>
      </p:sp>
      <p:sp>
        <p:nvSpPr>
          <p:cNvPr id="24" name="TextBox 23"/>
          <p:cNvSpPr txBox="1"/>
          <p:nvPr/>
        </p:nvSpPr>
        <p:spPr>
          <a:xfrm>
            <a:off x="548640" y="3913632"/>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Arial"/>
              </a:rPr>
              <a:t>Out of the LF, under 55</a:t>
            </a:r>
          </a:p>
        </p:txBody>
      </p:sp>
      <p:sp>
        <p:nvSpPr>
          <p:cNvPr id="25" name="TextBox 24"/>
          <p:cNvSpPr txBox="1"/>
          <p:nvPr/>
        </p:nvSpPr>
        <p:spPr>
          <a:xfrm>
            <a:off x="3657600" y="3913632"/>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23.7</a:t>
            </a:r>
          </a:p>
        </p:txBody>
      </p:sp>
      <p:sp>
        <p:nvSpPr>
          <p:cNvPr id="26" name="TextBox 25"/>
          <p:cNvSpPr txBox="1"/>
          <p:nvPr/>
        </p:nvSpPr>
        <p:spPr>
          <a:xfrm>
            <a:off x="4846320" y="3913632"/>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10.1</a:t>
            </a:r>
          </a:p>
        </p:txBody>
      </p:sp>
      <p:sp>
        <p:nvSpPr>
          <p:cNvPr id="27" name="TextBox 26"/>
          <p:cNvSpPr txBox="1"/>
          <p:nvPr/>
        </p:nvSpPr>
        <p:spPr>
          <a:xfrm>
            <a:off x="548640" y="4297680"/>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Arial"/>
              </a:rPr>
              <a:t>Unemployed</a:t>
            </a:r>
          </a:p>
        </p:txBody>
      </p:sp>
      <p:sp>
        <p:nvSpPr>
          <p:cNvPr id="28" name="TextBox 27"/>
          <p:cNvSpPr txBox="1"/>
          <p:nvPr/>
        </p:nvSpPr>
        <p:spPr>
          <a:xfrm>
            <a:off x="3657600" y="429768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11.1</a:t>
            </a:r>
          </a:p>
        </p:txBody>
      </p:sp>
      <p:sp>
        <p:nvSpPr>
          <p:cNvPr id="29" name="TextBox 28"/>
          <p:cNvSpPr txBox="1"/>
          <p:nvPr/>
        </p:nvSpPr>
        <p:spPr>
          <a:xfrm>
            <a:off x="4846320" y="429768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Arial"/>
              </a:rPr>
              <a:t>4.8</a:t>
            </a:r>
          </a:p>
        </p:txBody>
      </p:sp>
      <p:cxnSp>
        <p:nvCxnSpPr>
          <p:cNvPr id="30" name="Connector 29"/>
          <p:cNvCxnSpPr/>
          <p:nvPr/>
        </p:nvCxnSpPr>
        <p:spPr>
          <a:xfrm>
            <a:off x="548640" y="4718304"/>
            <a:ext cx="539496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4864608"/>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Arial"/>
              </a:rPr>
              <a:t>TFS is the Teacher Follow-up Survey 2021–22, the follow-up of the 2020–21 NTPS. Sources: NCES 2024-039, table A-8, and NTPS estimate tables.</a:t>
            </a:r>
          </a:p>
        </p:txBody>
      </p:sp>
      <p:sp>
        <p:nvSpPr>
          <p:cNvPr id="32" name="TextBox 31"/>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Arial"/>
              </a:rPr>
              <a:t>Why the columns differ</a:t>
            </a:r>
          </a:p>
        </p:txBody>
      </p:sp>
      <p:sp>
        <p:nvSpPr>
          <p:cNvPr id="33" name="TextBox 32"/>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Arial"/>
              </a:rPr>
              <a:t>1.   </a:t>
            </a:r>
            <a:r>
              <a:rPr sz="1200" b="1" i="0">
                <a:solidFill>
                  <a:srgbClr val="102D5E"/>
                </a:solidFill>
                <a:latin typeface="Arial"/>
              </a:rPr>
              <a:t>Who counts as a teacher.  </a:t>
            </a:r>
            <a:r>
              <a:rPr sz="1200" b="0" i="0">
                <a:solidFill>
                  <a:srgbClr val="212529"/>
                </a:solidFill>
                <a:latin typeface="Arial"/>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Arial"/>
              </a:rPr>
              <a:t>2.   </a:t>
            </a:r>
            <a:r>
              <a:rPr sz="1200" b="1" i="0">
                <a:solidFill>
                  <a:srgbClr val="102D5E"/>
                </a:solidFill>
                <a:latin typeface="Arial"/>
              </a:rPr>
              <a:t>What counts as working.  </a:t>
            </a:r>
            <a:r>
              <a:rPr sz="1200" b="0" i="0">
                <a:solidFill>
                  <a:srgbClr val="212529"/>
                </a:solidFill>
                <a:latin typeface="Arial"/>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Arial"/>
              </a:rPr>
              <a:t>3.   </a:t>
            </a:r>
            <a:r>
              <a:rPr sz="1200" b="1" i="0">
                <a:solidFill>
                  <a:srgbClr val="102D5E"/>
                </a:solidFill>
                <a:latin typeface="Arial"/>
              </a:rPr>
              <a:t>Who is reachable.  </a:t>
            </a:r>
            <a:r>
              <a:rPr sz="1200" b="0" i="0">
                <a:solidFill>
                  <a:srgbClr val="212529"/>
                </a:solidFill>
                <a:latin typeface="Arial"/>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Arial"/>
              </a:rPr>
              <a:t>4.   </a:t>
            </a:r>
            <a:r>
              <a:rPr sz="1200" b="1" i="0">
                <a:solidFill>
                  <a:srgbClr val="102D5E"/>
                </a:solidFill>
                <a:latin typeface="Arial"/>
              </a:rPr>
              <a:t>The window.  </a:t>
            </a:r>
            <a:r>
              <a:rPr sz="1200" b="0" i="0">
                <a:solidFill>
                  <a:srgbClr val="212529"/>
                </a:solidFill>
                <a:latin typeface="Arial"/>
              </a:rPr>
              <a:t>Our column averages five years, 2020–2024. The TFS is the single year 2021–22.</a:t>
            </a:r>
          </a:p>
        </p:txBody>
      </p:sp>
      <p:sp>
        <p:nvSpPr>
          <p:cNvPr id="34" name="Rounded Rectangle 33">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The proportions behind the destinations chart</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43</a:t>
            </a:r>
          </a:p>
        </p:txBody>
      </p:sp>
      <p:cxnSp>
        <p:nvCxnSpPr>
          <p:cNvPr id="5" name="Connector 4"/>
          <p:cNvCxnSpPr/>
          <p:nvPr/>
        </p:nvCxnSpPr>
        <p:spPr>
          <a:xfrm>
            <a:off x="822960" y="1463040"/>
            <a:ext cx="9143999"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572768"/>
            <a:ext cx="6949440" cy="475488"/>
          </a:xfrm>
          <a:prstGeom prst="rect">
            <a:avLst/>
          </a:prstGeom>
          <a:noFill/>
        </p:spPr>
        <p:txBody>
          <a:bodyPr wrap="square" lIns="0" rIns="0" tIns="0" bIns="0">
            <a:spAutoFit/>
          </a:bodyPr>
          <a:lstStyle/>
          <a:p>
            <a:pPr algn="l">
              <a:lnSpc>
                <a:spcPts val="1984"/>
              </a:lnSpc>
              <a:spcAft>
                <a:spcPts val="0"/>
              </a:spcAft>
            </a:pPr>
            <a:r>
              <a:rPr sz="1550" b="1" i="0">
                <a:solidFill>
                  <a:srgbClr val="212529"/>
                </a:solidFill>
                <a:latin typeface="Arial"/>
              </a:rPr>
              <a:t>Of every 100 employed leavers…</a:t>
            </a:r>
          </a:p>
        </p:txBody>
      </p:sp>
      <p:sp>
        <p:nvSpPr>
          <p:cNvPr id="7" name="TextBox 6"/>
          <p:cNvSpPr txBox="1"/>
          <p:nvPr/>
        </p:nvSpPr>
        <p:spPr>
          <a:xfrm>
            <a:off x="7955279" y="1572768"/>
            <a:ext cx="2011680" cy="475488"/>
          </a:xfrm>
          <a:prstGeom prst="rect">
            <a:avLst/>
          </a:prstGeom>
          <a:noFill/>
        </p:spPr>
        <p:txBody>
          <a:bodyPr wrap="square" lIns="0" rIns="0" tIns="0" bIns="0">
            <a:spAutoFit/>
          </a:bodyPr>
          <a:lstStyle/>
          <a:p>
            <a:pPr algn="r">
              <a:lnSpc>
                <a:spcPts val="1984"/>
              </a:lnSpc>
              <a:spcAft>
                <a:spcPts val="0"/>
              </a:spcAft>
            </a:pPr>
            <a:r>
              <a:rPr sz="1550" b="1" i="0">
                <a:solidFill>
                  <a:srgbClr val="212529"/>
                </a:solidFill>
                <a:latin typeface="Arial"/>
              </a:rPr>
              <a:t>share</a:t>
            </a:r>
          </a:p>
        </p:txBody>
      </p:sp>
      <p:cxnSp>
        <p:nvCxnSpPr>
          <p:cNvPr id="8" name="Connector 7"/>
          <p:cNvCxnSpPr/>
          <p:nvPr/>
        </p:nvCxnSpPr>
        <p:spPr>
          <a:xfrm>
            <a:off x="822960" y="2066544"/>
            <a:ext cx="9143999"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176272"/>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Arial"/>
              </a:rPr>
              <a:t>Education, non-teaching</a:t>
            </a:r>
          </a:p>
        </p:txBody>
      </p:sp>
      <p:sp>
        <p:nvSpPr>
          <p:cNvPr id="10" name="TextBox 9"/>
          <p:cNvSpPr txBox="1"/>
          <p:nvPr/>
        </p:nvSpPr>
        <p:spPr>
          <a:xfrm>
            <a:off x="7955279" y="2176272"/>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Arial"/>
              </a:rPr>
              <a:t>22.6</a:t>
            </a:r>
          </a:p>
        </p:txBody>
      </p:sp>
      <p:sp>
        <p:nvSpPr>
          <p:cNvPr id="11" name="TextBox 10"/>
          <p:cNvSpPr txBox="1"/>
          <p:nvPr/>
        </p:nvSpPr>
        <p:spPr>
          <a:xfrm>
            <a:off x="822960" y="2651760"/>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Arial"/>
              </a:rPr>
              <a:t>Care</a:t>
            </a:r>
          </a:p>
        </p:txBody>
      </p:sp>
      <p:sp>
        <p:nvSpPr>
          <p:cNvPr id="12" name="TextBox 11"/>
          <p:cNvSpPr txBox="1"/>
          <p:nvPr/>
        </p:nvSpPr>
        <p:spPr>
          <a:xfrm>
            <a:off x="7955279" y="2651760"/>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Arial"/>
              </a:rPr>
              <a:t>8.5</a:t>
            </a:r>
          </a:p>
        </p:txBody>
      </p:sp>
      <p:sp>
        <p:nvSpPr>
          <p:cNvPr id="13" name="TextBox 12"/>
          <p:cNvSpPr txBox="1"/>
          <p:nvPr/>
        </p:nvSpPr>
        <p:spPr>
          <a:xfrm>
            <a:off x="822960" y="3127248"/>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Arial"/>
              </a:rPr>
              <a:t>Professional and managerial</a:t>
            </a:r>
          </a:p>
        </p:txBody>
      </p:sp>
      <p:sp>
        <p:nvSpPr>
          <p:cNvPr id="14" name="TextBox 13"/>
          <p:cNvSpPr txBox="1"/>
          <p:nvPr/>
        </p:nvSpPr>
        <p:spPr>
          <a:xfrm>
            <a:off x="7955279" y="3127248"/>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Arial"/>
              </a:rPr>
              <a:t>32.4</a:t>
            </a:r>
          </a:p>
        </p:txBody>
      </p:sp>
      <p:sp>
        <p:nvSpPr>
          <p:cNvPr id="15" name="TextBox 14"/>
          <p:cNvSpPr txBox="1"/>
          <p:nvPr/>
        </p:nvSpPr>
        <p:spPr>
          <a:xfrm>
            <a:off x="822960" y="3602736"/>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Arial"/>
              </a:rPr>
              <a:t>Sales, office and manual</a:t>
            </a:r>
          </a:p>
        </p:txBody>
      </p:sp>
      <p:sp>
        <p:nvSpPr>
          <p:cNvPr id="16" name="TextBox 15"/>
          <p:cNvSpPr txBox="1"/>
          <p:nvPr/>
        </p:nvSpPr>
        <p:spPr>
          <a:xfrm>
            <a:off x="7955279" y="3602736"/>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Arial"/>
              </a:rPr>
              <a:t>36.5</a:t>
            </a:r>
          </a:p>
        </p:txBody>
      </p:sp>
      <p:cxnSp>
        <p:nvCxnSpPr>
          <p:cNvPr id="17" name="Connector 16"/>
          <p:cNvCxnSpPr/>
          <p:nvPr/>
        </p:nvCxnSpPr>
        <p:spPr>
          <a:xfrm>
            <a:off x="822960" y="4096512"/>
            <a:ext cx="9143999"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206240"/>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8F2B36"/>
                </a:solidFill>
                <a:latin typeface="Arial"/>
              </a:rPr>
              <a:t>Memo: occupations where fewer than half of US workers hold a college degree (in red)</a:t>
            </a:r>
          </a:p>
        </p:txBody>
      </p:sp>
      <p:sp>
        <p:nvSpPr>
          <p:cNvPr id="19" name="TextBox 18"/>
          <p:cNvSpPr txBox="1"/>
          <p:nvPr/>
        </p:nvSpPr>
        <p:spPr>
          <a:xfrm>
            <a:off x="7955279" y="4206240"/>
            <a:ext cx="2011680" cy="475488"/>
          </a:xfrm>
          <a:prstGeom prst="rect">
            <a:avLst/>
          </a:prstGeom>
          <a:noFill/>
        </p:spPr>
        <p:txBody>
          <a:bodyPr wrap="square" lIns="0" rIns="0" tIns="0" bIns="0">
            <a:spAutoFit/>
          </a:bodyPr>
          <a:lstStyle/>
          <a:p>
            <a:pPr algn="r">
              <a:lnSpc>
                <a:spcPts val="1984"/>
              </a:lnSpc>
              <a:spcAft>
                <a:spcPts val="0"/>
              </a:spcAft>
            </a:pPr>
            <a:r>
              <a:rPr sz="1550" b="1" i="0">
                <a:solidFill>
                  <a:srgbClr val="8F2B36"/>
                </a:solidFill>
                <a:latin typeface="Arial"/>
              </a:rPr>
              <a:t>36.3</a:t>
            </a:r>
          </a:p>
        </p:txBody>
      </p:sp>
      <p:cxnSp>
        <p:nvCxnSpPr>
          <p:cNvPr id="20" name="Connector 19"/>
          <p:cNvCxnSpPr/>
          <p:nvPr/>
        </p:nvCxnSpPr>
        <p:spPr>
          <a:xfrm>
            <a:off x="822960" y="4718304"/>
            <a:ext cx="9143999"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956048"/>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Arial"/>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2" name="Rounded Rectangle 21">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Is the teacher group constant across code changes?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44</a:t>
            </a:r>
          </a:p>
        </p:txBody>
      </p:sp>
      <p:pic>
        <p:nvPicPr>
          <p:cNvPr id="5" name="Picture 4"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6" name="Rounded Rectangle 5"/>
          <p:cNvSpPr/>
          <p:nvPr/>
        </p:nvSpPr>
        <p:spPr>
          <a:xfrm>
            <a:off x="502920" y="5806440"/>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450" b="1">
                <a:solidFill>
                  <a:srgbClr val="102D5E"/>
                </a:solidFill>
                <a:latin typeface="Arial"/>
              </a:rPr>
              <a:t>Key message.  </a:t>
            </a:r>
            <a:r>
              <a:rPr sz="1450" b="0">
                <a:solidFill>
                  <a:srgbClr val="212529"/>
                </a:solidFill>
                <a:latin typeface="Arial"/>
              </a:rPr>
              <a:t>Recomputing the whole series on the narrow core moves the pooled rate by 0.1 points. The 2003 and 2020 reclassifications leave no visible break.</a:t>
            </a:r>
          </a:p>
        </p:txBody>
      </p:sp>
      <p:sp>
        <p:nvSpPr>
          <p:cNvPr id="7" name="Rounded Rectangle 6">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Linear probability model, fixed-effects variants</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45</a:t>
            </a:r>
          </a:p>
        </p:txBody>
      </p:sp>
      <p:cxnSp>
        <p:nvCxnSpPr>
          <p:cNvPr id="5" name="Connector 4"/>
          <p:cNvCxnSpPr/>
          <p:nvPr/>
        </p:nvCxnSpPr>
        <p:spPr>
          <a:xfrm>
            <a:off x="1005840" y="1298448"/>
            <a:ext cx="950976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Arial"/>
              </a:rPr>
              <a:t>Dependent variable: left teaching (×100)</a:t>
            </a:r>
          </a:p>
        </p:txBody>
      </p:sp>
      <p:cxnSp>
        <p:nvCxnSpPr>
          <p:cNvPr id="7" name="Connector 6"/>
          <p:cNvCxnSpPr/>
          <p:nvPr/>
        </p:nvCxnSpPr>
        <p:spPr>
          <a:xfrm>
            <a:off x="5029200" y="1700784"/>
            <a:ext cx="548640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Arial"/>
              </a:rPr>
              <a:t>(1)</a:t>
            </a:r>
          </a:p>
        </p:txBody>
      </p:sp>
      <p:sp>
        <p:nvSpPr>
          <p:cNvPr id="9" name="TextBox 8"/>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Arial"/>
              </a:rPr>
              <a:t>(2)</a:t>
            </a:r>
          </a:p>
        </p:txBody>
      </p:sp>
      <p:sp>
        <p:nvSpPr>
          <p:cNvPr id="10" name="TextBox 9"/>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Arial"/>
              </a:rPr>
              <a:t>(3)</a:t>
            </a:r>
          </a:p>
        </p:txBody>
      </p:sp>
      <p:cxnSp>
        <p:nvCxnSpPr>
          <p:cNvPr id="11" name="Connector 10"/>
          <p:cNvCxnSpPr/>
          <p:nvPr/>
        </p:nvCxnSpPr>
        <p:spPr>
          <a:xfrm>
            <a:off x="1005840" y="2093976"/>
            <a:ext cx="950976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Full-year contract</a:t>
            </a:r>
          </a:p>
        </p:txBody>
      </p:sp>
      <p:sp>
        <p:nvSpPr>
          <p:cNvPr id="13" name="TextBox 12"/>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−11.54***</a:t>
            </a:r>
          </a:p>
        </p:txBody>
      </p:sp>
      <p:sp>
        <p:nvSpPr>
          <p:cNvPr id="14" name="TextBox 13"/>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−11.55***</a:t>
            </a:r>
          </a:p>
        </p:txBody>
      </p:sp>
      <p:sp>
        <p:nvSpPr>
          <p:cNvPr id="15" name="TextBox 14"/>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−11.65***</a:t>
            </a:r>
          </a:p>
        </p:txBody>
      </p:sp>
      <p:sp>
        <p:nvSpPr>
          <p:cNvPr id="16" name="TextBox 15"/>
          <p:cNvSpPr txBox="1"/>
          <p:nvPr/>
        </p:nvSpPr>
        <p:spPr>
          <a:xfrm>
            <a:off x="502920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(0.67)</a:t>
            </a:r>
          </a:p>
        </p:txBody>
      </p:sp>
      <p:sp>
        <p:nvSpPr>
          <p:cNvPr id="17" name="TextBox 16"/>
          <p:cNvSpPr txBox="1"/>
          <p:nvPr/>
        </p:nvSpPr>
        <p:spPr>
          <a:xfrm>
            <a:off x="690372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(0.66)</a:t>
            </a:r>
          </a:p>
        </p:txBody>
      </p:sp>
      <p:sp>
        <p:nvSpPr>
          <p:cNvPr id="18" name="TextBox 17"/>
          <p:cNvSpPr txBox="1"/>
          <p:nvPr/>
        </p:nvSpPr>
        <p:spPr>
          <a:xfrm>
            <a:off x="877824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(0.67)</a:t>
            </a:r>
          </a:p>
        </p:txBody>
      </p:sp>
      <p:sp>
        <p:nvSpPr>
          <p:cNvPr id="19" name="TextBox 18"/>
          <p:cNvSpPr txBox="1"/>
          <p:nvPr/>
        </p:nvSpPr>
        <p:spPr>
          <a:xfrm>
            <a:off x="1005840" y="269748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Part-time contract</a:t>
            </a:r>
          </a:p>
        </p:txBody>
      </p:sp>
      <p:sp>
        <p:nvSpPr>
          <p:cNvPr id="20" name="TextBox 19"/>
          <p:cNvSpPr txBox="1"/>
          <p:nvPr/>
        </p:nvSpPr>
        <p:spPr>
          <a:xfrm>
            <a:off x="502920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+8.67***</a:t>
            </a:r>
          </a:p>
        </p:txBody>
      </p:sp>
      <p:sp>
        <p:nvSpPr>
          <p:cNvPr id="21" name="TextBox 20"/>
          <p:cNvSpPr txBox="1"/>
          <p:nvPr/>
        </p:nvSpPr>
        <p:spPr>
          <a:xfrm>
            <a:off x="690372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+8.67***</a:t>
            </a:r>
          </a:p>
        </p:txBody>
      </p:sp>
      <p:sp>
        <p:nvSpPr>
          <p:cNvPr id="22" name="TextBox 21"/>
          <p:cNvSpPr txBox="1"/>
          <p:nvPr/>
        </p:nvSpPr>
        <p:spPr>
          <a:xfrm>
            <a:off x="877824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+8.63***</a:t>
            </a:r>
          </a:p>
        </p:txBody>
      </p:sp>
      <p:sp>
        <p:nvSpPr>
          <p:cNvPr id="23" name="TextBox 22"/>
          <p:cNvSpPr txBox="1"/>
          <p:nvPr/>
        </p:nvSpPr>
        <p:spPr>
          <a:xfrm>
            <a:off x="502920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(1.09)</a:t>
            </a:r>
          </a:p>
        </p:txBody>
      </p:sp>
      <p:sp>
        <p:nvSpPr>
          <p:cNvPr id="24" name="TextBox 23"/>
          <p:cNvSpPr txBox="1"/>
          <p:nvPr/>
        </p:nvSpPr>
        <p:spPr>
          <a:xfrm>
            <a:off x="690372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(1.09)</a:t>
            </a:r>
          </a:p>
        </p:txBody>
      </p:sp>
      <p:sp>
        <p:nvSpPr>
          <p:cNvPr id="25" name="TextBox 24"/>
          <p:cNvSpPr txBox="1"/>
          <p:nvPr/>
        </p:nvSpPr>
        <p:spPr>
          <a:xfrm>
            <a:off x="877824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(1.10)</a:t>
            </a:r>
          </a:p>
        </p:txBody>
      </p:sp>
      <p:sp>
        <p:nvSpPr>
          <p:cNvPr id="26" name="TextBox 25"/>
          <p:cNvSpPr txBox="1"/>
          <p:nvPr/>
        </p:nvSpPr>
        <p:spPr>
          <a:xfrm>
            <a:off x="1005840" y="32186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Employer pension plan</a:t>
            </a:r>
          </a:p>
        </p:txBody>
      </p:sp>
      <p:sp>
        <p:nvSpPr>
          <p:cNvPr id="27" name="TextBox 26"/>
          <p:cNvSpPr txBox="1"/>
          <p:nvPr/>
        </p:nvSpPr>
        <p:spPr>
          <a:xfrm>
            <a:off x="502920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−2.35***</a:t>
            </a:r>
          </a:p>
        </p:txBody>
      </p:sp>
      <p:sp>
        <p:nvSpPr>
          <p:cNvPr id="28" name="TextBox 27"/>
          <p:cNvSpPr txBox="1"/>
          <p:nvPr/>
        </p:nvSpPr>
        <p:spPr>
          <a:xfrm>
            <a:off x="690372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−2.33***</a:t>
            </a:r>
          </a:p>
        </p:txBody>
      </p:sp>
      <p:sp>
        <p:nvSpPr>
          <p:cNvPr id="29" name="TextBox 28"/>
          <p:cNvSpPr txBox="1"/>
          <p:nvPr/>
        </p:nvSpPr>
        <p:spPr>
          <a:xfrm>
            <a:off x="877824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−2.33***</a:t>
            </a:r>
          </a:p>
        </p:txBody>
      </p:sp>
      <p:sp>
        <p:nvSpPr>
          <p:cNvPr id="30" name="TextBox 29"/>
          <p:cNvSpPr txBox="1"/>
          <p:nvPr/>
        </p:nvSpPr>
        <p:spPr>
          <a:xfrm>
            <a:off x="502920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(0.52)</a:t>
            </a:r>
          </a:p>
        </p:txBody>
      </p:sp>
      <p:sp>
        <p:nvSpPr>
          <p:cNvPr id="31" name="TextBox 30"/>
          <p:cNvSpPr txBox="1"/>
          <p:nvPr/>
        </p:nvSpPr>
        <p:spPr>
          <a:xfrm>
            <a:off x="690372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(0.52)</a:t>
            </a:r>
          </a:p>
        </p:txBody>
      </p:sp>
      <p:sp>
        <p:nvSpPr>
          <p:cNvPr id="32" name="TextBox 31"/>
          <p:cNvSpPr txBox="1"/>
          <p:nvPr/>
        </p:nvSpPr>
        <p:spPr>
          <a:xfrm>
            <a:off x="877824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(0.52)</a:t>
            </a:r>
          </a:p>
        </p:txBody>
      </p:sp>
      <p:sp>
        <p:nvSpPr>
          <p:cNvPr id="33" name="TextBox 32"/>
          <p:cNvSpPr txBox="1"/>
          <p:nvPr/>
        </p:nvSpPr>
        <p:spPr>
          <a:xfrm>
            <a:off x="1005840" y="373989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Public sector</a:t>
            </a:r>
          </a:p>
        </p:txBody>
      </p:sp>
      <p:sp>
        <p:nvSpPr>
          <p:cNvPr id="34" name="TextBox 33"/>
          <p:cNvSpPr txBox="1"/>
          <p:nvPr/>
        </p:nvSpPr>
        <p:spPr>
          <a:xfrm>
            <a:off x="502920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−2.35***</a:t>
            </a:r>
          </a:p>
        </p:txBody>
      </p:sp>
      <p:sp>
        <p:nvSpPr>
          <p:cNvPr id="35" name="TextBox 34"/>
          <p:cNvSpPr txBox="1"/>
          <p:nvPr/>
        </p:nvSpPr>
        <p:spPr>
          <a:xfrm>
            <a:off x="690372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−2.38***</a:t>
            </a:r>
          </a:p>
        </p:txBody>
      </p:sp>
      <p:sp>
        <p:nvSpPr>
          <p:cNvPr id="36" name="TextBox 35"/>
          <p:cNvSpPr txBox="1"/>
          <p:nvPr/>
        </p:nvSpPr>
        <p:spPr>
          <a:xfrm>
            <a:off x="877824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−2.39***</a:t>
            </a:r>
          </a:p>
        </p:txBody>
      </p:sp>
      <p:sp>
        <p:nvSpPr>
          <p:cNvPr id="37" name="TextBox 36"/>
          <p:cNvSpPr txBox="1"/>
          <p:nvPr/>
        </p:nvSpPr>
        <p:spPr>
          <a:xfrm>
            <a:off x="502920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(0.56)</a:t>
            </a:r>
          </a:p>
        </p:txBody>
      </p:sp>
      <p:sp>
        <p:nvSpPr>
          <p:cNvPr id="38" name="TextBox 37"/>
          <p:cNvSpPr txBox="1"/>
          <p:nvPr/>
        </p:nvSpPr>
        <p:spPr>
          <a:xfrm>
            <a:off x="690372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(0.56)</a:t>
            </a:r>
          </a:p>
        </p:txBody>
      </p:sp>
      <p:sp>
        <p:nvSpPr>
          <p:cNvPr id="39" name="TextBox 38"/>
          <p:cNvSpPr txBox="1"/>
          <p:nvPr/>
        </p:nvSpPr>
        <p:spPr>
          <a:xfrm>
            <a:off x="877824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(0.56)</a:t>
            </a:r>
          </a:p>
        </p:txBody>
      </p:sp>
      <p:sp>
        <p:nvSpPr>
          <p:cNvPr id="40" name="TextBox 39"/>
          <p:cNvSpPr txBox="1"/>
          <p:nvPr/>
        </p:nvSpPr>
        <p:spPr>
          <a:xfrm>
            <a:off x="1005840" y="4261104"/>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New baby during the year</a:t>
            </a:r>
          </a:p>
        </p:txBody>
      </p:sp>
      <p:sp>
        <p:nvSpPr>
          <p:cNvPr id="41" name="TextBox 40"/>
          <p:cNvSpPr txBox="1"/>
          <p:nvPr/>
        </p:nvSpPr>
        <p:spPr>
          <a:xfrm>
            <a:off x="502920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+5.72***</a:t>
            </a:r>
          </a:p>
        </p:txBody>
      </p:sp>
      <p:sp>
        <p:nvSpPr>
          <p:cNvPr id="42" name="TextBox 41"/>
          <p:cNvSpPr txBox="1"/>
          <p:nvPr/>
        </p:nvSpPr>
        <p:spPr>
          <a:xfrm>
            <a:off x="690372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+5.63***</a:t>
            </a:r>
          </a:p>
        </p:txBody>
      </p:sp>
      <p:sp>
        <p:nvSpPr>
          <p:cNvPr id="43" name="TextBox 42"/>
          <p:cNvSpPr txBox="1"/>
          <p:nvPr/>
        </p:nvSpPr>
        <p:spPr>
          <a:xfrm>
            <a:off x="877824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+5.71***</a:t>
            </a:r>
          </a:p>
        </p:txBody>
      </p:sp>
      <p:sp>
        <p:nvSpPr>
          <p:cNvPr id="44" name="TextBox 43"/>
          <p:cNvSpPr txBox="1"/>
          <p:nvPr/>
        </p:nvSpPr>
        <p:spPr>
          <a:xfrm>
            <a:off x="502920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(1.56)</a:t>
            </a:r>
          </a:p>
        </p:txBody>
      </p:sp>
      <p:sp>
        <p:nvSpPr>
          <p:cNvPr id="45" name="TextBox 44"/>
          <p:cNvSpPr txBox="1"/>
          <p:nvPr/>
        </p:nvSpPr>
        <p:spPr>
          <a:xfrm>
            <a:off x="690372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(1.56)</a:t>
            </a:r>
          </a:p>
        </p:txBody>
      </p:sp>
      <p:sp>
        <p:nvSpPr>
          <p:cNvPr id="46" name="TextBox 45"/>
          <p:cNvSpPr txBox="1"/>
          <p:nvPr/>
        </p:nvSpPr>
        <p:spPr>
          <a:xfrm>
            <a:off x="877824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(1.56)</a:t>
            </a:r>
          </a:p>
        </p:txBody>
      </p:sp>
      <p:sp>
        <p:nvSpPr>
          <p:cNvPr id="47" name="TextBox 46"/>
          <p:cNvSpPr txBox="1"/>
          <p:nvPr/>
        </p:nvSpPr>
        <p:spPr>
          <a:xfrm>
            <a:off x="1005840" y="4782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With a disability</a:t>
            </a:r>
          </a:p>
        </p:txBody>
      </p:sp>
      <p:sp>
        <p:nvSpPr>
          <p:cNvPr id="48" name="TextBox 47"/>
          <p:cNvSpPr txBox="1"/>
          <p:nvPr/>
        </p:nvSpPr>
        <p:spPr>
          <a:xfrm>
            <a:off x="502920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+8.85***</a:t>
            </a:r>
          </a:p>
        </p:txBody>
      </p:sp>
      <p:sp>
        <p:nvSpPr>
          <p:cNvPr id="49" name="TextBox 48"/>
          <p:cNvSpPr txBox="1"/>
          <p:nvPr/>
        </p:nvSpPr>
        <p:spPr>
          <a:xfrm>
            <a:off x="690372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+8.94***</a:t>
            </a:r>
          </a:p>
        </p:txBody>
      </p:sp>
      <p:sp>
        <p:nvSpPr>
          <p:cNvPr id="50" name="TextBox 49"/>
          <p:cNvSpPr txBox="1"/>
          <p:nvPr/>
        </p:nvSpPr>
        <p:spPr>
          <a:xfrm>
            <a:off x="877824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+8.94***</a:t>
            </a:r>
          </a:p>
        </p:txBody>
      </p:sp>
      <p:sp>
        <p:nvSpPr>
          <p:cNvPr id="51" name="TextBox 50"/>
          <p:cNvSpPr txBox="1"/>
          <p:nvPr/>
        </p:nvSpPr>
        <p:spPr>
          <a:xfrm>
            <a:off x="502920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(2.14)</a:t>
            </a:r>
          </a:p>
        </p:txBody>
      </p:sp>
      <p:sp>
        <p:nvSpPr>
          <p:cNvPr id="52" name="TextBox 51"/>
          <p:cNvSpPr txBox="1"/>
          <p:nvPr/>
        </p:nvSpPr>
        <p:spPr>
          <a:xfrm>
            <a:off x="690372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(2.14)</a:t>
            </a:r>
          </a:p>
        </p:txBody>
      </p:sp>
      <p:sp>
        <p:nvSpPr>
          <p:cNvPr id="53" name="TextBox 52"/>
          <p:cNvSpPr txBox="1"/>
          <p:nvPr/>
        </p:nvSpPr>
        <p:spPr>
          <a:xfrm>
            <a:off x="877824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(2.14)</a:t>
            </a:r>
          </a:p>
        </p:txBody>
      </p:sp>
      <p:sp>
        <p:nvSpPr>
          <p:cNvPr id="54" name="TextBox 53"/>
          <p:cNvSpPr txBox="1"/>
          <p:nvPr/>
        </p:nvSpPr>
        <p:spPr>
          <a:xfrm>
            <a:off x="1005840" y="53035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Bottom-quartile household income</a:t>
            </a:r>
          </a:p>
        </p:txBody>
      </p:sp>
      <p:sp>
        <p:nvSpPr>
          <p:cNvPr id="55" name="TextBox 54"/>
          <p:cNvSpPr txBox="1"/>
          <p:nvPr/>
        </p:nvSpPr>
        <p:spPr>
          <a:xfrm>
            <a:off x="502920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+4.17***</a:t>
            </a:r>
          </a:p>
        </p:txBody>
      </p:sp>
      <p:sp>
        <p:nvSpPr>
          <p:cNvPr id="56" name="TextBox 55"/>
          <p:cNvSpPr txBox="1"/>
          <p:nvPr/>
        </p:nvSpPr>
        <p:spPr>
          <a:xfrm>
            <a:off x="690372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+4.13***</a:t>
            </a:r>
          </a:p>
        </p:txBody>
      </p:sp>
      <p:sp>
        <p:nvSpPr>
          <p:cNvPr id="57" name="TextBox 56"/>
          <p:cNvSpPr txBox="1"/>
          <p:nvPr/>
        </p:nvSpPr>
        <p:spPr>
          <a:xfrm>
            <a:off x="877824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+4.01***</a:t>
            </a:r>
          </a:p>
        </p:txBody>
      </p:sp>
      <p:sp>
        <p:nvSpPr>
          <p:cNvPr id="58" name="TextBox 57"/>
          <p:cNvSpPr txBox="1"/>
          <p:nvPr/>
        </p:nvSpPr>
        <p:spPr>
          <a:xfrm>
            <a:off x="502920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(1.24)</a:t>
            </a:r>
          </a:p>
        </p:txBody>
      </p:sp>
      <p:sp>
        <p:nvSpPr>
          <p:cNvPr id="59" name="TextBox 58"/>
          <p:cNvSpPr txBox="1"/>
          <p:nvPr/>
        </p:nvSpPr>
        <p:spPr>
          <a:xfrm>
            <a:off x="690372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(1.24)</a:t>
            </a:r>
          </a:p>
        </p:txBody>
      </p:sp>
      <p:sp>
        <p:nvSpPr>
          <p:cNvPr id="60" name="TextBox 59"/>
          <p:cNvSpPr txBox="1"/>
          <p:nvPr/>
        </p:nvSpPr>
        <p:spPr>
          <a:xfrm>
            <a:off x="877824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(1.25)</a:t>
            </a:r>
          </a:p>
        </p:txBody>
      </p:sp>
      <p:cxnSp>
        <p:nvCxnSpPr>
          <p:cNvPr id="61" name="Connector 60"/>
          <p:cNvCxnSpPr/>
          <p:nvPr/>
        </p:nvCxnSpPr>
        <p:spPr>
          <a:xfrm>
            <a:off x="1005840" y="5843016"/>
            <a:ext cx="950976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005840" y="5925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Year fixed effects</a:t>
            </a:r>
          </a:p>
        </p:txBody>
      </p:sp>
      <p:sp>
        <p:nvSpPr>
          <p:cNvPr id="63" name="TextBox 62"/>
          <p:cNvSpPr txBox="1"/>
          <p:nvPr/>
        </p:nvSpPr>
        <p:spPr>
          <a:xfrm>
            <a:off x="502920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No</a:t>
            </a:r>
          </a:p>
        </p:txBody>
      </p:sp>
      <p:sp>
        <p:nvSpPr>
          <p:cNvPr id="64" name="TextBox 63"/>
          <p:cNvSpPr txBox="1"/>
          <p:nvPr/>
        </p:nvSpPr>
        <p:spPr>
          <a:xfrm>
            <a:off x="690372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Yes</a:t>
            </a:r>
          </a:p>
        </p:txBody>
      </p:sp>
      <p:sp>
        <p:nvSpPr>
          <p:cNvPr id="65" name="TextBox 64"/>
          <p:cNvSpPr txBox="1"/>
          <p:nvPr/>
        </p:nvSpPr>
        <p:spPr>
          <a:xfrm>
            <a:off x="877824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Yes</a:t>
            </a:r>
          </a:p>
        </p:txBody>
      </p:sp>
      <p:sp>
        <p:nvSpPr>
          <p:cNvPr id="66" name="TextBox 65"/>
          <p:cNvSpPr txBox="1"/>
          <p:nvPr/>
        </p:nvSpPr>
        <p:spPr>
          <a:xfrm>
            <a:off x="1005840" y="62179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State fixed effects</a:t>
            </a:r>
          </a:p>
        </p:txBody>
      </p:sp>
      <p:sp>
        <p:nvSpPr>
          <p:cNvPr id="67" name="TextBox 66"/>
          <p:cNvSpPr txBox="1"/>
          <p:nvPr/>
        </p:nvSpPr>
        <p:spPr>
          <a:xfrm>
            <a:off x="502920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No</a:t>
            </a:r>
          </a:p>
        </p:txBody>
      </p:sp>
      <p:sp>
        <p:nvSpPr>
          <p:cNvPr id="68" name="TextBox 67"/>
          <p:cNvSpPr txBox="1"/>
          <p:nvPr/>
        </p:nvSpPr>
        <p:spPr>
          <a:xfrm>
            <a:off x="690372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No</a:t>
            </a:r>
          </a:p>
        </p:txBody>
      </p:sp>
      <p:sp>
        <p:nvSpPr>
          <p:cNvPr id="69" name="TextBox 68"/>
          <p:cNvSpPr txBox="1"/>
          <p:nvPr/>
        </p:nvSpPr>
        <p:spPr>
          <a:xfrm>
            <a:off x="877824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Yes</a:t>
            </a:r>
          </a:p>
        </p:txBody>
      </p:sp>
      <p:sp>
        <p:nvSpPr>
          <p:cNvPr id="70" name="TextBox 69"/>
          <p:cNvSpPr txBox="1"/>
          <p:nvPr/>
        </p:nvSpPr>
        <p:spPr>
          <a:xfrm>
            <a:off x="1005840" y="651052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Observations</a:t>
            </a:r>
          </a:p>
        </p:txBody>
      </p:sp>
      <p:sp>
        <p:nvSpPr>
          <p:cNvPr id="71" name="TextBox 70"/>
          <p:cNvSpPr txBox="1"/>
          <p:nvPr/>
        </p:nvSpPr>
        <p:spPr>
          <a:xfrm>
            <a:off x="5029200" y="651052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18,571</a:t>
            </a:r>
          </a:p>
        </p:txBody>
      </p:sp>
      <p:sp>
        <p:nvSpPr>
          <p:cNvPr id="72" name="TextBox 71"/>
          <p:cNvSpPr txBox="1"/>
          <p:nvPr/>
        </p:nvSpPr>
        <p:spPr>
          <a:xfrm>
            <a:off x="6903720" y="651052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18,571</a:t>
            </a:r>
          </a:p>
        </p:txBody>
      </p:sp>
      <p:sp>
        <p:nvSpPr>
          <p:cNvPr id="73" name="TextBox 72"/>
          <p:cNvSpPr txBox="1"/>
          <p:nvPr/>
        </p:nvSpPr>
        <p:spPr>
          <a:xfrm>
            <a:off x="8778240" y="651052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18,571</a:t>
            </a:r>
          </a:p>
        </p:txBody>
      </p:sp>
      <p:cxnSp>
        <p:nvCxnSpPr>
          <p:cNvPr id="74" name="Connector 73"/>
          <p:cNvCxnSpPr/>
          <p:nvPr/>
        </p:nvCxnSpPr>
        <p:spPr>
          <a:xfrm>
            <a:off x="1005840" y="6821424"/>
            <a:ext cx="950976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1005840" y="6949440"/>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Arial"/>
              </a:rPr>
              <a:t>Robust standard errors in parentheses. * p&lt;0.10, ** p&lt;0.05, *** p&lt;0.01. Weighted. Full set of controls as in the main specification.</a:t>
            </a:r>
          </a:p>
        </p:txBody>
      </p:sp>
      <p:sp>
        <p:nvSpPr>
          <p:cNvPr id="76" name="Rounded Rectangle 75">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LPM vs logit vs probit</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46</a:t>
            </a:r>
          </a:p>
        </p:txBody>
      </p:sp>
      <p:cxnSp>
        <p:nvCxnSpPr>
          <p:cNvPr id="5" name="Connector 4"/>
          <p:cNvCxnSpPr/>
          <p:nvPr/>
        </p:nvCxnSpPr>
        <p:spPr>
          <a:xfrm>
            <a:off x="1005840" y="1298448"/>
            <a:ext cx="950976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Arial"/>
              </a:rPr>
              <a:t>Average marginal effect on leaving (×100)</a:t>
            </a:r>
          </a:p>
        </p:txBody>
      </p:sp>
      <p:cxnSp>
        <p:nvCxnSpPr>
          <p:cNvPr id="7" name="Connector 6"/>
          <p:cNvCxnSpPr/>
          <p:nvPr/>
        </p:nvCxnSpPr>
        <p:spPr>
          <a:xfrm>
            <a:off x="5029200" y="1700784"/>
            <a:ext cx="548640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Arial"/>
              </a:rPr>
              <a:t>LPM</a:t>
            </a:r>
          </a:p>
        </p:txBody>
      </p:sp>
      <p:sp>
        <p:nvSpPr>
          <p:cNvPr id="9" name="TextBox 8"/>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Arial"/>
              </a:rPr>
              <a:t>Logit</a:t>
            </a:r>
          </a:p>
        </p:txBody>
      </p:sp>
      <p:sp>
        <p:nvSpPr>
          <p:cNvPr id="10" name="TextBox 9"/>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Arial"/>
              </a:rPr>
              <a:t>Probit</a:t>
            </a:r>
          </a:p>
        </p:txBody>
      </p:sp>
      <p:cxnSp>
        <p:nvCxnSpPr>
          <p:cNvPr id="11" name="Connector 10"/>
          <p:cNvCxnSpPr/>
          <p:nvPr/>
        </p:nvCxnSpPr>
        <p:spPr>
          <a:xfrm>
            <a:off x="1005840" y="2093976"/>
            <a:ext cx="950976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Full-year contract</a:t>
            </a:r>
          </a:p>
        </p:txBody>
      </p:sp>
      <p:sp>
        <p:nvSpPr>
          <p:cNvPr id="13" name="TextBox 12"/>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−11.13***</a:t>
            </a:r>
          </a:p>
        </p:txBody>
      </p:sp>
      <p:sp>
        <p:nvSpPr>
          <p:cNvPr id="14" name="TextBox 13"/>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−8.78***</a:t>
            </a:r>
          </a:p>
        </p:txBody>
      </p:sp>
      <p:sp>
        <p:nvSpPr>
          <p:cNvPr id="15" name="TextBox 14"/>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−8.49***</a:t>
            </a:r>
          </a:p>
        </p:txBody>
      </p:sp>
      <p:sp>
        <p:nvSpPr>
          <p:cNvPr id="16" name="TextBox 15"/>
          <p:cNvSpPr txBox="1"/>
          <p:nvPr/>
        </p:nvSpPr>
        <p:spPr>
          <a:xfrm>
            <a:off x="502920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(0.55)</a:t>
            </a:r>
          </a:p>
        </p:txBody>
      </p:sp>
      <p:sp>
        <p:nvSpPr>
          <p:cNvPr id="17" name="TextBox 16"/>
          <p:cNvSpPr txBox="1"/>
          <p:nvPr/>
        </p:nvSpPr>
        <p:spPr>
          <a:xfrm>
            <a:off x="690372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(0.40)</a:t>
            </a:r>
          </a:p>
        </p:txBody>
      </p:sp>
      <p:sp>
        <p:nvSpPr>
          <p:cNvPr id="18" name="TextBox 17"/>
          <p:cNvSpPr txBox="1"/>
          <p:nvPr/>
        </p:nvSpPr>
        <p:spPr>
          <a:xfrm>
            <a:off x="877824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(0.39)</a:t>
            </a:r>
          </a:p>
        </p:txBody>
      </p:sp>
      <p:sp>
        <p:nvSpPr>
          <p:cNvPr id="19" name="TextBox 18"/>
          <p:cNvSpPr txBox="1"/>
          <p:nvPr/>
        </p:nvSpPr>
        <p:spPr>
          <a:xfrm>
            <a:off x="1005840" y="269748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Part-time contract</a:t>
            </a:r>
          </a:p>
        </p:txBody>
      </p:sp>
      <p:sp>
        <p:nvSpPr>
          <p:cNvPr id="20" name="TextBox 19"/>
          <p:cNvSpPr txBox="1"/>
          <p:nvPr/>
        </p:nvSpPr>
        <p:spPr>
          <a:xfrm>
            <a:off x="502920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+8.77***</a:t>
            </a:r>
          </a:p>
        </p:txBody>
      </p:sp>
      <p:sp>
        <p:nvSpPr>
          <p:cNvPr id="21" name="TextBox 20"/>
          <p:cNvSpPr txBox="1"/>
          <p:nvPr/>
        </p:nvSpPr>
        <p:spPr>
          <a:xfrm>
            <a:off x="690372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+3.86***</a:t>
            </a:r>
          </a:p>
        </p:txBody>
      </p:sp>
      <p:sp>
        <p:nvSpPr>
          <p:cNvPr id="22" name="TextBox 21"/>
          <p:cNvSpPr txBox="1"/>
          <p:nvPr/>
        </p:nvSpPr>
        <p:spPr>
          <a:xfrm>
            <a:off x="877824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+4.32***</a:t>
            </a:r>
          </a:p>
        </p:txBody>
      </p:sp>
      <p:sp>
        <p:nvSpPr>
          <p:cNvPr id="23" name="TextBox 22"/>
          <p:cNvSpPr txBox="1"/>
          <p:nvPr/>
        </p:nvSpPr>
        <p:spPr>
          <a:xfrm>
            <a:off x="502920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(0.92)</a:t>
            </a:r>
          </a:p>
        </p:txBody>
      </p:sp>
      <p:sp>
        <p:nvSpPr>
          <p:cNvPr id="24" name="TextBox 23"/>
          <p:cNvSpPr txBox="1"/>
          <p:nvPr/>
        </p:nvSpPr>
        <p:spPr>
          <a:xfrm>
            <a:off x="690372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(0.44)</a:t>
            </a:r>
          </a:p>
        </p:txBody>
      </p:sp>
      <p:sp>
        <p:nvSpPr>
          <p:cNvPr id="25" name="TextBox 24"/>
          <p:cNvSpPr txBox="1"/>
          <p:nvPr/>
        </p:nvSpPr>
        <p:spPr>
          <a:xfrm>
            <a:off x="877824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(0.47)</a:t>
            </a:r>
          </a:p>
        </p:txBody>
      </p:sp>
      <p:sp>
        <p:nvSpPr>
          <p:cNvPr id="26" name="TextBox 25"/>
          <p:cNvSpPr txBox="1"/>
          <p:nvPr/>
        </p:nvSpPr>
        <p:spPr>
          <a:xfrm>
            <a:off x="1005840" y="32186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Employer pension plan</a:t>
            </a:r>
          </a:p>
        </p:txBody>
      </p:sp>
      <p:sp>
        <p:nvSpPr>
          <p:cNvPr id="27" name="TextBox 26"/>
          <p:cNvSpPr txBox="1"/>
          <p:nvPr/>
        </p:nvSpPr>
        <p:spPr>
          <a:xfrm>
            <a:off x="502920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−2.55***</a:t>
            </a:r>
          </a:p>
        </p:txBody>
      </p:sp>
      <p:sp>
        <p:nvSpPr>
          <p:cNvPr id="28" name="TextBox 27"/>
          <p:cNvSpPr txBox="1"/>
          <p:nvPr/>
        </p:nvSpPr>
        <p:spPr>
          <a:xfrm>
            <a:off x="690372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−2.38***</a:t>
            </a:r>
          </a:p>
        </p:txBody>
      </p:sp>
      <p:sp>
        <p:nvSpPr>
          <p:cNvPr id="29" name="TextBox 28"/>
          <p:cNvSpPr txBox="1"/>
          <p:nvPr/>
        </p:nvSpPr>
        <p:spPr>
          <a:xfrm>
            <a:off x="877824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−2.41***</a:t>
            </a:r>
          </a:p>
        </p:txBody>
      </p:sp>
      <p:sp>
        <p:nvSpPr>
          <p:cNvPr id="30" name="TextBox 29"/>
          <p:cNvSpPr txBox="1"/>
          <p:nvPr/>
        </p:nvSpPr>
        <p:spPr>
          <a:xfrm>
            <a:off x="502920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(0.44)</a:t>
            </a:r>
          </a:p>
        </p:txBody>
      </p:sp>
      <p:sp>
        <p:nvSpPr>
          <p:cNvPr id="31" name="TextBox 30"/>
          <p:cNvSpPr txBox="1"/>
          <p:nvPr/>
        </p:nvSpPr>
        <p:spPr>
          <a:xfrm>
            <a:off x="690372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(0.39)</a:t>
            </a:r>
          </a:p>
        </p:txBody>
      </p:sp>
      <p:sp>
        <p:nvSpPr>
          <p:cNvPr id="32" name="TextBox 31"/>
          <p:cNvSpPr txBox="1"/>
          <p:nvPr/>
        </p:nvSpPr>
        <p:spPr>
          <a:xfrm>
            <a:off x="877824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(0.38)</a:t>
            </a:r>
          </a:p>
        </p:txBody>
      </p:sp>
      <p:sp>
        <p:nvSpPr>
          <p:cNvPr id="33" name="TextBox 32"/>
          <p:cNvSpPr txBox="1"/>
          <p:nvPr/>
        </p:nvSpPr>
        <p:spPr>
          <a:xfrm>
            <a:off x="1005840" y="373989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Public sector</a:t>
            </a:r>
          </a:p>
        </p:txBody>
      </p:sp>
      <p:sp>
        <p:nvSpPr>
          <p:cNvPr id="34" name="TextBox 33"/>
          <p:cNvSpPr txBox="1"/>
          <p:nvPr/>
        </p:nvSpPr>
        <p:spPr>
          <a:xfrm>
            <a:off x="502920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−2.17***</a:t>
            </a:r>
          </a:p>
        </p:txBody>
      </p:sp>
      <p:sp>
        <p:nvSpPr>
          <p:cNvPr id="35" name="TextBox 34"/>
          <p:cNvSpPr txBox="1"/>
          <p:nvPr/>
        </p:nvSpPr>
        <p:spPr>
          <a:xfrm>
            <a:off x="690372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−2.24***</a:t>
            </a:r>
          </a:p>
        </p:txBody>
      </p:sp>
      <p:sp>
        <p:nvSpPr>
          <p:cNvPr id="36" name="TextBox 35"/>
          <p:cNvSpPr txBox="1"/>
          <p:nvPr/>
        </p:nvSpPr>
        <p:spPr>
          <a:xfrm>
            <a:off x="877824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−2.27***</a:t>
            </a:r>
          </a:p>
        </p:txBody>
      </p:sp>
      <p:sp>
        <p:nvSpPr>
          <p:cNvPr id="37" name="TextBox 36"/>
          <p:cNvSpPr txBox="1"/>
          <p:nvPr/>
        </p:nvSpPr>
        <p:spPr>
          <a:xfrm>
            <a:off x="502920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(0.47)</a:t>
            </a:r>
          </a:p>
        </p:txBody>
      </p:sp>
      <p:sp>
        <p:nvSpPr>
          <p:cNvPr id="38" name="TextBox 37"/>
          <p:cNvSpPr txBox="1"/>
          <p:nvPr/>
        </p:nvSpPr>
        <p:spPr>
          <a:xfrm>
            <a:off x="690372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(0.39)</a:t>
            </a:r>
          </a:p>
        </p:txBody>
      </p:sp>
      <p:sp>
        <p:nvSpPr>
          <p:cNvPr id="39" name="TextBox 38"/>
          <p:cNvSpPr txBox="1"/>
          <p:nvPr/>
        </p:nvSpPr>
        <p:spPr>
          <a:xfrm>
            <a:off x="877824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(0.39)</a:t>
            </a:r>
          </a:p>
        </p:txBody>
      </p:sp>
      <p:sp>
        <p:nvSpPr>
          <p:cNvPr id="40" name="TextBox 39"/>
          <p:cNvSpPr txBox="1"/>
          <p:nvPr/>
        </p:nvSpPr>
        <p:spPr>
          <a:xfrm>
            <a:off x="1005840" y="4261104"/>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New baby during the year</a:t>
            </a:r>
          </a:p>
        </p:txBody>
      </p:sp>
      <p:sp>
        <p:nvSpPr>
          <p:cNvPr id="41" name="TextBox 40"/>
          <p:cNvSpPr txBox="1"/>
          <p:nvPr/>
        </p:nvSpPr>
        <p:spPr>
          <a:xfrm>
            <a:off x="502920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+5.65***</a:t>
            </a:r>
          </a:p>
        </p:txBody>
      </p:sp>
      <p:sp>
        <p:nvSpPr>
          <p:cNvPr id="42" name="TextBox 41"/>
          <p:cNvSpPr txBox="1"/>
          <p:nvPr/>
        </p:nvSpPr>
        <p:spPr>
          <a:xfrm>
            <a:off x="690372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+4.74***</a:t>
            </a:r>
          </a:p>
        </p:txBody>
      </p:sp>
      <p:sp>
        <p:nvSpPr>
          <p:cNvPr id="43" name="TextBox 42"/>
          <p:cNvSpPr txBox="1"/>
          <p:nvPr/>
        </p:nvSpPr>
        <p:spPr>
          <a:xfrm>
            <a:off x="877824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+4.59***</a:t>
            </a:r>
          </a:p>
        </p:txBody>
      </p:sp>
      <p:sp>
        <p:nvSpPr>
          <p:cNvPr id="44" name="TextBox 43"/>
          <p:cNvSpPr txBox="1"/>
          <p:nvPr/>
        </p:nvSpPr>
        <p:spPr>
          <a:xfrm>
            <a:off x="502920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(1.33)</a:t>
            </a:r>
          </a:p>
        </p:txBody>
      </p:sp>
      <p:sp>
        <p:nvSpPr>
          <p:cNvPr id="45" name="TextBox 44"/>
          <p:cNvSpPr txBox="1"/>
          <p:nvPr/>
        </p:nvSpPr>
        <p:spPr>
          <a:xfrm>
            <a:off x="690372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(0.90)</a:t>
            </a:r>
          </a:p>
        </p:txBody>
      </p:sp>
      <p:sp>
        <p:nvSpPr>
          <p:cNvPr id="46" name="TextBox 45"/>
          <p:cNvSpPr txBox="1"/>
          <p:nvPr/>
        </p:nvSpPr>
        <p:spPr>
          <a:xfrm>
            <a:off x="877824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(0.91)</a:t>
            </a:r>
          </a:p>
        </p:txBody>
      </p:sp>
      <p:sp>
        <p:nvSpPr>
          <p:cNvPr id="47" name="TextBox 46"/>
          <p:cNvSpPr txBox="1"/>
          <p:nvPr/>
        </p:nvSpPr>
        <p:spPr>
          <a:xfrm>
            <a:off x="1005840" y="4782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With a disability</a:t>
            </a:r>
          </a:p>
        </p:txBody>
      </p:sp>
      <p:sp>
        <p:nvSpPr>
          <p:cNvPr id="48" name="TextBox 47"/>
          <p:cNvSpPr txBox="1"/>
          <p:nvPr/>
        </p:nvSpPr>
        <p:spPr>
          <a:xfrm>
            <a:off x="502920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+8.31***</a:t>
            </a:r>
          </a:p>
        </p:txBody>
      </p:sp>
      <p:sp>
        <p:nvSpPr>
          <p:cNvPr id="49" name="TextBox 48"/>
          <p:cNvSpPr txBox="1"/>
          <p:nvPr/>
        </p:nvSpPr>
        <p:spPr>
          <a:xfrm>
            <a:off x="690372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+3.78***</a:t>
            </a:r>
          </a:p>
        </p:txBody>
      </p:sp>
      <p:sp>
        <p:nvSpPr>
          <p:cNvPr id="50" name="TextBox 49"/>
          <p:cNvSpPr txBox="1"/>
          <p:nvPr/>
        </p:nvSpPr>
        <p:spPr>
          <a:xfrm>
            <a:off x="877824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+4.19***</a:t>
            </a:r>
          </a:p>
        </p:txBody>
      </p:sp>
      <p:sp>
        <p:nvSpPr>
          <p:cNvPr id="51" name="TextBox 50"/>
          <p:cNvSpPr txBox="1"/>
          <p:nvPr/>
        </p:nvSpPr>
        <p:spPr>
          <a:xfrm>
            <a:off x="502920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(1.84)</a:t>
            </a:r>
          </a:p>
        </p:txBody>
      </p:sp>
      <p:sp>
        <p:nvSpPr>
          <p:cNvPr id="52" name="TextBox 51"/>
          <p:cNvSpPr txBox="1"/>
          <p:nvPr/>
        </p:nvSpPr>
        <p:spPr>
          <a:xfrm>
            <a:off x="690372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(0.80)</a:t>
            </a:r>
          </a:p>
        </p:txBody>
      </p:sp>
      <p:sp>
        <p:nvSpPr>
          <p:cNvPr id="53" name="TextBox 52"/>
          <p:cNvSpPr txBox="1"/>
          <p:nvPr/>
        </p:nvSpPr>
        <p:spPr>
          <a:xfrm>
            <a:off x="877824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(0.88)</a:t>
            </a:r>
          </a:p>
        </p:txBody>
      </p:sp>
      <p:sp>
        <p:nvSpPr>
          <p:cNvPr id="54" name="TextBox 53"/>
          <p:cNvSpPr txBox="1"/>
          <p:nvPr/>
        </p:nvSpPr>
        <p:spPr>
          <a:xfrm>
            <a:off x="1005840" y="53035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Bottom-quartile household income</a:t>
            </a:r>
          </a:p>
        </p:txBody>
      </p:sp>
      <p:sp>
        <p:nvSpPr>
          <p:cNvPr id="55" name="TextBox 54"/>
          <p:cNvSpPr txBox="1"/>
          <p:nvPr/>
        </p:nvSpPr>
        <p:spPr>
          <a:xfrm>
            <a:off x="502920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+4.67***</a:t>
            </a:r>
          </a:p>
        </p:txBody>
      </p:sp>
      <p:sp>
        <p:nvSpPr>
          <p:cNvPr id="56" name="TextBox 55"/>
          <p:cNvSpPr txBox="1"/>
          <p:nvPr/>
        </p:nvSpPr>
        <p:spPr>
          <a:xfrm>
            <a:off x="690372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+2.24***</a:t>
            </a:r>
          </a:p>
        </p:txBody>
      </p:sp>
      <p:sp>
        <p:nvSpPr>
          <p:cNvPr id="57" name="TextBox 56"/>
          <p:cNvSpPr txBox="1"/>
          <p:nvPr/>
        </p:nvSpPr>
        <p:spPr>
          <a:xfrm>
            <a:off x="877824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+2.50***</a:t>
            </a:r>
          </a:p>
        </p:txBody>
      </p:sp>
      <p:sp>
        <p:nvSpPr>
          <p:cNvPr id="58" name="TextBox 57"/>
          <p:cNvSpPr txBox="1"/>
          <p:nvPr/>
        </p:nvSpPr>
        <p:spPr>
          <a:xfrm>
            <a:off x="502920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(1.10)</a:t>
            </a:r>
          </a:p>
        </p:txBody>
      </p:sp>
      <p:sp>
        <p:nvSpPr>
          <p:cNvPr id="59" name="TextBox 58"/>
          <p:cNvSpPr txBox="1"/>
          <p:nvPr/>
        </p:nvSpPr>
        <p:spPr>
          <a:xfrm>
            <a:off x="690372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(0.58)</a:t>
            </a:r>
          </a:p>
        </p:txBody>
      </p:sp>
      <p:sp>
        <p:nvSpPr>
          <p:cNvPr id="60" name="TextBox 59"/>
          <p:cNvSpPr txBox="1"/>
          <p:nvPr/>
        </p:nvSpPr>
        <p:spPr>
          <a:xfrm>
            <a:off x="877824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Arial"/>
              </a:rPr>
              <a:t>(0.62)</a:t>
            </a:r>
          </a:p>
        </p:txBody>
      </p:sp>
      <p:cxnSp>
        <p:nvCxnSpPr>
          <p:cNvPr id="61" name="Connector 60"/>
          <p:cNvCxnSpPr/>
          <p:nvPr/>
        </p:nvCxnSpPr>
        <p:spPr>
          <a:xfrm>
            <a:off x="1005840" y="5843016"/>
            <a:ext cx="950976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005840" y="5925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Year fixed effects</a:t>
            </a:r>
          </a:p>
        </p:txBody>
      </p:sp>
      <p:sp>
        <p:nvSpPr>
          <p:cNvPr id="63" name="TextBox 62"/>
          <p:cNvSpPr txBox="1"/>
          <p:nvPr/>
        </p:nvSpPr>
        <p:spPr>
          <a:xfrm>
            <a:off x="502920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Yes</a:t>
            </a:r>
          </a:p>
        </p:txBody>
      </p:sp>
      <p:sp>
        <p:nvSpPr>
          <p:cNvPr id="64" name="TextBox 63"/>
          <p:cNvSpPr txBox="1"/>
          <p:nvPr/>
        </p:nvSpPr>
        <p:spPr>
          <a:xfrm>
            <a:off x="690372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Yes</a:t>
            </a:r>
          </a:p>
        </p:txBody>
      </p:sp>
      <p:sp>
        <p:nvSpPr>
          <p:cNvPr id="65" name="TextBox 64"/>
          <p:cNvSpPr txBox="1"/>
          <p:nvPr/>
        </p:nvSpPr>
        <p:spPr>
          <a:xfrm>
            <a:off x="877824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Yes</a:t>
            </a:r>
          </a:p>
        </p:txBody>
      </p:sp>
      <p:sp>
        <p:nvSpPr>
          <p:cNvPr id="66" name="TextBox 65"/>
          <p:cNvSpPr txBox="1"/>
          <p:nvPr/>
        </p:nvSpPr>
        <p:spPr>
          <a:xfrm>
            <a:off x="1005840" y="62179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Arial"/>
              </a:rPr>
              <a:t>Observations</a:t>
            </a:r>
          </a:p>
        </p:txBody>
      </p:sp>
      <p:sp>
        <p:nvSpPr>
          <p:cNvPr id="67" name="TextBox 66"/>
          <p:cNvSpPr txBox="1"/>
          <p:nvPr/>
        </p:nvSpPr>
        <p:spPr>
          <a:xfrm>
            <a:off x="502920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18,571</a:t>
            </a:r>
          </a:p>
        </p:txBody>
      </p:sp>
      <p:sp>
        <p:nvSpPr>
          <p:cNvPr id="68" name="TextBox 67"/>
          <p:cNvSpPr txBox="1"/>
          <p:nvPr/>
        </p:nvSpPr>
        <p:spPr>
          <a:xfrm>
            <a:off x="690372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18,571</a:t>
            </a:r>
          </a:p>
        </p:txBody>
      </p:sp>
      <p:sp>
        <p:nvSpPr>
          <p:cNvPr id="69" name="TextBox 68"/>
          <p:cNvSpPr txBox="1"/>
          <p:nvPr/>
        </p:nvSpPr>
        <p:spPr>
          <a:xfrm>
            <a:off x="877824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Arial"/>
              </a:rPr>
              <a:t>18,571</a:t>
            </a:r>
          </a:p>
        </p:txBody>
      </p:sp>
      <p:cxnSp>
        <p:nvCxnSpPr>
          <p:cNvPr id="70" name="Connector 69"/>
          <p:cNvCxnSpPr/>
          <p:nvPr/>
        </p:nvCxnSpPr>
        <p:spPr>
          <a:xfrm>
            <a:off x="1005840" y="6528816"/>
            <a:ext cx="950976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1005840" y="6656832"/>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Arial"/>
              </a:rPr>
              <a:t>Standard errors in parentheses, delta method for the logit and probit marginal effects. * p&lt;0.10, ** p&lt;0.05, *** p&lt;0.01. The probit column is the main specification of the coefficient plot.</a:t>
            </a:r>
          </a:p>
        </p:txBody>
      </p:sp>
      <p:sp>
        <p:nvSpPr>
          <p:cNvPr id="72" name="Rounded Rectangle 71">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Is the LPM bounded between 0 and 1?</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47</a:t>
            </a:r>
          </a:p>
        </p:txBody>
      </p:sp>
      <p:pic>
        <p:nvPicPr>
          <p:cNvPr id="5" name="Picture 4" descr="lpm_check.png"/>
          <p:cNvPicPr>
            <a:picLocks noChangeAspect="1"/>
          </p:cNvPicPr>
          <p:nvPr/>
        </p:nvPicPr>
        <p:blipFill>
          <a:blip r:embed="rId2"/>
          <a:stretch>
            <a:fillRect/>
          </a:stretch>
        </p:blipFill>
        <p:spPr>
          <a:xfrm>
            <a:off x="1557117" y="1024128"/>
            <a:ext cx="9047284" cy="4480560"/>
          </a:xfrm>
          <a:prstGeom prst="rect">
            <a:avLst/>
          </a:prstGeom>
        </p:spPr>
      </p:pic>
      <p:sp>
        <p:nvSpPr>
          <p:cNvPr id="6" name="Rounded Rectangle 5"/>
          <p:cNvSpPr/>
          <p:nvPr/>
        </p:nvSpPr>
        <p:spPr>
          <a:xfrm>
            <a:off x="502920" y="5760720"/>
            <a:ext cx="11183112" cy="658368"/>
          </a:xfrm>
          <a:prstGeom prst="roundRect">
            <a:avLst>
              <a:gd name="adj" fmla="val 12000"/>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54864" bIns="54864"/>
          <a:lstStyle/>
          <a:p>
            <a:pPr algn="ctr"/>
            <a:r>
              <a:rPr sz="1450" b="1">
                <a:solidFill>
                  <a:srgbClr val="102D5E"/>
                </a:solidFill>
                <a:latin typeface="Arial"/>
              </a:rPr>
              <a:t>Key message.  </a:t>
            </a:r>
            <a:r>
              <a:rPr sz="1450" b="0">
                <a:solidFill>
                  <a:srgbClr val="212529"/>
                </a:solidFill>
                <a:latin typeface="Arial"/>
              </a:rPr>
              <a:t>No. 22% of fitted values fall below zero, so the probit is the main specification and the LPM a robustness variant.</a:t>
            </a:r>
          </a:p>
        </p:txBody>
      </p:sp>
      <p:sp>
        <p:nvSpPr>
          <p:cNvPr id="7" name="Rounded Rectangle 6">
            <a:hlinkClick action="ppaction://hlinksldjump" r:id="rId3"/>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37744"/>
            <a:ext cx="11247120" cy="566928"/>
          </a:xfrm>
          <a:prstGeom prst="rect">
            <a:avLst/>
          </a:prstGeom>
          <a:noFill/>
        </p:spPr>
        <p:txBody>
          <a:bodyPr wrap="square" lIns="0" rIns="0" tIns="0" bIns="0"/>
          <a:lstStyle/>
          <a:p>
            <a:r>
              <a:rPr sz="2500" b="1">
                <a:solidFill>
                  <a:srgbClr val="102D5E"/>
                </a:solidFill>
                <a:latin typeface="Arial"/>
              </a:rPr>
              <a:t>What the CPS observes, of why teachers leave</a:t>
            </a:r>
          </a:p>
        </p:txBody>
      </p:sp>
      <p:cxnSp>
        <p:nvCxnSpPr>
          <p:cNvPr id="3" name="Connector 2"/>
          <p:cNvCxnSpPr/>
          <p:nvPr/>
        </p:nvCxnSpPr>
        <p:spPr>
          <a:xfrm>
            <a:off x="502920" y="932688"/>
            <a:ext cx="11183112" cy="0"/>
          </a:xfrm>
          <a:prstGeom prst="line">
            <a:avLst/>
          </a:prstGeom>
          <a:ln w="27940">
            <a:solidFill>
              <a:srgbClr val="2D6CB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Arial"/>
              </a:rPr>
              <a:t>48</a:t>
            </a:r>
          </a:p>
        </p:txBody>
      </p:sp>
      <p:cxnSp>
        <p:nvCxnSpPr>
          <p:cNvPr id="5" name="Connector 4"/>
          <p:cNvCxnSpPr/>
          <p:nvPr/>
        </p:nvCxnSpPr>
        <p:spPr>
          <a:xfrm>
            <a:off x="822960" y="1554480"/>
            <a:ext cx="1024128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664207"/>
            <a:ext cx="6949440" cy="512064"/>
          </a:xfrm>
          <a:prstGeom prst="rect">
            <a:avLst/>
          </a:prstGeom>
          <a:noFill/>
        </p:spPr>
        <p:txBody>
          <a:bodyPr wrap="square" lIns="0" rIns="0" tIns="0" bIns="0">
            <a:spAutoFit/>
          </a:bodyPr>
          <a:lstStyle/>
          <a:p>
            <a:pPr algn="l">
              <a:lnSpc>
                <a:spcPts val="2112"/>
              </a:lnSpc>
              <a:spcAft>
                <a:spcPts val="0"/>
              </a:spcAft>
            </a:pPr>
            <a:r>
              <a:rPr sz="1650" b="1" i="0">
                <a:solidFill>
                  <a:srgbClr val="212529"/>
                </a:solidFill>
                <a:latin typeface="Arial"/>
              </a:rPr>
              <a:t>Reasons in the literature</a:t>
            </a:r>
          </a:p>
        </p:txBody>
      </p:sp>
      <p:sp>
        <p:nvSpPr>
          <p:cNvPr id="7" name="TextBox 6"/>
          <p:cNvSpPr txBox="1"/>
          <p:nvPr/>
        </p:nvSpPr>
        <p:spPr>
          <a:xfrm>
            <a:off x="7955279" y="1664207"/>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212529"/>
                </a:solidFill>
                <a:latin typeface="Arial"/>
              </a:rPr>
              <a:t>In the CPS?</a:t>
            </a:r>
          </a:p>
        </p:txBody>
      </p:sp>
      <p:cxnSp>
        <p:nvCxnSpPr>
          <p:cNvPr id="8" name="Connector 7"/>
          <p:cNvCxnSpPr/>
          <p:nvPr/>
        </p:nvCxnSpPr>
        <p:spPr>
          <a:xfrm>
            <a:off x="822960" y="2194560"/>
            <a:ext cx="1024128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304288"/>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Arial"/>
              </a:rPr>
              <a:t>Working conditions</a:t>
            </a:r>
          </a:p>
        </p:txBody>
      </p:sp>
      <p:sp>
        <p:nvSpPr>
          <p:cNvPr id="10" name="TextBox 9"/>
          <p:cNvSpPr txBox="1"/>
          <p:nvPr/>
        </p:nvSpPr>
        <p:spPr>
          <a:xfrm>
            <a:off x="7955279" y="2304288"/>
            <a:ext cx="3108960" cy="512064"/>
          </a:xfrm>
          <a:prstGeom prst="rect">
            <a:avLst/>
          </a:prstGeom>
          <a:noFill/>
        </p:spPr>
        <p:txBody>
          <a:bodyPr wrap="square" lIns="0" rIns="0" tIns="0" bIns="0">
            <a:spAutoFit/>
          </a:bodyPr>
          <a:lstStyle/>
          <a:p>
            <a:pPr algn="l">
              <a:lnSpc>
                <a:spcPts val="2112"/>
              </a:lnSpc>
              <a:spcAft>
                <a:spcPts val="0"/>
              </a:spcAft>
            </a:pPr>
            <a:r>
              <a:rPr sz="1650" b="0" i="0">
                <a:solidFill>
                  <a:srgbClr val="6B7480"/>
                </a:solidFill>
                <a:latin typeface="Arial"/>
              </a:rPr>
              <a:t>no</a:t>
            </a:r>
          </a:p>
        </p:txBody>
      </p:sp>
      <p:sp>
        <p:nvSpPr>
          <p:cNvPr id="11" name="TextBox 10"/>
          <p:cNvSpPr txBox="1"/>
          <p:nvPr/>
        </p:nvSpPr>
        <p:spPr>
          <a:xfrm>
            <a:off x="822960" y="2816352"/>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Arial"/>
              </a:rPr>
              <a:t>Organizational support</a:t>
            </a:r>
          </a:p>
        </p:txBody>
      </p:sp>
      <p:sp>
        <p:nvSpPr>
          <p:cNvPr id="12" name="TextBox 11"/>
          <p:cNvSpPr txBox="1"/>
          <p:nvPr/>
        </p:nvSpPr>
        <p:spPr>
          <a:xfrm>
            <a:off x="7955279" y="2816352"/>
            <a:ext cx="3108960" cy="512064"/>
          </a:xfrm>
          <a:prstGeom prst="rect">
            <a:avLst/>
          </a:prstGeom>
          <a:noFill/>
        </p:spPr>
        <p:txBody>
          <a:bodyPr wrap="square" lIns="0" rIns="0" tIns="0" bIns="0">
            <a:spAutoFit/>
          </a:bodyPr>
          <a:lstStyle/>
          <a:p>
            <a:pPr algn="l">
              <a:lnSpc>
                <a:spcPts val="2112"/>
              </a:lnSpc>
              <a:spcAft>
                <a:spcPts val="0"/>
              </a:spcAft>
            </a:pPr>
            <a:r>
              <a:rPr sz="1650" b="0" i="0">
                <a:solidFill>
                  <a:srgbClr val="6B7480"/>
                </a:solidFill>
                <a:latin typeface="Arial"/>
              </a:rPr>
              <a:t>no</a:t>
            </a:r>
          </a:p>
        </p:txBody>
      </p:sp>
      <p:sp>
        <p:nvSpPr>
          <p:cNvPr id="13" name="TextBox 12"/>
          <p:cNvSpPr txBox="1"/>
          <p:nvPr/>
        </p:nvSpPr>
        <p:spPr>
          <a:xfrm>
            <a:off x="822960" y="3328416"/>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Arial"/>
              </a:rPr>
              <a:t>Autonomy and intrinsic motives</a:t>
            </a:r>
          </a:p>
        </p:txBody>
      </p:sp>
      <p:sp>
        <p:nvSpPr>
          <p:cNvPr id="14" name="TextBox 13"/>
          <p:cNvSpPr txBox="1"/>
          <p:nvPr/>
        </p:nvSpPr>
        <p:spPr>
          <a:xfrm>
            <a:off x="7955279" y="3328416"/>
            <a:ext cx="3108960" cy="512064"/>
          </a:xfrm>
          <a:prstGeom prst="rect">
            <a:avLst/>
          </a:prstGeom>
          <a:noFill/>
        </p:spPr>
        <p:txBody>
          <a:bodyPr wrap="square" lIns="0" rIns="0" tIns="0" bIns="0">
            <a:spAutoFit/>
          </a:bodyPr>
          <a:lstStyle/>
          <a:p>
            <a:pPr algn="l">
              <a:lnSpc>
                <a:spcPts val="2112"/>
              </a:lnSpc>
              <a:spcAft>
                <a:spcPts val="0"/>
              </a:spcAft>
            </a:pPr>
            <a:r>
              <a:rPr sz="1650" b="0" i="0">
                <a:solidFill>
                  <a:srgbClr val="6B7480"/>
                </a:solidFill>
                <a:latin typeface="Arial"/>
              </a:rPr>
              <a:t>no</a:t>
            </a:r>
          </a:p>
        </p:txBody>
      </p:sp>
      <p:sp>
        <p:nvSpPr>
          <p:cNvPr id="15" name="TextBox 14"/>
          <p:cNvSpPr txBox="1"/>
          <p:nvPr/>
        </p:nvSpPr>
        <p:spPr>
          <a:xfrm>
            <a:off x="822960" y="3840480"/>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Arial"/>
              </a:rPr>
              <a:t>Financial factors</a:t>
            </a:r>
          </a:p>
        </p:txBody>
      </p:sp>
      <p:sp>
        <p:nvSpPr>
          <p:cNvPr id="16" name="TextBox 15"/>
          <p:cNvSpPr txBox="1"/>
          <p:nvPr/>
        </p:nvSpPr>
        <p:spPr>
          <a:xfrm>
            <a:off x="7955279" y="3840480"/>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102D5E"/>
                </a:solidFill>
                <a:latin typeface="Arial"/>
              </a:rPr>
              <a:t>yes</a:t>
            </a:r>
          </a:p>
        </p:txBody>
      </p:sp>
      <p:sp>
        <p:nvSpPr>
          <p:cNvPr id="17" name="TextBox 16"/>
          <p:cNvSpPr txBox="1"/>
          <p:nvPr/>
        </p:nvSpPr>
        <p:spPr>
          <a:xfrm>
            <a:off x="822960" y="4352544"/>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Arial"/>
              </a:rPr>
              <a:t>Personal life-cycle motives</a:t>
            </a:r>
          </a:p>
        </p:txBody>
      </p:sp>
      <p:sp>
        <p:nvSpPr>
          <p:cNvPr id="18" name="TextBox 17"/>
          <p:cNvSpPr txBox="1"/>
          <p:nvPr/>
        </p:nvSpPr>
        <p:spPr>
          <a:xfrm>
            <a:off x="7955279" y="4352544"/>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102D5E"/>
                </a:solidFill>
                <a:latin typeface="Arial"/>
              </a:rPr>
              <a:t>yes</a:t>
            </a:r>
          </a:p>
        </p:txBody>
      </p:sp>
      <p:cxnSp>
        <p:nvCxnSpPr>
          <p:cNvPr id="19" name="Connector 18"/>
          <p:cNvCxnSpPr/>
          <p:nvPr/>
        </p:nvCxnSpPr>
        <p:spPr>
          <a:xfrm>
            <a:off x="822960" y="4882896"/>
            <a:ext cx="10241280" cy="0"/>
          </a:xfrm>
          <a:prstGeom prst="line">
            <a:avLst/>
          </a:prstGeom>
          <a:ln w="11430">
            <a:solidFill>
              <a:srgbClr val="102D5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992624"/>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Arial"/>
              </a:rPr>
              <a:t>Sociodemographics</a:t>
            </a:r>
          </a:p>
        </p:txBody>
      </p:sp>
      <p:sp>
        <p:nvSpPr>
          <p:cNvPr id="21" name="TextBox 20"/>
          <p:cNvSpPr txBox="1"/>
          <p:nvPr/>
        </p:nvSpPr>
        <p:spPr>
          <a:xfrm>
            <a:off x="7955279" y="4992624"/>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102D5E"/>
                </a:solidFill>
                <a:latin typeface="Arial"/>
              </a:rPr>
              <a:t>yes</a:t>
            </a:r>
          </a:p>
        </p:txBody>
      </p:sp>
      <p:cxnSp>
        <p:nvCxnSpPr>
          <p:cNvPr id="22" name="Connector 21"/>
          <p:cNvCxnSpPr/>
          <p:nvPr/>
        </p:nvCxnSpPr>
        <p:spPr>
          <a:xfrm>
            <a:off x="822960" y="5541264"/>
            <a:ext cx="10241280" cy="0"/>
          </a:xfrm>
          <a:prstGeom prst="line">
            <a:avLst/>
          </a:prstGeom>
          <a:ln w="20320">
            <a:solidFill>
              <a:srgbClr val="102D5E"/>
            </a:solidFill>
          </a:ln>
        </p:spPr>
        <p:style>
          <a:lnRef idx="2">
            <a:schemeClr val="accent1"/>
          </a:lnRef>
          <a:fillRef idx="0">
            <a:schemeClr val="accent1"/>
          </a:fillRef>
          <a:effectRef idx="1">
            <a:schemeClr val="accent1"/>
          </a:effectRef>
          <a:fontRef idx="minor">
            <a:schemeClr val="tx1"/>
          </a:fontRef>
        </p:style>
      </p:cxnSp>
      <p:sp>
        <p:nvSpPr>
          <p:cNvPr id="23" name="Rounded Rectangle 22">
            <a:hlinkClick action="ppaction://hlinksldjump" r:id="rId2"/>
          </p:cNvPr>
          <p:cNvSpPr/>
          <p:nvPr/>
        </p:nvSpPr>
        <p:spPr>
          <a:xfrm>
            <a:off x="10808208" y="6364224"/>
            <a:ext cx="687628" cy="347472"/>
          </a:xfrm>
          <a:prstGeom prst="roundRect">
            <a:avLst/>
          </a:prstGeom>
          <a:solidFill>
            <a:srgbClr val="E2E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200">
                <a:solidFill>
                  <a:srgbClr val="102D5E"/>
                </a:solidFill>
                <a:latin typeface="Arial"/>
              </a:rPr>
              <a:t>◂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