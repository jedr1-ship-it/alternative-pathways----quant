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Estable y similar a otros países OCDE. Promedios EAG para países con datos: 6,6 (datos 2016, EAG 2021); 6,5 (2022/23, EAG 2025); 6,4 (2024/25, EAG 2026). Países con series largas (Nueva Zelanda, Suecia, Israel, Noruega) también estables. La tasa de EE. UU. está por encima de la mayoría de los países que publican 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a: apego al empleo (año completo, tiempo parcial). c: compensación (pensión, sector público, hogar en el cuartil bajo de ingreso). f: familia (nacimiento, hijos, estado civil). h: salud (salud declarada, discapacidad). d: demografía (edad, sexo, raza, educación). delta_t: efectos de año. La LPM no queda acotada (22% de predichos por debajo de 0), así que el probit es la especificación principal; las variantes LPM van en el apéndice.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0.xml"/><Relationship Id="rId3" Type="http://schemas.openxmlformats.org/officeDocument/2006/relationships/slide" Target="slide31.xml"/><Relationship Id="rId4" Type="http://schemas.openxmlformats.org/officeDocument/2006/relationships/slide" Target="slide32.xml"/><Relationship Id="rId5" Type="http://schemas.openxmlformats.org/officeDocument/2006/relationships/slide" Target="slide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Relationship Id="rId4" Type="http://schemas.openxmlformats.org/officeDocument/2006/relationships/slide" Target="slide3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3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3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Relationship Id="rId4" Type="http://schemas.openxmlformats.org/officeDocument/2006/relationships/slide" Target="slide40.xml"/><Relationship Id="rId5" Type="http://schemas.openxmlformats.org/officeDocument/2006/relationships/slide" Target="slide41.xml"/><Relationship Id="rId6" Type="http://schemas.openxmlformats.org/officeDocument/2006/relationships/slide" Target="slide42.xml"/><Relationship Id="rId7" Type="http://schemas.openxmlformats.org/officeDocument/2006/relationships/slide" Target="slide4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slide" Target="slide1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slide" Target="slide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slide" Target="slide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slide" Target="slide2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915"/>
              </a:lnSpc>
              <a:spcAft>
                <a:spcPts val="600"/>
              </a:spcAft>
            </a:pPr>
            <a:r>
              <a:rPr sz="2900" b="1" i="0">
                <a:solidFill>
                  <a:srgbClr val="1F3864"/>
                </a:solidFill>
                <a:latin typeface="Latin Modern Sans"/>
              </a:rPr>
              <a:t>Measuring Teacher Attrition with Labour Force Survey Data</a:t>
            </a:r>
          </a:p>
          <a:p>
            <a:pPr algn="ctr">
              <a:lnSpc>
                <a:spcPts val="2565"/>
              </a:lnSpc>
              <a:spcAft>
                <a:spcPts val="0"/>
              </a:spcAft>
            </a:pPr>
            <a:r>
              <a:rPr sz="1900" b="1" i="0">
                <a:solidFill>
                  <a:srgbClr val="1F3864"/>
                </a:solidFill>
                <a:latin typeface="Latin Modern Sans"/>
              </a:rPr>
              <a:t>The Case of the United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0332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Latin Modern Sans"/>
              </a:rPr>
              <a:t>José Elías Durán Roa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20624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Latin Modern Sans"/>
              </a:rPr>
              <a:t>Data Cluster · Directorate for Education and Skills</a:t>
            </a:r>
          </a:p>
        </p:txBody>
      </p:sp>
      <p:pic>
        <p:nvPicPr>
          <p:cNvPr id="5" name="Picture 4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5029200"/>
            <a:ext cx="1645920" cy="4183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Motivation and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95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Latin Modern Sans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14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Understand why teachers leave the profession.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Is there a real policy margin to soften teacher shortages by retaining teachers — or bringing them 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95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Latin Modern Sans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14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Official microdata on teachers are not publicly available for many countries.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We start with the United States: the country with the most information available.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95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Latin Modern Sans"/>
              </a:rPr>
              <a:t>Use the Current Population Survey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95"/>
              </a:lnSpc>
              <a:spcAft>
                <a:spcPts val="2400"/>
              </a:spcAft>
            </a:pPr>
            <a:r>
              <a:rPr sz="1700" b="0" i="0">
                <a:solidFill>
                  <a:srgbClr val="1F3864"/>
                </a:solidFill>
                <a:latin typeface="Latin Modern Sans"/>
              </a:rPr>
              <a:t>1.   </a:t>
            </a:r>
            <a:r>
              <a:rPr sz="1700" b="0" i="0">
                <a:solidFill>
                  <a:srgbClr val="1A1A1A"/>
                </a:solidFill>
                <a:latin typeface="Latin Modern Sans"/>
              </a:rPr>
              <a:t>reproduce and extend the official statistics on teachers leaving the profession;</a:t>
            </a:r>
          </a:p>
          <a:p>
            <a:pPr algn="l">
              <a:lnSpc>
                <a:spcPts val="2295"/>
              </a:lnSpc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Latin Modern Sans"/>
              </a:rPr>
              <a:t>2.   </a:t>
            </a:r>
            <a:r>
              <a:rPr sz="1700" b="0" i="0">
                <a:solidFill>
                  <a:srgbClr val="1A1A1A"/>
                </a:solidFill>
                <a:latin typeface="Latin Modern Sans"/>
              </a:rPr>
              <a:t>having achieved A, study in detail how many leave, where they go, and why.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940"/>
              </a:lnSpc>
              <a:spcAft>
                <a:spcPts val="0"/>
              </a:spcAft>
            </a:pPr>
            <a:r>
              <a:rPr sz="4400" b="1" i="0">
                <a:solidFill>
                  <a:srgbClr val="1F3864"/>
                </a:solidFill>
                <a:latin typeface="Latin Modern Sans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Latin Modern Sans"/>
              </a:rPr>
              <a:t>Methodological discussion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The Current Population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27"/>
              </a:lnSpc>
              <a:spcAft>
                <a:spcPts val="2400"/>
              </a:spcAft>
            </a:pPr>
            <a:r>
              <a:rPr sz="16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50" b="0" i="0">
                <a:solidFill>
                  <a:srgbClr val="1A1A1A"/>
                </a:solidFill>
                <a:latin typeface="Latin Modern Sans"/>
              </a:rPr>
              <a:t>The monthly household survey of the United States, run by the Census Bureau for the Bureau of Labor Statistics. Nationally representative of the civilian non-institutional population.</a:t>
            </a:r>
          </a:p>
          <a:p>
            <a:pPr algn="l">
              <a:lnSpc>
                <a:spcPts val="2227"/>
              </a:lnSpc>
              <a:spcAft>
                <a:spcPts val="2400"/>
              </a:spcAft>
            </a:pPr>
            <a:r>
              <a:rPr sz="16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50" b="0" i="0">
                <a:solidFill>
                  <a:srgbClr val="1A1A1A"/>
                </a:solidFill>
                <a:latin typeface="Latin Modern Sans"/>
              </a:rPr>
              <a:t>We pool 28 consecutive March supplements, 1998–2025: 5.0 million person-year records.</a:t>
            </a:r>
          </a:p>
          <a:p>
            <a:pPr algn="l">
              <a:lnSpc>
                <a:spcPts val="2227"/>
              </a:lnSpc>
              <a:spcAft>
                <a:spcPts val="0"/>
              </a:spcAft>
            </a:pPr>
            <a:r>
              <a:rPr sz="16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50" b="0" i="0">
                <a:solidFill>
                  <a:srgbClr val="1A1A1A"/>
                </a:solidFill>
                <a:latin typeface="Latin Modern Sans"/>
              </a:rPr>
              <a:t>104,545 of them are teachers — about 3,700 per year.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822960" y="6355080"/>
            <a:ext cx="1207008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unemployment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2167128" y="6355080"/>
            <a:ext cx="1051560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interviews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355848" y="6355080"/>
            <a:ext cx="97383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migration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4466844" y="6355080"/>
            <a:ext cx="896112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identity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The March supplement (ASEC)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27"/>
              </a:lnSpc>
              <a:spcAft>
                <a:spcPts val="2400"/>
              </a:spcAft>
            </a:pPr>
            <a:r>
              <a:rPr sz="16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50" b="0" i="0">
                <a:solidFill>
                  <a:srgbClr val="1A1A1A"/>
                </a:solidFill>
                <a:latin typeface="Latin Modern Sans"/>
              </a:rPr>
              <a:t>Run by the Census Bureau each March since 1948: the source of the official annual income, poverty and health-insurance statistics.</a:t>
            </a:r>
          </a:p>
          <a:p>
            <a:pPr algn="l">
              <a:lnSpc>
                <a:spcPts val="2227"/>
              </a:lnSpc>
              <a:spcAft>
                <a:spcPts val="2400"/>
              </a:spcAft>
            </a:pPr>
            <a:r>
              <a:rPr sz="16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50" b="0" i="0">
                <a:solidFill>
                  <a:srgbClr val="1A1A1A"/>
                </a:solidFill>
                <a:latin typeface="Latin Modern Sans"/>
              </a:rPr>
              <a:t>About 90,000 households: the March sample plus oversamples interviewed in February and April.</a:t>
            </a:r>
          </a:p>
          <a:p>
            <a:pPr algn="l">
              <a:lnSpc>
                <a:spcPts val="2227"/>
              </a:lnSpc>
              <a:spcAft>
                <a:spcPts val="0"/>
              </a:spcAft>
            </a:pPr>
            <a:r>
              <a:rPr sz="16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50" b="0" i="0">
                <a:solidFill>
                  <a:srgbClr val="1A1A1A"/>
                </a:solidFill>
                <a:latin typeface="Latin Modern Sans"/>
              </a:rPr>
              <a:t>Every adult reports on the previous calendar year: longest job held, weeks worked, earnings, benefits.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Identifying a teacher: the census occupation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17320"/>
            <a:ext cx="1060704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297680" y="1508760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1990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08760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2002/2010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508760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2018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29384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Latin Modern Sans"/>
              </a:rPr>
              <a:t>surveys 1998–2002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929384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Latin Modern Sans"/>
              </a:rPr>
              <a:t>surveys 2003–2019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929384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Latin Modern Sans"/>
              </a:rPr>
              <a:t>surveys 2020–2025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36829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4597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Pre-K and kindergarten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459736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5973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459736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Elementary (and middle)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80360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80360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880360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0098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300984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300984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300984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2160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Special education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721608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21608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21608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142232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Other teachers and instructors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142232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142232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142232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2360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2960" y="4599432"/>
            <a:ext cx="1060704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2960" y="4791456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The K–12 block maps one-to-one across the three regimes: the group is constant over time even where single codes are not.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822960" y="6355080"/>
            <a:ext cx="1207008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traceability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Latin Modern Sans"/>
              </a:rPr>
              <a:t>interviewed 4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1031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55"/>
              </a:lnSpc>
              <a:spcAft>
                <a:spcPts val="0"/>
              </a:spcAft>
            </a:pPr>
            <a:r>
              <a:rPr sz="1300" b="0" i="1">
                <a:solidFill>
                  <a:srgbClr val="6B7480"/>
                </a:solidFill>
                <a:latin typeface="Latin Modern Sans"/>
              </a:rPr>
              <a:t>8 months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03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7B2530"/>
                </a:solidFill>
                <a:latin typeface="Latin Modern Sans"/>
              </a:rPr>
              <a:t>interviewed 4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81899" y="251460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0839" y="251460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9778" y="251460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8718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7657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76597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35536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4476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53415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12354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294" y="251460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30234" y="251460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9173" y="251460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48113" y="251460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07052" y="251460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Latin Modern Sans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13639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Latin Modern Sans"/>
              </a:rPr>
              <a:t>Mar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9778" y="313639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Latin Modern Sans"/>
              </a:rPr>
              <a:t>Jun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0234" y="313639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Latin Modern Sans"/>
              </a:rPr>
              <a:t>Mar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07052" y="313639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Latin Modern Sans"/>
              </a:rPr>
              <a:t>Jun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44728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Latin Modern Sans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0234" y="344728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Latin Modern Sans"/>
              </a:rPr>
              <a:t>year 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429" y="4023360"/>
            <a:ext cx="7907274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71600" y="4178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the same interview, twelve months later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Two ways to identify a leaver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A. Follow the individual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All months. Links require matching: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household identifier</a:t>
            </a:r>
          </a:p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dwelling identifier</a:t>
            </a:r>
          </a:p>
          <a:p>
            <a:pPr algn="l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person line number</a:t>
            </a:r>
          </a:p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Latin Modern Sans"/>
              </a:rPr>
              <a:t>validated on sex, race, age +0–2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B. Ask about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120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The March supplement, retrospectively.</a:t>
            </a:r>
          </a:p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Taught as last year’s longest job, not teaching this March ⇒ left.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Disadvantages of each 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92"/>
              </a:lnSpc>
              <a:spcAft>
                <a:spcPts val="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A. Following individuals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52120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100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1.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Identity is not certain: validation can admit noisy people.</a:t>
            </a:r>
          </a:p>
          <a:p>
            <a:pPr algn="l">
              <a:lnSpc>
                <a:spcPts val="1822"/>
              </a:lnSpc>
              <a:spcAft>
                <a:spcPts val="100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2.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Movers are lost: ~25% of addresses are not found a year later.</a:t>
            </a:r>
          </a:p>
          <a:p>
            <a:pPr algn="l">
              <a:lnSpc>
                <a:spcPts val="1822"/>
              </a:lnSpc>
              <a:spcAft>
                <a:spcPts val="100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3.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Normal household attrition on top.</a:t>
            </a:r>
          </a:p>
          <a:p>
            <a:pPr algn="l">
              <a:lnSpc>
                <a:spcPts val="1822"/>
              </a:lnSpc>
              <a:spcAft>
                <a:spcPts val="100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4.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Strong seasonality in teaching.</a:t>
            </a:r>
          </a:p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5.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Many ways to define the rate (next slide).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92"/>
              </a:lnSpc>
              <a:spcAft>
                <a:spcPts val="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B. Retrospective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100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1.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Recall bias.</a:t>
            </a:r>
          </a:p>
          <a:p>
            <a:pPr algn="l">
              <a:lnSpc>
                <a:spcPts val="1822"/>
              </a:lnSpc>
              <a:spcAft>
                <a:spcPts val="100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2.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Less sample: one observation per person per year (~3,700 teachers) against ~11,000 monthly teacher observations.</a:t>
            </a:r>
          </a:p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F3864"/>
                </a:solidFill>
                <a:latin typeface="Latin Modern Sans"/>
              </a:rPr>
              <a:t>3. 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Only March-to-March transitions; within-year spells are smoothed away.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822960" y="6355080"/>
            <a:ext cx="1207008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linkage loss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2167128" y="6355080"/>
            <a:ext cx="1051560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attachment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55848" y="6355080"/>
            <a:ext cx="1051560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validation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Six ways to define leaving, simplest to strictest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Unit: the individual. Four interviews in year 1, four in year 2.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83080"/>
            <a:ext cx="1051560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108960" y="1874519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A teacher: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874519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A leaver: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459736"/>
            <a:ext cx="105156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55117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Single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551176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≥ 1 of the 4 year-1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551176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none of the 4 year-2 interviews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181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118104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≥ 2 of the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118104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none of the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8503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Triple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685032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≥ 3 of the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685032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none of the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Strict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251960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all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51960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seen teaching in none of the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81888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Month pairs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818888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each teaching month, on its 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818888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not seen teaching twelve months 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8581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Annual recall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385816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teaching was last year’s longest job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385816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not teaching at the March interview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2960" y="5989320"/>
            <a:ext cx="1051560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The six, on one 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12</a:t>
            </a:r>
          </a:p>
        </p:txBody>
      </p:sp>
      <p:pic>
        <p:nvPicPr>
          <p:cNvPr id="4" name="Picture 3" descr="def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188720"/>
            <a:ext cx="10058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940"/>
              </a:lnSpc>
              <a:spcAft>
                <a:spcPts val="0"/>
              </a:spcAft>
            </a:pPr>
            <a:r>
              <a:rPr sz="4400" b="1" i="0">
                <a:solidFill>
                  <a:srgbClr val="1F3864"/>
                </a:solidFill>
                <a:latin typeface="Latin Modern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Latin Modern Sans"/>
              </a:rPr>
              <a:t>Leaving rate: how many leave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14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88720"/>
            <a:ext cx="9692640" cy="4846320"/>
          </a:xfrm>
          <a:prstGeom prst="rect">
            <a:avLst/>
          </a:prstGeom>
        </p:spPr>
      </p:pic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22960" y="6355080"/>
            <a:ext cx="1595628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public vs private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Comparable professions: who we compare teachers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17320"/>
            <a:ext cx="1060704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663440" y="150876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Teachers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Nurses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50876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Social workers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1508760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Accountants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96596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057400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Female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0574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76.0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88.2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82.9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057400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57.0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96312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Average age (years)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96312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44.4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96312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43.1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9631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43.4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2496312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44.1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935224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Master’s or higher (%)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935224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51.9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35224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25.9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93522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50.8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2935224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31.3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374136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Public sector (%)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374136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70.2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74136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12.3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37413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43.1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374136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813048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Weeks worked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813048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46.6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813048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49.3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1304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49.6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813048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49.5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251960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Median annual wage ($)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425196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56,000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5196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80,000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25196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57,000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4251960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77,000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470916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800600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Observations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48006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28,932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8006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13,107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60" y="48006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3,407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4800600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6,897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22960" y="5276088"/>
            <a:ext cx="1060704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22960" y="54406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Latin Modern Sans"/>
              </a:rPr>
              <a:t>College graduates, pooled 2015–2024, weighted; wages from 2020–2024.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Leaving the occupation,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16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88720"/>
            <a:ext cx="9692640" cy="4846320"/>
          </a:xfrm>
          <a:prstGeom prst="rect">
            <a:avLst/>
          </a:prstGeom>
        </p:spPr>
      </p:pic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22960" y="6355080"/>
            <a:ext cx="1517904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more professions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940"/>
              </a:lnSpc>
              <a:spcAft>
                <a:spcPts val="0"/>
              </a:spcAft>
            </a:pPr>
            <a:r>
              <a:rPr sz="4400" b="1" i="0">
                <a:solidFill>
                  <a:srgbClr val="1F3864"/>
                </a:solidFill>
                <a:latin typeface="Latin Modern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Latin Modern Sans"/>
              </a:rPr>
              <a:t>Composition: where they go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Of every 100 leavers (average, 2020–2024)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18</a:t>
            </a:r>
          </a:p>
        </p:txBody>
      </p:sp>
      <p:pic>
        <p:nvPicPr>
          <p:cNvPr id="4" name="Picture 3" descr="flow_un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48" y="1051560"/>
            <a:ext cx="979322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7044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Latin Modern Sans"/>
              </a:rPr>
              <a:t>Message.  </a:t>
            </a:r>
            <a:r>
              <a:rPr sz="1350" b="0" i="0">
                <a:solidFill>
                  <a:srgbClr val="1A1A1A"/>
                </a:solidFill>
                <a:latin typeface="Latin Modern Sans"/>
              </a:rPr>
              <a:t>A third find another job; a third retire; the rest split between early labor-force exit and unemployment.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822960" y="6355080"/>
            <a:ext cx="1595628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vs NCES follow-up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Where the employed leavers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19</a:t>
            </a:r>
          </a:p>
        </p:txBody>
      </p:sp>
      <p:pic>
        <p:nvPicPr>
          <p:cNvPr id="4" name="Picture 3" descr="occ_all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0987"/>
            <a:ext cx="11640312" cy="51161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What this says for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Of every 100 leavers, about 36 retire: a margin for delaying exit, not for return.</a:t>
            </a:r>
          </a:p>
          <a:p>
            <a:pPr algn="l">
              <a:lnSpc>
                <a:spcPts val="216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29 move to another job — half of them to destinations that do not require a degree.</a:t>
            </a:r>
          </a:p>
          <a:p>
            <a:pPr algn="l">
              <a:lnSpc>
                <a:spcPts val="216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11 are unemployed and 24 leave the labor force before 55; about 13% of the latter are studying.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The retrievable margin is real but bounded: policy competes with retirement, family time and re-training — not only with other employers.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940"/>
              </a:lnSpc>
              <a:spcAft>
                <a:spcPts val="0"/>
              </a:spcAft>
            </a:pPr>
            <a:r>
              <a:rPr sz="4400" b="1" i="0">
                <a:solidFill>
                  <a:srgbClr val="1F3864"/>
                </a:solidFill>
                <a:latin typeface="Latin Modern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Latin Modern Sans"/>
              </a:rPr>
              <a:t>Correlations: why they leave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22</a:t>
            </a:r>
          </a:p>
        </p:txBody>
      </p:sp>
      <p:pic>
        <p:nvPicPr>
          <p:cNvPr id="4" name="Picture 3" descr="equati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" y="2224604"/>
            <a:ext cx="10149840" cy="8543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2062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Probit; average marginal effects reported. 2018–2024, n = 18,571.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822960" y="6355080"/>
            <a:ext cx="507491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LPM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1467612" y="6355080"/>
            <a:ext cx="136245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logit / probit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2967228" y="6355080"/>
            <a:ext cx="896112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bounded?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000500" y="6355080"/>
            <a:ext cx="1440180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what we observe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What correlates with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23</a:t>
            </a:r>
          </a:p>
        </p:txBody>
      </p:sp>
      <p:pic>
        <p:nvPicPr>
          <p:cNvPr id="4" name="Picture 3" descr="ame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176" y="1051560"/>
            <a:ext cx="920316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Relative pay since 1997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24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68792"/>
            <a:ext cx="10881360" cy="448617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25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88720"/>
            <a:ext cx="96926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Pension coverage and leaving,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26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38" y="1188720"/>
            <a:ext cx="8285643" cy="484631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Leaving and the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27</a:t>
            </a:r>
          </a:p>
        </p:txBody>
      </p:sp>
      <p:pic>
        <p:nvPicPr>
          <p:cNvPr id="4" name="Picture 3" descr="cyc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274" y="1188720"/>
            <a:ext cx="1038497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A household survey can reproduce the official picture of teacher attrition — and extend it yearly, with covariates records do not have.</a:t>
            </a:r>
          </a:p>
          <a:p>
            <a:pPr algn="l">
              <a:lnSpc>
                <a:spcPts val="216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Who leaves: the weakly attached, the low-paid, those without pension coverage, new mothers, teachers with a disability.</a:t>
            </a:r>
          </a:p>
          <a:p>
            <a:pPr algn="l">
              <a:lnSpc>
                <a:spcPts val="216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We observe only part of the motives — financial and life-cycle, not working conditions — so these are margins, not the full story.</a:t>
            </a:r>
          </a:p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600" b="0" i="0">
                <a:solidFill>
                  <a:srgbClr val="1A1A1A"/>
                </a:solidFill>
                <a:latin typeface="Latin Modern Sans"/>
              </a:rPr>
              <a:t>What could bring teachers back: flexibility, economic security, pension coverage, and re-entry paths for those who left to study or care.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940"/>
              </a:lnSpc>
              <a:spcAft>
                <a:spcPts val="0"/>
              </a:spcAft>
            </a:pPr>
            <a:r>
              <a:rPr sz="4400" b="1" i="0">
                <a:solidFill>
                  <a:srgbClr val="1F3864"/>
                </a:solidFill>
                <a:latin typeface="Latin Modern Sans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Latin Modern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How the CPS measures unemployment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The basic monthly interview measures labor force status in the reference week — that alone produces the official monthly unemployment rate. Not the March supplement.</a:t>
            </a:r>
          </a:p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The rest of the survey: monthly labor statistics and topical supplements (school enrollment in October, voting in November, tobacco, computer use).</a:t>
            </a:r>
          </a:p>
          <a:p>
            <a:pPr algn="l">
              <a:lnSpc>
                <a:spcPts val="2092"/>
              </a:lnSpc>
              <a:spcAft>
                <a:spcPts val="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The March supplement adds the annual income block: the source of income, poverty and health-insurance statistics — and of our retrospective measure.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Are interviews monthly? Who is new each month?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Yes: every month, one eighth of the sample sits in each position of the 4-8-4 rotation. Verified in the microdata: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2057400"/>
            <a:ext cx="1042416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148840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Month in 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4884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Latin Modern Sans"/>
              </a:rPr>
              <a:t>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2606040"/>
            <a:ext cx="1042416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2697480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March 2023 (%)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69748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136392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July 2023 (%)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313639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575304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January 2024 (%)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13.1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11.9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57530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Latin Modern Sans"/>
              </a:rPr>
              <a:t>12.6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960" y="4050792"/>
            <a:ext cx="1042416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22960" y="4242816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Each month: ~12.5% new households, ~37.5% in months 2–4, ~50% returning in months 5–8. Month-to-month overlap 75%; year-to-year overlap 50%, by design.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Internal migration in the United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92"/>
              </a:lnSpc>
              <a:spcAft>
                <a:spcPts val="22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In 2023, 7.8% of Americans changed residence within the year — 25.6 million people, the lowest rate on record.</a:t>
            </a:r>
          </a:p>
          <a:p>
            <a:pPr algn="l">
              <a:lnSpc>
                <a:spcPts val="2092"/>
              </a:lnSpc>
              <a:spcAft>
                <a:spcPts val="22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3.2% moved to a different county; 1.4% to a different state.</a:t>
            </a:r>
          </a:p>
          <a:p>
            <a:pPr algn="l">
              <a:lnSpc>
                <a:spcPts val="2092"/>
              </a:lnSpc>
              <a:spcAft>
                <a:spcPts val="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This is the loss channel of any address-based panel: linkage follows dwellings, not people.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463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Latin Modern Sans"/>
              </a:rPr>
              <a:t>Census Bureau, CPS ASEC, historical table A-1 (1948–2023).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Is the same person validated year to year?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In the field, yes: the interviewer carries the household roster forward, each member keeps a line number, and occupation uses dependent interviewing between consecutive months.</a:t>
            </a:r>
          </a:p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The public files carry no person identifier. We reconstruct the roster: household id + dwelling id + line number, validated on sex, race, and age advancing 0–2 years.</a:t>
            </a:r>
          </a:p>
          <a:p>
            <a:pPr algn="l">
              <a:lnSpc>
                <a:spcPts val="2092"/>
              </a:lnSpc>
              <a:spcAft>
                <a:spcPts val="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Validation is not watertight: a mover replaced by someone of the same sex and similar age can slip through.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How much is lost in linking, and who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Of the addresses due to return twelve months later, 74.5% are found again (March 2023 → March 2024); the missing quarter is moves plus household non-response.</a:t>
            </a:r>
          </a:p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Teachers link more than others, not less: ~80% of teacher observations vs ~76% of other college graduates.</a:t>
            </a:r>
          </a:p>
          <a:p>
            <a:pPr algn="l">
              <a:lnSpc>
                <a:spcPts val="2092"/>
              </a:lnSpc>
              <a:spcAft>
                <a:spcPts val="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The loss is still selective: movers leave teaching more, so panel measures are lower bounds on mobility-related exit.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Attachment: seen once, gone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35</a:t>
            </a:r>
          </a:p>
        </p:txBody>
      </p:sp>
      <p:pic>
        <p:nvPicPr>
          <p:cNvPr id="4" name="Picture 3" descr="sighting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1097280"/>
            <a:ext cx="896112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Latin Modern Sans"/>
              </a:rPr>
              <a:t>Of teachers seen teaching in a single year-1 interview, 54% are never seen teaching in their year-2 interviews; 10% of those seen in all four. Summer-only patterns are just 3% of these leavers.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Public vs private schools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36</a:t>
            </a:r>
          </a:p>
        </p:txBody>
      </p:sp>
      <p:pic>
        <p:nvPicPr>
          <p:cNvPr id="4" name="Picture 3" descr="pubpriv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693" y="1143000"/>
            <a:ext cx="9872133" cy="5029200"/>
          </a:xfrm>
          <a:prstGeom prst="rect">
            <a:avLst/>
          </a:prstGeom>
        </p:spPr>
      </p:pic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More professions, and their average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37</a:t>
            </a:r>
          </a:p>
        </p:txBody>
      </p:sp>
      <p:pic>
        <p:nvPicPr>
          <p:cNvPr id="4" name="Picture 3" descr="profs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722" y="1143000"/>
            <a:ext cx="9744075" cy="5029200"/>
          </a:xfrm>
          <a:prstGeom prst="rect">
            <a:avLst/>
          </a:prstGeom>
        </p:spPr>
      </p:pic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Our destinations vs the NCES follow-up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63040"/>
            <a:ext cx="1005840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5544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Of every 100 leavers…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54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CPS, 2020–2024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Latin Modern Sans"/>
              </a:rPr>
              <a:t>TFS, 2021–22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029968"/>
            <a:ext cx="100584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1214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Working in another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214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28.8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1214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57.2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   of which outside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786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5786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11.8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358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Retired / out of the LF, 55+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0358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36.4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0358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27.7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930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Out of the LF, under 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23.7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10.1 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9502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Unemployed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9502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11.1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9502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Latin Modern Sans"/>
              </a:rPr>
              <a:t>4.8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4443984"/>
            <a:ext cx="1005840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4608576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Latin Modern Sans"/>
              </a:rPr>
              <a:t>* Caring for family 5.6 + student 1.8 + disabled 0.3 + other 2.4. TFS covers regular classroom teachers in public schools and counts K–12 non-teaching jobs (39.3) as work; our occupation-based measure spans public and private and all teaching attachment. Sources: NCES 2024-039, table A-8 and NTPS estimate tables.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Is the teacher group constant across code changes?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607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The five-code K–12 block maps one-to-one across the 1990, 2002/2010 and 2018 classifications; we always use the block, never a single code across regimes.</a:t>
            </a:r>
          </a:p>
          <a:p>
            <a:pPr algn="l">
              <a:lnSpc>
                <a:spcPts val="2092"/>
              </a:lnSpc>
              <a:spcAft>
                <a:spcPts val="200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Evidence: re-computing the whole series on the narrow core (dropping special education and other teachers) moves the pooled rate from 8.67 to 8.57 — a 0.1 point change.</a:t>
            </a:r>
          </a:p>
          <a:p>
            <a:pPr algn="l">
              <a:lnSpc>
                <a:spcPts val="2092"/>
              </a:lnSpc>
              <a:spcAft>
                <a:spcPts val="0"/>
              </a:spcAft>
            </a:pPr>
            <a:r>
              <a:rPr sz="1550" b="1" i="0">
                <a:solidFill>
                  <a:srgbClr val="1F3864"/>
                </a:solidFill>
                <a:latin typeface="Latin Modern Sans"/>
              </a:rPr>
              <a:t>▸   </a:t>
            </a:r>
            <a:r>
              <a:rPr sz="1550" b="0" i="0">
                <a:solidFill>
                  <a:srgbClr val="1A1A1A"/>
                </a:solidFill>
                <a:latin typeface="Latin Modern Sans"/>
              </a:rPr>
              <a:t>The 2003 and 2020 reclassifications leave no visible break in the series.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Linear probability model, fixed-effects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40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17320"/>
            <a:ext cx="1069848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846320" y="1508760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Year 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508760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No 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508760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State + year FE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956816"/>
            <a:ext cx="1069848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048256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Worked full 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048256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−11.6 (0.7)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048256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−11.5 (0.7)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2048256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−11.7 (0.7)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78024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Part-time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78024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+8.7 (1.1)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478024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+8.7 (1.1)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478024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+8.6 (1.1)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07791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Employer pension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07791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−2.3 (0.5)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907791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−2.4 (0.5)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907791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−2.3 (0.5)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37559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Public sector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337559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−2.4 (0.6)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337559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−2.4 (0.6)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337559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−2.4 (0.6)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767327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New baby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767327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+5.6 (1.6)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767327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+5.7 (1.6)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767327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+5.7 (1.6)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97095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With a disability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197095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+8.9 (2.1)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197095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+8.9 (2.1)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197095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+8.9 (2.1)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626863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Bottom-quartile income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4626863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+4.1 (1.2)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626863"/>
            <a:ext cx="21031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+4.2 (1.2)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626863"/>
            <a:ext cx="21945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+4.0 (1.2)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" y="5093207"/>
            <a:ext cx="1069848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22960" y="5239511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Latin Modern Sans"/>
              </a:rPr>
              <a:t>Coefficients × 100, robust SE in parentheses. 2018–2024, n = 18,571. Full set of controls as in the main specification.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LPM vs logit vs probit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41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17320"/>
            <a:ext cx="1042416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846320" y="1508760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LPM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508760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Logit 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508760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Latin Modern Sans"/>
              </a:rPr>
              <a:t>Probit AME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956816"/>
            <a:ext cx="1042416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048256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Worked full 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048256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−11.6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048256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−11.0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2048256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−10.8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78024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Part-time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78024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78024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+4.4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478024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07791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Employer pension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07791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907791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907791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37559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Public sector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337559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337559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337559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−2.6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767327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New baby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767327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767327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+6.1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767327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97095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With a disability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197095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+8.9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197095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197095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+5.9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626863"/>
            <a:ext cx="38404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Bottom-quartile income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4626863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+4.1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626863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+2.4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4626863"/>
            <a:ext cx="20116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1A1A"/>
                </a:solidFill>
                <a:latin typeface="Latin Modern Sans"/>
              </a:rPr>
              <a:t>+2.6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" y="5093207"/>
            <a:ext cx="10424160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22960" y="5239511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Latin Modern Sans"/>
              </a:rPr>
              <a:t>Percentage points. Same specification and sample throughout. The ranking and significance of every margin is unchanged across estimators.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Is the LPM bounded between 0 and 1?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42</a:t>
            </a:r>
          </a:p>
        </p:txBody>
      </p:sp>
      <p:pic>
        <p:nvPicPr>
          <p:cNvPr id="4" name="Picture 3" descr="lpm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117" y="1143000"/>
            <a:ext cx="9047284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Latin Modern Sans"/>
              </a:rPr>
              <a:t>No: 22% of fitted values fall below zero. By that check, the probit is the main specification and the LPM a robustness variant.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200" b="1">
                <a:solidFill>
                  <a:srgbClr val="1F3864"/>
                </a:solidFill>
                <a:latin typeface="Latin Modern Sans"/>
              </a:rPr>
              <a:t>What the CPS observes, of why teachers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Latin Modern Sans"/>
              </a:rPr>
              <a:t>43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463040"/>
            <a:ext cx="10058399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55448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Latin Modern Sans"/>
              </a:rPr>
              <a:t>Reasons in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15544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Latin Modern Sans"/>
              </a:rPr>
              <a:t>In the CPS?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029968"/>
            <a:ext cx="1005839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12140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Latin Modern Sans"/>
              </a:rPr>
              <a:t>Working 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12140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6B7480"/>
                </a:solidFill>
                <a:latin typeface="Latin Modern Sans"/>
              </a:rPr>
              <a:t>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Latin Modern Sans"/>
              </a:rPr>
              <a:t>Organizational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57860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6B7480"/>
                </a:solidFill>
                <a:latin typeface="Latin Modern Sans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3580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Latin Modern Sans"/>
              </a:rPr>
              <a:t>Autonomy and intrinsic motives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03580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6B7480"/>
                </a:solidFill>
                <a:latin typeface="Latin Modern Sans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9300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Latin Modern Sans"/>
              </a:rPr>
              <a:t>Financial factors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49300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1" i="0">
                <a:solidFill>
                  <a:srgbClr val="1F3864"/>
                </a:solidFill>
                <a:latin typeface="Latin Modern Sans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5020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Latin Modern Sans"/>
              </a:rPr>
              <a:t>Personal life-cycle motives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95020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1" i="0">
                <a:solidFill>
                  <a:srgbClr val="1F3864"/>
                </a:solidFill>
                <a:latin typeface="Latin Modern Sans"/>
              </a:rPr>
              <a:t>yes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425696"/>
            <a:ext cx="1005839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517136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Latin Modern Sans"/>
              </a:rPr>
              <a:t>Sociodemographics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51713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1" i="0">
                <a:solidFill>
                  <a:srgbClr val="1F3864"/>
                </a:solidFill>
                <a:latin typeface="Latin Modern Sans"/>
              </a:rPr>
              <a:t>yes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5010912"/>
            <a:ext cx="10058399" cy="0"/>
          </a:xfrm>
          <a:prstGeom prst="line">
            <a:avLst/>
          </a:prstGeom>
          <a:ln w="1778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10881360" y="6355080"/>
            <a:ext cx="585216" cy="310896"/>
          </a:xfrm>
          <a:prstGeom prst="round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 tIns="0" bIns="0"/>
          <a:lstStyle/>
          <a:p>
            <a:pPr algn="ctr"/>
            <a:r>
              <a:rPr sz="1100">
                <a:solidFill>
                  <a:srgbClr val="1F3864"/>
                </a:solidFill>
                <a:latin typeface="Latin Modern Sans"/>
              </a:rPr>
              <a:t>◂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