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Motivacion y problema. Boton de fuentes oficiales y sus huecos temporales.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Seis definiciones en un eje. Rombos negros, benchmark oficial del NCES (TFS, 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Serie estable. Promedios EAG para paises con datos: 6,6 (datos 2016, EAG 2021); 6,5 (2022/23, EAG 2025); 6,4 (2024/25, EAG 2026). Paises con series largas tambien estables. EEUU por encima de la mayoria.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cada 100 que dejan la docencia: 29 otro empleo, 36 retiro (55+), 24 salida antes de 55, 11 paro. De los 29 empleados: 6 educacion, 2 cuidado, 9 otras profesiones, 11 resto.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Salida temprana, historia de familia. Mas de la mitad madres con hijo en casa (13 de los 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Estudia el 45% de los menores de 30 y el 25-48% de los que no tienen hijos, frente al 3% de las madres. n pequenos, indicados en el grafico.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vinculacion al empleo. c: pago y seguridad. f: familia. h: salud. d: demografia. delta-t: efectos de ano. La LPM no esta acotada (22% de ajustados bajo cero), por eso el probit es la especificacion principal.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36.xml"/><Relationship Id="rId4" Type="http://schemas.openxmlformats.org/officeDocument/2006/relationships/slide" Target="slide37.xml"/><Relationship Id="rId5" Type="http://schemas.openxmlformats.org/officeDocument/2006/relationships/slide" Target="slide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0.xml"/><Relationship Id="rId4" Type="http://schemas.openxmlformats.org/officeDocument/2006/relationships/slide" Target="slide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41.xml"/><Relationship Id="rId4"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43.xml"/><Relationship Id="rId4" Type="http://schemas.openxmlformats.org/officeDocument/2006/relationships/slide" Target="slide45.xml"/><Relationship Id="rId5"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44.xml"/><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 Id="rId6" Type="http://schemas.openxmlformats.org/officeDocument/2006/relationships/slide" Target="slide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slide" Target="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slide" Target="slide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slide" Target="slid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slide" Target="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slide" Target="slide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slide" Target="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slide" Target="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slide" Target="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slide" Target="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slide" Target="slide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17320"/>
            <a:ext cx="12191695" cy="2286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01752" y="2103120"/>
            <a:ext cx="11585448" cy="1371600"/>
          </a:xfrm>
          <a:prstGeom prst="rect">
            <a:avLst/>
          </a:prstGeom>
          <a:noFill/>
        </p:spPr>
        <p:txBody>
          <a:bodyPr wrap="square" lIns="0" rIns="0" tIns="0" bIns="0">
            <a:spAutoFit/>
          </a:bodyPr>
          <a:lstStyle/>
          <a:p>
            <a:pPr algn="ctr">
              <a:lnSpc>
                <a:spcPts val="3584"/>
              </a:lnSpc>
              <a:spcAft>
                <a:spcPts val="400"/>
              </a:spcAft>
            </a:pPr>
            <a:r>
              <a:rPr sz="3200" b="1" i="0">
                <a:solidFill>
                  <a:srgbClr val="FFFFFF"/>
                </a:solidFill>
                <a:latin typeface="Garamond"/>
              </a:rPr>
              <a:t>Measuring Teacher Attrition with Labour Force Survey Data</a:t>
            </a:r>
          </a:p>
          <a:p>
            <a:pPr algn="ctr">
              <a:lnSpc>
                <a:spcPts val="3584"/>
              </a:lnSpc>
              <a:spcAft>
                <a:spcPts val="0"/>
              </a:spcAft>
            </a:pPr>
            <a:r>
              <a:rPr sz="3200" b="0" i="0">
                <a:solidFill>
                  <a:srgbClr val="D7E3F2"/>
                </a:solidFill>
                <a:latin typeface="Garamond"/>
              </a:rPr>
              <a:t>The Case of the United States</a:t>
            </a:r>
          </a:p>
        </p:txBody>
      </p:sp>
      <p:sp>
        <p:nvSpPr>
          <p:cNvPr id="4" name="TextBox 3"/>
          <p:cNvSpPr txBox="1"/>
          <p:nvPr/>
        </p:nvSpPr>
        <p:spPr>
          <a:xfrm>
            <a:off x="914400" y="4224528"/>
            <a:ext cx="10360152" cy="731520"/>
          </a:xfrm>
          <a:prstGeom prst="rect">
            <a:avLst/>
          </a:prstGeom>
          <a:noFill/>
        </p:spPr>
        <p:txBody>
          <a:bodyPr wrap="square" lIns="0" rIns="0" tIns="0" bIns="0">
            <a:spAutoFit/>
          </a:bodyPr>
          <a:lstStyle/>
          <a:p>
            <a:pPr algn="ctr">
              <a:lnSpc>
                <a:spcPts val="2300"/>
              </a:lnSpc>
              <a:spcAft>
                <a:spcPts val="200"/>
              </a:spcAft>
            </a:pPr>
            <a:r>
              <a:rPr sz="2000" b="1" i="0">
                <a:solidFill>
                  <a:srgbClr val="212529"/>
                </a:solidFill>
                <a:latin typeface="Garamond"/>
              </a:rPr>
              <a:t>José Elías Durán Roa</a:t>
            </a:r>
          </a:p>
          <a:p>
            <a:pPr algn="ctr">
              <a:lnSpc>
                <a:spcPts val="2300"/>
              </a:lnSpc>
              <a:spcAft>
                <a:spcPts val="0"/>
              </a:spcAft>
            </a:pPr>
            <a:r>
              <a:rPr sz="2000" b="1" i="0">
                <a:solidFill>
                  <a:srgbClr val="212529"/>
                </a:solidFill>
                <a:latin typeface="Garamond"/>
              </a:rPr>
              <a:t>José Manuel Torres</a:t>
            </a:r>
          </a:p>
        </p:txBody>
      </p:sp>
      <p:sp>
        <p:nvSpPr>
          <p:cNvPr id="5" name="TextBox 4"/>
          <p:cNvSpPr txBox="1"/>
          <p:nvPr/>
        </p:nvSpPr>
        <p:spPr>
          <a:xfrm>
            <a:off x="914400" y="5102352"/>
            <a:ext cx="10360152" cy="365760"/>
          </a:xfrm>
          <a:prstGeom prst="rect">
            <a:avLst/>
          </a:prstGeom>
          <a:noFill/>
        </p:spPr>
        <p:txBody>
          <a:bodyPr wrap="square" lIns="0" rIns="0" tIns="0" bIns="0">
            <a:spAutoFit/>
          </a:bodyPr>
          <a:lstStyle/>
          <a:p>
            <a:pPr algn="ctr">
              <a:lnSpc>
                <a:spcPts val="1792"/>
              </a:lnSpc>
              <a:spcAft>
                <a:spcPts val="0"/>
              </a:spcAft>
            </a:pPr>
            <a:r>
              <a:rPr sz="1400" b="0" i="0">
                <a:solidFill>
                  <a:srgbClr val="6B7480"/>
                </a:solidFill>
                <a:latin typeface="Garamond"/>
              </a:rPr>
              <a:t>Directorate for Education and Skills</a:t>
            </a:r>
          </a:p>
        </p:txBody>
      </p:sp>
      <p:pic>
        <p:nvPicPr>
          <p:cNvPr id="6" name="Picture 5" descr="oecd_logo.png"/>
          <p:cNvPicPr>
            <a:picLocks noChangeAspect="1"/>
          </p:cNvPicPr>
          <p:nvPr/>
        </p:nvPicPr>
        <p:blipFill>
          <a:blip r:embed="rId2"/>
          <a:stretch>
            <a:fillRect/>
          </a:stretch>
        </p:blipFill>
        <p:spPr>
          <a:xfrm>
            <a:off x="5321808" y="5596128"/>
            <a:ext cx="1554480" cy="39509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Why this project?</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a:t>
            </a:r>
          </a:p>
        </p:txBody>
      </p:sp>
      <p:sp>
        <p:nvSpPr>
          <p:cNvPr id="4" name="TextBox 3"/>
          <p:cNvSpPr txBox="1"/>
          <p:nvPr/>
        </p:nvSpPr>
        <p:spPr>
          <a:xfrm>
            <a:off x="822960" y="1234440"/>
            <a:ext cx="10789920" cy="457200"/>
          </a:xfrm>
          <a:prstGeom prst="rect">
            <a:avLst/>
          </a:prstGeom>
          <a:noFill/>
        </p:spPr>
        <p:txBody>
          <a:bodyPr wrap="square" lIns="0" rIns="0" tIns="0" bIns="0">
            <a:spAutoFit/>
          </a:bodyPr>
          <a:lstStyle/>
          <a:p>
            <a:pPr algn="l">
              <a:lnSpc>
                <a:spcPts val="3072"/>
              </a:lnSpc>
              <a:spcAft>
                <a:spcPts val="0"/>
              </a:spcAft>
            </a:pPr>
            <a:r>
              <a:rPr sz="2400" b="1" i="0">
                <a:solidFill>
                  <a:srgbClr val="2D6CB5"/>
                </a:solidFill>
                <a:latin typeface="Garamond"/>
              </a:rPr>
              <a:t>Motivation</a:t>
            </a:r>
          </a:p>
        </p:txBody>
      </p:sp>
      <p:sp>
        <p:nvSpPr>
          <p:cNvPr id="5" name="TextBox 4"/>
          <p:cNvSpPr txBox="1"/>
          <p:nvPr/>
        </p:nvSpPr>
        <p:spPr>
          <a:xfrm>
            <a:off x="822960" y="1828800"/>
            <a:ext cx="10789920" cy="5120640"/>
          </a:xfrm>
          <a:prstGeom prst="rect">
            <a:avLst/>
          </a:prstGeom>
          <a:noFill/>
        </p:spPr>
        <p:txBody>
          <a:bodyPr wrap="square" lIns="0" rIns="0" tIns="0" bIns="0">
            <a:spAutoFit/>
          </a:bodyPr>
          <a:lstStyle/>
          <a:p>
            <a:pPr algn="l">
              <a:lnSpc>
                <a:spcPts val="3072"/>
              </a:lnSpc>
              <a:spcAft>
                <a:spcPts val="2000"/>
              </a:spcAft>
            </a:pPr>
            <a:r>
              <a:rPr sz="2400" b="1" i="0">
                <a:solidFill>
                  <a:srgbClr val="2D6CB5"/>
                </a:solidFill>
                <a:latin typeface="Garamond"/>
              </a:rPr>
              <a:t>▪  </a:t>
            </a:r>
            <a:r>
              <a:rPr sz="2400" b="0" i="0">
                <a:solidFill>
                  <a:srgbClr val="212529"/>
                </a:solidFill>
                <a:latin typeface="Garamond"/>
              </a:rPr>
              <a:t>Understand why teachers leave the profession.</a:t>
            </a:r>
          </a:p>
          <a:p>
            <a:pPr algn="l">
              <a:lnSpc>
                <a:spcPts val="3072"/>
              </a:lnSpc>
              <a:spcAft>
                <a:spcPts val="0"/>
              </a:spcAft>
            </a:pPr>
            <a:r>
              <a:rPr sz="2400" b="1" i="0">
                <a:solidFill>
                  <a:srgbClr val="2D6CB5"/>
                </a:solidFill>
                <a:latin typeface="Garamond"/>
              </a:rPr>
              <a:t>▪  </a:t>
            </a:r>
            <a:r>
              <a:rPr sz="2400" b="0" i="0">
                <a:solidFill>
                  <a:srgbClr val="212529"/>
                </a:solidFill>
                <a:latin typeface="Garamond"/>
              </a:rPr>
              <a:t>Is there a real policy margin to soften teacher shortages by retaining teachers, or bringing them back?</a:t>
            </a:r>
          </a:p>
        </p:txBody>
      </p:sp>
      <p:sp>
        <p:nvSpPr>
          <p:cNvPr id="6" name="TextBox 5"/>
          <p:cNvSpPr txBox="1"/>
          <p:nvPr/>
        </p:nvSpPr>
        <p:spPr>
          <a:xfrm>
            <a:off x="822960" y="3657600"/>
            <a:ext cx="10789920" cy="457200"/>
          </a:xfrm>
          <a:prstGeom prst="rect">
            <a:avLst/>
          </a:prstGeom>
          <a:noFill/>
        </p:spPr>
        <p:txBody>
          <a:bodyPr wrap="square" lIns="0" rIns="0" tIns="0" bIns="0">
            <a:spAutoFit/>
          </a:bodyPr>
          <a:lstStyle/>
          <a:p>
            <a:pPr algn="l">
              <a:lnSpc>
                <a:spcPts val="3072"/>
              </a:lnSpc>
              <a:spcAft>
                <a:spcPts val="0"/>
              </a:spcAft>
            </a:pPr>
            <a:r>
              <a:rPr sz="2400" b="1" i="0">
                <a:solidFill>
                  <a:srgbClr val="2D6CB5"/>
                </a:solidFill>
                <a:latin typeface="Garamond"/>
              </a:rPr>
              <a:t>Problem</a:t>
            </a:r>
          </a:p>
        </p:txBody>
      </p:sp>
      <p:sp>
        <p:nvSpPr>
          <p:cNvPr id="7" name="TextBox 6"/>
          <p:cNvSpPr txBox="1"/>
          <p:nvPr/>
        </p:nvSpPr>
        <p:spPr>
          <a:xfrm>
            <a:off x="822960" y="4206240"/>
            <a:ext cx="10789920" cy="5120640"/>
          </a:xfrm>
          <a:prstGeom prst="rect">
            <a:avLst/>
          </a:prstGeom>
          <a:noFill/>
        </p:spPr>
        <p:txBody>
          <a:bodyPr wrap="square" lIns="0" rIns="0" tIns="0" bIns="0">
            <a:spAutoFit/>
          </a:bodyPr>
          <a:lstStyle/>
          <a:p>
            <a:pPr algn="l">
              <a:lnSpc>
                <a:spcPts val="2560"/>
              </a:lnSpc>
              <a:spcAft>
                <a:spcPts val="1800"/>
              </a:spcAft>
            </a:pPr>
            <a:r>
              <a:rPr sz="2000" b="1" i="0">
                <a:solidFill>
                  <a:srgbClr val="2D6CB5"/>
                </a:solidFill>
                <a:latin typeface="Garamond"/>
              </a:rPr>
              <a:t>▪  </a:t>
            </a:r>
            <a:r>
              <a:rPr sz="2000" b="0" i="0">
                <a:solidFill>
                  <a:srgbClr val="212529"/>
                </a:solidFill>
                <a:latin typeface="Garamond"/>
              </a:rPr>
              <a:t>Official microdata on teachers are not publicly available for many countries.</a:t>
            </a:r>
          </a:p>
          <a:p>
            <a:pPr algn="l">
              <a:lnSpc>
                <a:spcPts val="2560"/>
              </a:lnSpc>
              <a:spcAft>
                <a:spcPts val="0"/>
              </a:spcAft>
            </a:pPr>
            <a:r>
              <a:rPr sz="2000" b="1" i="0">
                <a:solidFill>
                  <a:srgbClr val="2D6CB5"/>
                </a:solidFill>
                <a:latin typeface="Garamond"/>
              </a:rPr>
              <a:t>▪  </a:t>
            </a:r>
            <a:r>
              <a:rPr sz="2000" b="0" i="0">
                <a:solidFill>
                  <a:srgbClr val="212529"/>
                </a:solidFill>
                <a:latin typeface="Garamond"/>
              </a:rPr>
              <a:t>We start with the United States, the country with the most information available.</a:t>
            </a:r>
          </a:p>
        </p:txBody>
      </p:sp>
      <p:sp>
        <p:nvSpPr>
          <p:cNvPr id="8" name="Rounded Rectangle 7">
            <a:hlinkClick action="ppaction://hlinksldjump" r:id="rId2"/>
          </p:cNvPr>
          <p:cNvSpPr/>
          <p:nvPr/>
        </p:nvSpPr>
        <p:spPr>
          <a:xfrm>
            <a:off x="822960" y="6327648"/>
            <a:ext cx="2168956"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Official 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Contribution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a:t>
            </a:r>
          </a:p>
        </p:txBody>
      </p:sp>
      <p:sp>
        <p:nvSpPr>
          <p:cNvPr id="4" name="TextBox 3"/>
          <p:cNvSpPr txBox="1"/>
          <p:nvPr/>
        </p:nvSpPr>
        <p:spPr>
          <a:xfrm>
            <a:off x="822960" y="1600200"/>
            <a:ext cx="10789920" cy="548640"/>
          </a:xfrm>
          <a:prstGeom prst="rect">
            <a:avLst/>
          </a:prstGeom>
          <a:noFill/>
        </p:spPr>
        <p:txBody>
          <a:bodyPr wrap="square" lIns="0" rIns="0" tIns="0" bIns="0">
            <a:spAutoFit/>
          </a:bodyPr>
          <a:lstStyle/>
          <a:p>
            <a:pPr algn="l">
              <a:lnSpc>
                <a:spcPts val="2560"/>
              </a:lnSpc>
              <a:spcAft>
                <a:spcPts val="0"/>
              </a:spcAft>
            </a:pPr>
            <a:r>
              <a:rPr sz="2000" b="0" i="0">
                <a:solidFill>
                  <a:srgbClr val="212529"/>
                </a:solidFill>
                <a:latin typeface="Garamond"/>
              </a:rPr>
              <a:t>We use the Current Population Survey to</a:t>
            </a:r>
          </a:p>
        </p:txBody>
      </p:sp>
      <p:sp>
        <p:nvSpPr>
          <p:cNvPr id="5" name="TextBox 4"/>
          <p:cNvSpPr txBox="1"/>
          <p:nvPr/>
        </p:nvSpPr>
        <p:spPr>
          <a:xfrm>
            <a:off x="822960" y="2788920"/>
            <a:ext cx="10789920" cy="5120640"/>
          </a:xfrm>
          <a:prstGeom prst="rect">
            <a:avLst/>
          </a:prstGeom>
          <a:noFill/>
        </p:spPr>
        <p:txBody>
          <a:bodyPr wrap="square" lIns="0" rIns="0" tIns="0" bIns="0">
            <a:spAutoFit/>
          </a:bodyPr>
          <a:lstStyle/>
          <a:p>
            <a:pPr algn="l">
              <a:lnSpc>
                <a:spcPts val="2816"/>
              </a:lnSpc>
              <a:spcAft>
                <a:spcPts val="4400"/>
              </a:spcAft>
            </a:pPr>
            <a:r>
              <a:rPr sz="2200" b="1" i="0">
                <a:solidFill>
                  <a:srgbClr val="2D6CB5"/>
                </a:solidFill>
                <a:latin typeface="Garamond"/>
              </a:rPr>
              <a:t>1.   </a:t>
            </a:r>
            <a:r>
              <a:rPr sz="2200" b="0" i="0">
                <a:solidFill>
                  <a:srgbClr val="212529"/>
                </a:solidFill>
                <a:latin typeface="Garamond"/>
              </a:rPr>
              <a:t>reproduce and extend the official statistics on teachers leaving the profession;</a:t>
            </a:r>
          </a:p>
          <a:p>
            <a:pPr algn="l">
              <a:lnSpc>
                <a:spcPts val="2816"/>
              </a:lnSpc>
              <a:spcAft>
                <a:spcPts val="0"/>
              </a:spcAft>
            </a:pPr>
            <a:r>
              <a:rPr sz="2200" b="1" i="0">
                <a:solidFill>
                  <a:srgbClr val="2D6CB5"/>
                </a:solidFill>
                <a:latin typeface="Garamond"/>
              </a:rPr>
              <a:t>2.   </a:t>
            </a:r>
            <a:r>
              <a:rPr sz="2200" b="0" i="0">
                <a:solidFill>
                  <a:srgbClr val="212529"/>
                </a:solidFill>
                <a:latin typeface="Garamond"/>
              </a:rPr>
              <a:t>having achieved A, study in detail how many leave, where they go, and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40280"/>
            <a:ext cx="10360152" cy="1188720"/>
          </a:xfrm>
          <a:prstGeom prst="rect">
            <a:avLst/>
          </a:prstGeom>
          <a:noFill/>
        </p:spPr>
        <p:txBody>
          <a:bodyPr wrap="square" lIns="0" rIns="0" tIns="0" bIns="0">
            <a:spAutoFit/>
          </a:bodyPr>
          <a:lstStyle/>
          <a:p>
            <a:pPr algn="ctr">
              <a:lnSpc>
                <a:spcPts val="7680"/>
              </a:lnSpc>
              <a:spcAft>
                <a:spcPts val="0"/>
              </a:spcAft>
            </a:pPr>
            <a:r>
              <a:rPr sz="6000" b="1" i="0">
                <a:solidFill>
                  <a:srgbClr val="FFFFFF"/>
                </a:solidFill>
                <a:latin typeface="Garamond"/>
              </a:rPr>
              <a:t>0</a:t>
            </a:r>
          </a:p>
        </p:txBody>
      </p:sp>
      <p:sp>
        <p:nvSpPr>
          <p:cNvPr id="4" name="TextBox 3"/>
          <p:cNvSpPr txBox="1"/>
          <p:nvPr/>
        </p:nvSpPr>
        <p:spPr>
          <a:xfrm>
            <a:off x="914400" y="3703320"/>
            <a:ext cx="10360152" cy="731520"/>
          </a:xfrm>
          <a:prstGeom prst="rect">
            <a:avLst/>
          </a:prstGeom>
          <a:noFill/>
        </p:spPr>
        <p:txBody>
          <a:bodyPr wrap="square" lIns="0" rIns="0" tIns="0" bIns="0">
            <a:spAutoFit/>
          </a:bodyPr>
          <a:lstStyle/>
          <a:p>
            <a:pPr algn="ctr">
              <a:lnSpc>
                <a:spcPts val="3584"/>
              </a:lnSpc>
              <a:spcAft>
                <a:spcPts val="0"/>
              </a:spcAft>
            </a:pPr>
            <a:r>
              <a:rPr sz="2800" b="0" i="0">
                <a:solidFill>
                  <a:srgbClr val="D7E3F2"/>
                </a:solidFill>
                <a:latin typeface="Garamond"/>
              </a:rPr>
              <a:t>Methodological discussion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Current Population Survey</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5</a:t>
            </a:r>
          </a:p>
        </p:txBody>
      </p:sp>
      <p:sp>
        <p:nvSpPr>
          <p:cNvPr id="4" name="TextBox 3"/>
          <p:cNvSpPr txBox="1"/>
          <p:nvPr/>
        </p:nvSpPr>
        <p:spPr>
          <a:xfrm>
            <a:off x="822960" y="1783080"/>
            <a:ext cx="10789920" cy="5120640"/>
          </a:xfrm>
          <a:prstGeom prst="rect">
            <a:avLst/>
          </a:prstGeom>
          <a:noFill/>
        </p:spPr>
        <p:txBody>
          <a:bodyPr wrap="square" lIns="0" rIns="0" tIns="0" bIns="0">
            <a:spAutoFit/>
          </a:bodyPr>
          <a:lstStyle/>
          <a:p>
            <a:pPr algn="l">
              <a:lnSpc>
                <a:spcPts val="2560"/>
              </a:lnSpc>
              <a:spcAft>
                <a:spcPts val="4600"/>
              </a:spcAft>
            </a:pPr>
            <a:r>
              <a:rPr sz="2000" b="1" i="0">
                <a:solidFill>
                  <a:srgbClr val="2D6CB5"/>
                </a:solidFill>
                <a:latin typeface="Garamond"/>
              </a:rPr>
              <a:t>▪  </a:t>
            </a:r>
            <a:r>
              <a:rPr sz="2000" b="0" i="0">
                <a:solidFill>
                  <a:srgbClr val="212529"/>
                </a:solidFill>
                <a:latin typeface="Garamond"/>
              </a:rPr>
              <a:t>The monthly household survey of the United States, run by the Census Bureau for the Bureau of Labor Statistics, and nationally representative of the civilian non-institutional population.</a:t>
            </a:r>
          </a:p>
          <a:p>
            <a:pPr algn="l">
              <a:lnSpc>
                <a:spcPts val="2560"/>
              </a:lnSpc>
              <a:spcAft>
                <a:spcPts val="4600"/>
              </a:spcAft>
            </a:pPr>
            <a:r>
              <a:rPr sz="2000" b="1" i="0">
                <a:solidFill>
                  <a:srgbClr val="2D6CB5"/>
                </a:solidFill>
                <a:latin typeface="Garamond"/>
              </a:rPr>
              <a:t>▪  </a:t>
            </a:r>
            <a:r>
              <a:rPr sz="2000" b="0" i="0">
                <a:solidFill>
                  <a:srgbClr val="212529"/>
                </a:solidFill>
                <a:latin typeface="Garamond"/>
              </a:rPr>
              <a:t>We pool 28 consecutive March supplements, 1998–2025, which give us 5.0 million person-year records.</a:t>
            </a:r>
          </a:p>
          <a:p>
            <a:pPr algn="l">
              <a:lnSpc>
                <a:spcPts val="2560"/>
              </a:lnSpc>
              <a:spcAft>
                <a:spcPts val="0"/>
              </a:spcAft>
            </a:pPr>
            <a:r>
              <a:rPr sz="2000" b="1" i="0">
                <a:solidFill>
                  <a:srgbClr val="2D6CB5"/>
                </a:solidFill>
                <a:latin typeface="Garamond"/>
              </a:rPr>
              <a:t>▪  </a:t>
            </a:r>
            <a:r>
              <a:rPr sz="2000" b="0" i="0">
                <a:solidFill>
                  <a:srgbClr val="212529"/>
                </a:solidFill>
                <a:latin typeface="Garamond"/>
              </a:rPr>
              <a:t>Among them, 104,545 are teachers, about 3,700 per year.</a:t>
            </a:r>
          </a:p>
        </p:txBody>
      </p:sp>
      <p:sp>
        <p:nvSpPr>
          <p:cNvPr id="5" name="Rounded Rectangle 4">
            <a:hlinkClick action="ppaction://hlinksldjump" r:id="rId2"/>
          </p:cNvPr>
          <p:cNvSpPr/>
          <p:nvPr/>
        </p:nvSpPr>
        <p:spPr>
          <a:xfrm>
            <a:off x="822960" y="6327648"/>
            <a:ext cx="1777593"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Unemployment</a:t>
            </a:r>
          </a:p>
        </p:txBody>
      </p:sp>
      <p:sp>
        <p:nvSpPr>
          <p:cNvPr id="6" name="Rounded Rectangle 5">
            <a:hlinkClick action="ppaction://hlinksldjump" r:id="rId3"/>
          </p:cNvPr>
          <p:cNvSpPr/>
          <p:nvPr/>
        </p:nvSpPr>
        <p:spPr>
          <a:xfrm>
            <a:off x="2746857" y="6327648"/>
            <a:ext cx="1581912"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Interviews</a:t>
            </a:r>
          </a:p>
        </p:txBody>
      </p:sp>
      <p:sp>
        <p:nvSpPr>
          <p:cNvPr id="7" name="Rounded Rectangle 6">
            <a:hlinkClick action="ppaction://hlinksldjump" r:id="rId4"/>
          </p:cNvPr>
          <p:cNvSpPr/>
          <p:nvPr/>
        </p:nvSpPr>
        <p:spPr>
          <a:xfrm>
            <a:off x="4475073" y="6327648"/>
            <a:ext cx="1484071"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Migration</a:t>
            </a:r>
          </a:p>
        </p:txBody>
      </p:sp>
      <p:sp>
        <p:nvSpPr>
          <p:cNvPr id="8" name="Rounded Rectangle 7">
            <a:hlinkClick action="ppaction://hlinksldjump" r:id="rId5"/>
          </p:cNvPr>
          <p:cNvSpPr/>
          <p:nvPr/>
        </p:nvSpPr>
        <p:spPr>
          <a:xfrm>
            <a:off x="6105448" y="6327648"/>
            <a:ext cx="1386230"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Identity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March supplement (ASEC)</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6</a:t>
            </a:r>
          </a:p>
        </p:txBody>
      </p:sp>
      <p:sp>
        <p:nvSpPr>
          <p:cNvPr id="4" name="TextBox 3"/>
          <p:cNvSpPr txBox="1"/>
          <p:nvPr/>
        </p:nvSpPr>
        <p:spPr>
          <a:xfrm>
            <a:off x="822960" y="1874519"/>
            <a:ext cx="10789920" cy="5120640"/>
          </a:xfrm>
          <a:prstGeom prst="rect">
            <a:avLst/>
          </a:prstGeom>
          <a:noFill/>
        </p:spPr>
        <p:txBody>
          <a:bodyPr wrap="square" lIns="0" rIns="0" tIns="0" bIns="0">
            <a:spAutoFit/>
          </a:bodyPr>
          <a:lstStyle/>
          <a:p>
            <a:pPr algn="l">
              <a:lnSpc>
                <a:spcPts val="2560"/>
              </a:lnSpc>
              <a:spcAft>
                <a:spcPts val="4800"/>
              </a:spcAft>
            </a:pPr>
            <a:r>
              <a:rPr sz="2000" b="1" i="0">
                <a:solidFill>
                  <a:srgbClr val="2D6CB5"/>
                </a:solidFill>
                <a:latin typeface="Garamond"/>
              </a:rPr>
              <a:t>▪  </a:t>
            </a:r>
            <a:r>
              <a:rPr sz="2000" b="0" i="0">
                <a:solidFill>
                  <a:srgbClr val="212529"/>
                </a:solidFill>
                <a:latin typeface="Garamond"/>
              </a:rPr>
              <a:t>Run by the Census Bureau each March since 1948. It is the source of the official annual income, poverty and health-insurance statistics.</a:t>
            </a:r>
          </a:p>
          <a:p>
            <a:pPr algn="l">
              <a:lnSpc>
                <a:spcPts val="2560"/>
              </a:lnSpc>
              <a:spcAft>
                <a:spcPts val="4800"/>
              </a:spcAft>
            </a:pPr>
            <a:r>
              <a:rPr sz="2000" b="1" i="0">
                <a:solidFill>
                  <a:srgbClr val="2D6CB5"/>
                </a:solidFill>
                <a:latin typeface="Garamond"/>
              </a:rPr>
              <a:t>▪  </a:t>
            </a:r>
            <a:r>
              <a:rPr sz="2000" b="0" i="0">
                <a:solidFill>
                  <a:srgbClr val="212529"/>
                </a:solidFill>
                <a:latin typeface="Garamond"/>
              </a:rPr>
              <a:t>About 90,000 households, counting the March sample plus oversamples interviewed in February and April.</a:t>
            </a:r>
          </a:p>
          <a:p>
            <a:pPr algn="l">
              <a:lnSpc>
                <a:spcPts val="2560"/>
              </a:lnSpc>
              <a:spcAft>
                <a:spcPts val="0"/>
              </a:spcAft>
            </a:pPr>
            <a:r>
              <a:rPr sz="2000" b="1" i="0">
                <a:solidFill>
                  <a:srgbClr val="2D6CB5"/>
                </a:solidFill>
                <a:latin typeface="Garamond"/>
              </a:rPr>
              <a:t>▪  </a:t>
            </a:r>
            <a:r>
              <a:rPr sz="2000" b="0" i="0">
                <a:solidFill>
                  <a:srgbClr val="212529"/>
                </a:solidFill>
                <a:latin typeface="Garamond"/>
              </a:rPr>
              <a:t>Every adult reports on the previous year their longest job held, weeks worked, earnings and benefits.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Who counts as a teacher?</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7</a:t>
            </a:r>
          </a:p>
        </p:txBody>
      </p:sp>
      <p:sp>
        <p:nvSpPr>
          <p:cNvPr id="4" name="TextBox 3"/>
          <p:cNvSpPr txBox="1"/>
          <p:nvPr/>
        </p:nvSpPr>
        <p:spPr>
          <a:xfrm>
            <a:off x="822960" y="1417320"/>
            <a:ext cx="10789920" cy="1828800"/>
          </a:xfrm>
          <a:prstGeom prst="rect">
            <a:avLst/>
          </a:prstGeom>
          <a:noFill/>
        </p:spPr>
        <p:txBody>
          <a:bodyPr wrap="square" lIns="0" rIns="0" tIns="0" bIns="0">
            <a:spAutoFit/>
          </a:bodyPr>
          <a:lstStyle/>
          <a:p>
            <a:pPr algn="l">
              <a:lnSpc>
                <a:spcPts val="2560"/>
              </a:lnSpc>
              <a:spcAft>
                <a:spcPts val="1000"/>
              </a:spcAft>
            </a:pPr>
            <a:r>
              <a:rPr sz="2000" b="1" i="0">
                <a:solidFill>
                  <a:srgbClr val="2D6CB5"/>
                </a:solidFill>
                <a:latin typeface="Garamond"/>
              </a:rPr>
              <a:t>▪  </a:t>
            </a:r>
            <a:r>
              <a:rPr sz="2000" b="0" i="0">
                <a:solidFill>
                  <a:srgbClr val="212529"/>
                </a:solidFill>
                <a:latin typeface="Garamond"/>
              </a:rPr>
              <a:t>The census assigns every worker a detailed occupation code for the job held longest last year. We count as a teacher anyone classified in one of the five school-teaching categories:</a:t>
            </a:r>
          </a:p>
        </p:txBody>
      </p:sp>
      <p:sp>
        <p:nvSpPr>
          <p:cNvPr id="5" name="TextBox 4"/>
          <p:cNvSpPr txBox="1"/>
          <p:nvPr/>
        </p:nvSpPr>
        <p:spPr>
          <a:xfrm>
            <a:off x="1417320" y="2542032"/>
            <a:ext cx="10058400" cy="2011680"/>
          </a:xfrm>
          <a:prstGeom prst="rect">
            <a:avLst/>
          </a:prstGeom>
          <a:noFill/>
        </p:spPr>
        <p:txBody>
          <a:bodyPr wrap="square" lIns="0" rIns="0" tIns="0" bIns="0">
            <a:spAutoFit/>
          </a:bodyPr>
          <a:lstStyle/>
          <a:p>
            <a:pPr algn="l">
              <a:lnSpc>
                <a:spcPts val="2432"/>
              </a:lnSpc>
              <a:spcAft>
                <a:spcPts val="600"/>
              </a:spcAft>
            </a:pPr>
            <a:r>
              <a:rPr sz="1900" b="1" i="0">
                <a:solidFill>
                  <a:srgbClr val="102D5E"/>
                </a:solidFill>
                <a:latin typeface="Garamond"/>
              </a:rPr>
              <a:t>(a)  </a:t>
            </a:r>
            <a:r>
              <a:rPr sz="1900" b="0" i="0">
                <a:solidFill>
                  <a:srgbClr val="212529"/>
                </a:solidFill>
                <a:latin typeface="Garamond"/>
              </a:rPr>
              <a:t>Preschool and kindergarten teachers</a:t>
            </a:r>
          </a:p>
          <a:p>
            <a:pPr algn="l">
              <a:lnSpc>
                <a:spcPts val="2432"/>
              </a:lnSpc>
              <a:spcAft>
                <a:spcPts val="600"/>
              </a:spcAft>
            </a:pPr>
            <a:r>
              <a:rPr sz="1900" b="1" i="0">
                <a:solidFill>
                  <a:srgbClr val="102D5E"/>
                </a:solidFill>
                <a:latin typeface="Garamond"/>
              </a:rPr>
              <a:t>(b)  </a:t>
            </a:r>
            <a:r>
              <a:rPr sz="1900" b="0" i="0">
                <a:solidFill>
                  <a:srgbClr val="212529"/>
                </a:solidFill>
                <a:latin typeface="Garamond"/>
              </a:rPr>
              <a:t>Elementary and middle school teachers</a:t>
            </a:r>
          </a:p>
          <a:p>
            <a:pPr algn="l">
              <a:lnSpc>
                <a:spcPts val="2432"/>
              </a:lnSpc>
              <a:spcAft>
                <a:spcPts val="600"/>
              </a:spcAft>
            </a:pPr>
            <a:r>
              <a:rPr sz="1900" b="1" i="0">
                <a:solidFill>
                  <a:srgbClr val="102D5E"/>
                </a:solidFill>
                <a:latin typeface="Garamond"/>
              </a:rPr>
              <a:t>(c)  </a:t>
            </a:r>
            <a:r>
              <a:rPr sz="1900" b="0" i="0">
                <a:solidFill>
                  <a:srgbClr val="212529"/>
                </a:solidFill>
                <a:latin typeface="Garamond"/>
              </a:rPr>
              <a:t>Secondary school teachers</a:t>
            </a:r>
          </a:p>
          <a:p>
            <a:pPr algn="l">
              <a:lnSpc>
                <a:spcPts val="2432"/>
              </a:lnSpc>
              <a:spcAft>
                <a:spcPts val="600"/>
              </a:spcAft>
            </a:pPr>
            <a:r>
              <a:rPr sz="1900" b="1" i="0">
                <a:solidFill>
                  <a:srgbClr val="102D5E"/>
                </a:solidFill>
                <a:latin typeface="Garamond"/>
              </a:rPr>
              <a:t>(d)  </a:t>
            </a:r>
            <a:r>
              <a:rPr sz="1900" b="0" i="0">
                <a:solidFill>
                  <a:srgbClr val="212529"/>
                </a:solidFill>
                <a:latin typeface="Garamond"/>
              </a:rPr>
              <a:t>Special education teachers</a:t>
            </a:r>
          </a:p>
          <a:p>
            <a:pPr algn="l">
              <a:lnSpc>
                <a:spcPts val="2432"/>
              </a:lnSpc>
              <a:spcAft>
                <a:spcPts val="600"/>
              </a:spcAft>
            </a:pPr>
            <a:r>
              <a:rPr sz="1900" b="1" i="0">
                <a:solidFill>
                  <a:srgbClr val="102D5E"/>
                </a:solidFill>
                <a:latin typeface="Garamond"/>
              </a:rPr>
              <a:t>(e)  </a:t>
            </a:r>
            <a:r>
              <a:rPr sz="1900" b="0" i="0">
                <a:solidFill>
                  <a:srgbClr val="212529"/>
                </a:solidFill>
                <a:latin typeface="Garamond"/>
              </a:rPr>
              <a:t>Other teachers and instructors</a:t>
            </a:r>
          </a:p>
        </p:txBody>
      </p:sp>
      <p:sp>
        <p:nvSpPr>
          <p:cNvPr id="6" name="TextBox 5"/>
          <p:cNvSpPr txBox="1"/>
          <p:nvPr/>
        </p:nvSpPr>
        <p:spPr>
          <a:xfrm>
            <a:off x="822960" y="4892040"/>
            <a:ext cx="10789920" cy="1188720"/>
          </a:xfrm>
          <a:prstGeom prst="rect">
            <a:avLst/>
          </a:prstGeom>
          <a:noFill/>
        </p:spPr>
        <p:txBody>
          <a:bodyPr wrap="square" lIns="0" rIns="0" tIns="0" bIns="0">
            <a:spAutoFit/>
          </a:bodyPr>
          <a:lstStyle/>
          <a:p>
            <a:pPr algn="l">
              <a:lnSpc>
                <a:spcPts val="2560"/>
              </a:lnSpc>
              <a:spcAft>
                <a:spcPts val="0"/>
              </a:spcAft>
            </a:pPr>
            <a:r>
              <a:rPr sz="2000" b="1" i="0">
                <a:solidFill>
                  <a:srgbClr val="2D6CB5"/>
                </a:solidFill>
                <a:latin typeface="Garamond"/>
              </a:rPr>
              <a:t>▪  </a:t>
            </a:r>
            <a:r>
              <a:rPr sz="2000" b="0" i="0">
                <a:solidFill>
                  <a:srgbClr val="212529"/>
                </a:solidFill>
                <a:latin typeface="Garamond"/>
              </a:rPr>
              <a:t>Our results are robust to this boundary: dropping special education teachers (d) and the residual category (e) moves the 1997–2024 average leaving rate from 8.6 to 8.7.</a:t>
            </a:r>
          </a:p>
        </p:txBody>
      </p:sp>
      <p:sp>
        <p:nvSpPr>
          <p:cNvPr id="7" name="Rounded Rectangle 6">
            <a:hlinkClick action="ppaction://hlinksldjump" r:id="rId2"/>
          </p:cNvPr>
          <p:cNvSpPr/>
          <p:nvPr/>
        </p:nvSpPr>
        <p:spPr>
          <a:xfrm>
            <a:off x="822960" y="6327648"/>
            <a:ext cx="1777593"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Traceability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How a household is interviewed</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8</a:t>
            </a:r>
          </a:p>
        </p:txBody>
      </p:sp>
      <p:sp>
        <p:nvSpPr>
          <p:cNvPr id="4" name="TextBox 3"/>
          <p:cNvSpPr txBox="1"/>
          <p:nvPr/>
        </p:nvSpPr>
        <p:spPr>
          <a:xfrm>
            <a:off x="822960" y="2011680"/>
            <a:ext cx="3200400" cy="3657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interviewed 4 months</a:t>
            </a:r>
          </a:p>
        </p:txBody>
      </p:sp>
      <p:sp>
        <p:nvSpPr>
          <p:cNvPr id="5" name="TextBox 4"/>
          <p:cNvSpPr txBox="1"/>
          <p:nvPr/>
        </p:nvSpPr>
        <p:spPr>
          <a:xfrm>
            <a:off x="4480560" y="2011680"/>
            <a:ext cx="3291840" cy="365760"/>
          </a:xfrm>
          <a:prstGeom prst="rect">
            <a:avLst/>
          </a:prstGeom>
          <a:noFill/>
        </p:spPr>
        <p:txBody>
          <a:bodyPr wrap="square" lIns="0" rIns="0" tIns="0" bIns="0">
            <a:spAutoFit/>
          </a:bodyPr>
          <a:lstStyle/>
          <a:p>
            <a:pPr algn="ctr">
              <a:lnSpc>
                <a:spcPts val="1920"/>
              </a:lnSpc>
              <a:spcAft>
                <a:spcPts val="0"/>
              </a:spcAft>
            </a:pPr>
            <a:r>
              <a:rPr sz="1500" b="0" i="1">
                <a:solidFill>
                  <a:srgbClr val="6B7480"/>
                </a:solidFill>
                <a:latin typeface="Garamond"/>
              </a:rPr>
              <a:t>8 months out</a:t>
            </a:r>
          </a:p>
        </p:txBody>
      </p:sp>
      <p:sp>
        <p:nvSpPr>
          <p:cNvPr id="6" name="TextBox 5"/>
          <p:cNvSpPr txBox="1"/>
          <p:nvPr/>
        </p:nvSpPr>
        <p:spPr>
          <a:xfrm>
            <a:off x="8229600" y="2011680"/>
            <a:ext cx="3200400" cy="365760"/>
          </a:xfrm>
          <a:prstGeom prst="rect">
            <a:avLst/>
          </a:prstGeom>
          <a:noFill/>
        </p:spPr>
        <p:txBody>
          <a:bodyPr wrap="square" lIns="0" rIns="0" tIns="0" bIns="0">
            <a:spAutoFit/>
          </a:bodyPr>
          <a:lstStyle/>
          <a:p>
            <a:pPr algn="r">
              <a:lnSpc>
                <a:spcPts val="2048"/>
              </a:lnSpc>
              <a:spcAft>
                <a:spcPts val="0"/>
              </a:spcAft>
            </a:pPr>
            <a:r>
              <a:rPr sz="1600" b="1" i="0">
                <a:solidFill>
                  <a:srgbClr val="8F2B36"/>
                </a:solidFill>
                <a:latin typeface="Garamond"/>
              </a:rPr>
              <a:t>interviewed 4 months</a:t>
            </a:r>
          </a:p>
        </p:txBody>
      </p:sp>
      <p:sp>
        <p:nvSpPr>
          <p:cNvPr id="7" name="Rectangle 6"/>
          <p:cNvSpPr/>
          <p:nvPr/>
        </p:nvSpPr>
        <p:spPr>
          <a:xfrm>
            <a:off x="822960" y="2514600"/>
            <a:ext cx="658939" cy="658368"/>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1</a:t>
            </a:r>
          </a:p>
        </p:txBody>
      </p:sp>
      <p:sp>
        <p:nvSpPr>
          <p:cNvPr id="8" name="Rectangle 7"/>
          <p:cNvSpPr/>
          <p:nvPr/>
        </p:nvSpPr>
        <p:spPr>
          <a:xfrm>
            <a:off x="1481899" y="2514600"/>
            <a:ext cx="658939" cy="658368"/>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2</a:t>
            </a:r>
          </a:p>
        </p:txBody>
      </p:sp>
      <p:sp>
        <p:nvSpPr>
          <p:cNvPr id="9" name="Rectangle 8"/>
          <p:cNvSpPr/>
          <p:nvPr/>
        </p:nvSpPr>
        <p:spPr>
          <a:xfrm>
            <a:off x="2140839" y="2514600"/>
            <a:ext cx="658939" cy="658368"/>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3</a:t>
            </a:r>
          </a:p>
        </p:txBody>
      </p:sp>
      <p:sp>
        <p:nvSpPr>
          <p:cNvPr id="10" name="Rectangle 9"/>
          <p:cNvSpPr/>
          <p:nvPr/>
        </p:nvSpPr>
        <p:spPr>
          <a:xfrm>
            <a:off x="2799778" y="2514600"/>
            <a:ext cx="658939" cy="658368"/>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4</a:t>
            </a:r>
          </a:p>
        </p:txBody>
      </p:sp>
      <p:sp>
        <p:nvSpPr>
          <p:cNvPr id="11" name="Rectangle 10"/>
          <p:cNvSpPr/>
          <p:nvPr/>
        </p:nvSpPr>
        <p:spPr>
          <a:xfrm>
            <a:off x="3458718"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7657"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76597"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35536"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4476"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53415"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12354"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1294" y="2514600"/>
            <a:ext cx="658939" cy="658368"/>
          </a:xfrm>
          <a:prstGeom prst="rect">
            <a:avLst/>
          </a:prstGeom>
          <a:solidFill>
            <a:srgbClr val="FFFFFF"/>
          </a:solidFill>
          <a:ln w="9525">
            <a:solidFill>
              <a:srgbClr val="C9C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0234" y="2514600"/>
            <a:ext cx="658939" cy="658368"/>
          </a:xfrm>
          <a:prstGeom prst="rect">
            <a:avLst/>
          </a:prstGeom>
          <a:solidFill>
            <a:srgbClr val="8F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5</a:t>
            </a:r>
          </a:p>
        </p:txBody>
      </p:sp>
      <p:sp>
        <p:nvSpPr>
          <p:cNvPr id="20" name="Rectangle 19"/>
          <p:cNvSpPr/>
          <p:nvPr/>
        </p:nvSpPr>
        <p:spPr>
          <a:xfrm>
            <a:off x="9389173" y="2514600"/>
            <a:ext cx="658939" cy="658368"/>
          </a:xfrm>
          <a:prstGeom prst="rect">
            <a:avLst/>
          </a:prstGeom>
          <a:solidFill>
            <a:srgbClr val="8F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6</a:t>
            </a:r>
          </a:p>
        </p:txBody>
      </p:sp>
      <p:sp>
        <p:nvSpPr>
          <p:cNvPr id="21" name="Rectangle 20"/>
          <p:cNvSpPr/>
          <p:nvPr/>
        </p:nvSpPr>
        <p:spPr>
          <a:xfrm>
            <a:off x="10048113" y="2514600"/>
            <a:ext cx="658939" cy="658368"/>
          </a:xfrm>
          <a:prstGeom prst="rect">
            <a:avLst/>
          </a:prstGeom>
          <a:solidFill>
            <a:srgbClr val="8F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7</a:t>
            </a:r>
          </a:p>
        </p:txBody>
      </p:sp>
      <p:sp>
        <p:nvSpPr>
          <p:cNvPr id="22" name="Rectangle 21"/>
          <p:cNvSpPr/>
          <p:nvPr/>
        </p:nvSpPr>
        <p:spPr>
          <a:xfrm>
            <a:off x="10707052" y="2514600"/>
            <a:ext cx="658939" cy="658368"/>
          </a:xfrm>
          <a:prstGeom prst="rect">
            <a:avLst/>
          </a:prstGeom>
          <a:solidFill>
            <a:srgbClr val="8F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Garamond"/>
              </a:rPr>
              <a:t>8</a:t>
            </a:r>
          </a:p>
        </p:txBody>
      </p:sp>
      <p:sp>
        <p:nvSpPr>
          <p:cNvPr id="23" name="TextBox 22"/>
          <p:cNvSpPr txBox="1"/>
          <p:nvPr/>
        </p:nvSpPr>
        <p:spPr>
          <a:xfrm>
            <a:off x="822960" y="3246120"/>
            <a:ext cx="658939" cy="274320"/>
          </a:xfrm>
          <a:prstGeom prst="rect">
            <a:avLst/>
          </a:prstGeom>
          <a:noFill/>
        </p:spPr>
        <p:txBody>
          <a:bodyPr wrap="square" lIns="0" rIns="0" tIns="0" bIns="0">
            <a:spAutoFit/>
          </a:bodyPr>
          <a:lstStyle/>
          <a:p>
            <a:pPr algn="ctr">
              <a:lnSpc>
                <a:spcPts val="1664"/>
              </a:lnSpc>
              <a:spcAft>
                <a:spcPts val="0"/>
              </a:spcAft>
            </a:pPr>
            <a:r>
              <a:rPr sz="1300" b="0" i="0">
                <a:solidFill>
                  <a:srgbClr val="6B7480"/>
                </a:solidFill>
                <a:latin typeface="Garamond"/>
              </a:rPr>
              <a:t>Mar</a:t>
            </a:r>
          </a:p>
        </p:txBody>
      </p:sp>
      <p:sp>
        <p:nvSpPr>
          <p:cNvPr id="24" name="TextBox 23"/>
          <p:cNvSpPr txBox="1"/>
          <p:nvPr/>
        </p:nvSpPr>
        <p:spPr>
          <a:xfrm>
            <a:off x="2799778" y="3246120"/>
            <a:ext cx="658939" cy="274320"/>
          </a:xfrm>
          <a:prstGeom prst="rect">
            <a:avLst/>
          </a:prstGeom>
          <a:noFill/>
        </p:spPr>
        <p:txBody>
          <a:bodyPr wrap="square" lIns="0" rIns="0" tIns="0" bIns="0">
            <a:spAutoFit/>
          </a:bodyPr>
          <a:lstStyle/>
          <a:p>
            <a:pPr algn="ctr">
              <a:lnSpc>
                <a:spcPts val="1664"/>
              </a:lnSpc>
              <a:spcAft>
                <a:spcPts val="0"/>
              </a:spcAft>
            </a:pPr>
            <a:r>
              <a:rPr sz="1300" b="0" i="0">
                <a:solidFill>
                  <a:srgbClr val="6B7480"/>
                </a:solidFill>
                <a:latin typeface="Garamond"/>
              </a:rPr>
              <a:t>Jun</a:t>
            </a:r>
          </a:p>
        </p:txBody>
      </p:sp>
      <p:sp>
        <p:nvSpPr>
          <p:cNvPr id="25" name="TextBox 24"/>
          <p:cNvSpPr txBox="1"/>
          <p:nvPr/>
        </p:nvSpPr>
        <p:spPr>
          <a:xfrm>
            <a:off x="8730234" y="3246120"/>
            <a:ext cx="658939" cy="274320"/>
          </a:xfrm>
          <a:prstGeom prst="rect">
            <a:avLst/>
          </a:prstGeom>
          <a:noFill/>
        </p:spPr>
        <p:txBody>
          <a:bodyPr wrap="square" lIns="0" rIns="0" tIns="0" bIns="0">
            <a:spAutoFit/>
          </a:bodyPr>
          <a:lstStyle/>
          <a:p>
            <a:pPr algn="ctr">
              <a:lnSpc>
                <a:spcPts val="1664"/>
              </a:lnSpc>
              <a:spcAft>
                <a:spcPts val="0"/>
              </a:spcAft>
            </a:pPr>
            <a:r>
              <a:rPr sz="1300" b="0" i="0">
                <a:solidFill>
                  <a:srgbClr val="6B7480"/>
                </a:solidFill>
                <a:latin typeface="Garamond"/>
              </a:rPr>
              <a:t>Mar</a:t>
            </a:r>
          </a:p>
        </p:txBody>
      </p:sp>
      <p:sp>
        <p:nvSpPr>
          <p:cNvPr id="26" name="TextBox 25"/>
          <p:cNvSpPr txBox="1"/>
          <p:nvPr/>
        </p:nvSpPr>
        <p:spPr>
          <a:xfrm>
            <a:off x="10707052" y="3246120"/>
            <a:ext cx="658939" cy="274320"/>
          </a:xfrm>
          <a:prstGeom prst="rect">
            <a:avLst/>
          </a:prstGeom>
          <a:noFill/>
        </p:spPr>
        <p:txBody>
          <a:bodyPr wrap="square" lIns="0" rIns="0" tIns="0" bIns="0">
            <a:spAutoFit/>
          </a:bodyPr>
          <a:lstStyle/>
          <a:p>
            <a:pPr algn="ctr">
              <a:lnSpc>
                <a:spcPts val="1664"/>
              </a:lnSpc>
              <a:spcAft>
                <a:spcPts val="0"/>
              </a:spcAft>
            </a:pPr>
            <a:r>
              <a:rPr sz="1300" b="0" i="0">
                <a:solidFill>
                  <a:srgbClr val="6B7480"/>
                </a:solidFill>
                <a:latin typeface="Garamond"/>
              </a:rPr>
              <a:t>Jun</a:t>
            </a:r>
          </a:p>
        </p:txBody>
      </p:sp>
      <p:sp>
        <p:nvSpPr>
          <p:cNvPr id="27" name="TextBox 26"/>
          <p:cNvSpPr txBox="1"/>
          <p:nvPr/>
        </p:nvSpPr>
        <p:spPr>
          <a:xfrm>
            <a:off x="822960" y="3584448"/>
            <a:ext cx="2635758" cy="320040"/>
          </a:xfrm>
          <a:prstGeom prst="rect">
            <a:avLst/>
          </a:prstGeom>
          <a:noFill/>
        </p:spPr>
        <p:txBody>
          <a:bodyPr wrap="square" lIns="0" rIns="0" tIns="0" bIns="0">
            <a:spAutoFit/>
          </a:bodyPr>
          <a:lstStyle/>
          <a:p>
            <a:pPr algn="ctr">
              <a:lnSpc>
                <a:spcPts val="1792"/>
              </a:lnSpc>
              <a:spcAft>
                <a:spcPts val="0"/>
              </a:spcAft>
            </a:pPr>
            <a:r>
              <a:rPr sz="1400" b="0" i="1">
                <a:solidFill>
                  <a:srgbClr val="6B7480"/>
                </a:solidFill>
                <a:latin typeface="Garamond"/>
              </a:rPr>
              <a:t>year 1</a:t>
            </a:r>
          </a:p>
        </p:txBody>
      </p:sp>
      <p:sp>
        <p:nvSpPr>
          <p:cNvPr id="28" name="TextBox 27"/>
          <p:cNvSpPr txBox="1"/>
          <p:nvPr/>
        </p:nvSpPr>
        <p:spPr>
          <a:xfrm>
            <a:off x="8730234" y="3584448"/>
            <a:ext cx="2635758" cy="320040"/>
          </a:xfrm>
          <a:prstGeom prst="rect">
            <a:avLst/>
          </a:prstGeom>
          <a:noFill/>
        </p:spPr>
        <p:txBody>
          <a:bodyPr wrap="square" lIns="0" rIns="0" tIns="0" bIns="0">
            <a:spAutoFit/>
          </a:bodyPr>
          <a:lstStyle/>
          <a:p>
            <a:pPr algn="ctr">
              <a:lnSpc>
                <a:spcPts val="1792"/>
              </a:lnSpc>
              <a:spcAft>
                <a:spcPts val="0"/>
              </a:spcAft>
            </a:pPr>
            <a:r>
              <a:rPr sz="1400" b="0" i="1">
                <a:solidFill>
                  <a:srgbClr val="6B7480"/>
                </a:solidFill>
                <a:latin typeface="Garamond"/>
              </a:rPr>
              <a:t>year 2</a:t>
            </a:r>
          </a:p>
        </p:txBody>
      </p:sp>
      <p:cxnSp>
        <p:nvCxnSpPr>
          <p:cNvPr id="29" name="Connector 28"/>
          <p:cNvCxnSpPr/>
          <p:nvPr/>
        </p:nvCxnSpPr>
        <p:spPr>
          <a:xfrm>
            <a:off x="1152429" y="4251960"/>
            <a:ext cx="7907274" cy="0"/>
          </a:xfrm>
          <a:prstGeom prst="line">
            <a:avLst/>
          </a:prstGeom>
          <a:ln w="20320">
            <a:solidFill>
              <a:srgbClr val="21252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371600" y="4434840"/>
            <a:ext cx="9144000" cy="411480"/>
          </a:xfrm>
          <a:prstGeom prst="rect">
            <a:avLst/>
          </a:prstGeom>
          <a:noFill/>
        </p:spPr>
        <p:txBody>
          <a:bodyPr wrap="square" lIns="0" rIns="0" tIns="0" bIns="0">
            <a:spAutoFit/>
          </a:bodyPr>
          <a:lstStyle/>
          <a:p>
            <a:pPr algn="ctr">
              <a:lnSpc>
                <a:spcPts val="2048"/>
              </a:lnSpc>
              <a:spcAft>
                <a:spcPts val="0"/>
              </a:spcAft>
            </a:pPr>
            <a:r>
              <a:rPr sz="1600" b="0" i="0">
                <a:solidFill>
                  <a:srgbClr val="212529"/>
                </a:solidFill>
                <a:latin typeface="Garamond"/>
              </a:rPr>
              <a:t>the same interview, twelve months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Two ways to identify a leaver</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9</a:t>
            </a:r>
          </a:p>
        </p:txBody>
      </p:sp>
      <p:sp>
        <p:nvSpPr>
          <p:cNvPr id="4" name="Rectangle 3"/>
          <p:cNvSpPr/>
          <p:nvPr/>
        </p:nvSpPr>
        <p:spPr>
          <a:xfrm>
            <a:off x="0" y="804672"/>
            <a:ext cx="5879592" cy="60533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691640"/>
            <a:ext cx="5212080" cy="457200"/>
          </a:xfrm>
          <a:prstGeom prst="rect">
            <a:avLst/>
          </a:prstGeom>
          <a:noFill/>
        </p:spPr>
        <p:txBody>
          <a:bodyPr wrap="square" lIns="0" rIns="0" tIns="0" bIns="0">
            <a:spAutoFit/>
          </a:bodyPr>
          <a:lstStyle/>
          <a:p>
            <a:pPr algn="l">
              <a:lnSpc>
                <a:spcPts val="3072"/>
              </a:lnSpc>
              <a:spcAft>
                <a:spcPts val="0"/>
              </a:spcAft>
            </a:pPr>
            <a:r>
              <a:rPr sz="2400" b="1" i="0">
                <a:solidFill>
                  <a:srgbClr val="102D5E"/>
                </a:solidFill>
                <a:latin typeface="Garamond"/>
              </a:rPr>
              <a:t>A. Follow the individual</a:t>
            </a:r>
          </a:p>
        </p:txBody>
      </p:sp>
      <p:sp>
        <p:nvSpPr>
          <p:cNvPr id="6" name="TextBox 5"/>
          <p:cNvSpPr txBox="1"/>
          <p:nvPr/>
        </p:nvSpPr>
        <p:spPr>
          <a:xfrm>
            <a:off x="960120" y="2450592"/>
            <a:ext cx="5212080" cy="457200"/>
          </a:xfrm>
          <a:prstGeom prst="rect">
            <a:avLst/>
          </a:prstGeom>
          <a:noFill/>
        </p:spPr>
        <p:txBody>
          <a:bodyPr wrap="square" lIns="0" rIns="0" tIns="0" bIns="0">
            <a:spAutoFit/>
          </a:bodyPr>
          <a:lstStyle/>
          <a:p>
            <a:pPr algn="l">
              <a:lnSpc>
                <a:spcPts val="2560"/>
              </a:lnSpc>
              <a:spcAft>
                <a:spcPts val="0"/>
              </a:spcAft>
            </a:pPr>
            <a:r>
              <a:rPr sz="2000" b="0" i="0">
                <a:solidFill>
                  <a:srgbClr val="212529"/>
                </a:solidFill>
                <a:latin typeface="Garamond"/>
              </a:rPr>
              <a:t>All months. Links require matching</a:t>
            </a:r>
          </a:p>
        </p:txBody>
      </p:sp>
      <p:sp>
        <p:nvSpPr>
          <p:cNvPr id="7" name="TextBox 6"/>
          <p:cNvSpPr txBox="1"/>
          <p:nvPr/>
        </p:nvSpPr>
        <p:spPr>
          <a:xfrm>
            <a:off x="987552" y="2907792"/>
            <a:ext cx="5212080" cy="1828800"/>
          </a:xfrm>
          <a:prstGeom prst="rect">
            <a:avLst/>
          </a:prstGeom>
          <a:noFill/>
        </p:spPr>
        <p:txBody>
          <a:bodyPr wrap="square" lIns="0" rIns="0" tIns="0" bIns="0">
            <a:spAutoFit/>
          </a:bodyPr>
          <a:lstStyle/>
          <a:p>
            <a:pPr algn="l">
              <a:lnSpc>
                <a:spcPts val="2560"/>
              </a:lnSpc>
              <a:spcAft>
                <a:spcPts val="200"/>
              </a:spcAft>
            </a:pPr>
            <a:r>
              <a:rPr sz="2000" b="0" i="0">
                <a:solidFill>
                  <a:srgbClr val="212529"/>
                </a:solidFill>
                <a:latin typeface="Garamond"/>
              </a:rPr>
              <a:t>household identifier</a:t>
            </a:r>
          </a:p>
          <a:p>
            <a:pPr algn="l">
              <a:lnSpc>
                <a:spcPts val="2560"/>
              </a:lnSpc>
              <a:spcAft>
                <a:spcPts val="200"/>
              </a:spcAft>
            </a:pPr>
            <a:r>
              <a:rPr sz="2000" b="0" i="0">
                <a:solidFill>
                  <a:srgbClr val="212529"/>
                </a:solidFill>
                <a:latin typeface="Garamond"/>
              </a:rPr>
              <a:t>dwelling identifier</a:t>
            </a:r>
          </a:p>
          <a:p>
            <a:pPr algn="l">
              <a:lnSpc>
                <a:spcPts val="2560"/>
              </a:lnSpc>
              <a:spcAft>
                <a:spcPts val="800"/>
              </a:spcAft>
            </a:pPr>
            <a:r>
              <a:rPr sz="2000" b="0" i="0">
                <a:solidFill>
                  <a:srgbClr val="212529"/>
                </a:solidFill>
                <a:latin typeface="Garamond"/>
              </a:rPr>
              <a:t>person line number</a:t>
            </a:r>
          </a:p>
          <a:p>
            <a:pPr algn="l">
              <a:lnSpc>
                <a:spcPts val="2304"/>
              </a:lnSpc>
              <a:spcAft>
                <a:spcPts val="0"/>
              </a:spcAft>
            </a:pPr>
            <a:r>
              <a:rPr sz="1800" b="0" i="0">
                <a:solidFill>
                  <a:srgbClr val="6B7480"/>
                </a:solidFill>
                <a:latin typeface="Garamond"/>
              </a:rPr>
              <a:t>validated on sex, race, age +0–2</a:t>
            </a:r>
          </a:p>
        </p:txBody>
      </p:sp>
      <p:sp>
        <p:nvSpPr>
          <p:cNvPr id="8" name="TextBox 7"/>
          <p:cNvSpPr txBox="1"/>
          <p:nvPr/>
        </p:nvSpPr>
        <p:spPr>
          <a:xfrm>
            <a:off x="6199632" y="1664208"/>
            <a:ext cx="5029200" cy="457200"/>
          </a:xfrm>
          <a:prstGeom prst="rect">
            <a:avLst/>
          </a:prstGeom>
          <a:noFill/>
        </p:spPr>
        <p:txBody>
          <a:bodyPr wrap="square" lIns="0" rIns="0" tIns="0" bIns="0">
            <a:spAutoFit/>
          </a:bodyPr>
          <a:lstStyle/>
          <a:p>
            <a:pPr algn="l">
              <a:lnSpc>
                <a:spcPts val="3072"/>
              </a:lnSpc>
              <a:spcAft>
                <a:spcPts val="0"/>
              </a:spcAft>
            </a:pPr>
            <a:r>
              <a:rPr sz="2400" b="1" i="0">
                <a:solidFill>
                  <a:srgbClr val="102D5E"/>
                </a:solidFill>
                <a:latin typeface="Garamond"/>
              </a:rPr>
              <a:t>B. Ask about last year</a:t>
            </a:r>
          </a:p>
        </p:txBody>
      </p:sp>
      <p:sp>
        <p:nvSpPr>
          <p:cNvPr id="9" name="TextBox 8"/>
          <p:cNvSpPr txBox="1"/>
          <p:nvPr/>
        </p:nvSpPr>
        <p:spPr>
          <a:xfrm>
            <a:off x="6199632" y="2386584"/>
            <a:ext cx="5029200" cy="2194560"/>
          </a:xfrm>
          <a:prstGeom prst="rect">
            <a:avLst/>
          </a:prstGeom>
          <a:noFill/>
        </p:spPr>
        <p:txBody>
          <a:bodyPr wrap="square" lIns="0" rIns="0" tIns="0" bIns="0">
            <a:spAutoFit/>
          </a:bodyPr>
          <a:lstStyle/>
          <a:p>
            <a:pPr algn="l">
              <a:lnSpc>
                <a:spcPts val="2560"/>
              </a:lnSpc>
              <a:spcAft>
                <a:spcPts val="1200"/>
              </a:spcAft>
            </a:pPr>
            <a:r>
              <a:rPr sz="2000" b="0" i="0">
                <a:solidFill>
                  <a:srgbClr val="212529"/>
                </a:solidFill>
                <a:latin typeface="Garamond"/>
              </a:rPr>
              <a:t>The March supplement, retrospectively.</a:t>
            </a:r>
          </a:p>
          <a:p>
            <a:pPr algn="l">
              <a:lnSpc>
                <a:spcPts val="2560"/>
              </a:lnSpc>
              <a:spcAft>
                <a:spcPts val="0"/>
              </a:spcAft>
            </a:pPr>
            <a:r>
              <a:rPr sz="2000" b="0" i="0">
                <a:solidFill>
                  <a:srgbClr val="212529"/>
                </a:solidFill>
                <a:latin typeface="Garamond"/>
              </a:rPr>
              <a:t>Leavers are the ones who taught as last year’s longest job and are not teaching this March.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Disadvantages of each option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10</a:t>
            </a:r>
          </a:p>
        </p:txBody>
      </p:sp>
      <p:sp>
        <p:nvSpPr>
          <p:cNvPr id="4" name="Rectangle 3"/>
          <p:cNvSpPr/>
          <p:nvPr/>
        </p:nvSpPr>
        <p:spPr>
          <a:xfrm>
            <a:off x="0" y="804672"/>
            <a:ext cx="5879592" cy="60533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463040"/>
            <a:ext cx="4846320" cy="457200"/>
          </a:xfrm>
          <a:prstGeom prst="rect">
            <a:avLst/>
          </a:prstGeom>
          <a:noFill/>
        </p:spPr>
        <p:txBody>
          <a:bodyPr wrap="square" lIns="0" rIns="0" tIns="0" bIns="0">
            <a:spAutoFit/>
          </a:bodyPr>
          <a:lstStyle/>
          <a:p>
            <a:pPr algn="l">
              <a:lnSpc>
                <a:spcPts val="3072"/>
              </a:lnSpc>
              <a:spcAft>
                <a:spcPts val="0"/>
              </a:spcAft>
            </a:pPr>
            <a:r>
              <a:rPr sz="2400" b="1" i="0">
                <a:solidFill>
                  <a:srgbClr val="102D5E"/>
                </a:solidFill>
                <a:latin typeface="Garamond"/>
              </a:rPr>
              <a:t>A. Following individuals</a:t>
            </a:r>
          </a:p>
        </p:txBody>
      </p:sp>
      <p:sp>
        <p:nvSpPr>
          <p:cNvPr id="6" name="TextBox 5"/>
          <p:cNvSpPr txBox="1"/>
          <p:nvPr/>
        </p:nvSpPr>
        <p:spPr>
          <a:xfrm>
            <a:off x="987552" y="2240280"/>
            <a:ext cx="4754880" cy="5120640"/>
          </a:xfrm>
          <a:prstGeom prst="rect">
            <a:avLst/>
          </a:prstGeom>
          <a:noFill/>
        </p:spPr>
        <p:txBody>
          <a:bodyPr wrap="square" lIns="0" rIns="0" tIns="0" bIns="0">
            <a:spAutoFit/>
          </a:bodyPr>
          <a:lstStyle/>
          <a:p>
            <a:pPr algn="l">
              <a:lnSpc>
                <a:spcPts val="2048"/>
              </a:lnSpc>
              <a:spcAft>
                <a:spcPts val="1500"/>
              </a:spcAft>
            </a:pPr>
            <a:r>
              <a:rPr sz="1600" b="1" i="0">
                <a:solidFill>
                  <a:srgbClr val="2D6CB5"/>
                </a:solidFill>
                <a:latin typeface="Garamond"/>
              </a:rPr>
              <a:t>1.   </a:t>
            </a:r>
            <a:r>
              <a:rPr sz="1600" b="0" i="0">
                <a:solidFill>
                  <a:srgbClr val="212529"/>
                </a:solidFill>
                <a:latin typeface="Garamond"/>
              </a:rPr>
              <a:t>Identity is not certain, validation can admit noisy people.</a:t>
            </a:r>
          </a:p>
          <a:p>
            <a:pPr algn="l">
              <a:lnSpc>
                <a:spcPts val="2048"/>
              </a:lnSpc>
              <a:spcAft>
                <a:spcPts val="1500"/>
              </a:spcAft>
            </a:pPr>
            <a:r>
              <a:rPr sz="1600" b="1" i="0">
                <a:solidFill>
                  <a:srgbClr val="2D6CB5"/>
                </a:solidFill>
                <a:latin typeface="Garamond"/>
              </a:rPr>
              <a:t>2.   </a:t>
            </a:r>
            <a:r>
              <a:rPr sz="1600" b="0" i="0">
                <a:solidFill>
                  <a:srgbClr val="212529"/>
                </a:solidFill>
                <a:latin typeface="Garamond"/>
              </a:rPr>
              <a:t>Movers are lost. About 25% of addresses are not found a year later.</a:t>
            </a:r>
          </a:p>
          <a:p>
            <a:pPr algn="l">
              <a:lnSpc>
                <a:spcPts val="2048"/>
              </a:lnSpc>
              <a:spcAft>
                <a:spcPts val="1500"/>
              </a:spcAft>
            </a:pPr>
            <a:r>
              <a:rPr sz="1600" b="1" i="0">
                <a:solidFill>
                  <a:srgbClr val="2D6CB5"/>
                </a:solidFill>
                <a:latin typeface="Garamond"/>
              </a:rPr>
              <a:t>3.   </a:t>
            </a:r>
            <a:r>
              <a:rPr sz="1600" b="0" i="0">
                <a:solidFill>
                  <a:srgbClr val="212529"/>
                </a:solidFill>
                <a:latin typeface="Garamond"/>
              </a:rPr>
              <a:t>Normal household attrition on top.</a:t>
            </a:r>
          </a:p>
          <a:p>
            <a:pPr algn="l">
              <a:lnSpc>
                <a:spcPts val="2048"/>
              </a:lnSpc>
              <a:spcAft>
                <a:spcPts val="1500"/>
              </a:spcAft>
            </a:pPr>
            <a:r>
              <a:rPr sz="1600" b="1" i="0">
                <a:solidFill>
                  <a:srgbClr val="2D6CB5"/>
                </a:solidFill>
                <a:latin typeface="Garamond"/>
              </a:rPr>
              <a:t>4.   </a:t>
            </a:r>
            <a:r>
              <a:rPr sz="1600" b="0" i="0">
                <a:solidFill>
                  <a:srgbClr val="212529"/>
                </a:solidFill>
                <a:latin typeface="Garamond"/>
              </a:rPr>
              <a:t>Strong seasonality in teaching.</a:t>
            </a:r>
          </a:p>
          <a:p>
            <a:pPr algn="l">
              <a:lnSpc>
                <a:spcPts val="2048"/>
              </a:lnSpc>
              <a:spcAft>
                <a:spcPts val="0"/>
              </a:spcAft>
            </a:pPr>
            <a:r>
              <a:rPr sz="1600" b="1" i="0">
                <a:solidFill>
                  <a:srgbClr val="2D6CB5"/>
                </a:solidFill>
                <a:latin typeface="Garamond"/>
              </a:rPr>
              <a:t>5.   </a:t>
            </a:r>
            <a:r>
              <a:rPr sz="1600" b="0" i="0">
                <a:solidFill>
                  <a:srgbClr val="212529"/>
                </a:solidFill>
                <a:latin typeface="Garamond"/>
              </a:rPr>
              <a:t>Many ways to define the rate (next slide).</a:t>
            </a:r>
          </a:p>
        </p:txBody>
      </p:sp>
      <p:sp>
        <p:nvSpPr>
          <p:cNvPr id="7" name="TextBox 6"/>
          <p:cNvSpPr txBox="1"/>
          <p:nvPr/>
        </p:nvSpPr>
        <p:spPr>
          <a:xfrm>
            <a:off x="6355080" y="1463040"/>
            <a:ext cx="5120640" cy="457200"/>
          </a:xfrm>
          <a:prstGeom prst="rect">
            <a:avLst/>
          </a:prstGeom>
          <a:noFill/>
        </p:spPr>
        <p:txBody>
          <a:bodyPr wrap="square" lIns="0" rIns="0" tIns="0" bIns="0">
            <a:spAutoFit/>
          </a:bodyPr>
          <a:lstStyle/>
          <a:p>
            <a:pPr algn="l">
              <a:lnSpc>
                <a:spcPts val="3072"/>
              </a:lnSpc>
              <a:spcAft>
                <a:spcPts val="0"/>
              </a:spcAft>
            </a:pPr>
            <a:r>
              <a:rPr sz="2400" b="1" i="0">
                <a:solidFill>
                  <a:srgbClr val="102D5E"/>
                </a:solidFill>
                <a:latin typeface="Garamond"/>
              </a:rPr>
              <a:t>B. Retrospective March</a:t>
            </a:r>
          </a:p>
        </p:txBody>
      </p:sp>
      <p:sp>
        <p:nvSpPr>
          <p:cNvPr id="8" name="TextBox 7"/>
          <p:cNvSpPr txBox="1"/>
          <p:nvPr/>
        </p:nvSpPr>
        <p:spPr>
          <a:xfrm>
            <a:off x="6355080" y="2240280"/>
            <a:ext cx="5120640" cy="5120640"/>
          </a:xfrm>
          <a:prstGeom prst="rect">
            <a:avLst/>
          </a:prstGeom>
          <a:noFill/>
        </p:spPr>
        <p:txBody>
          <a:bodyPr wrap="square" lIns="0" rIns="0" tIns="0" bIns="0">
            <a:spAutoFit/>
          </a:bodyPr>
          <a:lstStyle/>
          <a:p>
            <a:pPr algn="l">
              <a:lnSpc>
                <a:spcPts val="2048"/>
              </a:lnSpc>
              <a:spcAft>
                <a:spcPts val="1500"/>
              </a:spcAft>
            </a:pPr>
            <a:r>
              <a:rPr sz="1600" b="1" i="0">
                <a:solidFill>
                  <a:srgbClr val="2D6CB5"/>
                </a:solidFill>
                <a:latin typeface="Garamond"/>
              </a:rPr>
              <a:t>1.   </a:t>
            </a:r>
            <a:r>
              <a:rPr sz="1600" b="0" i="0">
                <a:solidFill>
                  <a:srgbClr val="212529"/>
                </a:solidFill>
                <a:latin typeface="Garamond"/>
              </a:rPr>
              <a:t>Recall bias.</a:t>
            </a:r>
          </a:p>
          <a:p>
            <a:pPr algn="l">
              <a:lnSpc>
                <a:spcPts val="2048"/>
              </a:lnSpc>
              <a:spcAft>
                <a:spcPts val="1500"/>
              </a:spcAft>
            </a:pPr>
            <a:r>
              <a:rPr sz="1600" b="1" i="0">
                <a:solidFill>
                  <a:srgbClr val="2D6CB5"/>
                </a:solidFill>
                <a:latin typeface="Garamond"/>
              </a:rPr>
              <a:t>2.   </a:t>
            </a:r>
            <a:r>
              <a:rPr sz="1600" b="0" i="0">
                <a:solidFill>
                  <a:srgbClr val="212529"/>
                </a:solidFill>
                <a:latin typeface="Garamond"/>
              </a:rPr>
              <a:t>Less sample. One observation per person per year (~3,700 teachers) against ~11,000 monthly teacher observations.</a:t>
            </a:r>
          </a:p>
          <a:p>
            <a:pPr algn="l">
              <a:lnSpc>
                <a:spcPts val="2048"/>
              </a:lnSpc>
              <a:spcAft>
                <a:spcPts val="0"/>
              </a:spcAft>
            </a:pPr>
            <a:r>
              <a:rPr sz="1600" b="1" i="0">
                <a:solidFill>
                  <a:srgbClr val="2D6CB5"/>
                </a:solidFill>
                <a:latin typeface="Garamond"/>
              </a:rPr>
              <a:t>3.   </a:t>
            </a:r>
            <a:r>
              <a:rPr sz="1600" b="0" i="0">
                <a:solidFill>
                  <a:srgbClr val="212529"/>
                </a:solidFill>
                <a:latin typeface="Garamond"/>
              </a:rPr>
              <a:t>Only March-to-March transitions. Within-year spells are smoothed away.</a:t>
            </a:r>
          </a:p>
        </p:txBody>
      </p:sp>
      <p:sp>
        <p:nvSpPr>
          <p:cNvPr id="9" name="Rounded Rectangle 8">
            <a:hlinkClick action="ppaction://hlinksldjump" r:id="rId2"/>
          </p:cNvPr>
          <p:cNvSpPr/>
          <p:nvPr/>
        </p:nvSpPr>
        <p:spPr>
          <a:xfrm>
            <a:off x="822960" y="6327648"/>
            <a:ext cx="1777593"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Linkage loss</a:t>
            </a:r>
          </a:p>
        </p:txBody>
      </p:sp>
      <p:sp>
        <p:nvSpPr>
          <p:cNvPr id="10" name="Rounded Rectangle 9">
            <a:hlinkClick action="ppaction://hlinksldjump" r:id="rId3"/>
          </p:cNvPr>
          <p:cNvSpPr/>
          <p:nvPr/>
        </p:nvSpPr>
        <p:spPr>
          <a:xfrm>
            <a:off x="2746857" y="6327648"/>
            <a:ext cx="2756001"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Definition sensitivity</a:t>
            </a:r>
          </a:p>
        </p:txBody>
      </p:sp>
      <p:sp>
        <p:nvSpPr>
          <p:cNvPr id="11" name="Rounded Rectangle 10">
            <a:hlinkClick action="ppaction://hlinksldjump" r:id="rId4"/>
          </p:cNvPr>
          <p:cNvSpPr/>
          <p:nvPr/>
        </p:nvSpPr>
        <p:spPr>
          <a:xfrm>
            <a:off x="5649163" y="6327648"/>
            <a:ext cx="1581912"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Validation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Six ways to define leaving, simplest to strictest</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11</a:t>
            </a:r>
          </a:p>
        </p:txBody>
      </p:sp>
      <p:sp>
        <p:nvSpPr>
          <p:cNvPr id="4" name="TextBox 3"/>
          <p:cNvSpPr txBox="1"/>
          <p:nvPr/>
        </p:nvSpPr>
        <p:spPr>
          <a:xfrm>
            <a:off x="822960" y="1188720"/>
            <a:ext cx="10789920" cy="411480"/>
          </a:xfrm>
          <a:prstGeom prst="rect">
            <a:avLst/>
          </a:prstGeom>
          <a:noFill/>
        </p:spPr>
        <p:txBody>
          <a:bodyPr wrap="square" lIns="0" rIns="0" tIns="0" bIns="0">
            <a:spAutoFit/>
          </a:bodyPr>
          <a:lstStyle/>
          <a:p>
            <a:pPr algn="l">
              <a:lnSpc>
                <a:spcPts val="1984"/>
              </a:lnSpc>
              <a:spcAft>
                <a:spcPts val="0"/>
              </a:spcAft>
            </a:pPr>
            <a:r>
              <a:rPr sz="1550" b="0" i="0">
                <a:solidFill>
                  <a:srgbClr val="6B7480"/>
                </a:solidFill>
                <a:latin typeface="Garamond"/>
              </a:rPr>
              <a:t>Unit: the individual. Four interviews in year 1, four in year 2.</a:t>
            </a:r>
          </a:p>
        </p:txBody>
      </p:sp>
      <p:cxnSp>
        <p:nvCxnSpPr>
          <p:cNvPr id="5" name="Connector 4"/>
          <p:cNvCxnSpPr/>
          <p:nvPr/>
        </p:nvCxnSpPr>
        <p:spPr>
          <a:xfrm>
            <a:off x="822960" y="1783080"/>
            <a:ext cx="106984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00400" y="1892807"/>
            <a:ext cx="4114800" cy="530352"/>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A teacher…</a:t>
            </a:r>
          </a:p>
        </p:txBody>
      </p:sp>
      <p:sp>
        <p:nvSpPr>
          <p:cNvPr id="7" name="TextBox 6"/>
          <p:cNvSpPr txBox="1"/>
          <p:nvPr/>
        </p:nvSpPr>
        <p:spPr>
          <a:xfrm>
            <a:off x="7498079" y="1892807"/>
            <a:ext cx="4023360" cy="530352"/>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A leaver…</a:t>
            </a:r>
          </a:p>
        </p:txBody>
      </p:sp>
      <p:cxnSp>
        <p:nvCxnSpPr>
          <p:cNvPr id="8" name="Connector 7"/>
          <p:cNvCxnSpPr/>
          <p:nvPr/>
        </p:nvCxnSpPr>
        <p:spPr>
          <a:xfrm>
            <a:off x="822960" y="2441448"/>
            <a:ext cx="1069848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551176"/>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Single</a:t>
            </a:r>
          </a:p>
        </p:txBody>
      </p:sp>
      <p:sp>
        <p:nvSpPr>
          <p:cNvPr id="10" name="TextBox 9"/>
          <p:cNvSpPr txBox="1"/>
          <p:nvPr/>
        </p:nvSpPr>
        <p:spPr>
          <a:xfrm>
            <a:off x="3200400" y="2551176"/>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 1 of the 4 year-1 interviews</a:t>
            </a:r>
          </a:p>
        </p:txBody>
      </p:sp>
      <p:sp>
        <p:nvSpPr>
          <p:cNvPr id="11" name="TextBox 10"/>
          <p:cNvSpPr txBox="1"/>
          <p:nvPr/>
        </p:nvSpPr>
        <p:spPr>
          <a:xfrm>
            <a:off x="7498079" y="2551176"/>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none of the 4 year-2 interviews</a:t>
            </a:r>
          </a:p>
        </p:txBody>
      </p:sp>
      <p:sp>
        <p:nvSpPr>
          <p:cNvPr id="12" name="TextBox 11"/>
          <p:cNvSpPr txBox="1"/>
          <p:nvPr/>
        </p:nvSpPr>
        <p:spPr>
          <a:xfrm>
            <a:off x="822960" y="3081528"/>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Pair</a:t>
            </a:r>
          </a:p>
        </p:txBody>
      </p:sp>
      <p:sp>
        <p:nvSpPr>
          <p:cNvPr id="13" name="TextBox 12"/>
          <p:cNvSpPr txBox="1"/>
          <p:nvPr/>
        </p:nvSpPr>
        <p:spPr>
          <a:xfrm>
            <a:off x="3200400" y="3081528"/>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 2 of the 4</a:t>
            </a:r>
          </a:p>
        </p:txBody>
      </p:sp>
      <p:sp>
        <p:nvSpPr>
          <p:cNvPr id="14" name="TextBox 13"/>
          <p:cNvSpPr txBox="1"/>
          <p:nvPr/>
        </p:nvSpPr>
        <p:spPr>
          <a:xfrm>
            <a:off x="7498079" y="3081528"/>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none of the 4</a:t>
            </a:r>
          </a:p>
        </p:txBody>
      </p:sp>
      <p:sp>
        <p:nvSpPr>
          <p:cNvPr id="15" name="TextBox 14"/>
          <p:cNvSpPr txBox="1"/>
          <p:nvPr/>
        </p:nvSpPr>
        <p:spPr>
          <a:xfrm>
            <a:off x="822960" y="3611880"/>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Triple</a:t>
            </a:r>
          </a:p>
        </p:txBody>
      </p:sp>
      <p:sp>
        <p:nvSpPr>
          <p:cNvPr id="16" name="TextBox 15"/>
          <p:cNvSpPr txBox="1"/>
          <p:nvPr/>
        </p:nvSpPr>
        <p:spPr>
          <a:xfrm>
            <a:off x="3200400" y="3611880"/>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 3 of the 4</a:t>
            </a:r>
          </a:p>
        </p:txBody>
      </p:sp>
      <p:sp>
        <p:nvSpPr>
          <p:cNvPr id="17" name="TextBox 16"/>
          <p:cNvSpPr txBox="1"/>
          <p:nvPr/>
        </p:nvSpPr>
        <p:spPr>
          <a:xfrm>
            <a:off x="7498079" y="3611880"/>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none of the 4</a:t>
            </a:r>
          </a:p>
        </p:txBody>
      </p:sp>
      <p:sp>
        <p:nvSpPr>
          <p:cNvPr id="18" name="TextBox 17"/>
          <p:cNvSpPr txBox="1"/>
          <p:nvPr/>
        </p:nvSpPr>
        <p:spPr>
          <a:xfrm>
            <a:off x="822960" y="4142232"/>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Strict</a:t>
            </a:r>
          </a:p>
        </p:txBody>
      </p:sp>
      <p:sp>
        <p:nvSpPr>
          <p:cNvPr id="19" name="TextBox 18"/>
          <p:cNvSpPr txBox="1"/>
          <p:nvPr/>
        </p:nvSpPr>
        <p:spPr>
          <a:xfrm>
            <a:off x="3200400" y="4142232"/>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all 4</a:t>
            </a:r>
          </a:p>
        </p:txBody>
      </p:sp>
      <p:sp>
        <p:nvSpPr>
          <p:cNvPr id="20" name="TextBox 19"/>
          <p:cNvSpPr txBox="1"/>
          <p:nvPr/>
        </p:nvSpPr>
        <p:spPr>
          <a:xfrm>
            <a:off x="7498079" y="4142232"/>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seen teaching in none of the 4</a:t>
            </a:r>
          </a:p>
        </p:txBody>
      </p:sp>
      <p:sp>
        <p:nvSpPr>
          <p:cNvPr id="21" name="TextBox 20"/>
          <p:cNvSpPr txBox="1"/>
          <p:nvPr/>
        </p:nvSpPr>
        <p:spPr>
          <a:xfrm>
            <a:off x="822960" y="4672584"/>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Month pairs</a:t>
            </a:r>
          </a:p>
        </p:txBody>
      </p:sp>
      <p:sp>
        <p:nvSpPr>
          <p:cNvPr id="22" name="TextBox 21"/>
          <p:cNvSpPr txBox="1"/>
          <p:nvPr/>
        </p:nvSpPr>
        <p:spPr>
          <a:xfrm>
            <a:off x="3200400" y="4672584"/>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each teaching month, on its own</a:t>
            </a:r>
          </a:p>
        </p:txBody>
      </p:sp>
      <p:sp>
        <p:nvSpPr>
          <p:cNvPr id="23" name="TextBox 22"/>
          <p:cNvSpPr txBox="1"/>
          <p:nvPr/>
        </p:nvSpPr>
        <p:spPr>
          <a:xfrm>
            <a:off x="7498079" y="4672584"/>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not seen teaching twelve months later</a:t>
            </a:r>
          </a:p>
        </p:txBody>
      </p:sp>
      <p:sp>
        <p:nvSpPr>
          <p:cNvPr id="24" name="TextBox 23"/>
          <p:cNvSpPr txBox="1"/>
          <p:nvPr/>
        </p:nvSpPr>
        <p:spPr>
          <a:xfrm>
            <a:off x="822960" y="5202936"/>
            <a:ext cx="2194560" cy="530352"/>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Annual recall</a:t>
            </a:r>
          </a:p>
        </p:txBody>
      </p:sp>
      <p:sp>
        <p:nvSpPr>
          <p:cNvPr id="25" name="TextBox 24"/>
          <p:cNvSpPr txBox="1"/>
          <p:nvPr/>
        </p:nvSpPr>
        <p:spPr>
          <a:xfrm>
            <a:off x="3200400" y="5202936"/>
            <a:ext cx="411480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teaching was last year’s longest job</a:t>
            </a:r>
          </a:p>
        </p:txBody>
      </p:sp>
      <p:sp>
        <p:nvSpPr>
          <p:cNvPr id="26" name="TextBox 25"/>
          <p:cNvSpPr txBox="1"/>
          <p:nvPr/>
        </p:nvSpPr>
        <p:spPr>
          <a:xfrm>
            <a:off x="7498079" y="5202936"/>
            <a:ext cx="4023360" cy="530352"/>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not teaching at the March interview</a:t>
            </a:r>
          </a:p>
        </p:txBody>
      </p:sp>
      <p:cxnSp>
        <p:nvCxnSpPr>
          <p:cNvPr id="27" name="Connector 26"/>
          <p:cNvCxnSpPr/>
          <p:nvPr/>
        </p:nvCxnSpPr>
        <p:spPr>
          <a:xfrm>
            <a:off x="822960" y="5769864"/>
            <a:ext cx="106984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rates under alternative definitions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12</a:t>
            </a:r>
          </a:p>
        </p:txBody>
      </p:sp>
      <p:pic>
        <p:nvPicPr>
          <p:cNvPr id="4" name="Picture 3" descr="defs6.png"/>
          <p:cNvPicPr>
            <a:picLocks noChangeAspect="1"/>
          </p:cNvPicPr>
          <p:nvPr/>
        </p:nvPicPr>
        <p:blipFill>
          <a:blip r:embed="rId2"/>
          <a:stretch>
            <a:fillRect/>
          </a:stretch>
        </p:blipFill>
        <p:spPr>
          <a:xfrm>
            <a:off x="1297305" y="1097280"/>
            <a:ext cx="9566910" cy="4937760"/>
          </a:xfrm>
          <a:prstGeom prst="rect">
            <a:avLst/>
          </a:prstGeom>
        </p:spPr>
      </p:pic>
      <p:sp>
        <p:nvSpPr>
          <p:cNvPr id="5" name="TextBox 4"/>
          <p:cNvSpPr txBox="1"/>
          <p:nvPr/>
        </p:nvSpPr>
        <p:spPr>
          <a:xfrm>
            <a:off x="822960" y="6199632"/>
            <a:ext cx="10789920" cy="365760"/>
          </a:xfrm>
          <a:prstGeom prst="rect">
            <a:avLst/>
          </a:prstGeom>
          <a:noFill/>
        </p:spPr>
        <p:txBody>
          <a:bodyPr wrap="square" lIns="0" rIns="0" tIns="0" bIns="0">
            <a:spAutoFit/>
          </a:bodyPr>
          <a:lstStyle/>
          <a:p>
            <a:pPr algn="l">
              <a:lnSpc>
                <a:spcPts val="1664"/>
              </a:lnSpc>
              <a:spcAft>
                <a:spcPts val="0"/>
              </a:spcAft>
            </a:pPr>
            <a:r>
              <a:rPr sz="1300" b="0" i="0">
                <a:solidFill>
                  <a:srgbClr val="6B7480"/>
                </a:solidFill>
                <a:latin typeface="Garamond"/>
              </a:rPr>
              <a:t>NCES is the National Center for Education Statistics. Its Teacher Follow-up Survey is the official benchmark.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40280"/>
            <a:ext cx="10360152" cy="1188720"/>
          </a:xfrm>
          <a:prstGeom prst="rect">
            <a:avLst/>
          </a:prstGeom>
          <a:noFill/>
        </p:spPr>
        <p:txBody>
          <a:bodyPr wrap="square" lIns="0" rIns="0" tIns="0" bIns="0">
            <a:spAutoFit/>
          </a:bodyPr>
          <a:lstStyle/>
          <a:p>
            <a:pPr algn="ctr">
              <a:lnSpc>
                <a:spcPts val="7680"/>
              </a:lnSpc>
              <a:spcAft>
                <a:spcPts val="0"/>
              </a:spcAft>
            </a:pPr>
            <a:r>
              <a:rPr sz="6000" b="1" i="0">
                <a:solidFill>
                  <a:srgbClr val="FFFFFF"/>
                </a:solidFill>
                <a:latin typeface="Garamond"/>
              </a:rPr>
              <a:t>1</a:t>
            </a:r>
          </a:p>
        </p:txBody>
      </p:sp>
      <p:sp>
        <p:nvSpPr>
          <p:cNvPr id="4" name="TextBox 3"/>
          <p:cNvSpPr txBox="1"/>
          <p:nvPr/>
        </p:nvSpPr>
        <p:spPr>
          <a:xfrm>
            <a:off x="914400" y="3703320"/>
            <a:ext cx="10360152" cy="731520"/>
          </a:xfrm>
          <a:prstGeom prst="rect">
            <a:avLst/>
          </a:prstGeom>
          <a:noFill/>
        </p:spPr>
        <p:txBody>
          <a:bodyPr wrap="square" lIns="0" rIns="0" tIns="0" bIns="0">
            <a:spAutoFit/>
          </a:bodyPr>
          <a:lstStyle/>
          <a:p>
            <a:pPr algn="ctr">
              <a:lnSpc>
                <a:spcPts val="3584"/>
              </a:lnSpc>
              <a:spcAft>
                <a:spcPts val="0"/>
              </a:spcAft>
            </a:pPr>
            <a:r>
              <a:rPr sz="2800" b="0" i="0">
                <a:solidFill>
                  <a:srgbClr val="D7E3F2"/>
                </a:solidFill>
                <a:latin typeface="Garamond"/>
              </a:rPr>
              <a:t>Leaving rate: how many leave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teaching, 1997–2024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14</a:t>
            </a:r>
          </a:p>
        </p:txBody>
      </p:sp>
      <p:pic>
        <p:nvPicPr>
          <p:cNvPr id="4" name="Picture 3" descr="g2_evolution.png"/>
          <p:cNvPicPr>
            <a:picLocks noChangeAspect="1"/>
          </p:cNvPicPr>
          <p:nvPr/>
        </p:nvPicPr>
        <p:blipFill>
          <a:blip r:embed="rId2"/>
          <a:stretch>
            <a:fillRect/>
          </a:stretch>
        </p:blipFill>
        <p:spPr>
          <a:xfrm>
            <a:off x="1645920" y="1097280"/>
            <a:ext cx="8869680"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Around 8 of every 100 teachers leave each year, and the rate has been stable for 25 years. Attrition is a permanent flow, not a recent crisis.</a:t>
            </a:r>
          </a:p>
        </p:txBody>
      </p:sp>
      <p:sp>
        <p:nvSpPr>
          <p:cNvPr id="6" name="Rounded Rectangle 5">
            <a:hlinkClick action="ppaction://hlinksldjump" r:id="rId3"/>
          </p:cNvPr>
          <p:cNvSpPr/>
          <p:nvPr/>
        </p:nvSpPr>
        <p:spPr>
          <a:xfrm>
            <a:off x="822960" y="6327648"/>
            <a:ext cx="226679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Public vs private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Comparable professions: who we compare teachers with</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15</a:t>
            </a:r>
          </a:p>
        </p:txBody>
      </p:sp>
      <p:cxnSp>
        <p:nvCxnSpPr>
          <p:cNvPr id="4" name="Connector 3"/>
          <p:cNvCxnSpPr/>
          <p:nvPr/>
        </p:nvCxnSpPr>
        <p:spPr>
          <a:xfrm>
            <a:off x="822960" y="1417320"/>
            <a:ext cx="106984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663440" y="1527048"/>
            <a:ext cx="1645920" cy="365760"/>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Teachers</a:t>
            </a:r>
          </a:p>
        </p:txBody>
      </p:sp>
      <p:sp>
        <p:nvSpPr>
          <p:cNvPr id="6" name="TextBox 5"/>
          <p:cNvSpPr txBox="1"/>
          <p:nvPr/>
        </p:nvSpPr>
        <p:spPr>
          <a:xfrm>
            <a:off x="6400800" y="1527048"/>
            <a:ext cx="1645920" cy="365760"/>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Nurses</a:t>
            </a:r>
          </a:p>
        </p:txBody>
      </p:sp>
      <p:sp>
        <p:nvSpPr>
          <p:cNvPr id="7" name="TextBox 6"/>
          <p:cNvSpPr txBox="1"/>
          <p:nvPr/>
        </p:nvSpPr>
        <p:spPr>
          <a:xfrm>
            <a:off x="8138160" y="1527048"/>
            <a:ext cx="1737360" cy="365760"/>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Social workers</a:t>
            </a:r>
          </a:p>
        </p:txBody>
      </p:sp>
      <p:sp>
        <p:nvSpPr>
          <p:cNvPr id="8" name="TextBox 7"/>
          <p:cNvSpPr txBox="1"/>
          <p:nvPr/>
        </p:nvSpPr>
        <p:spPr>
          <a:xfrm>
            <a:off x="9966960" y="1527048"/>
            <a:ext cx="1554480" cy="365760"/>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Counselors</a:t>
            </a:r>
          </a:p>
        </p:txBody>
      </p:sp>
      <p:cxnSp>
        <p:nvCxnSpPr>
          <p:cNvPr id="9" name="Connector 8"/>
          <p:cNvCxnSpPr/>
          <p:nvPr/>
        </p:nvCxnSpPr>
        <p:spPr>
          <a:xfrm>
            <a:off x="822960" y="1911095"/>
            <a:ext cx="1069848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2020824"/>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Female (%)</a:t>
            </a:r>
          </a:p>
        </p:txBody>
      </p:sp>
      <p:sp>
        <p:nvSpPr>
          <p:cNvPr id="11" name="TextBox 10"/>
          <p:cNvSpPr txBox="1"/>
          <p:nvPr/>
        </p:nvSpPr>
        <p:spPr>
          <a:xfrm>
            <a:off x="4663440" y="202082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76.0</a:t>
            </a:r>
          </a:p>
        </p:txBody>
      </p:sp>
      <p:sp>
        <p:nvSpPr>
          <p:cNvPr id="12" name="TextBox 11"/>
          <p:cNvSpPr txBox="1"/>
          <p:nvPr/>
        </p:nvSpPr>
        <p:spPr>
          <a:xfrm>
            <a:off x="6400800" y="202082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88.2</a:t>
            </a:r>
          </a:p>
        </p:txBody>
      </p:sp>
      <p:sp>
        <p:nvSpPr>
          <p:cNvPr id="13" name="TextBox 12"/>
          <p:cNvSpPr txBox="1"/>
          <p:nvPr/>
        </p:nvSpPr>
        <p:spPr>
          <a:xfrm>
            <a:off x="8138160" y="2020824"/>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82.9</a:t>
            </a:r>
          </a:p>
        </p:txBody>
      </p:sp>
      <p:sp>
        <p:nvSpPr>
          <p:cNvPr id="14" name="TextBox 13"/>
          <p:cNvSpPr txBox="1"/>
          <p:nvPr/>
        </p:nvSpPr>
        <p:spPr>
          <a:xfrm>
            <a:off x="9966960" y="2020824"/>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76.2</a:t>
            </a:r>
          </a:p>
        </p:txBody>
      </p:sp>
      <p:sp>
        <p:nvSpPr>
          <p:cNvPr id="15" name="TextBox 14"/>
          <p:cNvSpPr txBox="1"/>
          <p:nvPr/>
        </p:nvSpPr>
        <p:spPr>
          <a:xfrm>
            <a:off x="822960" y="2386584"/>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Average age (years)</a:t>
            </a:r>
          </a:p>
        </p:txBody>
      </p:sp>
      <p:sp>
        <p:nvSpPr>
          <p:cNvPr id="16" name="TextBox 15"/>
          <p:cNvSpPr txBox="1"/>
          <p:nvPr/>
        </p:nvSpPr>
        <p:spPr>
          <a:xfrm>
            <a:off x="4663440" y="238658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44.4</a:t>
            </a:r>
          </a:p>
        </p:txBody>
      </p:sp>
      <p:sp>
        <p:nvSpPr>
          <p:cNvPr id="17" name="TextBox 16"/>
          <p:cNvSpPr txBox="1"/>
          <p:nvPr/>
        </p:nvSpPr>
        <p:spPr>
          <a:xfrm>
            <a:off x="6400800" y="238658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43.1</a:t>
            </a:r>
          </a:p>
        </p:txBody>
      </p:sp>
      <p:sp>
        <p:nvSpPr>
          <p:cNvPr id="18" name="TextBox 17"/>
          <p:cNvSpPr txBox="1"/>
          <p:nvPr/>
        </p:nvSpPr>
        <p:spPr>
          <a:xfrm>
            <a:off x="8138160" y="2386584"/>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43.4</a:t>
            </a:r>
          </a:p>
        </p:txBody>
      </p:sp>
      <p:sp>
        <p:nvSpPr>
          <p:cNvPr id="19" name="TextBox 18"/>
          <p:cNvSpPr txBox="1"/>
          <p:nvPr/>
        </p:nvSpPr>
        <p:spPr>
          <a:xfrm>
            <a:off x="9966960" y="2386584"/>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43.2</a:t>
            </a:r>
          </a:p>
        </p:txBody>
      </p:sp>
      <p:sp>
        <p:nvSpPr>
          <p:cNvPr id="20" name="TextBox 19"/>
          <p:cNvSpPr txBox="1"/>
          <p:nvPr/>
        </p:nvSpPr>
        <p:spPr>
          <a:xfrm>
            <a:off x="822960" y="2752344"/>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Master’s or higher (%)</a:t>
            </a:r>
          </a:p>
        </p:txBody>
      </p:sp>
      <p:sp>
        <p:nvSpPr>
          <p:cNvPr id="21" name="TextBox 20"/>
          <p:cNvSpPr txBox="1"/>
          <p:nvPr/>
        </p:nvSpPr>
        <p:spPr>
          <a:xfrm>
            <a:off x="4663440" y="275234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51.9</a:t>
            </a:r>
          </a:p>
        </p:txBody>
      </p:sp>
      <p:sp>
        <p:nvSpPr>
          <p:cNvPr id="22" name="TextBox 21"/>
          <p:cNvSpPr txBox="1"/>
          <p:nvPr/>
        </p:nvSpPr>
        <p:spPr>
          <a:xfrm>
            <a:off x="6400800" y="275234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25.9</a:t>
            </a:r>
          </a:p>
        </p:txBody>
      </p:sp>
      <p:sp>
        <p:nvSpPr>
          <p:cNvPr id="23" name="TextBox 22"/>
          <p:cNvSpPr txBox="1"/>
          <p:nvPr/>
        </p:nvSpPr>
        <p:spPr>
          <a:xfrm>
            <a:off x="8138160" y="2752344"/>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50.8</a:t>
            </a:r>
          </a:p>
        </p:txBody>
      </p:sp>
      <p:sp>
        <p:nvSpPr>
          <p:cNvPr id="24" name="TextBox 23"/>
          <p:cNvSpPr txBox="1"/>
          <p:nvPr/>
        </p:nvSpPr>
        <p:spPr>
          <a:xfrm>
            <a:off x="9966960" y="2752344"/>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67.8</a:t>
            </a:r>
          </a:p>
        </p:txBody>
      </p:sp>
      <p:sp>
        <p:nvSpPr>
          <p:cNvPr id="25" name="TextBox 24"/>
          <p:cNvSpPr txBox="1"/>
          <p:nvPr/>
        </p:nvSpPr>
        <p:spPr>
          <a:xfrm>
            <a:off x="822960" y="3118103"/>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Public sector (%)</a:t>
            </a:r>
          </a:p>
        </p:txBody>
      </p:sp>
      <p:sp>
        <p:nvSpPr>
          <p:cNvPr id="26" name="TextBox 25"/>
          <p:cNvSpPr txBox="1"/>
          <p:nvPr/>
        </p:nvSpPr>
        <p:spPr>
          <a:xfrm>
            <a:off x="4663440" y="3118103"/>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70.2</a:t>
            </a:r>
          </a:p>
        </p:txBody>
      </p:sp>
      <p:sp>
        <p:nvSpPr>
          <p:cNvPr id="27" name="TextBox 26"/>
          <p:cNvSpPr txBox="1"/>
          <p:nvPr/>
        </p:nvSpPr>
        <p:spPr>
          <a:xfrm>
            <a:off x="6400800" y="3118103"/>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12.3</a:t>
            </a:r>
          </a:p>
        </p:txBody>
      </p:sp>
      <p:sp>
        <p:nvSpPr>
          <p:cNvPr id="28" name="TextBox 27"/>
          <p:cNvSpPr txBox="1"/>
          <p:nvPr/>
        </p:nvSpPr>
        <p:spPr>
          <a:xfrm>
            <a:off x="8138160" y="3118103"/>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43.1</a:t>
            </a:r>
          </a:p>
        </p:txBody>
      </p:sp>
      <p:sp>
        <p:nvSpPr>
          <p:cNvPr id="29" name="TextBox 28"/>
          <p:cNvSpPr txBox="1"/>
          <p:nvPr/>
        </p:nvSpPr>
        <p:spPr>
          <a:xfrm>
            <a:off x="9966960" y="3118103"/>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36.7</a:t>
            </a:r>
          </a:p>
        </p:txBody>
      </p:sp>
      <p:sp>
        <p:nvSpPr>
          <p:cNvPr id="30" name="TextBox 29"/>
          <p:cNvSpPr txBox="1"/>
          <p:nvPr/>
        </p:nvSpPr>
        <p:spPr>
          <a:xfrm>
            <a:off x="822960" y="3483863"/>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Weeks worked</a:t>
            </a:r>
          </a:p>
        </p:txBody>
      </p:sp>
      <p:sp>
        <p:nvSpPr>
          <p:cNvPr id="31" name="TextBox 30"/>
          <p:cNvSpPr txBox="1"/>
          <p:nvPr/>
        </p:nvSpPr>
        <p:spPr>
          <a:xfrm>
            <a:off x="4663440" y="3483863"/>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46.6</a:t>
            </a:r>
          </a:p>
        </p:txBody>
      </p:sp>
      <p:sp>
        <p:nvSpPr>
          <p:cNvPr id="32" name="TextBox 31"/>
          <p:cNvSpPr txBox="1"/>
          <p:nvPr/>
        </p:nvSpPr>
        <p:spPr>
          <a:xfrm>
            <a:off x="6400800" y="3483863"/>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49.3</a:t>
            </a:r>
          </a:p>
        </p:txBody>
      </p:sp>
      <p:sp>
        <p:nvSpPr>
          <p:cNvPr id="33" name="TextBox 32"/>
          <p:cNvSpPr txBox="1"/>
          <p:nvPr/>
        </p:nvSpPr>
        <p:spPr>
          <a:xfrm>
            <a:off x="8138160" y="3483863"/>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49.6</a:t>
            </a:r>
          </a:p>
        </p:txBody>
      </p:sp>
      <p:sp>
        <p:nvSpPr>
          <p:cNvPr id="34" name="TextBox 33"/>
          <p:cNvSpPr txBox="1"/>
          <p:nvPr/>
        </p:nvSpPr>
        <p:spPr>
          <a:xfrm>
            <a:off x="9966960" y="3483863"/>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48.5</a:t>
            </a:r>
          </a:p>
        </p:txBody>
      </p:sp>
      <p:sp>
        <p:nvSpPr>
          <p:cNvPr id="35" name="TextBox 34"/>
          <p:cNvSpPr txBox="1"/>
          <p:nvPr/>
        </p:nvSpPr>
        <p:spPr>
          <a:xfrm>
            <a:off x="822960" y="3849624"/>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Median annual wage ($)</a:t>
            </a:r>
          </a:p>
        </p:txBody>
      </p:sp>
      <p:sp>
        <p:nvSpPr>
          <p:cNvPr id="36" name="TextBox 35"/>
          <p:cNvSpPr txBox="1"/>
          <p:nvPr/>
        </p:nvSpPr>
        <p:spPr>
          <a:xfrm>
            <a:off x="4663440" y="384962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56,000</a:t>
            </a:r>
          </a:p>
        </p:txBody>
      </p:sp>
      <p:sp>
        <p:nvSpPr>
          <p:cNvPr id="37" name="TextBox 36"/>
          <p:cNvSpPr txBox="1"/>
          <p:nvPr/>
        </p:nvSpPr>
        <p:spPr>
          <a:xfrm>
            <a:off x="6400800" y="3849624"/>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80,000</a:t>
            </a:r>
          </a:p>
        </p:txBody>
      </p:sp>
      <p:sp>
        <p:nvSpPr>
          <p:cNvPr id="38" name="TextBox 37"/>
          <p:cNvSpPr txBox="1"/>
          <p:nvPr/>
        </p:nvSpPr>
        <p:spPr>
          <a:xfrm>
            <a:off x="8138160" y="3849624"/>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57,000</a:t>
            </a:r>
          </a:p>
        </p:txBody>
      </p:sp>
      <p:sp>
        <p:nvSpPr>
          <p:cNvPr id="39" name="TextBox 38"/>
          <p:cNvSpPr txBox="1"/>
          <p:nvPr/>
        </p:nvSpPr>
        <p:spPr>
          <a:xfrm>
            <a:off x="9966960" y="3849624"/>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55,000</a:t>
            </a:r>
          </a:p>
        </p:txBody>
      </p:sp>
      <p:cxnSp>
        <p:nvCxnSpPr>
          <p:cNvPr id="40" name="Connector 39"/>
          <p:cNvCxnSpPr/>
          <p:nvPr/>
        </p:nvCxnSpPr>
        <p:spPr>
          <a:xfrm>
            <a:off x="822960" y="4233672"/>
            <a:ext cx="1069848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22960" y="4343400"/>
            <a:ext cx="3657600" cy="3657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Observations</a:t>
            </a:r>
          </a:p>
        </p:txBody>
      </p:sp>
      <p:sp>
        <p:nvSpPr>
          <p:cNvPr id="42" name="TextBox 41"/>
          <p:cNvSpPr txBox="1"/>
          <p:nvPr/>
        </p:nvSpPr>
        <p:spPr>
          <a:xfrm>
            <a:off x="4663440" y="4343400"/>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28,932</a:t>
            </a:r>
          </a:p>
        </p:txBody>
      </p:sp>
      <p:sp>
        <p:nvSpPr>
          <p:cNvPr id="43" name="TextBox 42"/>
          <p:cNvSpPr txBox="1"/>
          <p:nvPr/>
        </p:nvSpPr>
        <p:spPr>
          <a:xfrm>
            <a:off x="6400800" y="4343400"/>
            <a:ext cx="164592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13,107</a:t>
            </a:r>
          </a:p>
        </p:txBody>
      </p:sp>
      <p:sp>
        <p:nvSpPr>
          <p:cNvPr id="44" name="TextBox 43"/>
          <p:cNvSpPr txBox="1"/>
          <p:nvPr/>
        </p:nvSpPr>
        <p:spPr>
          <a:xfrm>
            <a:off x="8138160" y="4343400"/>
            <a:ext cx="173736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3,407</a:t>
            </a:r>
          </a:p>
        </p:txBody>
      </p:sp>
      <p:sp>
        <p:nvSpPr>
          <p:cNvPr id="45" name="TextBox 44"/>
          <p:cNvSpPr txBox="1"/>
          <p:nvPr/>
        </p:nvSpPr>
        <p:spPr>
          <a:xfrm>
            <a:off x="9966960" y="4343400"/>
            <a:ext cx="1554480" cy="365760"/>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3,962</a:t>
            </a:r>
          </a:p>
        </p:txBody>
      </p:sp>
      <p:cxnSp>
        <p:nvCxnSpPr>
          <p:cNvPr id="46" name="Connector 45"/>
          <p:cNvCxnSpPr/>
          <p:nvPr/>
        </p:nvCxnSpPr>
        <p:spPr>
          <a:xfrm>
            <a:off x="822960" y="4745736"/>
            <a:ext cx="106984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22960" y="4855464"/>
            <a:ext cx="10789920" cy="365760"/>
          </a:xfrm>
          <a:prstGeom prst="rect">
            <a:avLst/>
          </a:prstGeom>
          <a:noFill/>
        </p:spPr>
        <p:txBody>
          <a:bodyPr wrap="square" lIns="0" rIns="0" tIns="0" bIns="0">
            <a:spAutoFit/>
          </a:bodyPr>
          <a:lstStyle/>
          <a:p>
            <a:pPr algn="l">
              <a:lnSpc>
                <a:spcPts val="1600"/>
              </a:lnSpc>
              <a:spcAft>
                <a:spcPts val="0"/>
              </a:spcAft>
            </a:pPr>
            <a:r>
              <a:rPr sz="1250" b="0" i="1">
                <a:solidFill>
                  <a:srgbClr val="6B7480"/>
                </a:solidFill>
                <a:latin typeface="Garamond"/>
              </a:rPr>
              <a:t>College graduates, pooled 2015–2024, weighted; wages from 2020–2024.</a:t>
            </a:r>
          </a:p>
        </p:txBody>
      </p:sp>
      <p:sp>
        <p:nvSpPr>
          <p:cNvPr id="48" name="TextBox 47"/>
          <p:cNvSpPr txBox="1"/>
          <p:nvPr/>
        </p:nvSpPr>
        <p:spPr>
          <a:xfrm>
            <a:off x="822960" y="598932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Teaching is similar to counseling in gender and pay, and to social work in age and education. What sets teaching apart is the public sector and the shorter work year.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the occupation, by profession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16</a:t>
            </a:r>
          </a:p>
        </p:txBody>
      </p:sp>
      <p:pic>
        <p:nvPicPr>
          <p:cNvPr id="4" name="Picture 3" descr="leave_professions_deck.png"/>
          <p:cNvPicPr>
            <a:picLocks noChangeAspect="1"/>
          </p:cNvPicPr>
          <p:nvPr/>
        </p:nvPicPr>
        <p:blipFill>
          <a:blip r:embed="rId2"/>
          <a:stretch>
            <a:fillRect/>
          </a:stretch>
        </p:blipFill>
        <p:spPr>
          <a:xfrm>
            <a:off x="1645920" y="1097280"/>
            <a:ext cx="8869680"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Teachers leave at rates similar to or below the comparable professions. The distinctive part of teaching is who leaves and where they go, not how many.</a:t>
            </a:r>
          </a:p>
        </p:txBody>
      </p:sp>
      <p:sp>
        <p:nvSpPr>
          <p:cNvPr id="6" name="Rounded Rectangle 5">
            <a:hlinkClick action="ppaction://hlinksldjump" r:id="rId3"/>
          </p:cNvPr>
          <p:cNvSpPr/>
          <p:nvPr/>
        </p:nvSpPr>
        <p:spPr>
          <a:xfrm>
            <a:off x="822960" y="6327648"/>
            <a:ext cx="2168956"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More professions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40280"/>
            <a:ext cx="10360152" cy="1188720"/>
          </a:xfrm>
          <a:prstGeom prst="rect">
            <a:avLst/>
          </a:prstGeom>
          <a:noFill/>
        </p:spPr>
        <p:txBody>
          <a:bodyPr wrap="square" lIns="0" rIns="0" tIns="0" bIns="0">
            <a:spAutoFit/>
          </a:bodyPr>
          <a:lstStyle/>
          <a:p>
            <a:pPr algn="ctr">
              <a:lnSpc>
                <a:spcPts val="7680"/>
              </a:lnSpc>
              <a:spcAft>
                <a:spcPts val="0"/>
              </a:spcAft>
            </a:pPr>
            <a:r>
              <a:rPr sz="6000" b="1" i="0">
                <a:solidFill>
                  <a:srgbClr val="FFFFFF"/>
                </a:solidFill>
                <a:latin typeface="Garamond"/>
              </a:rPr>
              <a:t>2</a:t>
            </a:r>
          </a:p>
        </p:txBody>
      </p:sp>
      <p:sp>
        <p:nvSpPr>
          <p:cNvPr id="4" name="TextBox 3"/>
          <p:cNvSpPr txBox="1"/>
          <p:nvPr/>
        </p:nvSpPr>
        <p:spPr>
          <a:xfrm>
            <a:off x="914400" y="3703320"/>
            <a:ext cx="10360152" cy="731520"/>
          </a:xfrm>
          <a:prstGeom prst="rect">
            <a:avLst/>
          </a:prstGeom>
          <a:noFill/>
        </p:spPr>
        <p:txBody>
          <a:bodyPr wrap="square" lIns="0" rIns="0" tIns="0" bIns="0">
            <a:spAutoFit/>
          </a:bodyPr>
          <a:lstStyle/>
          <a:p>
            <a:pPr algn="ctr">
              <a:lnSpc>
                <a:spcPts val="3584"/>
              </a:lnSpc>
              <a:spcAft>
                <a:spcPts val="0"/>
              </a:spcAft>
            </a:pPr>
            <a:r>
              <a:rPr sz="2800" b="0" i="0">
                <a:solidFill>
                  <a:srgbClr val="D7E3F2"/>
                </a:solidFill>
                <a:latin typeface="Garamond"/>
              </a:rPr>
              <a:t>Composition: where they go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Of every 100 leavers (average, 2020–2024)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18</a:t>
            </a:r>
          </a:p>
        </p:txBody>
      </p:sp>
      <p:pic>
        <p:nvPicPr>
          <p:cNvPr id="4" name="Picture 3" descr="flow_employed_5yr.png"/>
          <p:cNvPicPr>
            <a:picLocks noChangeAspect="1"/>
          </p:cNvPicPr>
          <p:nvPr/>
        </p:nvPicPr>
        <p:blipFill>
          <a:blip r:embed="rId2"/>
          <a:stretch>
            <a:fillRect/>
          </a:stretch>
        </p:blipFill>
        <p:spPr>
          <a:xfrm>
            <a:off x="1357685" y="1051560"/>
            <a:ext cx="9446149" cy="452628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A third find another job, a third retire, and the rest split between early labor-force exit and unemployment.</a:t>
            </a:r>
          </a:p>
        </p:txBody>
      </p:sp>
      <p:sp>
        <p:nvSpPr>
          <p:cNvPr id="6" name="Rounded Rectangle 5">
            <a:hlinkClick action="ppaction://hlinksldjump" r:id="rId3"/>
          </p:cNvPr>
          <p:cNvSpPr/>
          <p:nvPr/>
        </p:nvSpPr>
        <p:spPr>
          <a:xfrm>
            <a:off x="822960" y="6327648"/>
            <a:ext cx="226679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Vs NCES follow-up</a:t>
            </a:r>
          </a:p>
        </p:txBody>
      </p:sp>
      <p:sp>
        <p:nvSpPr>
          <p:cNvPr id="7" name="Rounded Rectangle 6">
            <a:hlinkClick action="ppaction://hlinksldjump" r:id="rId4"/>
          </p:cNvPr>
          <p:cNvSpPr/>
          <p:nvPr/>
        </p:nvSpPr>
        <p:spPr>
          <a:xfrm>
            <a:off x="3236061" y="6327648"/>
            <a:ext cx="1973275"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Pooled 1997–24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Where the employed leavers go</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19</a:t>
            </a:r>
          </a:p>
        </p:txBody>
      </p:sp>
      <p:pic>
        <p:nvPicPr>
          <p:cNvPr id="4" name="Picture 3" descr="occ_all_slide.png"/>
          <p:cNvPicPr>
            <a:picLocks noChangeAspect="1"/>
          </p:cNvPicPr>
          <p:nvPr/>
        </p:nvPicPr>
        <p:blipFill>
          <a:blip r:embed="rId2"/>
          <a:stretch>
            <a:fillRect/>
          </a:stretch>
        </p:blipFill>
        <p:spPr>
          <a:xfrm>
            <a:off x="775562" y="1024128"/>
            <a:ext cx="10610395" cy="4663440"/>
          </a:xfrm>
          <a:prstGeom prst="rect">
            <a:avLst/>
          </a:prstGeom>
        </p:spPr>
      </p:pic>
      <p:sp>
        <p:nvSpPr>
          <p:cNvPr id="5" name="TextBox 4"/>
          <p:cNvSpPr txBox="1"/>
          <p:nvPr/>
        </p:nvSpPr>
        <p:spPr>
          <a:xfrm>
            <a:off x="822960" y="576072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More than a third of the employed leavers move to occupations where most workers hold no college degree (in red). Leaving teaching usually means leaving the profession, not moving up.</a:t>
            </a:r>
          </a:p>
        </p:txBody>
      </p:sp>
      <p:sp>
        <p:nvSpPr>
          <p:cNvPr id="6" name="Rounded Rectangle 5">
            <a:hlinkClick action="ppaction://hlinksldjump" r:id="rId3"/>
          </p:cNvPr>
          <p:cNvSpPr/>
          <p:nvPr/>
        </p:nvSpPr>
        <p:spPr>
          <a:xfrm>
            <a:off x="822960" y="6327648"/>
            <a:ext cx="1679752"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Proportions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Who leaves the labor force before 55 (average, 2020–2024)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20</a:t>
            </a:r>
          </a:p>
        </p:txBody>
      </p:sp>
      <p:pic>
        <p:nvPicPr>
          <p:cNvPr id="4" name="Picture 3" descr="flow_olf55_5yr.png"/>
          <p:cNvPicPr>
            <a:picLocks noChangeAspect="1"/>
          </p:cNvPicPr>
          <p:nvPr/>
        </p:nvPicPr>
        <p:blipFill>
          <a:blip r:embed="rId2"/>
          <a:stretch>
            <a:fillRect/>
          </a:stretch>
        </p:blipFill>
        <p:spPr>
          <a:xfrm>
            <a:off x="1357685" y="1051560"/>
            <a:ext cx="9446149" cy="452628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Early labor-force exit is mostly a family story. More than half of this group are mothers with a child at home.</a:t>
            </a:r>
          </a:p>
        </p:txBody>
      </p:sp>
      <p:sp>
        <p:nvSpPr>
          <p:cNvPr id="6" name="Rounded Rectangle 5">
            <a:hlinkClick action="ppaction://hlinksldjump" r:id="rId3"/>
          </p:cNvPr>
          <p:cNvSpPr/>
          <p:nvPr/>
        </p:nvSpPr>
        <p:spPr>
          <a:xfrm>
            <a:off x="822960" y="6327648"/>
            <a:ext cx="1973275"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Pooled 1997–24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And the youngest of them leave to study</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21</a:t>
            </a:r>
          </a:p>
        </p:txBody>
      </p:sp>
      <p:pic>
        <p:nvPicPr>
          <p:cNvPr id="4" name="Picture 3" descr="study_bygroup.png"/>
          <p:cNvPicPr>
            <a:picLocks noChangeAspect="1"/>
          </p:cNvPicPr>
          <p:nvPr/>
        </p:nvPicPr>
        <p:blipFill>
          <a:blip r:embed="rId2"/>
          <a:stretch>
            <a:fillRect/>
          </a:stretch>
        </p:blipFill>
        <p:spPr>
          <a:xfrm>
            <a:off x="1357685" y="1051560"/>
            <a:ext cx="9446149" cy="452628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Studying is the exit of the young and the childless, not of the mothers. Among leavers under 30, almost half are enrolled in school.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What this says for policy: three margins, quantified</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22</a:t>
            </a:r>
          </a:p>
        </p:txBody>
      </p:sp>
      <p:sp>
        <p:nvSpPr>
          <p:cNvPr id="4" name="TextBox 3"/>
          <p:cNvSpPr txBox="1"/>
          <p:nvPr/>
        </p:nvSpPr>
        <p:spPr>
          <a:xfrm>
            <a:off x="822960" y="123444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Retirees </a:t>
            </a:r>
            <a:r>
              <a:rPr sz="1800" b="0" i="0">
                <a:solidFill>
                  <a:srgbClr val="6B7480"/>
                </a:solidFill>
                <a:latin typeface="Garamond"/>
              </a:rPr>
              <a:t>(out of the labor force, over 55)</a:t>
            </a:r>
          </a:p>
        </p:txBody>
      </p:sp>
      <p:sp>
        <p:nvSpPr>
          <p:cNvPr id="5" name="TextBox 4"/>
          <p:cNvSpPr txBox="1"/>
          <p:nvPr/>
        </p:nvSpPr>
        <p:spPr>
          <a:xfrm>
            <a:off x="822960" y="1737360"/>
            <a:ext cx="10789920" cy="91440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3% of teachers retire each year, a third of all exits. Delaying retirement extends careers but does not reintegrate anyone.</a:t>
            </a:r>
          </a:p>
        </p:txBody>
      </p:sp>
      <p:sp>
        <p:nvSpPr>
          <p:cNvPr id="6" name="TextBox 5"/>
          <p:cNvSpPr txBox="1"/>
          <p:nvPr/>
        </p:nvSpPr>
        <p:spPr>
          <a:xfrm>
            <a:off x="822960" y="283464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Switchers </a:t>
            </a:r>
            <a:r>
              <a:rPr sz="1800" b="0" i="0">
                <a:solidFill>
                  <a:srgbClr val="6B7480"/>
                </a:solidFill>
                <a:latin typeface="Garamond"/>
              </a:rPr>
              <a:t>(employed in another job)</a:t>
            </a:r>
          </a:p>
        </p:txBody>
      </p:sp>
      <p:sp>
        <p:nvSpPr>
          <p:cNvPr id="7" name="TextBox 6"/>
          <p:cNvSpPr txBox="1"/>
          <p:nvPr/>
        </p:nvSpPr>
        <p:spPr>
          <a:xfrm>
            <a:off x="822960" y="3337560"/>
            <a:ext cx="10789920" cy="91440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2% move to another job each year, often to jobs that do not require a degree. A real margin, but shortages cannot be closed through retention alone.</a:t>
            </a:r>
          </a:p>
        </p:txBody>
      </p:sp>
      <p:sp>
        <p:nvSpPr>
          <p:cNvPr id="8" name="TextBox 7"/>
          <p:cNvSpPr txBox="1"/>
          <p:nvPr/>
        </p:nvSpPr>
        <p:spPr>
          <a:xfrm>
            <a:off x="822960" y="452628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Early exits </a:t>
            </a:r>
            <a:r>
              <a:rPr sz="1800" b="0" i="0">
                <a:solidFill>
                  <a:srgbClr val="6B7480"/>
                </a:solidFill>
                <a:latin typeface="Garamond"/>
              </a:rPr>
              <a:t>(out of the labor force, under 55)</a:t>
            </a:r>
          </a:p>
        </p:txBody>
      </p:sp>
      <p:sp>
        <p:nvSpPr>
          <p:cNvPr id="9" name="TextBox 8"/>
          <p:cNvSpPr txBox="1"/>
          <p:nvPr/>
        </p:nvSpPr>
        <p:spPr>
          <a:xfrm>
            <a:off x="822960" y="5029200"/>
            <a:ext cx="10789920" cy="1097280"/>
          </a:xfrm>
          <a:prstGeom prst="rect">
            <a:avLst/>
          </a:prstGeom>
          <a:noFill/>
        </p:spPr>
        <p:txBody>
          <a:bodyPr wrap="square" lIns="0" rIns="0" tIns="0" bIns="0">
            <a:spAutoFit/>
          </a:bodyPr>
          <a:lstStyle/>
          <a:p>
            <a:pPr algn="l">
              <a:lnSpc>
                <a:spcPts val="2432"/>
              </a:lnSpc>
              <a:spcAft>
                <a:spcPts val="0"/>
              </a:spcAft>
            </a:pPr>
            <a:r>
              <a:rPr sz="1900" b="0" i="0">
                <a:solidFill>
                  <a:srgbClr val="212529"/>
                </a:solidFill>
                <a:latin typeface="Garamond"/>
              </a:rPr>
              <a:t>About 2% leave the labor force before 55 each year. Most are mothers at home, for whom flexibility may be the missing piece. The young and childless leave to study and need re-entry paths.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over the life cycle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23</a:t>
            </a:r>
          </a:p>
        </p:txBody>
      </p:sp>
      <p:pic>
        <p:nvPicPr>
          <p:cNvPr id="4" name="Picture 3" descr="u_routes_deck.png"/>
          <p:cNvPicPr>
            <a:picLocks noChangeAspect="1"/>
          </p:cNvPicPr>
          <p:nvPr/>
        </p:nvPicPr>
        <p:blipFill>
          <a:blip r:embed="rId2"/>
          <a:stretch>
            <a:fillRect/>
          </a:stretch>
        </p:blipFill>
        <p:spPr>
          <a:xfrm>
            <a:off x="640080" y="1501140"/>
            <a:ext cx="10881360" cy="362712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The risk of leaving is highest at the two ends of the career. The young leave for other jobs; the old leave the labor force.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40280"/>
            <a:ext cx="10360152" cy="1188720"/>
          </a:xfrm>
          <a:prstGeom prst="rect">
            <a:avLst/>
          </a:prstGeom>
          <a:noFill/>
        </p:spPr>
        <p:txBody>
          <a:bodyPr wrap="square" lIns="0" rIns="0" tIns="0" bIns="0">
            <a:spAutoFit/>
          </a:bodyPr>
          <a:lstStyle/>
          <a:p>
            <a:pPr algn="ctr">
              <a:lnSpc>
                <a:spcPts val="7680"/>
              </a:lnSpc>
              <a:spcAft>
                <a:spcPts val="0"/>
              </a:spcAft>
            </a:pPr>
            <a:r>
              <a:rPr sz="6000" b="1" i="0">
                <a:solidFill>
                  <a:srgbClr val="FFFFFF"/>
                </a:solidFill>
                <a:latin typeface="Garamond"/>
              </a:rPr>
              <a:t>3</a:t>
            </a:r>
          </a:p>
        </p:txBody>
      </p:sp>
      <p:sp>
        <p:nvSpPr>
          <p:cNvPr id="4" name="TextBox 3"/>
          <p:cNvSpPr txBox="1"/>
          <p:nvPr/>
        </p:nvSpPr>
        <p:spPr>
          <a:xfrm>
            <a:off x="914400" y="3703320"/>
            <a:ext cx="10360152" cy="731520"/>
          </a:xfrm>
          <a:prstGeom prst="rect">
            <a:avLst/>
          </a:prstGeom>
          <a:noFill/>
        </p:spPr>
        <p:txBody>
          <a:bodyPr wrap="square" lIns="0" rIns="0" tIns="0" bIns="0">
            <a:spAutoFit/>
          </a:bodyPr>
          <a:lstStyle/>
          <a:p>
            <a:pPr algn="ctr">
              <a:lnSpc>
                <a:spcPts val="3584"/>
              </a:lnSpc>
              <a:spcAft>
                <a:spcPts val="0"/>
              </a:spcAft>
            </a:pPr>
            <a:r>
              <a:rPr sz="2800" b="0" i="0">
                <a:solidFill>
                  <a:srgbClr val="D7E3F2"/>
                </a:solidFill>
                <a:latin typeface="Garamond"/>
              </a:rPr>
              <a:t>Correlations: why they leave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Specification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25</a:t>
            </a:r>
          </a:p>
        </p:txBody>
      </p:sp>
      <p:pic>
        <p:nvPicPr>
          <p:cNvPr id="4" name="Picture 3" descr="equation3.png"/>
          <p:cNvPicPr>
            <a:picLocks noChangeAspect="1"/>
          </p:cNvPicPr>
          <p:nvPr/>
        </p:nvPicPr>
        <p:blipFill>
          <a:blip r:embed="rId2"/>
          <a:stretch>
            <a:fillRect/>
          </a:stretch>
        </p:blipFill>
        <p:spPr>
          <a:xfrm>
            <a:off x="1920240" y="1183228"/>
            <a:ext cx="8321040" cy="1062543"/>
          </a:xfrm>
          <a:prstGeom prst="rect">
            <a:avLst/>
          </a:prstGeom>
        </p:spPr>
      </p:pic>
      <p:sp>
        <p:nvSpPr>
          <p:cNvPr id="5" name="TextBox 4"/>
          <p:cNvSpPr txBox="1"/>
          <p:nvPr/>
        </p:nvSpPr>
        <p:spPr>
          <a:xfrm>
            <a:off x="1463040" y="2560320"/>
            <a:ext cx="9692640" cy="2926080"/>
          </a:xfrm>
          <a:prstGeom prst="rect">
            <a:avLst/>
          </a:prstGeom>
          <a:noFill/>
        </p:spPr>
        <p:txBody>
          <a:bodyPr wrap="square" lIns="0" rIns="0" tIns="0" bIns="0">
            <a:spAutoFit/>
          </a:bodyPr>
          <a:lstStyle/>
          <a:p>
            <a:pPr algn="l">
              <a:lnSpc>
                <a:spcPts val="1920"/>
              </a:lnSpc>
              <a:spcAft>
                <a:spcPts val="500"/>
              </a:spcAft>
            </a:pPr>
            <a:r>
              <a:rPr sz="1500" b="0" i="0">
                <a:solidFill>
                  <a:srgbClr val="212529"/>
                </a:solidFill>
                <a:latin typeface="Garamond"/>
              </a:rPr>
              <a:t>y:  teacher i left teaching in year t</a:t>
            </a:r>
          </a:p>
          <a:p>
            <a:pPr algn="l">
              <a:lnSpc>
                <a:spcPts val="1920"/>
              </a:lnSpc>
              <a:spcAft>
                <a:spcPts val="500"/>
              </a:spcAft>
            </a:pPr>
            <a:r>
              <a:rPr sz="1500" b="0" i="0">
                <a:solidFill>
                  <a:srgbClr val="212529"/>
                </a:solidFill>
                <a:latin typeface="Garamond"/>
              </a:rPr>
              <a:t>a:  job attachment (full-year contract, part-time contract)</a:t>
            </a:r>
          </a:p>
          <a:p>
            <a:pPr algn="l">
              <a:lnSpc>
                <a:spcPts val="1920"/>
              </a:lnSpc>
              <a:spcAft>
                <a:spcPts val="500"/>
              </a:spcAft>
            </a:pPr>
            <a:r>
              <a:rPr sz="1500" b="0" i="0">
                <a:solidFill>
                  <a:srgbClr val="212529"/>
                </a:solidFill>
                <a:latin typeface="Garamond"/>
              </a:rPr>
              <a:t>c:  pay and security (pension plan, public sector, bottom-quartile household income)</a:t>
            </a:r>
          </a:p>
          <a:p>
            <a:pPr algn="l">
              <a:lnSpc>
                <a:spcPts val="1920"/>
              </a:lnSpc>
              <a:spcAft>
                <a:spcPts val="500"/>
              </a:spcAft>
            </a:pPr>
            <a:r>
              <a:rPr sz="1500" b="0" i="0">
                <a:solidFill>
                  <a:srgbClr val="212529"/>
                </a:solidFill>
                <a:latin typeface="Garamond"/>
              </a:rPr>
              <a:t>f:  family (new baby, children, marital status)</a:t>
            </a:r>
          </a:p>
          <a:p>
            <a:pPr algn="l">
              <a:lnSpc>
                <a:spcPts val="1920"/>
              </a:lnSpc>
              <a:spcAft>
                <a:spcPts val="500"/>
              </a:spcAft>
            </a:pPr>
            <a:r>
              <a:rPr sz="1500" b="0" i="0">
                <a:solidFill>
                  <a:srgbClr val="212529"/>
                </a:solidFill>
                <a:latin typeface="Garamond"/>
              </a:rPr>
              <a:t>h:  health (self-reported health, disability)</a:t>
            </a:r>
          </a:p>
          <a:p>
            <a:pPr algn="l">
              <a:lnSpc>
                <a:spcPts val="1920"/>
              </a:lnSpc>
              <a:spcAft>
                <a:spcPts val="500"/>
              </a:spcAft>
            </a:pPr>
            <a:r>
              <a:rPr sz="1500" b="0" i="0">
                <a:solidFill>
                  <a:srgbClr val="212529"/>
                </a:solidFill>
                <a:latin typeface="Garamond"/>
              </a:rPr>
              <a:t>d:  demographics (age, sex, race, education)</a:t>
            </a:r>
          </a:p>
          <a:p>
            <a:pPr algn="l">
              <a:lnSpc>
                <a:spcPts val="1920"/>
              </a:lnSpc>
              <a:spcAft>
                <a:spcPts val="0"/>
              </a:spcAft>
            </a:pPr>
            <a:r>
              <a:rPr sz="1500" b="0" i="0">
                <a:solidFill>
                  <a:srgbClr val="212529"/>
                </a:solidFill>
                <a:latin typeface="Garamond"/>
              </a:rPr>
              <a:t>δt:  year fixed effects (state FE variant in the appendix)</a:t>
            </a:r>
          </a:p>
        </p:txBody>
      </p:sp>
      <p:sp>
        <p:nvSpPr>
          <p:cNvPr id="6" name="TextBox 5"/>
          <p:cNvSpPr txBox="1"/>
          <p:nvPr/>
        </p:nvSpPr>
        <p:spPr>
          <a:xfrm>
            <a:off x="1463040" y="5623560"/>
            <a:ext cx="9692640" cy="41148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Probit, average marginal effects, robust standard errors. 2018–2024, n = 18,571.</a:t>
            </a:r>
          </a:p>
        </p:txBody>
      </p:sp>
      <p:sp>
        <p:nvSpPr>
          <p:cNvPr id="7" name="Rounded Rectangle 6">
            <a:hlinkClick action="ppaction://hlinksldjump" r:id="rId3"/>
          </p:cNvPr>
          <p:cNvSpPr/>
          <p:nvPr/>
        </p:nvSpPr>
        <p:spPr>
          <a:xfrm>
            <a:off x="822960" y="6327648"/>
            <a:ext cx="897026"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LPM</a:t>
            </a:r>
          </a:p>
        </p:txBody>
      </p:sp>
      <p:sp>
        <p:nvSpPr>
          <p:cNvPr id="8" name="Rounded Rectangle 7">
            <a:hlinkClick action="ppaction://hlinksldjump" r:id="rId4"/>
          </p:cNvPr>
          <p:cNvSpPr/>
          <p:nvPr/>
        </p:nvSpPr>
        <p:spPr>
          <a:xfrm>
            <a:off x="1866290" y="6327648"/>
            <a:ext cx="1973275"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Logit / probit</a:t>
            </a:r>
          </a:p>
        </p:txBody>
      </p:sp>
      <p:sp>
        <p:nvSpPr>
          <p:cNvPr id="9" name="Rounded Rectangle 8">
            <a:hlinkClick action="ppaction://hlinksldjump" r:id="rId5"/>
          </p:cNvPr>
          <p:cNvSpPr/>
          <p:nvPr/>
        </p:nvSpPr>
        <p:spPr>
          <a:xfrm>
            <a:off x="3985869" y="6327648"/>
            <a:ext cx="1386230"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Bounded?</a:t>
            </a:r>
          </a:p>
        </p:txBody>
      </p:sp>
      <p:sp>
        <p:nvSpPr>
          <p:cNvPr id="10" name="Rounded Rectangle 9">
            <a:hlinkClick action="ppaction://hlinksldjump" r:id="rId6"/>
          </p:cNvPr>
          <p:cNvSpPr/>
          <p:nvPr/>
        </p:nvSpPr>
        <p:spPr>
          <a:xfrm>
            <a:off x="5518404" y="6327648"/>
            <a:ext cx="2071116"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What we observe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What correlates with leaving</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26</a:t>
            </a:r>
          </a:p>
        </p:txBody>
      </p:sp>
      <p:pic>
        <p:nvPicPr>
          <p:cNvPr id="4" name="Picture 3" descr="ame_ext.png"/>
          <p:cNvPicPr>
            <a:picLocks noChangeAspect="1"/>
          </p:cNvPicPr>
          <p:nvPr/>
        </p:nvPicPr>
        <p:blipFill>
          <a:blip r:embed="rId2"/>
          <a:stretch>
            <a:fillRect/>
          </a:stretch>
        </p:blipFill>
        <p:spPr>
          <a:xfrm>
            <a:off x="1587500" y="1024128"/>
            <a:ext cx="8986520" cy="55778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Relative pay since 1997</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27</a:t>
            </a:r>
          </a:p>
        </p:txBody>
      </p:sp>
      <p:pic>
        <p:nvPicPr>
          <p:cNvPr id="4" name="Picture 3" descr="msgA3.png"/>
          <p:cNvPicPr>
            <a:picLocks noChangeAspect="1"/>
          </p:cNvPicPr>
          <p:nvPr/>
        </p:nvPicPr>
        <p:blipFill>
          <a:blip r:embed="rId2"/>
          <a:stretch>
            <a:fillRect/>
          </a:stretch>
        </p:blipFill>
        <p:spPr>
          <a:xfrm>
            <a:off x="702337" y="1097280"/>
            <a:ext cx="10756845"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Teacher pay has not grown in 25 years, and neither has it in the closest helping professions. The typical graduate now out-earns a teacher by $30,000 a year.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by position in the teacher pay distribution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28</a:t>
            </a:r>
          </a:p>
        </p:txBody>
      </p:sp>
      <p:pic>
        <p:nvPicPr>
          <p:cNvPr id="4" name="Picture 3" descr="pay3_deciles_deck.png"/>
          <p:cNvPicPr>
            <a:picLocks noChangeAspect="1"/>
          </p:cNvPicPr>
          <p:nvPr/>
        </p:nvPicPr>
        <p:blipFill>
          <a:blip r:embed="rId2"/>
          <a:stretch>
            <a:fillRect/>
          </a:stretch>
        </p:blipFill>
        <p:spPr>
          <a:xfrm>
            <a:off x="1645920" y="1097280"/>
            <a:ext cx="8869680"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Leaving is concentrated in the bottom two pay deciles, where part-year and part-time contracts live. Above the median, pay barely matters.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Pension coverage and leaving, across states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29</a:t>
            </a:r>
          </a:p>
        </p:txBody>
      </p:sp>
      <p:pic>
        <p:nvPicPr>
          <p:cNvPr id="4" name="Picture 3" descr="pension_scatter_deck.png"/>
          <p:cNvPicPr>
            <a:picLocks noChangeAspect="1"/>
          </p:cNvPicPr>
          <p:nvPr/>
        </p:nvPicPr>
        <p:blipFill>
          <a:blip r:embed="rId2"/>
          <a:stretch>
            <a:fillRect/>
          </a:stretch>
        </p:blipFill>
        <p:spPr>
          <a:xfrm>
            <a:off x="2289687" y="1097280"/>
            <a:ext cx="7582145"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States where more teachers have a pension plan lose fewer teachers before 55. Economic security retains.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Leaving and the cycle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30</a:t>
            </a:r>
          </a:p>
        </p:txBody>
      </p:sp>
      <p:pic>
        <p:nvPicPr>
          <p:cNvPr id="4" name="Picture 3" descr="cycle1.png"/>
          <p:cNvPicPr>
            <a:picLocks noChangeAspect="1"/>
          </p:cNvPicPr>
          <p:nvPr/>
        </p:nvPicPr>
        <p:blipFill>
          <a:blip r:embed="rId2"/>
          <a:stretch>
            <a:fillRect/>
          </a:stretch>
        </p:blipFill>
        <p:spPr>
          <a:xfrm>
            <a:off x="1329145" y="1097280"/>
            <a:ext cx="9503228" cy="4434840"/>
          </a:xfrm>
          <a:prstGeom prst="rect">
            <a:avLst/>
          </a:prstGeom>
        </p:spPr>
      </p:pic>
      <p:sp>
        <p:nvSpPr>
          <p:cNvPr id="5" name="TextBox 4"/>
          <p:cNvSpPr txBox="1"/>
          <p:nvPr/>
        </p:nvSpPr>
        <p:spPr>
          <a:xfrm>
            <a:off x="822960" y="5687568"/>
            <a:ext cx="10789920" cy="82296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Key message.  </a:t>
            </a:r>
            <a:r>
              <a:rPr sz="1600" b="0" i="0">
                <a:solidFill>
                  <a:srgbClr val="212529"/>
                </a:solidFill>
                <a:latin typeface="Garamond"/>
              </a:rPr>
              <a:t>Leaving moves with the cycle. It rises when unemployment rises, so teachers are pushed out in bad times more than pulled away in good ones.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Conclusions: what we learn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31</a:t>
            </a:r>
          </a:p>
        </p:txBody>
      </p:sp>
      <p:sp>
        <p:nvSpPr>
          <p:cNvPr id="4" name="TextBox 3"/>
          <p:cNvSpPr txBox="1"/>
          <p:nvPr/>
        </p:nvSpPr>
        <p:spPr>
          <a:xfrm>
            <a:off x="822960" y="1417320"/>
            <a:ext cx="10789920" cy="5120640"/>
          </a:xfrm>
          <a:prstGeom prst="rect">
            <a:avLst/>
          </a:prstGeom>
          <a:noFill/>
        </p:spPr>
        <p:txBody>
          <a:bodyPr wrap="square" lIns="0" rIns="0" tIns="0" bIns="0">
            <a:spAutoFit/>
          </a:bodyPr>
          <a:lstStyle/>
          <a:p>
            <a:pPr algn="l">
              <a:lnSpc>
                <a:spcPts val="2432"/>
              </a:lnSpc>
              <a:spcAft>
                <a:spcPts val="3000"/>
              </a:spcAft>
            </a:pPr>
            <a:r>
              <a:rPr sz="1900" b="1" i="0">
                <a:solidFill>
                  <a:srgbClr val="2D6CB5"/>
                </a:solidFill>
                <a:latin typeface="Garamond"/>
              </a:rPr>
              <a:t>▪  </a:t>
            </a:r>
            <a:r>
              <a:rPr sz="1900" b="0" i="0">
                <a:solidFill>
                  <a:srgbClr val="212529"/>
                </a:solidFill>
                <a:latin typeface="Garamond"/>
              </a:rPr>
              <a:t>Job security is fundamental to retain a teacher, our analysis shows that a full-year contract and pension coverage are strongly correlated with a lower teacher leaving rate.</a:t>
            </a:r>
          </a:p>
          <a:p>
            <a:pPr algn="l">
              <a:lnSpc>
                <a:spcPts val="2432"/>
              </a:lnSpc>
              <a:spcAft>
                <a:spcPts val="3000"/>
              </a:spcAft>
            </a:pPr>
            <a:r>
              <a:rPr sz="1900" b="1" i="0">
                <a:solidFill>
                  <a:srgbClr val="2D6CB5"/>
                </a:solidFill>
                <a:latin typeface="Garamond"/>
              </a:rPr>
              <a:t>▪  </a:t>
            </a:r>
            <a:r>
              <a:rPr sz="1900" b="0" i="0">
                <a:solidFill>
                  <a:srgbClr val="212529"/>
                </a:solidFill>
                <a:latin typeface="Garamond"/>
              </a:rPr>
              <a:t>Leaving is concentrated at the bottom of the income distribution, and those who switch jobs do not necessarily earn more afterwards. Pay, alongside working conditions, still has room as a retention lever in the US.</a:t>
            </a:r>
          </a:p>
          <a:p>
            <a:pPr algn="l">
              <a:lnSpc>
                <a:spcPts val="2432"/>
              </a:lnSpc>
              <a:spcAft>
                <a:spcPts val="0"/>
              </a:spcAft>
            </a:pPr>
            <a:r>
              <a:rPr sz="1900" b="1" i="0">
                <a:solidFill>
                  <a:srgbClr val="2D6CB5"/>
                </a:solidFill>
                <a:latin typeface="Garamond"/>
              </a:rPr>
              <a:t>▪  </a:t>
            </a:r>
            <a:r>
              <a:rPr sz="1900" b="0" i="0">
                <a:solidFill>
                  <a:srgbClr val="212529"/>
                </a:solidFill>
                <a:latin typeface="Garamond"/>
              </a:rPr>
              <a:t>The probability of leaving is highest at the start of the career, making mentoring and accompaniment a priority for retention policies.</a:t>
            </a:r>
          </a:p>
        </p:txBody>
      </p:sp>
      <p:sp>
        <p:nvSpPr>
          <p:cNvPr id="5" name="Rounded Rectangle 4">
            <a:hlinkClick action="ppaction://hlinksldjump" r:id="rId2"/>
          </p:cNvPr>
          <p:cNvSpPr/>
          <p:nvPr/>
        </p:nvSpPr>
        <p:spPr>
          <a:xfrm>
            <a:off x="822960" y="6327648"/>
            <a:ext cx="2853842"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Do switchers earn more?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Conclusions: where the policy margins are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32</a:t>
            </a:r>
          </a:p>
        </p:txBody>
      </p:sp>
      <p:sp>
        <p:nvSpPr>
          <p:cNvPr id="4" name="TextBox 3"/>
          <p:cNvSpPr txBox="1"/>
          <p:nvPr/>
        </p:nvSpPr>
        <p:spPr>
          <a:xfrm>
            <a:off x="822960" y="118872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Short term</a:t>
            </a:r>
          </a:p>
        </p:txBody>
      </p:sp>
      <p:sp>
        <p:nvSpPr>
          <p:cNvPr id="5" name="TextBox 4"/>
          <p:cNvSpPr txBox="1"/>
          <p:nvPr/>
        </p:nvSpPr>
        <p:spPr>
          <a:xfrm>
            <a:off x="822960" y="1682496"/>
            <a:ext cx="10789920" cy="822960"/>
          </a:xfrm>
          <a:prstGeom prst="rect">
            <a:avLst/>
          </a:prstGeom>
          <a:noFill/>
        </p:spPr>
        <p:txBody>
          <a:bodyPr wrap="square" lIns="0" rIns="0" tIns="0" bIns="0">
            <a:spAutoFit/>
          </a:bodyPr>
          <a:lstStyle/>
          <a:p>
            <a:pPr algn="l">
              <a:lnSpc>
                <a:spcPts val="2304"/>
              </a:lnSpc>
              <a:spcAft>
                <a:spcPts val="0"/>
              </a:spcAft>
            </a:pPr>
            <a:r>
              <a:rPr sz="1800" b="0" i="0">
                <a:solidFill>
                  <a:srgbClr val="212529"/>
                </a:solidFill>
                <a:latin typeface="Garamond"/>
              </a:rPr>
              <a:t>Retirees, about 3% of teachers each year, are a pool that can cover local shortages. They bring experience and positive spillovers.</a:t>
            </a:r>
          </a:p>
        </p:txBody>
      </p:sp>
      <p:sp>
        <p:nvSpPr>
          <p:cNvPr id="6" name="TextBox 5"/>
          <p:cNvSpPr txBox="1"/>
          <p:nvPr/>
        </p:nvSpPr>
        <p:spPr>
          <a:xfrm>
            <a:off x="822960" y="260604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Medium term</a:t>
            </a:r>
          </a:p>
        </p:txBody>
      </p:sp>
      <p:sp>
        <p:nvSpPr>
          <p:cNvPr id="7" name="TextBox 6"/>
          <p:cNvSpPr txBox="1"/>
          <p:nvPr/>
        </p:nvSpPr>
        <p:spPr>
          <a:xfrm>
            <a:off x="822960" y="3099816"/>
            <a:ext cx="10789920" cy="822960"/>
          </a:xfrm>
          <a:prstGeom prst="rect">
            <a:avLst/>
          </a:prstGeom>
          <a:noFill/>
        </p:spPr>
        <p:txBody>
          <a:bodyPr wrap="square" lIns="0" rIns="0" tIns="0" bIns="0">
            <a:spAutoFit/>
          </a:bodyPr>
          <a:lstStyle/>
          <a:p>
            <a:pPr algn="l">
              <a:lnSpc>
                <a:spcPts val="2304"/>
              </a:lnSpc>
              <a:spcAft>
                <a:spcPts val="0"/>
              </a:spcAft>
            </a:pPr>
            <a:r>
              <a:rPr sz="1800" b="0" i="0">
                <a:solidFill>
                  <a:srgbClr val="212529"/>
                </a:solidFill>
                <a:latin typeface="Garamond"/>
              </a:rPr>
              <a:t>The young. The probability of leaving is highest at the start of the career, so mentoring and accompaniment belong where the risk is.</a:t>
            </a:r>
          </a:p>
        </p:txBody>
      </p:sp>
      <p:sp>
        <p:nvSpPr>
          <p:cNvPr id="8" name="TextBox 7"/>
          <p:cNvSpPr txBox="1"/>
          <p:nvPr/>
        </p:nvSpPr>
        <p:spPr>
          <a:xfrm>
            <a:off x="822960" y="402336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Across the board</a:t>
            </a:r>
          </a:p>
        </p:txBody>
      </p:sp>
      <p:sp>
        <p:nvSpPr>
          <p:cNvPr id="9" name="TextBox 8"/>
          <p:cNvSpPr txBox="1"/>
          <p:nvPr/>
        </p:nvSpPr>
        <p:spPr>
          <a:xfrm>
            <a:off x="822960" y="4517136"/>
            <a:ext cx="10789920" cy="822960"/>
          </a:xfrm>
          <a:prstGeom prst="rect">
            <a:avLst/>
          </a:prstGeom>
          <a:noFill/>
        </p:spPr>
        <p:txBody>
          <a:bodyPr wrap="square" lIns="0" rIns="0" tIns="0" bIns="0">
            <a:spAutoFit/>
          </a:bodyPr>
          <a:lstStyle/>
          <a:p>
            <a:pPr algn="l">
              <a:lnSpc>
                <a:spcPts val="2304"/>
              </a:lnSpc>
              <a:spcAft>
                <a:spcPts val="0"/>
              </a:spcAft>
            </a:pPr>
            <a:r>
              <a:rPr sz="1800" b="0" i="0">
                <a:solidFill>
                  <a:srgbClr val="212529"/>
                </a:solidFill>
                <a:latin typeface="Garamond"/>
              </a:rPr>
              <a:t>Economic security and flexibility, so that teachers who want to stay or to return can do so. Insecurity should not be why a position is left.</a:t>
            </a:r>
          </a:p>
        </p:txBody>
      </p:sp>
      <p:sp>
        <p:nvSpPr>
          <p:cNvPr id="10" name="TextBox 9"/>
          <p:cNvSpPr txBox="1"/>
          <p:nvPr/>
        </p:nvSpPr>
        <p:spPr>
          <a:xfrm>
            <a:off x="822960" y="5440680"/>
            <a:ext cx="10789920" cy="457200"/>
          </a:xfrm>
          <a:prstGeom prst="rect">
            <a:avLst/>
          </a:prstGeom>
          <a:noFill/>
        </p:spPr>
        <p:txBody>
          <a:bodyPr wrap="square" lIns="0" rIns="0" tIns="0" bIns="0">
            <a:spAutoFit/>
          </a:bodyPr>
          <a:lstStyle/>
          <a:p>
            <a:pPr algn="l">
              <a:lnSpc>
                <a:spcPts val="2816"/>
              </a:lnSpc>
              <a:spcAft>
                <a:spcPts val="0"/>
              </a:spcAft>
            </a:pPr>
            <a:r>
              <a:rPr sz="2200" b="1" i="0">
                <a:solidFill>
                  <a:srgbClr val="2D6CB5"/>
                </a:solidFill>
                <a:latin typeface="Garamond"/>
              </a:rPr>
              <a:t>Caveat</a:t>
            </a:r>
          </a:p>
        </p:txBody>
      </p:sp>
      <p:sp>
        <p:nvSpPr>
          <p:cNvPr id="11" name="TextBox 10"/>
          <p:cNvSpPr txBox="1"/>
          <p:nvPr/>
        </p:nvSpPr>
        <p:spPr>
          <a:xfrm>
            <a:off x="822960" y="5934456"/>
            <a:ext cx="10789920" cy="731520"/>
          </a:xfrm>
          <a:prstGeom prst="rect">
            <a:avLst/>
          </a:prstGeom>
          <a:noFill/>
        </p:spPr>
        <p:txBody>
          <a:bodyPr wrap="square" lIns="0" rIns="0" tIns="0" bIns="0">
            <a:spAutoFit/>
          </a:bodyPr>
          <a:lstStyle/>
          <a:p>
            <a:pPr algn="l">
              <a:lnSpc>
                <a:spcPts val="2304"/>
              </a:lnSpc>
              <a:spcAft>
                <a:spcPts val="0"/>
              </a:spcAft>
            </a:pPr>
            <a:r>
              <a:rPr sz="1800" b="0" i="0">
                <a:solidFill>
                  <a:srgbClr val="212529"/>
                </a:solidFill>
                <a:latin typeface="Garamond"/>
              </a:rPr>
              <a:t>We observe financial and life-cycle motives, not conditions inside schools. These are margins, not the full story.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40280"/>
            <a:ext cx="10360152" cy="1188720"/>
          </a:xfrm>
          <a:prstGeom prst="rect">
            <a:avLst/>
          </a:prstGeom>
          <a:noFill/>
        </p:spPr>
        <p:txBody>
          <a:bodyPr wrap="square" lIns="0" rIns="0" tIns="0" bIns="0">
            <a:spAutoFit/>
          </a:bodyPr>
          <a:lstStyle/>
          <a:p>
            <a:pPr algn="ctr">
              <a:lnSpc>
                <a:spcPts val="7680"/>
              </a:lnSpc>
              <a:spcAft>
                <a:spcPts val="0"/>
              </a:spcAft>
            </a:pPr>
            <a:r>
              <a:rPr sz="6000" b="1" i="0">
                <a:solidFill>
                  <a:srgbClr val="FFFFFF"/>
                </a:solidFill>
                <a:latin typeface="Garamond"/>
              </a:rPr>
              <a:t>A</a:t>
            </a:r>
          </a:p>
        </p:txBody>
      </p:sp>
      <p:sp>
        <p:nvSpPr>
          <p:cNvPr id="4" name="TextBox 3"/>
          <p:cNvSpPr txBox="1"/>
          <p:nvPr/>
        </p:nvSpPr>
        <p:spPr>
          <a:xfrm>
            <a:off x="914400" y="3703320"/>
            <a:ext cx="10360152" cy="731520"/>
          </a:xfrm>
          <a:prstGeom prst="rect">
            <a:avLst/>
          </a:prstGeom>
          <a:noFill/>
        </p:spPr>
        <p:txBody>
          <a:bodyPr wrap="square" lIns="0" rIns="0" tIns="0" bIns="0">
            <a:spAutoFit/>
          </a:bodyPr>
          <a:lstStyle/>
          <a:p>
            <a:pPr algn="ctr">
              <a:lnSpc>
                <a:spcPts val="3584"/>
              </a:lnSpc>
              <a:spcAft>
                <a:spcPts val="0"/>
              </a:spcAft>
            </a:pPr>
            <a:r>
              <a:rPr sz="2800" b="0" i="0">
                <a:solidFill>
                  <a:srgbClr val="D7E3F2"/>
                </a:solidFill>
                <a:latin typeface="Garamond"/>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Where official numbers exist, and when</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34</a:t>
            </a:r>
          </a:p>
        </p:txBody>
      </p:sp>
      <p:pic>
        <p:nvPicPr>
          <p:cNvPr id="4" name="Picture 3" descr="tfs_waves.png"/>
          <p:cNvPicPr>
            <a:picLocks noChangeAspect="1"/>
          </p:cNvPicPr>
          <p:nvPr/>
        </p:nvPicPr>
        <p:blipFill>
          <a:blip r:embed="rId2"/>
          <a:stretch>
            <a:fillRect/>
          </a:stretch>
        </p:blipFill>
        <p:spPr>
          <a:xfrm>
            <a:off x="1731873" y="1051560"/>
            <a:ext cx="8697772" cy="3749040"/>
          </a:xfrm>
          <a:prstGeom prst="rect">
            <a:avLst/>
          </a:prstGeom>
        </p:spPr>
      </p:pic>
      <p:sp>
        <p:nvSpPr>
          <p:cNvPr id="5" name="TextBox 4"/>
          <p:cNvSpPr txBox="1"/>
          <p:nvPr/>
        </p:nvSpPr>
        <p:spPr>
          <a:xfrm>
            <a:off x="822960" y="4983480"/>
            <a:ext cx="10789920" cy="1280160"/>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The NCES (National Center for Education Statistics) follows up a sample of teachers one year later in the Teacher Follow-up Survey. There are eight waves since 1988–89, published with a 2–3 year lag, and nine years separate the last two. The OECD’s Education at a Glance collects national rates only in its 2021, 2025 and 2026 editions, with no current figure for the United States.</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One survey, three instruments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35</a:t>
            </a:r>
          </a:p>
        </p:txBody>
      </p:sp>
      <p:cxnSp>
        <p:nvCxnSpPr>
          <p:cNvPr id="4" name="Connector 3"/>
          <p:cNvCxnSpPr/>
          <p:nvPr/>
        </p:nvCxnSpPr>
        <p:spPr>
          <a:xfrm>
            <a:off x="822960" y="1645920"/>
            <a:ext cx="1060704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1755648"/>
            <a:ext cx="2743200" cy="384048"/>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Instrument</a:t>
            </a:r>
          </a:p>
        </p:txBody>
      </p:sp>
      <p:sp>
        <p:nvSpPr>
          <p:cNvPr id="6" name="TextBox 5"/>
          <p:cNvSpPr txBox="1"/>
          <p:nvPr/>
        </p:nvSpPr>
        <p:spPr>
          <a:xfrm>
            <a:off x="3749039" y="1755648"/>
            <a:ext cx="3931920" cy="384048"/>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What it asks</a:t>
            </a:r>
          </a:p>
        </p:txBody>
      </p:sp>
      <p:sp>
        <p:nvSpPr>
          <p:cNvPr id="7" name="TextBox 6"/>
          <p:cNvSpPr txBox="1"/>
          <p:nvPr/>
        </p:nvSpPr>
        <p:spPr>
          <a:xfrm>
            <a:off x="7863840" y="1755648"/>
            <a:ext cx="3566160" cy="384048"/>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What it produces</a:t>
            </a:r>
          </a:p>
        </p:txBody>
      </p:sp>
      <p:cxnSp>
        <p:nvCxnSpPr>
          <p:cNvPr id="8" name="Connector 7"/>
          <p:cNvCxnSpPr/>
          <p:nvPr/>
        </p:nvCxnSpPr>
        <p:spPr>
          <a:xfrm>
            <a:off x="822960" y="2157984"/>
            <a:ext cx="1060704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267712"/>
            <a:ext cx="274320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Basic monthly interview</a:t>
            </a:r>
          </a:p>
        </p:txBody>
      </p:sp>
      <p:sp>
        <p:nvSpPr>
          <p:cNvPr id="10" name="TextBox 9"/>
          <p:cNvSpPr txBox="1"/>
          <p:nvPr/>
        </p:nvSpPr>
        <p:spPr>
          <a:xfrm>
            <a:off x="3749039" y="2267712"/>
            <a:ext cx="39319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Labor force status in the reference week, occupation, hours</a:t>
            </a:r>
          </a:p>
        </p:txBody>
      </p:sp>
      <p:sp>
        <p:nvSpPr>
          <p:cNvPr id="11" name="TextBox 10"/>
          <p:cNvSpPr txBox="1"/>
          <p:nvPr/>
        </p:nvSpPr>
        <p:spPr>
          <a:xfrm>
            <a:off x="7863840" y="2267712"/>
            <a:ext cx="356616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The official monthly unemployment rate, employment and earnings statistics</a:t>
            </a:r>
          </a:p>
        </p:txBody>
      </p:sp>
      <p:sp>
        <p:nvSpPr>
          <p:cNvPr id="12" name="TextBox 11"/>
          <p:cNvSpPr txBox="1"/>
          <p:nvPr/>
        </p:nvSpPr>
        <p:spPr>
          <a:xfrm>
            <a:off x="822960" y="3154680"/>
            <a:ext cx="274320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Topical supplements</a:t>
            </a:r>
          </a:p>
        </p:txBody>
      </p:sp>
      <p:sp>
        <p:nvSpPr>
          <p:cNvPr id="13" name="TextBox 12"/>
          <p:cNvSpPr txBox="1"/>
          <p:nvPr/>
        </p:nvSpPr>
        <p:spPr>
          <a:xfrm>
            <a:off x="3749039" y="3154680"/>
            <a:ext cx="39319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School enrollment (Oct.), voting (Nov.), tobacco, computer use</a:t>
            </a:r>
          </a:p>
        </p:txBody>
      </p:sp>
      <p:sp>
        <p:nvSpPr>
          <p:cNvPr id="14" name="TextBox 13"/>
          <p:cNvSpPr txBox="1"/>
          <p:nvPr/>
        </p:nvSpPr>
        <p:spPr>
          <a:xfrm>
            <a:off x="7863840" y="3154680"/>
            <a:ext cx="356616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Topic-specific official statistics</a:t>
            </a:r>
          </a:p>
        </p:txBody>
      </p:sp>
      <p:sp>
        <p:nvSpPr>
          <p:cNvPr id="15" name="TextBox 14"/>
          <p:cNvSpPr txBox="1"/>
          <p:nvPr/>
        </p:nvSpPr>
        <p:spPr>
          <a:xfrm>
            <a:off x="822960" y="3904488"/>
            <a:ext cx="274320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March supplement (ASEC)</a:t>
            </a:r>
          </a:p>
        </p:txBody>
      </p:sp>
      <p:sp>
        <p:nvSpPr>
          <p:cNvPr id="16" name="TextBox 15"/>
          <p:cNvSpPr txBox="1"/>
          <p:nvPr/>
        </p:nvSpPr>
        <p:spPr>
          <a:xfrm>
            <a:off x="3749039" y="3904488"/>
            <a:ext cx="39319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The previous calendar year, from the longest job to weeks, income and benefits</a:t>
            </a:r>
          </a:p>
        </p:txBody>
      </p:sp>
      <p:sp>
        <p:nvSpPr>
          <p:cNvPr id="17" name="TextBox 16"/>
          <p:cNvSpPr txBox="1"/>
          <p:nvPr/>
        </p:nvSpPr>
        <p:spPr>
          <a:xfrm>
            <a:off x="7863840" y="3904488"/>
            <a:ext cx="356616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Official income, poverty and health-insurance statistics, and our retrospective measure</a:t>
            </a:r>
          </a:p>
        </p:txBody>
      </p:sp>
      <p:cxnSp>
        <p:nvCxnSpPr>
          <p:cNvPr id="18" name="Connector 17"/>
          <p:cNvCxnSpPr/>
          <p:nvPr/>
        </p:nvCxnSpPr>
        <p:spPr>
          <a:xfrm>
            <a:off x="822960" y="4736592"/>
            <a:ext cx="1060704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Are interviews monthly? Who is new each month?</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36</a:t>
            </a:r>
          </a:p>
        </p:txBody>
      </p:sp>
      <p:sp>
        <p:nvSpPr>
          <p:cNvPr id="4" name="TextBox 3"/>
          <p:cNvSpPr txBox="1"/>
          <p:nvPr/>
        </p:nvSpPr>
        <p:spPr>
          <a:xfrm>
            <a:off x="822960" y="1234440"/>
            <a:ext cx="10789920" cy="640080"/>
          </a:xfrm>
          <a:prstGeom prst="rect">
            <a:avLst/>
          </a:prstGeom>
          <a:noFill/>
        </p:spPr>
        <p:txBody>
          <a:bodyPr wrap="square" lIns="0" rIns="0" tIns="0" bIns="0">
            <a:spAutoFit/>
          </a:bodyPr>
          <a:lstStyle/>
          <a:p>
            <a:pPr algn="l">
              <a:lnSpc>
                <a:spcPts val="1984"/>
              </a:lnSpc>
              <a:spcAft>
                <a:spcPts val="0"/>
              </a:spcAft>
            </a:pPr>
            <a:r>
              <a:rPr sz="1550" b="0" i="0">
                <a:solidFill>
                  <a:srgbClr val="212529"/>
                </a:solidFill>
                <a:latin typeface="Garamond"/>
              </a:rPr>
              <a:t>Yes. Every month, one eighth of the sample sits in each position of the 4-8-4 rotation. Verified in all 251 monthly files, January 2005 to November 2025.</a:t>
            </a:r>
          </a:p>
        </p:txBody>
      </p:sp>
      <p:cxnSp>
        <p:nvCxnSpPr>
          <p:cNvPr id="5" name="Connector 4"/>
          <p:cNvCxnSpPr/>
          <p:nvPr/>
        </p:nvCxnSpPr>
        <p:spPr>
          <a:xfrm>
            <a:off x="822960" y="2331720"/>
            <a:ext cx="1060704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2441448"/>
            <a:ext cx="2560320" cy="384048"/>
          </a:xfrm>
          <a:prstGeom prst="rect">
            <a:avLst/>
          </a:prstGeom>
          <a:noFill/>
        </p:spPr>
        <p:txBody>
          <a:bodyPr wrap="square" lIns="0" rIns="0" tIns="0" bIns="0">
            <a:spAutoFit/>
          </a:bodyPr>
          <a:lstStyle/>
          <a:p>
            <a:pPr algn="l">
              <a:lnSpc>
                <a:spcPts val="1920"/>
              </a:lnSpc>
              <a:spcAft>
                <a:spcPts val="0"/>
              </a:spcAft>
            </a:pPr>
            <a:r>
              <a:rPr sz="1500" b="1" i="0">
                <a:solidFill>
                  <a:srgbClr val="212529"/>
                </a:solidFill>
                <a:latin typeface="Garamond"/>
              </a:rPr>
              <a:t>Month in sample</a:t>
            </a:r>
          </a:p>
        </p:txBody>
      </p:sp>
      <p:sp>
        <p:nvSpPr>
          <p:cNvPr id="7" name="TextBox 6"/>
          <p:cNvSpPr txBox="1"/>
          <p:nvPr/>
        </p:nvSpPr>
        <p:spPr>
          <a:xfrm>
            <a:off x="347472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1</a:t>
            </a:r>
          </a:p>
        </p:txBody>
      </p:sp>
      <p:sp>
        <p:nvSpPr>
          <p:cNvPr id="8" name="TextBox 7"/>
          <p:cNvSpPr txBox="1"/>
          <p:nvPr/>
        </p:nvSpPr>
        <p:spPr>
          <a:xfrm>
            <a:off x="448056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2</a:t>
            </a:r>
          </a:p>
        </p:txBody>
      </p:sp>
      <p:sp>
        <p:nvSpPr>
          <p:cNvPr id="9" name="TextBox 8"/>
          <p:cNvSpPr txBox="1"/>
          <p:nvPr/>
        </p:nvSpPr>
        <p:spPr>
          <a:xfrm>
            <a:off x="548640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3</a:t>
            </a:r>
          </a:p>
        </p:txBody>
      </p:sp>
      <p:sp>
        <p:nvSpPr>
          <p:cNvPr id="10" name="TextBox 9"/>
          <p:cNvSpPr txBox="1"/>
          <p:nvPr/>
        </p:nvSpPr>
        <p:spPr>
          <a:xfrm>
            <a:off x="649224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4</a:t>
            </a:r>
          </a:p>
        </p:txBody>
      </p:sp>
      <p:sp>
        <p:nvSpPr>
          <p:cNvPr id="11" name="TextBox 10"/>
          <p:cNvSpPr txBox="1"/>
          <p:nvPr/>
        </p:nvSpPr>
        <p:spPr>
          <a:xfrm>
            <a:off x="7498079"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5</a:t>
            </a:r>
          </a:p>
        </p:txBody>
      </p:sp>
      <p:sp>
        <p:nvSpPr>
          <p:cNvPr id="12" name="TextBox 11"/>
          <p:cNvSpPr txBox="1"/>
          <p:nvPr/>
        </p:nvSpPr>
        <p:spPr>
          <a:xfrm>
            <a:off x="850392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6</a:t>
            </a:r>
          </a:p>
        </p:txBody>
      </p:sp>
      <p:sp>
        <p:nvSpPr>
          <p:cNvPr id="13" name="TextBox 12"/>
          <p:cNvSpPr txBox="1"/>
          <p:nvPr/>
        </p:nvSpPr>
        <p:spPr>
          <a:xfrm>
            <a:off x="950976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7</a:t>
            </a:r>
          </a:p>
        </p:txBody>
      </p:sp>
      <p:sp>
        <p:nvSpPr>
          <p:cNvPr id="14" name="TextBox 13"/>
          <p:cNvSpPr txBox="1"/>
          <p:nvPr/>
        </p:nvSpPr>
        <p:spPr>
          <a:xfrm>
            <a:off x="10515600" y="2441448"/>
            <a:ext cx="91440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8</a:t>
            </a:r>
          </a:p>
        </p:txBody>
      </p:sp>
      <p:cxnSp>
        <p:nvCxnSpPr>
          <p:cNvPr id="15" name="Connector 14"/>
          <p:cNvCxnSpPr/>
          <p:nvPr/>
        </p:nvCxnSpPr>
        <p:spPr>
          <a:xfrm>
            <a:off x="822960" y="2843784"/>
            <a:ext cx="1060704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2953512"/>
            <a:ext cx="256032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Average share (%)</a:t>
            </a:r>
          </a:p>
        </p:txBody>
      </p:sp>
      <p:sp>
        <p:nvSpPr>
          <p:cNvPr id="17" name="TextBox 16"/>
          <p:cNvSpPr txBox="1"/>
          <p:nvPr/>
        </p:nvSpPr>
        <p:spPr>
          <a:xfrm>
            <a:off x="347472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12.4</a:t>
            </a:r>
          </a:p>
        </p:txBody>
      </p:sp>
      <p:sp>
        <p:nvSpPr>
          <p:cNvPr id="18" name="TextBox 17"/>
          <p:cNvSpPr txBox="1"/>
          <p:nvPr/>
        </p:nvSpPr>
        <p:spPr>
          <a:xfrm>
            <a:off x="448056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12.5</a:t>
            </a:r>
          </a:p>
        </p:txBody>
      </p:sp>
      <p:sp>
        <p:nvSpPr>
          <p:cNvPr id="19" name="TextBox 18"/>
          <p:cNvSpPr txBox="1"/>
          <p:nvPr/>
        </p:nvSpPr>
        <p:spPr>
          <a:xfrm>
            <a:off x="548640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12.6</a:t>
            </a:r>
          </a:p>
        </p:txBody>
      </p:sp>
      <p:sp>
        <p:nvSpPr>
          <p:cNvPr id="20" name="TextBox 19"/>
          <p:cNvSpPr txBox="1"/>
          <p:nvPr/>
        </p:nvSpPr>
        <p:spPr>
          <a:xfrm>
            <a:off x="649224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12.5</a:t>
            </a:r>
          </a:p>
        </p:txBody>
      </p:sp>
      <p:sp>
        <p:nvSpPr>
          <p:cNvPr id="21" name="TextBox 20"/>
          <p:cNvSpPr txBox="1"/>
          <p:nvPr/>
        </p:nvSpPr>
        <p:spPr>
          <a:xfrm>
            <a:off x="7498079"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12.6</a:t>
            </a:r>
          </a:p>
        </p:txBody>
      </p:sp>
      <p:sp>
        <p:nvSpPr>
          <p:cNvPr id="22" name="TextBox 21"/>
          <p:cNvSpPr txBox="1"/>
          <p:nvPr/>
        </p:nvSpPr>
        <p:spPr>
          <a:xfrm>
            <a:off x="850392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12.5</a:t>
            </a:r>
          </a:p>
        </p:txBody>
      </p:sp>
      <p:sp>
        <p:nvSpPr>
          <p:cNvPr id="23" name="TextBox 22"/>
          <p:cNvSpPr txBox="1"/>
          <p:nvPr/>
        </p:nvSpPr>
        <p:spPr>
          <a:xfrm>
            <a:off x="950976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12.4</a:t>
            </a:r>
          </a:p>
        </p:txBody>
      </p:sp>
      <p:sp>
        <p:nvSpPr>
          <p:cNvPr id="24" name="TextBox 23"/>
          <p:cNvSpPr txBox="1"/>
          <p:nvPr/>
        </p:nvSpPr>
        <p:spPr>
          <a:xfrm>
            <a:off x="10515600" y="2953512"/>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12.5</a:t>
            </a:r>
          </a:p>
        </p:txBody>
      </p:sp>
      <p:sp>
        <p:nvSpPr>
          <p:cNvPr id="25" name="TextBox 24"/>
          <p:cNvSpPr txBox="1"/>
          <p:nvPr/>
        </p:nvSpPr>
        <p:spPr>
          <a:xfrm>
            <a:off x="822960" y="3337560"/>
            <a:ext cx="256032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Minimum (%)</a:t>
            </a:r>
          </a:p>
        </p:txBody>
      </p:sp>
      <p:sp>
        <p:nvSpPr>
          <p:cNvPr id="26" name="TextBox 25"/>
          <p:cNvSpPr txBox="1"/>
          <p:nvPr/>
        </p:nvSpPr>
        <p:spPr>
          <a:xfrm>
            <a:off x="347472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10.1</a:t>
            </a:r>
          </a:p>
        </p:txBody>
      </p:sp>
      <p:sp>
        <p:nvSpPr>
          <p:cNvPr id="27" name="TextBox 26"/>
          <p:cNvSpPr txBox="1"/>
          <p:nvPr/>
        </p:nvSpPr>
        <p:spPr>
          <a:xfrm>
            <a:off x="448056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11.1</a:t>
            </a:r>
          </a:p>
        </p:txBody>
      </p:sp>
      <p:sp>
        <p:nvSpPr>
          <p:cNvPr id="28" name="TextBox 27"/>
          <p:cNvSpPr txBox="1"/>
          <p:nvPr/>
        </p:nvSpPr>
        <p:spPr>
          <a:xfrm>
            <a:off x="548640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11.5</a:t>
            </a:r>
          </a:p>
        </p:txBody>
      </p:sp>
      <p:sp>
        <p:nvSpPr>
          <p:cNvPr id="29" name="TextBox 28"/>
          <p:cNvSpPr txBox="1"/>
          <p:nvPr/>
        </p:nvSpPr>
        <p:spPr>
          <a:xfrm>
            <a:off x="649224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11.8</a:t>
            </a:r>
          </a:p>
        </p:txBody>
      </p:sp>
      <p:sp>
        <p:nvSpPr>
          <p:cNvPr id="30" name="TextBox 29"/>
          <p:cNvSpPr txBox="1"/>
          <p:nvPr/>
        </p:nvSpPr>
        <p:spPr>
          <a:xfrm>
            <a:off x="7498079"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12.0</a:t>
            </a:r>
          </a:p>
        </p:txBody>
      </p:sp>
      <p:sp>
        <p:nvSpPr>
          <p:cNvPr id="31" name="TextBox 30"/>
          <p:cNvSpPr txBox="1"/>
          <p:nvPr/>
        </p:nvSpPr>
        <p:spPr>
          <a:xfrm>
            <a:off x="850392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12.0</a:t>
            </a:r>
          </a:p>
        </p:txBody>
      </p:sp>
      <p:sp>
        <p:nvSpPr>
          <p:cNvPr id="32" name="TextBox 31"/>
          <p:cNvSpPr txBox="1"/>
          <p:nvPr/>
        </p:nvSpPr>
        <p:spPr>
          <a:xfrm>
            <a:off x="950976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11.9</a:t>
            </a:r>
          </a:p>
        </p:txBody>
      </p:sp>
      <p:sp>
        <p:nvSpPr>
          <p:cNvPr id="33" name="TextBox 32"/>
          <p:cNvSpPr txBox="1"/>
          <p:nvPr/>
        </p:nvSpPr>
        <p:spPr>
          <a:xfrm>
            <a:off x="10515600" y="3337560"/>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12.0</a:t>
            </a:r>
          </a:p>
        </p:txBody>
      </p:sp>
      <p:sp>
        <p:nvSpPr>
          <p:cNvPr id="34" name="TextBox 33"/>
          <p:cNvSpPr txBox="1"/>
          <p:nvPr/>
        </p:nvSpPr>
        <p:spPr>
          <a:xfrm>
            <a:off x="822960" y="3721608"/>
            <a:ext cx="256032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Maximum (%)</a:t>
            </a:r>
          </a:p>
        </p:txBody>
      </p:sp>
      <p:sp>
        <p:nvSpPr>
          <p:cNvPr id="35" name="TextBox 34"/>
          <p:cNvSpPr txBox="1"/>
          <p:nvPr/>
        </p:nvSpPr>
        <p:spPr>
          <a:xfrm>
            <a:off x="347472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13.0</a:t>
            </a:r>
          </a:p>
        </p:txBody>
      </p:sp>
      <p:sp>
        <p:nvSpPr>
          <p:cNvPr id="36" name="TextBox 35"/>
          <p:cNvSpPr txBox="1"/>
          <p:nvPr/>
        </p:nvSpPr>
        <p:spPr>
          <a:xfrm>
            <a:off x="448056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13.0</a:t>
            </a:r>
          </a:p>
        </p:txBody>
      </p:sp>
      <p:sp>
        <p:nvSpPr>
          <p:cNvPr id="37" name="TextBox 36"/>
          <p:cNvSpPr txBox="1"/>
          <p:nvPr/>
        </p:nvSpPr>
        <p:spPr>
          <a:xfrm>
            <a:off x="548640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13.1</a:t>
            </a:r>
          </a:p>
        </p:txBody>
      </p:sp>
      <p:sp>
        <p:nvSpPr>
          <p:cNvPr id="38" name="TextBox 37"/>
          <p:cNvSpPr txBox="1"/>
          <p:nvPr/>
        </p:nvSpPr>
        <p:spPr>
          <a:xfrm>
            <a:off x="649224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13.0</a:t>
            </a:r>
          </a:p>
        </p:txBody>
      </p:sp>
      <p:sp>
        <p:nvSpPr>
          <p:cNvPr id="39" name="TextBox 38"/>
          <p:cNvSpPr txBox="1"/>
          <p:nvPr/>
        </p:nvSpPr>
        <p:spPr>
          <a:xfrm>
            <a:off x="7498079"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14.9</a:t>
            </a:r>
          </a:p>
        </p:txBody>
      </p:sp>
      <p:sp>
        <p:nvSpPr>
          <p:cNvPr id="40" name="TextBox 39"/>
          <p:cNvSpPr txBox="1"/>
          <p:nvPr/>
        </p:nvSpPr>
        <p:spPr>
          <a:xfrm>
            <a:off x="850392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13.9</a:t>
            </a:r>
          </a:p>
        </p:txBody>
      </p:sp>
      <p:sp>
        <p:nvSpPr>
          <p:cNvPr id="41" name="TextBox 40"/>
          <p:cNvSpPr txBox="1"/>
          <p:nvPr/>
        </p:nvSpPr>
        <p:spPr>
          <a:xfrm>
            <a:off x="950976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13.5</a:t>
            </a:r>
          </a:p>
        </p:txBody>
      </p:sp>
      <p:sp>
        <p:nvSpPr>
          <p:cNvPr id="42" name="TextBox 41"/>
          <p:cNvSpPr txBox="1"/>
          <p:nvPr/>
        </p:nvSpPr>
        <p:spPr>
          <a:xfrm>
            <a:off x="10515600" y="3721608"/>
            <a:ext cx="91440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13.2</a:t>
            </a:r>
          </a:p>
        </p:txBody>
      </p:sp>
      <p:cxnSp>
        <p:nvCxnSpPr>
          <p:cNvPr id="43" name="Connector 42"/>
          <p:cNvCxnSpPr/>
          <p:nvPr/>
        </p:nvCxnSpPr>
        <p:spPr>
          <a:xfrm>
            <a:off x="822960" y="4142232"/>
            <a:ext cx="1060704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22960" y="4379976"/>
            <a:ext cx="10789920" cy="822960"/>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So each month, about 12.5% of households are new, 37.5% sit in months 2–4, and 50% are returning in months 5–8. Month-to-month overlap is 75% and year-to-year overlap is 50%, by design.</a:t>
            </a:r>
          </a:p>
        </p:txBody>
      </p:sp>
      <p:sp>
        <p:nvSpPr>
          <p:cNvPr id="45" name="Rounded Rectangle 44">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Internal migration in the United States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37</a:t>
            </a:r>
          </a:p>
        </p:txBody>
      </p:sp>
      <p:pic>
        <p:nvPicPr>
          <p:cNvPr id="4" name="Picture 3" descr="migration_rate.png"/>
          <p:cNvPicPr>
            <a:picLocks noChangeAspect="1"/>
          </p:cNvPicPr>
          <p:nvPr/>
        </p:nvPicPr>
        <p:blipFill>
          <a:blip r:embed="rId2"/>
          <a:stretch>
            <a:fillRect/>
          </a:stretch>
        </p:blipFill>
        <p:spPr>
          <a:xfrm>
            <a:off x="1119260" y="1051560"/>
            <a:ext cx="9922998" cy="4526280"/>
          </a:xfrm>
          <a:prstGeom prst="rect">
            <a:avLst/>
          </a:prstGeom>
        </p:spPr>
      </p:pic>
      <p:sp>
        <p:nvSpPr>
          <p:cNvPr id="5" name="TextBox 4"/>
          <p:cNvSpPr txBox="1"/>
          <p:nvPr/>
        </p:nvSpPr>
        <p:spPr>
          <a:xfrm>
            <a:off x="822960" y="580644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In 2023, 7.8% of Americans moved. This is the loss channel of any address-based panel.  (Census Bureau, CPS ASEC, table A-1.)</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Is the same person validated year to year?</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38</a:t>
            </a:r>
          </a:p>
        </p:txBody>
      </p:sp>
      <p:cxnSp>
        <p:nvCxnSpPr>
          <p:cNvPr id="4" name="Connector 3"/>
          <p:cNvCxnSpPr/>
          <p:nvPr/>
        </p:nvCxnSpPr>
        <p:spPr>
          <a:xfrm>
            <a:off x="822960" y="1600200"/>
            <a:ext cx="1078992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1709928"/>
            <a:ext cx="5120640" cy="384048"/>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In the field</a:t>
            </a:r>
          </a:p>
        </p:txBody>
      </p:sp>
      <p:sp>
        <p:nvSpPr>
          <p:cNvPr id="6" name="TextBox 5"/>
          <p:cNvSpPr txBox="1"/>
          <p:nvPr/>
        </p:nvSpPr>
        <p:spPr>
          <a:xfrm>
            <a:off x="6309360" y="1709928"/>
            <a:ext cx="5303520" cy="384048"/>
          </a:xfrm>
          <a:prstGeom prst="rect">
            <a:avLst/>
          </a:prstGeom>
          <a:noFill/>
        </p:spPr>
        <p:txBody>
          <a:bodyPr wrap="square" lIns="0" rIns="0" tIns="0" bIns="0">
            <a:spAutoFit/>
          </a:bodyPr>
          <a:lstStyle/>
          <a:p>
            <a:pPr algn="l">
              <a:lnSpc>
                <a:spcPts val="1855"/>
              </a:lnSpc>
              <a:spcAft>
                <a:spcPts val="0"/>
              </a:spcAft>
            </a:pPr>
            <a:r>
              <a:rPr sz="1450" b="1" i="0">
                <a:solidFill>
                  <a:srgbClr val="212529"/>
                </a:solidFill>
                <a:latin typeface="Garamond"/>
              </a:rPr>
              <a:t>In the public files</a:t>
            </a:r>
          </a:p>
        </p:txBody>
      </p:sp>
      <p:cxnSp>
        <p:nvCxnSpPr>
          <p:cNvPr id="7" name="Connector 6"/>
          <p:cNvCxnSpPr/>
          <p:nvPr/>
        </p:nvCxnSpPr>
        <p:spPr>
          <a:xfrm>
            <a:off x="822960" y="2112264"/>
            <a:ext cx="1078992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2221992"/>
            <a:ext cx="512064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Roster carried forward by the interviewer</a:t>
            </a:r>
          </a:p>
        </p:txBody>
      </p:sp>
      <p:sp>
        <p:nvSpPr>
          <p:cNvPr id="9" name="TextBox 8"/>
          <p:cNvSpPr txBox="1"/>
          <p:nvPr/>
        </p:nvSpPr>
        <p:spPr>
          <a:xfrm>
            <a:off x="6309360" y="2221992"/>
            <a:ext cx="53035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No person identifier at all</a:t>
            </a:r>
          </a:p>
        </p:txBody>
      </p:sp>
      <p:sp>
        <p:nvSpPr>
          <p:cNvPr id="10" name="TextBox 9"/>
          <p:cNvSpPr txBox="1"/>
          <p:nvPr/>
        </p:nvSpPr>
        <p:spPr>
          <a:xfrm>
            <a:off x="822960" y="2807208"/>
            <a:ext cx="512064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Each member keeps a line number</a:t>
            </a:r>
          </a:p>
        </p:txBody>
      </p:sp>
      <p:sp>
        <p:nvSpPr>
          <p:cNvPr id="11" name="TextBox 10"/>
          <p:cNvSpPr txBox="1"/>
          <p:nvPr/>
        </p:nvSpPr>
        <p:spPr>
          <a:xfrm>
            <a:off x="6309360" y="2807208"/>
            <a:ext cx="53035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Household id + dwelling id + line number reconstruct it</a:t>
            </a:r>
          </a:p>
        </p:txBody>
      </p:sp>
      <p:sp>
        <p:nvSpPr>
          <p:cNvPr id="12" name="TextBox 11"/>
          <p:cNvSpPr txBox="1"/>
          <p:nvPr/>
        </p:nvSpPr>
        <p:spPr>
          <a:xfrm>
            <a:off x="822960" y="3575304"/>
            <a:ext cx="512064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Occupation asked by dependent interviewing month to month</a:t>
            </a:r>
          </a:p>
        </p:txBody>
      </p:sp>
      <p:sp>
        <p:nvSpPr>
          <p:cNvPr id="13" name="TextBox 12"/>
          <p:cNvSpPr txBox="1"/>
          <p:nvPr/>
        </p:nvSpPr>
        <p:spPr>
          <a:xfrm>
            <a:off x="6309360" y="3575304"/>
            <a:ext cx="5303520" cy="384048"/>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Validated on sex, race, age advancing 0–2 years</a:t>
            </a:r>
          </a:p>
        </p:txBody>
      </p:sp>
      <p:sp>
        <p:nvSpPr>
          <p:cNvPr id="14" name="TextBox 13"/>
          <p:cNvSpPr txBox="1"/>
          <p:nvPr/>
        </p:nvSpPr>
        <p:spPr>
          <a:xfrm>
            <a:off x="822960" y="4343400"/>
            <a:ext cx="5120640" cy="384048"/>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Identity is known</a:t>
            </a:r>
          </a:p>
        </p:txBody>
      </p:sp>
      <p:sp>
        <p:nvSpPr>
          <p:cNvPr id="15" name="TextBox 14"/>
          <p:cNvSpPr txBox="1"/>
          <p:nvPr/>
        </p:nvSpPr>
        <p:spPr>
          <a:xfrm>
            <a:off x="6309360" y="4343400"/>
            <a:ext cx="5303520" cy="384048"/>
          </a:xfrm>
          <a:prstGeom prst="rect">
            <a:avLst/>
          </a:prstGeom>
          <a:noFill/>
        </p:spPr>
        <p:txBody>
          <a:bodyPr wrap="square" lIns="0" rIns="0" tIns="0" bIns="0">
            <a:spAutoFit/>
          </a:bodyPr>
          <a:lstStyle/>
          <a:p>
            <a:pPr algn="l">
              <a:lnSpc>
                <a:spcPts val="1855"/>
              </a:lnSpc>
              <a:spcAft>
                <a:spcPts val="0"/>
              </a:spcAft>
            </a:pPr>
            <a:r>
              <a:rPr sz="1450" b="1" i="0">
                <a:solidFill>
                  <a:srgbClr val="8F2B36"/>
                </a:solidFill>
                <a:latin typeface="Garamond"/>
              </a:rPr>
              <a:t>Identity is inferred. A mover replaced by someone of the same sex and similar age can slip through</a:t>
            </a:r>
          </a:p>
        </p:txBody>
      </p:sp>
      <p:cxnSp>
        <p:nvCxnSpPr>
          <p:cNvPr id="16" name="Connector 15"/>
          <p:cNvCxnSpPr/>
          <p:nvPr/>
        </p:nvCxnSpPr>
        <p:spPr>
          <a:xfrm>
            <a:off x="822960" y="5312664"/>
            <a:ext cx="1078992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How much is lost in linking, and who</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39</a:t>
            </a:r>
          </a:p>
        </p:txBody>
      </p:sp>
      <p:pic>
        <p:nvPicPr>
          <p:cNvPr id="4" name="Picture 3" descr="linkage_series.png"/>
          <p:cNvPicPr>
            <a:picLocks noChangeAspect="1"/>
          </p:cNvPicPr>
          <p:nvPr/>
        </p:nvPicPr>
        <p:blipFill>
          <a:blip r:embed="rId2"/>
          <a:stretch>
            <a:fillRect/>
          </a:stretch>
        </p:blipFill>
        <p:spPr>
          <a:xfrm>
            <a:off x="1119260" y="1051560"/>
            <a:ext cx="9922998" cy="4526280"/>
          </a:xfrm>
          <a:prstGeom prst="rect">
            <a:avLst/>
          </a:prstGeom>
        </p:spPr>
      </p:pic>
      <p:sp>
        <p:nvSpPr>
          <p:cNvPr id="5" name="TextBox 4"/>
          <p:cNvSpPr txBox="1"/>
          <p:nvPr/>
        </p:nvSpPr>
        <p:spPr>
          <a:xfrm>
            <a:off x="822960" y="580644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Teachers link more than other graduates, not less. But movers leave teaching more, so panel measures are lower bounds on mobility-related exit.</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Why the rate falls as the definition tightens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40</a:t>
            </a:r>
          </a:p>
        </p:txBody>
      </p:sp>
      <p:pic>
        <p:nvPicPr>
          <p:cNvPr id="4" name="Picture 3" descr="sighting_gradient.png"/>
          <p:cNvPicPr>
            <a:picLocks noChangeAspect="1"/>
          </p:cNvPicPr>
          <p:nvPr/>
        </p:nvPicPr>
        <p:blipFill>
          <a:blip r:embed="rId2"/>
          <a:stretch>
            <a:fillRect/>
          </a:stretch>
        </p:blipFill>
        <p:spPr>
          <a:xfrm>
            <a:off x="1965960" y="1024128"/>
            <a:ext cx="8229600" cy="4114800"/>
          </a:xfrm>
          <a:prstGeom prst="rect">
            <a:avLst/>
          </a:prstGeom>
        </p:spPr>
      </p:pic>
      <p:sp>
        <p:nvSpPr>
          <p:cNvPr id="5" name="TextBox 4"/>
          <p:cNvSpPr txBox="1"/>
          <p:nvPr/>
        </p:nvSpPr>
        <p:spPr>
          <a:xfrm>
            <a:off x="822960" y="5303520"/>
            <a:ext cx="10789920" cy="1005840"/>
          </a:xfrm>
          <a:prstGeom prst="rect">
            <a:avLst/>
          </a:prstGeom>
          <a:noFill/>
        </p:spPr>
        <p:txBody>
          <a:bodyPr wrap="square" lIns="0" rIns="0" tIns="0" bIns="0">
            <a:spAutoFit/>
          </a:bodyPr>
          <a:lstStyle/>
          <a:p>
            <a:pPr algn="l">
              <a:lnSpc>
                <a:spcPts val="1855"/>
              </a:lnSpc>
              <a:spcAft>
                <a:spcPts val="0"/>
              </a:spcAft>
            </a:pPr>
            <a:r>
              <a:rPr sz="1450" b="0" i="0">
                <a:solidFill>
                  <a:srgbClr val="212529"/>
                </a:solidFill>
                <a:latin typeface="Garamond"/>
              </a:rPr>
              <a:t>How many times must we see someone teaching in year 1 before calling them a teacher? Seen once, 54% are never seen teaching in their year-2 interviews. Seen in all four, 10%. The stricter the definition, the lower the measured leaving rate. That is the whole ladder of the six definitions.</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Public vs private schools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41</a:t>
            </a:r>
          </a:p>
        </p:txBody>
      </p:sp>
      <p:pic>
        <p:nvPicPr>
          <p:cNvPr id="4" name="Picture 3" descr="pubpriv_series.png"/>
          <p:cNvPicPr>
            <a:picLocks noChangeAspect="1"/>
          </p:cNvPicPr>
          <p:nvPr/>
        </p:nvPicPr>
        <p:blipFill>
          <a:blip r:embed="rId2"/>
          <a:stretch>
            <a:fillRect/>
          </a:stretch>
        </p:blipFill>
        <p:spPr>
          <a:xfrm>
            <a:off x="1234439" y="1097280"/>
            <a:ext cx="9692640" cy="4937760"/>
          </a:xfrm>
          <a:prstGeom prst="rect">
            <a:avLst/>
          </a:prstGeom>
        </p:spPr>
      </p:pic>
      <p:sp>
        <p:nvSpPr>
          <p:cNvPr id="5" name="Rounded Rectangle 4">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More professions, and their average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42</a:t>
            </a:r>
          </a:p>
        </p:txBody>
      </p:sp>
      <p:pic>
        <p:nvPicPr>
          <p:cNvPr id="4" name="Picture 3" descr="profs_ext.png"/>
          <p:cNvPicPr>
            <a:picLocks noChangeAspect="1"/>
          </p:cNvPicPr>
          <p:nvPr/>
        </p:nvPicPr>
        <p:blipFill>
          <a:blip r:embed="rId2"/>
          <a:stretch>
            <a:fillRect/>
          </a:stretch>
        </p:blipFill>
        <p:spPr>
          <a:xfrm>
            <a:off x="1563052" y="1097280"/>
            <a:ext cx="9035415" cy="4663440"/>
          </a:xfrm>
          <a:prstGeom prst="rect">
            <a:avLst/>
          </a:prstGeom>
        </p:spPr>
      </p:pic>
      <p:sp>
        <p:nvSpPr>
          <p:cNvPr id="5" name="TextBox 4"/>
          <p:cNvSpPr txBox="1"/>
          <p:nvPr/>
        </p:nvSpPr>
        <p:spPr>
          <a:xfrm>
            <a:off x="822960" y="5897880"/>
            <a:ext cx="10789920" cy="365760"/>
          </a:xfrm>
          <a:prstGeom prst="rect">
            <a:avLst/>
          </a:prstGeom>
          <a:noFill/>
        </p:spPr>
        <p:txBody>
          <a:bodyPr wrap="square" lIns="0" rIns="0" tIns="0" bIns="0">
            <a:spAutoFit/>
          </a:bodyPr>
          <a:lstStyle/>
          <a:p>
            <a:pPr algn="l">
              <a:lnSpc>
                <a:spcPts val="1600"/>
              </a:lnSpc>
              <a:spcAft>
                <a:spcPts val="0"/>
              </a:spcAft>
            </a:pPr>
            <a:r>
              <a:rPr sz="1250" b="0" i="1">
                <a:solidFill>
                  <a:srgbClr val="6B7480"/>
                </a:solidFill>
                <a:latin typeface="Garamond"/>
              </a:rPr>
              <a:t>Three-year moving averages, for readability with nine professions. The main charts use the raw annual series.</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Our destinations vs the NCES follow-up survey</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43</a:t>
            </a:r>
          </a:p>
        </p:txBody>
      </p:sp>
      <p:cxnSp>
        <p:nvCxnSpPr>
          <p:cNvPr id="4" name="Connector 3"/>
          <p:cNvCxnSpPr/>
          <p:nvPr/>
        </p:nvCxnSpPr>
        <p:spPr>
          <a:xfrm>
            <a:off x="548640" y="1417320"/>
            <a:ext cx="53949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527048"/>
            <a:ext cx="3017520" cy="320040"/>
          </a:xfrm>
          <a:prstGeom prst="rect">
            <a:avLst/>
          </a:prstGeom>
          <a:noFill/>
        </p:spPr>
        <p:txBody>
          <a:bodyPr wrap="square" lIns="0" rIns="0" tIns="0" bIns="0">
            <a:spAutoFit/>
          </a:bodyPr>
          <a:lstStyle/>
          <a:p>
            <a:pPr algn="l">
              <a:lnSpc>
                <a:spcPts val="1664"/>
              </a:lnSpc>
              <a:spcAft>
                <a:spcPts val="0"/>
              </a:spcAft>
            </a:pPr>
            <a:r>
              <a:rPr sz="1300" b="1" i="0">
                <a:solidFill>
                  <a:srgbClr val="212529"/>
                </a:solidFill>
                <a:latin typeface="Garamond"/>
              </a:rPr>
              <a:t>Of every 100 leavers…</a:t>
            </a:r>
          </a:p>
        </p:txBody>
      </p:sp>
      <p:sp>
        <p:nvSpPr>
          <p:cNvPr id="6" name="TextBox 5"/>
          <p:cNvSpPr txBox="1"/>
          <p:nvPr/>
        </p:nvSpPr>
        <p:spPr>
          <a:xfrm>
            <a:off x="3657600" y="1527048"/>
            <a:ext cx="1097280" cy="320040"/>
          </a:xfrm>
          <a:prstGeom prst="rect">
            <a:avLst/>
          </a:prstGeom>
          <a:noFill/>
        </p:spPr>
        <p:txBody>
          <a:bodyPr wrap="square" lIns="0" rIns="0" tIns="0" bIns="0">
            <a:spAutoFit/>
          </a:bodyPr>
          <a:lstStyle/>
          <a:p>
            <a:pPr algn="r">
              <a:lnSpc>
                <a:spcPts val="1664"/>
              </a:lnSpc>
              <a:spcAft>
                <a:spcPts val="0"/>
              </a:spcAft>
            </a:pPr>
            <a:r>
              <a:rPr sz="1300" b="1" i="0">
                <a:solidFill>
                  <a:srgbClr val="212529"/>
                </a:solidFill>
                <a:latin typeface="Garamond"/>
              </a:rPr>
              <a:t>CPS</a:t>
            </a:r>
          </a:p>
        </p:txBody>
      </p:sp>
      <p:sp>
        <p:nvSpPr>
          <p:cNvPr id="7" name="TextBox 6"/>
          <p:cNvSpPr txBox="1"/>
          <p:nvPr/>
        </p:nvSpPr>
        <p:spPr>
          <a:xfrm>
            <a:off x="4846320" y="1527048"/>
            <a:ext cx="1097280" cy="320040"/>
          </a:xfrm>
          <a:prstGeom prst="rect">
            <a:avLst/>
          </a:prstGeom>
          <a:noFill/>
        </p:spPr>
        <p:txBody>
          <a:bodyPr wrap="square" lIns="0" rIns="0" tIns="0" bIns="0">
            <a:spAutoFit/>
          </a:bodyPr>
          <a:lstStyle/>
          <a:p>
            <a:pPr algn="r">
              <a:lnSpc>
                <a:spcPts val="1664"/>
              </a:lnSpc>
              <a:spcAft>
                <a:spcPts val="0"/>
              </a:spcAft>
            </a:pPr>
            <a:r>
              <a:rPr sz="1300" b="1" i="0">
                <a:solidFill>
                  <a:srgbClr val="212529"/>
                </a:solidFill>
                <a:latin typeface="Garamond"/>
              </a:rPr>
              <a:t>TFS</a:t>
            </a:r>
          </a:p>
        </p:txBody>
      </p:sp>
      <p:sp>
        <p:nvSpPr>
          <p:cNvPr id="8" name="TextBox 7"/>
          <p:cNvSpPr txBox="1"/>
          <p:nvPr/>
        </p:nvSpPr>
        <p:spPr>
          <a:xfrm>
            <a:off x="3657600" y="1847088"/>
            <a:ext cx="1097280" cy="320040"/>
          </a:xfrm>
          <a:prstGeom prst="rect">
            <a:avLst/>
          </a:prstGeom>
          <a:noFill/>
        </p:spPr>
        <p:txBody>
          <a:bodyPr wrap="square" lIns="0" rIns="0" tIns="0" bIns="0">
            <a:spAutoFit/>
          </a:bodyPr>
          <a:lstStyle/>
          <a:p>
            <a:pPr algn="r">
              <a:lnSpc>
                <a:spcPts val="1344"/>
              </a:lnSpc>
              <a:spcAft>
                <a:spcPts val="0"/>
              </a:spcAft>
            </a:pPr>
            <a:r>
              <a:rPr sz="1050" b="0" i="0">
                <a:solidFill>
                  <a:srgbClr val="6B7480"/>
                </a:solidFill>
                <a:latin typeface="Garamond"/>
              </a:rPr>
              <a:t>2020–24 avg.</a:t>
            </a:r>
          </a:p>
        </p:txBody>
      </p:sp>
      <p:sp>
        <p:nvSpPr>
          <p:cNvPr id="9" name="TextBox 8"/>
          <p:cNvSpPr txBox="1"/>
          <p:nvPr/>
        </p:nvSpPr>
        <p:spPr>
          <a:xfrm>
            <a:off x="4846320" y="1847088"/>
            <a:ext cx="1097280" cy="320040"/>
          </a:xfrm>
          <a:prstGeom prst="rect">
            <a:avLst/>
          </a:prstGeom>
          <a:noFill/>
        </p:spPr>
        <p:txBody>
          <a:bodyPr wrap="square" lIns="0" rIns="0" tIns="0" bIns="0">
            <a:spAutoFit/>
          </a:bodyPr>
          <a:lstStyle/>
          <a:p>
            <a:pPr algn="r">
              <a:lnSpc>
                <a:spcPts val="1344"/>
              </a:lnSpc>
              <a:spcAft>
                <a:spcPts val="0"/>
              </a:spcAft>
            </a:pPr>
            <a:r>
              <a:rPr sz="1050" b="1" i="0">
                <a:solidFill>
                  <a:srgbClr val="212529"/>
                </a:solidFill>
                <a:latin typeface="Garamond"/>
              </a:rPr>
              <a:t>2021–22</a:t>
            </a:r>
          </a:p>
        </p:txBody>
      </p:sp>
      <p:cxnSp>
        <p:nvCxnSpPr>
          <p:cNvPr id="10" name="Connector 9"/>
          <p:cNvCxnSpPr/>
          <p:nvPr/>
        </p:nvCxnSpPr>
        <p:spPr>
          <a:xfrm>
            <a:off x="548640" y="2185416"/>
            <a:ext cx="539496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229514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Working in another job</a:t>
            </a:r>
          </a:p>
        </p:txBody>
      </p:sp>
      <p:sp>
        <p:nvSpPr>
          <p:cNvPr id="12" name="TextBox 11"/>
          <p:cNvSpPr txBox="1"/>
          <p:nvPr/>
        </p:nvSpPr>
        <p:spPr>
          <a:xfrm>
            <a:off x="3657600" y="229514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28.8</a:t>
            </a:r>
          </a:p>
        </p:txBody>
      </p:sp>
      <p:sp>
        <p:nvSpPr>
          <p:cNvPr id="13" name="TextBox 12"/>
          <p:cNvSpPr txBox="1"/>
          <p:nvPr/>
        </p:nvSpPr>
        <p:spPr>
          <a:xfrm>
            <a:off x="4846320" y="229514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57.2</a:t>
            </a:r>
          </a:p>
        </p:txBody>
      </p:sp>
      <p:sp>
        <p:nvSpPr>
          <p:cNvPr id="14" name="TextBox 13"/>
          <p:cNvSpPr txBox="1"/>
          <p:nvPr/>
        </p:nvSpPr>
        <p:spPr>
          <a:xfrm>
            <a:off x="548640" y="261518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   K–12, non-teaching</a:t>
            </a:r>
          </a:p>
        </p:txBody>
      </p:sp>
      <p:sp>
        <p:nvSpPr>
          <p:cNvPr id="15" name="TextBox 14"/>
          <p:cNvSpPr txBox="1"/>
          <p:nvPr/>
        </p:nvSpPr>
        <p:spPr>
          <a:xfrm>
            <a:off x="3657600" y="261518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a:t>
            </a:r>
          </a:p>
        </p:txBody>
      </p:sp>
      <p:sp>
        <p:nvSpPr>
          <p:cNvPr id="16" name="TextBox 15"/>
          <p:cNvSpPr txBox="1"/>
          <p:nvPr/>
        </p:nvSpPr>
        <p:spPr>
          <a:xfrm>
            <a:off x="4846320" y="261518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39.3</a:t>
            </a:r>
          </a:p>
        </p:txBody>
      </p:sp>
      <p:sp>
        <p:nvSpPr>
          <p:cNvPr id="17" name="TextBox 16"/>
          <p:cNvSpPr txBox="1"/>
          <p:nvPr/>
        </p:nvSpPr>
        <p:spPr>
          <a:xfrm>
            <a:off x="548640" y="293522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   outside education</a:t>
            </a:r>
          </a:p>
        </p:txBody>
      </p:sp>
      <p:sp>
        <p:nvSpPr>
          <p:cNvPr id="18" name="TextBox 17"/>
          <p:cNvSpPr txBox="1"/>
          <p:nvPr/>
        </p:nvSpPr>
        <p:spPr>
          <a:xfrm>
            <a:off x="3657600" y="293522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a:t>
            </a:r>
          </a:p>
        </p:txBody>
      </p:sp>
      <p:sp>
        <p:nvSpPr>
          <p:cNvPr id="19" name="TextBox 18"/>
          <p:cNvSpPr txBox="1"/>
          <p:nvPr/>
        </p:nvSpPr>
        <p:spPr>
          <a:xfrm>
            <a:off x="4846320" y="293522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11.8</a:t>
            </a:r>
          </a:p>
        </p:txBody>
      </p:sp>
      <p:sp>
        <p:nvSpPr>
          <p:cNvPr id="20" name="TextBox 19"/>
          <p:cNvSpPr txBox="1"/>
          <p:nvPr/>
        </p:nvSpPr>
        <p:spPr>
          <a:xfrm>
            <a:off x="548640" y="325526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Retired / out of LF, 55+</a:t>
            </a:r>
          </a:p>
        </p:txBody>
      </p:sp>
      <p:sp>
        <p:nvSpPr>
          <p:cNvPr id="21" name="TextBox 20"/>
          <p:cNvSpPr txBox="1"/>
          <p:nvPr/>
        </p:nvSpPr>
        <p:spPr>
          <a:xfrm>
            <a:off x="3657600" y="325526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36.4</a:t>
            </a:r>
          </a:p>
        </p:txBody>
      </p:sp>
      <p:sp>
        <p:nvSpPr>
          <p:cNvPr id="22" name="TextBox 21"/>
          <p:cNvSpPr txBox="1"/>
          <p:nvPr/>
        </p:nvSpPr>
        <p:spPr>
          <a:xfrm>
            <a:off x="4846320" y="325526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27.7</a:t>
            </a:r>
          </a:p>
        </p:txBody>
      </p:sp>
      <p:sp>
        <p:nvSpPr>
          <p:cNvPr id="23" name="TextBox 22"/>
          <p:cNvSpPr txBox="1"/>
          <p:nvPr/>
        </p:nvSpPr>
        <p:spPr>
          <a:xfrm>
            <a:off x="548640" y="357530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Out of the LF, under 55</a:t>
            </a:r>
          </a:p>
        </p:txBody>
      </p:sp>
      <p:sp>
        <p:nvSpPr>
          <p:cNvPr id="24" name="TextBox 23"/>
          <p:cNvSpPr txBox="1"/>
          <p:nvPr/>
        </p:nvSpPr>
        <p:spPr>
          <a:xfrm>
            <a:off x="3657600" y="357530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23.7</a:t>
            </a:r>
          </a:p>
        </p:txBody>
      </p:sp>
      <p:sp>
        <p:nvSpPr>
          <p:cNvPr id="25" name="TextBox 24"/>
          <p:cNvSpPr txBox="1"/>
          <p:nvPr/>
        </p:nvSpPr>
        <p:spPr>
          <a:xfrm>
            <a:off x="4846320" y="357530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10.1</a:t>
            </a:r>
          </a:p>
        </p:txBody>
      </p:sp>
      <p:sp>
        <p:nvSpPr>
          <p:cNvPr id="26" name="TextBox 25"/>
          <p:cNvSpPr txBox="1"/>
          <p:nvPr/>
        </p:nvSpPr>
        <p:spPr>
          <a:xfrm>
            <a:off x="548640" y="3895344"/>
            <a:ext cx="3017520" cy="320040"/>
          </a:xfrm>
          <a:prstGeom prst="rect">
            <a:avLst/>
          </a:prstGeom>
          <a:noFill/>
        </p:spPr>
        <p:txBody>
          <a:bodyPr wrap="square" lIns="0" rIns="0" tIns="0" bIns="0">
            <a:spAutoFit/>
          </a:bodyPr>
          <a:lstStyle/>
          <a:p>
            <a:pPr algn="l">
              <a:lnSpc>
                <a:spcPts val="1664"/>
              </a:lnSpc>
              <a:spcAft>
                <a:spcPts val="0"/>
              </a:spcAft>
            </a:pPr>
            <a:r>
              <a:rPr sz="1300" b="0" i="0">
                <a:solidFill>
                  <a:srgbClr val="212529"/>
                </a:solidFill>
                <a:latin typeface="Garamond"/>
              </a:rPr>
              <a:t>Unemployed</a:t>
            </a:r>
          </a:p>
        </p:txBody>
      </p:sp>
      <p:sp>
        <p:nvSpPr>
          <p:cNvPr id="27" name="TextBox 26"/>
          <p:cNvSpPr txBox="1"/>
          <p:nvPr/>
        </p:nvSpPr>
        <p:spPr>
          <a:xfrm>
            <a:off x="3657600" y="389534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11.1</a:t>
            </a:r>
          </a:p>
        </p:txBody>
      </p:sp>
      <p:sp>
        <p:nvSpPr>
          <p:cNvPr id="28" name="TextBox 27"/>
          <p:cNvSpPr txBox="1"/>
          <p:nvPr/>
        </p:nvSpPr>
        <p:spPr>
          <a:xfrm>
            <a:off x="4846320" y="3895344"/>
            <a:ext cx="1097280" cy="320040"/>
          </a:xfrm>
          <a:prstGeom prst="rect">
            <a:avLst/>
          </a:prstGeom>
          <a:noFill/>
        </p:spPr>
        <p:txBody>
          <a:bodyPr wrap="square" lIns="0" rIns="0" tIns="0" bIns="0">
            <a:spAutoFit/>
          </a:bodyPr>
          <a:lstStyle/>
          <a:p>
            <a:pPr algn="r">
              <a:lnSpc>
                <a:spcPts val="1664"/>
              </a:lnSpc>
              <a:spcAft>
                <a:spcPts val="0"/>
              </a:spcAft>
            </a:pPr>
            <a:r>
              <a:rPr sz="1300" b="0" i="0">
                <a:solidFill>
                  <a:srgbClr val="212529"/>
                </a:solidFill>
                <a:latin typeface="Garamond"/>
              </a:rPr>
              <a:t>4.8</a:t>
            </a:r>
          </a:p>
        </p:txBody>
      </p:sp>
      <p:cxnSp>
        <p:nvCxnSpPr>
          <p:cNvPr id="29" name="Connector 28"/>
          <p:cNvCxnSpPr/>
          <p:nvPr/>
        </p:nvCxnSpPr>
        <p:spPr>
          <a:xfrm>
            <a:off x="548640" y="4251960"/>
            <a:ext cx="53949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398264"/>
            <a:ext cx="5486400" cy="1097280"/>
          </a:xfrm>
          <a:prstGeom prst="rect">
            <a:avLst/>
          </a:prstGeom>
          <a:noFill/>
        </p:spPr>
        <p:txBody>
          <a:bodyPr wrap="square" lIns="0" rIns="0" tIns="0" bIns="0">
            <a:spAutoFit/>
          </a:bodyPr>
          <a:lstStyle/>
          <a:p>
            <a:pPr algn="l">
              <a:lnSpc>
                <a:spcPts val="1408"/>
              </a:lnSpc>
              <a:spcAft>
                <a:spcPts val="0"/>
              </a:spcAft>
            </a:pPr>
            <a:r>
              <a:rPr sz="1100" b="0" i="1">
                <a:solidFill>
                  <a:srgbClr val="6B7480"/>
                </a:solidFill>
                <a:latin typeface="Garamond"/>
              </a:rPr>
              <a:t>TFS is the Teacher Follow-up Survey 2021–22, the follow-up of the 2020–21 NTPS. Sources: NCES 2024-039, table A-8, and NTPS estimate tables.</a:t>
            </a:r>
          </a:p>
        </p:txBody>
      </p:sp>
      <p:sp>
        <p:nvSpPr>
          <p:cNvPr id="31" name="TextBox 30"/>
          <p:cNvSpPr txBox="1"/>
          <p:nvPr/>
        </p:nvSpPr>
        <p:spPr>
          <a:xfrm>
            <a:off x="6492240" y="1280160"/>
            <a:ext cx="5212080" cy="411480"/>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Why the columns differ</a:t>
            </a:r>
          </a:p>
        </p:txBody>
      </p:sp>
      <p:sp>
        <p:nvSpPr>
          <p:cNvPr id="32" name="TextBox 31"/>
          <p:cNvSpPr txBox="1"/>
          <p:nvPr/>
        </p:nvSpPr>
        <p:spPr>
          <a:xfrm>
            <a:off x="6492240" y="1783080"/>
            <a:ext cx="5212080" cy="5120640"/>
          </a:xfrm>
          <a:prstGeom prst="rect">
            <a:avLst/>
          </a:prstGeom>
          <a:noFill/>
        </p:spPr>
        <p:txBody>
          <a:bodyPr wrap="square" lIns="0" rIns="0" tIns="0" bIns="0">
            <a:spAutoFit/>
          </a:bodyPr>
          <a:lstStyle/>
          <a:p>
            <a:pPr algn="l">
              <a:lnSpc>
                <a:spcPts val="1536"/>
              </a:lnSpc>
              <a:spcAft>
                <a:spcPts val="1000"/>
              </a:spcAft>
            </a:pPr>
            <a:r>
              <a:rPr sz="1200" b="1" i="0">
                <a:solidFill>
                  <a:srgbClr val="2D6CB5"/>
                </a:solidFill>
                <a:latin typeface="Garamond"/>
              </a:rPr>
              <a:t>1.   </a:t>
            </a:r>
            <a:r>
              <a:rPr sz="1200" b="1" i="0">
                <a:solidFill>
                  <a:srgbClr val="102D5E"/>
                </a:solidFill>
                <a:latin typeface="Garamond"/>
              </a:rPr>
              <a:t>Who counts as a teacher.  </a:t>
            </a:r>
            <a:r>
              <a:rPr sz="1200" b="0" i="0">
                <a:solidFill>
                  <a:srgbClr val="212529"/>
                </a:solidFill>
                <a:latin typeface="Garamond"/>
              </a:rPr>
              <a:t>TFS follows regular classroom teachers of public schools, sampled in schools. We cover public and private, and anyone whose longest job was teaching.</a:t>
            </a:r>
          </a:p>
          <a:p>
            <a:pPr algn="l">
              <a:lnSpc>
                <a:spcPts val="1536"/>
              </a:lnSpc>
              <a:spcAft>
                <a:spcPts val="1000"/>
              </a:spcAft>
            </a:pPr>
            <a:r>
              <a:rPr sz="1200" b="1" i="0">
                <a:solidFill>
                  <a:srgbClr val="2D6CB5"/>
                </a:solidFill>
                <a:latin typeface="Garamond"/>
              </a:rPr>
              <a:t>2.   </a:t>
            </a:r>
            <a:r>
              <a:rPr sz="1200" b="1" i="0">
                <a:solidFill>
                  <a:srgbClr val="102D5E"/>
                </a:solidFill>
                <a:latin typeface="Garamond"/>
              </a:rPr>
              <a:t>What counts as working.  </a:t>
            </a:r>
            <a:r>
              <a:rPr sz="1200" b="0" i="0">
                <a:solidFill>
                  <a:srgbClr val="212529"/>
                </a:solidFill>
                <a:latin typeface="Garamond"/>
              </a:rPr>
              <a:t>39 of the TFS’s 57 employed leavers hold non-teaching K–12 jobs. They left the classroom, not the school system. Our 28.8 means leaving the teaching occupation.</a:t>
            </a:r>
          </a:p>
          <a:p>
            <a:pPr algn="l">
              <a:lnSpc>
                <a:spcPts val="1536"/>
              </a:lnSpc>
              <a:spcAft>
                <a:spcPts val="1000"/>
              </a:spcAft>
            </a:pPr>
            <a:r>
              <a:rPr sz="1200" b="1" i="0">
                <a:solidFill>
                  <a:srgbClr val="2D6CB5"/>
                </a:solidFill>
                <a:latin typeface="Garamond"/>
              </a:rPr>
              <a:t>3.   </a:t>
            </a:r>
            <a:r>
              <a:rPr sz="1200" b="1" i="0">
                <a:solidFill>
                  <a:srgbClr val="102D5E"/>
                </a:solidFill>
                <a:latin typeface="Garamond"/>
              </a:rPr>
              <a:t>Who is reachable.  </a:t>
            </a:r>
            <a:r>
              <a:rPr sz="1200" b="0" i="0">
                <a:solidFill>
                  <a:srgbClr val="212529"/>
                </a:solidFill>
                <a:latin typeface="Garamond"/>
              </a:rPr>
              <a:t>A school-based sample under-represents weakly attached teachers, exactly those who exit to non-participation. A household survey catches them.</a:t>
            </a:r>
          </a:p>
          <a:p>
            <a:pPr algn="l">
              <a:lnSpc>
                <a:spcPts val="1536"/>
              </a:lnSpc>
              <a:spcAft>
                <a:spcPts val="0"/>
              </a:spcAft>
            </a:pPr>
            <a:r>
              <a:rPr sz="1200" b="1" i="0">
                <a:solidFill>
                  <a:srgbClr val="2D6CB5"/>
                </a:solidFill>
                <a:latin typeface="Garamond"/>
              </a:rPr>
              <a:t>4.   </a:t>
            </a:r>
            <a:r>
              <a:rPr sz="1200" b="1" i="0">
                <a:solidFill>
                  <a:srgbClr val="102D5E"/>
                </a:solidFill>
                <a:latin typeface="Garamond"/>
              </a:rPr>
              <a:t>The window.  </a:t>
            </a:r>
            <a:r>
              <a:rPr sz="1200" b="0" i="0">
                <a:solidFill>
                  <a:srgbClr val="212529"/>
                </a:solidFill>
                <a:latin typeface="Garamond"/>
              </a:rPr>
              <a:t>Our column averages five years, 2020–2024. The TFS is the single year 2021–22.</a:t>
            </a:r>
          </a:p>
        </p:txBody>
      </p:sp>
      <p:sp>
        <p:nvSpPr>
          <p:cNvPr id="33" name="Rounded Rectangle 32">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same cascade, pooled 1997–2024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44</a:t>
            </a:r>
          </a:p>
        </p:txBody>
      </p:sp>
      <p:pic>
        <p:nvPicPr>
          <p:cNvPr id="4" name="Picture 3" descr="flow_olf55_pooled.png"/>
          <p:cNvPicPr>
            <a:picLocks noChangeAspect="1"/>
          </p:cNvPicPr>
          <p:nvPr/>
        </p:nvPicPr>
        <p:blipFill>
          <a:blip r:embed="rId2"/>
          <a:stretch>
            <a:fillRect/>
          </a:stretch>
        </p:blipFill>
        <p:spPr>
          <a:xfrm>
            <a:off x="1357685" y="1051560"/>
            <a:ext cx="9446149" cy="4526280"/>
          </a:xfrm>
          <a:prstGeom prst="rect">
            <a:avLst/>
          </a:prstGeom>
        </p:spPr>
      </p:pic>
      <p:sp>
        <p:nvSpPr>
          <p:cNvPr id="5" name="TextBox 4"/>
          <p:cNvSpPr txBox="1"/>
          <p:nvPr/>
        </p:nvSpPr>
        <p:spPr>
          <a:xfrm>
            <a:off x="822960" y="5715000"/>
            <a:ext cx="10789920" cy="914400"/>
          </a:xfrm>
          <a:prstGeom prst="rect">
            <a:avLst/>
          </a:prstGeom>
          <a:noFill/>
        </p:spPr>
        <p:txBody>
          <a:bodyPr wrap="square" lIns="0" rIns="0" tIns="0" bIns="0">
            <a:spAutoFit/>
          </a:bodyPr>
          <a:lstStyle/>
          <a:p>
            <a:pPr algn="l">
              <a:lnSpc>
                <a:spcPts val="1728"/>
              </a:lnSpc>
              <a:spcAft>
                <a:spcPts val="0"/>
              </a:spcAft>
            </a:pPr>
            <a:r>
              <a:rPr sz="1350" b="0" i="0">
                <a:solidFill>
                  <a:srgbClr val="212529"/>
                </a:solidFill>
                <a:latin typeface="Garamond"/>
              </a:rPr>
              <a:t>Over the whole period (6,931 leavers) the picture is the same: 29 of every 100 leavers exit the labor force before 55, and 53% of them are mothers with a child at home (15 of the 29). The five-year window is not driving the composition.</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same flow, pooled 1997–2024</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45</a:t>
            </a:r>
          </a:p>
        </p:txBody>
      </p:sp>
      <p:pic>
        <p:nvPicPr>
          <p:cNvPr id="4" name="Picture 3" descr="flow_employed_pooled.png"/>
          <p:cNvPicPr>
            <a:picLocks noChangeAspect="1"/>
          </p:cNvPicPr>
          <p:nvPr/>
        </p:nvPicPr>
        <p:blipFill>
          <a:blip r:embed="rId2"/>
          <a:stretch>
            <a:fillRect/>
          </a:stretch>
        </p:blipFill>
        <p:spPr>
          <a:xfrm>
            <a:off x="1357685" y="1051560"/>
            <a:ext cx="9446149" cy="4526280"/>
          </a:xfrm>
          <a:prstGeom prst="rect">
            <a:avLst/>
          </a:prstGeom>
        </p:spPr>
      </p:pic>
      <p:sp>
        <p:nvSpPr>
          <p:cNvPr id="5" name="TextBox 4"/>
          <p:cNvSpPr txBox="1"/>
          <p:nvPr/>
        </p:nvSpPr>
        <p:spPr>
          <a:xfrm>
            <a:off x="822960" y="5715000"/>
            <a:ext cx="10789920" cy="914400"/>
          </a:xfrm>
          <a:prstGeom prst="rect">
            <a:avLst/>
          </a:prstGeom>
          <a:noFill/>
        </p:spPr>
        <p:txBody>
          <a:bodyPr wrap="square" lIns="0" rIns="0" tIns="0" bIns="0">
            <a:spAutoFit/>
          </a:bodyPr>
          <a:lstStyle/>
          <a:p>
            <a:pPr algn="l">
              <a:lnSpc>
                <a:spcPts val="1728"/>
              </a:lnSpc>
              <a:spcAft>
                <a:spcPts val="0"/>
              </a:spcAft>
            </a:pPr>
            <a:r>
              <a:rPr sz="1350" b="0" i="0">
                <a:solidFill>
                  <a:srgbClr val="212529"/>
                </a:solidFill>
                <a:latin typeface="Garamond"/>
              </a:rPr>
              <a:t>Over the whole period 1997–2024 (6,866 leavers, destination groups mapped across the 1990 and 2002/2010/2018 classifications) the composition barely moves: 27 to another job, 33 retired, 28 out of the labor force before 55 and 12 unemployed; the employed split is 22 / 8 / 30 / 40 percent. The five-year window is not driving the picture.</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Do switchers earn more?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46</a:t>
            </a:r>
          </a:p>
        </p:txBody>
      </p:sp>
      <p:pic>
        <p:nvPicPr>
          <p:cNvPr id="4" name="Picture 3" descr="pay7_destinations_deck.png"/>
          <p:cNvPicPr>
            <a:picLocks noChangeAspect="1"/>
          </p:cNvPicPr>
          <p:nvPr/>
        </p:nvPicPr>
        <p:blipFill>
          <a:blip r:embed="rId2"/>
          <a:stretch>
            <a:fillRect/>
          </a:stretch>
        </p:blipFill>
        <p:spPr>
          <a:xfrm>
            <a:off x="1600199" y="1051560"/>
            <a:ext cx="8961120" cy="4480560"/>
          </a:xfrm>
          <a:prstGeom prst="rect">
            <a:avLst/>
          </a:prstGeom>
        </p:spPr>
      </p:pic>
      <p:sp>
        <p:nvSpPr>
          <p:cNvPr id="5" name="TextBox 4"/>
          <p:cNvSpPr txBox="1"/>
          <p:nvPr/>
        </p:nvSpPr>
        <p:spPr>
          <a:xfrm>
            <a:off x="822960" y="5715000"/>
            <a:ext cx="10789920" cy="914400"/>
          </a:xfrm>
          <a:prstGeom prst="rect">
            <a:avLst/>
          </a:prstGeom>
          <a:noFill/>
        </p:spPr>
        <p:txBody>
          <a:bodyPr wrap="square" lIns="0" rIns="0" tIns="0" bIns="0">
            <a:spAutoFit/>
          </a:bodyPr>
          <a:lstStyle/>
          <a:p>
            <a:pPr algn="l">
              <a:lnSpc>
                <a:spcPts val="1728"/>
              </a:lnSpc>
              <a:spcAft>
                <a:spcPts val="0"/>
              </a:spcAft>
            </a:pPr>
            <a:r>
              <a:rPr sz="1350" b="0" i="0">
                <a:solidFill>
                  <a:srgbClr val="212529"/>
                </a:solidFill>
                <a:latin typeface="Garamond"/>
              </a:rPr>
              <a:t>Same person observed in two consecutive March supplements. Moves into education jobs or care pay no more than staying; only the minority moving to other professional occupations clearly gains. Half of all switchers land in occupations whose median pay is below the teacher median.</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The proportions behind the destinations chart</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47</a:t>
            </a:r>
          </a:p>
        </p:txBody>
      </p:sp>
      <p:cxnSp>
        <p:nvCxnSpPr>
          <p:cNvPr id="4" name="Connector 3"/>
          <p:cNvCxnSpPr/>
          <p:nvPr/>
        </p:nvCxnSpPr>
        <p:spPr>
          <a:xfrm>
            <a:off x="822960" y="1554480"/>
            <a:ext cx="9143999"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1664207"/>
            <a:ext cx="6949440" cy="384048"/>
          </a:xfrm>
          <a:prstGeom prst="rect">
            <a:avLst/>
          </a:prstGeom>
          <a:noFill/>
        </p:spPr>
        <p:txBody>
          <a:bodyPr wrap="square" lIns="0" rIns="0" tIns="0" bIns="0">
            <a:spAutoFit/>
          </a:bodyPr>
          <a:lstStyle/>
          <a:p>
            <a:pPr algn="l">
              <a:lnSpc>
                <a:spcPts val="1920"/>
              </a:lnSpc>
              <a:spcAft>
                <a:spcPts val="0"/>
              </a:spcAft>
            </a:pPr>
            <a:r>
              <a:rPr sz="1500" b="1" i="0">
                <a:solidFill>
                  <a:srgbClr val="212529"/>
                </a:solidFill>
                <a:latin typeface="Garamond"/>
              </a:rPr>
              <a:t>Of every 100 employed leavers…</a:t>
            </a:r>
          </a:p>
        </p:txBody>
      </p:sp>
      <p:sp>
        <p:nvSpPr>
          <p:cNvPr id="6" name="TextBox 5"/>
          <p:cNvSpPr txBox="1"/>
          <p:nvPr/>
        </p:nvSpPr>
        <p:spPr>
          <a:xfrm>
            <a:off x="7955279" y="1664207"/>
            <a:ext cx="2011680" cy="384048"/>
          </a:xfrm>
          <a:prstGeom prst="rect">
            <a:avLst/>
          </a:prstGeom>
          <a:noFill/>
        </p:spPr>
        <p:txBody>
          <a:bodyPr wrap="square" lIns="0" rIns="0" tIns="0" bIns="0">
            <a:spAutoFit/>
          </a:bodyPr>
          <a:lstStyle/>
          <a:p>
            <a:pPr algn="r">
              <a:lnSpc>
                <a:spcPts val="1920"/>
              </a:lnSpc>
              <a:spcAft>
                <a:spcPts val="0"/>
              </a:spcAft>
            </a:pPr>
            <a:r>
              <a:rPr sz="1500" b="1" i="0">
                <a:solidFill>
                  <a:srgbClr val="212529"/>
                </a:solidFill>
                <a:latin typeface="Garamond"/>
              </a:rPr>
              <a:t>share</a:t>
            </a:r>
          </a:p>
        </p:txBody>
      </p:sp>
      <p:cxnSp>
        <p:nvCxnSpPr>
          <p:cNvPr id="7" name="Connector 6"/>
          <p:cNvCxnSpPr/>
          <p:nvPr/>
        </p:nvCxnSpPr>
        <p:spPr>
          <a:xfrm>
            <a:off x="822960" y="2066543"/>
            <a:ext cx="9143999"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2176272"/>
            <a:ext cx="694944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Education, non-teaching</a:t>
            </a:r>
          </a:p>
        </p:txBody>
      </p:sp>
      <p:sp>
        <p:nvSpPr>
          <p:cNvPr id="9" name="TextBox 8"/>
          <p:cNvSpPr txBox="1"/>
          <p:nvPr/>
        </p:nvSpPr>
        <p:spPr>
          <a:xfrm>
            <a:off x="7955279" y="2176272"/>
            <a:ext cx="201168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22.6</a:t>
            </a:r>
          </a:p>
        </p:txBody>
      </p:sp>
      <p:sp>
        <p:nvSpPr>
          <p:cNvPr id="10" name="TextBox 9"/>
          <p:cNvSpPr txBox="1"/>
          <p:nvPr/>
        </p:nvSpPr>
        <p:spPr>
          <a:xfrm>
            <a:off x="822960" y="2560320"/>
            <a:ext cx="694944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Care</a:t>
            </a:r>
          </a:p>
        </p:txBody>
      </p:sp>
      <p:sp>
        <p:nvSpPr>
          <p:cNvPr id="11" name="TextBox 10"/>
          <p:cNvSpPr txBox="1"/>
          <p:nvPr/>
        </p:nvSpPr>
        <p:spPr>
          <a:xfrm>
            <a:off x="7955279" y="2560320"/>
            <a:ext cx="201168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8.5</a:t>
            </a:r>
          </a:p>
        </p:txBody>
      </p:sp>
      <p:sp>
        <p:nvSpPr>
          <p:cNvPr id="12" name="TextBox 11"/>
          <p:cNvSpPr txBox="1"/>
          <p:nvPr/>
        </p:nvSpPr>
        <p:spPr>
          <a:xfrm>
            <a:off x="822960" y="2944368"/>
            <a:ext cx="694944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Professional and managerial</a:t>
            </a:r>
          </a:p>
        </p:txBody>
      </p:sp>
      <p:sp>
        <p:nvSpPr>
          <p:cNvPr id="13" name="TextBox 12"/>
          <p:cNvSpPr txBox="1"/>
          <p:nvPr/>
        </p:nvSpPr>
        <p:spPr>
          <a:xfrm>
            <a:off x="7955279" y="2944368"/>
            <a:ext cx="201168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32.4</a:t>
            </a:r>
          </a:p>
        </p:txBody>
      </p:sp>
      <p:sp>
        <p:nvSpPr>
          <p:cNvPr id="14" name="TextBox 13"/>
          <p:cNvSpPr txBox="1"/>
          <p:nvPr/>
        </p:nvSpPr>
        <p:spPr>
          <a:xfrm>
            <a:off x="822960" y="3328415"/>
            <a:ext cx="6949440" cy="384048"/>
          </a:xfrm>
          <a:prstGeom prst="rect">
            <a:avLst/>
          </a:prstGeom>
          <a:noFill/>
        </p:spPr>
        <p:txBody>
          <a:bodyPr wrap="square" lIns="0" rIns="0" tIns="0" bIns="0">
            <a:spAutoFit/>
          </a:bodyPr>
          <a:lstStyle/>
          <a:p>
            <a:pPr algn="l">
              <a:lnSpc>
                <a:spcPts val="1920"/>
              </a:lnSpc>
              <a:spcAft>
                <a:spcPts val="0"/>
              </a:spcAft>
            </a:pPr>
            <a:r>
              <a:rPr sz="1500" b="0" i="0">
                <a:solidFill>
                  <a:srgbClr val="212529"/>
                </a:solidFill>
                <a:latin typeface="Garamond"/>
              </a:rPr>
              <a:t>Sales, office and manual</a:t>
            </a:r>
          </a:p>
        </p:txBody>
      </p:sp>
      <p:sp>
        <p:nvSpPr>
          <p:cNvPr id="15" name="TextBox 14"/>
          <p:cNvSpPr txBox="1"/>
          <p:nvPr/>
        </p:nvSpPr>
        <p:spPr>
          <a:xfrm>
            <a:off x="7955279" y="3328415"/>
            <a:ext cx="2011680" cy="384048"/>
          </a:xfrm>
          <a:prstGeom prst="rect">
            <a:avLst/>
          </a:prstGeom>
          <a:noFill/>
        </p:spPr>
        <p:txBody>
          <a:bodyPr wrap="square" lIns="0" rIns="0" tIns="0" bIns="0">
            <a:spAutoFit/>
          </a:bodyPr>
          <a:lstStyle/>
          <a:p>
            <a:pPr algn="r">
              <a:lnSpc>
                <a:spcPts val="1920"/>
              </a:lnSpc>
              <a:spcAft>
                <a:spcPts val="0"/>
              </a:spcAft>
            </a:pPr>
            <a:r>
              <a:rPr sz="1500" b="0" i="0">
                <a:solidFill>
                  <a:srgbClr val="212529"/>
                </a:solidFill>
                <a:latin typeface="Garamond"/>
              </a:rPr>
              <a:t>36.5</a:t>
            </a:r>
          </a:p>
        </p:txBody>
      </p:sp>
      <p:cxnSp>
        <p:nvCxnSpPr>
          <p:cNvPr id="16" name="Connector 15"/>
          <p:cNvCxnSpPr/>
          <p:nvPr/>
        </p:nvCxnSpPr>
        <p:spPr>
          <a:xfrm>
            <a:off x="822960" y="3730751"/>
            <a:ext cx="9143999"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840479"/>
            <a:ext cx="6949440" cy="384048"/>
          </a:xfrm>
          <a:prstGeom prst="rect">
            <a:avLst/>
          </a:prstGeom>
          <a:noFill/>
        </p:spPr>
        <p:txBody>
          <a:bodyPr wrap="square" lIns="0" rIns="0" tIns="0" bIns="0">
            <a:spAutoFit/>
          </a:bodyPr>
          <a:lstStyle/>
          <a:p>
            <a:pPr algn="l">
              <a:lnSpc>
                <a:spcPts val="1920"/>
              </a:lnSpc>
              <a:spcAft>
                <a:spcPts val="0"/>
              </a:spcAft>
            </a:pPr>
            <a:r>
              <a:rPr sz="1500" b="0" i="0">
                <a:solidFill>
                  <a:srgbClr val="8F2B36"/>
                </a:solidFill>
                <a:latin typeface="Garamond"/>
              </a:rPr>
              <a:t>Memo: occupations where fewer than half of US workers hold a college degree (in red)</a:t>
            </a:r>
          </a:p>
        </p:txBody>
      </p:sp>
      <p:sp>
        <p:nvSpPr>
          <p:cNvPr id="18" name="TextBox 17"/>
          <p:cNvSpPr txBox="1"/>
          <p:nvPr/>
        </p:nvSpPr>
        <p:spPr>
          <a:xfrm>
            <a:off x="7955279" y="3840479"/>
            <a:ext cx="2011680" cy="384048"/>
          </a:xfrm>
          <a:prstGeom prst="rect">
            <a:avLst/>
          </a:prstGeom>
          <a:noFill/>
        </p:spPr>
        <p:txBody>
          <a:bodyPr wrap="square" lIns="0" rIns="0" tIns="0" bIns="0">
            <a:spAutoFit/>
          </a:bodyPr>
          <a:lstStyle/>
          <a:p>
            <a:pPr algn="r">
              <a:lnSpc>
                <a:spcPts val="1920"/>
              </a:lnSpc>
              <a:spcAft>
                <a:spcPts val="0"/>
              </a:spcAft>
            </a:pPr>
            <a:r>
              <a:rPr sz="1500" b="1" i="0">
                <a:solidFill>
                  <a:srgbClr val="8F2B36"/>
                </a:solidFill>
                <a:latin typeface="Garamond"/>
              </a:rPr>
              <a:t>36.3</a:t>
            </a:r>
          </a:p>
        </p:txBody>
      </p:sp>
      <p:cxnSp>
        <p:nvCxnSpPr>
          <p:cNvPr id="19" name="Connector 18"/>
          <p:cNvCxnSpPr/>
          <p:nvPr/>
        </p:nvCxnSpPr>
        <p:spPr>
          <a:xfrm>
            <a:off x="822960" y="4261103"/>
            <a:ext cx="9143999"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4498847"/>
            <a:ext cx="10789920" cy="1097280"/>
          </a:xfrm>
          <a:prstGeom prst="rect">
            <a:avLst/>
          </a:prstGeom>
          <a:noFill/>
        </p:spPr>
        <p:txBody>
          <a:bodyPr wrap="square" lIns="0" rIns="0" tIns="0" bIns="0">
            <a:spAutoFit/>
          </a:bodyPr>
          <a:lstStyle/>
          <a:p>
            <a:pPr algn="l">
              <a:lnSpc>
                <a:spcPts val="1664"/>
              </a:lnSpc>
              <a:spcAft>
                <a:spcPts val="0"/>
              </a:spcAft>
            </a:pPr>
            <a:r>
              <a:rPr sz="1300" b="0" i="0">
                <a:solidFill>
                  <a:srgbClr val="6B7480"/>
                </a:solidFill>
                <a:latin typeface="Garamond"/>
              </a:rPr>
              <a:t>Calendar 2020–2024; 344 employed leavers. The college-degree share of each destination occupation is computed among all employed US workers aged 25–64 in the same ASEC files, 2021–2025. 31.2 of the 36.3 red points sit in the sales, office and manual group; 5.1 in professional occupations.</a:t>
            </a:r>
          </a:p>
        </p:txBody>
      </p:sp>
      <p:sp>
        <p:nvSpPr>
          <p:cNvPr id="21" name="Rounded Rectangle 20">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Is the teacher group constant across code changes?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48</a:t>
            </a:r>
          </a:p>
        </p:txBody>
      </p:sp>
      <p:pic>
        <p:nvPicPr>
          <p:cNvPr id="4" name="Picture 3" descr="codes_narrow.png"/>
          <p:cNvPicPr>
            <a:picLocks noChangeAspect="1"/>
          </p:cNvPicPr>
          <p:nvPr/>
        </p:nvPicPr>
        <p:blipFill>
          <a:blip r:embed="rId2"/>
          <a:stretch>
            <a:fillRect/>
          </a:stretch>
        </p:blipFill>
        <p:spPr>
          <a:xfrm>
            <a:off x="1119260" y="1051560"/>
            <a:ext cx="9922998" cy="4526280"/>
          </a:xfrm>
          <a:prstGeom prst="rect">
            <a:avLst/>
          </a:prstGeom>
        </p:spPr>
      </p:pic>
      <p:sp>
        <p:nvSpPr>
          <p:cNvPr id="5" name="TextBox 4"/>
          <p:cNvSpPr txBox="1"/>
          <p:nvPr/>
        </p:nvSpPr>
        <p:spPr>
          <a:xfrm>
            <a:off x="822960" y="580644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Recomputing the whole series on the three core codes moves the 1997–2024 average from 8.6 to 8.7. The 2003 and 2020 reclassifications leave no visible break.</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Linear probability model, fixed-effects variants</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49</a:t>
            </a:r>
          </a:p>
        </p:txBody>
      </p:sp>
      <p:cxnSp>
        <p:nvCxnSpPr>
          <p:cNvPr id="4" name="Connector 3"/>
          <p:cNvCxnSpPr/>
          <p:nvPr/>
        </p:nvCxnSpPr>
        <p:spPr>
          <a:xfrm>
            <a:off x="1005840" y="1298448"/>
            <a:ext cx="95097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0" y="1371600"/>
            <a:ext cx="5486400" cy="274320"/>
          </a:xfrm>
          <a:prstGeom prst="rect">
            <a:avLst/>
          </a:prstGeom>
          <a:noFill/>
        </p:spPr>
        <p:txBody>
          <a:bodyPr wrap="square" lIns="0" rIns="0" tIns="0" bIns="0">
            <a:spAutoFit/>
          </a:bodyPr>
          <a:lstStyle/>
          <a:p>
            <a:pPr algn="ctr">
              <a:lnSpc>
                <a:spcPts val="1600"/>
              </a:lnSpc>
              <a:spcAft>
                <a:spcPts val="0"/>
              </a:spcAft>
            </a:pPr>
            <a:r>
              <a:rPr sz="1250" b="0" i="0">
                <a:solidFill>
                  <a:srgbClr val="212529"/>
                </a:solidFill>
                <a:latin typeface="Garamond"/>
              </a:rPr>
              <a:t>Dependent variable: left teaching (×100)</a:t>
            </a:r>
          </a:p>
        </p:txBody>
      </p:sp>
      <p:cxnSp>
        <p:nvCxnSpPr>
          <p:cNvPr id="6" name="Connector 5"/>
          <p:cNvCxnSpPr/>
          <p:nvPr/>
        </p:nvCxnSpPr>
        <p:spPr>
          <a:xfrm>
            <a:off x="5029200" y="1700784"/>
            <a:ext cx="548640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(1)</a:t>
            </a:r>
          </a:p>
        </p:txBody>
      </p:sp>
      <p:sp>
        <p:nvSpPr>
          <p:cNvPr id="8" name="TextBox 7"/>
          <p:cNvSpPr txBox="1"/>
          <p:nvPr/>
        </p:nvSpPr>
        <p:spPr>
          <a:xfrm>
            <a:off x="690372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(2)</a:t>
            </a:r>
          </a:p>
        </p:txBody>
      </p:sp>
      <p:sp>
        <p:nvSpPr>
          <p:cNvPr id="9" name="TextBox 8"/>
          <p:cNvSpPr txBox="1"/>
          <p:nvPr/>
        </p:nvSpPr>
        <p:spPr>
          <a:xfrm>
            <a:off x="877824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(3)</a:t>
            </a:r>
          </a:p>
        </p:txBody>
      </p:sp>
      <p:cxnSp>
        <p:nvCxnSpPr>
          <p:cNvPr id="10" name="Connector 9"/>
          <p:cNvCxnSpPr/>
          <p:nvPr/>
        </p:nvCxnSpPr>
        <p:spPr>
          <a:xfrm>
            <a:off x="1005840" y="2093976"/>
            <a:ext cx="950976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21762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Full-year contract</a:t>
            </a:r>
          </a:p>
        </p:txBody>
      </p:sp>
      <p:sp>
        <p:nvSpPr>
          <p:cNvPr id="12" name="TextBox 11"/>
          <p:cNvSpPr txBox="1"/>
          <p:nvPr/>
        </p:nvSpPr>
        <p:spPr>
          <a:xfrm>
            <a:off x="502920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−11.54***</a:t>
            </a:r>
          </a:p>
        </p:txBody>
      </p:sp>
      <p:sp>
        <p:nvSpPr>
          <p:cNvPr id="13" name="TextBox 12"/>
          <p:cNvSpPr txBox="1"/>
          <p:nvPr/>
        </p:nvSpPr>
        <p:spPr>
          <a:xfrm>
            <a:off x="690372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−11.55***</a:t>
            </a:r>
          </a:p>
        </p:txBody>
      </p:sp>
      <p:sp>
        <p:nvSpPr>
          <p:cNvPr id="14" name="TextBox 13"/>
          <p:cNvSpPr txBox="1"/>
          <p:nvPr/>
        </p:nvSpPr>
        <p:spPr>
          <a:xfrm>
            <a:off x="877824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−11.65***</a:t>
            </a:r>
          </a:p>
        </p:txBody>
      </p:sp>
      <p:sp>
        <p:nvSpPr>
          <p:cNvPr id="15" name="TextBox 14"/>
          <p:cNvSpPr txBox="1"/>
          <p:nvPr/>
        </p:nvSpPr>
        <p:spPr>
          <a:xfrm>
            <a:off x="502920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(0.67)</a:t>
            </a:r>
          </a:p>
        </p:txBody>
      </p:sp>
      <p:sp>
        <p:nvSpPr>
          <p:cNvPr id="16" name="TextBox 15"/>
          <p:cNvSpPr txBox="1"/>
          <p:nvPr/>
        </p:nvSpPr>
        <p:spPr>
          <a:xfrm>
            <a:off x="690372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(0.66)</a:t>
            </a:r>
          </a:p>
        </p:txBody>
      </p:sp>
      <p:sp>
        <p:nvSpPr>
          <p:cNvPr id="17" name="TextBox 16"/>
          <p:cNvSpPr txBox="1"/>
          <p:nvPr/>
        </p:nvSpPr>
        <p:spPr>
          <a:xfrm>
            <a:off x="877824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(0.67)</a:t>
            </a:r>
          </a:p>
        </p:txBody>
      </p:sp>
      <p:sp>
        <p:nvSpPr>
          <p:cNvPr id="18" name="TextBox 17"/>
          <p:cNvSpPr txBox="1"/>
          <p:nvPr/>
        </p:nvSpPr>
        <p:spPr>
          <a:xfrm>
            <a:off x="1005840" y="26334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Part-time contract</a:t>
            </a:r>
          </a:p>
        </p:txBody>
      </p:sp>
      <p:sp>
        <p:nvSpPr>
          <p:cNvPr id="19" name="TextBox 18"/>
          <p:cNvSpPr txBox="1"/>
          <p:nvPr/>
        </p:nvSpPr>
        <p:spPr>
          <a:xfrm>
            <a:off x="502920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+8.67***</a:t>
            </a:r>
          </a:p>
        </p:txBody>
      </p:sp>
      <p:sp>
        <p:nvSpPr>
          <p:cNvPr id="20" name="TextBox 19"/>
          <p:cNvSpPr txBox="1"/>
          <p:nvPr/>
        </p:nvSpPr>
        <p:spPr>
          <a:xfrm>
            <a:off x="690372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+8.67***</a:t>
            </a:r>
          </a:p>
        </p:txBody>
      </p:sp>
      <p:sp>
        <p:nvSpPr>
          <p:cNvPr id="21" name="TextBox 20"/>
          <p:cNvSpPr txBox="1"/>
          <p:nvPr/>
        </p:nvSpPr>
        <p:spPr>
          <a:xfrm>
            <a:off x="877824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+8.63***</a:t>
            </a:r>
          </a:p>
        </p:txBody>
      </p:sp>
      <p:sp>
        <p:nvSpPr>
          <p:cNvPr id="22" name="TextBox 21"/>
          <p:cNvSpPr txBox="1"/>
          <p:nvPr/>
        </p:nvSpPr>
        <p:spPr>
          <a:xfrm>
            <a:off x="502920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(1.09)</a:t>
            </a:r>
          </a:p>
        </p:txBody>
      </p:sp>
      <p:sp>
        <p:nvSpPr>
          <p:cNvPr id="23" name="TextBox 22"/>
          <p:cNvSpPr txBox="1"/>
          <p:nvPr/>
        </p:nvSpPr>
        <p:spPr>
          <a:xfrm>
            <a:off x="690372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(1.09)</a:t>
            </a:r>
          </a:p>
        </p:txBody>
      </p:sp>
      <p:sp>
        <p:nvSpPr>
          <p:cNvPr id="24" name="TextBox 23"/>
          <p:cNvSpPr txBox="1"/>
          <p:nvPr/>
        </p:nvSpPr>
        <p:spPr>
          <a:xfrm>
            <a:off x="877824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(1.10)</a:t>
            </a:r>
          </a:p>
        </p:txBody>
      </p:sp>
      <p:sp>
        <p:nvSpPr>
          <p:cNvPr id="25" name="TextBox 24"/>
          <p:cNvSpPr txBox="1"/>
          <p:nvPr/>
        </p:nvSpPr>
        <p:spPr>
          <a:xfrm>
            <a:off x="1005840" y="30906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Employer pension plan</a:t>
            </a:r>
          </a:p>
        </p:txBody>
      </p:sp>
      <p:sp>
        <p:nvSpPr>
          <p:cNvPr id="26" name="TextBox 25"/>
          <p:cNvSpPr txBox="1"/>
          <p:nvPr/>
        </p:nvSpPr>
        <p:spPr>
          <a:xfrm>
            <a:off x="502920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−2.35***</a:t>
            </a:r>
          </a:p>
        </p:txBody>
      </p:sp>
      <p:sp>
        <p:nvSpPr>
          <p:cNvPr id="27" name="TextBox 26"/>
          <p:cNvSpPr txBox="1"/>
          <p:nvPr/>
        </p:nvSpPr>
        <p:spPr>
          <a:xfrm>
            <a:off x="690372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−2.33***</a:t>
            </a:r>
          </a:p>
        </p:txBody>
      </p:sp>
      <p:sp>
        <p:nvSpPr>
          <p:cNvPr id="28" name="TextBox 27"/>
          <p:cNvSpPr txBox="1"/>
          <p:nvPr/>
        </p:nvSpPr>
        <p:spPr>
          <a:xfrm>
            <a:off x="877824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−2.33***</a:t>
            </a:r>
          </a:p>
        </p:txBody>
      </p:sp>
      <p:sp>
        <p:nvSpPr>
          <p:cNvPr id="29" name="TextBox 28"/>
          <p:cNvSpPr txBox="1"/>
          <p:nvPr/>
        </p:nvSpPr>
        <p:spPr>
          <a:xfrm>
            <a:off x="502920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(0.52)</a:t>
            </a:r>
          </a:p>
        </p:txBody>
      </p:sp>
      <p:sp>
        <p:nvSpPr>
          <p:cNvPr id="30" name="TextBox 29"/>
          <p:cNvSpPr txBox="1"/>
          <p:nvPr/>
        </p:nvSpPr>
        <p:spPr>
          <a:xfrm>
            <a:off x="690372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(0.52)</a:t>
            </a:r>
          </a:p>
        </p:txBody>
      </p:sp>
      <p:sp>
        <p:nvSpPr>
          <p:cNvPr id="31" name="TextBox 30"/>
          <p:cNvSpPr txBox="1"/>
          <p:nvPr/>
        </p:nvSpPr>
        <p:spPr>
          <a:xfrm>
            <a:off x="877824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(0.52)</a:t>
            </a:r>
          </a:p>
        </p:txBody>
      </p:sp>
      <p:sp>
        <p:nvSpPr>
          <p:cNvPr id="32" name="TextBox 31"/>
          <p:cNvSpPr txBox="1"/>
          <p:nvPr/>
        </p:nvSpPr>
        <p:spPr>
          <a:xfrm>
            <a:off x="1005840" y="35478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Public sector</a:t>
            </a:r>
          </a:p>
        </p:txBody>
      </p:sp>
      <p:sp>
        <p:nvSpPr>
          <p:cNvPr id="33" name="TextBox 32"/>
          <p:cNvSpPr txBox="1"/>
          <p:nvPr/>
        </p:nvSpPr>
        <p:spPr>
          <a:xfrm>
            <a:off x="502920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−2.35***</a:t>
            </a:r>
          </a:p>
        </p:txBody>
      </p:sp>
      <p:sp>
        <p:nvSpPr>
          <p:cNvPr id="34" name="TextBox 33"/>
          <p:cNvSpPr txBox="1"/>
          <p:nvPr/>
        </p:nvSpPr>
        <p:spPr>
          <a:xfrm>
            <a:off x="690372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−2.38***</a:t>
            </a:r>
          </a:p>
        </p:txBody>
      </p:sp>
      <p:sp>
        <p:nvSpPr>
          <p:cNvPr id="35" name="TextBox 34"/>
          <p:cNvSpPr txBox="1"/>
          <p:nvPr/>
        </p:nvSpPr>
        <p:spPr>
          <a:xfrm>
            <a:off x="877824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−2.39***</a:t>
            </a:r>
          </a:p>
        </p:txBody>
      </p:sp>
      <p:sp>
        <p:nvSpPr>
          <p:cNvPr id="36" name="TextBox 35"/>
          <p:cNvSpPr txBox="1"/>
          <p:nvPr/>
        </p:nvSpPr>
        <p:spPr>
          <a:xfrm>
            <a:off x="502920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(0.56)</a:t>
            </a:r>
          </a:p>
        </p:txBody>
      </p:sp>
      <p:sp>
        <p:nvSpPr>
          <p:cNvPr id="37" name="TextBox 36"/>
          <p:cNvSpPr txBox="1"/>
          <p:nvPr/>
        </p:nvSpPr>
        <p:spPr>
          <a:xfrm>
            <a:off x="690372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(0.56)</a:t>
            </a:r>
          </a:p>
        </p:txBody>
      </p:sp>
      <p:sp>
        <p:nvSpPr>
          <p:cNvPr id="38" name="TextBox 37"/>
          <p:cNvSpPr txBox="1"/>
          <p:nvPr/>
        </p:nvSpPr>
        <p:spPr>
          <a:xfrm>
            <a:off x="877824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(0.56)</a:t>
            </a:r>
          </a:p>
        </p:txBody>
      </p:sp>
      <p:sp>
        <p:nvSpPr>
          <p:cNvPr id="39" name="TextBox 38"/>
          <p:cNvSpPr txBox="1"/>
          <p:nvPr/>
        </p:nvSpPr>
        <p:spPr>
          <a:xfrm>
            <a:off x="1005840" y="40050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New baby during the year</a:t>
            </a:r>
          </a:p>
        </p:txBody>
      </p:sp>
      <p:sp>
        <p:nvSpPr>
          <p:cNvPr id="40" name="TextBox 39"/>
          <p:cNvSpPr txBox="1"/>
          <p:nvPr/>
        </p:nvSpPr>
        <p:spPr>
          <a:xfrm>
            <a:off x="502920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+5.72***</a:t>
            </a:r>
          </a:p>
        </p:txBody>
      </p:sp>
      <p:sp>
        <p:nvSpPr>
          <p:cNvPr id="41" name="TextBox 40"/>
          <p:cNvSpPr txBox="1"/>
          <p:nvPr/>
        </p:nvSpPr>
        <p:spPr>
          <a:xfrm>
            <a:off x="690372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+5.63***</a:t>
            </a:r>
          </a:p>
        </p:txBody>
      </p:sp>
      <p:sp>
        <p:nvSpPr>
          <p:cNvPr id="42" name="TextBox 41"/>
          <p:cNvSpPr txBox="1"/>
          <p:nvPr/>
        </p:nvSpPr>
        <p:spPr>
          <a:xfrm>
            <a:off x="877824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+5.71***</a:t>
            </a:r>
          </a:p>
        </p:txBody>
      </p:sp>
      <p:sp>
        <p:nvSpPr>
          <p:cNvPr id="43" name="TextBox 42"/>
          <p:cNvSpPr txBox="1"/>
          <p:nvPr/>
        </p:nvSpPr>
        <p:spPr>
          <a:xfrm>
            <a:off x="502920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(1.56)</a:t>
            </a:r>
          </a:p>
        </p:txBody>
      </p:sp>
      <p:sp>
        <p:nvSpPr>
          <p:cNvPr id="44" name="TextBox 43"/>
          <p:cNvSpPr txBox="1"/>
          <p:nvPr/>
        </p:nvSpPr>
        <p:spPr>
          <a:xfrm>
            <a:off x="690372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(1.56)</a:t>
            </a:r>
          </a:p>
        </p:txBody>
      </p:sp>
      <p:sp>
        <p:nvSpPr>
          <p:cNvPr id="45" name="TextBox 44"/>
          <p:cNvSpPr txBox="1"/>
          <p:nvPr/>
        </p:nvSpPr>
        <p:spPr>
          <a:xfrm>
            <a:off x="877824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(1.56)</a:t>
            </a:r>
          </a:p>
        </p:txBody>
      </p:sp>
      <p:sp>
        <p:nvSpPr>
          <p:cNvPr id="46" name="TextBox 45"/>
          <p:cNvSpPr txBox="1"/>
          <p:nvPr/>
        </p:nvSpPr>
        <p:spPr>
          <a:xfrm>
            <a:off x="1005840" y="44622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With a disability</a:t>
            </a:r>
          </a:p>
        </p:txBody>
      </p:sp>
      <p:sp>
        <p:nvSpPr>
          <p:cNvPr id="47" name="TextBox 46"/>
          <p:cNvSpPr txBox="1"/>
          <p:nvPr/>
        </p:nvSpPr>
        <p:spPr>
          <a:xfrm>
            <a:off x="502920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+8.85***</a:t>
            </a:r>
          </a:p>
        </p:txBody>
      </p:sp>
      <p:sp>
        <p:nvSpPr>
          <p:cNvPr id="48" name="TextBox 47"/>
          <p:cNvSpPr txBox="1"/>
          <p:nvPr/>
        </p:nvSpPr>
        <p:spPr>
          <a:xfrm>
            <a:off x="690372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+8.94***</a:t>
            </a:r>
          </a:p>
        </p:txBody>
      </p:sp>
      <p:sp>
        <p:nvSpPr>
          <p:cNvPr id="49" name="TextBox 48"/>
          <p:cNvSpPr txBox="1"/>
          <p:nvPr/>
        </p:nvSpPr>
        <p:spPr>
          <a:xfrm>
            <a:off x="877824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+8.94***</a:t>
            </a:r>
          </a:p>
        </p:txBody>
      </p:sp>
      <p:sp>
        <p:nvSpPr>
          <p:cNvPr id="50" name="TextBox 49"/>
          <p:cNvSpPr txBox="1"/>
          <p:nvPr/>
        </p:nvSpPr>
        <p:spPr>
          <a:xfrm>
            <a:off x="502920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(2.14)</a:t>
            </a:r>
          </a:p>
        </p:txBody>
      </p:sp>
      <p:sp>
        <p:nvSpPr>
          <p:cNvPr id="51" name="TextBox 50"/>
          <p:cNvSpPr txBox="1"/>
          <p:nvPr/>
        </p:nvSpPr>
        <p:spPr>
          <a:xfrm>
            <a:off x="690372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(2.14)</a:t>
            </a:r>
          </a:p>
        </p:txBody>
      </p:sp>
      <p:sp>
        <p:nvSpPr>
          <p:cNvPr id="52" name="TextBox 51"/>
          <p:cNvSpPr txBox="1"/>
          <p:nvPr/>
        </p:nvSpPr>
        <p:spPr>
          <a:xfrm>
            <a:off x="877824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(2.14)</a:t>
            </a:r>
          </a:p>
        </p:txBody>
      </p:sp>
      <p:sp>
        <p:nvSpPr>
          <p:cNvPr id="53" name="TextBox 52"/>
          <p:cNvSpPr txBox="1"/>
          <p:nvPr/>
        </p:nvSpPr>
        <p:spPr>
          <a:xfrm>
            <a:off x="1005840" y="49194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Bottom-quartile household income</a:t>
            </a:r>
          </a:p>
        </p:txBody>
      </p:sp>
      <p:sp>
        <p:nvSpPr>
          <p:cNvPr id="54" name="TextBox 53"/>
          <p:cNvSpPr txBox="1"/>
          <p:nvPr/>
        </p:nvSpPr>
        <p:spPr>
          <a:xfrm>
            <a:off x="502920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+4.17***</a:t>
            </a:r>
          </a:p>
        </p:txBody>
      </p:sp>
      <p:sp>
        <p:nvSpPr>
          <p:cNvPr id="55" name="TextBox 54"/>
          <p:cNvSpPr txBox="1"/>
          <p:nvPr/>
        </p:nvSpPr>
        <p:spPr>
          <a:xfrm>
            <a:off x="690372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+4.13***</a:t>
            </a:r>
          </a:p>
        </p:txBody>
      </p:sp>
      <p:sp>
        <p:nvSpPr>
          <p:cNvPr id="56" name="TextBox 55"/>
          <p:cNvSpPr txBox="1"/>
          <p:nvPr/>
        </p:nvSpPr>
        <p:spPr>
          <a:xfrm>
            <a:off x="877824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+4.01***</a:t>
            </a:r>
          </a:p>
        </p:txBody>
      </p:sp>
      <p:sp>
        <p:nvSpPr>
          <p:cNvPr id="57" name="TextBox 56"/>
          <p:cNvSpPr txBox="1"/>
          <p:nvPr/>
        </p:nvSpPr>
        <p:spPr>
          <a:xfrm>
            <a:off x="502920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(1.24)</a:t>
            </a:r>
          </a:p>
        </p:txBody>
      </p:sp>
      <p:sp>
        <p:nvSpPr>
          <p:cNvPr id="58" name="TextBox 57"/>
          <p:cNvSpPr txBox="1"/>
          <p:nvPr/>
        </p:nvSpPr>
        <p:spPr>
          <a:xfrm>
            <a:off x="690372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(1.24)</a:t>
            </a:r>
          </a:p>
        </p:txBody>
      </p:sp>
      <p:sp>
        <p:nvSpPr>
          <p:cNvPr id="59" name="TextBox 58"/>
          <p:cNvSpPr txBox="1"/>
          <p:nvPr/>
        </p:nvSpPr>
        <p:spPr>
          <a:xfrm>
            <a:off x="877824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(1.25)</a:t>
            </a:r>
          </a:p>
        </p:txBody>
      </p:sp>
      <p:cxnSp>
        <p:nvCxnSpPr>
          <p:cNvPr id="60" name="Connector 59"/>
          <p:cNvCxnSpPr/>
          <p:nvPr/>
        </p:nvCxnSpPr>
        <p:spPr>
          <a:xfrm>
            <a:off x="1005840" y="5394959"/>
            <a:ext cx="950976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05840" y="5477256"/>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Year fixed effects</a:t>
            </a:r>
          </a:p>
        </p:txBody>
      </p:sp>
      <p:sp>
        <p:nvSpPr>
          <p:cNvPr id="62" name="TextBox 61"/>
          <p:cNvSpPr txBox="1"/>
          <p:nvPr/>
        </p:nvSpPr>
        <p:spPr>
          <a:xfrm>
            <a:off x="502920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No</a:t>
            </a:r>
          </a:p>
        </p:txBody>
      </p:sp>
      <p:sp>
        <p:nvSpPr>
          <p:cNvPr id="63" name="TextBox 62"/>
          <p:cNvSpPr txBox="1"/>
          <p:nvPr/>
        </p:nvSpPr>
        <p:spPr>
          <a:xfrm>
            <a:off x="690372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4" name="TextBox 63"/>
          <p:cNvSpPr txBox="1"/>
          <p:nvPr/>
        </p:nvSpPr>
        <p:spPr>
          <a:xfrm>
            <a:off x="877824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5" name="TextBox 64"/>
          <p:cNvSpPr txBox="1"/>
          <p:nvPr/>
        </p:nvSpPr>
        <p:spPr>
          <a:xfrm>
            <a:off x="1005840" y="5733288"/>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State fixed effects</a:t>
            </a:r>
          </a:p>
        </p:txBody>
      </p:sp>
      <p:sp>
        <p:nvSpPr>
          <p:cNvPr id="66" name="TextBox 65"/>
          <p:cNvSpPr txBox="1"/>
          <p:nvPr/>
        </p:nvSpPr>
        <p:spPr>
          <a:xfrm>
            <a:off x="502920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No</a:t>
            </a:r>
          </a:p>
        </p:txBody>
      </p:sp>
      <p:sp>
        <p:nvSpPr>
          <p:cNvPr id="67" name="TextBox 66"/>
          <p:cNvSpPr txBox="1"/>
          <p:nvPr/>
        </p:nvSpPr>
        <p:spPr>
          <a:xfrm>
            <a:off x="690372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No</a:t>
            </a:r>
          </a:p>
        </p:txBody>
      </p:sp>
      <p:sp>
        <p:nvSpPr>
          <p:cNvPr id="68" name="TextBox 67"/>
          <p:cNvSpPr txBox="1"/>
          <p:nvPr/>
        </p:nvSpPr>
        <p:spPr>
          <a:xfrm>
            <a:off x="877824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9" name="TextBox 68"/>
          <p:cNvSpPr txBox="1"/>
          <p:nvPr/>
        </p:nvSpPr>
        <p:spPr>
          <a:xfrm>
            <a:off x="1005840" y="5989320"/>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Observations</a:t>
            </a:r>
          </a:p>
        </p:txBody>
      </p:sp>
      <p:sp>
        <p:nvSpPr>
          <p:cNvPr id="70" name="TextBox 69"/>
          <p:cNvSpPr txBox="1"/>
          <p:nvPr/>
        </p:nvSpPr>
        <p:spPr>
          <a:xfrm>
            <a:off x="5029200" y="5989320"/>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sp>
        <p:nvSpPr>
          <p:cNvPr id="71" name="TextBox 70"/>
          <p:cNvSpPr txBox="1"/>
          <p:nvPr/>
        </p:nvSpPr>
        <p:spPr>
          <a:xfrm>
            <a:off x="6903720" y="5989320"/>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sp>
        <p:nvSpPr>
          <p:cNvPr id="72" name="TextBox 71"/>
          <p:cNvSpPr txBox="1"/>
          <p:nvPr/>
        </p:nvSpPr>
        <p:spPr>
          <a:xfrm>
            <a:off x="8778240" y="5989320"/>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cxnSp>
        <p:nvCxnSpPr>
          <p:cNvPr id="73" name="Connector 72"/>
          <p:cNvCxnSpPr/>
          <p:nvPr/>
        </p:nvCxnSpPr>
        <p:spPr>
          <a:xfrm>
            <a:off x="1005840" y="6263640"/>
            <a:ext cx="95097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1005840" y="6391656"/>
            <a:ext cx="9509760" cy="548640"/>
          </a:xfrm>
          <a:prstGeom prst="rect">
            <a:avLst/>
          </a:prstGeom>
          <a:noFill/>
        </p:spPr>
        <p:txBody>
          <a:bodyPr wrap="square" lIns="0" rIns="0" tIns="0" bIns="0">
            <a:spAutoFit/>
          </a:bodyPr>
          <a:lstStyle/>
          <a:p>
            <a:pPr algn="l">
              <a:lnSpc>
                <a:spcPts val="1344"/>
              </a:lnSpc>
              <a:spcAft>
                <a:spcPts val="0"/>
              </a:spcAft>
            </a:pPr>
            <a:r>
              <a:rPr sz="1050" b="0" i="1">
                <a:solidFill>
                  <a:srgbClr val="6B7480"/>
                </a:solidFill>
                <a:latin typeface="Garamond"/>
              </a:rPr>
              <a:t>Robust standard errors in parentheses. * p&lt;0.10, ** p&lt;0.05, *** p&lt;0.01. Weighted. Full set of controls as in the main specification.</a:t>
            </a:r>
          </a:p>
        </p:txBody>
      </p:sp>
      <p:sp>
        <p:nvSpPr>
          <p:cNvPr id="75" name="Rounded Rectangle 74">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LPM vs logit vs probit</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50</a:t>
            </a:r>
          </a:p>
        </p:txBody>
      </p:sp>
      <p:cxnSp>
        <p:nvCxnSpPr>
          <p:cNvPr id="4" name="Connector 3"/>
          <p:cNvCxnSpPr/>
          <p:nvPr/>
        </p:nvCxnSpPr>
        <p:spPr>
          <a:xfrm>
            <a:off x="1005840" y="1298448"/>
            <a:ext cx="95097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0" y="1371600"/>
            <a:ext cx="5486400" cy="274320"/>
          </a:xfrm>
          <a:prstGeom prst="rect">
            <a:avLst/>
          </a:prstGeom>
          <a:noFill/>
        </p:spPr>
        <p:txBody>
          <a:bodyPr wrap="square" lIns="0" rIns="0" tIns="0" bIns="0">
            <a:spAutoFit/>
          </a:bodyPr>
          <a:lstStyle/>
          <a:p>
            <a:pPr algn="ctr">
              <a:lnSpc>
                <a:spcPts val="1600"/>
              </a:lnSpc>
              <a:spcAft>
                <a:spcPts val="0"/>
              </a:spcAft>
            </a:pPr>
            <a:r>
              <a:rPr sz="1250" b="0" i="0">
                <a:solidFill>
                  <a:srgbClr val="212529"/>
                </a:solidFill>
                <a:latin typeface="Garamond"/>
              </a:rPr>
              <a:t>Average marginal effect on leaving (×100)</a:t>
            </a:r>
          </a:p>
        </p:txBody>
      </p:sp>
      <p:cxnSp>
        <p:nvCxnSpPr>
          <p:cNvPr id="6" name="Connector 5"/>
          <p:cNvCxnSpPr/>
          <p:nvPr/>
        </p:nvCxnSpPr>
        <p:spPr>
          <a:xfrm>
            <a:off x="5029200" y="1700784"/>
            <a:ext cx="548640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LPM</a:t>
            </a:r>
          </a:p>
        </p:txBody>
      </p:sp>
      <p:sp>
        <p:nvSpPr>
          <p:cNvPr id="8" name="TextBox 7"/>
          <p:cNvSpPr txBox="1"/>
          <p:nvPr/>
        </p:nvSpPr>
        <p:spPr>
          <a:xfrm>
            <a:off x="690372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Logit</a:t>
            </a:r>
          </a:p>
        </p:txBody>
      </p:sp>
      <p:sp>
        <p:nvSpPr>
          <p:cNvPr id="9" name="TextBox 8"/>
          <p:cNvSpPr txBox="1"/>
          <p:nvPr/>
        </p:nvSpPr>
        <p:spPr>
          <a:xfrm>
            <a:off x="8778240" y="1764792"/>
            <a:ext cx="1691640" cy="274320"/>
          </a:xfrm>
          <a:prstGeom prst="rect">
            <a:avLst/>
          </a:prstGeom>
          <a:noFill/>
        </p:spPr>
        <p:txBody>
          <a:bodyPr wrap="square" lIns="0" rIns="0" tIns="0" bIns="0">
            <a:spAutoFit/>
          </a:bodyPr>
          <a:lstStyle/>
          <a:p>
            <a:pPr algn="r">
              <a:lnSpc>
                <a:spcPts val="1600"/>
              </a:lnSpc>
              <a:spcAft>
                <a:spcPts val="0"/>
              </a:spcAft>
            </a:pPr>
            <a:r>
              <a:rPr sz="1250" b="1" i="0">
                <a:solidFill>
                  <a:srgbClr val="212529"/>
                </a:solidFill>
                <a:latin typeface="Garamond"/>
              </a:rPr>
              <a:t>Probit</a:t>
            </a:r>
          </a:p>
        </p:txBody>
      </p:sp>
      <p:cxnSp>
        <p:nvCxnSpPr>
          <p:cNvPr id="10" name="Connector 9"/>
          <p:cNvCxnSpPr/>
          <p:nvPr/>
        </p:nvCxnSpPr>
        <p:spPr>
          <a:xfrm>
            <a:off x="1005840" y="2093976"/>
            <a:ext cx="950976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5840" y="21762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Full-year contract</a:t>
            </a:r>
          </a:p>
        </p:txBody>
      </p:sp>
      <p:sp>
        <p:nvSpPr>
          <p:cNvPr id="12" name="TextBox 11"/>
          <p:cNvSpPr txBox="1"/>
          <p:nvPr/>
        </p:nvSpPr>
        <p:spPr>
          <a:xfrm>
            <a:off x="502920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−11.13***</a:t>
            </a:r>
          </a:p>
        </p:txBody>
      </p:sp>
      <p:sp>
        <p:nvSpPr>
          <p:cNvPr id="13" name="TextBox 12"/>
          <p:cNvSpPr txBox="1"/>
          <p:nvPr/>
        </p:nvSpPr>
        <p:spPr>
          <a:xfrm>
            <a:off x="690372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−8.78***</a:t>
            </a:r>
          </a:p>
        </p:txBody>
      </p:sp>
      <p:sp>
        <p:nvSpPr>
          <p:cNvPr id="14" name="TextBox 13"/>
          <p:cNvSpPr txBox="1"/>
          <p:nvPr/>
        </p:nvSpPr>
        <p:spPr>
          <a:xfrm>
            <a:off x="8778240" y="2176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−8.49***</a:t>
            </a:r>
          </a:p>
        </p:txBody>
      </p:sp>
      <p:sp>
        <p:nvSpPr>
          <p:cNvPr id="15" name="TextBox 14"/>
          <p:cNvSpPr txBox="1"/>
          <p:nvPr/>
        </p:nvSpPr>
        <p:spPr>
          <a:xfrm>
            <a:off x="502920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(0.55)</a:t>
            </a:r>
          </a:p>
        </p:txBody>
      </p:sp>
      <p:sp>
        <p:nvSpPr>
          <p:cNvPr id="16" name="TextBox 15"/>
          <p:cNvSpPr txBox="1"/>
          <p:nvPr/>
        </p:nvSpPr>
        <p:spPr>
          <a:xfrm>
            <a:off x="690372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(0.40)</a:t>
            </a:r>
          </a:p>
        </p:txBody>
      </p:sp>
      <p:sp>
        <p:nvSpPr>
          <p:cNvPr id="17" name="TextBox 16"/>
          <p:cNvSpPr txBox="1"/>
          <p:nvPr/>
        </p:nvSpPr>
        <p:spPr>
          <a:xfrm>
            <a:off x="8778240" y="2400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(0.39)</a:t>
            </a:r>
          </a:p>
        </p:txBody>
      </p:sp>
      <p:sp>
        <p:nvSpPr>
          <p:cNvPr id="18" name="TextBox 17"/>
          <p:cNvSpPr txBox="1"/>
          <p:nvPr/>
        </p:nvSpPr>
        <p:spPr>
          <a:xfrm>
            <a:off x="1005840" y="26334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Part-time contract</a:t>
            </a:r>
          </a:p>
        </p:txBody>
      </p:sp>
      <p:sp>
        <p:nvSpPr>
          <p:cNvPr id="19" name="TextBox 18"/>
          <p:cNvSpPr txBox="1"/>
          <p:nvPr/>
        </p:nvSpPr>
        <p:spPr>
          <a:xfrm>
            <a:off x="502920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+8.77***</a:t>
            </a:r>
          </a:p>
        </p:txBody>
      </p:sp>
      <p:sp>
        <p:nvSpPr>
          <p:cNvPr id="20" name="TextBox 19"/>
          <p:cNvSpPr txBox="1"/>
          <p:nvPr/>
        </p:nvSpPr>
        <p:spPr>
          <a:xfrm>
            <a:off x="690372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+3.86***</a:t>
            </a:r>
          </a:p>
        </p:txBody>
      </p:sp>
      <p:sp>
        <p:nvSpPr>
          <p:cNvPr id="21" name="TextBox 20"/>
          <p:cNvSpPr txBox="1"/>
          <p:nvPr/>
        </p:nvSpPr>
        <p:spPr>
          <a:xfrm>
            <a:off x="8778240" y="2633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+4.32***</a:t>
            </a:r>
          </a:p>
        </p:txBody>
      </p:sp>
      <p:sp>
        <p:nvSpPr>
          <p:cNvPr id="22" name="TextBox 21"/>
          <p:cNvSpPr txBox="1"/>
          <p:nvPr/>
        </p:nvSpPr>
        <p:spPr>
          <a:xfrm>
            <a:off x="502920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(0.92)</a:t>
            </a:r>
          </a:p>
        </p:txBody>
      </p:sp>
      <p:sp>
        <p:nvSpPr>
          <p:cNvPr id="23" name="TextBox 22"/>
          <p:cNvSpPr txBox="1"/>
          <p:nvPr/>
        </p:nvSpPr>
        <p:spPr>
          <a:xfrm>
            <a:off x="690372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(0.44)</a:t>
            </a:r>
          </a:p>
        </p:txBody>
      </p:sp>
      <p:sp>
        <p:nvSpPr>
          <p:cNvPr id="24" name="TextBox 23"/>
          <p:cNvSpPr txBox="1"/>
          <p:nvPr/>
        </p:nvSpPr>
        <p:spPr>
          <a:xfrm>
            <a:off x="8778240" y="2857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(0.47)</a:t>
            </a:r>
          </a:p>
        </p:txBody>
      </p:sp>
      <p:sp>
        <p:nvSpPr>
          <p:cNvPr id="25" name="TextBox 24"/>
          <p:cNvSpPr txBox="1"/>
          <p:nvPr/>
        </p:nvSpPr>
        <p:spPr>
          <a:xfrm>
            <a:off x="1005840" y="30906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Employer pension plan</a:t>
            </a:r>
          </a:p>
        </p:txBody>
      </p:sp>
      <p:sp>
        <p:nvSpPr>
          <p:cNvPr id="26" name="TextBox 25"/>
          <p:cNvSpPr txBox="1"/>
          <p:nvPr/>
        </p:nvSpPr>
        <p:spPr>
          <a:xfrm>
            <a:off x="502920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−2.55***</a:t>
            </a:r>
          </a:p>
        </p:txBody>
      </p:sp>
      <p:sp>
        <p:nvSpPr>
          <p:cNvPr id="27" name="TextBox 26"/>
          <p:cNvSpPr txBox="1"/>
          <p:nvPr/>
        </p:nvSpPr>
        <p:spPr>
          <a:xfrm>
            <a:off x="690372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−2.38***</a:t>
            </a:r>
          </a:p>
        </p:txBody>
      </p:sp>
      <p:sp>
        <p:nvSpPr>
          <p:cNvPr id="28" name="TextBox 27"/>
          <p:cNvSpPr txBox="1"/>
          <p:nvPr/>
        </p:nvSpPr>
        <p:spPr>
          <a:xfrm>
            <a:off x="8778240" y="30906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−2.41***</a:t>
            </a:r>
          </a:p>
        </p:txBody>
      </p:sp>
      <p:sp>
        <p:nvSpPr>
          <p:cNvPr id="29" name="TextBox 28"/>
          <p:cNvSpPr txBox="1"/>
          <p:nvPr/>
        </p:nvSpPr>
        <p:spPr>
          <a:xfrm>
            <a:off x="502920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(0.44)</a:t>
            </a:r>
          </a:p>
        </p:txBody>
      </p:sp>
      <p:sp>
        <p:nvSpPr>
          <p:cNvPr id="30" name="TextBox 29"/>
          <p:cNvSpPr txBox="1"/>
          <p:nvPr/>
        </p:nvSpPr>
        <p:spPr>
          <a:xfrm>
            <a:off x="690372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(0.39)</a:t>
            </a:r>
          </a:p>
        </p:txBody>
      </p:sp>
      <p:sp>
        <p:nvSpPr>
          <p:cNvPr id="31" name="TextBox 30"/>
          <p:cNvSpPr txBox="1"/>
          <p:nvPr/>
        </p:nvSpPr>
        <p:spPr>
          <a:xfrm>
            <a:off x="8778240" y="33147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(0.38)</a:t>
            </a:r>
          </a:p>
        </p:txBody>
      </p:sp>
      <p:sp>
        <p:nvSpPr>
          <p:cNvPr id="32" name="TextBox 31"/>
          <p:cNvSpPr txBox="1"/>
          <p:nvPr/>
        </p:nvSpPr>
        <p:spPr>
          <a:xfrm>
            <a:off x="1005840" y="35478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Public sector</a:t>
            </a:r>
          </a:p>
        </p:txBody>
      </p:sp>
      <p:sp>
        <p:nvSpPr>
          <p:cNvPr id="33" name="TextBox 32"/>
          <p:cNvSpPr txBox="1"/>
          <p:nvPr/>
        </p:nvSpPr>
        <p:spPr>
          <a:xfrm>
            <a:off x="502920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−2.17***</a:t>
            </a:r>
          </a:p>
        </p:txBody>
      </p:sp>
      <p:sp>
        <p:nvSpPr>
          <p:cNvPr id="34" name="TextBox 33"/>
          <p:cNvSpPr txBox="1"/>
          <p:nvPr/>
        </p:nvSpPr>
        <p:spPr>
          <a:xfrm>
            <a:off x="690372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−2.24***</a:t>
            </a:r>
          </a:p>
        </p:txBody>
      </p:sp>
      <p:sp>
        <p:nvSpPr>
          <p:cNvPr id="35" name="TextBox 34"/>
          <p:cNvSpPr txBox="1"/>
          <p:nvPr/>
        </p:nvSpPr>
        <p:spPr>
          <a:xfrm>
            <a:off x="8778240" y="35478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−2.27***</a:t>
            </a:r>
          </a:p>
        </p:txBody>
      </p:sp>
      <p:sp>
        <p:nvSpPr>
          <p:cNvPr id="36" name="TextBox 35"/>
          <p:cNvSpPr txBox="1"/>
          <p:nvPr/>
        </p:nvSpPr>
        <p:spPr>
          <a:xfrm>
            <a:off x="502920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(0.47)</a:t>
            </a:r>
          </a:p>
        </p:txBody>
      </p:sp>
      <p:sp>
        <p:nvSpPr>
          <p:cNvPr id="37" name="TextBox 36"/>
          <p:cNvSpPr txBox="1"/>
          <p:nvPr/>
        </p:nvSpPr>
        <p:spPr>
          <a:xfrm>
            <a:off x="690372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(0.39)</a:t>
            </a:r>
          </a:p>
        </p:txBody>
      </p:sp>
      <p:sp>
        <p:nvSpPr>
          <p:cNvPr id="38" name="TextBox 37"/>
          <p:cNvSpPr txBox="1"/>
          <p:nvPr/>
        </p:nvSpPr>
        <p:spPr>
          <a:xfrm>
            <a:off x="8778240" y="37719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(0.39)</a:t>
            </a:r>
          </a:p>
        </p:txBody>
      </p:sp>
      <p:sp>
        <p:nvSpPr>
          <p:cNvPr id="39" name="TextBox 38"/>
          <p:cNvSpPr txBox="1"/>
          <p:nvPr/>
        </p:nvSpPr>
        <p:spPr>
          <a:xfrm>
            <a:off x="1005840" y="40050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New baby during the year</a:t>
            </a:r>
          </a:p>
        </p:txBody>
      </p:sp>
      <p:sp>
        <p:nvSpPr>
          <p:cNvPr id="40" name="TextBox 39"/>
          <p:cNvSpPr txBox="1"/>
          <p:nvPr/>
        </p:nvSpPr>
        <p:spPr>
          <a:xfrm>
            <a:off x="502920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+5.65***</a:t>
            </a:r>
          </a:p>
        </p:txBody>
      </p:sp>
      <p:sp>
        <p:nvSpPr>
          <p:cNvPr id="41" name="TextBox 40"/>
          <p:cNvSpPr txBox="1"/>
          <p:nvPr/>
        </p:nvSpPr>
        <p:spPr>
          <a:xfrm>
            <a:off x="690372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+4.74***</a:t>
            </a:r>
          </a:p>
        </p:txBody>
      </p:sp>
      <p:sp>
        <p:nvSpPr>
          <p:cNvPr id="42" name="TextBox 41"/>
          <p:cNvSpPr txBox="1"/>
          <p:nvPr/>
        </p:nvSpPr>
        <p:spPr>
          <a:xfrm>
            <a:off x="8778240" y="40050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+4.59***</a:t>
            </a:r>
          </a:p>
        </p:txBody>
      </p:sp>
      <p:sp>
        <p:nvSpPr>
          <p:cNvPr id="43" name="TextBox 42"/>
          <p:cNvSpPr txBox="1"/>
          <p:nvPr/>
        </p:nvSpPr>
        <p:spPr>
          <a:xfrm>
            <a:off x="502920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(1.33)</a:t>
            </a:r>
          </a:p>
        </p:txBody>
      </p:sp>
      <p:sp>
        <p:nvSpPr>
          <p:cNvPr id="44" name="TextBox 43"/>
          <p:cNvSpPr txBox="1"/>
          <p:nvPr/>
        </p:nvSpPr>
        <p:spPr>
          <a:xfrm>
            <a:off x="690372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(0.90)</a:t>
            </a:r>
          </a:p>
        </p:txBody>
      </p:sp>
      <p:sp>
        <p:nvSpPr>
          <p:cNvPr id="45" name="TextBox 44"/>
          <p:cNvSpPr txBox="1"/>
          <p:nvPr/>
        </p:nvSpPr>
        <p:spPr>
          <a:xfrm>
            <a:off x="8778240" y="42291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(0.91)</a:t>
            </a:r>
          </a:p>
        </p:txBody>
      </p:sp>
      <p:sp>
        <p:nvSpPr>
          <p:cNvPr id="46" name="TextBox 45"/>
          <p:cNvSpPr txBox="1"/>
          <p:nvPr/>
        </p:nvSpPr>
        <p:spPr>
          <a:xfrm>
            <a:off x="1005840" y="44622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With a disability</a:t>
            </a:r>
          </a:p>
        </p:txBody>
      </p:sp>
      <p:sp>
        <p:nvSpPr>
          <p:cNvPr id="47" name="TextBox 46"/>
          <p:cNvSpPr txBox="1"/>
          <p:nvPr/>
        </p:nvSpPr>
        <p:spPr>
          <a:xfrm>
            <a:off x="502920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+8.31***</a:t>
            </a:r>
          </a:p>
        </p:txBody>
      </p:sp>
      <p:sp>
        <p:nvSpPr>
          <p:cNvPr id="48" name="TextBox 47"/>
          <p:cNvSpPr txBox="1"/>
          <p:nvPr/>
        </p:nvSpPr>
        <p:spPr>
          <a:xfrm>
            <a:off x="690372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+3.78***</a:t>
            </a:r>
          </a:p>
        </p:txBody>
      </p:sp>
      <p:sp>
        <p:nvSpPr>
          <p:cNvPr id="49" name="TextBox 48"/>
          <p:cNvSpPr txBox="1"/>
          <p:nvPr/>
        </p:nvSpPr>
        <p:spPr>
          <a:xfrm>
            <a:off x="8778240" y="44622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+4.19***</a:t>
            </a:r>
          </a:p>
        </p:txBody>
      </p:sp>
      <p:sp>
        <p:nvSpPr>
          <p:cNvPr id="50" name="TextBox 49"/>
          <p:cNvSpPr txBox="1"/>
          <p:nvPr/>
        </p:nvSpPr>
        <p:spPr>
          <a:xfrm>
            <a:off x="502920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(1.84)</a:t>
            </a:r>
          </a:p>
        </p:txBody>
      </p:sp>
      <p:sp>
        <p:nvSpPr>
          <p:cNvPr id="51" name="TextBox 50"/>
          <p:cNvSpPr txBox="1"/>
          <p:nvPr/>
        </p:nvSpPr>
        <p:spPr>
          <a:xfrm>
            <a:off x="690372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(0.80)</a:t>
            </a:r>
          </a:p>
        </p:txBody>
      </p:sp>
      <p:sp>
        <p:nvSpPr>
          <p:cNvPr id="52" name="TextBox 51"/>
          <p:cNvSpPr txBox="1"/>
          <p:nvPr/>
        </p:nvSpPr>
        <p:spPr>
          <a:xfrm>
            <a:off x="8778240" y="46863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(0.88)</a:t>
            </a:r>
          </a:p>
        </p:txBody>
      </p:sp>
      <p:sp>
        <p:nvSpPr>
          <p:cNvPr id="53" name="TextBox 52"/>
          <p:cNvSpPr txBox="1"/>
          <p:nvPr/>
        </p:nvSpPr>
        <p:spPr>
          <a:xfrm>
            <a:off x="1005840" y="4919472"/>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Bottom-quartile household income</a:t>
            </a:r>
          </a:p>
        </p:txBody>
      </p:sp>
      <p:sp>
        <p:nvSpPr>
          <p:cNvPr id="54" name="TextBox 53"/>
          <p:cNvSpPr txBox="1"/>
          <p:nvPr/>
        </p:nvSpPr>
        <p:spPr>
          <a:xfrm>
            <a:off x="502920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+4.67***</a:t>
            </a:r>
          </a:p>
        </p:txBody>
      </p:sp>
      <p:sp>
        <p:nvSpPr>
          <p:cNvPr id="55" name="TextBox 54"/>
          <p:cNvSpPr txBox="1"/>
          <p:nvPr/>
        </p:nvSpPr>
        <p:spPr>
          <a:xfrm>
            <a:off x="690372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+2.24***</a:t>
            </a:r>
          </a:p>
        </p:txBody>
      </p:sp>
      <p:sp>
        <p:nvSpPr>
          <p:cNvPr id="56" name="TextBox 55"/>
          <p:cNvSpPr txBox="1"/>
          <p:nvPr/>
        </p:nvSpPr>
        <p:spPr>
          <a:xfrm>
            <a:off x="8778240" y="4919472"/>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+2.50***</a:t>
            </a:r>
          </a:p>
        </p:txBody>
      </p:sp>
      <p:sp>
        <p:nvSpPr>
          <p:cNvPr id="57" name="TextBox 56"/>
          <p:cNvSpPr txBox="1"/>
          <p:nvPr/>
        </p:nvSpPr>
        <p:spPr>
          <a:xfrm>
            <a:off x="502920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(1.10)</a:t>
            </a:r>
          </a:p>
        </p:txBody>
      </p:sp>
      <p:sp>
        <p:nvSpPr>
          <p:cNvPr id="58" name="TextBox 57"/>
          <p:cNvSpPr txBox="1"/>
          <p:nvPr/>
        </p:nvSpPr>
        <p:spPr>
          <a:xfrm>
            <a:off x="690372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(0.58)</a:t>
            </a:r>
          </a:p>
        </p:txBody>
      </p:sp>
      <p:sp>
        <p:nvSpPr>
          <p:cNvPr id="59" name="TextBox 58"/>
          <p:cNvSpPr txBox="1"/>
          <p:nvPr/>
        </p:nvSpPr>
        <p:spPr>
          <a:xfrm>
            <a:off x="8778240" y="5143500"/>
            <a:ext cx="1691640" cy="274320"/>
          </a:xfrm>
          <a:prstGeom prst="rect">
            <a:avLst/>
          </a:prstGeom>
          <a:noFill/>
        </p:spPr>
        <p:txBody>
          <a:bodyPr wrap="square" lIns="0" rIns="0" tIns="0" bIns="0">
            <a:spAutoFit/>
          </a:bodyPr>
          <a:lstStyle/>
          <a:p>
            <a:pPr algn="r">
              <a:lnSpc>
                <a:spcPts val="1408"/>
              </a:lnSpc>
              <a:spcAft>
                <a:spcPts val="0"/>
              </a:spcAft>
            </a:pPr>
            <a:r>
              <a:rPr sz="1100" b="0" i="0">
                <a:solidFill>
                  <a:srgbClr val="6B7480"/>
                </a:solidFill>
                <a:latin typeface="Garamond"/>
              </a:rPr>
              <a:t>(0.62)</a:t>
            </a:r>
          </a:p>
        </p:txBody>
      </p:sp>
      <p:cxnSp>
        <p:nvCxnSpPr>
          <p:cNvPr id="60" name="Connector 59"/>
          <p:cNvCxnSpPr/>
          <p:nvPr/>
        </p:nvCxnSpPr>
        <p:spPr>
          <a:xfrm>
            <a:off x="1005840" y="5394959"/>
            <a:ext cx="950976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05840" y="5477256"/>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Year fixed effects</a:t>
            </a:r>
          </a:p>
        </p:txBody>
      </p:sp>
      <p:sp>
        <p:nvSpPr>
          <p:cNvPr id="62" name="TextBox 61"/>
          <p:cNvSpPr txBox="1"/>
          <p:nvPr/>
        </p:nvSpPr>
        <p:spPr>
          <a:xfrm>
            <a:off x="502920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3" name="TextBox 62"/>
          <p:cNvSpPr txBox="1"/>
          <p:nvPr/>
        </p:nvSpPr>
        <p:spPr>
          <a:xfrm>
            <a:off x="690372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4" name="TextBox 63"/>
          <p:cNvSpPr txBox="1"/>
          <p:nvPr/>
        </p:nvSpPr>
        <p:spPr>
          <a:xfrm>
            <a:off x="8778240" y="5477256"/>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Yes</a:t>
            </a:r>
          </a:p>
        </p:txBody>
      </p:sp>
      <p:sp>
        <p:nvSpPr>
          <p:cNvPr id="65" name="TextBox 64"/>
          <p:cNvSpPr txBox="1"/>
          <p:nvPr/>
        </p:nvSpPr>
        <p:spPr>
          <a:xfrm>
            <a:off x="1005840" y="5733288"/>
            <a:ext cx="3840480" cy="274320"/>
          </a:xfrm>
          <a:prstGeom prst="rect">
            <a:avLst/>
          </a:prstGeom>
          <a:noFill/>
        </p:spPr>
        <p:txBody>
          <a:bodyPr wrap="square" lIns="0" rIns="0" tIns="0" bIns="0">
            <a:spAutoFit/>
          </a:bodyPr>
          <a:lstStyle/>
          <a:p>
            <a:pPr algn="l">
              <a:lnSpc>
                <a:spcPts val="1600"/>
              </a:lnSpc>
              <a:spcAft>
                <a:spcPts val="0"/>
              </a:spcAft>
            </a:pPr>
            <a:r>
              <a:rPr sz="1250" b="0" i="0">
                <a:solidFill>
                  <a:srgbClr val="212529"/>
                </a:solidFill>
                <a:latin typeface="Garamond"/>
              </a:rPr>
              <a:t>Observations</a:t>
            </a:r>
          </a:p>
        </p:txBody>
      </p:sp>
      <p:sp>
        <p:nvSpPr>
          <p:cNvPr id="66" name="TextBox 65"/>
          <p:cNvSpPr txBox="1"/>
          <p:nvPr/>
        </p:nvSpPr>
        <p:spPr>
          <a:xfrm>
            <a:off x="502920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sp>
        <p:nvSpPr>
          <p:cNvPr id="67" name="TextBox 66"/>
          <p:cNvSpPr txBox="1"/>
          <p:nvPr/>
        </p:nvSpPr>
        <p:spPr>
          <a:xfrm>
            <a:off x="690372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sp>
        <p:nvSpPr>
          <p:cNvPr id="68" name="TextBox 67"/>
          <p:cNvSpPr txBox="1"/>
          <p:nvPr/>
        </p:nvSpPr>
        <p:spPr>
          <a:xfrm>
            <a:off x="8778240" y="5733288"/>
            <a:ext cx="1691640" cy="274320"/>
          </a:xfrm>
          <a:prstGeom prst="rect">
            <a:avLst/>
          </a:prstGeom>
          <a:noFill/>
        </p:spPr>
        <p:txBody>
          <a:bodyPr wrap="square" lIns="0" rIns="0" tIns="0" bIns="0">
            <a:spAutoFit/>
          </a:bodyPr>
          <a:lstStyle/>
          <a:p>
            <a:pPr algn="r">
              <a:lnSpc>
                <a:spcPts val="1600"/>
              </a:lnSpc>
              <a:spcAft>
                <a:spcPts val="0"/>
              </a:spcAft>
            </a:pPr>
            <a:r>
              <a:rPr sz="1250" b="0" i="0">
                <a:solidFill>
                  <a:srgbClr val="212529"/>
                </a:solidFill>
                <a:latin typeface="Garamond"/>
              </a:rPr>
              <a:t>18,571</a:t>
            </a:r>
          </a:p>
        </p:txBody>
      </p:sp>
      <p:cxnSp>
        <p:nvCxnSpPr>
          <p:cNvPr id="69" name="Connector 68"/>
          <p:cNvCxnSpPr/>
          <p:nvPr/>
        </p:nvCxnSpPr>
        <p:spPr>
          <a:xfrm>
            <a:off x="1005840" y="6007608"/>
            <a:ext cx="950976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05840" y="6135624"/>
            <a:ext cx="9509760" cy="548640"/>
          </a:xfrm>
          <a:prstGeom prst="rect">
            <a:avLst/>
          </a:prstGeom>
          <a:noFill/>
        </p:spPr>
        <p:txBody>
          <a:bodyPr wrap="square" lIns="0" rIns="0" tIns="0" bIns="0">
            <a:spAutoFit/>
          </a:bodyPr>
          <a:lstStyle/>
          <a:p>
            <a:pPr algn="l">
              <a:lnSpc>
                <a:spcPts val="1344"/>
              </a:lnSpc>
              <a:spcAft>
                <a:spcPts val="0"/>
              </a:spcAft>
            </a:pPr>
            <a:r>
              <a:rPr sz="1050" b="0" i="1">
                <a:solidFill>
                  <a:srgbClr val="6B7480"/>
                </a:solidFill>
                <a:latin typeface="Garamond"/>
              </a:rPr>
              <a:t>Standard errors in parentheses, delta method for the logit and probit marginal effects. * p&lt;0.10, ** p&lt;0.05, *** p&lt;0.01. The probit column is the main specification of the coefficient plot.</a:t>
            </a:r>
          </a:p>
        </p:txBody>
      </p:sp>
      <p:sp>
        <p:nvSpPr>
          <p:cNvPr id="71" name="Rounded Rectangle 70">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Is the LPM bounded between 0 and 1?</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51</a:t>
            </a:r>
          </a:p>
        </p:txBody>
      </p:sp>
      <p:pic>
        <p:nvPicPr>
          <p:cNvPr id="4" name="Picture 3" descr="lpm_check.png"/>
          <p:cNvPicPr>
            <a:picLocks noChangeAspect="1"/>
          </p:cNvPicPr>
          <p:nvPr/>
        </p:nvPicPr>
        <p:blipFill>
          <a:blip r:embed="rId2"/>
          <a:stretch>
            <a:fillRect/>
          </a:stretch>
        </p:blipFill>
        <p:spPr>
          <a:xfrm>
            <a:off x="1557117" y="1024128"/>
            <a:ext cx="9047284" cy="4480560"/>
          </a:xfrm>
          <a:prstGeom prst="rect">
            <a:avLst/>
          </a:prstGeom>
        </p:spPr>
      </p:pic>
      <p:sp>
        <p:nvSpPr>
          <p:cNvPr id="5" name="TextBox 4"/>
          <p:cNvSpPr txBox="1"/>
          <p:nvPr/>
        </p:nvSpPr>
        <p:spPr>
          <a:xfrm>
            <a:off x="822960" y="5760720"/>
            <a:ext cx="10789920" cy="822960"/>
          </a:xfrm>
          <a:prstGeom prst="rect">
            <a:avLst/>
          </a:prstGeom>
          <a:noFill/>
        </p:spPr>
        <p:txBody>
          <a:bodyPr wrap="square" lIns="0" rIns="0" tIns="0" bIns="0">
            <a:spAutoFit/>
          </a:bodyPr>
          <a:lstStyle/>
          <a:p>
            <a:pPr algn="l">
              <a:lnSpc>
                <a:spcPts val="1855"/>
              </a:lnSpc>
              <a:spcAft>
                <a:spcPts val="0"/>
              </a:spcAft>
            </a:pPr>
            <a:r>
              <a:rPr sz="1450" b="1" i="0">
                <a:solidFill>
                  <a:srgbClr val="102D5E"/>
                </a:solidFill>
                <a:latin typeface="Garamond"/>
              </a:rPr>
              <a:t>Key message.  </a:t>
            </a:r>
            <a:r>
              <a:rPr sz="1450" b="0" i="0">
                <a:solidFill>
                  <a:srgbClr val="212529"/>
                </a:solidFill>
                <a:latin typeface="Garamond"/>
              </a:rPr>
              <a:t>No. 22% of fitted values fall below zero, so the probit is the main specification and the LPM a robustness variant.</a:t>
            </a:r>
          </a:p>
        </p:txBody>
      </p:sp>
      <p:sp>
        <p:nvSpPr>
          <p:cNvPr id="6" name="Rounded Rectangle 5">
            <a:hlinkClick action="ppaction://hlinksldjump" r:id="rId3"/>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19456"/>
            <a:ext cx="11247120" cy="566928"/>
          </a:xfrm>
          <a:prstGeom prst="rect">
            <a:avLst/>
          </a:prstGeom>
          <a:noFill/>
        </p:spPr>
        <p:txBody>
          <a:bodyPr wrap="square" lIns="0" rIns="0" tIns="0" bIns="0"/>
          <a:lstStyle/>
          <a:p>
            <a:r>
              <a:rPr sz="2800" b="1">
                <a:solidFill>
                  <a:srgbClr val="102D5E"/>
                </a:solidFill>
                <a:latin typeface="Garamond"/>
              </a:rPr>
              <a:t>What the CPS observes, of why teachers leave</a:t>
            </a:r>
          </a:p>
        </p:txBody>
      </p:sp>
      <p:sp>
        <p:nvSpPr>
          <p:cNvPr id="3" name="TextBox 2"/>
          <p:cNvSpPr txBox="1"/>
          <p:nvPr/>
        </p:nvSpPr>
        <p:spPr>
          <a:xfrm>
            <a:off x="11384280" y="6446520"/>
            <a:ext cx="640080" cy="292608"/>
          </a:xfrm>
          <a:prstGeom prst="rect">
            <a:avLst/>
          </a:prstGeom>
          <a:noFill/>
        </p:spPr>
        <p:txBody>
          <a:bodyPr wrap="none" lIns="0" rIns="0" tIns="0" bIns="0">
            <a:spAutoFit/>
          </a:bodyPr>
          <a:lstStyle/>
          <a:p>
            <a:pPr algn="r"/>
            <a:r>
              <a:rPr sz="1100">
                <a:solidFill>
                  <a:srgbClr val="6B7480"/>
                </a:solidFill>
                <a:latin typeface="Garamond"/>
              </a:rPr>
              <a:t>52</a:t>
            </a:r>
          </a:p>
        </p:txBody>
      </p:sp>
      <p:cxnSp>
        <p:nvCxnSpPr>
          <p:cNvPr id="4" name="Connector 3"/>
          <p:cNvCxnSpPr/>
          <p:nvPr/>
        </p:nvCxnSpPr>
        <p:spPr>
          <a:xfrm>
            <a:off x="822960" y="1645920"/>
            <a:ext cx="102412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1755648"/>
            <a:ext cx="6949440" cy="420624"/>
          </a:xfrm>
          <a:prstGeom prst="rect">
            <a:avLst/>
          </a:prstGeom>
          <a:noFill/>
        </p:spPr>
        <p:txBody>
          <a:bodyPr wrap="square" lIns="0" rIns="0" tIns="0" bIns="0">
            <a:spAutoFit/>
          </a:bodyPr>
          <a:lstStyle/>
          <a:p>
            <a:pPr algn="l">
              <a:lnSpc>
                <a:spcPts val="2048"/>
              </a:lnSpc>
              <a:spcAft>
                <a:spcPts val="0"/>
              </a:spcAft>
            </a:pPr>
            <a:r>
              <a:rPr sz="1600" b="1" i="0">
                <a:solidFill>
                  <a:srgbClr val="212529"/>
                </a:solidFill>
                <a:latin typeface="Garamond"/>
              </a:rPr>
              <a:t>Reasons in the literature</a:t>
            </a:r>
          </a:p>
        </p:txBody>
      </p:sp>
      <p:sp>
        <p:nvSpPr>
          <p:cNvPr id="6" name="TextBox 5"/>
          <p:cNvSpPr txBox="1"/>
          <p:nvPr/>
        </p:nvSpPr>
        <p:spPr>
          <a:xfrm>
            <a:off x="7955279" y="1755648"/>
            <a:ext cx="3108960" cy="420624"/>
          </a:xfrm>
          <a:prstGeom prst="rect">
            <a:avLst/>
          </a:prstGeom>
          <a:noFill/>
        </p:spPr>
        <p:txBody>
          <a:bodyPr wrap="square" lIns="0" rIns="0" tIns="0" bIns="0">
            <a:spAutoFit/>
          </a:bodyPr>
          <a:lstStyle/>
          <a:p>
            <a:pPr algn="l">
              <a:lnSpc>
                <a:spcPts val="2048"/>
              </a:lnSpc>
              <a:spcAft>
                <a:spcPts val="0"/>
              </a:spcAft>
            </a:pPr>
            <a:r>
              <a:rPr sz="1600" b="1" i="0">
                <a:solidFill>
                  <a:srgbClr val="212529"/>
                </a:solidFill>
                <a:latin typeface="Garamond"/>
              </a:rPr>
              <a:t>In the CPS?</a:t>
            </a:r>
          </a:p>
        </p:txBody>
      </p:sp>
      <p:cxnSp>
        <p:nvCxnSpPr>
          <p:cNvPr id="7" name="Connector 6"/>
          <p:cNvCxnSpPr/>
          <p:nvPr/>
        </p:nvCxnSpPr>
        <p:spPr>
          <a:xfrm>
            <a:off x="822960" y="2194560"/>
            <a:ext cx="1024128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2304288"/>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Working conditions</a:t>
            </a:r>
          </a:p>
        </p:txBody>
      </p:sp>
      <p:sp>
        <p:nvSpPr>
          <p:cNvPr id="9" name="TextBox 8"/>
          <p:cNvSpPr txBox="1"/>
          <p:nvPr/>
        </p:nvSpPr>
        <p:spPr>
          <a:xfrm>
            <a:off x="7955279" y="2304288"/>
            <a:ext cx="3108960" cy="420624"/>
          </a:xfrm>
          <a:prstGeom prst="rect">
            <a:avLst/>
          </a:prstGeom>
          <a:noFill/>
        </p:spPr>
        <p:txBody>
          <a:bodyPr wrap="square" lIns="0" rIns="0" tIns="0" bIns="0">
            <a:spAutoFit/>
          </a:bodyPr>
          <a:lstStyle/>
          <a:p>
            <a:pPr algn="l">
              <a:lnSpc>
                <a:spcPts val="2048"/>
              </a:lnSpc>
              <a:spcAft>
                <a:spcPts val="0"/>
              </a:spcAft>
            </a:pPr>
            <a:r>
              <a:rPr sz="1600" b="0" i="0">
                <a:solidFill>
                  <a:srgbClr val="6B7480"/>
                </a:solidFill>
                <a:latin typeface="Garamond"/>
              </a:rPr>
              <a:t>no</a:t>
            </a:r>
          </a:p>
        </p:txBody>
      </p:sp>
      <p:sp>
        <p:nvSpPr>
          <p:cNvPr id="10" name="TextBox 9"/>
          <p:cNvSpPr txBox="1"/>
          <p:nvPr/>
        </p:nvSpPr>
        <p:spPr>
          <a:xfrm>
            <a:off x="822960" y="2724912"/>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Organizational support</a:t>
            </a:r>
          </a:p>
        </p:txBody>
      </p:sp>
      <p:sp>
        <p:nvSpPr>
          <p:cNvPr id="11" name="TextBox 10"/>
          <p:cNvSpPr txBox="1"/>
          <p:nvPr/>
        </p:nvSpPr>
        <p:spPr>
          <a:xfrm>
            <a:off x="7955279" y="2724912"/>
            <a:ext cx="3108960" cy="420624"/>
          </a:xfrm>
          <a:prstGeom prst="rect">
            <a:avLst/>
          </a:prstGeom>
          <a:noFill/>
        </p:spPr>
        <p:txBody>
          <a:bodyPr wrap="square" lIns="0" rIns="0" tIns="0" bIns="0">
            <a:spAutoFit/>
          </a:bodyPr>
          <a:lstStyle/>
          <a:p>
            <a:pPr algn="l">
              <a:lnSpc>
                <a:spcPts val="2048"/>
              </a:lnSpc>
              <a:spcAft>
                <a:spcPts val="0"/>
              </a:spcAft>
            </a:pPr>
            <a:r>
              <a:rPr sz="1600" b="0" i="0">
                <a:solidFill>
                  <a:srgbClr val="6B7480"/>
                </a:solidFill>
                <a:latin typeface="Garamond"/>
              </a:rPr>
              <a:t>no</a:t>
            </a:r>
          </a:p>
        </p:txBody>
      </p:sp>
      <p:sp>
        <p:nvSpPr>
          <p:cNvPr id="12" name="TextBox 11"/>
          <p:cNvSpPr txBox="1"/>
          <p:nvPr/>
        </p:nvSpPr>
        <p:spPr>
          <a:xfrm>
            <a:off x="822960" y="3145536"/>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Autonomy and intrinsic motives</a:t>
            </a:r>
          </a:p>
        </p:txBody>
      </p:sp>
      <p:sp>
        <p:nvSpPr>
          <p:cNvPr id="13" name="TextBox 12"/>
          <p:cNvSpPr txBox="1"/>
          <p:nvPr/>
        </p:nvSpPr>
        <p:spPr>
          <a:xfrm>
            <a:off x="7955279" y="3145536"/>
            <a:ext cx="3108960" cy="420624"/>
          </a:xfrm>
          <a:prstGeom prst="rect">
            <a:avLst/>
          </a:prstGeom>
          <a:noFill/>
        </p:spPr>
        <p:txBody>
          <a:bodyPr wrap="square" lIns="0" rIns="0" tIns="0" bIns="0">
            <a:spAutoFit/>
          </a:bodyPr>
          <a:lstStyle/>
          <a:p>
            <a:pPr algn="l">
              <a:lnSpc>
                <a:spcPts val="2048"/>
              </a:lnSpc>
              <a:spcAft>
                <a:spcPts val="0"/>
              </a:spcAft>
            </a:pPr>
            <a:r>
              <a:rPr sz="1600" b="0" i="0">
                <a:solidFill>
                  <a:srgbClr val="6B7480"/>
                </a:solidFill>
                <a:latin typeface="Garamond"/>
              </a:rPr>
              <a:t>no</a:t>
            </a:r>
          </a:p>
        </p:txBody>
      </p:sp>
      <p:sp>
        <p:nvSpPr>
          <p:cNvPr id="14" name="TextBox 13"/>
          <p:cNvSpPr txBox="1"/>
          <p:nvPr/>
        </p:nvSpPr>
        <p:spPr>
          <a:xfrm>
            <a:off x="822960" y="3566160"/>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Financial factors</a:t>
            </a:r>
          </a:p>
        </p:txBody>
      </p:sp>
      <p:sp>
        <p:nvSpPr>
          <p:cNvPr id="15" name="TextBox 14"/>
          <p:cNvSpPr txBox="1"/>
          <p:nvPr/>
        </p:nvSpPr>
        <p:spPr>
          <a:xfrm>
            <a:off x="7955279" y="3566160"/>
            <a:ext cx="3108960" cy="420624"/>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yes</a:t>
            </a:r>
          </a:p>
        </p:txBody>
      </p:sp>
      <p:sp>
        <p:nvSpPr>
          <p:cNvPr id="16" name="TextBox 15"/>
          <p:cNvSpPr txBox="1"/>
          <p:nvPr/>
        </p:nvSpPr>
        <p:spPr>
          <a:xfrm>
            <a:off x="822960" y="3986784"/>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Personal life-cycle motives</a:t>
            </a:r>
          </a:p>
        </p:txBody>
      </p:sp>
      <p:sp>
        <p:nvSpPr>
          <p:cNvPr id="17" name="TextBox 16"/>
          <p:cNvSpPr txBox="1"/>
          <p:nvPr/>
        </p:nvSpPr>
        <p:spPr>
          <a:xfrm>
            <a:off x="7955279" y="3986784"/>
            <a:ext cx="3108960" cy="420624"/>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yes</a:t>
            </a:r>
          </a:p>
        </p:txBody>
      </p:sp>
      <p:cxnSp>
        <p:nvCxnSpPr>
          <p:cNvPr id="18" name="Connector 17"/>
          <p:cNvCxnSpPr/>
          <p:nvPr/>
        </p:nvCxnSpPr>
        <p:spPr>
          <a:xfrm>
            <a:off x="822960" y="4425696"/>
            <a:ext cx="10241280" cy="0"/>
          </a:xfrm>
          <a:prstGeom prst="line">
            <a:avLst/>
          </a:prstGeom>
          <a:ln w="889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4535424"/>
            <a:ext cx="6949440" cy="420624"/>
          </a:xfrm>
          <a:prstGeom prst="rect">
            <a:avLst/>
          </a:prstGeom>
          <a:noFill/>
        </p:spPr>
        <p:txBody>
          <a:bodyPr wrap="square" lIns="0" rIns="0" tIns="0" bIns="0">
            <a:spAutoFit/>
          </a:bodyPr>
          <a:lstStyle/>
          <a:p>
            <a:pPr algn="l">
              <a:lnSpc>
                <a:spcPts val="2048"/>
              </a:lnSpc>
              <a:spcAft>
                <a:spcPts val="0"/>
              </a:spcAft>
            </a:pPr>
            <a:r>
              <a:rPr sz="1600" b="0" i="0">
                <a:solidFill>
                  <a:srgbClr val="212529"/>
                </a:solidFill>
                <a:latin typeface="Garamond"/>
              </a:rPr>
              <a:t>Sociodemographics</a:t>
            </a:r>
          </a:p>
        </p:txBody>
      </p:sp>
      <p:sp>
        <p:nvSpPr>
          <p:cNvPr id="20" name="TextBox 19"/>
          <p:cNvSpPr txBox="1"/>
          <p:nvPr/>
        </p:nvSpPr>
        <p:spPr>
          <a:xfrm>
            <a:off x="7955279" y="4535424"/>
            <a:ext cx="3108960" cy="420624"/>
          </a:xfrm>
          <a:prstGeom prst="rect">
            <a:avLst/>
          </a:prstGeom>
          <a:noFill/>
        </p:spPr>
        <p:txBody>
          <a:bodyPr wrap="square" lIns="0" rIns="0" tIns="0" bIns="0">
            <a:spAutoFit/>
          </a:bodyPr>
          <a:lstStyle/>
          <a:p>
            <a:pPr algn="l">
              <a:lnSpc>
                <a:spcPts val="2048"/>
              </a:lnSpc>
              <a:spcAft>
                <a:spcPts val="0"/>
              </a:spcAft>
            </a:pPr>
            <a:r>
              <a:rPr sz="1600" b="1" i="0">
                <a:solidFill>
                  <a:srgbClr val="102D5E"/>
                </a:solidFill>
                <a:latin typeface="Garamond"/>
              </a:rPr>
              <a:t>yes</a:t>
            </a:r>
          </a:p>
        </p:txBody>
      </p:sp>
      <p:cxnSp>
        <p:nvCxnSpPr>
          <p:cNvPr id="21" name="Connector 20"/>
          <p:cNvCxnSpPr/>
          <p:nvPr/>
        </p:nvCxnSpPr>
        <p:spPr>
          <a:xfrm>
            <a:off x="822960" y="4992624"/>
            <a:ext cx="10241280" cy="0"/>
          </a:xfrm>
          <a:prstGeom prst="line">
            <a:avLst/>
          </a:prstGeom>
          <a:ln w="16510">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a:hlinkClick action="ppaction://hlinksldjump" r:id="rId2"/>
          </p:cNvPr>
          <p:cNvSpPr/>
          <p:nvPr/>
        </p:nvSpPr>
        <p:spPr>
          <a:xfrm>
            <a:off x="10469880" y="6327648"/>
            <a:ext cx="994867" cy="365760"/>
          </a:xfrm>
          <a:prstGeom prst="roundRect">
            <a:avLst/>
          </a:prstGeom>
          <a:solidFill>
            <a:srgbClr val="BE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1800" b="1">
                <a:solidFill>
                  <a:srgbClr val="102D5E"/>
                </a:solidFill>
                <a:latin typeface="Garamond"/>
              </a:rPr>
              <a:t>☞ </a:t>
            </a:r>
            <a:r>
              <a:rPr sz="1400">
                <a:solidFill>
                  <a:srgbClr val="102D5E"/>
                </a:solidFill>
                <a:latin typeface="Garamond"/>
              </a:rPr>
              <a:t>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