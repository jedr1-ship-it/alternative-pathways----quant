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417320"/>
            <a:ext cx="10789920" cy="82296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build one of the longest continuous measures of teacher attrition in the United States: twenty-eight consecutive years, 1998–2025.</a:t>
            </a:r>
          </a:p>
        </p:txBody>
      </p:sp>
      <p:sp>
        <p:nvSpPr>
          <p:cNvPr id="5" name="TextBox 4"/>
          <p:cNvSpPr txBox="1"/>
          <p:nvPr/>
        </p:nvSpPr>
        <p:spPr>
          <a:xfrm>
            <a:off x="822960" y="2743200"/>
            <a:ext cx="10789920" cy="5120640"/>
          </a:xfrm>
          <a:prstGeom prst="rect">
            <a:avLst/>
          </a:prstGeom>
          <a:noFill/>
        </p:spPr>
        <p:txBody>
          <a:bodyPr wrap="square" lIns="0" rIns="0" tIns="0" bIns="0">
            <a:spAutoFit/>
          </a:bodyPr>
          <a:lstStyle/>
          <a:p>
            <a:pPr algn="l">
              <a:lnSpc>
                <a:spcPts val="2560"/>
              </a:lnSpc>
              <a:spcAft>
                <a:spcPts val="3000"/>
              </a:spcAft>
            </a:pPr>
            <a:r>
              <a:rPr sz="2000" b="1" i="0">
                <a:solidFill>
                  <a:srgbClr val="2D6CB5"/>
                </a:solidFill>
                <a:latin typeface="Garamond"/>
              </a:rPr>
              <a:t>▪  </a:t>
            </a:r>
            <a:r>
              <a:rPr sz="2000" b="1" i="0">
                <a:solidFill>
                  <a:srgbClr val="102D5E"/>
                </a:solidFill>
                <a:latin typeface="Garamond"/>
              </a:rPr>
              <a:t>One source.  </a:t>
            </a:r>
            <a:r>
              <a:rPr sz="2000" b="0" i="0">
                <a:solidFill>
                  <a:srgbClr val="212529"/>
                </a:solidFill>
                <a:latin typeface="Garamond"/>
              </a:rPr>
              <a:t>Every number comes from the same instrument — the CPS March supplement — under a single definition, with no splicing of surveys.</a:t>
            </a:r>
          </a:p>
          <a:p>
            <a:pPr algn="l">
              <a:lnSpc>
                <a:spcPts val="2560"/>
              </a:lnSpc>
              <a:spcAft>
                <a:spcPts val="3000"/>
              </a:spcAft>
            </a:pPr>
            <a:r>
              <a:rPr sz="2000" b="1" i="0">
                <a:solidFill>
                  <a:srgbClr val="2D6CB5"/>
                </a:solidFill>
                <a:latin typeface="Garamond"/>
              </a:rPr>
              <a:t>▪  </a:t>
            </a:r>
            <a:r>
              <a:rPr sz="2000" b="1" i="0">
                <a:solidFill>
                  <a:srgbClr val="102D5E"/>
                </a:solidFill>
                <a:latin typeface="Garamond"/>
              </a:rPr>
              <a:t>No gaps.  </a:t>
            </a:r>
            <a:r>
              <a:rPr sz="2000" b="0" i="0">
                <a:solidFill>
                  <a:srgbClr val="212529"/>
                </a:solidFill>
                <a:latin typeface="Garamond"/>
              </a:rPr>
              <a:t>Twenty-eight consecutive annual observations; the official benchmark measures once every four or more years.</a:t>
            </a:r>
          </a:p>
          <a:p>
            <a:pPr algn="l">
              <a:lnSpc>
                <a:spcPts val="2560"/>
              </a:lnSpc>
              <a:spcAft>
                <a:spcPts val="0"/>
              </a:spcAft>
            </a:pPr>
            <a:r>
              <a:rPr sz="2000" b="1" i="0">
                <a:solidFill>
                  <a:srgbClr val="2D6CB5"/>
                </a:solidFill>
                <a:latin typeface="Garamond"/>
              </a:rPr>
              <a:t>▪  </a:t>
            </a:r>
            <a:r>
              <a:rPr sz="2000" b="1" i="0">
                <a:solidFill>
                  <a:srgbClr val="102D5E"/>
                </a:solidFill>
                <a:latin typeface="Garamond"/>
              </a:rPr>
              <a:t>Beyond the rate.  </a:t>
            </a:r>
            <a:r>
              <a:rPr sz="2000" b="0" i="0">
                <a:solidFill>
                  <a:srgbClr val="212529"/>
                </a:solidFill>
                <a:latin typeface="Garamond"/>
              </a:rPr>
              <a:t>The same files show who leaves, where they go, what leaving pays, who returns, and what moves the rate.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Put retention efforts where they can work: the first years of the career (mentoring, stable placements). Retirements can only be planned for, not prevented.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