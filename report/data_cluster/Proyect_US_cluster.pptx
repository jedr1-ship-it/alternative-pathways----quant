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6.xml"/><Relationship Id="rId4" Type="http://schemas.openxmlformats.org/officeDocument/2006/relationships/slide" Target="slide47.xml"/><Relationship Id="rId5" Type="http://schemas.openxmlformats.org/officeDocument/2006/relationships/slide" Target="slide48.xml"/><Relationship Id="rId6" Type="http://schemas.openxmlformats.org/officeDocument/2006/relationships/slide" Target="slide4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2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About 90,000 households, counting the March sample plus oversamples interviewed in February and April.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teacher group, three coding regimes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466344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1998–2002</a:t>
            </a:r>
          </a:p>
        </p:txBody>
      </p:sp>
      <p:sp>
        <p:nvSpPr>
          <p:cNvPr id="5" name="TextBox 4"/>
          <p:cNvSpPr txBox="1"/>
          <p:nvPr/>
        </p:nvSpPr>
        <p:spPr>
          <a:xfrm>
            <a:off x="722376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2003–2019</a:t>
            </a:r>
          </a:p>
        </p:txBody>
      </p:sp>
      <p:sp>
        <p:nvSpPr>
          <p:cNvPr id="6" name="TextBox 5"/>
          <p:cNvSpPr txBox="1"/>
          <p:nvPr/>
        </p:nvSpPr>
        <p:spPr>
          <a:xfrm>
            <a:off x="978408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2020–2025</a:t>
            </a:r>
          </a:p>
        </p:txBody>
      </p:sp>
      <p:sp>
        <p:nvSpPr>
          <p:cNvPr id="7" name="TextBox 6"/>
          <p:cNvSpPr txBox="1"/>
          <p:nvPr/>
        </p:nvSpPr>
        <p:spPr>
          <a:xfrm>
            <a:off x="822960" y="1965960"/>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Pre-K and kindergarten</a:t>
            </a:r>
          </a:p>
        </p:txBody>
      </p:sp>
      <p:sp>
        <p:nvSpPr>
          <p:cNvPr id="8" name="TextBox 7"/>
          <p:cNvSpPr txBox="1"/>
          <p:nvPr/>
        </p:nvSpPr>
        <p:spPr>
          <a:xfrm>
            <a:off x="466344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155</a:t>
            </a:r>
          </a:p>
        </p:txBody>
      </p:sp>
      <p:sp>
        <p:nvSpPr>
          <p:cNvPr id="9" name="TextBox 8"/>
          <p:cNvSpPr txBox="1"/>
          <p:nvPr/>
        </p:nvSpPr>
        <p:spPr>
          <a:xfrm>
            <a:off x="630936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0" name="TextBox 9"/>
          <p:cNvSpPr txBox="1"/>
          <p:nvPr/>
        </p:nvSpPr>
        <p:spPr>
          <a:xfrm>
            <a:off x="722376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1" name="TextBox 10"/>
          <p:cNvSpPr txBox="1"/>
          <p:nvPr/>
        </p:nvSpPr>
        <p:spPr>
          <a:xfrm>
            <a:off x="886968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2" name="TextBox 11"/>
          <p:cNvSpPr txBox="1"/>
          <p:nvPr/>
        </p:nvSpPr>
        <p:spPr>
          <a:xfrm>
            <a:off x="978408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3" name="TextBox 12"/>
          <p:cNvSpPr txBox="1"/>
          <p:nvPr/>
        </p:nvSpPr>
        <p:spPr>
          <a:xfrm>
            <a:off x="822960" y="2532888"/>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Elementary (and middle)</a:t>
            </a:r>
          </a:p>
        </p:txBody>
      </p:sp>
      <p:sp>
        <p:nvSpPr>
          <p:cNvPr id="14" name="TextBox 13"/>
          <p:cNvSpPr txBox="1"/>
          <p:nvPr/>
        </p:nvSpPr>
        <p:spPr>
          <a:xfrm>
            <a:off x="466344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156</a:t>
            </a:r>
          </a:p>
        </p:txBody>
      </p:sp>
      <p:sp>
        <p:nvSpPr>
          <p:cNvPr id="15" name="TextBox 14"/>
          <p:cNvSpPr txBox="1"/>
          <p:nvPr/>
        </p:nvSpPr>
        <p:spPr>
          <a:xfrm>
            <a:off x="630936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6" name="TextBox 15"/>
          <p:cNvSpPr txBox="1"/>
          <p:nvPr/>
        </p:nvSpPr>
        <p:spPr>
          <a:xfrm>
            <a:off x="722376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7" name="TextBox 16"/>
          <p:cNvSpPr txBox="1"/>
          <p:nvPr/>
        </p:nvSpPr>
        <p:spPr>
          <a:xfrm>
            <a:off x="886968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8" name="TextBox 17"/>
          <p:cNvSpPr txBox="1"/>
          <p:nvPr/>
        </p:nvSpPr>
        <p:spPr>
          <a:xfrm>
            <a:off x="978408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9" name="TextBox 18"/>
          <p:cNvSpPr txBox="1"/>
          <p:nvPr/>
        </p:nvSpPr>
        <p:spPr>
          <a:xfrm>
            <a:off x="822960" y="3099816"/>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Secondary</a:t>
            </a:r>
          </a:p>
        </p:txBody>
      </p:sp>
      <p:sp>
        <p:nvSpPr>
          <p:cNvPr id="20" name="TextBox 19"/>
          <p:cNvSpPr txBox="1"/>
          <p:nvPr/>
        </p:nvSpPr>
        <p:spPr>
          <a:xfrm>
            <a:off x="466344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157</a:t>
            </a:r>
          </a:p>
        </p:txBody>
      </p:sp>
      <p:sp>
        <p:nvSpPr>
          <p:cNvPr id="21" name="TextBox 20"/>
          <p:cNvSpPr txBox="1"/>
          <p:nvPr/>
        </p:nvSpPr>
        <p:spPr>
          <a:xfrm>
            <a:off x="630936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2" name="TextBox 21"/>
          <p:cNvSpPr txBox="1"/>
          <p:nvPr/>
        </p:nvSpPr>
        <p:spPr>
          <a:xfrm>
            <a:off x="722376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3" name="TextBox 22"/>
          <p:cNvSpPr txBox="1"/>
          <p:nvPr/>
        </p:nvSpPr>
        <p:spPr>
          <a:xfrm>
            <a:off x="886968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4" name="TextBox 23"/>
          <p:cNvSpPr txBox="1"/>
          <p:nvPr/>
        </p:nvSpPr>
        <p:spPr>
          <a:xfrm>
            <a:off x="978408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5" name="TextBox 24"/>
          <p:cNvSpPr txBox="1"/>
          <p:nvPr/>
        </p:nvSpPr>
        <p:spPr>
          <a:xfrm>
            <a:off x="822960" y="3666744"/>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Special education</a:t>
            </a:r>
          </a:p>
        </p:txBody>
      </p:sp>
      <p:sp>
        <p:nvSpPr>
          <p:cNvPr id="26" name="TextBox 25"/>
          <p:cNvSpPr txBox="1"/>
          <p:nvPr/>
        </p:nvSpPr>
        <p:spPr>
          <a:xfrm>
            <a:off x="466344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158</a:t>
            </a:r>
          </a:p>
        </p:txBody>
      </p:sp>
      <p:sp>
        <p:nvSpPr>
          <p:cNvPr id="27" name="TextBox 26"/>
          <p:cNvSpPr txBox="1"/>
          <p:nvPr/>
        </p:nvSpPr>
        <p:spPr>
          <a:xfrm>
            <a:off x="630936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8" name="TextBox 27"/>
          <p:cNvSpPr txBox="1"/>
          <p:nvPr/>
        </p:nvSpPr>
        <p:spPr>
          <a:xfrm>
            <a:off x="722376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29" name="TextBox 28"/>
          <p:cNvSpPr txBox="1"/>
          <p:nvPr/>
        </p:nvSpPr>
        <p:spPr>
          <a:xfrm>
            <a:off x="886968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0" name="TextBox 29"/>
          <p:cNvSpPr txBox="1"/>
          <p:nvPr/>
        </p:nvSpPr>
        <p:spPr>
          <a:xfrm>
            <a:off x="978408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31" name="TextBox 30"/>
          <p:cNvSpPr txBox="1"/>
          <p:nvPr/>
        </p:nvSpPr>
        <p:spPr>
          <a:xfrm>
            <a:off x="822960" y="4233672"/>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Other teachers and instructors</a:t>
            </a:r>
          </a:p>
        </p:txBody>
      </p:sp>
      <p:sp>
        <p:nvSpPr>
          <p:cNvPr id="32" name="TextBox 31"/>
          <p:cNvSpPr txBox="1"/>
          <p:nvPr/>
        </p:nvSpPr>
        <p:spPr>
          <a:xfrm>
            <a:off x="466344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159</a:t>
            </a:r>
          </a:p>
        </p:txBody>
      </p:sp>
      <p:sp>
        <p:nvSpPr>
          <p:cNvPr id="33" name="TextBox 32"/>
          <p:cNvSpPr txBox="1"/>
          <p:nvPr/>
        </p:nvSpPr>
        <p:spPr>
          <a:xfrm>
            <a:off x="6309360" y="4233672"/>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4" name="TextBox 33"/>
          <p:cNvSpPr txBox="1"/>
          <p:nvPr/>
        </p:nvSpPr>
        <p:spPr>
          <a:xfrm>
            <a:off x="722376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2340</a:t>
            </a:r>
          </a:p>
        </p:txBody>
      </p:sp>
      <p:sp>
        <p:nvSpPr>
          <p:cNvPr id="35" name="TextBox 34"/>
          <p:cNvSpPr txBox="1"/>
          <p:nvPr/>
        </p:nvSpPr>
        <p:spPr>
          <a:xfrm>
            <a:off x="8869680" y="4233672"/>
            <a:ext cx="100584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a:t>
            </a:r>
          </a:p>
        </p:txBody>
      </p:sp>
      <p:sp>
        <p:nvSpPr>
          <p:cNvPr id="36" name="TextBox 35"/>
          <p:cNvSpPr txBox="1"/>
          <p:nvPr/>
        </p:nvSpPr>
        <p:spPr>
          <a:xfrm>
            <a:off x="978408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2360</a:t>
            </a:r>
          </a:p>
        </p:txBody>
      </p:sp>
      <p:sp>
        <p:nvSpPr>
          <p:cNvPr id="37" name="TextBox 36"/>
          <p:cNvSpPr txBox="1"/>
          <p:nvPr/>
        </p:nvSpPr>
        <p:spPr>
          <a:xfrm>
            <a:off x="822960" y="5120640"/>
            <a:ext cx="10789920" cy="91440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In 2003 every code changed but the five categories did not. In 2020 a single code changed. We always use the block, never a single code across regimes.</a:t>
            </a:r>
          </a:p>
        </p:txBody>
      </p:sp>
      <p:sp>
        <p:nvSpPr>
          <p:cNvPr id="38" name="Rounded Rectangle 37">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Identity is not certain, validation can admit noisy people.</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Movers are lost. About 25% of addresses are not found a year later.</a:t>
            </a:r>
          </a:p>
          <a:p>
            <a:pPr algn="l">
              <a:lnSpc>
                <a:spcPts val="2048"/>
              </a:lnSpc>
              <a:spcAft>
                <a:spcPts val="1500"/>
              </a:spcAft>
            </a:pPr>
            <a:r>
              <a:rPr sz="1600" b="1" i="0">
                <a:solidFill>
                  <a:srgbClr val="2D6CB5"/>
                </a:solidFill>
                <a:latin typeface="Garamond"/>
              </a:rPr>
              <a:t>3.   </a:t>
            </a:r>
            <a:r>
              <a:rPr sz="1600" b="0" i="0">
                <a:solidFill>
                  <a:srgbClr val="212529"/>
                </a:solidFill>
                <a:latin typeface="Garamond"/>
              </a:rPr>
              <a:t>Normal household attrition on top.</a:t>
            </a:r>
          </a:p>
          <a:p>
            <a:pPr algn="l">
              <a:lnSpc>
                <a:spcPts val="2048"/>
              </a:lnSpc>
              <a:spcAft>
                <a:spcPts val="1500"/>
              </a:spcAft>
            </a:pPr>
            <a:r>
              <a:rPr sz="1600" b="1" i="0">
                <a:solidFill>
                  <a:srgbClr val="2D6CB5"/>
                </a:solidFill>
                <a:latin typeface="Garamond"/>
              </a:rPr>
              <a:t>4.   </a:t>
            </a:r>
            <a:r>
              <a:rPr sz="1600" b="0" i="0">
                <a:solidFill>
                  <a:srgbClr val="212529"/>
                </a:solidFill>
                <a:latin typeface="Garamond"/>
              </a:rPr>
              <a:t>Strong seasonality in teaching.</a:t>
            </a:r>
          </a:p>
          <a:p>
            <a:pPr algn="l">
              <a:lnSpc>
                <a:spcPts val="2048"/>
              </a:lnSpc>
              <a:spcAft>
                <a:spcPts val="0"/>
              </a:spcAft>
            </a:pPr>
            <a:r>
              <a:rPr sz="1600" b="1" i="0">
                <a:solidFill>
                  <a:srgbClr val="2D6CB5"/>
                </a:solidFill>
                <a:latin typeface="Garamond"/>
              </a:rPr>
              <a:t>5.   </a:t>
            </a:r>
            <a:r>
              <a:rPr sz="16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One observation per person per year (~3,700 teachers) against ~11,000 monthly teacher observations.</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Accountants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44.1</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31.3</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11.0</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77,000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6,897</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nursing and social work in age and gender, and to social work in education. It differs in pay, weeks worked and the public sector.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about the same rate as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olf55.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Teachers sit 4% below their 1997 level, while comparable professions grew by about 12% on average.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Most leavers concentrate in the bottom deciles of income and the ones that switch jobs do not necessarily earn more, suggesting that on top of better working conditions the financial margin still has room as a retention incentive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narrow core moves the pooled rate by 0.1 points.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