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slide" Target="slide45.xml"/><Relationship Id="rId5"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slide" Target="slide44.xml"/><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9.xml"/><Relationship Id="rId4" Type="http://schemas.openxmlformats.org/officeDocument/2006/relationships/slide" Target="slide50.xml"/><Relationship Id="rId5" Type="http://schemas.openxmlformats.org/officeDocument/2006/relationships/slide" Target="slide51.xml"/><Relationship Id="rId6" Type="http://schemas.openxmlformats.org/officeDocument/2006/relationships/slide" Target="slide5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1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slide" Target="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slide" Target="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slide" Target="slide2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use the Current Population Survey to</a:t>
            </a:r>
          </a:p>
        </p:txBody>
      </p:sp>
      <p:sp>
        <p:nvSpPr>
          <p:cNvPr id="5" name="TextBox 4"/>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Garamond"/>
              </a:rPr>
              <a:t>1.   </a:t>
            </a:r>
            <a:r>
              <a:rPr sz="2200" b="0" i="0">
                <a:solidFill>
                  <a:srgbClr val="212529"/>
                </a:solidFill>
                <a:latin typeface="Garamond"/>
              </a:rPr>
              <a:t>reproduce and extend the official statistics on teachers leaving the profession;</a:t>
            </a:r>
          </a:p>
          <a:p>
            <a:pPr algn="l">
              <a:lnSpc>
                <a:spcPts val="2816"/>
              </a:lnSpc>
              <a:spcAft>
                <a:spcPts val="0"/>
              </a:spcAft>
            </a:pPr>
            <a:r>
              <a:rPr sz="2200" b="1" i="0">
                <a:solidFill>
                  <a:srgbClr val="2D6CB5"/>
                </a:solidFill>
                <a:latin typeface="Garamond"/>
              </a:rPr>
              <a:t>2.   </a:t>
            </a:r>
            <a:r>
              <a:rPr sz="2200" b="0" i="0">
                <a:solidFill>
                  <a:srgbClr val="212529"/>
                </a:solidFill>
                <a:latin typeface="Garamond"/>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About 90,000 households, counting the March sample plus oversamples interviewed in February and April.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counts as a teacher?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822960" y="1417320"/>
            <a:ext cx="10789920" cy="1828800"/>
          </a:xfrm>
          <a:prstGeom prst="rect">
            <a:avLst/>
          </a:prstGeom>
          <a:noFill/>
        </p:spPr>
        <p:txBody>
          <a:bodyPr wrap="square" lIns="0" rIns="0" tIns="0" bIns="0">
            <a:spAutoFit/>
          </a:bodyPr>
          <a:lstStyle/>
          <a:p>
            <a:pPr algn="l">
              <a:lnSpc>
                <a:spcPts val="2560"/>
              </a:lnSpc>
              <a:spcAft>
                <a:spcPts val="1000"/>
              </a:spcAft>
            </a:pPr>
            <a:r>
              <a:rPr sz="2000" b="1" i="0">
                <a:solidFill>
                  <a:srgbClr val="2D6CB5"/>
                </a:solidFill>
                <a:latin typeface="Garamond"/>
              </a:rPr>
              <a:t>▪  </a:t>
            </a:r>
            <a:r>
              <a:rPr sz="2000" b="0" i="0">
                <a:solidFill>
                  <a:srgbClr val="212529"/>
                </a:solidFill>
                <a:latin typeface="Garamond"/>
              </a:rPr>
              <a:t>The census assigns every worker a detailed occupation code for the job held longest last year. We count as a teacher anyone classified in one of the five school-teaching categories:</a:t>
            </a:r>
          </a:p>
        </p:txBody>
      </p:sp>
      <p:sp>
        <p:nvSpPr>
          <p:cNvPr id="5" name="TextBox 4"/>
          <p:cNvSpPr txBox="1"/>
          <p:nvPr/>
        </p:nvSpPr>
        <p:spPr>
          <a:xfrm>
            <a:off x="1417320" y="2542032"/>
            <a:ext cx="10058400" cy="2011680"/>
          </a:xfrm>
          <a:prstGeom prst="rect">
            <a:avLst/>
          </a:prstGeom>
          <a:noFill/>
        </p:spPr>
        <p:txBody>
          <a:bodyPr wrap="square" lIns="0" rIns="0" tIns="0" bIns="0">
            <a:spAutoFit/>
          </a:bodyPr>
          <a:lstStyle/>
          <a:p>
            <a:pPr algn="l">
              <a:lnSpc>
                <a:spcPts val="2432"/>
              </a:lnSpc>
              <a:spcAft>
                <a:spcPts val="600"/>
              </a:spcAft>
            </a:pPr>
            <a:r>
              <a:rPr sz="1900" b="1" i="0">
                <a:solidFill>
                  <a:srgbClr val="102D5E"/>
                </a:solidFill>
                <a:latin typeface="Garamond"/>
              </a:rPr>
              <a:t>(a)  </a:t>
            </a:r>
            <a:r>
              <a:rPr sz="1900" b="0" i="0">
                <a:solidFill>
                  <a:srgbClr val="212529"/>
                </a:solidFill>
                <a:latin typeface="Garamond"/>
              </a:rPr>
              <a:t>Preschool and kindergarten teachers</a:t>
            </a:r>
          </a:p>
          <a:p>
            <a:pPr algn="l">
              <a:lnSpc>
                <a:spcPts val="2432"/>
              </a:lnSpc>
              <a:spcAft>
                <a:spcPts val="600"/>
              </a:spcAft>
            </a:pPr>
            <a:r>
              <a:rPr sz="1900" b="1" i="0">
                <a:solidFill>
                  <a:srgbClr val="102D5E"/>
                </a:solidFill>
                <a:latin typeface="Garamond"/>
              </a:rPr>
              <a:t>(b)  </a:t>
            </a:r>
            <a:r>
              <a:rPr sz="1900" b="0" i="0">
                <a:solidFill>
                  <a:srgbClr val="212529"/>
                </a:solidFill>
                <a:latin typeface="Garamond"/>
              </a:rPr>
              <a:t>Elementary and middle school teachers</a:t>
            </a:r>
          </a:p>
          <a:p>
            <a:pPr algn="l">
              <a:lnSpc>
                <a:spcPts val="2432"/>
              </a:lnSpc>
              <a:spcAft>
                <a:spcPts val="600"/>
              </a:spcAft>
            </a:pPr>
            <a:r>
              <a:rPr sz="1900" b="1" i="0">
                <a:solidFill>
                  <a:srgbClr val="102D5E"/>
                </a:solidFill>
                <a:latin typeface="Garamond"/>
              </a:rPr>
              <a:t>(c)  </a:t>
            </a:r>
            <a:r>
              <a:rPr sz="1900" b="0" i="0">
                <a:solidFill>
                  <a:srgbClr val="212529"/>
                </a:solidFill>
                <a:latin typeface="Garamond"/>
              </a:rPr>
              <a:t>Secondary school teachers</a:t>
            </a:r>
          </a:p>
          <a:p>
            <a:pPr algn="l">
              <a:lnSpc>
                <a:spcPts val="2432"/>
              </a:lnSpc>
              <a:spcAft>
                <a:spcPts val="600"/>
              </a:spcAft>
            </a:pPr>
            <a:r>
              <a:rPr sz="1900" b="1" i="0">
                <a:solidFill>
                  <a:srgbClr val="102D5E"/>
                </a:solidFill>
                <a:latin typeface="Garamond"/>
              </a:rPr>
              <a:t>(d)  </a:t>
            </a:r>
            <a:r>
              <a:rPr sz="1900" b="0" i="0">
                <a:solidFill>
                  <a:srgbClr val="212529"/>
                </a:solidFill>
                <a:latin typeface="Garamond"/>
              </a:rPr>
              <a:t>Special education teachers</a:t>
            </a:r>
          </a:p>
          <a:p>
            <a:pPr algn="l">
              <a:lnSpc>
                <a:spcPts val="2432"/>
              </a:lnSpc>
              <a:spcAft>
                <a:spcPts val="600"/>
              </a:spcAft>
            </a:pPr>
            <a:r>
              <a:rPr sz="1900" b="1" i="0">
                <a:solidFill>
                  <a:srgbClr val="102D5E"/>
                </a:solidFill>
                <a:latin typeface="Garamond"/>
              </a:rPr>
              <a:t>(e)  </a:t>
            </a:r>
            <a:r>
              <a:rPr sz="1900" b="0" i="0">
                <a:solidFill>
                  <a:srgbClr val="212529"/>
                </a:solidFill>
                <a:latin typeface="Garamond"/>
              </a:rPr>
              <a:t>Other teachers and instructors</a:t>
            </a:r>
          </a:p>
        </p:txBody>
      </p:sp>
      <p:sp>
        <p:nvSpPr>
          <p:cNvPr id="6" name="TextBox 5"/>
          <p:cNvSpPr txBox="1"/>
          <p:nvPr/>
        </p:nvSpPr>
        <p:spPr>
          <a:xfrm>
            <a:off x="822960" y="4892040"/>
            <a:ext cx="10789920" cy="1188720"/>
          </a:xfrm>
          <a:prstGeom prst="rect">
            <a:avLst/>
          </a:prstGeom>
          <a:noFill/>
        </p:spPr>
        <p:txBody>
          <a:bodyPr wrap="square" lIns="0" rIns="0" tIns="0" bIns="0">
            <a:spAutoFit/>
          </a:bodyPr>
          <a:lstStyle/>
          <a:p>
            <a:pPr algn="l">
              <a:lnSpc>
                <a:spcPts val="2560"/>
              </a:lnSpc>
              <a:spcAft>
                <a:spcPts val="0"/>
              </a:spcAft>
            </a:pPr>
            <a:r>
              <a:rPr sz="2000" b="1" i="0">
                <a:solidFill>
                  <a:srgbClr val="2D6CB5"/>
                </a:solidFill>
                <a:latin typeface="Garamond"/>
              </a:rPr>
              <a:t>▪  </a:t>
            </a:r>
            <a:r>
              <a:rPr sz="2000" b="0" i="0">
                <a:solidFill>
                  <a:srgbClr val="212529"/>
                </a:solidFill>
                <a:latin typeface="Garamond"/>
              </a:rPr>
              <a:t>Our results are robust to this boundary: dropping special education teachers (d) and the residual category (e) moves the pooled leaving rate by 0.1 points (8.6 to 8.7).</a:t>
            </a:r>
          </a:p>
        </p:txBody>
      </p:sp>
      <p:sp>
        <p:nvSpPr>
          <p:cNvPr id="7" name="Rounded Rectangle 6">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Identity is not certain, validation can admit noisy people.</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Movers are lost. About 25% of addresses are not found a year later.</a:t>
            </a:r>
          </a:p>
          <a:p>
            <a:pPr algn="l">
              <a:lnSpc>
                <a:spcPts val="2048"/>
              </a:lnSpc>
              <a:spcAft>
                <a:spcPts val="1500"/>
              </a:spcAft>
            </a:pPr>
            <a:r>
              <a:rPr sz="1600" b="1" i="0">
                <a:solidFill>
                  <a:srgbClr val="2D6CB5"/>
                </a:solidFill>
                <a:latin typeface="Garamond"/>
              </a:rPr>
              <a:t>3.   </a:t>
            </a:r>
            <a:r>
              <a:rPr sz="1600" b="0" i="0">
                <a:solidFill>
                  <a:srgbClr val="212529"/>
                </a:solidFill>
                <a:latin typeface="Garamond"/>
              </a:rPr>
              <a:t>Normal household attrition on top.</a:t>
            </a:r>
          </a:p>
          <a:p>
            <a:pPr algn="l">
              <a:lnSpc>
                <a:spcPts val="2048"/>
              </a:lnSpc>
              <a:spcAft>
                <a:spcPts val="1500"/>
              </a:spcAft>
            </a:pPr>
            <a:r>
              <a:rPr sz="1600" b="1" i="0">
                <a:solidFill>
                  <a:srgbClr val="2D6CB5"/>
                </a:solidFill>
                <a:latin typeface="Garamond"/>
              </a:rPr>
              <a:t>4.   </a:t>
            </a:r>
            <a:r>
              <a:rPr sz="1600" b="0" i="0">
                <a:solidFill>
                  <a:srgbClr val="212529"/>
                </a:solidFill>
                <a:latin typeface="Garamond"/>
              </a:rPr>
              <a:t>Strong seasonality in teaching.</a:t>
            </a:r>
          </a:p>
          <a:p>
            <a:pPr algn="l">
              <a:lnSpc>
                <a:spcPts val="2048"/>
              </a:lnSpc>
              <a:spcAft>
                <a:spcPts val="0"/>
              </a:spcAft>
            </a:pPr>
            <a:r>
              <a:rPr sz="1600" b="1" i="0">
                <a:solidFill>
                  <a:srgbClr val="2D6CB5"/>
                </a:solidFill>
                <a:latin typeface="Garamond"/>
              </a:rPr>
              <a:t>5.   </a:t>
            </a:r>
            <a:r>
              <a:rPr sz="16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One observation per person per year (~3,700 teachers) against ~11,000 monthly teacher observations.</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Counselors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76.2</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43.2</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67.8</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36.7</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48.5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55,000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3,962</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counseling in gender and pay, and to social work in age and education. What sets teaching apart is the public sector and the shorter work year.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rates similar to or below the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 third find another job, a third retire, and the rest split between early labor-force exit and unemployment.</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
        <p:nvSpPr>
          <p:cNvPr id="7" name="Rounded Rectangle 6">
            <a:hlinkClick action="ppaction://hlinksldjump" r:id="rId4"/>
          </p:cNvPr>
          <p:cNvSpPr/>
          <p:nvPr/>
        </p:nvSpPr>
        <p:spPr>
          <a:xfrm>
            <a:off x="3236061"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
        <p:nvSpPr>
          <p:cNvPr id="6" name="Rounded Rectangle 5">
            <a:hlinkClick action="ppaction://hlinksldjump" r:id="rId3"/>
          </p:cNvPr>
          <p:cNvSpPr/>
          <p:nvPr/>
        </p:nvSpPr>
        <p:spPr>
          <a:xfrm>
            <a:off x="82296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olf55.png"/>
          <p:cNvPicPr>
            <a:picLocks noChangeAspect="1"/>
          </p:cNvPicPr>
          <p:nvPr/>
        </p:nvPicPr>
        <p:blipFill>
          <a:blip r:embed="rId2"/>
          <a:stretch>
            <a:fillRect/>
          </a:stretch>
        </p:blipFill>
        <p:spPr>
          <a:xfrm>
            <a:off x="1184987" y="1051560"/>
            <a:ext cx="9791544"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to study follows age, and teacher leavers mirror the typical graduate out of the labor force: 45% of those under 30 are enrolled in school, next to 60% among all graduates. After 40, almost none study.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The risk of leaving is highest at the two ends of the career. The young leave for other jobs; the old leave the labor force.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and neither has it in the closest helping professions. The typical graduate now out-earns a teacher by $30,000 a year.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30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3000"/>
              </a:spcAft>
            </a:pPr>
            <a:r>
              <a:rPr sz="1900" b="1" i="0">
                <a:solidFill>
                  <a:srgbClr val="2D6CB5"/>
                </a:solidFill>
                <a:latin typeface="Garamond"/>
              </a:rPr>
              <a:t>▪  </a:t>
            </a:r>
            <a:r>
              <a:rPr sz="1900" b="0" i="0">
                <a:solidFill>
                  <a:srgbClr val="212529"/>
                </a:solidFill>
                <a:latin typeface="Garamond"/>
              </a:rPr>
              <a:t>Leaving is concentrated at the bottom of the income distribution, and those who switch jobs do not necessarily earn more afterwards. Pay, alongside working conditions, still has room as a retention lever in the US.</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The probability of leaving is highest at the start of the career, making mentoring and accompaniment a priority for retention policies.</a:t>
            </a:r>
          </a:p>
        </p:txBody>
      </p:sp>
      <p:sp>
        <p:nvSpPr>
          <p:cNvPr id="5" name="Rounded Rectangle 4">
            <a:hlinkClick action="ppaction://hlinksldjump" r:id="rId2"/>
          </p:cNvPr>
          <p:cNvSpPr/>
          <p:nvPr/>
        </p:nvSpPr>
        <p:spPr>
          <a:xfrm>
            <a:off x="822960" y="6327648"/>
            <a:ext cx="285384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Do switchers earn more?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cascade,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pic>
        <p:nvPicPr>
          <p:cNvPr id="4" name="Picture 3" descr="flow_olf55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(6,931 leavers) the picture is the same: 29 of every 100 leavers exit the labor force before 55, and 53% of them are mothers with a child at home (15 of the 29). The five-year window is not driving the composition.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flow,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pic>
        <p:nvPicPr>
          <p:cNvPr id="4" name="Picture 3" descr="flow_employed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1997–2024 (6,866 leavers, destination groups mapped across the 1990 and 2002/2010/2018 classifications) the composition barely moves: 27 to another job, 33 retired, 28 out of the labor force before 55 and 12 unemployed; the employed split is 22 / 8 / 30 / 40 percent. The five-year window is not driving the picture.</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Do switchers earn more?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pic>
        <p:nvPicPr>
          <p:cNvPr id="4" name="Picture 3" descr="pay7_destinations_deck.png"/>
          <p:cNvPicPr>
            <a:picLocks noChangeAspect="1"/>
          </p:cNvPicPr>
          <p:nvPr/>
        </p:nvPicPr>
        <p:blipFill>
          <a:blip r:embed="rId2"/>
          <a:stretch>
            <a:fillRect/>
          </a:stretch>
        </p:blipFill>
        <p:spPr>
          <a:xfrm>
            <a:off x="1600199" y="1051560"/>
            <a:ext cx="8961120" cy="448056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Same person observed in two consecutive March supplements. Moves into education jobs or care pay no more than staying; only the minority moving to other professional occupations clearly gains. Half of all switchers land in occupations whose median pay is below the teacher median.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narrow core moves the pooled rate by 0.1 points.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50</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51</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52</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