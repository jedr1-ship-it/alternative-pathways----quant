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GUION. En este gráfico veis cuatro líneas y unos puntos. Cada línea es una forma distinta de medir lo mismo, calculada sobre los mismos registros del CPS, de la menos estricta a la más precisa. Los puntos son la referencia nacional, el Teacher Follow-up Survey del NCES (8,0 en su última ola).</a:t>
            </a:r>
          </a:p>
          <a:p/>
          <a:p>
            <a:r>
              <a:t>ANY SIGHTING (~18): entra cualquiera visto enseñando en una sola entrevista del año 1. Más del doble de la referencia por tres causas: (1) dominante, a quién deja entrar un solo avistamiento — sustitutos y spells de un mes. Ojo con el dato: de los vistos enseñando en UNA sola entrevista del año 1, el 55% no aparece enseñando en NINGUNA de sus entrevistas del año 2 (no significa 'nunca más': el CPS solo los ve 16 meses). El gradiente: una vez 55%, dos 30%, tres 17%, cuatro 11%. (2) Un solo mes de código de ocupación es ruidoso. (3) La estacionalidad pesa poco: solo-verano es ~3% de estos leavers.</a:t>
            </a:r>
          </a:p>
          <a:p/>
          <a:p>
            <a:r>
              <a:t>MONTH PAIRS (~15): la unidad es el par mes-mes+12, no la persona; la misma persona puede contar como leaver en un par y stayer en otro. La caída de tres puntos hasta la siguiente línea es lo que se gana imponiendo un veredicto por persona.</a:t>
            </a:r>
          </a:p>
          <a:p/>
          <a:p>
            <a:r>
              <a:t>PANEL (~13): una persona, un veredicto (profesor si enseña en 2+ entrevistas del año 1; leaver solo si nunca enseña en el año 2, con 2+ entrevistas, una fuera del verano). Queda 4-5 puntos sobre el recall por dos razones: (1) concepto de año puntual — quien enseñó casi todo el año pero no en esas entrevistas cuenta como leaver; (2) retornos — uno de cada seis leavers del panel vuelve a enseñar en tres meses; la medida anual los absorbe.</a:t>
            </a:r>
          </a:p>
          <a:p/>
          <a:p>
            <a:r>
              <a:t>ANNUAL RECALL (8,6): empleo más largo del año anterior y ya no enseña en marzo. Comparte concepto con la encuesta oficial (empleo principal del año) y por eso aterriza junto a los puntos. Su riesgo propio: error de recuerdo.</a:t>
            </a:r>
          </a:p>
          <a:p/>
          <a:p>
            <a:r>
              <a:t>EJE: el recall empieza en 1997 (suplementos armonizados desde 1998); las líneas de panel empiezan en 2005 porque el identificador de hogar solo es único desde mayo de 2004.</a:t>
            </a:r>
          </a:p>
          <a:p/>
          <a:p>
            <a:r>
              <a:t>CIERRE: ninguna línea es 'la correcta'; cada construcción responde a una pregunta distinta. Si construyes tu variable de abandono desde una encuesta porque el registro administrativo no es accesible, debes saber qué elección tomas y qué le hace a tu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74519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050"/>
              </a:lnSpc>
              <a:spcAft>
                <a:spcPts val="600"/>
              </a:spcAft>
            </a:pPr>
            <a:r>
              <a:rPr sz="3000" b="0" i="0">
                <a:solidFill>
                  <a:srgbClr val="23373B"/>
                </a:solidFill>
                <a:latin typeface="Segoe UI"/>
              </a:rPr>
              <a:t>Measuring Teacher Attrition with Labour Force Survey Data</a:t>
            </a:r>
          </a:p>
          <a:p>
            <a:pPr algn="ctr">
              <a:lnSpc>
                <a:spcPts val="2565"/>
              </a:lnSpc>
              <a:spcAft>
                <a:spcPts val="0"/>
              </a:spcAft>
            </a:pPr>
            <a:r>
              <a:rPr sz="1900" b="0" i="0">
                <a:solidFill>
                  <a:srgbClr val="6B7480"/>
                </a:solidFill>
                <a:latin typeface="Segoe UI"/>
              </a:rPr>
              <a:t>The Case of the United States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7448" y="3456432"/>
            <a:ext cx="2743200" cy="32004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23373B"/>
                </a:solidFill>
                <a:latin typeface="Segoe UI"/>
              </a:rPr>
              <a:t>José Elías Durán Roa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Segoe UI"/>
              </a:rPr>
              <a:t>Data Cluster · Directorate for Education and Skills</a:t>
            </a:r>
          </a:p>
        </p:txBody>
      </p:sp>
      <p:pic>
        <p:nvPicPr>
          <p:cNvPr id="6" name="Picture 5" descr="oec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7" y="5074920"/>
            <a:ext cx="1645920" cy="4183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Why this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Research on the decision to leave teaching needs a person-level leave-or-stay outcome linked to rich covariates: family events, pay, hours, pension coverage, destinations after exit.</a:t>
            </a:r>
          </a:p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Administrative records count leavers best, but they are often inaccessible, cover one state and the public sector only, and carry few covariates.</a:t>
            </a:r>
          </a:p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Large household surveys are the accessible alternative. Using them well requires knowing the measurement choices they impose — and what each choice does to the estimate.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EB811B"/>
                </a:solidFill>
                <a:latin typeface="Segoe UI"/>
              </a:rPr>
              <a:t>1.  A user's guide.  </a:t>
            </a:r>
            <a:r>
              <a:rPr sz="1600" b="0" i="0">
                <a:solidFill>
                  <a:srgbClr val="23373B"/>
                </a:solidFill>
                <a:latin typeface="Segoe UI"/>
              </a:rPr>
              <a:t>A systematic account of the choices involved in constructing a leaving rate from a longitudinal household survey — linking individuals, defining a leaver — the error each choice introduces, its direction, and how much it moves the estimate.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EB811B"/>
                </a:solidFill>
                <a:latin typeface="Segoe UI"/>
              </a:rPr>
              <a:t>2.  An implementation.  </a:t>
            </a:r>
            <a:r>
              <a:rPr sz="1600" b="0" i="0">
                <a:solidFill>
                  <a:srgbClr val="23373B"/>
                </a:solidFill>
                <a:latin typeface="Segoe UI"/>
              </a:rPr>
              <a:t>The guide applied to twenty-eight years of the Current Population Survey, benchmarked against the national reference on both the composition of the workforce and the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EB811B"/>
                </a:solidFill>
                <a:latin typeface="Segoe UI"/>
              </a:rPr>
              <a:t>3.  A demonstration.  </a:t>
            </a:r>
            <a:r>
              <a:rPr sz="1600" b="0" i="0">
                <a:solidFill>
                  <a:srgbClr val="23373B"/>
                </a:solidFill>
                <a:latin typeface="Segoe UI"/>
              </a:rPr>
              <a:t>What a survey-based outcome permits that records rarely do: the correlates of leaving, the destinations of leavers, and the heterogeneity across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01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290"/>
              </a:lnSpc>
              <a:spcAft>
                <a:spcPts val="0"/>
              </a:spcAft>
            </a:pPr>
            <a:r>
              <a:rPr sz="5400" b="1" i="0">
                <a:solidFill>
                  <a:srgbClr val="EB811B"/>
                </a:solidFill>
                <a:latin typeface="Segoe U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0332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240"/>
              </a:lnSpc>
              <a:spcAft>
                <a:spcPts val="0"/>
              </a:spcAft>
            </a:pPr>
            <a:r>
              <a:rPr sz="2400" b="0" i="0">
                <a:solidFill>
                  <a:srgbClr val="FAFAFA"/>
                </a:solidFill>
                <a:latin typeface="Segoe UI"/>
              </a:rPr>
              <a:t>The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Where do the official statistics come from?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The national reference is the NCES Teacher Follow-up Survey: itself a sample survey, run in occasional waves — eight since 1988–89 — and published with a lag.</a:t>
            </a:r>
          </a:p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Truly administrative data exist only state by state (longitudinal data systems, pension registers): public sector only, and they measure exit from the state school system, not from the profession.</a:t>
            </a:r>
          </a:p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There is no national administrative count. Every national number is survey-based; the question is how the survey is used.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The CPS replicates the official picture, every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298448"/>
            <a:ext cx="10543032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297680" y="138988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CPS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3898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NTPS (reference)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38988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Difference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773936"/>
            <a:ext cx="10543032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188366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Measurement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883664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every year, 1997–2024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188366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occasional waves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286000"/>
            <a:ext cx="10543032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3591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0"/>
              </a:spcAft>
            </a:pPr>
            <a:r>
              <a:rPr sz="1150" b="0" i="1">
                <a:solidFill>
                  <a:srgbClr val="6B7480"/>
                </a:solidFill>
                <a:latin typeface="Segoe UI"/>
              </a:rPr>
              <a:t>Example wave: 2020–21, the latest NTPS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Female (%)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706624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75.5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70662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76.8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706624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−1.3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9067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Master’s degree or higher (%)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09067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57.0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09067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61.0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09067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−4.0 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47472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Average age (years)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4747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44.0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4747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42.9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4747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+1.1 ***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2960" y="3877056"/>
            <a:ext cx="10543032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2960" y="396849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Teachers observed in the wave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968496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3,855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96849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39,633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4352544"/>
            <a:ext cx="10543032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4535424"/>
            <a:ext cx="1054303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485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Segoe UI"/>
              </a:rPr>
              <a:t>Public school teachers. CPS: supplements of 2021–2022, weighted. NTPS 2020–21 (NCES 2022-113; Digest of Education Statistics, table 209.10; respondent count from NCES 2024-024). Stars test the CPS mean against the published NTPS estimate, design-adjusted standard errors: *** p&lt;0.001; the female share does not differ significantly.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623560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Full sample:  </a:t>
            </a:r>
            <a:r>
              <a:rPr sz="1350" b="1" i="0">
                <a:solidFill>
                  <a:srgbClr val="23373B"/>
                </a:solidFill>
                <a:latin typeface="Segoe UI"/>
              </a:rPr>
              <a:t>5.0 million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 person-year records, 1998–2025;  </a:t>
            </a:r>
            <a:r>
              <a:rPr sz="1350" b="1" i="0">
                <a:solidFill>
                  <a:srgbClr val="23373B"/>
                </a:solidFill>
                <a:latin typeface="Segoe UI"/>
              </a:rPr>
              <a:t>104,545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 teacher observations;  </a:t>
            </a:r>
            <a:r>
              <a:rPr sz="1350" b="1" i="0">
                <a:solidFill>
                  <a:srgbClr val="23373B"/>
                </a:solidFill>
                <a:latin typeface="Segoe UI"/>
              </a:rPr>
              <a:t>48,842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 teachers followed in the linked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interviewed 4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14884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55"/>
              </a:lnSpc>
              <a:spcAft>
                <a:spcPts val="0"/>
              </a:spcAft>
            </a:pPr>
            <a:r>
              <a:rPr sz="1300" b="0" i="1">
                <a:solidFill>
                  <a:srgbClr val="6B7480"/>
                </a:solidFill>
                <a:latin typeface="Segoe UI"/>
              </a:rPr>
              <a:t>8 months out of the sample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488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7B2530"/>
                </a:solidFill>
                <a:latin typeface="Segoe UI"/>
              </a:rPr>
              <a:t>interviewed 4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481899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0839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9778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8718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7657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76597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35536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4476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53415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12354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294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30234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89173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48113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07052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Segoe UI"/>
              </a:rPr>
              <a:t>Mar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99778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Segoe UI"/>
              </a:rPr>
              <a:t>Jun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0234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Segoe UI"/>
              </a:rPr>
              <a:t>Mar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07052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Segoe UI"/>
              </a:rPr>
              <a:t>Jun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49300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Segoe UI"/>
              </a:rPr>
              <a:t>year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0234" y="349300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Segoe UI"/>
              </a:rPr>
              <a:t>year 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52429" y="4069080"/>
            <a:ext cx="7907274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371600" y="422452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the same interview, exactly twelve months later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The March supplement (ASEC)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The largest supplement of the CPS: the March sample is expanded to roughly 90,000 households.</a:t>
            </a:r>
          </a:p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Every adult reports on the previous calendar year: longest job held, weeks worked, earnings, benefits.</a:t>
            </a:r>
          </a:p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We use it to reconstruct the leaving rate.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9</a:t>
            </a:r>
          </a:p>
        </p:txBody>
      </p:sp>
      <p:pic>
        <p:nvPicPr>
          <p:cNvPr id="3" name="Picture 2" descr="codes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8" y="182880"/>
            <a:ext cx="11213835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01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290"/>
              </a:lnSpc>
              <a:spcAft>
                <a:spcPts val="0"/>
              </a:spcAft>
            </a:pPr>
            <a:r>
              <a:rPr sz="5400" b="1" i="0">
                <a:solidFill>
                  <a:srgbClr val="EB811B"/>
                </a:solidFill>
                <a:latin typeface="Segoe U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0332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240"/>
              </a:lnSpc>
              <a:spcAft>
                <a:spcPts val="0"/>
              </a:spcAft>
            </a:pPr>
            <a:r>
              <a:rPr sz="2400" b="0" i="0">
                <a:solidFill>
                  <a:srgbClr val="FAFAFA"/>
                </a:solidFill>
                <a:latin typeface="Segoe UI"/>
              </a:rPr>
              <a:t>Measuring the leaving rate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Two ways to measure the leaving 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Segoe UI"/>
              </a:rPr>
              <a:t>Follow the person, year to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890"/>
              </a:lnSpc>
              <a:spcAft>
                <a:spcPts val="100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The rotation shows the same individual twelve months apart. The CPS has no person identifier, so records are linked on fields common to both years: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60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household identifier</a:t>
            </a:r>
          </a:p>
          <a:p>
            <a:pPr algn="l">
              <a:lnSpc>
                <a:spcPts val="1890"/>
              </a:lnSpc>
              <a:spcAft>
                <a:spcPts val="60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dwelling identifier</a:t>
            </a:r>
          </a:p>
          <a:p>
            <a:pPr algn="l">
              <a:lnSpc>
                <a:spcPts val="1890"/>
              </a:lnSpc>
              <a:spcAft>
                <a:spcPts val="100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person line number within the household</a:t>
            </a:r>
          </a:p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Segoe UI"/>
              </a:rPr>
              <a:t>validated on sex, race, and age advancing 0–2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Segoe UI"/>
              </a:rPr>
              <a:t>Ask about last year, each March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890"/>
              </a:lnSpc>
              <a:spcAft>
                <a:spcPts val="120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The supplement’s retrospective question. Whoever reports teaching as last year’s longest job, and no longer teaches at the March interview, left within the year.</a:t>
            </a:r>
          </a:p>
          <a:p>
            <a:pPr algn="just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Segoe UI"/>
              </a:rPr>
              <a:t>The measure used in the literature so far.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Four definitions, one language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Each person is interviewed four times in year 1 and four times in year 2, twelve months later.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83080"/>
            <a:ext cx="10607040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566160" y="187451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23373B"/>
                </a:solidFill>
                <a:latin typeface="Segoe UI"/>
              </a:rPr>
              <a:t>A teacher: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874519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23373B"/>
                </a:solidFill>
                <a:latin typeface="Segoe UI"/>
              </a:rPr>
              <a:t>A leaver: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267712"/>
            <a:ext cx="10607040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414016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Any sighting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14016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seen teaching in ≥ 1 of the 4 year-1 interviews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414016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seen teaching in none of the 4 year-2 interviews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2724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Month pairs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2724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each teaching interview counts on its 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12724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not seen teaching twelve months later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40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Panel (benchmark)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84048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seen teaching in ≥ 2 of the 4 year-1 interviews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84048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seen teaching in none of the 4 year-2 interviews 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553712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Annual 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553712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teaching was the longest job of last year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553712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not teaching at the March interview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22960" y="5285232"/>
            <a:ext cx="10607040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5449824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1">
                <a:solidFill>
                  <a:srgbClr val="6B7480"/>
                </a:solidFill>
                <a:latin typeface="Segoe UI"/>
              </a:rPr>
              <a:t>* With at least two year-2 interviews observed, one outside the summer.  Annual recall is the only measure not built by counting interviews.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One dataset, one rate per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13</a:t>
            </a:r>
          </a:p>
        </p:txBody>
      </p:sp>
      <p:pic>
        <p:nvPicPr>
          <p:cNvPr id="5" name="Picture 4" descr="v_all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52" y="1097280"/>
            <a:ext cx="8738616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The definition of a leaver moves the measured rate by a factor of nearly four.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Comparisons across studies and countries must hold the definition fixed.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85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Segoe UI"/>
              </a:rPr>
              <a:t>About 3,700 teachers observed per year in the recall series; about 2,500 classified per year in the panel measures. Dots: NCES Teacher Follow-up Survey.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Why the lines differ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18.2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1417320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Any sighting.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One monthly sighting admits substitutes and one-month spells: of teachers seen teaching in a single year-1 interview, 55 percent are never seen teaching in their year-2 interviews, against 11 percent of those seen in all four. One month of coding is noisy; summer-only patterns are just 3 percent of these leavers.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0487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15.4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404872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Month pairs.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The unit is the pair, not the person: the same teacher can count as a leaver in one pair and a stayer in another.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924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13.0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392424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Panel measure.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One verdict per person. Still a point-in-time notion of the year, and one leaver in six is teaching again within three months.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7997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8.6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379976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Annual recall.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The main job of the year, revisited a year later — the concept of the official survey, which is why it lands next to the dots. Its own risk is recall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6752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8.0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5367528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NCES follow-up.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The reference wave.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733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Segoe UI"/>
              </a:rPr>
              <a:t>Each construction answers a slightly different question; the choice, not the data, drives the spread.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The attachment gradient, shown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15</a:t>
            </a:r>
          </a:p>
        </p:txBody>
      </p:sp>
      <p:pic>
        <p:nvPicPr>
          <p:cNvPr id="5" name="Picture 4" descr="sighting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051560"/>
            <a:ext cx="832104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44068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Who the denominator admits drives the top lines: seen teaching once, 54 percent are never seen teaching a year later; seen all four times, 10 percent.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5332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Caveat.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Linkage follows addresses, not people: movers cannot be followed, and movers leave more, so the panel measures are lower bounds on mobility-related exit.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01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290"/>
              </a:lnSpc>
              <a:spcAft>
                <a:spcPts val="0"/>
              </a:spcAft>
            </a:pPr>
            <a:r>
              <a:rPr sz="5400" b="1" i="0">
                <a:solidFill>
                  <a:srgbClr val="EB811B"/>
                </a:solidFill>
                <a:latin typeface="Segoe U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0332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240"/>
              </a:lnSpc>
              <a:spcAft>
                <a:spcPts val="0"/>
              </a:spcAft>
            </a:pPr>
            <a:r>
              <a:rPr sz="2400" b="0" i="0">
                <a:solidFill>
                  <a:srgbClr val="FAFAFA"/>
                </a:solidFill>
                <a:latin typeface="Segoe UI"/>
              </a:rPr>
              <a:t>What the data show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Why teachers leave: what the CPS can and cannot see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371600"/>
            <a:ext cx="10543032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05840" y="148132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Reasons identified in the literature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4813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Observed in the CPS?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865376"/>
            <a:ext cx="10543032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05840" y="1993392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Working 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9339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Segoe UI"/>
              </a:rPr>
              <a:t>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32304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Organizational support (mentoring, leadership)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43230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Segoe UI"/>
              </a:rPr>
              <a:t>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871216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Autonomy and intrinsic motives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87121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Segoe UI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310128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Financial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3101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49039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Personal life-cycle motives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749039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4206240"/>
            <a:ext cx="10543032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05840" y="42976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Sociodemographic characteristics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2976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yes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22960" y="4718304"/>
            <a:ext cx="10543032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4901184"/>
            <a:ext cx="105430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Segoe UI"/>
              </a:rPr>
              <a:t>Five broad families of reasons from our review of the literature. The CPS covers the economic and life-cycle margins.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Five messages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1.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Economic and employment conditions correlate with leaving far more than demographics.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414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2.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Exits concentrate where attachment and annual pay are lowest: part-time and part-year teachers in the bottom of the earnings distribution.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6557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3.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Those same exits lead out of employment, not to better-paid jobs: two thirds of bottom-quintile leavers exit the labor force. Low pay and non-employment destinations are one phenomenon, not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9704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4.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Life-cycle events are the largest single trigger: childbirth raises a woman’s exit probability by about six points, more than in comparable professions.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13832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5.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Pension coverage retains, and attrition differs widely across states: the actionable margins are contractual and institutional.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Leaving teaching, 1997–2024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19</a:t>
            </a:r>
          </a:p>
        </p:txBody>
      </p:sp>
      <p:pic>
        <p:nvPicPr>
          <p:cNvPr id="5" name="Picture 4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43000"/>
            <a:ext cx="8869680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The rate fluctuates around 8.6 percent with no trend: a persistent outflow, not a mounting exodus.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Retention faces a steady-state cost, not an emergency spike.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Leaving teaching, by school 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20</a:t>
            </a:r>
          </a:p>
        </p:txBody>
      </p:sp>
      <p:pic>
        <p:nvPicPr>
          <p:cNvPr id="5" name="Picture 4" descr="pubpriv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046" y="1143000"/>
            <a:ext cx="8705426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Private schools lose teachers at roughly twice the public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Retention tracks contract structure, pay and pensions, not classroom conditions alone.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Leaving the occupation, by profession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21</a:t>
            </a:r>
          </a:p>
        </p:txBody>
      </p:sp>
      <p:pic>
        <p:nvPicPr>
          <p:cNvPr id="5" name="Picture 4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43000"/>
            <a:ext cx="8869680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Teacher attrition is unexceptional next to comparable professions: above nurses and accountants, well below social workers.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Benchmarks from other professions discipline how alarming any teacher figure should be.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Labor force exit of women, by profession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22</a:t>
            </a:r>
          </a:p>
        </p:txBody>
      </p:sp>
      <p:pic>
        <p:nvPicPr>
          <p:cNvPr id="5" name="Picture 4" descr="lf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43000"/>
            <a:ext cx="8869680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Women teachers exit the labor force at about five percent a year, well above nurses, social workers and accountants.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The family-compatibility margin is specific to teaching, not to professional work in general.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Teachers leaving per year, across countries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23</a:t>
            </a:r>
          </a:p>
        </p:txBody>
      </p:sp>
      <p:pic>
        <p:nvPicPr>
          <p:cNvPr id="5" name="Picture 4" descr="intl_bar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726" y="1143000"/>
            <a:ext cx="6082066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The US sits in the upper range of the school systems that publish a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Comparable, survey-based measurement is what makes this ranking possible.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Destinations of teachers who leave, 2024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24</a:t>
            </a:r>
          </a:p>
        </p:txBody>
      </p:sp>
      <p:pic>
        <p:nvPicPr>
          <p:cNvPr id="5" name="Picture 4" descr="g3_flow100_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065" y="1143000"/>
            <a:ext cx="9265389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Of every hundred leavers, about a third take another job; most exit employment altogether.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Competing employers are not the main counterfactual; retirement and care are.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The routes out of teaching, 2002–2024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25</a:t>
            </a:r>
          </a:p>
        </p:txBody>
      </p:sp>
      <p:pic>
        <p:nvPicPr>
          <p:cNvPr id="5" name="Picture 4" descr="routes_bar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240" y="1143000"/>
            <a:ext cx="9901038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The destination mix has been essentially stable for two decades.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The composition of the outflow is structural, not cyclical noise.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Who leaves the labor force before 55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26</a:t>
            </a:r>
          </a:p>
        </p:txBody>
      </p:sp>
      <p:pic>
        <p:nvPicPr>
          <p:cNvPr id="5" name="Picture 4" descr="yellow_flow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065" y="1143000"/>
            <a:ext cx="9265389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Nearly half of the pre-55 labor-force exits are mothers with a child at home.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Childcare and parental-leave policy are retention policy.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Where the employed leavers go: every occupation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27</a:t>
            </a:r>
          </a:p>
        </p:txBody>
      </p:sp>
      <p:pic>
        <p:nvPicPr>
          <p:cNvPr id="5" name="Picture 4" descr="occ_all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20" y="1143000"/>
            <a:ext cx="10090278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Employed leavers scatter widely; the largest block stays in education outside the classroom.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Skills remain in the education orbit, so re-entry is a realistic margin.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Leaving teaching, by age and route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28</a:t>
            </a:r>
          </a:p>
        </p:txBody>
      </p:sp>
      <p:pic>
        <p:nvPicPr>
          <p:cNvPr id="5" name="Picture 4" descr="g4_routes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151" y="1143000"/>
            <a:ext cx="8653217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Leaving is U-shaped in age, and non-employment dominates both ends of the career.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Early-career and pre-retirement exits call for different instruments.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The econometric specification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29</a:t>
            </a:r>
          </a:p>
        </p:txBody>
      </p:sp>
      <p:pic>
        <p:nvPicPr>
          <p:cNvPr id="5" name="Picture 4" descr="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44952"/>
            <a:ext cx="9966960" cy="13564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977639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9"/>
              </a:lnSpc>
              <a:spcAft>
                <a:spcPts val="1200"/>
              </a:spcAft>
            </a:pPr>
            <a:r>
              <a:rPr sz="145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450" b="0" i="0">
                <a:solidFill>
                  <a:srgbClr val="23373B"/>
                </a:solidFill>
                <a:latin typeface="Segoe UI"/>
              </a:rPr>
              <a:t>Probit on college-graduate teachers, pooled 2015–2024, with calendar-year effects; n = 28,900.</a:t>
            </a:r>
          </a:p>
          <a:p>
            <a:pPr algn="l">
              <a:lnSpc>
                <a:spcPts val="2029"/>
              </a:lnSpc>
              <a:spcAft>
                <a:spcPts val="1200"/>
              </a:spcAft>
            </a:pPr>
            <a:r>
              <a:rPr sz="145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450" b="0" i="0">
                <a:solidFill>
                  <a:srgbClr val="23373B"/>
                </a:solidFill>
                <a:latin typeface="Segoe UI"/>
              </a:rPr>
              <a:t>Average marginal effects reported, in percentage points.</a:t>
            </a:r>
          </a:p>
          <a:p>
            <a:pPr algn="l">
              <a:lnSpc>
                <a:spcPts val="2029"/>
              </a:lnSpc>
              <a:spcAft>
                <a:spcPts val="0"/>
              </a:spcAft>
            </a:pPr>
            <a:r>
              <a:rPr sz="145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450" b="0" i="0">
                <a:solidFill>
                  <a:srgbClr val="23373B"/>
                </a:solidFill>
                <a:latin typeface="Segoe UI"/>
              </a:rPr>
              <a:t>Robust to logit and weighted LPM, state and year fixed effects, the full 1997–2024 window (n = 85,430), and the occupation-pair definition of leaving.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Average marginal effects on the probability of leaving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30</a:t>
            </a:r>
          </a:p>
        </p:txBody>
      </p:sp>
      <p:pic>
        <p:nvPicPr>
          <p:cNvPr id="5" name="Picture 4" descr="ame_semi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686" y="1143000"/>
            <a:ext cx="8038147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Job attachment and compensation dominate; demographic differences are small.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The actionable levers are contractual: full-year contracts, pension coverage.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The age profile of leaving, by route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31</a:t>
            </a:r>
          </a:p>
        </p:txBody>
      </p:sp>
      <p:pic>
        <p:nvPicPr>
          <p:cNvPr id="5" name="Picture 4" descr="u_rout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6380"/>
            <a:ext cx="11064240" cy="3688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Young teachers switch to other jobs; older teachers leave the labor force.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The two peaks of the U respond to different policies.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The effect of a new baby, by profession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32</a:t>
            </a:r>
          </a:p>
        </p:txBody>
      </p:sp>
      <p:pic>
        <p:nvPicPr>
          <p:cNvPr id="5" name="Picture 4" descr="g8_newba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670" y="1143000"/>
            <a:ext cx="7660178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A new baby raises a woman teacher’s exit probability by 5.9 points, the largest effect among comparable professions.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Parental leave and childcare support target the largest single observable trigger.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Leaving teaching and the unemployment 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33</a:t>
            </a:r>
          </a:p>
        </p:txBody>
      </p:sp>
      <p:pic>
        <p:nvPicPr>
          <p:cNvPr id="5" name="Picture 4" descr="n5_cyclic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09720"/>
            <a:ext cx="11064240" cy="41013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Exits into non-employment rise with unemployment; job-to-job exits do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Downturns intensify the non-employment route; support should be countercyclical.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State-level cyclicality of leaving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34</a:t>
            </a:r>
          </a:p>
        </p:txBody>
      </p:sp>
      <p:pic>
        <p:nvPicPr>
          <p:cNvPr id="5" name="Picture 4" descr="states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758" y="1143000"/>
            <a:ext cx="9820002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States differ in how strongly teacher exits respond to the local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National averages hide state-level exposure to downturns.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Attrition levels across states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35</a:t>
            </a:r>
          </a:p>
        </p:txBody>
      </p:sp>
      <p:pic>
        <p:nvPicPr>
          <p:cNvPr id="5" name="Picture 4" descr="states_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177" y="1143000"/>
            <a:ext cx="10295164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Mean attrition of teachers under 55 ranges from about 4 to 13 percent across jurisdictions.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State pay scales, pensions and institutions are first-order.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Real earnings growth by profession since 1997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36</a:t>
            </a:r>
          </a:p>
        </p:txBody>
      </p:sp>
      <p:pic>
        <p:nvPicPr>
          <p:cNvPr id="5" name="Picture 4" descr="msg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37" y="1143000"/>
            <a:ext cx="10756845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Teachers’ real median earnings fell 4 percent since 1997 while other graduates gained.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The relative-pay gap compounds slowly; it is a stock, not a shock.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Leaving, by position in the teacher pay distribution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37</a:t>
            </a:r>
          </a:p>
        </p:txBody>
      </p:sp>
      <p:pic>
        <p:nvPicPr>
          <p:cNvPr id="5" name="Picture 4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43000"/>
            <a:ext cx="8869680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Leaving concentrates sharply in the lowest earnings deciles, mostly part-year teachers.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Stabilizing the bottom of the distribution buys the most retention.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Pay compression: teachers and comparable professions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38</a:t>
            </a:r>
          </a:p>
        </p:txBody>
      </p:sp>
      <p:pic>
        <p:nvPicPr>
          <p:cNvPr id="5" name="Picture 4" descr="pay5_compression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8454" y="1143000"/>
            <a:ext cx="7964610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Teacher pay is compressed: a 90/10 ratio of 2.6 against 5.1 for all other graduates.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Staying offers little earnings upside; career ladders would widen the right tail.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The earnings change of leaving, by destination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39</a:t>
            </a:r>
          </a:p>
        </p:txBody>
      </p:sp>
      <p:pic>
        <p:nvPicPr>
          <p:cNvPr id="5" name="Picture 4" descr="pay7_destinat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43000"/>
            <a:ext cx="8869680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Leavers who move to other professional jobs gain about 12 log points; moves near education gain little.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The outside option is real for those able to take 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Earnings changes: stayers and leavers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40</a:t>
            </a:r>
          </a:p>
        </p:txBody>
      </p:sp>
      <p:pic>
        <p:nvPicPr>
          <p:cNvPr id="5" name="Picture 4" descr="g5b_earnings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123" y="1143000"/>
            <a:ext cx="8493273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For employed leavers the earnings change is a gamble: a quarter lose big, nearly half win big.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Leaving buys risk, not a sure raise.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Pension coverage and leaving, across states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41</a:t>
            </a:r>
          </a:p>
        </p:txBody>
      </p:sp>
      <p:pic>
        <p:nvPicPr>
          <p:cNvPr id="5" name="Picture 4" descr="pension_scatter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687" y="1143000"/>
            <a:ext cx="7582145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Where pension coverage is higher, fewer teachers under 55 leave: 0.21 points per point of coverage.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350" b="0" i="0">
                <a:solidFill>
                  <a:srgbClr val="23373B"/>
                </a:solidFill>
                <a:latin typeface="Segoe UI"/>
              </a:rPr>
              <a:t>Pension design is a measurable retention margin.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600" b="0" i="0">
                <a:solidFill>
                  <a:srgbClr val="23373B"/>
                </a:solidFill>
                <a:latin typeface="Segoe UI"/>
              </a:rPr>
              <a:t>A labour force survey can measure teacher attrition at the person level, yearly, over three decades, and it replicates the official picture of the workforce.</a:t>
            </a:r>
          </a:p>
          <a:p>
            <a:pPr algn="l">
              <a:lnSpc>
                <a:spcPts val="224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600" b="0" i="0">
                <a:solidFill>
                  <a:srgbClr val="23373B"/>
                </a:solidFill>
                <a:latin typeface="Segoe UI"/>
              </a:rPr>
              <a:t>The definition of a leaver is a first-order choice: the same records yield rates from 5 to 19 percent per year.</a:t>
            </a:r>
          </a:p>
          <a:p>
            <a:pPr algn="l">
              <a:lnSpc>
                <a:spcPts val="224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600" b="0" i="0">
                <a:solidFill>
                  <a:srgbClr val="23373B"/>
                </a:solidFill>
                <a:latin typeface="Segoe UI"/>
              </a:rPr>
              <a:t>What the data say: attachment, pay and pensions, and life-cycle events correlate with leaving; demographics much less.</a:t>
            </a:r>
          </a:p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Segoe UI"/>
              </a:rPr>
              <a:t>▸   </a:t>
            </a:r>
            <a:r>
              <a:rPr sz="1600" b="0" i="0">
                <a:solidFill>
                  <a:srgbClr val="23373B"/>
                </a:solidFill>
                <a:latin typeface="Segoe UI"/>
              </a:rPr>
              <a:t>The design travels: the same construction is feasible in the labour force surveys of Italy, Germany, the UK, France, Spain, Brazil and Mexico.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