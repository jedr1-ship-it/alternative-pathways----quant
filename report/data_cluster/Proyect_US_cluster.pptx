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por que dejan la profesion y si hay margen real de politica para suavizar la escasez reteniendo o trayendo de vuelta. Problema: sin microdatos oficiales publicos en muchos paises; empezamos por EEUU. Boton: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seis definiciones en un eje: de la mas laxa (17.5) a la mas estricta (10.5) y el recall anual (8.6). Los rombos negros son el benchmark oficial del NCES (Teacher Follow-up Survey, 8.0): nuestra medida retrospectiva aterriza encima.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(Nueva Zelanda, Suecia, Israel, Noruega) tambien estables. EEUU por encima de la mayoria de los que publican tasa.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a otro empleo, 36 retiro (55+), 24 fuera de la poblacion activa antes de 55, 11 en paro. De los 29 empleados: 6 educacion, 2 cuidado, 9 otras profesiones, 11 ventas/oficina/manual.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salida temprana es una historia de familia: mas de la mitad son madres con un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los mas jovenes se van a estudiar: estudia el 45% de los menores de 30 y el 25-48% de los que no tienen hijos en casa, frente al 3% de las madres. Ojo: n pequenos.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(contrato de ano completo, tiempo parcial). c: pago y seguridad (pension, sector publico, hogar en cuartil bajo). f: familia. h: salud. d: demografia. delta-t: efectos de ano. La LPM no esta acotada (22% de ajustados bajo cero): el probit es la especificacion principal; variantes LPM en el anexo.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39.xml"/><Relationship Id="rId4" Type="http://schemas.openxmlformats.org/officeDocument/2006/relationships/slide" Target="slide3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0.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2.xml"/><Relationship Id="rId4"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 Id="rId7"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slide" Target="slide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1828800"/>
            <a:ext cx="9994392" cy="1463040"/>
          </a:xfrm>
          <a:prstGeom prst="rect">
            <a:avLst/>
          </a:prstGeom>
          <a:noFill/>
        </p:spPr>
        <p:txBody>
          <a:bodyPr wrap="square" lIns="0" rIns="0" tIns="0" bIns="0">
            <a:spAutoFit/>
          </a:bodyPr>
          <a:lstStyle/>
          <a:p>
            <a:pPr algn="ctr">
              <a:lnSpc>
                <a:spcPts val="3915"/>
              </a:lnSpc>
              <a:spcAft>
                <a:spcPts val="600"/>
              </a:spcAft>
            </a:pPr>
            <a:r>
              <a:rPr sz="2900" b="1" i="0">
                <a:solidFill>
                  <a:srgbClr val="1F3864"/>
                </a:solidFill>
                <a:latin typeface="Latin Modern Sans"/>
              </a:rPr>
              <a:t>Measuring Teacher Attrition with Labour Force Survey Data</a:t>
            </a:r>
          </a:p>
          <a:p>
            <a:pPr algn="ctr">
              <a:lnSpc>
                <a:spcPts val="2565"/>
              </a:lnSpc>
              <a:spcAft>
                <a:spcPts val="0"/>
              </a:spcAft>
            </a:pPr>
            <a:r>
              <a:rPr sz="1900" b="1" i="0">
                <a:solidFill>
                  <a:srgbClr val="1F3864"/>
                </a:solidFill>
                <a:latin typeface="Latin Modern Sans"/>
              </a:rPr>
              <a:t>The Case of the United States</a:t>
            </a:r>
          </a:p>
        </p:txBody>
      </p:sp>
      <p:sp>
        <p:nvSpPr>
          <p:cNvPr id="3" name="TextBox 2"/>
          <p:cNvSpPr txBox="1"/>
          <p:nvPr/>
        </p:nvSpPr>
        <p:spPr>
          <a:xfrm>
            <a:off x="1097280" y="3703320"/>
            <a:ext cx="9994392" cy="457200"/>
          </a:xfrm>
          <a:prstGeom prst="rect">
            <a:avLst/>
          </a:prstGeom>
          <a:noFill/>
        </p:spPr>
        <p:txBody>
          <a:bodyPr wrap="square" lIns="0" rIns="0" tIns="0" bIns="0">
            <a:spAutoFit/>
          </a:bodyPr>
          <a:lstStyle/>
          <a:p>
            <a:pPr algn="ctr">
              <a:lnSpc>
                <a:spcPts val="2160"/>
              </a:lnSpc>
              <a:spcAft>
                <a:spcPts val="0"/>
              </a:spcAft>
            </a:pPr>
            <a:r>
              <a:rPr sz="1600" b="0" i="0">
                <a:solidFill>
                  <a:srgbClr val="1A1A1A"/>
                </a:solidFill>
                <a:latin typeface="Latin Modern Sans"/>
              </a:rPr>
              <a:t>José Elías Durán Roa</a:t>
            </a:r>
          </a:p>
        </p:txBody>
      </p:sp>
      <p:sp>
        <p:nvSpPr>
          <p:cNvPr id="4" name="TextBox 3"/>
          <p:cNvSpPr txBox="1"/>
          <p:nvPr/>
        </p:nvSpPr>
        <p:spPr>
          <a:xfrm>
            <a:off x="1097280" y="4206240"/>
            <a:ext cx="9994392" cy="365760"/>
          </a:xfrm>
          <a:prstGeom prst="rect">
            <a:avLst/>
          </a:prstGeom>
          <a:noFill/>
        </p:spPr>
        <p:txBody>
          <a:bodyPr wrap="square" lIns="0" rIns="0" tIns="0" bIns="0">
            <a:spAutoFit/>
          </a:bodyPr>
          <a:lstStyle/>
          <a:p>
            <a:pPr algn="ctr">
              <a:lnSpc>
                <a:spcPts val="1687"/>
              </a:lnSpc>
              <a:spcAft>
                <a:spcPts val="0"/>
              </a:spcAft>
            </a:pPr>
            <a:r>
              <a:rPr sz="1250" b="0" i="0">
                <a:solidFill>
                  <a:srgbClr val="6B7480"/>
                </a:solidFill>
                <a:latin typeface="Latin Modern Sans"/>
              </a:rPr>
              <a:t>Data Cluster · Directorate for Education and Skills</a:t>
            </a:r>
          </a:p>
        </p:txBody>
      </p:sp>
      <p:pic>
        <p:nvPicPr>
          <p:cNvPr id="5" name="Picture 4" descr="oecd_logo.png"/>
          <p:cNvPicPr>
            <a:picLocks noChangeAspect="1"/>
          </p:cNvPicPr>
          <p:nvPr/>
        </p:nvPicPr>
        <p:blipFill>
          <a:blip r:embed="rId2"/>
          <a:stretch>
            <a:fillRect/>
          </a:stretch>
        </p:blipFill>
        <p:spPr>
          <a:xfrm>
            <a:off x="5272887" y="5029200"/>
            <a:ext cx="1645920" cy="41833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Motivation and problem</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2</a:t>
            </a:r>
          </a:p>
        </p:txBody>
      </p:sp>
      <p:sp>
        <p:nvSpPr>
          <p:cNvPr id="4" name="TextBox 3"/>
          <p:cNvSpPr txBox="1"/>
          <p:nvPr/>
        </p:nvSpPr>
        <p:spPr>
          <a:xfrm>
            <a:off x="822960" y="1280160"/>
            <a:ext cx="10607040" cy="365760"/>
          </a:xfrm>
          <a:prstGeom prst="rect">
            <a:avLst/>
          </a:prstGeom>
          <a:noFill/>
        </p:spPr>
        <p:txBody>
          <a:bodyPr wrap="square" lIns="0" rIns="0" tIns="0" bIns="0">
            <a:spAutoFit/>
          </a:bodyPr>
          <a:lstStyle/>
          <a:p>
            <a:pPr algn="l">
              <a:lnSpc>
                <a:spcPts val="2295"/>
              </a:lnSpc>
              <a:spcAft>
                <a:spcPts val="0"/>
              </a:spcAft>
            </a:pPr>
            <a:r>
              <a:rPr sz="1700" b="1" i="0">
                <a:solidFill>
                  <a:srgbClr val="1F3864"/>
                </a:solidFill>
                <a:latin typeface="Latin Modern Sans"/>
              </a:rPr>
              <a:t>Motivation</a:t>
            </a:r>
          </a:p>
        </p:txBody>
      </p:sp>
      <p:sp>
        <p:nvSpPr>
          <p:cNvPr id="5" name="TextBox 4"/>
          <p:cNvSpPr txBox="1"/>
          <p:nvPr/>
        </p:nvSpPr>
        <p:spPr>
          <a:xfrm>
            <a:off x="822960" y="1783080"/>
            <a:ext cx="10607040" cy="5029200"/>
          </a:xfrm>
          <a:prstGeom prst="rect">
            <a:avLst/>
          </a:prstGeom>
          <a:noFill/>
        </p:spPr>
        <p:txBody>
          <a:bodyPr wrap="square" lIns="0" rIns="0" tIns="0" bIns="0">
            <a:spAutoFit/>
          </a:bodyPr>
          <a:lstStyle/>
          <a:p>
            <a:pPr algn="l">
              <a:lnSpc>
                <a:spcPts val="2160"/>
              </a:lnSpc>
              <a:spcAft>
                <a:spcPts val="1400"/>
              </a:spcAft>
            </a:pPr>
            <a:r>
              <a:rPr sz="1600" b="1" i="0">
                <a:solidFill>
                  <a:srgbClr val="1F3864"/>
                </a:solidFill>
                <a:latin typeface="Latin Modern Sans"/>
              </a:rPr>
              <a:t>▸   </a:t>
            </a:r>
            <a:r>
              <a:rPr sz="1600" b="0" i="0">
                <a:solidFill>
                  <a:srgbClr val="1A1A1A"/>
                </a:solidFill>
                <a:latin typeface="Latin Modern Sans"/>
              </a:rPr>
              <a:t>Understand why teachers leave the profession.</a:t>
            </a:r>
          </a:p>
          <a:p>
            <a:pPr algn="l">
              <a:lnSpc>
                <a:spcPts val="2160"/>
              </a:lnSpc>
              <a:spcAft>
                <a:spcPts val="0"/>
              </a:spcAft>
            </a:pPr>
            <a:r>
              <a:rPr sz="1600" b="1" i="0">
                <a:solidFill>
                  <a:srgbClr val="1F3864"/>
                </a:solidFill>
                <a:latin typeface="Latin Modern Sans"/>
              </a:rPr>
              <a:t>▸   </a:t>
            </a:r>
            <a:r>
              <a:rPr sz="1600" b="0" i="0">
                <a:solidFill>
                  <a:srgbClr val="1A1A1A"/>
                </a:solidFill>
                <a:latin typeface="Latin Modern Sans"/>
              </a:rPr>
              <a:t>Is there a real policy margin to soften teacher shortages by retaining teachers, or bringing them back?</a:t>
            </a:r>
          </a:p>
        </p:txBody>
      </p:sp>
      <p:sp>
        <p:nvSpPr>
          <p:cNvPr id="6" name="TextBox 5"/>
          <p:cNvSpPr txBox="1"/>
          <p:nvPr/>
        </p:nvSpPr>
        <p:spPr>
          <a:xfrm>
            <a:off x="822960" y="3383280"/>
            <a:ext cx="10607040" cy="365760"/>
          </a:xfrm>
          <a:prstGeom prst="rect">
            <a:avLst/>
          </a:prstGeom>
          <a:noFill/>
        </p:spPr>
        <p:txBody>
          <a:bodyPr wrap="square" lIns="0" rIns="0" tIns="0" bIns="0">
            <a:spAutoFit/>
          </a:bodyPr>
          <a:lstStyle/>
          <a:p>
            <a:pPr algn="l">
              <a:lnSpc>
                <a:spcPts val="2295"/>
              </a:lnSpc>
              <a:spcAft>
                <a:spcPts val="0"/>
              </a:spcAft>
            </a:pPr>
            <a:r>
              <a:rPr sz="1700" b="1" i="0">
                <a:solidFill>
                  <a:srgbClr val="1F3864"/>
                </a:solidFill>
                <a:latin typeface="Latin Modern Sans"/>
              </a:rPr>
              <a:t>Problem</a:t>
            </a:r>
          </a:p>
        </p:txBody>
      </p:sp>
      <p:sp>
        <p:nvSpPr>
          <p:cNvPr id="7" name="TextBox 6"/>
          <p:cNvSpPr txBox="1"/>
          <p:nvPr/>
        </p:nvSpPr>
        <p:spPr>
          <a:xfrm>
            <a:off x="822960" y="3886200"/>
            <a:ext cx="10607040" cy="5029200"/>
          </a:xfrm>
          <a:prstGeom prst="rect">
            <a:avLst/>
          </a:prstGeom>
          <a:noFill/>
        </p:spPr>
        <p:txBody>
          <a:bodyPr wrap="square" lIns="0" rIns="0" tIns="0" bIns="0">
            <a:spAutoFit/>
          </a:bodyPr>
          <a:lstStyle/>
          <a:p>
            <a:pPr algn="l">
              <a:lnSpc>
                <a:spcPts val="2160"/>
              </a:lnSpc>
              <a:spcAft>
                <a:spcPts val="1400"/>
              </a:spcAft>
            </a:pPr>
            <a:r>
              <a:rPr sz="1600" b="1" i="0">
                <a:solidFill>
                  <a:srgbClr val="1F3864"/>
                </a:solidFill>
                <a:latin typeface="Latin Modern Sans"/>
              </a:rPr>
              <a:t>▸   </a:t>
            </a:r>
            <a:r>
              <a:rPr sz="1600" b="0" i="0">
                <a:solidFill>
                  <a:srgbClr val="1A1A1A"/>
                </a:solidFill>
                <a:latin typeface="Latin Modern Sans"/>
              </a:rPr>
              <a:t>Official microdata on teachers are not publicly available for many countries.</a:t>
            </a:r>
          </a:p>
          <a:p>
            <a:pPr algn="l">
              <a:lnSpc>
                <a:spcPts val="2160"/>
              </a:lnSpc>
              <a:spcAft>
                <a:spcPts val="0"/>
              </a:spcAft>
            </a:pPr>
            <a:r>
              <a:rPr sz="1600" b="1" i="0">
                <a:solidFill>
                  <a:srgbClr val="1F3864"/>
                </a:solidFill>
                <a:latin typeface="Latin Modern Sans"/>
              </a:rPr>
              <a:t>▸   </a:t>
            </a:r>
            <a:r>
              <a:rPr sz="1600" b="0" i="0">
                <a:solidFill>
                  <a:srgbClr val="1A1A1A"/>
                </a:solidFill>
                <a:latin typeface="Latin Modern Sans"/>
              </a:rPr>
              <a:t>We start with the United States: the country with the most information available.</a:t>
            </a:r>
          </a:p>
        </p:txBody>
      </p:sp>
      <p:sp>
        <p:nvSpPr>
          <p:cNvPr id="8" name="Rounded Rectangle 7">
            <a:hlinkClick action="ppaction://hlinksldjump" r:id="rId2"/>
          </p:cNvPr>
          <p:cNvSpPr/>
          <p:nvPr/>
        </p:nvSpPr>
        <p:spPr>
          <a:xfrm>
            <a:off x="822960" y="6382512"/>
            <a:ext cx="1517904"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Contribution</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3</a:t>
            </a:r>
          </a:p>
        </p:txBody>
      </p:sp>
      <p:sp>
        <p:nvSpPr>
          <p:cNvPr id="4" name="TextBox 3"/>
          <p:cNvSpPr txBox="1"/>
          <p:nvPr/>
        </p:nvSpPr>
        <p:spPr>
          <a:xfrm>
            <a:off x="822960" y="1554480"/>
            <a:ext cx="10607040" cy="457200"/>
          </a:xfrm>
          <a:prstGeom prst="rect">
            <a:avLst/>
          </a:prstGeom>
          <a:noFill/>
        </p:spPr>
        <p:txBody>
          <a:bodyPr wrap="square" lIns="0" rIns="0" tIns="0" bIns="0">
            <a:spAutoFit/>
          </a:bodyPr>
          <a:lstStyle/>
          <a:p>
            <a:pPr algn="l">
              <a:lnSpc>
                <a:spcPts val="2295"/>
              </a:lnSpc>
              <a:spcAft>
                <a:spcPts val="0"/>
              </a:spcAft>
            </a:pPr>
            <a:r>
              <a:rPr sz="1700" b="0" i="0">
                <a:solidFill>
                  <a:srgbClr val="1A1A1A"/>
                </a:solidFill>
                <a:latin typeface="Latin Modern Sans"/>
              </a:rPr>
              <a:t>Use the Current Population Survey to</a:t>
            </a:r>
          </a:p>
        </p:txBody>
      </p:sp>
      <p:sp>
        <p:nvSpPr>
          <p:cNvPr id="5" name="TextBox 4"/>
          <p:cNvSpPr txBox="1"/>
          <p:nvPr/>
        </p:nvSpPr>
        <p:spPr>
          <a:xfrm>
            <a:off x="822960" y="2286000"/>
            <a:ext cx="10607040" cy="5029200"/>
          </a:xfrm>
          <a:prstGeom prst="rect">
            <a:avLst/>
          </a:prstGeom>
          <a:noFill/>
        </p:spPr>
        <p:txBody>
          <a:bodyPr wrap="square" lIns="0" rIns="0" tIns="0" bIns="0">
            <a:spAutoFit/>
          </a:bodyPr>
          <a:lstStyle/>
          <a:p>
            <a:pPr algn="l">
              <a:lnSpc>
                <a:spcPts val="2295"/>
              </a:lnSpc>
              <a:spcAft>
                <a:spcPts val="2400"/>
              </a:spcAft>
            </a:pPr>
            <a:r>
              <a:rPr sz="1700" b="0" i="0">
                <a:solidFill>
                  <a:srgbClr val="1F3864"/>
                </a:solidFill>
                <a:latin typeface="Latin Modern Sans"/>
              </a:rPr>
              <a:t>1.   </a:t>
            </a:r>
            <a:r>
              <a:rPr sz="1700" b="0" i="0">
                <a:solidFill>
                  <a:srgbClr val="1A1A1A"/>
                </a:solidFill>
                <a:latin typeface="Latin Modern Sans"/>
              </a:rPr>
              <a:t>reproduce and extend the official statistics on teachers leaving the profession;</a:t>
            </a:r>
          </a:p>
          <a:p>
            <a:pPr algn="l">
              <a:lnSpc>
                <a:spcPts val="2295"/>
              </a:lnSpc>
              <a:spcAft>
                <a:spcPts val="0"/>
              </a:spcAft>
            </a:pPr>
            <a:r>
              <a:rPr sz="1700" b="0" i="0">
                <a:solidFill>
                  <a:srgbClr val="1F3864"/>
                </a:solidFill>
                <a:latin typeface="Latin Modern Sans"/>
              </a:rPr>
              <a:t>2.   </a:t>
            </a:r>
            <a:r>
              <a:rPr sz="1700" b="0" i="0">
                <a:solidFill>
                  <a:srgbClr val="1A1A1A"/>
                </a:solidFill>
                <a:latin typeface="Latin Modern Sans"/>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60152" cy="1005840"/>
          </a:xfrm>
          <a:prstGeom prst="rect">
            <a:avLst/>
          </a:prstGeom>
          <a:noFill/>
        </p:spPr>
        <p:txBody>
          <a:bodyPr wrap="square" lIns="0" rIns="0" tIns="0" bIns="0">
            <a:spAutoFit/>
          </a:bodyPr>
          <a:lstStyle/>
          <a:p>
            <a:pPr algn="ctr">
              <a:lnSpc>
                <a:spcPts val="5940"/>
              </a:lnSpc>
              <a:spcAft>
                <a:spcPts val="0"/>
              </a:spcAft>
            </a:pPr>
            <a:r>
              <a:rPr sz="4400" b="1" i="0">
                <a:solidFill>
                  <a:srgbClr val="1F3864"/>
                </a:solidFill>
                <a:latin typeface="Latin Modern Sans"/>
              </a:rPr>
              <a:t>0</a:t>
            </a:r>
          </a:p>
        </p:txBody>
      </p:sp>
      <p:sp>
        <p:nvSpPr>
          <p:cNvPr id="3" name="TextBox 2"/>
          <p:cNvSpPr txBox="1"/>
          <p:nvPr/>
        </p:nvSpPr>
        <p:spPr>
          <a:xfrm>
            <a:off x="914400" y="3611880"/>
            <a:ext cx="10360152" cy="548640"/>
          </a:xfrm>
          <a:prstGeom prst="rect">
            <a:avLst/>
          </a:prstGeom>
          <a:noFill/>
        </p:spPr>
        <p:txBody>
          <a:bodyPr wrap="square" lIns="0" rIns="0" tIns="0" bIns="0">
            <a:spAutoFit/>
          </a:bodyPr>
          <a:lstStyle/>
          <a:p>
            <a:pPr algn="ctr">
              <a:lnSpc>
                <a:spcPts val="3240"/>
              </a:lnSpc>
              <a:spcAft>
                <a:spcPts val="0"/>
              </a:spcAft>
            </a:pPr>
            <a:r>
              <a:rPr sz="2400" b="0" i="0">
                <a:solidFill>
                  <a:srgbClr val="1A1A1A"/>
                </a:solidFill>
                <a:latin typeface="Latin Modern Sans"/>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The Current Population Survey</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5</a:t>
            </a:r>
          </a:p>
        </p:txBody>
      </p:sp>
      <p:sp>
        <p:nvSpPr>
          <p:cNvPr id="4" name="TextBox 3"/>
          <p:cNvSpPr txBox="1"/>
          <p:nvPr/>
        </p:nvSpPr>
        <p:spPr>
          <a:xfrm>
            <a:off x="822960" y="1463040"/>
            <a:ext cx="10607040" cy="5029200"/>
          </a:xfrm>
          <a:prstGeom prst="rect">
            <a:avLst/>
          </a:prstGeom>
          <a:noFill/>
        </p:spPr>
        <p:txBody>
          <a:bodyPr wrap="square" lIns="0" rIns="0" tIns="0" bIns="0">
            <a:spAutoFit/>
          </a:bodyPr>
          <a:lstStyle/>
          <a:p>
            <a:pPr algn="l">
              <a:lnSpc>
                <a:spcPts val="2227"/>
              </a:lnSpc>
              <a:spcAft>
                <a:spcPts val="2400"/>
              </a:spcAft>
            </a:pPr>
            <a:r>
              <a:rPr sz="1650" b="1" i="0">
                <a:solidFill>
                  <a:srgbClr val="1F3864"/>
                </a:solidFill>
                <a:latin typeface="Latin Modern Sans"/>
              </a:rPr>
              <a:t>▸   </a:t>
            </a:r>
            <a:r>
              <a:rPr sz="1650" b="0" i="0">
                <a:solidFill>
                  <a:srgbClr val="1A1A1A"/>
                </a:solidFill>
                <a:latin typeface="Latin Modern Sans"/>
              </a:rPr>
              <a:t>The monthly household survey of the United States, run by the Census Bureau for the Bureau of Labor Statistics. Nationally representative of the civilian non-institutional population.</a:t>
            </a:r>
          </a:p>
          <a:p>
            <a:pPr algn="l">
              <a:lnSpc>
                <a:spcPts val="2227"/>
              </a:lnSpc>
              <a:spcAft>
                <a:spcPts val="2400"/>
              </a:spcAft>
            </a:pPr>
            <a:r>
              <a:rPr sz="1650" b="1" i="0">
                <a:solidFill>
                  <a:srgbClr val="1F3864"/>
                </a:solidFill>
                <a:latin typeface="Latin Modern Sans"/>
              </a:rPr>
              <a:t>▸   </a:t>
            </a:r>
            <a:r>
              <a:rPr sz="1650" b="0" i="0">
                <a:solidFill>
                  <a:srgbClr val="1A1A1A"/>
                </a:solidFill>
                <a:latin typeface="Latin Modern Sans"/>
              </a:rPr>
              <a:t>We pool 28 consecutive March supplements, 1998–2025: 5.0 million person-year records.</a:t>
            </a:r>
          </a:p>
          <a:p>
            <a:pPr algn="l">
              <a:lnSpc>
                <a:spcPts val="2227"/>
              </a:lnSpc>
              <a:spcAft>
                <a:spcPts val="0"/>
              </a:spcAft>
            </a:pPr>
            <a:r>
              <a:rPr sz="1650" b="1" i="0">
                <a:solidFill>
                  <a:srgbClr val="1F3864"/>
                </a:solidFill>
                <a:latin typeface="Latin Modern Sans"/>
              </a:rPr>
              <a:t>▸   </a:t>
            </a:r>
            <a:r>
              <a:rPr sz="1650" b="0" i="0">
                <a:solidFill>
                  <a:srgbClr val="1A1A1A"/>
                </a:solidFill>
                <a:latin typeface="Latin Modern Sans"/>
              </a:rPr>
              <a:t>104,545 of them are teachers: about 3,700 per year.</a:t>
            </a:r>
          </a:p>
        </p:txBody>
      </p:sp>
      <p:sp>
        <p:nvSpPr>
          <p:cNvPr id="5" name="Rounded Rectangle 4">
            <a:hlinkClick action="ppaction://hlinksldjump" r:id="rId2"/>
          </p:cNvPr>
          <p:cNvSpPr/>
          <p:nvPr/>
        </p:nvSpPr>
        <p:spPr>
          <a:xfrm>
            <a:off x="822960" y="6382512"/>
            <a:ext cx="1207008"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unemployment</a:t>
            </a:r>
          </a:p>
        </p:txBody>
      </p:sp>
      <p:sp>
        <p:nvSpPr>
          <p:cNvPr id="6" name="Rounded Rectangle 5">
            <a:hlinkClick action="ppaction://hlinksldjump" r:id="rId3"/>
          </p:cNvPr>
          <p:cNvSpPr/>
          <p:nvPr/>
        </p:nvSpPr>
        <p:spPr>
          <a:xfrm>
            <a:off x="2167128" y="6382512"/>
            <a:ext cx="1051560"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interviews</a:t>
            </a:r>
          </a:p>
        </p:txBody>
      </p:sp>
      <p:sp>
        <p:nvSpPr>
          <p:cNvPr id="7" name="Rounded Rectangle 6">
            <a:hlinkClick action="ppaction://hlinksldjump" r:id="rId4"/>
          </p:cNvPr>
          <p:cNvSpPr/>
          <p:nvPr/>
        </p:nvSpPr>
        <p:spPr>
          <a:xfrm>
            <a:off x="3355848" y="6382512"/>
            <a:ext cx="97383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migration</a:t>
            </a:r>
          </a:p>
        </p:txBody>
      </p:sp>
      <p:sp>
        <p:nvSpPr>
          <p:cNvPr id="8" name="Rounded Rectangle 7">
            <a:hlinkClick action="ppaction://hlinksldjump" r:id="rId5"/>
          </p:cNvPr>
          <p:cNvSpPr/>
          <p:nvPr/>
        </p:nvSpPr>
        <p:spPr>
          <a:xfrm>
            <a:off x="4466844" y="6382512"/>
            <a:ext cx="896112"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The March supplement (ASEC)</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6</a:t>
            </a:r>
          </a:p>
        </p:txBody>
      </p:sp>
      <p:sp>
        <p:nvSpPr>
          <p:cNvPr id="4" name="TextBox 3"/>
          <p:cNvSpPr txBox="1"/>
          <p:nvPr/>
        </p:nvSpPr>
        <p:spPr>
          <a:xfrm>
            <a:off x="822960" y="1554480"/>
            <a:ext cx="10607040" cy="5029200"/>
          </a:xfrm>
          <a:prstGeom prst="rect">
            <a:avLst/>
          </a:prstGeom>
          <a:noFill/>
        </p:spPr>
        <p:txBody>
          <a:bodyPr wrap="square" lIns="0" rIns="0" tIns="0" bIns="0">
            <a:spAutoFit/>
          </a:bodyPr>
          <a:lstStyle/>
          <a:p>
            <a:pPr algn="l">
              <a:lnSpc>
                <a:spcPts val="2227"/>
              </a:lnSpc>
              <a:spcAft>
                <a:spcPts val="2400"/>
              </a:spcAft>
            </a:pPr>
            <a:r>
              <a:rPr sz="1650" b="1" i="0">
                <a:solidFill>
                  <a:srgbClr val="1F3864"/>
                </a:solidFill>
                <a:latin typeface="Latin Modern Sans"/>
              </a:rPr>
              <a:t>▸   </a:t>
            </a:r>
            <a:r>
              <a:rPr sz="1650" b="0" i="0">
                <a:solidFill>
                  <a:srgbClr val="1A1A1A"/>
                </a:solidFill>
                <a:latin typeface="Latin Modern Sans"/>
              </a:rPr>
              <a:t>Run by the Census Bureau each March since 1948: the source of the official annual income, poverty and health-insurance statistics.</a:t>
            </a:r>
          </a:p>
          <a:p>
            <a:pPr algn="l">
              <a:lnSpc>
                <a:spcPts val="2227"/>
              </a:lnSpc>
              <a:spcAft>
                <a:spcPts val="2400"/>
              </a:spcAft>
            </a:pPr>
            <a:r>
              <a:rPr sz="1650" b="1" i="0">
                <a:solidFill>
                  <a:srgbClr val="1F3864"/>
                </a:solidFill>
                <a:latin typeface="Latin Modern Sans"/>
              </a:rPr>
              <a:t>▸   </a:t>
            </a:r>
            <a:r>
              <a:rPr sz="1650" b="0" i="0">
                <a:solidFill>
                  <a:srgbClr val="1A1A1A"/>
                </a:solidFill>
                <a:latin typeface="Latin Modern Sans"/>
              </a:rPr>
              <a:t>About 90,000 households: the March sample plus oversamples interviewed in February and April.</a:t>
            </a:r>
          </a:p>
          <a:p>
            <a:pPr algn="l">
              <a:lnSpc>
                <a:spcPts val="2227"/>
              </a:lnSpc>
              <a:spcAft>
                <a:spcPts val="0"/>
              </a:spcAft>
            </a:pPr>
            <a:r>
              <a:rPr sz="1650" b="1" i="0">
                <a:solidFill>
                  <a:srgbClr val="1F3864"/>
                </a:solidFill>
                <a:latin typeface="Latin Modern Sans"/>
              </a:rPr>
              <a:t>▸   </a:t>
            </a:r>
            <a:r>
              <a:rPr sz="1650" b="0" i="0">
                <a:solidFill>
                  <a:srgbClr val="1A1A1A"/>
                </a:solidFill>
                <a:latin typeface="Latin Modern Sans"/>
              </a:rPr>
              <a:t>Every adult reports on the previous calendar year: longest job held, weeks worked, earnings,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Identifying a teacher: the census occupation codes</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7</a:t>
            </a:r>
          </a:p>
        </p:txBody>
      </p:sp>
      <p:cxnSp>
        <p:nvCxnSpPr>
          <p:cNvPr id="4" name="Connector 3"/>
          <p:cNvCxnSpPr/>
          <p:nvPr/>
        </p:nvCxnSpPr>
        <p:spPr>
          <a:xfrm>
            <a:off x="822960" y="1417320"/>
            <a:ext cx="1060704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297680" y="1508760"/>
            <a:ext cx="2194560" cy="420624"/>
          </a:xfrm>
          <a:prstGeom prst="rect">
            <a:avLst/>
          </a:prstGeom>
          <a:noFill/>
        </p:spPr>
        <p:txBody>
          <a:bodyPr wrap="square" lIns="0" rIns="0" tIns="0" bIns="0">
            <a:spAutoFit/>
          </a:bodyPr>
          <a:lstStyle/>
          <a:p>
            <a:pPr algn="ctr">
              <a:lnSpc>
                <a:spcPts val="1890"/>
              </a:lnSpc>
              <a:spcAft>
                <a:spcPts val="0"/>
              </a:spcAft>
            </a:pPr>
            <a:r>
              <a:rPr sz="1400" b="1" i="0">
                <a:solidFill>
                  <a:srgbClr val="1A1A1A"/>
                </a:solidFill>
                <a:latin typeface="Latin Modern Sans"/>
              </a:rPr>
              <a:t>1990 classification</a:t>
            </a:r>
          </a:p>
        </p:txBody>
      </p:sp>
      <p:sp>
        <p:nvSpPr>
          <p:cNvPr id="6" name="TextBox 5"/>
          <p:cNvSpPr txBox="1"/>
          <p:nvPr/>
        </p:nvSpPr>
        <p:spPr>
          <a:xfrm>
            <a:off x="6675120" y="1508760"/>
            <a:ext cx="2377440" cy="420624"/>
          </a:xfrm>
          <a:prstGeom prst="rect">
            <a:avLst/>
          </a:prstGeom>
          <a:noFill/>
        </p:spPr>
        <p:txBody>
          <a:bodyPr wrap="square" lIns="0" rIns="0" tIns="0" bIns="0">
            <a:spAutoFit/>
          </a:bodyPr>
          <a:lstStyle/>
          <a:p>
            <a:pPr algn="ctr">
              <a:lnSpc>
                <a:spcPts val="1890"/>
              </a:lnSpc>
              <a:spcAft>
                <a:spcPts val="0"/>
              </a:spcAft>
            </a:pPr>
            <a:r>
              <a:rPr sz="1400" b="1" i="0">
                <a:solidFill>
                  <a:srgbClr val="1A1A1A"/>
                </a:solidFill>
                <a:latin typeface="Latin Modern Sans"/>
              </a:rPr>
              <a:t>2002/2010 classification</a:t>
            </a:r>
          </a:p>
        </p:txBody>
      </p:sp>
      <p:sp>
        <p:nvSpPr>
          <p:cNvPr id="7" name="TextBox 6"/>
          <p:cNvSpPr txBox="1"/>
          <p:nvPr/>
        </p:nvSpPr>
        <p:spPr>
          <a:xfrm>
            <a:off x="9235440" y="1508760"/>
            <a:ext cx="2194560" cy="420624"/>
          </a:xfrm>
          <a:prstGeom prst="rect">
            <a:avLst/>
          </a:prstGeom>
          <a:noFill/>
        </p:spPr>
        <p:txBody>
          <a:bodyPr wrap="square" lIns="0" rIns="0" tIns="0" bIns="0">
            <a:spAutoFit/>
          </a:bodyPr>
          <a:lstStyle/>
          <a:p>
            <a:pPr algn="ctr">
              <a:lnSpc>
                <a:spcPts val="1890"/>
              </a:lnSpc>
              <a:spcAft>
                <a:spcPts val="0"/>
              </a:spcAft>
            </a:pPr>
            <a:r>
              <a:rPr sz="1400" b="1" i="0">
                <a:solidFill>
                  <a:srgbClr val="1A1A1A"/>
                </a:solidFill>
                <a:latin typeface="Latin Modern Sans"/>
              </a:rPr>
              <a:t>2018 classification</a:t>
            </a:r>
          </a:p>
        </p:txBody>
      </p:sp>
      <p:sp>
        <p:nvSpPr>
          <p:cNvPr id="8" name="TextBox 7"/>
          <p:cNvSpPr txBox="1"/>
          <p:nvPr/>
        </p:nvSpPr>
        <p:spPr>
          <a:xfrm>
            <a:off x="4297680" y="1929384"/>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6B7480"/>
                </a:solidFill>
                <a:latin typeface="Latin Modern Sans"/>
              </a:rPr>
              <a:t>surveys 1998–2002</a:t>
            </a:r>
          </a:p>
        </p:txBody>
      </p:sp>
      <p:sp>
        <p:nvSpPr>
          <p:cNvPr id="9" name="TextBox 8"/>
          <p:cNvSpPr txBox="1"/>
          <p:nvPr/>
        </p:nvSpPr>
        <p:spPr>
          <a:xfrm>
            <a:off x="6675120" y="1929384"/>
            <a:ext cx="2377440" cy="420624"/>
          </a:xfrm>
          <a:prstGeom prst="rect">
            <a:avLst/>
          </a:prstGeom>
          <a:noFill/>
        </p:spPr>
        <p:txBody>
          <a:bodyPr wrap="square" lIns="0" rIns="0" tIns="0" bIns="0">
            <a:spAutoFit/>
          </a:bodyPr>
          <a:lstStyle/>
          <a:p>
            <a:pPr algn="ctr">
              <a:lnSpc>
                <a:spcPts val="1890"/>
              </a:lnSpc>
              <a:spcAft>
                <a:spcPts val="0"/>
              </a:spcAft>
            </a:pPr>
            <a:r>
              <a:rPr sz="1400" b="0" i="0">
                <a:solidFill>
                  <a:srgbClr val="6B7480"/>
                </a:solidFill>
                <a:latin typeface="Latin Modern Sans"/>
              </a:rPr>
              <a:t>surveys 2003–2019</a:t>
            </a:r>
          </a:p>
        </p:txBody>
      </p:sp>
      <p:sp>
        <p:nvSpPr>
          <p:cNvPr id="10" name="TextBox 9"/>
          <p:cNvSpPr txBox="1"/>
          <p:nvPr/>
        </p:nvSpPr>
        <p:spPr>
          <a:xfrm>
            <a:off x="9235440" y="1929384"/>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6B7480"/>
                </a:solidFill>
                <a:latin typeface="Latin Modern Sans"/>
              </a:rPr>
              <a:t>surveys 2020–2025</a:t>
            </a:r>
          </a:p>
        </p:txBody>
      </p:sp>
      <p:cxnSp>
        <p:nvCxnSpPr>
          <p:cNvPr id="11" name="Connector 10"/>
          <p:cNvCxnSpPr/>
          <p:nvPr/>
        </p:nvCxnSpPr>
        <p:spPr>
          <a:xfrm>
            <a:off x="822960" y="2368296"/>
            <a:ext cx="1060704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2459736"/>
            <a:ext cx="3291840" cy="420624"/>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Pre-K and kindergarten</a:t>
            </a:r>
          </a:p>
        </p:txBody>
      </p:sp>
      <p:sp>
        <p:nvSpPr>
          <p:cNvPr id="13" name="TextBox 12"/>
          <p:cNvSpPr txBox="1"/>
          <p:nvPr/>
        </p:nvSpPr>
        <p:spPr>
          <a:xfrm>
            <a:off x="4297680" y="2459736"/>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155</a:t>
            </a:r>
          </a:p>
        </p:txBody>
      </p:sp>
      <p:sp>
        <p:nvSpPr>
          <p:cNvPr id="14" name="TextBox 13"/>
          <p:cNvSpPr txBox="1"/>
          <p:nvPr/>
        </p:nvSpPr>
        <p:spPr>
          <a:xfrm>
            <a:off x="6675120" y="2459736"/>
            <a:ext cx="237744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2300</a:t>
            </a:r>
          </a:p>
        </p:txBody>
      </p:sp>
      <p:sp>
        <p:nvSpPr>
          <p:cNvPr id="15" name="TextBox 14"/>
          <p:cNvSpPr txBox="1"/>
          <p:nvPr/>
        </p:nvSpPr>
        <p:spPr>
          <a:xfrm>
            <a:off x="9235440" y="2459736"/>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2300</a:t>
            </a:r>
          </a:p>
        </p:txBody>
      </p:sp>
      <p:sp>
        <p:nvSpPr>
          <p:cNvPr id="16" name="TextBox 15"/>
          <p:cNvSpPr txBox="1"/>
          <p:nvPr/>
        </p:nvSpPr>
        <p:spPr>
          <a:xfrm>
            <a:off x="822960" y="2880360"/>
            <a:ext cx="3291840" cy="420624"/>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Elementary (and middle)</a:t>
            </a:r>
          </a:p>
        </p:txBody>
      </p:sp>
      <p:sp>
        <p:nvSpPr>
          <p:cNvPr id="17" name="TextBox 16"/>
          <p:cNvSpPr txBox="1"/>
          <p:nvPr/>
        </p:nvSpPr>
        <p:spPr>
          <a:xfrm>
            <a:off x="4297680" y="2880360"/>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156</a:t>
            </a:r>
          </a:p>
        </p:txBody>
      </p:sp>
      <p:sp>
        <p:nvSpPr>
          <p:cNvPr id="18" name="TextBox 17"/>
          <p:cNvSpPr txBox="1"/>
          <p:nvPr/>
        </p:nvSpPr>
        <p:spPr>
          <a:xfrm>
            <a:off x="6675120" y="2880360"/>
            <a:ext cx="237744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2310</a:t>
            </a:r>
          </a:p>
        </p:txBody>
      </p:sp>
      <p:sp>
        <p:nvSpPr>
          <p:cNvPr id="19" name="TextBox 18"/>
          <p:cNvSpPr txBox="1"/>
          <p:nvPr/>
        </p:nvSpPr>
        <p:spPr>
          <a:xfrm>
            <a:off x="9235440" y="2880360"/>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2310</a:t>
            </a:r>
          </a:p>
        </p:txBody>
      </p:sp>
      <p:sp>
        <p:nvSpPr>
          <p:cNvPr id="20" name="TextBox 19"/>
          <p:cNvSpPr txBox="1"/>
          <p:nvPr/>
        </p:nvSpPr>
        <p:spPr>
          <a:xfrm>
            <a:off x="822960" y="3300984"/>
            <a:ext cx="3291840" cy="420624"/>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Secondary</a:t>
            </a:r>
          </a:p>
        </p:txBody>
      </p:sp>
      <p:sp>
        <p:nvSpPr>
          <p:cNvPr id="21" name="TextBox 20"/>
          <p:cNvSpPr txBox="1"/>
          <p:nvPr/>
        </p:nvSpPr>
        <p:spPr>
          <a:xfrm>
            <a:off x="4297680" y="3300984"/>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157</a:t>
            </a:r>
          </a:p>
        </p:txBody>
      </p:sp>
      <p:sp>
        <p:nvSpPr>
          <p:cNvPr id="22" name="TextBox 21"/>
          <p:cNvSpPr txBox="1"/>
          <p:nvPr/>
        </p:nvSpPr>
        <p:spPr>
          <a:xfrm>
            <a:off x="6675120" y="3300984"/>
            <a:ext cx="237744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2320</a:t>
            </a:r>
          </a:p>
        </p:txBody>
      </p:sp>
      <p:sp>
        <p:nvSpPr>
          <p:cNvPr id="23" name="TextBox 22"/>
          <p:cNvSpPr txBox="1"/>
          <p:nvPr/>
        </p:nvSpPr>
        <p:spPr>
          <a:xfrm>
            <a:off x="9235440" y="3300984"/>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2320</a:t>
            </a:r>
          </a:p>
        </p:txBody>
      </p:sp>
      <p:sp>
        <p:nvSpPr>
          <p:cNvPr id="24" name="TextBox 23"/>
          <p:cNvSpPr txBox="1"/>
          <p:nvPr/>
        </p:nvSpPr>
        <p:spPr>
          <a:xfrm>
            <a:off x="822960" y="3721608"/>
            <a:ext cx="3291840" cy="420624"/>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Special education</a:t>
            </a:r>
          </a:p>
        </p:txBody>
      </p:sp>
      <p:sp>
        <p:nvSpPr>
          <p:cNvPr id="25" name="TextBox 24"/>
          <p:cNvSpPr txBox="1"/>
          <p:nvPr/>
        </p:nvSpPr>
        <p:spPr>
          <a:xfrm>
            <a:off x="4297680" y="3721608"/>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158</a:t>
            </a:r>
          </a:p>
        </p:txBody>
      </p:sp>
      <p:sp>
        <p:nvSpPr>
          <p:cNvPr id="26" name="TextBox 25"/>
          <p:cNvSpPr txBox="1"/>
          <p:nvPr/>
        </p:nvSpPr>
        <p:spPr>
          <a:xfrm>
            <a:off x="6675120" y="3721608"/>
            <a:ext cx="237744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2330</a:t>
            </a:r>
          </a:p>
        </p:txBody>
      </p:sp>
      <p:sp>
        <p:nvSpPr>
          <p:cNvPr id="27" name="TextBox 26"/>
          <p:cNvSpPr txBox="1"/>
          <p:nvPr/>
        </p:nvSpPr>
        <p:spPr>
          <a:xfrm>
            <a:off x="9235440" y="3721608"/>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2330</a:t>
            </a:r>
          </a:p>
        </p:txBody>
      </p:sp>
      <p:sp>
        <p:nvSpPr>
          <p:cNvPr id="28" name="TextBox 27"/>
          <p:cNvSpPr txBox="1"/>
          <p:nvPr/>
        </p:nvSpPr>
        <p:spPr>
          <a:xfrm>
            <a:off x="822960" y="4142232"/>
            <a:ext cx="3291840" cy="420624"/>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Other teachers and instructors</a:t>
            </a:r>
          </a:p>
        </p:txBody>
      </p:sp>
      <p:sp>
        <p:nvSpPr>
          <p:cNvPr id="29" name="TextBox 28"/>
          <p:cNvSpPr txBox="1"/>
          <p:nvPr/>
        </p:nvSpPr>
        <p:spPr>
          <a:xfrm>
            <a:off x="4297680" y="4142232"/>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159</a:t>
            </a:r>
          </a:p>
        </p:txBody>
      </p:sp>
      <p:sp>
        <p:nvSpPr>
          <p:cNvPr id="30" name="TextBox 29"/>
          <p:cNvSpPr txBox="1"/>
          <p:nvPr/>
        </p:nvSpPr>
        <p:spPr>
          <a:xfrm>
            <a:off x="6675120" y="4142232"/>
            <a:ext cx="237744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2340</a:t>
            </a:r>
          </a:p>
        </p:txBody>
      </p:sp>
      <p:sp>
        <p:nvSpPr>
          <p:cNvPr id="31" name="TextBox 30"/>
          <p:cNvSpPr txBox="1"/>
          <p:nvPr/>
        </p:nvSpPr>
        <p:spPr>
          <a:xfrm>
            <a:off x="9235440" y="4142232"/>
            <a:ext cx="2194560" cy="420624"/>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2360</a:t>
            </a:r>
          </a:p>
        </p:txBody>
      </p:sp>
      <p:cxnSp>
        <p:nvCxnSpPr>
          <p:cNvPr id="32" name="Connector 31"/>
          <p:cNvCxnSpPr/>
          <p:nvPr/>
        </p:nvCxnSpPr>
        <p:spPr>
          <a:xfrm>
            <a:off x="822960" y="4599432"/>
            <a:ext cx="1060704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22960" y="4791456"/>
            <a:ext cx="10607040" cy="731520"/>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The K–12 block maps one-to-one across the three regimes: the group is constant over time even where single codes are not.</a:t>
            </a:r>
          </a:p>
        </p:txBody>
      </p:sp>
      <p:sp>
        <p:nvSpPr>
          <p:cNvPr id="34" name="Rounded Rectangle 33">
            <a:hlinkClick action="ppaction://hlinksldjump" r:id="rId2"/>
          </p:cNvPr>
          <p:cNvSpPr/>
          <p:nvPr/>
        </p:nvSpPr>
        <p:spPr>
          <a:xfrm>
            <a:off x="822960" y="6382512"/>
            <a:ext cx="1207008"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8</a:t>
            </a:r>
          </a:p>
        </p:txBody>
      </p:sp>
      <p:sp>
        <p:nvSpPr>
          <p:cNvPr id="3" name="TextBox 2"/>
          <p:cNvSpPr txBox="1"/>
          <p:nvPr/>
        </p:nvSpPr>
        <p:spPr>
          <a:xfrm>
            <a:off x="822960" y="2103120"/>
            <a:ext cx="3200400" cy="320040"/>
          </a:xfrm>
          <a:prstGeom prst="rect">
            <a:avLst/>
          </a:prstGeom>
          <a:noFill/>
        </p:spPr>
        <p:txBody>
          <a:bodyPr wrap="square" lIns="0" rIns="0" tIns="0" bIns="0">
            <a:spAutoFit/>
          </a:bodyPr>
          <a:lstStyle/>
          <a:p>
            <a:pPr algn="l">
              <a:lnSpc>
                <a:spcPts val="1890"/>
              </a:lnSpc>
              <a:spcAft>
                <a:spcPts val="0"/>
              </a:spcAft>
            </a:pPr>
            <a:r>
              <a:rPr sz="1400" b="1" i="0">
                <a:solidFill>
                  <a:srgbClr val="1F3864"/>
                </a:solidFill>
                <a:latin typeface="Latin Modern Sans"/>
              </a:rPr>
              <a:t>interviewed 4 months</a:t>
            </a:r>
          </a:p>
        </p:txBody>
      </p:sp>
      <p:sp>
        <p:nvSpPr>
          <p:cNvPr id="4" name="TextBox 3"/>
          <p:cNvSpPr txBox="1"/>
          <p:nvPr/>
        </p:nvSpPr>
        <p:spPr>
          <a:xfrm>
            <a:off x="4480560" y="2103120"/>
            <a:ext cx="3291840" cy="320040"/>
          </a:xfrm>
          <a:prstGeom prst="rect">
            <a:avLst/>
          </a:prstGeom>
          <a:noFill/>
        </p:spPr>
        <p:txBody>
          <a:bodyPr wrap="square" lIns="0" rIns="0" tIns="0" bIns="0">
            <a:spAutoFit/>
          </a:bodyPr>
          <a:lstStyle/>
          <a:p>
            <a:pPr algn="ctr">
              <a:lnSpc>
                <a:spcPts val="1755"/>
              </a:lnSpc>
              <a:spcAft>
                <a:spcPts val="0"/>
              </a:spcAft>
            </a:pPr>
            <a:r>
              <a:rPr sz="1300" b="0" i="1">
                <a:solidFill>
                  <a:srgbClr val="6B7480"/>
                </a:solidFill>
                <a:latin typeface="Latin Modern Sans"/>
              </a:rPr>
              <a:t>8 months out</a:t>
            </a:r>
          </a:p>
        </p:txBody>
      </p:sp>
      <p:sp>
        <p:nvSpPr>
          <p:cNvPr id="5" name="TextBox 4"/>
          <p:cNvSpPr txBox="1"/>
          <p:nvPr/>
        </p:nvSpPr>
        <p:spPr>
          <a:xfrm>
            <a:off x="8229600" y="2103120"/>
            <a:ext cx="3200400" cy="320040"/>
          </a:xfrm>
          <a:prstGeom prst="rect">
            <a:avLst/>
          </a:prstGeom>
          <a:noFill/>
        </p:spPr>
        <p:txBody>
          <a:bodyPr wrap="square" lIns="0" rIns="0" tIns="0" bIns="0">
            <a:spAutoFit/>
          </a:bodyPr>
          <a:lstStyle/>
          <a:p>
            <a:pPr algn="r">
              <a:lnSpc>
                <a:spcPts val="1890"/>
              </a:lnSpc>
              <a:spcAft>
                <a:spcPts val="0"/>
              </a:spcAft>
            </a:pPr>
            <a:r>
              <a:rPr sz="1400" b="1" i="0">
                <a:solidFill>
                  <a:srgbClr val="7B2530"/>
                </a:solidFill>
                <a:latin typeface="Latin Modern Sans"/>
              </a:rPr>
              <a:t>interviewed 4 months</a:t>
            </a:r>
          </a:p>
        </p:txBody>
      </p:sp>
      <p:sp>
        <p:nvSpPr>
          <p:cNvPr id="6" name="Rectangle 5"/>
          <p:cNvSpPr/>
          <p:nvPr/>
        </p:nvSpPr>
        <p:spPr>
          <a:xfrm>
            <a:off x="822960" y="2514600"/>
            <a:ext cx="658939"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Latin Modern Sans"/>
              </a:rPr>
              <a:t>1</a:t>
            </a:r>
          </a:p>
        </p:txBody>
      </p:sp>
      <p:sp>
        <p:nvSpPr>
          <p:cNvPr id="7" name="Rectangle 6"/>
          <p:cNvSpPr/>
          <p:nvPr/>
        </p:nvSpPr>
        <p:spPr>
          <a:xfrm>
            <a:off x="1481899" y="2514600"/>
            <a:ext cx="658939"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Latin Modern Sans"/>
              </a:rPr>
              <a:t>2</a:t>
            </a:r>
          </a:p>
        </p:txBody>
      </p:sp>
      <p:sp>
        <p:nvSpPr>
          <p:cNvPr id="8" name="Rectangle 7"/>
          <p:cNvSpPr/>
          <p:nvPr/>
        </p:nvSpPr>
        <p:spPr>
          <a:xfrm>
            <a:off x="2140839" y="2514600"/>
            <a:ext cx="658939"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Latin Modern Sans"/>
              </a:rPr>
              <a:t>3</a:t>
            </a:r>
          </a:p>
        </p:txBody>
      </p:sp>
      <p:sp>
        <p:nvSpPr>
          <p:cNvPr id="9" name="Rectangle 8"/>
          <p:cNvSpPr/>
          <p:nvPr/>
        </p:nvSpPr>
        <p:spPr>
          <a:xfrm>
            <a:off x="2799778" y="2514600"/>
            <a:ext cx="658939"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Latin Modern Sans"/>
              </a:rPr>
              <a:t>4</a:t>
            </a:r>
          </a:p>
        </p:txBody>
      </p:sp>
      <p:sp>
        <p:nvSpPr>
          <p:cNvPr id="10" name="Rectangle 9"/>
          <p:cNvSpPr/>
          <p:nvPr/>
        </p:nvSpPr>
        <p:spPr>
          <a:xfrm>
            <a:off x="3458718" y="2514600"/>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7657" y="2514600"/>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776597" y="2514600"/>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35536" y="2514600"/>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94476" y="2514600"/>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753415" y="2514600"/>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12354" y="2514600"/>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294" y="2514600"/>
            <a:ext cx="658939" cy="56692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730234" y="2514600"/>
            <a:ext cx="658939" cy="566928"/>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Latin Modern Sans"/>
              </a:rPr>
              <a:t>5</a:t>
            </a:r>
          </a:p>
        </p:txBody>
      </p:sp>
      <p:sp>
        <p:nvSpPr>
          <p:cNvPr id="19" name="Rectangle 18"/>
          <p:cNvSpPr/>
          <p:nvPr/>
        </p:nvSpPr>
        <p:spPr>
          <a:xfrm>
            <a:off x="9389173" y="2514600"/>
            <a:ext cx="658939" cy="566928"/>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Latin Modern Sans"/>
              </a:rPr>
              <a:t>6</a:t>
            </a:r>
          </a:p>
        </p:txBody>
      </p:sp>
      <p:sp>
        <p:nvSpPr>
          <p:cNvPr id="20" name="Rectangle 19"/>
          <p:cNvSpPr/>
          <p:nvPr/>
        </p:nvSpPr>
        <p:spPr>
          <a:xfrm>
            <a:off x="10048113" y="2514600"/>
            <a:ext cx="658939" cy="566928"/>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Latin Modern Sans"/>
              </a:rPr>
              <a:t>7</a:t>
            </a:r>
          </a:p>
        </p:txBody>
      </p:sp>
      <p:sp>
        <p:nvSpPr>
          <p:cNvPr id="21" name="Rectangle 20"/>
          <p:cNvSpPr/>
          <p:nvPr/>
        </p:nvSpPr>
        <p:spPr>
          <a:xfrm>
            <a:off x="10707052" y="2514600"/>
            <a:ext cx="658939" cy="566928"/>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FFFFFF"/>
                </a:solidFill>
                <a:latin typeface="Latin Modern Sans"/>
              </a:rPr>
              <a:t>8</a:t>
            </a:r>
          </a:p>
        </p:txBody>
      </p:sp>
      <p:sp>
        <p:nvSpPr>
          <p:cNvPr id="22" name="TextBox 21"/>
          <p:cNvSpPr txBox="1"/>
          <p:nvPr/>
        </p:nvSpPr>
        <p:spPr>
          <a:xfrm>
            <a:off x="822960" y="3136392"/>
            <a:ext cx="658939" cy="274320"/>
          </a:xfrm>
          <a:prstGeom prst="rect">
            <a:avLst/>
          </a:prstGeom>
          <a:noFill/>
        </p:spPr>
        <p:txBody>
          <a:bodyPr wrap="square" lIns="0" rIns="0" tIns="0" bIns="0">
            <a:spAutoFit/>
          </a:bodyPr>
          <a:lstStyle/>
          <a:p>
            <a:pPr algn="ctr">
              <a:lnSpc>
                <a:spcPts val="1485"/>
              </a:lnSpc>
              <a:spcAft>
                <a:spcPts val="0"/>
              </a:spcAft>
            </a:pPr>
            <a:r>
              <a:rPr sz="1100" b="0" i="0">
                <a:solidFill>
                  <a:srgbClr val="6B7480"/>
                </a:solidFill>
                <a:latin typeface="Latin Modern Sans"/>
              </a:rPr>
              <a:t>Mar</a:t>
            </a:r>
          </a:p>
        </p:txBody>
      </p:sp>
      <p:sp>
        <p:nvSpPr>
          <p:cNvPr id="23" name="TextBox 22"/>
          <p:cNvSpPr txBox="1"/>
          <p:nvPr/>
        </p:nvSpPr>
        <p:spPr>
          <a:xfrm>
            <a:off x="2799778" y="3136392"/>
            <a:ext cx="658939" cy="274320"/>
          </a:xfrm>
          <a:prstGeom prst="rect">
            <a:avLst/>
          </a:prstGeom>
          <a:noFill/>
        </p:spPr>
        <p:txBody>
          <a:bodyPr wrap="square" lIns="0" rIns="0" tIns="0" bIns="0">
            <a:spAutoFit/>
          </a:bodyPr>
          <a:lstStyle/>
          <a:p>
            <a:pPr algn="ctr">
              <a:lnSpc>
                <a:spcPts val="1485"/>
              </a:lnSpc>
              <a:spcAft>
                <a:spcPts val="0"/>
              </a:spcAft>
            </a:pPr>
            <a:r>
              <a:rPr sz="1100" b="0" i="0">
                <a:solidFill>
                  <a:srgbClr val="6B7480"/>
                </a:solidFill>
                <a:latin typeface="Latin Modern Sans"/>
              </a:rPr>
              <a:t>Jun</a:t>
            </a:r>
          </a:p>
        </p:txBody>
      </p:sp>
      <p:sp>
        <p:nvSpPr>
          <p:cNvPr id="24" name="TextBox 23"/>
          <p:cNvSpPr txBox="1"/>
          <p:nvPr/>
        </p:nvSpPr>
        <p:spPr>
          <a:xfrm>
            <a:off x="8730234" y="3136392"/>
            <a:ext cx="658939" cy="274320"/>
          </a:xfrm>
          <a:prstGeom prst="rect">
            <a:avLst/>
          </a:prstGeom>
          <a:noFill/>
        </p:spPr>
        <p:txBody>
          <a:bodyPr wrap="square" lIns="0" rIns="0" tIns="0" bIns="0">
            <a:spAutoFit/>
          </a:bodyPr>
          <a:lstStyle/>
          <a:p>
            <a:pPr algn="ctr">
              <a:lnSpc>
                <a:spcPts val="1485"/>
              </a:lnSpc>
              <a:spcAft>
                <a:spcPts val="0"/>
              </a:spcAft>
            </a:pPr>
            <a:r>
              <a:rPr sz="1100" b="0" i="0">
                <a:solidFill>
                  <a:srgbClr val="6B7480"/>
                </a:solidFill>
                <a:latin typeface="Latin Modern Sans"/>
              </a:rPr>
              <a:t>Mar</a:t>
            </a:r>
          </a:p>
        </p:txBody>
      </p:sp>
      <p:sp>
        <p:nvSpPr>
          <p:cNvPr id="25" name="TextBox 24"/>
          <p:cNvSpPr txBox="1"/>
          <p:nvPr/>
        </p:nvSpPr>
        <p:spPr>
          <a:xfrm>
            <a:off x="10707052" y="3136392"/>
            <a:ext cx="658939" cy="274320"/>
          </a:xfrm>
          <a:prstGeom prst="rect">
            <a:avLst/>
          </a:prstGeom>
          <a:noFill/>
        </p:spPr>
        <p:txBody>
          <a:bodyPr wrap="square" lIns="0" rIns="0" tIns="0" bIns="0">
            <a:spAutoFit/>
          </a:bodyPr>
          <a:lstStyle/>
          <a:p>
            <a:pPr algn="ctr">
              <a:lnSpc>
                <a:spcPts val="1485"/>
              </a:lnSpc>
              <a:spcAft>
                <a:spcPts val="0"/>
              </a:spcAft>
            </a:pPr>
            <a:r>
              <a:rPr sz="1100" b="0" i="0">
                <a:solidFill>
                  <a:srgbClr val="6B7480"/>
                </a:solidFill>
                <a:latin typeface="Latin Modern Sans"/>
              </a:rPr>
              <a:t>Jun</a:t>
            </a:r>
          </a:p>
        </p:txBody>
      </p:sp>
      <p:sp>
        <p:nvSpPr>
          <p:cNvPr id="26" name="TextBox 25"/>
          <p:cNvSpPr txBox="1"/>
          <p:nvPr/>
        </p:nvSpPr>
        <p:spPr>
          <a:xfrm>
            <a:off x="822960" y="3447288"/>
            <a:ext cx="2635758" cy="274320"/>
          </a:xfrm>
          <a:prstGeom prst="rect">
            <a:avLst/>
          </a:prstGeom>
          <a:noFill/>
        </p:spPr>
        <p:txBody>
          <a:bodyPr wrap="square" lIns="0" rIns="0" tIns="0" bIns="0">
            <a:spAutoFit/>
          </a:bodyPr>
          <a:lstStyle/>
          <a:p>
            <a:pPr algn="ctr">
              <a:lnSpc>
                <a:spcPts val="1620"/>
              </a:lnSpc>
              <a:spcAft>
                <a:spcPts val="0"/>
              </a:spcAft>
            </a:pPr>
            <a:r>
              <a:rPr sz="1200" b="0" i="1">
                <a:solidFill>
                  <a:srgbClr val="6B7480"/>
                </a:solidFill>
                <a:latin typeface="Latin Modern Sans"/>
              </a:rPr>
              <a:t>year 1</a:t>
            </a:r>
          </a:p>
        </p:txBody>
      </p:sp>
      <p:sp>
        <p:nvSpPr>
          <p:cNvPr id="27" name="TextBox 26"/>
          <p:cNvSpPr txBox="1"/>
          <p:nvPr/>
        </p:nvSpPr>
        <p:spPr>
          <a:xfrm>
            <a:off x="8730234" y="3447288"/>
            <a:ext cx="2635758" cy="274320"/>
          </a:xfrm>
          <a:prstGeom prst="rect">
            <a:avLst/>
          </a:prstGeom>
          <a:noFill/>
        </p:spPr>
        <p:txBody>
          <a:bodyPr wrap="square" lIns="0" rIns="0" tIns="0" bIns="0">
            <a:spAutoFit/>
          </a:bodyPr>
          <a:lstStyle/>
          <a:p>
            <a:pPr algn="ctr">
              <a:lnSpc>
                <a:spcPts val="1620"/>
              </a:lnSpc>
              <a:spcAft>
                <a:spcPts val="0"/>
              </a:spcAft>
            </a:pPr>
            <a:r>
              <a:rPr sz="1200" b="0" i="1">
                <a:solidFill>
                  <a:srgbClr val="6B7480"/>
                </a:solidFill>
                <a:latin typeface="Latin Modern Sans"/>
              </a:rPr>
              <a:t>year 2</a:t>
            </a:r>
          </a:p>
        </p:txBody>
      </p:sp>
      <p:cxnSp>
        <p:nvCxnSpPr>
          <p:cNvPr id="28" name="Connector 27"/>
          <p:cNvCxnSpPr/>
          <p:nvPr/>
        </p:nvCxnSpPr>
        <p:spPr>
          <a:xfrm>
            <a:off x="1152429" y="4023360"/>
            <a:ext cx="7907274"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71600" y="4178808"/>
            <a:ext cx="9144000" cy="365760"/>
          </a:xfrm>
          <a:prstGeom prst="rect">
            <a:avLst/>
          </a:prstGeom>
          <a:noFill/>
        </p:spPr>
        <p:txBody>
          <a:bodyPr wrap="square" lIns="0" rIns="0" tIns="0" bIns="0">
            <a:spAutoFit/>
          </a:bodyPr>
          <a:lstStyle/>
          <a:p>
            <a:pPr algn="ctr">
              <a:lnSpc>
                <a:spcPts val="1890"/>
              </a:lnSpc>
              <a:spcAft>
                <a:spcPts val="0"/>
              </a:spcAft>
            </a:pPr>
            <a:r>
              <a:rPr sz="1400" b="0" i="0">
                <a:solidFill>
                  <a:srgbClr val="1A1A1A"/>
                </a:solidFill>
                <a:latin typeface="Latin Modern Sans"/>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Two ways to identify a leaver</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9</a:t>
            </a:r>
          </a:p>
        </p:txBody>
      </p:sp>
      <p:sp>
        <p:nvSpPr>
          <p:cNvPr id="4" name="TextBox 3"/>
          <p:cNvSpPr txBox="1"/>
          <p:nvPr/>
        </p:nvSpPr>
        <p:spPr>
          <a:xfrm>
            <a:off x="822960" y="1417320"/>
            <a:ext cx="5120640" cy="365760"/>
          </a:xfrm>
          <a:prstGeom prst="rect">
            <a:avLst/>
          </a:prstGeom>
          <a:noFill/>
        </p:spPr>
        <p:txBody>
          <a:bodyPr wrap="square" lIns="0" rIns="0" tIns="0" bIns="0">
            <a:spAutoFit/>
          </a:bodyPr>
          <a:lstStyle/>
          <a:p>
            <a:pPr algn="l">
              <a:lnSpc>
                <a:spcPts val="2160"/>
              </a:lnSpc>
              <a:spcAft>
                <a:spcPts val="0"/>
              </a:spcAft>
            </a:pPr>
            <a:r>
              <a:rPr sz="1600" b="1" i="0">
                <a:solidFill>
                  <a:srgbClr val="1F3864"/>
                </a:solidFill>
                <a:latin typeface="Latin Modern Sans"/>
              </a:rPr>
              <a:t>A. Follow the individual</a:t>
            </a:r>
          </a:p>
        </p:txBody>
      </p:sp>
      <p:sp>
        <p:nvSpPr>
          <p:cNvPr id="5" name="TextBox 4"/>
          <p:cNvSpPr txBox="1"/>
          <p:nvPr/>
        </p:nvSpPr>
        <p:spPr>
          <a:xfrm>
            <a:off x="822960" y="1965960"/>
            <a:ext cx="5120640" cy="457200"/>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All months. Links require matching:</a:t>
            </a:r>
          </a:p>
        </p:txBody>
      </p:sp>
      <p:sp>
        <p:nvSpPr>
          <p:cNvPr id="6" name="TextBox 5"/>
          <p:cNvSpPr txBox="1"/>
          <p:nvPr/>
        </p:nvSpPr>
        <p:spPr>
          <a:xfrm>
            <a:off x="822960" y="2514600"/>
            <a:ext cx="5120640" cy="1645920"/>
          </a:xfrm>
          <a:prstGeom prst="rect">
            <a:avLst/>
          </a:prstGeom>
          <a:noFill/>
        </p:spPr>
        <p:txBody>
          <a:bodyPr wrap="square" lIns="0" rIns="0" tIns="0" bIns="0">
            <a:spAutoFit/>
          </a:bodyPr>
          <a:lstStyle/>
          <a:p>
            <a:pPr algn="l">
              <a:lnSpc>
                <a:spcPts val="1890"/>
              </a:lnSpc>
              <a:spcAft>
                <a:spcPts val="600"/>
              </a:spcAft>
            </a:pPr>
            <a:r>
              <a:rPr sz="1400" b="0" i="0">
                <a:solidFill>
                  <a:srgbClr val="1A1A1A"/>
                </a:solidFill>
                <a:latin typeface="Latin Modern Sans"/>
              </a:rPr>
              <a:t>household identifier</a:t>
            </a:r>
          </a:p>
          <a:p>
            <a:pPr algn="l">
              <a:lnSpc>
                <a:spcPts val="1890"/>
              </a:lnSpc>
              <a:spcAft>
                <a:spcPts val="600"/>
              </a:spcAft>
            </a:pPr>
            <a:r>
              <a:rPr sz="1400" b="0" i="0">
                <a:solidFill>
                  <a:srgbClr val="1A1A1A"/>
                </a:solidFill>
                <a:latin typeface="Latin Modern Sans"/>
              </a:rPr>
              <a:t>dwelling identifier</a:t>
            </a:r>
          </a:p>
          <a:p>
            <a:pPr algn="l">
              <a:lnSpc>
                <a:spcPts val="1890"/>
              </a:lnSpc>
              <a:spcAft>
                <a:spcPts val="1000"/>
              </a:spcAft>
            </a:pPr>
            <a:r>
              <a:rPr sz="1400" b="0" i="0">
                <a:solidFill>
                  <a:srgbClr val="1A1A1A"/>
                </a:solidFill>
                <a:latin typeface="Latin Modern Sans"/>
              </a:rPr>
              <a:t>person line number</a:t>
            </a:r>
          </a:p>
          <a:p>
            <a:pPr algn="l">
              <a:lnSpc>
                <a:spcPts val="1755"/>
              </a:lnSpc>
              <a:spcAft>
                <a:spcPts val="0"/>
              </a:spcAft>
            </a:pPr>
            <a:r>
              <a:rPr sz="1300" b="0" i="0">
                <a:solidFill>
                  <a:srgbClr val="6B7480"/>
                </a:solidFill>
                <a:latin typeface="Latin Modern Sans"/>
              </a:rPr>
              <a:t>validated on sex, race, age +0–2</a:t>
            </a:r>
          </a:p>
        </p:txBody>
      </p:sp>
      <p:sp>
        <p:nvSpPr>
          <p:cNvPr id="7" name="TextBox 6"/>
          <p:cNvSpPr txBox="1"/>
          <p:nvPr/>
        </p:nvSpPr>
        <p:spPr>
          <a:xfrm>
            <a:off x="6400800" y="1417320"/>
            <a:ext cx="5029200" cy="365760"/>
          </a:xfrm>
          <a:prstGeom prst="rect">
            <a:avLst/>
          </a:prstGeom>
          <a:noFill/>
        </p:spPr>
        <p:txBody>
          <a:bodyPr wrap="square" lIns="0" rIns="0" tIns="0" bIns="0">
            <a:spAutoFit/>
          </a:bodyPr>
          <a:lstStyle/>
          <a:p>
            <a:pPr algn="l">
              <a:lnSpc>
                <a:spcPts val="2160"/>
              </a:lnSpc>
              <a:spcAft>
                <a:spcPts val="0"/>
              </a:spcAft>
            </a:pPr>
            <a:r>
              <a:rPr sz="1600" b="1" i="0">
                <a:solidFill>
                  <a:srgbClr val="1F3864"/>
                </a:solidFill>
                <a:latin typeface="Latin Modern Sans"/>
              </a:rPr>
              <a:t>B. Ask about last year</a:t>
            </a:r>
          </a:p>
        </p:txBody>
      </p:sp>
      <p:sp>
        <p:nvSpPr>
          <p:cNvPr id="8" name="TextBox 7"/>
          <p:cNvSpPr txBox="1"/>
          <p:nvPr/>
        </p:nvSpPr>
        <p:spPr>
          <a:xfrm>
            <a:off x="6400800" y="1965960"/>
            <a:ext cx="5029200" cy="2011680"/>
          </a:xfrm>
          <a:prstGeom prst="rect">
            <a:avLst/>
          </a:prstGeom>
          <a:noFill/>
        </p:spPr>
        <p:txBody>
          <a:bodyPr wrap="square" lIns="0" rIns="0" tIns="0" bIns="0">
            <a:spAutoFit/>
          </a:bodyPr>
          <a:lstStyle/>
          <a:p>
            <a:pPr algn="l">
              <a:lnSpc>
                <a:spcPts val="1890"/>
              </a:lnSpc>
              <a:spcAft>
                <a:spcPts val="1200"/>
              </a:spcAft>
            </a:pPr>
            <a:r>
              <a:rPr sz="1400" b="0" i="0">
                <a:solidFill>
                  <a:srgbClr val="1A1A1A"/>
                </a:solidFill>
                <a:latin typeface="Latin Modern Sans"/>
              </a:rPr>
              <a:t>The March supplement, retrospectively.</a:t>
            </a:r>
          </a:p>
          <a:p>
            <a:pPr algn="l">
              <a:lnSpc>
                <a:spcPts val="1890"/>
              </a:lnSpc>
              <a:spcAft>
                <a:spcPts val="0"/>
              </a:spcAft>
            </a:pPr>
            <a:r>
              <a:rPr sz="1400" b="0" i="0">
                <a:solidFill>
                  <a:srgbClr val="1A1A1A"/>
                </a:solidFill>
                <a:latin typeface="Latin Modern Sans"/>
              </a:rPr>
              <a:t>Taught as last year’s longest job, not teaching this March ⇒ left.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Disadvantages of each option</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10</a:t>
            </a:r>
          </a:p>
        </p:txBody>
      </p:sp>
      <p:sp>
        <p:nvSpPr>
          <p:cNvPr id="4" name="TextBox 3"/>
          <p:cNvSpPr txBox="1"/>
          <p:nvPr/>
        </p:nvSpPr>
        <p:spPr>
          <a:xfrm>
            <a:off x="822960" y="1371600"/>
            <a:ext cx="5212080" cy="365760"/>
          </a:xfrm>
          <a:prstGeom prst="rect">
            <a:avLst/>
          </a:prstGeom>
          <a:noFill/>
        </p:spPr>
        <p:txBody>
          <a:bodyPr wrap="square" lIns="0" rIns="0" tIns="0" bIns="0">
            <a:spAutoFit/>
          </a:bodyPr>
          <a:lstStyle/>
          <a:p>
            <a:pPr algn="l">
              <a:lnSpc>
                <a:spcPts val="2092"/>
              </a:lnSpc>
              <a:spcAft>
                <a:spcPts val="0"/>
              </a:spcAft>
            </a:pPr>
            <a:r>
              <a:rPr sz="1550" b="1" i="0">
                <a:solidFill>
                  <a:srgbClr val="1F3864"/>
                </a:solidFill>
                <a:latin typeface="Latin Modern Sans"/>
              </a:rPr>
              <a:t>A. Following individuals</a:t>
            </a:r>
          </a:p>
        </p:txBody>
      </p:sp>
      <p:sp>
        <p:nvSpPr>
          <p:cNvPr id="5" name="TextBox 4"/>
          <p:cNvSpPr txBox="1"/>
          <p:nvPr/>
        </p:nvSpPr>
        <p:spPr>
          <a:xfrm>
            <a:off x="822960" y="1874519"/>
            <a:ext cx="5212080" cy="5029200"/>
          </a:xfrm>
          <a:prstGeom prst="rect">
            <a:avLst/>
          </a:prstGeom>
          <a:noFill/>
        </p:spPr>
        <p:txBody>
          <a:bodyPr wrap="square" lIns="0" rIns="0" tIns="0" bIns="0">
            <a:spAutoFit/>
          </a:bodyPr>
          <a:lstStyle/>
          <a:p>
            <a:pPr algn="l">
              <a:lnSpc>
                <a:spcPts val="1822"/>
              </a:lnSpc>
              <a:spcAft>
                <a:spcPts val="1000"/>
              </a:spcAft>
            </a:pPr>
            <a:r>
              <a:rPr sz="1350" b="0" i="0">
                <a:solidFill>
                  <a:srgbClr val="1F3864"/>
                </a:solidFill>
                <a:latin typeface="Latin Modern Sans"/>
              </a:rPr>
              <a:t>1.   </a:t>
            </a:r>
            <a:r>
              <a:rPr sz="1350" b="0" i="0">
                <a:solidFill>
                  <a:srgbClr val="1A1A1A"/>
                </a:solidFill>
                <a:latin typeface="Latin Modern Sans"/>
              </a:rPr>
              <a:t>Identity is not certain: validation can admit noisy people.</a:t>
            </a:r>
          </a:p>
          <a:p>
            <a:pPr algn="l">
              <a:lnSpc>
                <a:spcPts val="1822"/>
              </a:lnSpc>
              <a:spcAft>
                <a:spcPts val="1000"/>
              </a:spcAft>
            </a:pPr>
            <a:r>
              <a:rPr sz="1350" b="0" i="0">
                <a:solidFill>
                  <a:srgbClr val="1F3864"/>
                </a:solidFill>
                <a:latin typeface="Latin Modern Sans"/>
              </a:rPr>
              <a:t>2.   </a:t>
            </a:r>
            <a:r>
              <a:rPr sz="1350" b="0" i="0">
                <a:solidFill>
                  <a:srgbClr val="1A1A1A"/>
                </a:solidFill>
                <a:latin typeface="Latin Modern Sans"/>
              </a:rPr>
              <a:t>Movers are lost: ~25% of addresses are not found a year later.</a:t>
            </a:r>
          </a:p>
          <a:p>
            <a:pPr algn="l">
              <a:lnSpc>
                <a:spcPts val="1822"/>
              </a:lnSpc>
              <a:spcAft>
                <a:spcPts val="1000"/>
              </a:spcAft>
            </a:pPr>
            <a:r>
              <a:rPr sz="1350" b="0" i="0">
                <a:solidFill>
                  <a:srgbClr val="1F3864"/>
                </a:solidFill>
                <a:latin typeface="Latin Modern Sans"/>
              </a:rPr>
              <a:t>3.   </a:t>
            </a:r>
            <a:r>
              <a:rPr sz="1350" b="0" i="0">
                <a:solidFill>
                  <a:srgbClr val="1A1A1A"/>
                </a:solidFill>
                <a:latin typeface="Latin Modern Sans"/>
              </a:rPr>
              <a:t>Normal household attrition on top.</a:t>
            </a:r>
          </a:p>
          <a:p>
            <a:pPr algn="l">
              <a:lnSpc>
                <a:spcPts val="1822"/>
              </a:lnSpc>
              <a:spcAft>
                <a:spcPts val="1000"/>
              </a:spcAft>
            </a:pPr>
            <a:r>
              <a:rPr sz="1350" b="0" i="0">
                <a:solidFill>
                  <a:srgbClr val="1F3864"/>
                </a:solidFill>
                <a:latin typeface="Latin Modern Sans"/>
              </a:rPr>
              <a:t>4.   </a:t>
            </a:r>
            <a:r>
              <a:rPr sz="1350" b="0" i="0">
                <a:solidFill>
                  <a:srgbClr val="1A1A1A"/>
                </a:solidFill>
                <a:latin typeface="Latin Modern Sans"/>
              </a:rPr>
              <a:t>Strong seasonality in teaching.</a:t>
            </a:r>
          </a:p>
          <a:p>
            <a:pPr algn="l">
              <a:lnSpc>
                <a:spcPts val="1822"/>
              </a:lnSpc>
              <a:spcAft>
                <a:spcPts val="0"/>
              </a:spcAft>
            </a:pPr>
            <a:r>
              <a:rPr sz="1350" b="0" i="0">
                <a:solidFill>
                  <a:srgbClr val="1F3864"/>
                </a:solidFill>
                <a:latin typeface="Latin Modern Sans"/>
              </a:rPr>
              <a:t>5.   </a:t>
            </a:r>
            <a:r>
              <a:rPr sz="1350" b="0" i="0">
                <a:solidFill>
                  <a:srgbClr val="1A1A1A"/>
                </a:solidFill>
                <a:latin typeface="Latin Modern Sans"/>
              </a:rPr>
              <a:t>Many ways to define the rate (next slide).</a:t>
            </a:r>
          </a:p>
        </p:txBody>
      </p:sp>
      <p:sp>
        <p:nvSpPr>
          <p:cNvPr id="6" name="TextBox 5"/>
          <p:cNvSpPr txBox="1"/>
          <p:nvPr/>
        </p:nvSpPr>
        <p:spPr>
          <a:xfrm>
            <a:off x="6400800" y="1371600"/>
            <a:ext cx="5120640" cy="365760"/>
          </a:xfrm>
          <a:prstGeom prst="rect">
            <a:avLst/>
          </a:prstGeom>
          <a:noFill/>
        </p:spPr>
        <p:txBody>
          <a:bodyPr wrap="square" lIns="0" rIns="0" tIns="0" bIns="0">
            <a:spAutoFit/>
          </a:bodyPr>
          <a:lstStyle/>
          <a:p>
            <a:pPr algn="l">
              <a:lnSpc>
                <a:spcPts val="2092"/>
              </a:lnSpc>
              <a:spcAft>
                <a:spcPts val="0"/>
              </a:spcAft>
            </a:pPr>
            <a:r>
              <a:rPr sz="1550" b="1" i="0">
                <a:solidFill>
                  <a:srgbClr val="1F3864"/>
                </a:solidFill>
                <a:latin typeface="Latin Modern Sans"/>
              </a:rPr>
              <a:t>B. Retrospective March</a:t>
            </a:r>
          </a:p>
        </p:txBody>
      </p:sp>
      <p:sp>
        <p:nvSpPr>
          <p:cNvPr id="7" name="TextBox 6"/>
          <p:cNvSpPr txBox="1"/>
          <p:nvPr/>
        </p:nvSpPr>
        <p:spPr>
          <a:xfrm>
            <a:off x="6400800" y="1874519"/>
            <a:ext cx="5120640" cy="5029200"/>
          </a:xfrm>
          <a:prstGeom prst="rect">
            <a:avLst/>
          </a:prstGeom>
          <a:noFill/>
        </p:spPr>
        <p:txBody>
          <a:bodyPr wrap="square" lIns="0" rIns="0" tIns="0" bIns="0">
            <a:spAutoFit/>
          </a:bodyPr>
          <a:lstStyle/>
          <a:p>
            <a:pPr algn="l">
              <a:lnSpc>
                <a:spcPts val="1822"/>
              </a:lnSpc>
              <a:spcAft>
                <a:spcPts val="1000"/>
              </a:spcAft>
            </a:pPr>
            <a:r>
              <a:rPr sz="1350" b="0" i="0">
                <a:solidFill>
                  <a:srgbClr val="1F3864"/>
                </a:solidFill>
                <a:latin typeface="Latin Modern Sans"/>
              </a:rPr>
              <a:t>1.   </a:t>
            </a:r>
            <a:r>
              <a:rPr sz="1350" b="0" i="0">
                <a:solidFill>
                  <a:srgbClr val="1A1A1A"/>
                </a:solidFill>
                <a:latin typeface="Latin Modern Sans"/>
              </a:rPr>
              <a:t>Recall bias.</a:t>
            </a:r>
          </a:p>
          <a:p>
            <a:pPr algn="l">
              <a:lnSpc>
                <a:spcPts val="1822"/>
              </a:lnSpc>
              <a:spcAft>
                <a:spcPts val="1000"/>
              </a:spcAft>
            </a:pPr>
            <a:r>
              <a:rPr sz="1350" b="0" i="0">
                <a:solidFill>
                  <a:srgbClr val="1F3864"/>
                </a:solidFill>
                <a:latin typeface="Latin Modern Sans"/>
              </a:rPr>
              <a:t>2.   </a:t>
            </a:r>
            <a:r>
              <a:rPr sz="1350" b="0" i="0">
                <a:solidFill>
                  <a:srgbClr val="1A1A1A"/>
                </a:solidFill>
                <a:latin typeface="Latin Modern Sans"/>
              </a:rPr>
              <a:t>Less sample: one observation per person per year (~3,700 teachers) against ~11,000 monthly teacher observations.</a:t>
            </a:r>
          </a:p>
          <a:p>
            <a:pPr algn="l">
              <a:lnSpc>
                <a:spcPts val="1822"/>
              </a:lnSpc>
              <a:spcAft>
                <a:spcPts val="0"/>
              </a:spcAft>
            </a:pPr>
            <a:r>
              <a:rPr sz="1350" b="0" i="0">
                <a:solidFill>
                  <a:srgbClr val="1F3864"/>
                </a:solidFill>
                <a:latin typeface="Latin Modern Sans"/>
              </a:rPr>
              <a:t>3.   </a:t>
            </a:r>
            <a:r>
              <a:rPr sz="1350" b="0" i="0">
                <a:solidFill>
                  <a:srgbClr val="1A1A1A"/>
                </a:solidFill>
                <a:latin typeface="Latin Modern Sans"/>
              </a:rPr>
              <a:t>Only March-to-March transitions; within-year spells are smoothed away.</a:t>
            </a:r>
          </a:p>
        </p:txBody>
      </p:sp>
      <p:sp>
        <p:nvSpPr>
          <p:cNvPr id="8" name="Rounded Rectangle 7">
            <a:hlinkClick action="ppaction://hlinksldjump" r:id="rId2"/>
          </p:cNvPr>
          <p:cNvSpPr/>
          <p:nvPr/>
        </p:nvSpPr>
        <p:spPr>
          <a:xfrm>
            <a:off x="822960" y="6382512"/>
            <a:ext cx="1207008"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linkage loss</a:t>
            </a:r>
          </a:p>
        </p:txBody>
      </p:sp>
      <p:sp>
        <p:nvSpPr>
          <p:cNvPr id="9" name="Rounded Rectangle 8">
            <a:hlinkClick action="ppaction://hlinksldjump" r:id="rId3"/>
          </p:cNvPr>
          <p:cNvSpPr/>
          <p:nvPr/>
        </p:nvSpPr>
        <p:spPr>
          <a:xfrm>
            <a:off x="2167128" y="6382512"/>
            <a:ext cx="1984248"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definition sensitivity</a:t>
            </a:r>
          </a:p>
        </p:txBody>
      </p:sp>
      <p:sp>
        <p:nvSpPr>
          <p:cNvPr id="10" name="Rounded Rectangle 9">
            <a:hlinkClick action="ppaction://hlinksldjump" r:id="rId4"/>
          </p:cNvPr>
          <p:cNvSpPr/>
          <p:nvPr/>
        </p:nvSpPr>
        <p:spPr>
          <a:xfrm>
            <a:off x="4288536" y="6382512"/>
            <a:ext cx="1051560"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Six ways to define leaving, simplest to strictest</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11</a:t>
            </a:r>
          </a:p>
        </p:txBody>
      </p:sp>
      <p:sp>
        <p:nvSpPr>
          <p:cNvPr id="4" name="TextBox 3"/>
          <p:cNvSpPr txBox="1"/>
          <p:nvPr/>
        </p:nvSpPr>
        <p:spPr>
          <a:xfrm>
            <a:off x="822960" y="1234440"/>
            <a:ext cx="10607040" cy="365760"/>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Unit: the individual. Four interviews in year 1, four in year 2.</a:t>
            </a:r>
          </a:p>
        </p:txBody>
      </p:sp>
      <p:cxnSp>
        <p:nvCxnSpPr>
          <p:cNvPr id="5" name="Connector 4"/>
          <p:cNvCxnSpPr/>
          <p:nvPr/>
        </p:nvCxnSpPr>
        <p:spPr>
          <a:xfrm>
            <a:off x="822960" y="1783080"/>
            <a:ext cx="1051560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108960" y="1874519"/>
            <a:ext cx="4023360" cy="566928"/>
          </a:xfrm>
          <a:prstGeom prst="rect">
            <a:avLst/>
          </a:prstGeom>
          <a:noFill/>
        </p:spPr>
        <p:txBody>
          <a:bodyPr wrap="square" lIns="0" rIns="0" tIns="0" bIns="0">
            <a:spAutoFit/>
          </a:bodyPr>
          <a:lstStyle/>
          <a:p>
            <a:pPr algn="l">
              <a:lnSpc>
                <a:spcPts val="1822"/>
              </a:lnSpc>
              <a:spcAft>
                <a:spcPts val="0"/>
              </a:spcAft>
            </a:pPr>
            <a:r>
              <a:rPr sz="1350" b="1" i="0">
                <a:solidFill>
                  <a:srgbClr val="1A1A1A"/>
                </a:solidFill>
                <a:latin typeface="Latin Modern Sans"/>
              </a:rPr>
              <a:t>A teacher:</a:t>
            </a:r>
          </a:p>
        </p:txBody>
      </p:sp>
      <p:sp>
        <p:nvSpPr>
          <p:cNvPr id="7" name="TextBox 6"/>
          <p:cNvSpPr txBox="1"/>
          <p:nvPr/>
        </p:nvSpPr>
        <p:spPr>
          <a:xfrm>
            <a:off x="7315200" y="1874519"/>
            <a:ext cx="4023360" cy="566928"/>
          </a:xfrm>
          <a:prstGeom prst="rect">
            <a:avLst/>
          </a:prstGeom>
          <a:noFill/>
        </p:spPr>
        <p:txBody>
          <a:bodyPr wrap="square" lIns="0" rIns="0" tIns="0" bIns="0">
            <a:spAutoFit/>
          </a:bodyPr>
          <a:lstStyle/>
          <a:p>
            <a:pPr algn="l">
              <a:lnSpc>
                <a:spcPts val="1822"/>
              </a:lnSpc>
              <a:spcAft>
                <a:spcPts val="0"/>
              </a:spcAft>
            </a:pPr>
            <a:r>
              <a:rPr sz="1350" b="1" i="0">
                <a:solidFill>
                  <a:srgbClr val="1A1A1A"/>
                </a:solidFill>
                <a:latin typeface="Latin Modern Sans"/>
              </a:rPr>
              <a:t>A leaver:</a:t>
            </a:r>
          </a:p>
        </p:txBody>
      </p:sp>
      <p:cxnSp>
        <p:nvCxnSpPr>
          <p:cNvPr id="8" name="Connector 7"/>
          <p:cNvCxnSpPr/>
          <p:nvPr/>
        </p:nvCxnSpPr>
        <p:spPr>
          <a:xfrm>
            <a:off x="822960" y="2459736"/>
            <a:ext cx="1051560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0312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Single</a:t>
            </a:r>
          </a:p>
        </p:txBody>
      </p:sp>
      <p:sp>
        <p:nvSpPr>
          <p:cNvPr id="10" name="TextBox 9"/>
          <p:cNvSpPr txBox="1"/>
          <p:nvPr/>
        </p:nvSpPr>
        <p:spPr>
          <a:xfrm>
            <a:off x="3108960" y="2551176"/>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seen teaching in ≥ 1 of the 4 year-1 interviews</a:t>
            </a:r>
          </a:p>
        </p:txBody>
      </p:sp>
      <p:sp>
        <p:nvSpPr>
          <p:cNvPr id="11" name="TextBox 10"/>
          <p:cNvSpPr txBox="1"/>
          <p:nvPr/>
        </p:nvSpPr>
        <p:spPr>
          <a:xfrm>
            <a:off x="7315200" y="2551176"/>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seen teaching in none of the 4 year-2 interviews</a:t>
            </a:r>
          </a:p>
        </p:txBody>
      </p:sp>
      <p:sp>
        <p:nvSpPr>
          <p:cNvPr id="12" name="TextBox 11"/>
          <p:cNvSpPr txBox="1"/>
          <p:nvPr/>
        </p:nvSpPr>
        <p:spPr>
          <a:xfrm>
            <a:off x="822960" y="3118104"/>
            <a:ext cx="210312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Pair</a:t>
            </a:r>
          </a:p>
        </p:txBody>
      </p:sp>
      <p:sp>
        <p:nvSpPr>
          <p:cNvPr id="13" name="TextBox 12"/>
          <p:cNvSpPr txBox="1"/>
          <p:nvPr/>
        </p:nvSpPr>
        <p:spPr>
          <a:xfrm>
            <a:off x="3108960" y="3118104"/>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seen teaching in ≥ 2 of the 4</a:t>
            </a:r>
          </a:p>
        </p:txBody>
      </p:sp>
      <p:sp>
        <p:nvSpPr>
          <p:cNvPr id="14" name="TextBox 13"/>
          <p:cNvSpPr txBox="1"/>
          <p:nvPr/>
        </p:nvSpPr>
        <p:spPr>
          <a:xfrm>
            <a:off x="7315200" y="3118104"/>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seen teaching in none of the 4</a:t>
            </a:r>
          </a:p>
        </p:txBody>
      </p:sp>
      <p:sp>
        <p:nvSpPr>
          <p:cNvPr id="15" name="TextBox 14"/>
          <p:cNvSpPr txBox="1"/>
          <p:nvPr/>
        </p:nvSpPr>
        <p:spPr>
          <a:xfrm>
            <a:off x="822960" y="3685032"/>
            <a:ext cx="210312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Triple</a:t>
            </a:r>
          </a:p>
        </p:txBody>
      </p:sp>
      <p:sp>
        <p:nvSpPr>
          <p:cNvPr id="16" name="TextBox 15"/>
          <p:cNvSpPr txBox="1"/>
          <p:nvPr/>
        </p:nvSpPr>
        <p:spPr>
          <a:xfrm>
            <a:off x="3108960" y="3685032"/>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seen teaching in ≥ 3 of the 4</a:t>
            </a:r>
          </a:p>
        </p:txBody>
      </p:sp>
      <p:sp>
        <p:nvSpPr>
          <p:cNvPr id="17" name="TextBox 16"/>
          <p:cNvSpPr txBox="1"/>
          <p:nvPr/>
        </p:nvSpPr>
        <p:spPr>
          <a:xfrm>
            <a:off x="7315200" y="3685032"/>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seen teaching in none of the 4</a:t>
            </a:r>
          </a:p>
        </p:txBody>
      </p:sp>
      <p:sp>
        <p:nvSpPr>
          <p:cNvPr id="18" name="TextBox 17"/>
          <p:cNvSpPr txBox="1"/>
          <p:nvPr/>
        </p:nvSpPr>
        <p:spPr>
          <a:xfrm>
            <a:off x="822960" y="4251960"/>
            <a:ext cx="210312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Strict</a:t>
            </a:r>
          </a:p>
        </p:txBody>
      </p:sp>
      <p:sp>
        <p:nvSpPr>
          <p:cNvPr id="19" name="TextBox 18"/>
          <p:cNvSpPr txBox="1"/>
          <p:nvPr/>
        </p:nvSpPr>
        <p:spPr>
          <a:xfrm>
            <a:off x="3108960" y="4251960"/>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seen teaching in all 4</a:t>
            </a:r>
          </a:p>
        </p:txBody>
      </p:sp>
      <p:sp>
        <p:nvSpPr>
          <p:cNvPr id="20" name="TextBox 19"/>
          <p:cNvSpPr txBox="1"/>
          <p:nvPr/>
        </p:nvSpPr>
        <p:spPr>
          <a:xfrm>
            <a:off x="7315200" y="4251960"/>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seen teaching in none of the 4</a:t>
            </a:r>
          </a:p>
        </p:txBody>
      </p:sp>
      <p:sp>
        <p:nvSpPr>
          <p:cNvPr id="21" name="TextBox 20"/>
          <p:cNvSpPr txBox="1"/>
          <p:nvPr/>
        </p:nvSpPr>
        <p:spPr>
          <a:xfrm>
            <a:off x="822960" y="4818888"/>
            <a:ext cx="210312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Month pairs</a:t>
            </a:r>
          </a:p>
        </p:txBody>
      </p:sp>
      <p:sp>
        <p:nvSpPr>
          <p:cNvPr id="22" name="TextBox 21"/>
          <p:cNvSpPr txBox="1"/>
          <p:nvPr/>
        </p:nvSpPr>
        <p:spPr>
          <a:xfrm>
            <a:off x="3108960" y="4818888"/>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each teaching month, on its own</a:t>
            </a:r>
          </a:p>
        </p:txBody>
      </p:sp>
      <p:sp>
        <p:nvSpPr>
          <p:cNvPr id="23" name="TextBox 22"/>
          <p:cNvSpPr txBox="1"/>
          <p:nvPr/>
        </p:nvSpPr>
        <p:spPr>
          <a:xfrm>
            <a:off x="7315200" y="4818888"/>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not seen teaching twelve months later</a:t>
            </a:r>
          </a:p>
        </p:txBody>
      </p:sp>
      <p:sp>
        <p:nvSpPr>
          <p:cNvPr id="24" name="TextBox 23"/>
          <p:cNvSpPr txBox="1"/>
          <p:nvPr/>
        </p:nvSpPr>
        <p:spPr>
          <a:xfrm>
            <a:off x="822960" y="5385816"/>
            <a:ext cx="210312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Annual recall</a:t>
            </a:r>
          </a:p>
        </p:txBody>
      </p:sp>
      <p:sp>
        <p:nvSpPr>
          <p:cNvPr id="25" name="TextBox 24"/>
          <p:cNvSpPr txBox="1"/>
          <p:nvPr/>
        </p:nvSpPr>
        <p:spPr>
          <a:xfrm>
            <a:off x="3108960" y="5385816"/>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teaching was last year’s longest job</a:t>
            </a:r>
          </a:p>
        </p:txBody>
      </p:sp>
      <p:sp>
        <p:nvSpPr>
          <p:cNvPr id="26" name="TextBox 25"/>
          <p:cNvSpPr txBox="1"/>
          <p:nvPr/>
        </p:nvSpPr>
        <p:spPr>
          <a:xfrm>
            <a:off x="7315200" y="5385816"/>
            <a:ext cx="4023360" cy="566928"/>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not teaching at the March interview</a:t>
            </a:r>
          </a:p>
        </p:txBody>
      </p:sp>
      <p:cxnSp>
        <p:nvCxnSpPr>
          <p:cNvPr id="27" name="Connector 26"/>
          <p:cNvCxnSpPr/>
          <p:nvPr/>
        </p:nvCxnSpPr>
        <p:spPr>
          <a:xfrm>
            <a:off x="822960" y="5989320"/>
            <a:ext cx="1051560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The six, on one axis</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12</a:t>
            </a:r>
          </a:p>
        </p:txBody>
      </p:sp>
      <p:pic>
        <p:nvPicPr>
          <p:cNvPr id="4" name="Picture 3" descr="defs6.png"/>
          <p:cNvPicPr>
            <a:picLocks noChangeAspect="1"/>
          </p:cNvPicPr>
          <p:nvPr/>
        </p:nvPicPr>
        <p:blipFill>
          <a:blip r:embed="rId2"/>
          <a:stretch>
            <a:fillRect/>
          </a:stretch>
        </p:blipFill>
        <p:spPr>
          <a:xfrm>
            <a:off x="1341596" y="1097280"/>
            <a:ext cx="9478327" cy="4892040"/>
          </a:xfrm>
          <a:prstGeom prst="rect">
            <a:avLst/>
          </a:prstGeom>
        </p:spPr>
      </p:pic>
      <p:sp>
        <p:nvSpPr>
          <p:cNvPr id="5" name="TextBox 4"/>
          <p:cNvSpPr txBox="1"/>
          <p:nvPr/>
        </p:nvSpPr>
        <p:spPr>
          <a:xfrm>
            <a:off x="822960" y="6172200"/>
            <a:ext cx="10607040" cy="365760"/>
          </a:xfrm>
          <a:prstGeom prst="rect">
            <a:avLst/>
          </a:prstGeom>
          <a:noFill/>
        </p:spPr>
        <p:txBody>
          <a:bodyPr wrap="square" lIns="0" rIns="0" tIns="0" bIns="0">
            <a:spAutoFit/>
          </a:bodyPr>
          <a:lstStyle/>
          <a:p>
            <a:pPr algn="l">
              <a:lnSpc>
                <a:spcPts val="1552"/>
              </a:lnSpc>
              <a:spcAft>
                <a:spcPts val="0"/>
              </a:spcAft>
            </a:pPr>
            <a:r>
              <a:rPr sz="1150" b="0" i="0">
                <a:solidFill>
                  <a:srgbClr val="6B7480"/>
                </a:solidFill>
                <a:latin typeface="Latin Modern Sans"/>
              </a:rPr>
              <a:t>NCES: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60152" cy="1005840"/>
          </a:xfrm>
          <a:prstGeom prst="rect">
            <a:avLst/>
          </a:prstGeom>
          <a:noFill/>
        </p:spPr>
        <p:txBody>
          <a:bodyPr wrap="square" lIns="0" rIns="0" tIns="0" bIns="0">
            <a:spAutoFit/>
          </a:bodyPr>
          <a:lstStyle/>
          <a:p>
            <a:pPr algn="ctr">
              <a:lnSpc>
                <a:spcPts val="5940"/>
              </a:lnSpc>
              <a:spcAft>
                <a:spcPts val="0"/>
              </a:spcAft>
            </a:pPr>
            <a:r>
              <a:rPr sz="4400" b="1" i="0">
                <a:solidFill>
                  <a:srgbClr val="1F3864"/>
                </a:solidFill>
                <a:latin typeface="Latin Modern Sans"/>
              </a:rPr>
              <a:t>1</a:t>
            </a:r>
          </a:p>
        </p:txBody>
      </p:sp>
      <p:sp>
        <p:nvSpPr>
          <p:cNvPr id="3" name="TextBox 2"/>
          <p:cNvSpPr txBox="1"/>
          <p:nvPr/>
        </p:nvSpPr>
        <p:spPr>
          <a:xfrm>
            <a:off x="914400" y="3611880"/>
            <a:ext cx="10360152" cy="548640"/>
          </a:xfrm>
          <a:prstGeom prst="rect">
            <a:avLst/>
          </a:prstGeom>
          <a:noFill/>
        </p:spPr>
        <p:txBody>
          <a:bodyPr wrap="square" lIns="0" rIns="0" tIns="0" bIns="0">
            <a:spAutoFit/>
          </a:bodyPr>
          <a:lstStyle/>
          <a:p>
            <a:pPr algn="ctr">
              <a:lnSpc>
                <a:spcPts val="3240"/>
              </a:lnSpc>
              <a:spcAft>
                <a:spcPts val="0"/>
              </a:spcAft>
            </a:pPr>
            <a:r>
              <a:rPr sz="2400" b="0" i="0">
                <a:solidFill>
                  <a:srgbClr val="1A1A1A"/>
                </a:solidFill>
                <a:latin typeface="Latin Modern Sans"/>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Leaving teaching, 1997–2024</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14</a:t>
            </a:r>
          </a:p>
        </p:txBody>
      </p:sp>
      <p:pic>
        <p:nvPicPr>
          <p:cNvPr id="4" name="Picture 3" descr="g2_evolution.png"/>
          <p:cNvPicPr>
            <a:picLocks noChangeAspect="1"/>
          </p:cNvPicPr>
          <p:nvPr/>
        </p:nvPicPr>
        <p:blipFill>
          <a:blip r:embed="rId2"/>
          <a:stretch>
            <a:fillRect/>
          </a:stretch>
        </p:blipFill>
        <p:spPr>
          <a:xfrm>
            <a:off x="1600199" y="1097280"/>
            <a:ext cx="8961120" cy="4480560"/>
          </a:xfrm>
          <a:prstGeom prst="rect">
            <a:avLst/>
          </a:prstGeom>
        </p:spPr>
      </p:pic>
      <p:sp>
        <p:nvSpPr>
          <p:cNvPr id="5" name="TextBox 4"/>
          <p:cNvSpPr txBox="1"/>
          <p:nvPr/>
        </p:nvSpPr>
        <p:spPr>
          <a:xfrm>
            <a:off x="822960" y="5715000"/>
            <a:ext cx="10607040" cy="822960"/>
          </a:xfrm>
          <a:prstGeom prst="rect">
            <a:avLst/>
          </a:prstGeom>
          <a:noFill/>
        </p:spPr>
        <p:txBody>
          <a:bodyPr wrap="square" lIns="0" rIns="0" tIns="0" bIns="0">
            <a:spAutoFit/>
          </a:bodyPr>
          <a:lstStyle/>
          <a:p>
            <a:pPr algn="l">
              <a:lnSpc>
                <a:spcPts val="1822"/>
              </a:lnSpc>
              <a:spcAft>
                <a:spcPts val="0"/>
              </a:spcAft>
            </a:pPr>
            <a:r>
              <a:rPr sz="1350" b="1" i="0">
                <a:solidFill>
                  <a:srgbClr val="1F3864"/>
                </a:solidFill>
                <a:latin typeface="Latin Modern Sans"/>
              </a:rPr>
              <a:t>Message.  </a:t>
            </a:r>
            <a:r>
              <a:rPr sz="1350" b="0" i="0">
                <a:solidFill>
                  <a:srgbClr val="1A1A1A"/>
                </a:solidFill>
                <a:latin typeface="Latin Modern Sans"/>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82512"/>
            <a:ext cx="1595628"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Comparable professions: who we compare teachers with</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15</a:t>
            </a:r>
          </a:p>
        </p:txBody>
      </p:sp>
      <p:cxnSp>
        <p:nvCxnSpPr>
          <p:cNvPr id="4" name="Connector 3"/>
          <p:cNvCxnSpPr/>
          <p:nvPr/>
        </p:nvCxnSpPr>
        <p:spPr>
          <a:xfrm>
            <a:off x="822960" y="1371600"/>
            <a:ext cx="1060704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463040"/>
            <a:ext cx="1645920" cy="402336"/>
          </a:xfrm>
          <a:prstGeom prst="rect">
            <a:avLst/>
          </a:prstGeom>
          <a:noFill/>
        </p:spPr>
        <p:txBody>
          <a:bodyPr wrap="square" lIns="0" rIns="0" tIns="0" bIns="0">
            <a:spAutoFit/>
          </a:bodyPr>
          <a:lstStyle/>
          <a:p>
            <a:pPr algn="r">
              <a:lnSpc>
                <a:spcPts val="1890"/>
              </a:lnSpc>
              <a:spcAft>
                <a:spcPts val="0"/>
              </a:spcAft>
            </a:pPr>
            <a:r>
              <a:rPr sz="1400" b="1" i="0">
                <a:solidFill>
                  <a:srgbClr val="1A1A1A"/>
                </a:solidFill>
                <a:latin typeface="Latin Modern Sans"/>
              </a:rPr>
              <a:t>Teachers</a:t>
            </a:r>
          </a:p>
        </p:txBody>
      </p:sp>
      <p:sp>
        <p:nvSpPr>
          <p:cNvPr id="6" name="TextBox 5"/>
          <p:cNvSpPr txBox="1"/>
          <p:nvPr/>
        </p:nvSpPr>
        <p:spPr>
          <a:xfrm>
            <a:off x="6400800" y="1463040"/>
            <a:ext cx="1645920" cy="402336"/>
          </a:xfrm>
          <a:prstGeom prst="rect">
            <a:avLst/>
          </a:prstGeom>
          <a:noFill/>
        </p:spPr>
        <p:txBody>
          <a:bodyPr wrap="square" lIns="0" rIns="0" tIns="0" bIns="0">
            <a:spAutoFit/>
          </a:bodyPr>
          <a:lstStyle/>
          <a:p>
            <a:pPr algn="r">
              <a:lnSpc>
                <a:spcPts val="1890"/>
              </a:lnSpc>
              <a:spcAft>
                <a:spcPts val="0"/>
              </a:spcAft>
            </a:pPr>
            <a:r>
              <a:rPr sz="1400" b="1" i="0">
                <a:solidFill>
                  <a:srgbClr val="1A1A1A"/>
                </a:solidFill>
                <a:latin typeface="Latin Modern Sans"/>
              </a:rPr>
              <a:t>Nurses</a:t>
            </a:r>
          </a:p>
        </p:txBody>
      </p:sp>
      <p:sp>
        <p:nvSpPr>
          <p:cNvPr id="7" name="TextBox 6"/>
          <p:cNvSpPr txBox="1"/>
          <p:nvPr/>
        </p:nvSpPr>
        <p:spPr>
          <a:xfrm>
            <a:off x="8138160" y="1463040"/>
            <a:ext cx="1737360" cy="402336"/>
          </a:xfrm>
          <a:prstGeom prst="rect">
            <a:avLst/>
          </a:prstGeom>
          <a:noFill/>
        </p:spPr>
        <p:txBody>
          <a:bodyPr wrap="square" lIns="0" rIns="0" tIns="0" bIns="0">
            <a:spAutoFit/>
          </a:bodyPr>
          <a:lstStyle/>
          <a:p>
            <a:pPr algn="r">
              <a:lnSpc>
                <a:spcPts val="1890"/>
              </a:lnSpc>
              <a:spcAft>
                <a:spcPts val="0"/>
              </a:spcAft>
            </a:pPr>
            <a:r>
              <a:rPr sz="1400" b="1" i="0">
                <a:solidFill>
                  <a:srgbClr val="1A1A1A"/>
                </a:solidFill>
                <a:latin typeface="Latin Modern Sans"/>
              </a:rPr>
              <a:t>Social workers</a:t>
            </a:r>
          </a:p>
        </p:txBody>
      </p:sp>
      <p:sp>
        <p:nvSpPr>
          <p:cNvPr id="8" name="TextBox 7"/>
          <p:cNvSpPr txBox="1"/>
          <p:nvPr/>
        </p:nvSpPr>
        <p:spPr>
          <a:xfrm>
            <a:off x="9966960" y="1463040"/>
            <a:ext cx="1463040" cy="402336"/>
          </a:xfrm>
          <a:prstGeom prst="rect">
            <a:avLst/>
          </a:prstGeom>
          <a:noFill/>
        </p:spPr>
        <p:txBody>
          <a:bodyPr wrap="square" lIns="0" rIns="0" tIns="0" bIns="0">
            <a:spAutoFit/>
          </a:bodyPr>
          <a:lstStyle/>
          <a:p>
            <a:pPr algn="r">
              <a:lnSpc>
                <a:spcPts val="1890"/>
              </a:lnSpc>
              <a:spcAft>
                <a:spcPts val="0"/>
              </a:spcAft>
            </a:pPr>
            <a:r>
              <a:rPr sz="1400" b="1" i="0">
                <a:solidFill>
                  <a:srgbClr val="1A1A1A"/>
                </a:solidFill>
                <a:latin typeface="Latin Modern Sans"/>
              </a:rPr>
              <a:t>Accountants</a:t>
            </a:r>
          </a:p>
        </p:txBody>
      </p:sp>
      <p:cxnSp>
        <p:nvCxnSpPr>
          <p:cNvPr id="9" name="Connector 8"/>
          <p:cNvCxnSpPr/>
          <p:nvPr/>
        </p:nvCxnSpPr>
        <p:spPr>
          <a:xfrm>
            <a:off x="822960" y="1883664"/>
            <a:ext cx="1060704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1975104"/>
            <a:ext cx="3657600" cy="402336"/>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Female (%)</a:t>
            </a:r>
          </a:p>
        </p:txBody>
      </p:sp>
      <p:sp>
        <p:nvSpPr>
          <p:cNvPr id="11" name="TextBox 10"/>
          <p:cNvSpPr txBox="1"/>
          <p:nvPr/>
        </p:nvSpPr>
        <p:spPr>
          <a:xfrm>
            <a:off x="4663440" y="1975104"/>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76.0</a:t>
            </a:r>
          </a:p>
        </p:txBody>
      </p:sp>
      <p:sp>
        <p:nvSpPr>
          <p:cNvPr id="12" name="TextBox 11"/>
          <p:cNvSpPr txBox="1"/>
          <p:nvPr/>
        </p:nvSpPr>
        <p:spPr>
          <a:xfrm>
            <a:off x="6400800" y="1975104"/>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88.2</a:t>
            </a:r>
          </a:p>
        </p:txBody>
      </p:sp>
      <p:sp>
        <p:nvSpPr>
          <p:cNvPr id="13" name="TextBox 12"/>
          <p:cNvSpPr txBox="1"/>
          <p:nvPr/>
        </p:nvSpPr>
        <p:spPr>
          <a:xfrm>
            <a:off x="8138160" y="1975104"/>
            <a:ext cx="173736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82.9</a:t>
            </a:r>
          </a:p>
        </p:txBody>
      </p:sp>
      <p:sp>
        <p:nvSpPr>
          <p:cNvPr id="14" name="TextBox 13"/>
          <p:cNvSpPr txBox="1"/>
          <p:nvPr/>
        </p:nvSpPr>
        <p:spPr>
          <a:xfrm>
            <a:off x="9966960" y="1975104"/>
            <a:ext cx="146304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57.0</a:t>
            </a:r>
          </a:p>
        </p:txBody>
      </p:sp>
      <p:sp>
        <p:nvSpPr>
          <p:cNvPr id="15" name="TextBox 14"/>
          <p:cNvSpPr txBox="1"/>
          <p:nvPr/>
        </p:nvSpPr>
        <p:spPr>
          <a:xfrm>
            <a:off x="822960" y="2377440"/>
            <a:ext cx="3657600" cy="402336"/>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Average age (years)</a:t>
            </a:r>
          </a:p>
        </p:txBody>
      </p:sp>
      <p:sp>
        <p:nvSpPr>
          <p:cNvPr id="16" name="TextBox 15"/>
          <p:cNvSpPr txBox="1"/>
          <p:nvPr/>
        </p:nvSpPr>
        <p:spPr>
          <a:xfrm>
            <a:off x="4663440" y="2377440"/>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44.4</a:t>
            </a:r>
          </a:p>
        </p:txBody>
      </p:sp>
      <p:sp>
        <p:nvSpPr>
          <p:cNvPr id="17" name="TextBox 16"/>
          <p:cNvSpPr txBox="1"/>
          <p:nvPr/>
        </p:nvSpPr>
        <p:spPr>
          <a:xfrm>
            <a:off x="6400800" y="2377440"/>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43.1</a:t>
            </a:r>
          </a:p>
        </p:txBody>
      </p:sp>
      <p:sp>
        <p:nvSpPr>
          <p:cNvPr id="18" name="TextBox 17"/>
          <p:cNvSpPr txBox="1"/>
          <p:nvPr/>
        </p:nvSpPr>
        <p:spPr>
          <a:xfrm>
            <a:off x="8138160" y="2377440"/>
            <a:ext cx="173736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43.4</a:t>
            </a:r>
          </a:p>
        </p:txBody>
      </p:sp>
      <p:sp>
        <p:nvSpPr>
          <p:cNvPr id="19" name="TextBox 18"/>
          <p:cNvSpPr txBox="1"/>
          <p:nvPr/>
        </p:nvSpPr>
        <p:spPr>
          <a:xfrm>
            <a:off x="9966960" y="2377440"/>
            <a:ext cx="146304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44.1</a:t>
            </a:r>
          </a:p>
        </p:txBody>
      </p:sp>
      <p:sp>
        <p:nvSpPr>
          <p:cNvPr id="20" name="TextBox 19"/>
          <p:cNvSpPr txBox="1"/>
          <p:nvPr/>
        </p:nvSpPr>
        <p:spPr>
          <a:xfrm>
            <a:off x="822960" y="2779776"/>
            <a:ext cx="3657600" cy="402336"/>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Master’s or higher (%)</a:t>
            </a:r>
          </a:p>
        </p:txBody>
      </p:sp>
      <p:sp>
        <p:nvSpPr>
          <p:cNvPr id="21" name="TextBox 20"/>
          <p:cNvSpPr txBox="1"/>
          <p:nvPr/>
        </p:nvSpPr>
        <p:spPr>
          <a:xfrm>
            <a:off x="4663440" y="2779776"/>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51.9</a:t>
            </a:r>
          </a:p>
        </p:txBody>
      </p:sp>
      <p:sp>
        <p:nvSpPr>
          <p:cNvPr id="22" name="TextBox 21"/>
          <p:cNvSpPr txBox="1"/>
          <p:nvPr/>
        </p:nvSpPr>
        <p:spPr>
          <a:xfrm>
            <a:off x="6400800" y="2779776"/>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25.9</a:t>
            </a:r>
          </a:p>
        </p:txBody>
      </p:sp>
      <p:sp>
        <p:nvSpPr>
          <p:cNvPr id="23" name="TextBox 22"/>
          <p:cNvSpPr txBox="1"/>
          <p:nvPr/>
        </p:nvSpPr>
        <p:spPr>
          <a:xfrm>
            <a:off x="8138160" y="2779776"/>
            <a:ext cx="173736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50.8</a:t>
            </a:r>
          </a:p>
        </p:txBody>
      </p:sp>
      <p:sp>
        <p:nvSpPr>
          <p:cNvPr id="24" name="TextBox 23"/>
          <p:cNvSpPr txBox="1"/>
          <p:nvPr/>
        </p:nvSpPr>
        <p:spPr>
          <a:xfrm>
            <a:off x="9966960" y="2779776"/>
            <a:ext cx="146304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31.3</a:t>
            </a:r>
          </a:p>
        </p:txBody>
      </p:sp>
      <p:sp>
        <p:nvSpPr>
          <p:cNvPr id="25" name="TextBox 24"/>
          <p:cNvSpPr txBox="1"/>
          <p:nvPr/>
        </p:nvSpPr>
        <p:spPr>
          <a:xfrm>
            <a:off x="822960" y="3182112"/>
            <a:ext cx="3657600" cy="402336"/>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Public sector (%)</a:t>
            </a:r>
          </a:p>
        </p:txBody>
      </p:sp>
      <p:sp>
        <p:nvSpPr>
          <p:cNvPr id="26" name="TextBox 25"/>
          <p:cNvSpPr txBox="1"/>
          <p:nvPr/>
        </p:nvSpPr>
        <p:spPr>
          <a:xfrm>
            <a:off x="4663440" y="3182112"/>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70.2</a:t>
            </a:r>
          </a:p>
        </p:txBody>
      </p:sp>
      <p:sp>
        <p:nvSpPr>
          <p:cNvPr id="27" name="TextBox 26"/>
          <p:cNvSpPr txBox="1"/>
          <p:nvPr/>
        </p:nvSpPr>
        <p:spPr>
          <a:xfrm>
            <a:off x="6400800" y="3182112"/>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12.3</a:t>
            </a:r>
          </a:p>
        </p:txBody>
      </p:sp>
      <p:sp>
        <p:nvSpPr>
          <p:cNvPr id="28" name="TextBox 27"/>
          <p:cNvSpPr txBox="1"/>
          <p:nvPr/>
        </p:nvSpPr>
        <p:spPr>
          <a:xfrm>
            <a:off x="8138160" y="3182112"/>
            <a:ext cx="173736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43.1</a:t>
            </a:r>
          </a:p>
        </p:txBody>
      </p:sp>
      <p:sp>
        <p:nvSpPr>
          <p:cNvPr id="29" name="TextBox 28"/>
          <p:cNvSpPr txBox="1"/>
          <p:nvPr/>
        </p:nvSpPr>
        <p:spPr>
          <a:xfrm>
            <a:off x="9966960" y="3182112"/>
            <a:ext cx="146304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11.0</a:t>
            </a:r>
          </a:p>
        </p:txBody>
      </p:sp>
      <p:sp>
        <p:nvSpPr>
          <p:cNvPr id="30" name="TextBox 29"/>
          <p:cNvSpPr txBox="1"/>
          <p:nvPr/>
        </p:nvSpPr>
        <p:spPr>
          <a:xfrm>
            <a:off x="822960" y="3584448"/>
            <a:ext cx="3657600" cy="402336"/>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Weeks worked</a:t>
            </a:r>
          </a:p>
        </p:txBody>
      </p:sp>
      <p:sp>
        <p:nvSpPr>
          <p:cNvPr id="31" name="TextBox 30"/>
          <p:cNvSpPr txBox="1"/>
          <p:nvPr/>
        </p:nvSpPr>
        <p:spPr>
          <a:xfrm>
            <a:off x="4663440" y="3584448"/>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46.6</a:t>
            </a:r>
          </a:p>
        </p:txBody>
      </p:sp>
      <p:sp>
        <p:nvSpPr>
          <p:cNvPr id="32" name="TextBox 31"/>
          <p:cNvSpPr txBox="1"/>
          <p:nvPr/>
        </p:nvSpPr>
        <p:spPr>
          <a:xfrm>
            <a:off x="6400800" y="3584448"/>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49.3</a:t>
            </a:r>
          </a:p>
        </p:txBody>
      </p:sp>
      <p:sp>
        <p:nvSpPr>
          <p:cNvPr id="33" name="TextBox 32"/>
          <p:cNvSpPr txBox="1"/>
          <p:nvPr/>
        </p:nvSpPr>
        <p:spPr>
          <a:xfrm>
            <a:off x="8138160" y="3584448"/>
            <a:ext cx="173736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49.6</a:t>
            </a:r>
          </a:p>
        </p:txBody>
      </p:sp>
      <p:sp>
        <p:nvSpPr>
          <p:cNvPr id="34" name="TextBox 33"/>
          <p:cNvSpPr txBox="1"/>
          <p:nvPr/>
        </p:nvSpPr>
        <p:spPr>
          <a:xfrm>
            <a:off x="9966960" y="3584448"/>
            <a:ext cx="146304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49.5</a:t>
            </a:r>
          </a:p>
        </p:txBody>
      </p:sp>
      <p:sp>
        <p:nvSpPr>
          <p:cNvPr id="35" name="TextBox 34"/>
          <p:cNvSpPr txBox="1"/>
          <p:nvPr/>
        </p:nvSpPr>
        <p:spPr>
          <a:xfrm>
            <a:off x="822960" y="3986784"/>
            <a:ext cx="3657600" cy="402336"/>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Median annual wage ($)</a:t>
            </a:r>
          </a:p>
        </p:txBody>
      </p:sp>
      <p:sp>
        <p:nvSpPr>
          <p:cNvPr id="36" name="TextBox 35"/>
          <p:cNvSpPr txBox="1"/>
          <p:nvPr/>
        </p:nvSpPr>
        <p:spPr>
          <a:xfrm>
            <a:off x="4663440" y="3986784"/>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56,000</a:t>
            </a:r>
          </a:p>
        </p:txBody>
      </p:sp>
      <p:sp>
        <p:nvSpPr>
          <p:cNvPr id="37" name="TextBox 36"/>
          <p:cNvSpPr txBox="1"/>
          <p:nvPr/>
        </p:nvSpPr>
        <p:spPr>
          <a:xfrm>
            <a:off x="6400800" y="3986784"/>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80,000</a:t>
            </a:r>
          </a:p>
        </p:txBody>
      </p:sp>
      <p:sp>
        <p:nvSpPr>
          <p:cNvPr id="38" name="TextBox 37"/>
          <p:cNvSpPr txBox="1"/>
          <p:nvPr/>
        </p:nvSpPr>
        <p:spPr>
          <a:xfrm>
            <a:off x="8138160" y="3986784"/>
            <a:ext cx="173736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57,000</a:t>
            </a:r>
          </a:p>
        </p:txBody>
      </p:sp>
      <p:sp>
        <p:nvSpPr>
          <p:cNvPr id="39" name="TextBox 38"/>
          <p:cNvSpPr txBox="1"/>
          <p:nvPr/>
        </p:nvSpPr>
        <p:spPr>
          <a:xfrm>
            <a:off x="9966960" y="3986784"/>
            <a:ext cx="146304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77,000</a:t>
            </a:r>
          </a:p>
        </p:txBody>
      </p:sp>
      <p:cxnSp>
        <p:nvCxnSpPr>
          <p:cNvPr id="40" name="Connector 39"/>
          <p:cNvCxnSpPr/>
          <p:nvPr/>
        </p:nvCxnSpPr>
        <p:spPr>
          <a:xfrm>
            <a:off x="822960" y="4407408"/>
            <a:ext cx="1060704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498848"/>
            <a:ext cx="3657600" cy="402336"/>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Observations</a:t>
            </a:r>
          </a:p>
        </p:txBody>
      </p:sp>
      <p:sp>
        <p:nvSpPr>
          <p:cNvPr id="42" name="TextBox 41"/>
          <p:cNvSpPr txBox="1"/>
          <p:nvPr/>
        </p:nvSpPr>
        <p:spPr>
          <a:xfrm>
            <a:off x="4663440" y="4498848"/>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28,932</a:t>
            </a:r>
          </a:p>
        </p:txBody>
      </p:sp>
      <p:sp>
        <p:nvSpPr>
          <p:cNvPr id="43" name="TextBox 42"/>
          <p:cNvSpPr txBox="1"/>
          <p:nvPr/>
        </p:nvSpPr>
        <p:spPr>
          <a:xfrm>
            <a:off x="6400800" y="4498848"/>
            <a:ext cx="164592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13,107</a:t>
            </a:r>
          </a:p>
        </p:txBody>
      </p:sp>
      <p:sp>
        <p:nvSpPr>
          <p:cNvPr id="44" name="TextBox 43"/>
          <p:cNvSpPr txBox="1"/>
          <p:nvPr/>
        </p:nvSpPr>
        <p:spPr>
          <a:xfrm>
            <a:off x="8138160" y="4498848"/>
            <a:ext cx="173736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3,407</a:t>
            </a:r>
          </a:p>
        </p:txBody>
      </p:sp>
      <p:sp>
        <p:nvSpPr>
          <p:cNvPr id="45" name="TextBox 44"/>
          <p:cNvSpPr txBox="1"/>
          <p:nvPr/>
        </p:nvSpPr>
        <p:spPr>
          <a:xfrm>
            <a:off x="9966960" y="4498848"/>
            <a:ext cx="1463040" cy="402336"/>
          </a:xfrm>
          <a:prstGeom prst="rect">
            <a:avLst/>
          </a:prstGeom>
          <a:noFill/>
        </p:spPr>
        <p:txBody>
          <a:bodyPr wrap="square" lIns="0" rIns="0" tIns="0" bIns="0">
            <a:spAutoFit/>
          </a:bodyPr>
          <a:lstStyle/>
          <a:p>
            <a:pPr algn="r">
              <a:lnSpc>
                <a:spcPts val="1890"/>
              </a:lnSpc>
              <a:spcAft>
                <a:spcPts val="0"/>
              </a:spcAft>
            </a:pPr>
            <a:r>
              <a:rPr sz="1400" b="0" i="0">
                <a:solidFill>
                  <a:srgbClr val="1A1A1A"/>
                </a:solidFill>
                <a:latin typeface="Latin Modern Sans"/>
              </a:rPr>
              <a:t>6,897</a:t>
            </a:r>
          </a:p>
        </p:txBody>
      </p:sp>
      <p:cxnSp>
        <p:nvCxnSpPr>
          <p:cNvPr id="46" name="Connector 45"/>
          <p:cNvCxnSpPr/>
          <p:nvPr/>
        </p:nvCxnSpPr>
        <p:spPr>
          <a:xfrm>
            <a:off x="822960" y="4937760"/>
            <a:ext cx="1060704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5065776"/>
            <a:ext cx="10607040" cy="365760"/>
          </a:xfrm>
          <a:prstGeom prst="rect">
            <a:avLst/>
          </a:prstGeom>
          <a:noFill/>
        </p:spPr>
        <p:txBody>
          <a:bodyPr wrap="square" lIns="0" rIns="0" tIns="0" bIns="0">
            <a:spAutoFit/>
          </a:bodyPr>
          <a:lstStyle/>
          <a:p>
            <a:pPr algn="l">
              <a:lnSpc>
                <a:spcPts val="1552"/>
              </a:lnSpc>
              <a:spcAft>
                <a:spcPts val="0"/>
              </a:spcAft>
            </a:pPr>
            <a:r>
              <a:rPr sz="1150" b="0" i="1">
                <a:solidFill>
                  <a:srgbClr val="6B7480"/>
                </a:solidFill>
                <a:latin typeface="Latin Modern Sans"/>
              </a:rPr>
              <a:t>College graduates, pooled 2015–2024, weighted; wages from 2020–2024.</a:t>
            </a:r>
          </a:p>
        </p:txBody>
      </p:sp>
      <p:sp>
        <p:nvSpPr>
          <p:cNvPr id="48" name="TextBox 47"/>
          <p:cNvSpPr txBox="1"/>
          <p:nvPr/>
        </p:nvSpPr>
        <p:spPr>
          <a:xfrm>
            <a:off x="822960" y="6126480"/>
            <a:ext cx="10607040" cy="822960"/>
          </a:xfrm>
          <a:prstGeom prst="rect">
            <a:avLst/>
          </a:prstGeom>
          <a:noFill/>
        </p:spPr>
        <p:txBody>
          <a:bodyPr wrap="square" lIns="0" rIns="0" tIns="0" bIns="0">
            <a:spAutoFit/>
          </a:bodyPr>
          <a:lstStyle/>
          <a:p>
            <a:pPr algn="l">
              <a:lnSpc>
                <a:spcPts val="1755"/>
              </a:lnSpc>
              <a:spcAft>
                <a:spcPts val="0"/>
              </a:spcAft>
            </a:pPr>
            <a:r>
              <a:rPr sz="1300" b="1" i="0">
                <a:solidFill>
                  <a:srgbClr val="1F3864"/>
                </a:solidFill>
                <a:latin typeface="Latin Modern Sans"/>
              </a:rPr>
              <a:t>Message.  </a:t>
            </a:r>
            <a:r>
              <a:rPr sz="1300" b="0" i="0">
                <a:solidFill>
                  <a:srgbClr val="1A1A1A"/>
                </a:solidFill>
                <a:latin typeface="Latin Modern Sans"/>
              </a:rPr>
              <a:t>Teaching shares its age and gender profile with nursing and social work. What sets it apart is pay and the public sector.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Leaving the occupation, by profession</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16</a:t>
            </a:r>
          </a:p>
        </p:txBody>
      </p:sp>
      <p:pic>
        <p:nvPicPr>
          <p:cNvPr id="4" name="Picture 3" descr="leave_professions_deck.png"/>
          <p:cNvPicPr>
            <a:picLocks noChangeAspect="1"/>
          </p:cNvPicPr>
          <p:nvPr/>
        </p:nvPicPr>
        <p:blipFill>
          <a:blip r:embed="rId2"/>
          <a:stretch>
            <a:fillRect/>
          </a:stretch>
        </p:blipFill>
        <p:spPr>
          <a:xfrm>
            <a:off x="1600199" y="1097280"/>
            <a:ext cx="8961120" cy="4480560"/>
          </a:xfrm>
          <a:prstGeom prst="rect">
            <a:avLst/>
          </a:prstGeom>
        </p:spPr>
      </p:pic>
      <p:sp>
        <p:nvSpPr>
          <p:cNvPr id="5" name="TextBox 4"/>
          <p:cNvSpPr txBox="1"/>
          <p:nvPr/>
        </p:nvSpPr>
        <p:spPr>
          <a:xfrm>
            <a:off x="822960" y="5715000"/>
            <a:ext cx="10607040" cy="822960"/>
          </a:xfrm>
          <a:prstGeom prst="rect">
            <a:avLst/>
          </a:prstGeom>
          <a:noFill/>
        </p:spPr>
        <p:txBody>
          <a:bodyPr wrap="square" lIns="0" rIns="0" tIns="0" bIns="0">
            <a:spAutoFit/>
          </a:bodyPr>
          <a:lstStyle/>
          <a:p>
            <a:pPr algn="l">
              <a:lnSpc>
                <a:spcPts val="1822"/>
              </a:lnSpc>
              <a:spcAft>
                <a:spcPts val="0"/>
              </a:spcAft>
            </a:pPr>
            <a:r>
              <a:rPr sz="1350" b="1" i="0">
                <a:solidFill>
                  <a:srgbClr val="1F3864"/>
                </a:solidFill>
                <a:latin typeface="Latin Modern Sans"/>
              </a:rPr>
              <a:t>Message.  </a:t>
            </a:r>
            <a:r>
              <a:rPr sz="1350" b="0" i="0">
                <a:solidFill>
                  <a:srgbClr val="1A1A1A"/>
                </a:solidFill>
                <a:latin typeface="Latin Modern Sans"/>
              </a:rPr>
              <a:t>Teachers leave at about the same rate as comparable professions. How many leave is not what makes teaching special; who leaves and where they go is (next block).</a:t>
            </a:r>
          </a:p>
        </p:txBody>
      </p:sp>
      <p:sp>
        <p:nvSpPr>
          <p:cNvPr id="6" name="Rounded Rectangle 5">
            <a:hlinkClick action="ppaction://hlinksldjump" r:id="rId3"/>
          </p:cNvPr>
          <p:cNvSpPr/>
          <p:nvPr/>
        </p:nvSpPr>
        <p:spPr>
          <a:xfrm>
            <a:off x="822960" y="6382512"/>
            <a:ext cx="1517904"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60152" cy="1005840"/>
          </a:xfrm>
          <a:prstGeom prst="rect">
            <a:avLst/>
          </a:prstGeom>
          <a:noFill/>
        </p:spPr>
        <p:txBody>
          <a:bodyPr wrap="square" lIns="0" rIns="0" tIns="0" bIns="0">
            <a:spAutoFit/>
          </a:bodyPr>
          <a:lstStyle/>
          <a:p>
            <a:pPr algn="ctr">
              <a:lnSpc>
                <a:spcPts val="5940"/>
              </a:lnSpc>
              <a:spcAft>
                <a:spcPts val="0"/>
              </a:spcAft>
            </a:pPr>
            <a:r>
              <a:rPr sz="4400" b="1" i="0">
                <a:solidFill>
                  <a:srgbClr val="1F3864"/>
                </a:solidFill>
                <a:latin typeface="Latin Modern Sans"/>
              </a:rPr>
              <a:t>2</a:t>
            </a:r>
          </a:p>
        </p:txBody>
      </p:sp>
      <p:sp>
        <p:nvSpPr>
          <p:cNvPr id="3" name="TextBox 2"/>
          <p:cNvSpPr txBox="1"/>
          <p:nvPr/>
        </p:nvSpPr>
        <p:spPr>
          <a:xfrm>
            <a:off x="914400" y="3611880"/>
            <a:ext cx="10360152" cy="548640"/>
          </a:xfrm>
          <a:prstGeom prst="rect">
            <a:avLst/>
          </a:prstGeom>
          <a:noFill/>
        </p:spPr>
        <p:txBody>
          <a:bodyPr wrap="square" lIns="0" rIns="0" tIns="0" bIns="0">
            <a:spAutoFit/>
          </a:bodyPr>
          <a:lstStyle/>
          <a:p>
            <a:pPr algn="ctr">
              <a:lnSpc>
                <a:spcPts val="3240"/>
              </a:lnSpc>
              <a:spcAft>
                <a:spcPts val="0"/>
              </a:spcAft>
            </a:pPr>
            <a:r>
              <a:rPr sz="2400" b="0" i="0">
                <a:solidFill>
                  <a:srgbClr val="1A1A1A"/>
                </a:solidFill>
                <a:latin typeface="Latin Modern Sans"/>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Of every 100 leavers (average, 2020–2024)</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18</a:t>
            </a:r>
          </a:p>
        </p:txBody>
      </p:sp>
      <p:pic>
        <p:nvPicPr>
          <p:cNvPr id="4" name="Picture 3" descr="flow_employed_5yr.png"/>
          <p:cNvPicPr>
            <a:picLocks noChangeAspect="1"/>
          </p:cNvPicPr>
          <p:nvPr/>
        </p:nvPicPr>
        <p:blipFill>
          <a:blip r:embed="rId2"/>
          <a:stretch>
            <a:fillRect/>
          </a:stretch>
        </p:blipFill>
        <p:spPr>
          <a:xfrm>
            <a:off x="1309977" y="1051560"/>
            <a:ext cx="9541565" cy="4572000"/>
          </a:xfrm>
          <a:prstGeom prst="rect">
            <a:avLst/>
          </a:prstGeom>
        </p:spPr>
      </p:pic>
      <p:sp>
        <p:nvSpPr>
          <p:cNvPr id="5" name="TextBox 4"/>
          <p:cNvSpPr txBox="1"/>
          <p:nvPr/>
        </p:nvSpPr>
        <p:spPr>
          <a:xfrm>
            <a:off x="822960" y="5806440"/>
            <a:ext cx="10607040" cy="822960"/>
          </a:xfrm>
          <a:prstGeom prst="rect">
            <a:avLst/>
          </a:prstGeom>
          <a:noFill/>
        </p:spPr>
        <p:txBody>
          <a:bodyPr wrap="square" lIns="0" rIns="0" tIns="0" bIns="0">
            <a:spAutoFit/>
          </a:bodyPr>
          <a:lstStyle/>
          <a:p>
            <a:pPr algn="l">
              <a:lnSpc>
                <a:spcPts val="1822"/>
              </a:lnSpc>
              <a:spcAft>
                <a:spcPts val="0"/>
              </a:spcAft>
            </a:pPr>
            <a:r>
              <a:rPr sz="1350" b="1" i="0">
                <a:solidFill>
                  <a:srgbClr val="1F3864"/>
                </a:solidFill>
                <a:latin typeface="Latin Modern Sans"/>
              </a:rPr>
              <a:t>Message.  </a:t>
            </a:r>
            <a:r>
              <a:rPr sz="1350" b="0" i="0">
                <a:solidFill>
                  <a:srgbClr val="1A1A1A"/>
                </a:solidFill>
                <a:latin typeface="Latin Modern Sans"/>
              </a:rPr>
              <a:t>A third find another job; a third retire; the rest split between early labor-force exit and unemployment.</a:t>
            </a:r>
          </a:p>
        </p:txBody>
      </p:sp>
      <p:sp>
        <p:nvSpPr>
          <p:cNvPr id="6" name="Rounded Rectangle 5">
            <a:hlinkClick action="ppaction://hlinksldjump" r:id="rId3"/>
          </p:cNvPr>
          <p:cNvSpPr/>
          <p:nvPr/>
        </p:nvSpPr>
        <p:spPr>
          <a:xfrm>
            <a:off x="822960" y="6382512"/>
            <a:ext cx="1595628"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vs NCES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Where the employed leavers go</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19</a:t>
            </a:r>
          </a:p>
        </p:txBody>
      </p:sp>
      <p:pic>
        <p:nvPicPr>
          <p:cNvPr id="4" name="Picture 3" descr="occ_all_slide.png"/>
          <p:cNvPicPr>
            <a:picLocks noChangeAspect="1"/>
          </p:cNvPicPr>
          <p:nvPr/>
        </p:nvPicPr>
        <p:blipFill>
          <a:blip r:embed="rId2"/>
          <a:stretch>
            <a:fillRect/>
          </a:stretch>
        </p:blipFill>
        <p:spPr>
          <a:xfrm>
            <a:off x="671538" y="1051560"/>
            <a:ext cx="10818442" cy="4754880"/>
          </a:xfrm>
          <a:prstGeom prst="rect">
            <a:avLst/>
          </a:prstGeom>
        </p:spPr>
      </p:pic>
      <p:sp>
        <p:nvSpPr>
          <p:cNvPr id="5" name="TextBox 4"/>
          <p:cNvSpPr txBox="1"/>
          <p:nvPr/>
        </p:nvSpPr>
        <p:spPr>
          <a:xfrm>
            <a:off x="822960" y="5943600"/>
            <a:ext cx="10607040" cy="822960"/>
          </a:xfrm>
          <a:prstGeom prst="rect">
            <a:avLst/>
          </a:prstGeom>
          <a:noFill/>
        </p:spPr>
        <p:txBody>
          <a:bodyPr wrap="square" lIns="0" rIns="0" tIns="0" bIns="0">
            <a:spAutoFit/>
          </a:bodyPr>
          <a:lstStyle/>
          <a:p>
            <a:pPr algn="l">
              <a:lnSpc>
                <a:spcPts val="1755"/>
              </a:lnSpc>
              <a:spcAft>
                <a:spcPts val="0"/>
              </a:spcAft>
            </a:pPr>
            <a:r>
              <a:rPr sz="1300" b="1" i="0">
                <a:solidFill>
                  <a:srgbClr val="1F3864"/>
                </a:solidFill>
                <a:latin typeface="Latin Modern Sans"/>
              </a:rPr>
              <a:t>Message.  </a:t>
            </a:r>
            <a:r>
              <a:rPr sz="1300" b="0" i="0">
                <a:solidFill>
                  <a:srgbClr val="1A1A1A"/>
                </a:solidFill>
                <a:latin typeface="Latin Modern Sans"/>
              </a:rPr>
              <a:t>Half of the employed leavers move to jobs that do not require a college degree (in red): an exit from the profession, not a step up.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Who leaves the labor force before 55 (average, 2020–2024)</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20</a:t>
            </a:r>
          </a:p>
        </p:txBody>
      </p:sp>
      <p:pic>
        <p:nvPicPr>
          <p:cNvPr id="4" name="Picture 3" descr="flow_olf55_5yr.png"/>
          <p:cNvPicPr>
            <a:picLocks noChangeAspect="1"/>
          </p:cNvPicPr>
          <p:nvPr/>
        </p:nvPicPr>
        <p:blipFill>
          <a:blip r:embed="rId2"/>
          <a:stretch>
            <a:fillRect/>
          </a:stretch>
        </p:blipFill>
        <p:spPr>
          <a:xfrm>
            <a:off x="1309977" y="1051560"/>
            <a:ext cx="9541565" cy="4572000"/>
          </a:xfrm>
          <a:prstGeom prst="rect">
            <a:avLst/>
          </a:prstGeom>
        </p:spPr>
      </p:pic>
      <p:sp>
        <p:nvSpPr>
          <p:cNvPr id="5" name="TextBox 4"/>
          <p:cNvSpPr txBox="1"/>
          <p:nvPr/>
        </p:nvSpPr>
        <p:spPr>
          <a:xfrm>
            <a:off x="822960" y="5806440"/>
            <a:ext cx="10607040" cy="822960"/>
          </a:xfrm>
          <a:prstGeom prst="rect">
            <a:avLst/>
          </a:prstGeom>
          <a:noFill/>
        </p:spPr>
        <p:txBody>
          <a:bodyPr wrap="square" lIns="0" rIns="0" tIns="0" bIns="0">
            <a:spAutoFit/>
          </a:bodyPr>
          <a:lstStyle/>
          <a:p>
            <a:pPr algn="l">
              <a:lnSpc>
                <a:spcPts val="1822"/>
              </a:lnSpc>
              <a:spcAft>
                <a:spcPts val="0"/>
              </a:spcAft>
            </a:pPr>
            <a:r>
              <a:rPr sz="1350" b="1" i="0">
                <a:solidFill>
                  <a:srgbClr val="1F3864"/>
                </a:solidFill>
                <a:latin typeface="Latin Modern Sans"/>
              </a:rPr>
              <a:t>Message.  </a:t>
            </a:r>
            <a:r>
              <a:rPr sz="1350" b="0" i="0">
                <a:solidFill>
                  <a:srgbClr val="1A1A1A"/>
                </a:solidFill>
                <a:latin typeface="Latin Modern Sans"/>
              </a:rPr>
              <a:t>Early labor-force exit is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And the youngest of them leave to study</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21</a:t>
            </a:r>
          </a:p>
        </p:txBody>
      </p:sp>
      <p:pic>
        <p:nvPicPr>
          <p:cNvPr id="4" name="Picture 3" descr="study_olf55.png"/>
          <p:cNvPicPr>
            <a:picLocks noChangeAspect="1"/>
          </p:cNvPicPr>
          <p:nvPr/>
        </p:nvPicPr>
        <p:blipFill>
          <a:blip r:embed="rId2"/>
          <a:stretch>
            <a:fillRect/>
          </a:stretch>
        </p:blipFill>
        <p:spPr>
          <a:xfrm>
            <a:off x="1309977" y="1051560"/>
            <a:ext cx="9541565" cy="4572000"/>
          </a:xfrm>
          <a:prstGeom prst="rect">
            <a:avLst/>
          </a:prstGeom>
        </p:spPr>
      </p:pic>
      <p:sp>
        <p:nvSpPr>
          <p:cNvPr id="5" name="TextBox 4"/>
          <p:cNvSpPr txBox="1"/>
          <p:nvPr/>
        </p:nvSpPr>
        <p:spPr>
          <a:xfrm>
            <a:off x="822960" y="5806440"/>
            <a:ext cx="10607040" cy="822960"/>
          </a:xfrm>
          <a:prstGeom prst="rect">
            <a:avLst/>
          </a:prstGeom>
          <a:noFill/>
        </p:spPr>
        <p:txBody>
          <a:bodyPr wrap="square" lIns="0" rIns="0" tIns="0" bIns="0">
            <a:spAutoFit/>
          </a:bodyPr>
          <a:lstStyle/>
          <a:p>
            <a:pPr algn="l">
              <a:lnSpc>
                <a:spcPts val="1822"/>
              </a:lnSpc>
              <a:spcAft>
                <a:spcPts val="0"/>
              </a:spcAft>
            </a:pPr>
            <a:r>
              <a:rPr sz="1350" b="1" i="0">
                <a:solidFill>
                  <a:srgbClr val="1F3864"/>
                </a:solidFill>
                <a:latin typeface="Latin Modern Sans"/>
              </a:rPr>
              <a:t>Message.  </a:t>
            </a:r>
            <a:r>
              <a:rPr sz="1350" b="0" i="0">
                <a:solidFill>
                  <a:srgbClr val="1A1A1A"/>
                </a:solidFill>
                <a:latin typeface="Latin Modern Sans"/>
              </a:rPr>
              <a:t>Among teachers who leave the labor force before 55, studying is the story of the young and the childless: 45% of those under 30 are enrolled in school, against 3% of the mothers with a child at home.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What this says for policy: three margins, quantified</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22</a:t>
            </a:r>
          </a:p>
        </p:txBody>
      </p:sp>
      <p:sp>
        <p:nvSpPr>
          <p:cNvPr id="4" name="TextBox 3"/>
          <p:cNvSpPr txBox="1"/>
          <p:nvPr/>
        </p:nvSpPr>
        <p:spPr>
          <a:xfrm>
            <a:off x="822960" y="1554480"/>
            <a:ext cx="10607040" cy="5029200"/>
          </a:xfrm>
          <a:prstGeom prst="rect">
            <a:avLst/>
          </a:prstGeom>
          <a:noFill/>
        </p:spPr>
        <p:txBody>
          <a:bodyPr wrap="square" lIns="0" rIns="0" tIns="0" bIns="0">
            <a:spAutoFit/>
          </a:bodyPr>
          <a:lstStyle/>
          <a:p>
            <a:pPr algn="l">
              <a:lnSpc>
                <a:spcPts val="2160"/>
              </a:lnSpc>
              <a:spcAft>
                <a:spcPts val="2400"/>
              </a:spcAft>
            </a:pPr>
            <a:r>
              <a:rPr sz="1600" b="1" i="0">
                <a:solidFill>
                  <a:srgbClr val="1F3864"/>
                </a:solidFill>
                <a:latin typeface="Latin Modern Sans"/>
              </a:rPr>
              <a:t>▸   </a:t>
            </a:r>
            <a:r>
              <a:rPr sz="1600" b="1" i="0">
                <a:solidFill>
                  <a:srgbClr val="1F3864"/>
                </a:solidFill>
                <a:latin typeface="Latin Modern Sans"/>
              </a:rPr>
              <a:t>Retirees. </a:t>
            </a:r>
            <a:r>
              <a:rPr sz="1600" b="0" i="0">
                <a:solidFill>
                  <a:srgbClr val="1A1A1A"/>
                </a:solidFill>
                <a:latin typeface="Latin Modern Sans"/>
              </a:rPr>
              <a:t>About 3% of teachers retire each year, a third of all exits. Delaying retirement is a short-term margin: it extends careers, it does not reintegrate anyone.</a:t>
            </a:r>
          </a:p>
          <a:p>
            <a:pPr algn="l">
              <a:lnSpc>
                <a:spcPts val="2160"/>
              </a:lnSpc>
              <a:spcAft>
                <a:spcPts val="2400"/>
              </a:spcAft>
            </a:pPr>
            <a:r>
              <a:rPr sz="1600" b="1" i="0">
                <a:solidFill>
                  <a:srgbClr val="1F3864"/>
                </a:solidFill>
                <a:latin typeface="Latin Modern Sans"/>
              </a:rPr>
              <a:t>▸   </a:t>
            </a:r>
            <a:r>
              <a:rPr sz="1600" b="1" i="0">
                <a:solidFill>
                  <a:srgbClr val="1F3864"/>
                </a:solidFill>
                <a:latin typeface="Latin Modern Sans"/>
              </a:rPr>
              <a:t>Switchers. </a:t>
            </a:r>
            <a:r>
              <a:rPr sz="1600" b="0" i="0">
                <a:solidFill>
                  <a:srgbClr val="1A1A1A"/>
                </a:solidFill>
                <a:latin typeface="Latin Modern Sans"/>
              </a:rPr>
              <a:t>About 2% of teachers move to another job each year, half of them to jobs that do not require a degree. A real margin, but a moderate one: shortages cannot be closed through retention alone.</a:t>
            </a:r>
          </a:p>
          <a:p>
            <a:pPr algn="l">
              <a:lnSpc>
                <a:spcPts val="2160"/>
              </a:lnSpc>
              <a:spcAft>
                <a:spcPts val="0"/>
              </a:spcAft>
            </a:pPr>
            <a:r>
              <a:rPr sz="1600" b="1" i="0">
                <a:solidFill>
                  <a:srgbClr val="1F3864"/>
                </a:solidFill>
                <a:latin typeface="Latin Modern Sans"/>
              </a:rPr>
              <a:t>▸   </a:t>
            </a:r>
            <a:r>
              <a:rPr sz="1600" b="1" i="0">
                <a:solidFill>
                  <a:srgbClr val="1F3864"/>
                </a:solidFill>
                <a:latin typeface="Latin Modern Sans"/>
              </a:rPr>
              <a:t>Early exits. </a:t>
            </a:r>
            <a:r>
              <a:rPr sz="1600" b="0" i="0">
                <a:solidFill>
                  <a:srgbClr val="1A1A1A"/>
                </a:solidFill>
                <a:latin typeface="Latin Modern Sans"/>
              </a:rPr>
              <a:t>About 2% of teachers leave the labor force before 55 each year. Mostly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60152" cy="1005840"/>
          </a:xfrm>
          <a:prstGeom prst="rect">
            <a:avLst/>
          </a:prstGeom>
          <a:noFill/>
        </p:spPr>
        <p:txBody>
          <a:bodyPr wrap="square" lIns="0" rIns="0" tIns="0" bIns="0">
            <a:spAutoFit/>
          </a:bodyPr>
          <a:lstStyle/>
          <a:p>
            <a:pPr algn="ctr">
              <a:lnSpc>
                <a:spcPts val="5940"/>
              </a:lnSpc>
              <a:spcAft>
                <a:spcPts val="0"/>
              </a:spcAft>
            </a:pPr>
            <a:r>
              <a:rPr sz="4400" b="1" i="0">
                <a:solidFill>
                  <a:srgbClr val="1F3864"/>
                </a:solidFill>
                <a:latin typeface="Latin Modern Sans"/>
              </a:rPr>
              <a:t>3</a:t>
            </a:r>
          </a:p>
        </p:txBody>
      </p:sp>
      <p:sp>
        <p:nvSpPr>
          <p:cNvPr id="3" name="TextBox 2"/>
          <p:cNvSpPr txBox="1"/>
          <p:nvPr/>
        </p:nvSpPr>
        <p:spPr>
          <a:xfrm>
            <a:off x="914400" y="3611880"/>
            <a:ext cx="10360152" cy="548640"/>
          </a:xfrm>
          <a:prstGeom prst="rect">
            <a:avLst/>
          </a:prstGeom>
          <a:noFill/>
        </p:spPr>
        <p:txBody>
          <a:bodyPr wrap="square" lIns="0" rIns="0" tIns="0" bIns="0">
            <a:spAutoFit/>
          </a:bodyPr>
          <a:lstStyle/>
          <a:p>
            <a:pPr algn="ctr">
              <a:lnSpc>
                <a:spcPts val="3240"/>
              </a:lnSpc>
              <a:spcAft>
                <a:spcPts val="0"/>
              </a:spcAft>
            </a:pPr>
            <a:r>
              <a:rPr sz="2400" b="0" i="0">
                <a:solidFill>
                  <a:srgbClr val="1A1A1A"/>
                </a:solidFill>
                <a:latin typeface="Latin Modern Sans"/>
              </a:rPr>
              <a:t>Correlations: why they leave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Specification</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24</a:t>
            </a:r>
          </a:p>
        </p:txBody>
      </p:sp>
      <p:pic>
        <p:nvPicPr>
          <p:cNvPr id="4" name="Picture 3" descr="equation3.png"/>
          <p:cNvPicPr>
            <a:picLocks noChangeAspect="1"/>
          </p:cNvPicPr>
          <p:nvPr/>
        </p:nvPicPr>
        <p:blipFill>
          <a:blip r:embed="rId2"/>
          <a:stretch>
            <a:fillRect/>
          </a:stretch>
        </p:blipFill>
        <p:spPr>
          <a:xfrm>
            <a:off x="1737360" y="1205595"/>
            <a:ext cx="8686800" cy="1109248"/>
          </a:xfrm>
          <a:prstGeom prst="rect">
            <a:avLst/>
          </a:prstGeom>
        </p:spPr>
      </p:pic>
      <p:cxnSp>
        <p:nvCxnSpPr>
          <p:cNvPr id="5" name="Connector 4"/>
          <p:cNvCxnSpPr/>
          <p:nvPr/>
        </p:nvCxnSpPr>
        <p:spPr>
          <a:xfrm>
            <a:off x="1463040" y="2560320"/>
            <a:ext cx="978408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463040" y="2651760"/>
            <a:ext cx="914400" cy="365760"/>
          </a:xfrm>
          <a:prstGeom prst="rect">
            <a:avLst/>
          </a:prstGeom>
          <a:noFill/>
        </p:spPr>
        <p:txBody>
          <a:bodyPr wrap="square" lIns="0" rIns="0" tIns="0" bIns="0">
            <a:spAutoFit/>
          </a:bodyPr>
          <a:lstStyle/>
          <a:p>
            <a:pPr algn="l">
              <a:lnSpc>
                <a:spcPts val="1687"/>
              </a:lnSpc>
              <a:spcAft>
                <a:spcPts val="0"/>
              </a:spcAft>
            </a:pPr>
            <a:r>
              <a:rPr sz="1250" b="1" i="0">
                <a:solidFill>
                  <a:srgbClr val="1F3864"/>
                </a:solidFill>
                <a:latin typeface="Latin Modern Sans"/>
              </a:rPr>
              <a:t>y</a:t>
            </a:r>
          </a:p>
        </p:txBody>
      </p:sp>
      <p:sp>
        <p:nvSpPr>
          <p:cNvPr id="7" name="TextBox 6"/>
          <p:cNvSpPr txBox="1"/>
          <p:nvPr/>
        </p:nvSpPr>
        <p:spPr>
          <a:xfrm>
            <a:off x="2468880" y="2651760"/>
            <a:ext cx="8778240" cy="365760"/>
          </a:xfrm>
          <a:prstGeom prst="rect">
            <a:avLst/>
          </a:prstGeom>
          <a:noFill/>
        </p:spPr>
        <p:txBody>
          <a:bodyPr wrap="square" lIns="0" rIns="0" tIns="0" bIns="0">
            <a:spAutoFit/>
          </a:bodyPr>
          <a:lstStyle/>
          <a:p>
            <a:pPr algn="l">
              <a:lnSpc>
                <a:spcPts val="1687"/>
              </a:lnSpc>
              <a:spcAft>
                <a:spcPts val="0"/>
              </a:spcAft>
            </a:pPr>
            <a:r>
              <a:rPr sz="1250" b="0" i="0">
                <a:solidFill>
                  <a:srgbClr val="1A1A1A"/>
                </a:solidFill>
                <a:latin typeface="Latin Modern Sans"/>
              </a:rPr>
              <a:t>teacher i left teaching in year t</a:t>
            </a:r>
          </a:p>
        </p:txBody>
      </p:sp>
      <p:sp>
        <p:nvSpPr>
          <p:cNvPr id="8" name="TextBox 7"/>
          <p:cNvSpPr txBox="1"/>
          <p:nvPr/>
        </p:nvSpPr>
        <p:spPr>
          <a:xfrm>
            <a:off x="1463040" y="3017520"/>
            <a:ext cx="914400" cy="365760"/>
          </a:xfrm>
          <a:prstGeom prst="rect">
            <a:avLst/>
          </a:prstGeom>
          <a:noFill/>
        </p:spPr>
        <p:txBody>
          <a:bodyPr wrap="square" lIns="0" rIns="0" tIns="0" bIns="0">
            <a:spAutoFit/>
          </a:bodyPr>
          <a:lstStyle/>
          <a:p>
            <a:pPr algn="l">
              <a:lnSpc>
                <a:spcPts val="1687"/>
              </a:lnSpc>
              <a:spcAft>
                <a:spcPts val="0"/>
              </a:spcAft>
            </a:pPr>
            <a:r>
              <a:rPr sz="1250" b="1" i="0">
                <a:solidFill>
                  <a:srgbClr val="1F3864"/>
                </a:solidFill>
                <a:latin typeface="Latin Modern Sans"/>
              </a:rPr>
              <a:t>a</a:t>
            </a:r>
          </a:p>
        </p:txBody>
      </p:sp>
      <p:sp>
        <p:nvSpPr>
          <p:cNvPr id="9" name="TextBox 8"/>
          <p:cNvSpPr txBox="1"/>
          <p:nvPr/>
        </p:nvSpPr>
        <p:spPr>
          <a:xfrm>
            <a:off x="2468880" y="3017520"/>
            <a:ext cx="8778240" cy="365760"/>
          </a:xfrm>
          <a:prstGeom prst="rect">
            <a:avLst/>
          </a:prstGeom>
          <a:noFill/>
        </p:spPr>
        <p:txBody>
          <a:bodyPr wrap="square" lIns="0" rIns="0" tIns="0" bIns="0">
            <a:spAutoFit/>
          </a:bodyPr>
          <a:lstStyle/>
          <a:p>
            <a:pPr algn="l">
              <a:lnSpc>
                <a:spcPts val="1687"/>
              </a:lnSpc>
              <a:spcAft>
                <a:spcPts val="0"/>
              </a:spcAft>
            </a:pPr>
            <a:r>
              <a:rPr sz="1250" b="0" i="0">
                <a:solidFill>
                  <a:srgbClr val="1A1A1A"/>
                </a:solidFill>
                <a:latin typeface="Latin Modern Sans"/>
              </a:rPr>
              <a:t>job attachment: full-year contract, part-time contract</a:t>
            </a:r>
          </a:p>
        </p:txBody>
      </p:sp>
      <p:sp>
        <p:nvSpPr>
          <p:cNvPr id="10" name="TextBox 9"/>
          <p:cNvSpPr txBox="1"/>
          <p:nvPr/>
        </p:nvSpPr>
        <p:spPr>
          <a:xfrm>
            <a:off x="1463040" y="3383279"/>
            <a:ext cx="914400" cy="365760"/>
          </a:xfrm>
          <a:prstGeom prst="rect">
            <a:avLst/>
          </a:prstGeom>
          <a:noFill/>
        </p:spPr>
        <p:txBody>
          <a:bodyPr wrap="square" lIns="0" rIns="0" tIns="0" bIns="0">
            <a:spAutoFit/>
          </a:bodyPr>
          <a:lstStyle/>
          <a:p>
            <a:pPr algn="l">
              <a:lnSpc>
                <a:spcPts val="1687"/>
              </a:lnSpc>
              <a:spcAft>
                <a:spcPts val="0"/>
              </a:spcAft>
            </a:pPr>
            <a:r>
              <a:rPr sz="1250" b="1" i="0">
                <a:solidFill>
                  <a:srgbClr val="1F3864"/>
                </a:solidFill>
                <a:latin typeface="Latin Modern Sans"/>
              </a:rPr>
              <a:t>c</a:t>
            </a:r>
          </a:p>
        </p:txBody>
      </p:sp>
      <p:sp>
        <p:nvSpPr>
          <p:cNvPr id="11" name="TextBox 10"/>
          <p:cNvSpPr txBox="1"/>
          <p:nvPr/>
        </p:nvSpPr>
        <p:spPr>
          <a:xfrm>
            <a:off x="2468880" y="3383279"/>
            <a:ext cx="8778240" cy="365760"/>
          </a:xfrm>
          <a:prstGeom prst="rect">
            <a:avLst/>
          </a:prstGeom>
          <a:noFill/>
        </p:spPr>
        <p:txBody>
          <a:bodyPr wrap="square" lIns="0" rIns="0" tIns="0" bIns="0">
            <a:spAutoFit/>
          </a:bodyPr>
          <a:lstStyle/>
          <a:p>
            <a:pPr algn="l">
              <a:lnSpc>
                <a:spcPts val="1687"/>
              </a:lnSpc>
              <a:spcAft>
                <a:spcPts val="0"/>
              </a:spcAft>
            </a:pPr>
            <a:r>
              <a:rPr sz="1250" b="0" i="0">
                <a:solidFill>
                  <a:srgbClr val="1A1A1A"/>
                </a:solidFill>
                <a:latin typeface="Latin Modern Sans"/>
              </a:rPr>
              <a:t>pay and security: pension plan, public sector, bottom-quartile household income</a:t>
            </a:r>
          </a:p>
        </p:txBody>
      </p:sp>
      <p:sp>
        <p:nvSpPr>
          <p:cNvPr id="12" name="TextBox 11"/>
          <p:cNvSpPr txBox="1"/>
          <p:nvPr/>
        </p:nvSpPr>
        <p:spPr>
          <a:xfrm>
            <a:off x="1463040" y="3749039"/>
            <a:ext cx="914400" cy="365760"/>
          </a:xfrm>
          <a:prstGeom prst="rect">
            <a:avLst/>
          </a:prstGeom>
          <a:noFill/>
        </p:spPr>
        <p:txBody>
          <a:bodyPr wrap="square" lIns="0" rIns="0" tIns="0" bIns="0">
            <a:spAutoFit/>
          </a:bodyPr>
          <a:lstStyle/>
          <a:p>
            <a:pPr algn="l">
              <a:lnSpc>
                <a:spcPts val="1687"/>
              </a:lnSpc>
              <a:spcAft>
                <a:spcPts val="0"/>
              </a:spcAft>
            </a:pPr>
            <a:r>
              <a:rPr sz="1250" b="1" i="0">
                <a:solidFill>
                  <a:srgbClr val="1F3864"/>
                </a:solidFill>
                <a:latin typeface="Latin Modern Sans"/>
              </a:rPr>
              <a:t>f</a:t>
            </a:r>
          </a:p>
        </p:txBody>
      </p:sp>
      <p:sp>
        <p:nvSpPr>
          <p:cNvPr id="13" name="TextBox 12"/>
          <p:cNvSpPr txBox="1"/>
          <p:nvPr/>
        </p:nvSpPr>
        <p:spPr>
          <a:xfrm>
            <a:off x="2468880" y="3749039"/>
            <a:ext cx="8778240" cy="365760"/>
          </a:xfrm>
          <a:prstGeom prst="rect">
            <a:avLst/>
          </a:prstGeom>
          <a:noFill/>
        </p:spPr>
        <p:txBody>
          <a:bodyPr wrap="square" lIns="0" rIns="0" tIns="0" bIns="0">
            <a:spAutoFit/>
          </a:bodyPr>
          <a:lstStyle/>
          <a:p>
            <a:pPr algn="l">
              <a:lnSpc>
                <a:spcPts val="1687"/>
              </a:lnSpc>
              <a:spcAft>
                <a:spcPts val="0"/>
              </a:spcAft>
            </a:pPr>
            <a:r>
              <a:rPr sz="1250" b="0" i="0">
                <a:solidFill>
                  <a:srgbClr val="1A1A1A"/>
                </a:solidFill>
                <a:latin typeface="Latin Modern Sans"/>
              </a:rPr>
              <a:t>family: new baby, children, marital status</a:t>
            </a:r>
          </a:p>
        </p:txBody>
      </p:sp>
      <p:sp>
        <p:nvSpPr>
          <p:cNvPr id="14" name="TextBox 13"/>
          <p:cNvSpPr txBox="1"/>
          <p:nvPr/>
        </p:nvSpPr>
        <p:spPr>
          <a:xfrm>
            <a:off x="1463040" y="4114800"/>
            <a:ext cx="914400" cy="365760"/>
          </a:xfrm>
          <a:prstGeom prst="rect">
            <a:avLst/>
          </a:prstGeom>
          <a:noFill/>
        </p:spPr>
        <p:txBody>
          <a:bodyPr wrap="square" lIns="0" rIns="0" tIns="0" bIns="0">
            <a:spAutoFit/>
          </a:bodyPr>
          <a:lstStyle/>
          <a:p>
            <a:pPr algn="l">
              <a:lnSpc>
                <a:spcPts val="1687"/>
              </a:lnSpc>
              <a:spcAft>
                <a:spcPts val="0"/>
              </a:spcAft>
            </a:pPr>
            <a:r>
              <a:rPr sz="1250" b="1" i="0">
                <a:solidFill>
                  <a:srgbClr val="1F3864"/>
                </a:solidFill>
                <a:latin typeface="Latin Modern Sans"/>
              </a:rPr>
              <a:t>h</a:t>
            </a:r>
          </a:p>
        </p:txBody>
      </p:sp>
      <p:sp>
        <p:nvSpPr>
          <p:cNvPr id="15" name="TextBox 14"/>
          <p:cNvSpPr txBox="1"/>
          <p:nvPr/>
        </p:nvSpPr>
        <p:spPr>
          <a:xfrm>
            <a:off x="2468880" y="4114800"/>
            <a:ext cx="8778240" cy="365760"/>
          </a:xfrm>
          <a:prstGeom prst="rect">
            <a:avLst/>
          </a:prstGeom>
          <a:noFill/>
        </p:spPr>
        <p:txBody>
          <a:bodyPr wrap="square" lIns="0" rIns="0" tIns="0" bIns="0">
            <a:spAutoFit/>
          </a:bodyPr>
          <a:lstStyle/>
          <a:p>
            <a:pPr algn="l">
              <a:lnSpc>
                <a:spcPts val="1687"/>
              </a:lnSpc>
              <a:spcAft>
                <a:spcPts val="0"/>
              </a:spcAft>
            </a:pPr>
            <a:r>
              <a:rPr sz="1250" b="0" i="0">
                <a:solidFill>
                  <a:srgbClr val="1A1A1A"/>
                </a:solidFill>
                <a:latin typeface="Latin Modern Sans"/>
              </a:rPr>
              <a:t>health: self-reported health, disability</a:t>
            </a:r>
          </a:p>
        </p:txBody>
      </p:sp>
      <p:sp>
        <p:nvSpPr>
          <p:cNvPr id="16" name="TextBox 15"/>
          <p:cNvSpPr txBox="1"/>
          <p:nvPr/>
        </p:nvSpPr>
        <p:spPr>
          <a:xfrm>
            <a:off x="1463040" y="4480560"/>
            <a:ext cx="914400" cy="365760"/>
          </a:xfrm>
          <a:prstGeom prst="rect">
            <a:avLst/>
          </a:prstGeom>
          <a:noFill/>
        </p:spPr>
        <p:txBody>
          <a:bodyPr wrap="square" lIns="0" rIns="0" tIns="0" bIns="0">
            <a:spAutoFit/>
          </a:bodyPr>
          <a:lstStyle/>
          <a:p>
            <a:pPr algn="l">
              <a:lnSpc>
                <a:spcPts val="1687"/>
              </a:lnSpc>
              <a:spcAft>
                <a:spcPts val="0"/>
              </a:spcAft>
            </a:pPr>
            <a:r>
              <a:rPr sz="1250" b="1" i="0">
                <a:solidFill>
                  <a:srgbClr val="1F3864"/>
                </a:solidFill>
                <a:latin typeface="Latin Modern Sans"/>
              </a:rPr>
              <a:t>d</a:t>
            </a:r>
          </a:p>
        </p:txBody>
      </p:sp>
      <p:sp>
        <p:nvSpPr>
          <p:cNvPr id="17" name="TextBox 16"/>
          <p:cNvSpPr txBox="1"/>
          <p:nvPr/>
        </p:nvSpPr>
        <p:spPr>
          <a:xfrm>
            <a:off x="2468880" y="4480560"/>
            <a:ext cx="8778240" cy="365760"/>
          </a:xfrm>
          <a:prstGeom prst="rect">
            <a:avLst/>
          </a:prstGeom>
          <a:noFill/>
        </p:spPr>
        <p:txBody>
          <a:bodyPr wrap="square" lIns="0" rIns="0" tIns="0" bIns="0">
            <a:spAutoFit/>
          </a:bodyPr>
          <a:lstStyle/>
          <a:p>
            <a:pPr algn="l">
              <a:lnSpc>
                <a:spcPts val="1687"/>
              </a:lnSpc>
              <a:spcAft>
                <a:spcPts val="0"/>
              </a:spcAft>
            </a:pPr>
            <a:r>
              <a:rPr sz="1250" b="0" i="0">
                <a:solidFill>
                  <a:srgbClr val="1A1A1A"/>
                </a:solidFill>
                <a:latin typeface="Latin Modern Sans"/>
              </a:rPr>
              <a:t>demographics: age, sex, race, education</a:t>
            </a:r>
          </a:p>
        </p:txBody>
      </p:sp>
      <p:sp>
        <p:nvSpPr>
          <p:cNvPr id="18" name="TextBox 17"/>
          <p:cNvSpPr txBox="1"/>
          <p:nvPr/>
        </p:nvSpPr>
        <p:spPr>
          <a:xfrm>
            <a:off x="1463040" y="4846320"/>
            <a:ext cx="914400" cy="365760"/>
          </a:xfrm>
          <a:prstGeom prst="rect">
            <a:avLst/>
          </a:prstGeom>
          <a:noFill/>
        </p:spPr>
        <p:txBody>
          <a:bodyPr wrap="square" lIns="0" rIns="0" tIns="0" bIns="0">
            <a:spAutoFit/>
          </a:bodyPr>
          <a:lstStyle/>
          <a:p>
            <a:pPr algn="l">
              <a:lnSpc>
                <a:spcPts val="1687"/>
              </a:lnSpc>
              <a:spcAft>
                <a:spcPts val="0"/>
              </a:spcAft>
            </a:pPr>
            <a:r>
              <a:rPr sz="1250" b="1" i="0">
                <a:solidFill>
                  <a:srgbClr val="1F3864"/>
                </a:solidFill>
                <a:latin typeface="Latin Modern Sans"/>
              </a:rPr>
              <a:t>δt</a:t>
            </a:r>
          </a:p>
        </p:txBody>
      </p:sp>
      <p:sp>
        <p:nvSpPr>
          <p:cNvPr id="19" name="TextBox 18"/>
          <p:cNvSpPr txBox="1"/>
          <p:nvPr/>
        </p:nvSpPr>
        <p:spPr>
          <a:xfrm>
            <a:off x="2468880" y="4846320"/>
            <a:ext cx="8778240" cy="365760"/>
          </a:xfrm>
          <a:prstGeom prst="rect">
            <a:avLst/>
          </a:prstGeom>
          <a:noFill/>
        </p:spPr>
        <p:txBody>
          <a:bodyPr wrap="square" lIns="0" rIns="0" tIns="0" bIns="0">
            <a:spAutoFit/>
          </a:bodyPr>
          <a:lstStyle/>
          <a:p>
            <a:pPr algn="l">
              <a:lnSpc>
                <a:spcPts val="1687"/>
              </a:lnSpc>
              <a:spcAft>
                <a:spcPts val="0"/>
              </a:spcAft>
            </a:pPr>
            <a:r>
              <a:rPr sz="1250" b="0" i="0">
                <a:solidFill>
                  <a:srgbClr val="1A1A1A"/>
                </a:solidFill>
                <a:latin typeface="Latin Modern Sans"/>
              </a:rPr>
              <a:t>year fixed effects (state FE variant in the appendix)</a:t>
            </a:r>
          </a:p>
        </p:txBody>
      </p:sp>
      <p:cxnSp>
        <p:nvCxnSpPr>
          <p:cNvPr id="20" name="Connector 19"/>
          <p:cNvCxnSpPr/>
          <p:nvPr/>
        </p:nvCxnSpPr>
        <p:spPr>
          <a:xfrm>
            <a:off x="1463040" y="5248656"/>
            <a:ext cx="978408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63040" y="5376672"/>
            <a:ext cx="9601200" cy="365760"/>
          </a:xfrm>
          <a:prstGeom prst="rect">
            <a:avLst/>
          </a:prstGeom>
          <a:noFill/>
        </p:spPr>
        <p:txBody>
          <a:bodyPr wrap="square" lIns="0" rIns="0" tIns="0" bIns="0">
            <a:spAutoFit/>
          </a:bodyPr>
          <a:lstStyle/>
          <a:p>
            <a:pPr algn="l">
              <a:lnSpc>
                <a:spcPts val="1687"/>
              </a:lnSpc>
              <a:spcAft>
                <a:spcPts val="0"/>
              </a:spcAft>
            </a:pPr>
            <a:r>
              <a:rPr sz="1250" b="0" i="0">
                <a:solidFill>
                  <a:srgbClr val="1A1A1A"/>
                </a:solidFill>
                <a:latin typeface="Latin Modern Sans"/>
              </a:rPr>
              <a:t>Probit, average marginal effects, robust standard errors. 2018–2024, n = 18,571.</a:t>
            </a:r>
          </a:p>
        </p:txBody>
      </p:sp>
      <p:sp>
        <p:nvSpPr>
          <p:cNvPr id="22" name="Rounded Rectangle 21">
            <a:hlinkClick action="ppaction://hlinksldjump" r:id="rId3"/>
          </p:cNvPr>
          <p:cNvSpPr/>
          <p:nvPr/>
        </p:nvSpPr>
        <p:spPr>
          <a:xfrm>
            <a:off x="822960" y="6382512"/>
            <a:ext cx="507491"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LPM</a:t>
            </a:r>
          </a:p>
        </p:txBody>
      </p:sp>
      <p:sp>
        <p:nvSpPr>
          <p:cNvPr id="23" name="Rounded Rectangle 22">
            <a:hlinkClick action="ppaction://hlinksldjump" r:id="rId4"/>
          </p:cNvPr>
          <p:cNvSpPr/>
          <p:nvPr/>
        </p:nvSpPr>
        <p:spPr>
          <a:xfrm>
            <a:off x="1467612" y="6382512"/>
            <a:ext cx="136245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logit / probit</a:t>
            </a:r>
          </a:p>
        </p:txBody>
      </p:sp>
      <p:sp>
        <p:nvSpPr>
          <p:cNvPr id="24" name="Rounded Rectangle 23">
            <a:hlinkClick action="ppaction://hlinksldjump" r:id="rId5"/>
          </p:cNvPr>
          <p:cNvSpPr/>
          <p:nvPr/>
        </p:nvSpPr>
        <p:spPr>
          <a:xfrm>
            <a:off x="2967228" y="6382512"/>
            <a:ext cx="896112"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bounded?</a:t>
            </a:r>
          </a:p>
        </p:txBody>
      </p:sp>
      <p:sp>
        <p:nvSpPr>
          <p:cNvPr id="25" name="Rounded Rectangle 24">
            <a:hlinkClick action="ppaction://hlinksldjump" r:id="rId6"/>
          </p:cNvPr>
          <p:cNvSpPr/>
          <p:nvPr/>
        </p:nvSpPr>
        <p:spPr>
          <a:xfrm>
            <a:off x="4000500" y="6382512"/>
            <a:ext cx="1440180"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what we observe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What correlates with leaving</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25</a:t>
            </a:r>
          </a:p>
        </p:txBody>
      </p:sp>
      <p:pic>
        <p:nvPicPr>
          <p:cNvPr id="4" name="Picture 3" descr="ame_ext.png"/>
          <p:cNvPicPr>
            <a:picLocks noChangeAspect="1"/>
          </p:cNvPicPr>
          <p:nvPr/>
        </p:nvPicPr>
        <p:blipFill>
          <a:blip r:embed="rId2"/>
          <a:stretch>
            <a:fillRect/>
          </a:stretch>
        </p:blipFill>
        <p:spPr>
          <a:xfrm>
            <a:off x="1587500" y="1005840"/>
            <a:ext cx="8986520" cy="557784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Relative pay since 1997</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26</a:t>
            </a:r>
          </a:p>
        </p:txBody>
      </p:sp>
      <p:pic>
        <p:nvPicPr>
          <p:cNvPr id="4" name="Picture 3" descr="msgA3.png"/>
          <p:cNvPicPr>
            <a:picLocks noChangeAspect="1"/>
          </p:cNvPicPr>
          <p:nvPr/>
        </p:nvPicPr>
        <p:blipFill>
          <a:blip r:embed="rId2"/>
          <a:stretch>
            <a:fillRect/>
          </a:stretch>
        </p:blipFill>
        <p:spPr>
          <a:xfrm>
            <a:off x="646889" y="1097280"/>
            <a:ext cx="10867741" cy="4480560"/>
          </a:xfrm>
          <a:prstGeom prst="rect">
            <a:avLst/>
          </a:prstGeom>
        </p:spPr>
      </p:pic>
      <p:sp>
        <p:nvSpPr>
          <p:cNvPr id="5" name="TextBox 4"/>
          <p:cNvSpPr txBox="1"/>
          <p:nvPr/>
        </p:nvSpPr>
        <p:spPr>
          <a:xfrm>
            <a:off x="822960" y="5715000"/>
            <a:ext cx="10607040" cy="822960"/>
          </a:xfrm>
          <a:prstGeom prst="rect">
            <a:avLst/>
          </a:prstGeom>
          <a:noFill/>
        </p:spPr>
        <p:txBody>
          <a:bodyPr wrap="square" lIns="0" rIns="0" tIns="0" bIns="0">
            <a:spAutoFit/>
          </a:bodyPr>
          <a:lstStyle/>
          <a:p>
            <a:pPr algn="l">
              <a:lnSpc>
                <a:spcPts val="1822"/>
              </a:lnSpc>
              <a:spcAft>
                <a:spcPts val="0"/>
              </a:spcAft>
            </a:pPr>
            <a:r>
              <a:rPr sz="1350" b="1" i="0">
                <a:solidFill>
                  <a:srgbClr val="1F3864"/>
                </a:solidFill>
                <a:latin typeface="Latin Modern Sans"/>
              </a:rPr>
              <a:t>Message.  </a:t>
            </a:r>
            <a:r>
              <a:rPr sz="1350" b="0" i="0">
                <a:solidFill>
                  <a:srgbClr val="1A1A1A"/>
                </a:solidFill>
                <a:latin typeface="Latin Modern Sans"/>
              </a:rPr>
              <a:t>Real teacher pay is 4% below its 1997 level while every comparison group gained ground. The gap to other graduates is now $29,000 a year.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Leaving, by position in the teacher pay distribution</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27</a:t>
            </a:r>
          </a:p>
        </p:txBody>
      </p:sp>
      <p:pic>
        <p:nvPicPr>
          <p:cNvPr id="4" name="Picture 3" descr="pay3_deciles_deck.png"/>
          <p:cNvPicPr>
            <a:picLocks noChangeAspect="1"/>
          </p:cNvPicPr>
          <p:nvPr/>
        </p:nvPicPr>
        <p:blipFill>
          <a:blip r:embed="rId2"/>
          <a:stretch>
            <a:fillRect/>
          </a:stretch>
        </p:blipFill>
        <p:spPr>
          <a:xfrm>
            <a:off x="1600199" y="1097280"/>
            <a:ext cx="8961120" cy="4480560"/>
          </a:xfrm>
          <a:prstGeom prst="rect">
            <a:avLst/>
          </a:prstGeom>
        </p:spPr>
      </p:pic>
      <p:sp>
        <p:nvSpPr>
          <p:cNvPr id="5" name="TextBox 4"/>
          <p:cNvSpPr txBox="1"/>
          <p:nvPr/>
        </p:nvSpPr>
        <p:spPr>
          <a:xfrm>
            <a:off x="822960" y="5715000"/>
            <a:ext cx="10607040" cy="822960"/>
          </a:xfrm>
          <a:prstGeom prst="rect">
            <a:avLst/>
          </a:prstGeom>
          <a:noFill/>
        </p:spPr>
        <p:txBody>
          <a:bodyPr wrap="square" lIns="0" rIns="0" tIns="0" bIns="0">
            <a:spAutoFit/>
          </a:bodyPr>
          <a:lstStyle/>
          <a:p>
            <a:pPr algn="l">
              <a:lnSpc>
                <a:spcPts val="1822"/>
              </a:lnSpc>
              <a:spcAft>
                <a:spcPts val="0"/>
              </a:spcAft>
            </a:pPr>
            <a:r>
              <a:rPr sz="1350" b="1" i="0">
                <a:solidFill>
                  <a:srgbClr val="1F3864"/>
                </a:solidFill>
                <a:latin typeface="Latin Modern Sans"/>
              </a:rPr>
              <a:t>Message.  </a:t>
            </a:r>
            <a:r>
              <a:rPr sz="1350" b="0" i="0">
                <a:solidFill>
                  <a:srgbClr val="1A1A1A"/>
                </a:solidFill>
                <a:latin typeface="Latin Modern Sans"/>
              </a:rPr>
              <a:t>Leaving is concentrated in the bottom two pay deciles, where part-year and part-time contracts live. Above the median, pay barely matters.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Pension coverage and leaving, across states</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28</a:t>
            </a:r>
          </a:p>
        </p:txBody>
      </p:sp>
      <p:pic>
        <p:nvPicPr>
          <p:cNvPr id="4" name="Picture 3" descr="pension_scatter_deck.png"/>
          <p:cNvPicPr>
            <a:picLocks noChangeAspect="1"/>
          </p:cNvPicPr>
          <p:nvPr/>
        </p:nvPicPr>
        <p:blipFill>
          <a:blip r:embed="rId2"/>
          <a:stretch>
            <a:fillRect/>
          </a:stretch>
        </p:blipFill>
        <p:spPr>
          <a:xfrm>
            <a:off x="2250603" y="1097280"/>
            <a:ext cx="7660312" cy="4480560"/>
          </a:xfrm>
          <a:prstGeom prst="rect">
            <a:avLst/>
          </a:prstGeom>
        </p:spPr>
      </p:pic>
      <p:sp>
        <p:nvSpPr>
          <p:cNvPr id="5" name="TextBox 4"/>
          <p:cNvSpPr txBox="1"/>
          <p:nvPr/>
        </p:nvSpPr>
        <p:spPr>
          <a:xfrm>
            <a:off x="822960" y="5715000"/>
            <a:ext cx="10607040" cy="822960"/>
          </a:xfrm>
          <a:prstGeom prst="rect">
            <a:avLst/>
          </a:prstGeom>
          <a:noFill/>
        </p:spPr>
        <p:txBody>
          <a:bodyPr wrap="square" lIns="0" rIns="0" tIns="0" bIns="0">
            <a:spAutoFit/>
          </a:bodyPr>
          <a:lstStyle/>
          <a:p>
            <a:pPr algn="l">
              <a:lnSpc>
                <a:spcPts val="1822"/>
              </a:lnSpc>
              <a:spcAft>
                <a:spcPts val="0"/>
              </a:spcAft>
            </a:pPr>
            <a:r>
              <a:rPr sz="1350" b="1" i="0">
                <a:solidFill>
                  <a:srgbClr val="1F3864"/>
                </a:solidFill>
                <a:latin typeface="Latin Modern Sans"/>
              </a:rPr>
              <a:t>Message.  </a:t>
            </a:r>
            <a:r>
              <a:rPr sz="1350" b="0" i="0">
                <a:solidFill>
                  <a:srgbClr val="1A1A1A"/>
                </a:solidFill>
                <a:latin typeface="Latin Modern Sans"/>
              </a:rPr>
              <a:t>States where more teachers have a pension plan lose fewer teachers before 55. Economic security retains.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Leaving and the cycle</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29</a:t>
            </a:r>
          </a:p>
        </p:txBody>
      </p:sp>
      <p:pic>
        <p:nvPicPr>
          <p:cNvPr id="4" name="Picture 3" descr="cycle1.png"/>
          <p:cNvPicPr>
            <a:picLocks noChangeAspect="1"/>
          </p:cNvPicPr>
          <p:nvPr/>
        </p:nvPicPr>
        <p:blipFill>
          <a:blip r:embed="rId2"/>
          <a:stretch>
            <a:fillRect/>
          </a:stretch>
        </p:blipFill>
        <p:spPr>
          <a:xfrm>
            <a:off x="1280160" y="1097280"/>
            <a:ext cx="9601200" cy="4480560"/>
          </a:xfrm>
          <a:prstGeom prst="rect">
            <a:avLst/>
          </a:prstGeom>
        </p:spPr>
      </p:pic>
      <p:sp>
        <p:nvSpPr>
          <p:cNvPr id="5" name="TextBox 4"/>
          <p:cNvSpPr txBox="1"/>
          <p:nvPr/>
        </p:nvSpPr>
        <p:spPr>
          <a:xfrm>
            <a:off x="822960" y="5715000"/>
            <a:ext cx="10607040" cy="822960"/>
          </a:xfrm>
          <a:prstGeom prst="rect">
            <a:avLst/>
          </a:prstGeom>
          <a:noFill/>
        </p:spPr>
        <p:txBody>
          <a:bodyPr wrap="square" lIns="0" rIns="0" tIns="0" bIns="0">
            <a:spAutoFit/>
          </a:bodyPr>
          <a:lstStyle/>
          <a:p>
            <a:pPr algn="l">
              <a:lnSpc>
                <a:spcPts val="1822"/>
              </a:lnSpc>
              <a:spcAft>
                <a:spcPts val="0"/>
              </a:spcAft>
            </a:pPr>
            <a:r>
              <a:rPr sz="1350" b="1" i="0">
                <a:solidFill>
                  <a:srgbClr val="1F3864"/>
                </a:solidFill>
                <a:latin typeface="Latin Modern Sans"/>
              </a:rPr>
              <a:t>Message.  </a:t>
            </a:r>
            <a:r>
              <a:rPr sz="1350" b="0" i="0">
                <a:solidFill>
                  <a:srgbClr val="1A1A1A"/>
                </a:solidFill>
                <a:latin typeface="Latin Modern Sans"/>
              </a:rPr>
              <a:t>Leaving rises when unemployment rises (correlation +0.32): teachers are pushed out in bad times more than pulled away in good ones.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Conclusions: what we learn</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30</a:t>
            </a:r>
          </a:p>
        </p:txBody>
      </p:sp>
      <p:sp>
        <p:nvSpPr>
          <p:cNvPr id="4" name="TextBox 3"/>
          <p:cNvSpPr txBox="1"/>
          <p:nvPr/>
        </p:nvSpPr>
        <p:spPr>
          <a:xfrm>
            <a:off x="822960" y="1417320"/>
            <a:ext cx="10607040" cy="5029200"/>
          </a:xfrm>
          <a:prstGeom prst="rect">
            <a:avLst/>
          </a:prstGeom>
          <a:noFill/>
        </p:spPr>
        <p:txBody>
          <a:bodyPr wrap="square" lIns="0" rIns="0" tIns="0" bIns="0">
            <a:spAutoFit/>
          </a:bodyPr>
          <a:lstStyle/>
          <a:p>
            <a:pPr algn="l">
              <a:lnSpc>
                <a:spcPts val="2025"/>
              </a:lnSpc>
              <a:spcAft>
                <a:spcPts val="1800"/>
              </a:spcAft>
            </a:pPr>
            <a:r>
              <a:rPr sz="1500" b="1" i="0">
                <a:solidFill>
                  <a:srgbClr val="1F3864"/>
                </a:solidFill>
                <a:latin typeface="Latin Modern Sans"/>
              </a:rPr>
              <a:t>▸   </a:t>
            </a:r>
            <a:r>
              <a:rPr sz="1500" b="0" i="0">
                <a:solidFill>
                  <a:srgbClr val="1A1A1A"/>
                </a:solidFill>
                <a:latin typeface="Latin Modern Sans"/>
              </a:rPr>
              <a:t>Teacher attrition is not bad in itself. Much of it is the sign of an active labor market, and it moves with the general cycle. The question for policy is who leaves, and why.</a:t>
            </a:r>
          </a:p>
          <a:p>
            <a:pPr algn="l">
              <a:lnSpc>
                <a:spcPts val="2025"/>
              </a:lnSpc>
              <a:spcAft>
                <a:spcPts val="1800"/>
              </a:spcAft>
            </a:pPr>
            <a:r>
              <a:rPr sz="1500" b="1" i="0">
                <a:solidFill>
                  <a:srgbClr val="1F3864"/>
                </a:solidFill>
                <a:latin typeface="Latin Modern Sans"/>
              </a:rPr>
              <a:t>▸   </a:t>
            </a:r>
            <a:r>
              <a:rPr sz="1500" b="0" i="0">
                <a:solidFill>
                  <a:srgbClr val="1A1A1A"/>
                </a:solidFill>
                <a:latin typeface="Latin Modern Sans"/>
              </a:rPr>
              <a:t>Working conditions weigh heavily: a full-year contract is the single strongest protection against leaving. Job security is fundamental to retain a teacher.</a:t>
            </a:r>
          </a:p>
          <a:p>
            <a:pPr algn="l">
              <a:lnSpc>
                <a:spcPts val="2025"/>
              </a:lnSpc>
              <a:spcAft>
                <a:spcPts val="1800"/>
              </a:spcAft>
            </a:pPr>
            <a:r>
              <a:rPr sz="1500" b="1" i="0">
                <a:solidFill>
                  <a:srgbClr val="1F3864"/>
                </a:solidFill>
                <a:latin typeface="Latin Modern Sans"/>
              </a:rPr>
              <a:t>▸   </a:t>
            </a:r>
            <a:r>
              <a:rPr sz="1500" b="0" i="0">
                <a:solidFill>
                  <a:srgbClr val="1A1A1A"/>
                </a:solidFill>
                <a:latin typeface="Latin Modern Sans"/>
              </a:rPr>
              <a:t>Not everyone who leaves earns more afterwards, and leaving concentrates at the bottom of the pay scale: the financial lever still has room as a retention incentive.</a:t>
            </a:r>
          </a:p>
          <a:p>
            <a:pPr algn="l">
              <a:lnSpc>
                <a:spcPts val="2025"/>
              </a:lnSpc>
              <a:spcAft>
                <a:spcPts val="0"/>
              </a:spcAft>
            </a:pPr>
            <a:r>
              <a:rPr sz="1500" b="1" i="0">
                <a:solidFill>
                  <a:srgbClr val="1F3864"/>
                </a:solidFill>
                <a:latin typeface="Latin Modern Sans"/>
              </a:rPr>
              <a:t>▸   </a:t>
            </a:r>
            <a:r>
              <a:rPr sz="1500" b="0" i="0">
                <a:solidFill>
                  <a:srgbClr val="1A1A1A"/>
                </a:solidFill>
                <a:latin typeface="Latin Modern Sans"/>
              </a:rPr>
              <a:t>A quarter of exits are neither another job nor retirement: care at home, or further study. For that group flexibility is the incentive that can bring them back, and additional qualifications should pay when they return.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Conclusions: where the policy margins are</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31</a:t>
            </a:r>
          </a:p>
        </p:txBody>
      </p:sp>
      <p:sp>
        <p:nvSpPr>
          <p:cNvPr id="4" name="TextBox 3"/>
          <p:cNvSpPr txBox="1"/>
          <p:nvPr/>
        </p:nvSpPr>
        <p:spPr>
          <a:xfrm>
            <a:off x="822960" y="1417320"/>
            <a:ext cx="10607040" cy="5029200"/>
          </a:xfrm>
          <a:prstGeom prst="rect">
            <a:avLst/>
          </a:prstGeom>
          <a:noFill/>
        </p:spPr>
        <p:txBody>
          <a:bodyPr wrap="square" lIns="0" rIns="0" tIns="0" bIns="0">
            <a:spAutoFit/>
          </a:bodyPr>
          <a:lstStyle/>
          <a:p>
            <a:pPr algn="l">
              <a:lnSpc>
                <a:spcPts val="2025"/>
              </a:lnSpc>
              <a:spcAft>
                <a:spcPts val="1800"/>
              </a:spcAft>
            </a:pPr>
            <a:r>
              <a:rPr sz="1500" b="1" i="0">
                <a:solidFill>
                  <a:srgbClr val="1F3864"/>
                </a:solidFill>
                <a:latin typeface="Latin Modern Sans"/>
              </a:rPr>
              <a:t>▸   </a:t>
            </a:r>
            <a:r>
              <a:rPr sz="1500" b="1" i="0">
                <a:solidFill>
                  <a:srgbClr val="1F3864"/>
                </a:solidFill>
                <a:latin typeface="Latin Modern Sans"/>
              </a:rPr>
              <a:t>Short term. </a:t>
            </a:r>
            <a:r>
              <a:rPr sz="1500" b="0" i="0">
                <a:solidFill>
                  <a:srgbClr val="1A1A1A"/>
                </a:solidFill>
                <a:latin typeface="Latin Modern Sans"/>
              </a:rPr>
              <a:t>Retirees, about 3% of teachers each year, are a pool that can cover local shortages: experienced people, with positive spillovers on the schools that re-engage them.</a:t>
            </a:r>
          </a:p>
          <a:p>
            <a:pPr algn="l">
              <a:lnSpc>
                <a:spcPts val="2025"/>
              </a:lnSpc>
              <a:spcAft>
                <a:spcPts val="1800"/>
              </a:spcAft>
            </a:pPr>
            <a:r>
              <a:rPr sz="1500" b="1" i="0">
                <a:solidFill>
                  <a:srgbClr val="1F3864"/>
                </a:solidFill>
                <a:latin typeface="Latin Modern Sans"/>
              </a:rPr>
              <a:t>▸   </a:t>
            </a:r>
            <a:r>
              <a:rPr sz="1500" b="1" i="0">
                <a:solidFill>
                  <a:srgbClr val="1F3864"/>
                </a:solidFill>
                <a:latin typeface="Latin Modern Sans"/>
              </a:rPr>
              <a:t>Medium term. </a:t>
            </a:r>
            <a:r>
              <a:rPr sz="1500" b="0" i="0">
                <a:solidFill>
                  <a:srgbClr val="1A1A1A"/>
                </a:solidFill>
                <a:latin typeface="Latin Modern Sans"/>
              </a:rPr>
              <a:t>The young: the probability of leaving is highest at the start of the career. Mentoring and accompaniment belong where the risk is.</a:t>
            </a:r>
          </a:p>
          <a:p>
            <a:pPr algn="l">
              <a:lnSpc>
                <a:spcPts val="2025"/>
              </a:lnSpc>
              <a:spcAft>
                <a:spcPts val="1800"/>
              </a:spcAft>
            </a:pPr>
            <a:r>
              <a:rPr sz="1500" b="1" i="0">
                <a:solidFill>
                  <a:srgbClr val="1F3864"/>
                </a:solidFill>
                <a:latin typeface="Latin Modern Sans"/>
              </a:rPr>
              <a:t>▸   </a:t>
            </a:r>
            <a:r>
              <a:rPr sz="1500" b="1" i="0">
                <a:solidFill>
                  <a:srgbClr val="1F3864"/>
                </a:solidFill>
                <a:latin typeface="Latin Modern Sans"/>
              </a:rPr>
              <a:t>Across the board. </a:t>
            </a:r>
            <a:r>
              <a:rPr sz="1500" b="0" i="0">
                <a:solidFill>
                  <a:srgbClr val="1A1A1A"/>
                </a:solidFill>
                <a:latin typeface="Latin Modern Sans"/>
              </a:rPr>
              <a:t>Economic security (full-year contracts, pension coverage) and flexibility, so that teachers who want to stay, or to return, can; insecurity should not be the reason a position is left.</a:t>
            </a:r>
          </a:p>
          <a:p>
            <a:pPr algn="l">
              <a:lnSpc>
                <a:spcPts val="2025"/>
              </a:lnSpc>
              <a:spcAft>
                <a:spcPts val="0"/>
              </a:spcAft>
            </a:pPr>
            <a:r>
              <a:rPr sz="1500" b="1" i="0">
                <a:solidFill>
                  <a:srgbClr val="1F3864"/>
                </a:solidFill>
                <a:latin typeface="Latin Modern Sans"/>
              </a:rPr>
              <a:t>▸   </a:t>
            </a:r>
            <a:r>
              <a:rPr sz="1500" b="1" i="0">
                <a:solidFill>
                  <a:srgbClr val="1F3864"/>
                </a:solidFill>
                <a:latin typeface="Latin Modern Sans"/>
              </a:rPr>
              <a:t>Caveat. </a:t>
            </a:r>
            <a:r>
              <a:rPr sz="1500" b="0" i="0">
                <a:solidFill>
                  <a:srgbClr val="1A1A1A"/>
                </a:solidFill>
                <a:latin typeface="Latin Modern Sans"/>
              </a:rPr>
              <a:t>We observe financial and life-cycle motives, not conditions inside schools: these are margins, not the full story.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60152" cy="1005840"/>
          </a:xfrm>
          <a:prstGeom prst="rect">
            <a:avLst/>
          </a:prstGeom>
          <a:noFill/>
        </p:spPr>
        <p:txBody>
          <a:bodyPr wrap="square" lIns="0" rIns="0" tIns="0" bIns="0">
            <a:spAutoFit/>
          </a:bodyPr>
          <a:lstStyle/>
          <a:p>
            <a:pPr algn="ctr">
              <a:lnSpc>
                <a:spcPts val="5940"/>
              </a:lnSpc>
              <a:spcAft>
                <a:spcPts val="0"/>
              </a:spcAft>
            </a:pPr>
            <a:r>
              <a:rPr sz="4400" b="1" i="0">
                <a:solidFill>
                  <a:srgbClr val="1F3864"/>
                </a:solidFill>
                <a:latin typeface="Latin Modern Sans"/>
              </a:rPr>
              <a:t>A</a:t>
            </a:r>
          </a:p>
        </p:txBody>
      </p:sp>
      <p:sp>
        <p:nvSpPr>
          <p:cNvPr id="3" name="TextBox 2"/>
          <p:cNvSpPr txBox="1"/>
          <p:nvPr/>
        </p:nvSpPr>
        <p:spPr>
          <a:xfrm>
            <a:off x="914400" y="3611880"/>
            <a:ext cx="10360152" cy="548640"/>
          </a:xfrm>
          <a:prstGeom prst="rect">
            <a:avLst/>
          </a:prstGeom>
          <a:noFill/>
        </p:spPr>
        <p:txBody>
          <a:bodyPr wrap="square" lIns="0" rIns="0" tIns="0" bIns="0">
            <a:spAutoFit/>
          </a:bodyPr>
          <a:lstStyle/>
          <a:p>
            <a:pPr algn="ctr">
              <a:lnSpc>
                <a:spcPts val="3240"/>
              </a:lnSpc>
              <a:spcAft>
                <a:spcPts val="0"/>
              </a:spcAft>
            </a:pPr>
            <a:r>
              <a:rPr sz="2400" b="0" i="0">
                <a:solidFill>
                  <a:srgbClr val="1A1A1A"/>
                </a:solidFill>
                <a:latin typeface="Latin Modern Sans"/>
              </a:rPr>
              <a:t>Appendix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Where official numbers exist, and when</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33</a:t>
            </a:r>
          </a:p>
        </p:txBody>
      </p:sp>
      <p:pic>
        <p:nvPicPr>
          <p:cNvPr id="4" name="Picture 3" descr="tfs_waves.png"/>
          <p:cNvPicPr>
            <a:picLocks noChangeAspect="1"/>
          </p:cNvPicPr>
          <p:nvPr/>
        </p:nvPicPr>
        <p:blipFill>
          <a:blip r:embed="rId2"/>
          <a:stretch>
            <a:fillRect/>
          </a:stretch>
        </p:blipFill>
        <p:spPr>
          <a:xfrm>
            <a:off x="1519732" y="1051560"/>
            <a:ext cx="9122054" cy="3931920"/>
          </a:xfrm>
          <a:prstGeom prst="rect">
            <a:avLst/>
          </a:prstGeom>
        </p:spPr>
      </p:pic>
      <p:sp>
        <p:nvSpPr>
          <p:cNvPr id="5" name="TextBox 4"/>
          <p:cNvSpPr txBox="1"/>
          <p:nvPr/>
        </p:nvSpPr>
        <p:spPr>
          <a:xfrm>
            <a:off x="822960" y="5166360"/>
            <a:ext cx="10607040" cy="1188720"/>
          </a:xfrm>
          <a:prstGeom prst="rect">
            <a:avLst/>
          </a:prstGeom>
          <a:noFill/>
        </p:spPr>
        <p:txBody>
          <a:bodyPr wrap="square" lIns="0" rIns="0" tIns="0" bIns="0">
            <a:spAutoFit/>
          </a:bodyPr>
          <a:lstStyle/>
          <a:p>
            <a:pPr algn="l">
              <a:lnSpc>
                <a:spcPts val="1687"/>
              </a:lnSpc>
              <a:spcAft>
                <a:spcPts val="0"/>
              </a:spcAft>
            </a:pPr>
            <a:r>
              <a:rPr sz="1250" b="0" i="0">
                <a:solidFill>
                  <a:srgbClr val="1A1A1A"/>
                </a:solidFill>
                <a:latin typeface="Latin Modern Sans"/>
              </a:rPr>
              <a:t>The NCES (National Center for Education Statistics) follows up a sample of teachers one year later in the Teacher Follow-up Survey: eight waves since 1988–89, published with a 2–3 year lag, and nine years between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One survey, three instruments</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34</a:t>
            </a:r>
          </a:p>
        </p:txBody>
      </p:sp>
      <p:cxnSp>
        <p:nvCxnSpPr>
          <p:cNvPr id="4" name="Connector 3"/>
          <p:cNvCxnSpPr/>
          <p:nvPr/>
        </p:nvCxnSpPr>
        <p:spPr>
          <a:xfrm>
            <a:off x="822960" y="1463040"/>
            <a:ext cx="1060704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554480"/>
            <a:ext cx="2743200" cy="384048"/>
          </a:xfrm>
          <a:prstGeom prst="rect">
            <a:avLst/>
          </a:prstGeom>
          <a:noFill/>
        </p:spPr>
        <p:txBody>
          <a:bodyPr wrap="square" lIns="0" rIns="0" tIns="0" bIns="0">
            <a:spAutoFit/>
          </a:bodyPr>
          <a:lstStyle/>
          <a:p>
            <a:pPr algn="l">
              <a:lnSpc>
                <a:spcPts val="1755"/>
              </a:lnSpc>
              <a:spcAft>
                <a:spcPts val="0"/>
              </a:spcAft>
            </a:pPr>
            <a:r>
              <a:rPr sz="1300" b="1" i="0">
                <a:solidFill>
                  <a:srgbClr val="1A1A1A"/>
                </a:solidFill>
                <a:latin typeface="Latin Modern Sans"/>
              </a:rPr>
              <a:t>Instrument</a:t>
            </a:r>
          </a:p>
        </p:txBody>
      </p:sp>
      <p:sp>
        <p:nvSpPr>
          <p:cNvPr id="6" name="TextBox 5"/>
          <p:cNvSpPr txBox="1"/>
          <p:nvPr/>
        </p:nvSpPr>
        <p:spPr>
          <a:xfrm>
            <a:off x="3749039" y="1554480"/>
            <a:ext cx="3931920" cy="384048"/>
          </a:xfrm>
          <a:prstGeom prst="rect">
            <a:avLst/>
          </a:prstGeom>
          <a:noFill/>
        </p:spPr>
        <p:txBody>
          <a:bodyPr wrap="square" lIns="0" rIns="0" tIns="0" bIns="0">
            <a:spAutoFit/>
          </a:bodyPr>
          <a:lstStyle/>
          <a:p>
            <a:pPr algn="l">
              <a:lnSpc>
                <a:spcPts val="1755"/>
              </a:lnSpc>
              <a:spcAft>
                <a:spcPts val="0"/>
              </a:spcAft>
            </a:pPr>
            <a:r>
              <a:rPr sz="1300" b="1" i="0">
                <a:solidFill>
                  <a:srgbClr val="1A1A1A"/>
                </a:solidFill>
                <a:latin typeface="Latin Modern Sans"/>
              </a:rPr>
              <a:t>What it asks</a:t>
            </a:r>
          </a:p>
        </p:txBody>
      </p:sp>
      <p:sp>
        <p:nvSpPr>
          <p:cNvPr id="7" name="TextBox 6"/>
          <p:cNvSpPr txBox="1"/>
          <p:nvPr/>
        </p:nvSpPr>
        <p:spPr>
          <a:xfrm>
            <a:off x="7863840" y="1554480"/>
            <a:ext cx="3566160" cy="384048"/>
          </a:xfrm>
          <a:prstGeom prst="rect">
            <a:avLst/>
          </a:prstGeom>
          <a:noFill/>
        </p:spPr>
        <p:txBody>
          <a:bodyPr wrap="square" lIns="0" rIns="0" tIns="0" bIns="0">
            <a:spAutoFit/>
          </a:bodyPr>
          <a:lstStyle/>
          <a:p>
            <a:pPr algn="l">
              <a:lnSpc>
                <a:spcPts val="1755"/>
              </a:lnSpc>
              <a:spcAft>
                <a:spcPts val="0"/>
              </a:spcAft>
            </a:pPr>
            <a:r>
              <a:rPr sz="1300" b="1" i="0">
                <a:solidFill>
                  <a:srgbClr val="1A1A1A"/>
                </a:solidFill>
                <a:latin typeface="Latin Modern Sans"/>
              </a:rPr>
              <a:t>What it produces</a:t>
            </a:r>
          </a:p>
        </p:txBody>
      </p:sp>
      <p:cxnSp>
        <p:nvCxnSpPr>
          <p:cNvPr id="8" name="Connector 7"/>
          <p:cNvCxnSpPr/>
          <p:nvPr/>
        </p:nvCxnSpPr>
        <p:spPr>
          <a:xfrm>
            <a:off x="822960" y="1956816"/>
            <a:ext cx="1060704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048256"/>
            <a:ext cx="274320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Basic monthly interview</a:t>
            </a:r>
          </a:p>
        </p:txBody>
      </p:sp>
      <p:sp>
        <p:nvSpPr>
          <p:cNvPr id="10" name="TextBox 9"/>
          <p:cNvSpPr txBox="1"/>
          <p:nvPr/>
        </p:nvSpPr>
        <p:spPr>
          <a:xfrm>
            <a:off x="3749039" y="2048256"/>
            <a:ext cx="393192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Labor force status in the reference week, occupation, hours</a:t>
            </a:r>
          </a:p>
        </p:txBody>
      </p:sp>
      <p:sp>
        <p:nvSpPr>
          <p:cNvPr id="11" name="TextBox 10"/>
          <p:cNvSpPr txBox="1"/>
          <p:nvPr/>
        </p:nvSpPr>
        <p:spPr>
          <a:xfrm>
            <a:off x="7863840" y="2048256"/>
            <a:ext cx="356616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The official monthly unemployment rate; employment and earnings statistics</a:t>
            </a:r>
          </a:p>
        </p:txBody>
      </p:sp>
      <p:sp>
        <p:nvSpPr>
          <p:cNvPr id="12" name="TextBox 11"/>
          <p:cNvSpPr txBox="1"/>
          <p:nvPr/>
        </p:nvSpPr>
        <p:spPr>
          <a:xfrm>
            <a:off x="822960" y="2935224"/>
            <a:ext cx="274320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Topical supplements</a:t>
            </a:r>
          </a:p>
        </p:txBody>
      </p:sp>
      <p:sp>
        <p:nvSpPr>
          <p:cNvPr id="13" name="TextBox 12"/>
          <p:cNvSpPr txBox="1"/>
          <p:nvPr/>
        </p:nvSpPr>
        <p:spPr>
          <a:xfrm>
            <a:off x="3749039" y="2935224"/>
            <a:ext cx="393192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School enrollment (Oct.), voting (Nov.), tobacco, computer use</a:t>
            </a:r>
          </a:p>
        </p:txBody>
      </p:sp>
      <p:sp>
        <p:nvSpPr>
          <p:cNvPr id="14" name="TextBox 13"/>
          <p:cNvSpPr txBox="1"/>
          <p:nvPr/>
        </p:nvSpPr>
        <p:spPr>
          <a:xfrm>
            <a:off x="7863840" y="2935224"/>
            <a:ext cx="356616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Topic-specific official statistics</a:t>
            </a:r>
          </a:p>
        </p:txBody>
      </p:sp>
      <p:sp>
        <p:nvSpPr>
          <p:cNvPr id="15" name="TextBox 14"/>
          <p:cNvSpPr txBox="1"/>
          <p:nvPr/>
        </p:nvSpPr>
        <p:spPr>
          <a:xfrm>
            <a:off x="822960" y="3639312"/>
            <a:ext cx="274320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March supplement (ASEC)</a:t>
            </a:r>
          </a:p>
        </p:txBody>
      </p:sp>
      <p:sp>
        <p:nvSpPr>
          <p:cNvPr id="16" name="TextBox 15"/>
          <p:cNvSpPr txBox="1"/>
          <p:nvPr/>
        </p:nvSpPr>
        <p:spPr>
          <a:xfrm>
            <a:off x="3749039" y="3639312"/>
            <a:ext cx="393192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The previous calendar year: longest job, weeks, income, benefits</a:t>
            </a:r>
          </a:p>
        </p:txBody>
      </p:sp>
      <p:sp>
        <p:nvSpPr>
          <p:cNvPr id="17" name="TextBox 16"/>
          <p:cNvSpPr txBox="1"/>
          <p:nvPr/>
        </p:nvSpPr>
        <p:spPr>
          <a:xfrm>
            <a:off x="7863840" y="3639312"/>
            <a:ext cx="356616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Official income, poverty and health-insurance statistics, and our retrospective measure</a:t>
            </a:r>
          </a:p>
        </p:txBody>
      </p:sp>
      <p:cxnSp>
        <p:nvCxnSpPr>
          <p:cNvPr id="18" name="Connector 17"/>
          <p:cNvCxnSpPr/>
          <p:nvPr/>
        </p:nvCxnSpPr>
        <p:spPr>
          <a:xfrm>
            <a:off x="822960" y="4562856"/>
            <a:ext cx="1060704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Are interviews monthly? Who is new each month?</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35</a:t>
            </a:r>
          </a:p>
        </p:txBody>
      </p:sp>
      <p:sp>
        <p:nvSpPr>
          <p:cNvPr id="4" name="TextBox 3"/>
          <p:cNvSpPr txBox="1"/>
          <p:nvPr/>
        </p:nvSpPr>
        <p:spPr>
          <a:xfrm>
            <a:off x="822960" y="1280160"/>
            <a:ext cx="10607040" cy="548640"/>
          </a:xfrm>
          <a:prstGeom prst="rect">
            <a:avLst/>
          </a:prstGeom>
          <a:noFill/>
        </p:spPr>
        <p:txBody>
          <a:bodyPr wrap="square" lIns="0" rIns="0" tIns="0" bIns="0">
            <a:spAutoFit/>
          </a:bodyPr>
          <a:lstStyle/>
          <a:p>
            <a:pPr algn="l">
              <a:lnSpc>
                <a:spcPts val="1890"/>
              </a:lnSpc>
              <a:spcAft>
                <a:spcPts val="0"/>
              </a:spcAft>
            </a:pPr>
            <a:r>
              <a:rPr sz="1400" b="0" i="0">
                <a:solidFill>
                  <a:srgbClr val="1A1A1A"/>
                </a:solidFill>
                <a:latin typeface="Latin Modern Sans"/>
              </a:rPr>
              <a:t>Yes: every month, one eighth of the sample sits in each position of the 4-8-4 rotation. Verified in all 251 monthly files, January 2005 to November 2025:</a:t>
            </a:r>
          </a:p>
        </p:txBody>
      </p:sp>
      <p:cxnSp>
        <p:nvCxnSpPr>
          <p:cNvPr id="5" name="Connector 4"/>
          <p:cNvCxnSpPr/>
          <p:nvPr/>
        </p:nvCxnSpPr>
        <p:spPr>
          <a:xfrm>
            <a:off x="822960" y="2148840"/>
            <a:ext cx="1042416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240280"/>
            <a:ext cx="2377440" cy="438912"/>
          </a:xfrm>
          <a:prstGeom prst="rect">
            <a:avLst/>
          </a:prstGeom>
          <a:noFill/>
        </p:spPr>
        <p:txBody>
          <a:bodyPr wrap="square" lIns="0" rIns="0" tIns="0" bIns="0">
            <a:spAutoFit/>
          </a:bodyPr>
          <a:lstStyle/>
          <a:p>
            <a:pPr algn="l">
              <a:lnSpc>
                <a:spcPts val="1755"/>
              </a:lnSpc>
              <a:spcAft>
                <a:spcPts val="0"/>
              </a:spcAft>
            </a:pPr>
            <a:r>
              <a:rPr sz="1300" b="1" i="0">
                <a:solidFill>
                  <a:srgbClr val="1A1A1A"/>
                </a:solidFill>
                <a:latin typeface="Latin Modern Sans"/>
              </a:rPr>
              <a:t>Month in sample</a:t>
            </a:r>
          </a:p>
        </p:txBody>
      </p:sp>
      <p:sp>
        <p:nvSpPr>
          <p:cNvPr id="7" name="TextBox 6"/>
          <p:cNvSpPr txBox="1"/>
          <p:nvPr/>
        </p:nvSpPr>
        <p:spPr>
          <a:xfrm>
            <a:off x="3291840" y="2240280"/>
            <a:ext cx="914400" cy="438912"/>
          </a:xfrm>
          <a:prstGeom prst="rect">
            <a:avLst/>
          </a:prstGeom>
          <a:noFill/>
        </p:spPr>
        <p:txBody>
          <a:bodyPr wrap="square" lIns="0" rIns="0" tIns="0" bIns="0">
            <a:spAutoFit/>
          </a:bodyPr>
          <a:lstStyle/>
          <a:p>
            <a:pPr algn="r">
              <a:lnSpc>
                <a:spcPts val="1755"/>
              </a:lnSpc>
              <a:spcAft>
                <a:spcPts val="0"/>
              </a:spcAft>
            </a:pPr>
            <a:r>
              <a:rPr sz="1300" b="1" i="0">
                <a:solidFill>
                  <a:srgbClr val="1A1A1A"/>
                </a:solidFill>
                <a:latin typeface="Latin Modern Sans"/>
              </a:rPr>
              <a:t>1</a:t>
            </a:r>
          </a:p>
        </p:txBody>
      </p:sp>
      <p:sp>
        <p:nvSpPr>
          <p:cNvPr id="8" name="TextBox 7"/>
          <p:cNvSpPr txBox="1"/>
          <p:nvPr/>
        </p:nvSpPr>
        <p:spPr>
          <a:xfrm>
            <a:off x="4297680" y="2240280"/>
            <a:ext cx="914400" cy="438912"/>
          </a:xfrm>
          <a:prstGeom prst="rect">
            <a:avLst/>
          </a:prstGeom>
          <a:noFill/>
        </p:spPr>
        <p:txBody>
          <a:bodyPr wrap="square" lIns="0" rIns="0" tIns="0" bIns="0">
            <a:spAutoFit/>
          </a:bodyPr>
          <a:lstStyle/>
          <a:p>
            <a:pPr algn="r">
              <a:lnSpc>
                <a:spcPts val="1755"/>
              </a:lnSpc>
              <a:spcAft>
                <a:spcPts val="0"/>
              </a:spcAft>
            </a:pPr>
            <a:r>
              <a:rPr sz="1300" b="1" i="0">
                <a:solidFill>
                  <a:srgbClr val="1A1A1A"/>
                </a:solidFill>
                <a:latin typeface="Latin Modern Sans"/>
              </a:rPr>
              <a:t>2</a:t>
            </a:r>
          </a:p>
        </p:txBody>
      </p:sp>
      <p:sp>
        <p:nvSpPr>
          <p:cNvPr id="9" name="TextBox 8"/>
          <p:cNvSpPr txBox="1"/>
          <p:nvPr/>
        </p:nvSpPr>
        <p:spPr>
          <a:xfrm>
            <a:off x="5303520" y="2240280"/>
            <a:ext cx="914400" cy="438912"/>
          </a:xfrm>
          <a:prstGeom prst="rect">
            <a:avLst/>
          </a:prstGeom>
          <a:noFill/>
        </p:spPr>
        <p:txBody>
          <a:bodyPr wrap="square" lIns="0" rIns="0" tIns="0" bIns="0">
            <a:spAutoFit/>
          </a:bodyPr>
          <a:lstStyle/>
          <a:p>
            <a:pPr algn="r">
              <a:lnSpc>
                <a:spcPts val="1755"/>
              </a:lnSpc>
              <a:spcAft>
                <a:spcPts val="0"/>
              </a:spcAft>
            </a:pPr>
            <a:r>
              <a:rPr sz="1300" b="1" i="0">
                <a:solidFill>
                  <a:srgbClr val="1A1A1A"/>
                </a:solidFill>
                <a:latin typeface="Latin Modern Sans"/>
              </a:rPr>
              <a:t>3</a:t>
            </a:r>
          </a:p>
        </p:txBody>
      </p:sp>
      <p:sp>
        <p:nvSpPr>
          <p:cNvPr id="10" name="TextBox 9"/>
          <p:cNvSpPr txBox="1"/>
          <p:nvPr/>
        </p:nvSpPr>
        <p:spPr>
          <a:xfrm>
            <a:off x="6309360" y="2240280"/>
            <a:ext cx="914400" cy="438912"/>
          </a:xfrm>
          <a:prstGeom prst="rect">
            <a:avLst/>
          </a:prstGeom>
          <a:noFill/>
        </p:spPr>
        <p:txBody>
          <a:bodyPr wrap="square" lIns="0" rIns="0" tIns="0" bIns="0">
            <a:spAutoFit/>
          </a:bodyPr>
          <a:lstStyle/>
          <a:p>
            <a:pPr algn="r">
              <a:lnSpc>
                <a:spcPts val="1755"/>
              </a:lnSpc>
              <a:spcAft>
                <a:spcPts val="0"/>
              </a:spcAft>
            </a:pPr>
            <a:r>
              <a:rPr sz="1300" b="1" i="0">
                <a:solidFill>
                  <a:srgbClr val="1A1A1A"/>
                </a:solidFill>
                <a:latin typeface="Latin Modern Sans"/>
              </a:rPr>
              <a:t>4</a:t>
            </a:r>
          </a:p>
        </p:txBody>
      </p:sp>
      <p:sp>
        <p:nvSpPr>
          <p:cNvPr id="11" name="TextBox 10"/>
          <p:cNvSpPr txBox="1"/>
          <p:nvPr/>
        </p:nvSpPr>
        <p:spPr>
          <a:xfrm>
            <a:off x="7315200" y="2240280"/>
            <a:ext cx="914400" cy="438912"/>
          </a:xfrm>
          <a:prstGeom prst="rect">
            <a:avLst/>
          </a:prstGeom>
          <a:noFill/>
        </p:spPr>
        <p:txBody>
          <a:bodyPr wrap="square" lIns="0" rIns="0" tIns="0" bIns="0">
            <a:spAutoFit/>
          </a:bodyPr>
          <a:lstStyle/>
          <a:p>
            <a:pPr algn="r">
              <a:lnSpc>
                <a:spcPts val="1755"/>
              </a:lnSpc>
              <a:spcAft>
                <a:spcPts val="0"/>
              </a:spcAft>
            </a:pPr>
            <a:r>
              <a:rPr sz="1300" b="1" i="0">
                <a:solidFill>
                  <a:srgbClr val="1A1A1A"/>
                </a:solidFill>
                <a:latin typeface="Latin Modern Sans"/>
              </a:rPr>
              <a:t>5</a:t>
            </a:r>
          </a:p>
        </p:txBody>
      </p:sp>
      <p:sp>
        <p:nvSpPr>
          <p:cNvPr id="12" name="TextBox 11"/>
          <p:cNvSpPr txBox="1"/>
          <p:nvPr/>
        </p:nvSpPr>
        <p:spPr>
          <a:xfrm>
            <a:off x="8321040" y="2240280"/>
            <a:ext cx="914400" cy="438912"/>
          </a:xfrm>
          <a:prstGeom prst="rect">
            <a:avLst/>
          </a:prstGeom>
          <a:noFill/>
        </p:spPr>
        <p:txBody>
          <a:bodyPr wrap="square" lIns="0" rIns="0" tIns="0" bIns="0">
            <a:spAutoFit/>
          </a:bodyPr>
          <a:lstStyle/>
          <a:p>
            <a:pPr algn="r">
              <a:lnSpc>
                <a:spcPts val="1755"/>
              </a:lnSpc>
              <a:spcAft>
                <a:spcPts val="0"/>
              </a:spcAft>
            </a:pPr>
            <a:r>
              <a:rPr sz="1300" b="1" i="0">
                <a:solidFill>
                  <a:srgbClr val="1A1A1A"/>
                </a:solidFill>
                <a:latin typeface="Latin Modern Sans"/>
              </a:rPr>
              <a:t>6</a:t>
            </a:r>
          </a:p>
        </p:txBody>
      </p:sp>
      <p:sp>
        <p:nvSpPr>
          <p:cNvPr id="13" name="TextBox 12"/>
          <p:cNvSpPr txBox="1"/>
          <p:nvPr/>
        </p:nvSpPr>
        <p:spPr>
          <a:xfrm>
            <a:off x="9326880" y="2240280"/>
            <a:ext cx="914400" cy="438912"/>
          </a:xfrm>
          <a:prstGeom prst="rect">
            <a:avLst/>
          </a:prstGeom>
          <a:noFill/>
        </p:spPr>
        <p:txBody>
          <a:bodyPr wrap="square" lIns="0" rIns="0" tIns="0" bIns="0">
            <a:spAutoFit/>
          </a:bodyPr>
          <a:lstStyle/>
          <a:p>
            <a:pPr algn="r">
              <a:lnSpc>
                <a:spcPts val="1755"/>
              </a:lnSpc>
              <a:spcAft>
                <a:spcPts val="0"/>
              </a:spcAft>
            </a:pPr>
            <a:r>
              <a:rPr sz="1300" b="1" i="0">
                <a:solidFill>
                  <a:srgbClr val="1A1A1A"/>
                </a:solidFill>
                <a:latin typeface="Latin Modern Sans"/>
              </a:rPr>
              <a:t>7</a:t>
            </a:r>
          </a:p>
        </p:txBody>
      </p:sp>
      <p:sp>
        <p:nvSpPr>
          <p:cNvPr id="14" name="TextBox 13"/>
          <p:cNvSpPr txBox="1"/>
          <p:nvPr/>
        </p:nvSpPr>
        <p:spPr>
          <a:xfrm>
            <a:off x="10332720" y="2240280"/>
            <a:ext cx="914400" cy="438912"/>
          </a:xfrm>
          <a:prstGeom prst="rect">
            <a:avLst/>
          </a:prstGeom>
          <a:noFill/>
        </p:spPr>
        <p:txBody>
          <a:bodyPr wrap="square" lIns="0" rIns="0" tIns="0" bIns="0">
            <a:spAutoFit/>
          </a:bodyPr>
          <a:lstStyle/>
          <a:p>
            <a:pPr algn="r">
              <a:lnSpc>
                <a:spcPts val="1755"/>
              </a:lnSpc>
              <a:spcAft>
                <a:spcPts val="0"/>
              </a:spcAft>
            </a:pPr>
            <a:r>
              <a:rPr sz="1300" b="1" i="0">
                <a:solidFill>
                  <a:srgbClr val="1A1A1A"/>
                </a:solidFill>
                <a:latin typeface="Latin Modern Sans"/>
              </a:rPr>
              <a:t>8</a:t>
            </a:r>
          </a:p>
        </p:txBody>
      </p:sp>
      <p:cxnSp>
        <p:nvCxnSpPr>
          <p:cNvPr id="15" name="Connector 14"/>
          <p:cNvCxnSpPr/>
          <p:nvPr/>
        </p:nvCxnSpPr>
        <p:spPr>
          <a:xfrm>
            <a:off x="822960" y="2697480"/>
            <a:ext cx="1042416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788920"/>
            <a:ext cx="2377440" cy="438912"/>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Average share (%)</a:t>
            </a:r>
          </a:p>
        </p:txBody>
      </p:sp>
      <p:sp>
        <p:nvSpPr>
          <p:cNvPr id="17" name="TextBox 16"/>
          <p:cNvSpPr txBox="1"/>
          <p:nvPr/>
        </p:nvSpPr>
        <p:spPr>
          <a:xfrm>
            <a:off x="3291840" y="2788920"/>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12.4</a:t>
            </a:r>
          </a:p>
        </p:txBody>
      </p:sp>
      <p:sp>
        <p:nvSpPr>
          <p:cNvPr id="18" name="TextBox 17"/>
          <p:cNvSpPr txBox="1"/>
          <p:nvPr/>
        </p:nvSpPr>
        <p:spPr>
          <a:xfrm>
            <a:off x="4297680" y="2788920"/>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12.5</a:t>
            </a:r>
          </a:p>
        </p:txBody>
      </p:sp>
      <p:sp>
        <p:nvSpPr>
          <p:cNvPr id="19" name="TextBox 18"/>
          <p:cNvSpPr txBox="1"/>
          <p:nvPr/>
        </p:nvSpPr>
        <p:spPr>
          <a:xfrm>
            <a:off x="5303520" y="2788920"/>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12.6</a:t>
            </a:r>
          </a:p>
        </p:txBody>
      </p:sp>
      <p:sp>
        <p:nvSpPr>
          <p:cNvPr id="20" name="TextBox 19"/>
          <p:cNvSpPr txBox="1"/>
          <p:nvPr/>
        </p:nvSpPr>
        <p:spPr>
          <a:xfrm>
            <a:off x="6309360" y="2788920"/>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12.5</a:t>
            </a:r>
          </a:p>
        </p:txBody>
      </p:sp>
      <p:sp>
        <p:nvSpPr>
          <p:cNvPr id="21" name="TextBox 20"/>
          <p:cNvSpPr txBox="1"/>
          <p:nvPr/>
        </p:nvSpPr>
        <p:spPr>
          <a:xfrm>
            <a:off x="7315200" y="2788920"/>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12.6</a:t>
            </a:r>
          </a:p>
        </p:txBody>
      </p:sp>
      <p:sp>
        <p:nvSpPr>
          <p:cNvPr id="22" name="TextBox 21"/>
          <p:cNvSpPr txBox="1"/>
          <p:nvPr/>
        </p:nvSpPr>
        <p:spPr>
          <a:xfrm>
            <a:off x="8321040" y="2788920"/>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12.5</a:t>
            </a:r>
          </a:p>
        </p:txBody>
      </p:sp>
      <p:sp>
        <p:nvSpPr>
          <p:cNvPr id="23" name="TextBox 22"/>
          <p:cNvSpPr txBox="1"/>
          <p:nvPr/>
        </p:nvSpPr>
        <p:spPr>
          <a:xfrm>
            <a:off x="9326880" y="2788920"/>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12.4</a:t>
            </a:r>
          </a:p>
        </p:txBody>
      </p:sp>
      <p:sp>
        <p:nvSpPr>
          <p:cNvPr id="24" name="TextBox 23"/>
          <p:cNvSpPr txBox="1"/>
          <p:nvPr/>
        </p:nvSpPr>
        <p:spPr>
          <a:xfrm>
            <a:off x="10332720" y="2788920"/>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12.5</a:t>
            </a:r>
          </a:p>
        </p:txBody>
      </p:sp>
      <p:sp>
        <p:nvSpPr>
          <p:cNvPr id="25" name="TextBox 24"/>
          <p:cNvSpPr txBox="1"/>
          <p:nvPr/>
        </p:nvSpPr>
        <p:spPr>
          <a:xfrm>
            <a:off x="822960" y="3227832"/>
            <a:ext cx="2377440" cy="438912"/>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Minimum (%)</a:t>
            </a:r>
          </a:p>
        </p:txBody>
      </p:sp>
      <p:sp>
        <p:nvSpPr>
          <p:cNvPr id="26" name="TextBox 25"/>
          <p:cNvSpPr txBox="1"/>
          <p:nvPr/>
        </p:nvSpPr>
        <p:spPr>
          <a:xfrm>
            <a:off x="3291840" y="3227832"/>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10.1</a:t>
            </a:r>
          </a:p>
        </p:txBody>
      </p:sp>
      <p:sp>
        <p:nvSpPr>
          <p:cNvPr id="27" name="TextBox 26"/>
          <p:cNvSpPr txBox="1"/>
          <p:nvPr/>
        </p:nvSpPr>
        <p:spPr>
          <a:xfrm>
            <a:off x="4297680" y="3227832"/>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11.1</a:t>
            </a:r>
          </a:p>
        </p:txBody>
      </p:sp>
      <p:sp>
        <p:nvSpPr>
          <p:cNvPr id="28" name="TextBox 27"/>
          <p:cNvSpPr txBox="1"/>
          <p:nvPr/>
        </p:nvSpPr>
        <p:spPr>
          <a:xfrm>
            <a:off x="5303520" y="3227832"/>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11.5</a:t>
            </a:r>
          </a:p>
        </p:txBody>
      </p:sp>
      <p:sp>
        <p:nvSpPr>
          <p:cNvPr id="29" name="TextBox 28"/>
          <p:cNvSpPr txBox="1"/>
          <p:nvPr/>
        </p:nvSpPr>
        <p:spPr>
          <a:xfrm>
            <a:off x="6309360" y="3227832"/>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11.8</a:t>
            </a:r>
          </a:p>
        </p:txBody>
      </p:sp>
      <p:sp>
        <p:nvSpPr>
          <p:cNvPr id="30" name="TextBox 29"/>
          <p:cNvSpPr txBox="1"/>
          <p:nvPr/>
        </p:nvSpPr>
        <p:spPr>
          <a:xfrm>
            <a:off x="7315200" y="3227832"/>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12.0</a:t>
            </a:r>
          </a:p>
        </p:txBody>
      </p:sp>
      <p:sp>
        <p:nvSpPr>
          <p:cNvPr id="31" name="TextBox 30"/>
          <p:cNvSpPr txBox="1"/>
          <p:nvPr/>
        </p:nvSpPr>
        <p:spPr>
          <a:xfrm>
            <a:off x="8321040" y="3227832"/>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12.0</a:t>
            </a:r>
          </a:p>
        </p:txBody>
      </p:sp>
      <p:sp>
        <p:nvSpPr>
          <p:cNvPr id="32" name="TextBox 31"/>
          <p:cNvSpPr txBox="1"/>
          <p:nvPr/>
        </p:nvSpPr>
        <p:spPr>
          <a:xfrm>
            <a:off x="9326880" y="3227832"/>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11.9</a:t>
            </a:r>
          </a:p>
        </p:txBody>
      </p:sp>
      <p:sp>
        <p:nvSpPr>
          <p:cNvPr id="33" name="TextBox 32"/>
          <p:cNvSpPr txBox="1"/>
          <p:nvPr/>
        </p:nvSpPr>
        <p:spPr>
          <a:xfrm>
            <a:off x="10332720" y="3227832"/>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12.0</a:t>
            </a:r>
          </a:p>
        </p:txBody>
      </p:sp>
      <p:sp>
        <p:nvSpPr>
          <p:cNvPr id="34" name="TextBox 33"/>
          <p:cNvSpPr txBox="1"/>
          <p:nvPr/>
        </p:nvSpPr>
        <p:spPr>
          <a:xfrm>
            <a:off x="822960" y="3666744"/>
            <a:ext cx="2377440" cy="438912"/>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Maximum (%)</a:t>
            </a:r>
          </a:p>
        </p:txBody>
      </p:sp>
      <p:sp>
        <p:nvSpPr>
          <p:cNvPr id="35" name="TextBox 34"/>
          <p:cNvSpPr txBox="1"/>
          <p:nvPr/>
        </p:nvSpPr>
        <p:spPr>
          <a:xfrm>
            <a:off x="3291840" y="3666744"/>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13.0</a:t>
            </a:r>
          </a:p>
        </p:txBody>
      </p:sp>
      <p:sp>
        <p:nvSpPr>
          <p:cNvPr id="36" name="TextBox 35"/>
          <p:cNvSpPr txBox="1"/>
          <p:nvPr/>
        </p:nvSpPr>
        <p:spPr>
          <a:xfrm>
            <a:off x="4297680" y="3666744"/>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13.0</a:t>
            </a:r>
          </a:p>
        </p:txBody>
      </p:sp>
      <p:sp>
        <p:nvSpPr>
          <p:cNvPr id="37" name="TextBox 36"/>
          <p:cNvSpPr txBox="1"/>
          <p:nvPr/>
        </p:nvSpPr>
        <p:spPr>
          <a:xfrm>
            <a:off x="5303520" y="3666744"/>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13.1</a:t>
            </a:r>
          </a:p>
        </p:txBody>
      </p:sp>
      <p:sp>
        <p:nvSpPr>
          <p:cNvPr id="38" name="TextBox 37"/>
          <p:cNvSpPr txBox="1"/>
          <p:nvPr/>
        </p:nvSpPr>
        <p:spPr>
          <a:xfrm>
            <a:off x="6309360" y="3666744"/>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13.0</a:t>
            </a:r>
          </a:p>
        </p:txBody>
      </p:sp>
      <p:sp>
        <p:nvSpPr>
          <p:cNvPr id="39" name="TextBox 38"/>
          <p:cNvSpPr txBox="1"/>
          <p:nvPr/>
        </p:nvSpPr>
        <p:spPr>
          <a:xfrm>
            <a:off x="7315200" y="3666744"/>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14.9</a:t>
            </a:r>
          </a:p>
        </p:txBody>
      </p:sp>
      <p:sp>
        <p:nvSpPr>
          <p:cNvPr id="40" name="TextBox 39"/>
          <p:cNvSpPr txBox="1"/>
          <p:nvPr/>
        </p:nvSpPr>
        <p:spPr>
          <a:xfrm>
            <a:off x="8321040" y="3666744"/>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13.9</a:t>
            </a:r>
          </a:p>
        </p:txBody>
      </p:sp>
      <p:sp>
        <p:nvSpPr>
          <p:cNvPr id="41" name="TextBox 40"/>
          <p:cNvSpPr txBox="1"/>
          <p:nvPr/>
        </p:nvSpPr>
        <p:spPr>
          <a:xfrm>
            <a:off x="9326880" y="3666744"/>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13.5</a:t>
            </a:r>
          </a:p>
        </p:txBody>
      </p:sp>
      <p:sp>
        <p:nvSpPr>
          <p:cNvPr id="42" name="TextBox 41"/>
          <p:cNvSpPr txBox="1"/>
          <p:nvPr/>
        </p:nvSpPr>
        <p:spPr>
          <a:xfrm>
            <a:off x="10332720" y="3666744"/>
            <a:ext cx="914400" cy="438912"/>
          </a:xfrm>
          <a:prstGeom prst="rect">
            <a:avLst/>
          </a:prstGeom>
          <a:noFill/>
        </p:spPr>
        <p:txBody>
          <a:bodyPr wrap="square" lIns="0" rIns="0" tIns="0" bIns="0">
            <a:spAutoFit/>
          </a:bodyPr>
          <a:lstStyle/>
          <a:p>
            <a:pPr algn="r">
              <a:lnSpc>
                <a:spcPts val="1755"/>
              </a:lnSpc>
              <a:spcAft>
                <a:spcPts val="0"/>
              </a:spcAft>
            </a:pPr>
            <a:r>
              <a:rPr sz="1300" b="0" i="0">
                <a:solidFill>
                  <a:srgbClr val="1A1A1A"/>
                </a:solidFill>
                <a:latin typeface="Latin Modern Sans"/>
              </a:rPr>
              <a:t>13.2</a:t>
            </a:r>
          </a:p>
        </p:txBody>
      </p:sp>
      <p:cxnSp>
        <p:nvCxnSpPr>
          <p:cNvPr id="43" name="Connector 42"/>
          <p:cNvCxnSpPr/>
          <p:nvPr/>
        </p:nvCxnSpPr>
        <p:spPr>
          <a:xfrm>
            <a:off x="822960" y="4142232"/>
            <a:ext cx="1042416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34256"/>
            <a:ext cx="10607040" cy="822960"/>
          </a:xfrm>
          <a:prstGeom prst="rect">
            <a:avLst/>
          </a:prstGeom>
          <a:noFill/>
        </p:spPr>
        <p:txBody>
          <a:bodyPr wrap="square" lIns="0" rIns="0" tIns="0" bIns="0">
            <a:spAutoFit/>
          </a:bodyPr>
          <a:lstStyle/>
          <a:p>
            <a:pPr algn="l">
              <a:lnSpc>
                <a:spcPts val="1822"/>
              </a:lnSpc>
              <a:spcAft>
                <a:spcPts val="0"/>
              </a:spcAft>
            </a:pPr>
            <a:r>
              <a:rPr sz="1350" b="0" i="0">
                <a:solidFill>
                  <a:srgbClr val="1A1A1A"/>
                </a:solidFill>
                <a:latin typeface="Latin Modern Sans"/>
              </a:rPr>
              <a:t>So each month: ~12.5% new households, ~37.5% in months 2–4, ~50% returning in months 5–8. Month-to-month overlap 75%; year-to-year overlap 50%, by design.</a:t>
            </a:r>
          </a:p>
        </p:txBody>
      </p:sp>
      <p:sp>
        <p:nvSpPr>
          <p:cNvPr id="45" name="Rounded Rectangle 44">
            <a:hlinkClick action="ppaction://hlinksldjump" r:id="rId2"/>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Internal migration in the United States</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36</a:t>
            </a:r>
          </a:p>
        </p:txBody>
      </p:sp>
      <p:pic>
        <p:nvPicPr>
          <p:cNvPr id="4" name="Picture 3" descr="migration_rate.png"/>
          <p:cNvPicPr>
            <a:picLocks noChangeAspect="1"/>
          </p:cNvPicPr>
          <p:nvPr/>
        </p:nvPicPr>
        <p:blipFill>
          <a:blip r:embed="rId2"/>
          <a:stretch>
            <a:fillRect/>
          </a:stretch>
        </p:blipFill>
        <p:spPr>
          <a:xfrm>
            <a:off x="1069144" y="1051560"/>
            <a:ext cx="10023230" cy="4572000"/>
          </a:xfrm>
          <a:prstGeom prst="rect">
            <a:avLst/>
          </a:prstGeom>
        </p:spPr>
      </p:pic>
      <p:sp>
        <p:nvSpPr>
          <p:cNvPr id="5" name="TextBox 4"/>
          <p:cNvSpPr txBox="1"/>
          <p:nvPr/>
        </p:nvSpPr>
        <p:spPr>
          <a:xfrm>
            <a:off x="822960" y="5806440"/>
            <a:ext cx="10607040" cy="548640"/>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In 2023, 7.8% of Americans moved: the loss channel of any address-based panel.  </a:t>
            </a:r>
            <a:r>
              <a:rPr sz="1150" b="0" i="1">
                <a:solidFill>
                  <a:srgbClr val="6B7480"/>
                </a:solidFill>
                <a:latin typeface="Latin Modern Sans"/>
              </a:rPr>
              <a:t>Census Bureau, CPS ASEC, historical table A-1.</a:t>
            </a:r>
          </a:p>
        </p:txBody>
      </p:sp>
      <p:sp>
        <p:nvSpPr>
          <p:cNvPr id="6" name="Rounded Rectangle 5">
            <a:hlinkClick action="ppaction://hlinksldjump" r:id="rId3"/>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Is the same person validated year to year?</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37</a:t>
            </a:r>
          </a:p>
        </p:txBody>
      </p:sp>
      <p:cxnSp>
        <p:nvCxnSpPr>
          <p:cNvPr id="4" name="Connector 3"/>
          <p:cNvCxnSpPr/>
          <p:nvPr/>
        </p:nvCxnSpPr>
        <p:spPr>
          <a:xfrm>
            <a:off x="822960" y="1463040"/>
            <a:ext cx="1060704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554480"/>
            <a:ext cx="5120640" cy="384048"/>
          </a:xfrm>
          <a:prstGeom prst="rect">
            <a:avLst/>
          </a:prstGeom>
          <a:noFill/>
        </p:spPr>
        <p:txBody>
          <a:bodyPr wrap="square" lIns="0" rIns="0" tIns="0" bIns="0">
            <a:spAutoFit/>
          </a:bodyPr>
          <a:lstStyle/>
          <a:p>
            <a:pPr algn="l">
              <a:lnSpc>
                <a:spcPts val="1755"/>
              </a:lnSpc>
              <a:spcAft>
                <a:spcPts val="0"/>
              </a:spcAft>
            </a:pPr>
            <a:r>
              <a:rPr sz="1300" b="1" i="0">
                <a:solidFill>
                  <a:srgbClr val="1A1A1A"/>
                </a:solidFill>
                <a:latin typeface="Latin Modern Sans"/>
              </a:rPr>
              <a:t>In the field</a:t>
            </a:r>
          </a:p>
        </p:txBody>
      </p:sp>
      <p:sp>
        <p:nvSpPr>
          <p:cNvPr id="6" name="TextBox 5"/>
          <p:cNvSpPr txBox="1"/>
          <p:nvPr/>
        </p:nvSpPr>
        <p:spPr>
          <a:xfrm>
            <a:off x="6309360" y="1554480"/>
            <a:ext cx="5120640" cy="384048"/>
          </a:xfrm>
          <a:prstGeom prst="rect">
            <a:avLst/>
          </a:prstGeom>
          <a:noFill/>
        </p:spPr>
        <p:txBody>
          <a:bodyPr wrap="square" lIns="0" rIns="0" tIns="0" bIns="0">
            <a:spAutoFit/>
          </a:bodyPr>
          <a:lstStyle/>
          <a:p>
            <a:pPr algn="l">
              <a:lnSpc>
                <a:spcPts val="1755"/>
              </a:lnSpc>
              <a:spcAft>
                <a:spcPts val="0"/>
              </a:spcAft>
            </a:pPr>
            <a:r>
              <a:rPr sz="1300" b="1" i="0">
                <a:solidFill>
                  <a:srgbClr val="1A1A1A"/>
                </a:solidFill>
                <a:latin typeface="Latin Modern Sans"/>
              </a:rPr>
              <a:t>In the public files</a:t>
            </a:r>
          </a:p>
        </p:txBody>
      </p:sp>
      <p:cxnSp>
        <p:nvCxnSpPr>
          <p:cNvPr id="7" name="Connector 6"/>
          <p:cNvCxnSpPr/>
          <p:nvPr/>
        </p:nvCxnSpPr>
        <p:spPr>
          <a:xfrm>
            <a:off x="822960" y="1956816"/>
            <a:ext cx="1060704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048256"/>
            <a:ext cx="512064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Roster carried forward by the interviewer</a:t>
            </a:r>
          </a:p>
        </p:txBody>
      </p:sp>
      <p:sp>
        <p:nvSpPr>
          <p:cNvPr id="9" name="TextBox 8"/>
          <p:cNvSpPr txBox="1"/>
          <p:nvPr/>
        </p:nvSpPr>
        <p:spPr>
          <a:xfrm>
            <a:off x="6309360" y="2048256"/>
            <a:ext cx="512064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No person identifier at all</a:t>
            </a:r>
          </a:p>
        </p:txBody>
      </p:sp>
      <p:sp>
        <p:nvSpPr>
          <p:cNvPr id="10" name="TextBox 9"/>
          <p:cNvSpPr txBox="1"/>
          <p:nvPr/>
        </p:nvSpPr>
        <p:spPr>
          <a:xfrm>
            <a:off x="822960" y="2660904"/>
            <a:ext cx="512064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Each member keeps a line number</a:t>
            </a:r>
          </a:p>
        </p:txBody>
      </p:sp>
      <p:sp>
        <p:nvSpPr>
          <p:cNvPr id="11" name="TextBox 10"/>
          <p:cNvSpPr txBox="1"/>
          <p:nvPr/>
        </p:nvSpPr>
        <p:spPr>
          <a:xfrm>
            <a:off x="6309360" y="2660904"/>
            <a:ext cx="512064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Household id + dwelling id + line number reconstruct it</a:t>
            </a:r>
          </a:p>
        </p:txBody>
      </p:sp>
      <p:sp>
        <p:nvSpPr>
          <p:cNvPr id="12" name="TextBox 11"/>
          <p:cNvSpPr txBox="1"/>
          <p:nvPr/>
        </p:nvSpPr>
        <p:spPr>
          <a:xfrm>
            <a:off x="822960" y="3547872"/>
            <a:ext cx="512064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Occupation asked by dependent interviewing month to month</a:t>
            </a:r>
          </a:p>
        </p:txBody>
      </p:sp>
      <p:sp>
        <p:nvSpPr>
          <p:cNvPr id="13" name="TextBox 12"/>
          <p:cNvSpPr txBox="1"/>
          <p:nvPr/>
        </p:nvSpPr>
        <p:spPr>
          <a:xfrm>
            <a:off x="6309360" y="3547872"/>
            <a:ext cx="5120640" cy="384048"/>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Validated on sex, race, age advancing 0–2 years</a:t>
            </a:r>
          </a:p>
        </p:txBody>
      </p:sp>
      <p:sp>
        <p:nvSpPr>
          <p:cNvPr id="14" name="TextBox 13"/>
          <p:cNvSpPr txBox="1"/>
          <p:nvPr/>
        </p:nvSpPr>
        <p:spPr>
          <a:xfrm>
            <a:off x="822960" y="4434840"/>
            <a:ext cx="5120640" cy="384048"/>
          </a:xfrm>
          <a:prstGeom prst="rect">
            <a:avLst/>
          </a:prstGeom>
          <a:noFill/>
        </p:spPr>
        <p:txBody>
          <a:bodyPr wrap="square" lIns="0" rIns="0" tIns="0" bIns="0">
            <a:spAutoFit/>
          </a:bodyPr>
          <a:lstStyle/>
          <a:p>
            <a:pPr algn="l">
              <a:lnSpc>
                <a:spcPts val="1755"/>
              </a:lnSpc>
              <a:spcAft>
                <a:spcPts val="0"/>
              </a:spcAft>
            </a:pPr>
            <a:r>
              <a:rPr sz="1300" b="1" i="0">
                <a:solidFill>
                  <a:srgbClr val="1F3864"/>
                </a:solidFill>
                <a:latin typeface="Latin Modern Sans"/>
              </a:rPr>
              <a:t>Identity is known</a:t>
            </a:r>
          </a:p>
        </p:txBody>
      </p:sp>
      <p:sp>
        <p:nvSpPr>
          <p:cNvPr id="15" name="TextBox 14"/>
          <p:cNvSpPr txBox="1"/>
          <p:nvPr/>
        </p:nvSpPr>
        <p:spPr>
          <a:xfrm>
            <a:off x="6309360" y="4434840"/>
            <a:ext cx="5120640" cy="384048"/>
          </a:xfrm>
          <a:prstGeom prst="rect">
            <a:avLst/>
          </a:prstGeom>
          <a:noFill/>
        </p:spPr>
        <p:txBody>
          <a:bodyPr wrap="square" lIns="0" rIns="0" tIns="0" bIns="0">
            <a:spAutoFit/>
          </a:bodyPr>
          <a:lstStyle/>
          <a:p>
            <a:pPr algn="l">
              <a:lnSpc>
                <a:spcPts val="1755"/>
              </a:lnSpc>
              <a:spcAft>
                <a:spcPts val="0"/>
              </a:spcAft>
            </a:pPr>
            <a:r>
              <a:rPr sz="1300" b="1" i="0">
                <a:solidFill>
                  <a:srgbClr val="7B2530"/>
                </a:solidFill>
                <a:latin typeface="Latin Modern Sans"/>
              </a:rPr>
              <a:t>Identity is inferred: a mover replaced by someone of the same sex and similar age can slip through</a:t>
            </a:r>
          </a:p>
        </p:txBody>
      </p:sp>
      <p:cxnSp>
        <p:nvCxnSpPr>
          <p:cNvPr id="16" name="Connector 15"/>
          <p:cNvCxnSpPr/>
          <p:nvPr/>
        </p:nvCxnSpPr>
        <p:spPr>
          <a:xfrm>
            <a:off x="822960" y="5586983"/>
            <a:ext cx="1060704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How much is lost in linking, and who</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38</a:t>
            </a:r>
          </a:p>
        </p:txBody>
      </p:sp>
      <p:pic>
        <p:nvPicPr>
          <p:cNvPr id="4" name="Picture 3" descr="linkage_series.png"/>
          <p:cNvPicPr>
            <a:picLocks noChangeAspect="1"/>
          </p:cNvPicPr>
          <p:nvPr/>
        </p:nvPicPr>
        <p:blipFill>
          <a:blip r:embed="rId2"/>
          <a:stretch>
            <a:fillRect/>
          </a:stretch>
        </p:blipFill>
        <p:spPr>
          <a:xfrm>
            <a:off x="1069144" y="1051560"/>
            <a:ext cx="10023230" cy="4572000"/>
          </a:xfrm>
          <a:prstGeom prst="rect">
            <a:avLst/>
          </a:prstGeom>
        </p:spPr>
      </p:pic>
      <p:sp>
        <p:nvSpPr>
          <p:cNvPr id="5" name="TextBox 4"/>
          <p:cNvSpPr txBox="1"/>
          <p:nvPr/>
        </p:nvSpPr>
        <p:spPr>
          <a:xfrm>
            <a:off x="822960" y="5806440"/>
            <a:ext cx="10607040" cy="548640"/>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Why the rate falls as the definition tightens</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39</a:t>
            </a:r>
          </a:p>
        </p:txBody>
      </p:sp>
      <p:pic>
        <p:nvPicPr>
          <p:cNvPr id="4" name="Picture 3" descr="sighting_gradient.png"/>
          <p:cNvPicPr>
            <a:picLocks noChangeAspect="1"/>
          </p:cNvPicPr>
          <p:nvPr/>
        </p:nvPicPr>
        <p:blipFill>
          <a:blip r:embed="rId2"/>
          <a:stretch>
            <a:fillRect/>
          </a:stretch>
        </p:blipFill>
        <p:spPr>
          <a:xfrm>
            <a:off x="2057400" y="1051560"/>
            <a:ext cx="8046720" cy="4023360"/>
          </a:xfrm>
          <a:prstGeom prst="rect">
            <a:avLst/>
          </a:prstGeom>
        </p:spPr>
      </p:pic>
      <p:sp>
        <p:nvSpPr>
          <p:cNvPr id="5" name="TextBox 4"/>
          <p:cNvSpPr txBox="1"/>
          <p:nvPr/>
        </p:nvSpPr>
        <p:spPr>
          <a:xfrm>
            <a:off x="822960" y="5257800"/>
            <a:ext cx="10607040" cy="1005840"/>
          </a:xfrm>
          <a:prstGeom prst="rect">
            <a:avLst/>
          </a:prstGeom>
          <a:noFill/>
        </p:spPr>
        <p:txBody>
          <a:bodyPr wrap="square" lIns="0" rIns="0" tIns="0" bIns="0">
            <a:spAutoFit/>
          </a:bodyPr>
          <a:lstStyle/>
          <a:p>
            <a:pPr algn="l">
              <a:lnSpc>
                <a:spcPts val="1687"/>
              </a:lnSpc>
              <a:spcAft>
                <a:spcPts val="0"/>
              </a:spcAft>
            </a:pPr>
            <a:r>
              <a:rPr sz="1250" b="0" i="0">
                <a:solidFill>
                  <a:srgbClr val="1A1A1A"/>
                </a:solidFill>
                <a:latin typeface="Latin Modern Sans"/>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Public vs private schools</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40</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More professions, and their average</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41</a:t>
            </a:r>
          </a:p>
        </p:txBody>
      </p:sp>
      <p:pic>
        <p:nvPicPr>
          <p:cNvPr id="4" name="Picture 3" descr="profs_ext.png"/>
          <p:cNvPicPr>
            <a:picLocks noChangeAspect="1"/>
          </p:cNvPicPr>
          <p:nvPr/>
        </p:nvPicPr>
        <p:blipFill>
          <a:blip r:embed="rId2"/>
          <a:stretch>
            <a:fillRect/>
          </a:stretch>
        </p:blipFill>
        <p:spPr>
          <a:xfrm>
            <a:off x="1297304" y="1097280"/>
            <a:ext cx="9566910" cy="4937760"/>
          </a:xfrm>
          <a:prstGeom prst="rect">
            <a:avLst/>
          </a:prstGeom>
        </p:spPr>
      </p:pic>
      <p:sp>
        <p:nvSpPr>
          <p:cNvPr id="5" name="Rounded Rectangle 4">
            <a:hlinkClick action="ppaction://hlinksldjump" r:id="rId3"/>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Our destinations vs the NCES follow-up survey</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42</a:t>
            </a:r>
          </a:p>
        </p:txBody>
      </p:sp>
      <p:cxnSp>
        <p:nvCxnSpPr>
          <p:cNvPr id="4" name="Connector 3"/>
          <p:cNvCxnSpPr/>
          <p:nvPr/>
        </p:nvCxnSpPr>
        <p:spPr>
          <a:xfrm>
            <a:off x="548640" y="1417320"/>
            <a:ext cx="539496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08760"/>
            <a:ext cx="3017520" cy="338328"/>
          </a:xfrm>
          <a:prstGeom prst="rect">
            <a:avLst/>
          </a:prstGeom>
          <a:noFill/>
        </p:spPr>
        <p:txBody>
          <a:bodyPr wrap="square" lIns="0" rIns="0" tIns="0" bIns="0">
            <a:spAutoFit/>
          </a:bodyPr>
          <a:lstStyle/>
          <a:p>
            <a:pPr algn="l">
              <a:lnSpc>
                <a:spcPts val="1620"/>
              </a:lnSpc>
              <a:spcAft>
                <a:spcPts val="0"/>
              </a:spcAft>
            </a:pPr>
            <a:r>
              <a:rPr sz="1200" b="1" i="0">
                <a:solidFill>
                  <a:srgbClr val="1A1A1A"/>
                </a:solidFill>
                <a:latin typeface="Latin Modern Sans"/>
              </a:rPr>
              <a:t>Of every 100 leavers…</a:t>
            </a:r>
          </a:p>
        </p:txBody>
      </p:sp>
      <p:sp>
        <p:nvSpPr>
          <p:cNvPr id="6" name="TextBox 5"/>
          <p:cNvSpPr txBox="1"/>
          <p:nvPr/>
        </p:nvSpPr>
        <p:spPr>
          <a:xfrm>
            <a:off x="3657600" y="1508760"/>
            <a:ext cx="1097280" cy="338328"/>
          </a:xfrm>
          <a:prstGeom prst="rect">
            <a:avLst/>
          </a:prstGeom>
          <a:noFill/>
        </p:spPr>
        <p:txBody>
          <a:bodyPr wrap="square" lIns="0" rIns="0" tIns="0" bIns="0">
            <a:spAutoFit/>
          </a:bodyPr>
          <a:lstStyle/>
          <a:p>
            <a:pPr algn="r">
              <a:lnSpc>
                <a:spcPts val="1620"/>
              </a:lnSpc>
              <a:spcAft>
                <a:spcPts val="0"/>
              </a:spcAft>
            </a:pPr>
            <a:r>
              <a:rPr sz="1200" b="1" i="0">
                <a:solidFill>
                  <a:srgbClr val="1A1A1A"/>
                </a:solidFill>
                <a:latin typeface="Latin Modern Sans"/>
              </a:rPr>
              <a:t>CPS</a:t>
            </a:r>
          </a:p>
        </p:txBody>
      </p:sp>
      <p:sp>
        <p:nvSpPr>
          <p:cNvPr id="7" name="TextBox 6"/>
          <p:cNvSpPr txBox="1"/>
          <p:nvPr/>
        </p:nvSpPr>
        <p:spPr>
          <a:xfrm>
            <a:off x="4846320" y="1508760"/>
            <a:ext cx="1097280" cy="338328"/>
          </a:xfrm>
          <a:prstGeom prst="rect">
            <a:avLst/>
          </a:prstGeom>
          <a:noFill/>
        </p:spPr>
        <p:txBody>
          <a:bodyPr wrap="square" lIns="0" rIns="0" tIns="0" bIns="0">
            <a:spAutoFit/>
          </a:bodyPr>
          <a:lstStyle/>
          <a:p>
            <a:pPr algn="r">
              <a:lnSpc>
                <a:spcPts val="1620"/>
              </a:lnSpc>
              <a:spcAft>
                <a:spcPts val="0"/>
              </a:spcAft>
            </a:pPr>
            <a:r>
              <a:rPr sz="1200" b="1" i="0">
                <a:solidFill>
                  <a:srgbClr val="1A1A1A"/>
                </a:solidFill>
                <a:latin typeface="Latin Modern Sans"/>
              </a:rPr>
              <a:t>TFS</a:t>
            </a:r>
          </a:p>
        </p:txBody>
      </p:sp>
      <p:sp>
        <p:nvSpPr>
          <p:cNvPr id="8" name="TextBox 7"/>
          <p:cNvSpPr txBox="1"/>
          <p:nvPr/>
        </p:nvSpPr>
        <p:spPr>
          <a:xfrm>
            <a:off x="3657600" y="1847088"/>
            <a:ext cx="1097280" cy="338328"/>
          </a:xfrm>
          <a:prstGeom prst="rect">
            <a:avLst/>
          </a:prstGeom>
          <a:noFill/>
        </p:spPr>
        <p:txBody>
          <a:bodyPr wrap="square" lIns="0" rIns="0" tIns="0" bIns="0">
            <a:spAutoFit/>
          </a:bodyPr>
          <a:lstStyle/>
          <a:p>
            <a:pPr algn="r">
              <a:lnSpc>
                <a:spcPts val="1282"/>
              </a:lnSpc>
              <a:spcAft>
                <a:spcPts val="0"/>
              </a:spcAft>
            </a:pPr>
            <a:r>
              <a:rPr sz="950" b="0" i="0">
                <a:solidFill>
                  <a:srgbClr val="6B7480"/>
                </a:solidFill>
                <a:latin typeface="Latin Modern Sans"/>
              </a:rPr>
              <a:t>2020–24 avg.</a:t>
            </a:r>
          </a:p>
        </p:txBody>
      </p:sp>
      <p:sp>
        <p:nvSpPr>
          <p:cNvPr id="9" name="TextBox 8"/>
          <p:cNvSpPr txBox="1"/>
          <p:nvPr/>
        </p:nvSpPr>
        <p:spPr>
          <a:xfrm>
            <a:off x="4846320" y="1847088"/>
            <a:ext cx="1097280" cy="338328"/>
          </a:xfrm>
          <a:prstGeom prst="rect">
            <a:avLst/>
          </a:prstGeom>
          <a:noFill/>
        </p:spPr>
        <p:txBody>
          <a:bodyPr wrap="square" lIns="0" rIns="0" tIns="0" bIns="0">
            <a:spAutoFit/>
          </a:bodyPr>
          <a:lstStyle/>
          <a:p>
            <a:pPr algn="r">
              <a:lnSpc>
                <a:spcPts val="1282"/>
              </a:lnSpc>
              <a:spcAft>
                <a:spcPts val="0"/>
              </a:spcAft>
            </a:pPr>
            <a:r>
              <a:rPr sz="950" b="1" i="0">
                <a:solidFill>
                  <a:srgbClr val="1A1A1A"/>
                </a:solidFill>
                <a:latin typeface="Latin Modern Sans"/>
              </a:rPr>
              <a:t>2021–22</a:t>
            </a:r>
          </a:p>
        </p:txBody>
      </p:sp>
      <p:cxnSp>
        <p:nvCxnSpPr>
          <p:cNvPr id="10" name="Connector 9"/>
          <p:cNvCxnSpPr/>
          <p:nvPr/>
        </p:nvCxnSpPr>
        <p:spPr>
          <a:xfrm>
            <a:off x="548640" y="2203704"/>
            <a:ext cx="539496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38328"/>
          </a:xfrm>
          <a:prstGeom prst="rect">
            <a:avLst/>
          </a:prstGeom>
          <a:noFill/>
        </p:spPr>
        <p:txBody>
          <a:bodyPr wrap="square" lIns="0" rIns="0" tIns="0" bIns="0">
            <a:spAutoFit/>
          </a:bodyPr>
          <a:lstStyle/>
          <a:p>
            <a:pPr algn="l">
              <a:lnSpc>
                <a:spcPts val="1620"/>
              </a:lnSpc>
              <a:spcAft>
                <a:spcPts val="0"/>
              </a:spcAft>
            </a:pPr>
            <a:r>
              <a:rPr sz="1200" b="0" i="0">
                <a:solidFill>
                  <a:srgbClr val="1A1A1A"/>
                </a:solidFill>
                <a:latin typeface="Latin Modern Sans"/>
              </a:rPr>
              <a:t>Working in another job</a:t>
            </a:r>
          </a:p>
        </p:txBody>
      </p:sp>
      <p:sp>
        <p:nvSpPr>
          <p:cNvPr id="12" name="TextBox 11"/>
          <p:cNvSpPr txBox="1"/>
          <p:nvPr/>
        </p:nvSpPr>
        <p:spPr>
          <a:xfrm>
            <a:off x="3657600" y="2295144"/>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28.8</a:t>
            </a:r>
          </a:p>
        </p:txBody>
      </p:sp>
      <p:sp>
        <p:nvSpPr>
          <p:cNvPr id="13" name="TextBox 12"/>
          <p:cNvSpPr txBox="1"/>
          <p:nvPr/>
        </p:nvSpPr>
        <p:spPr>
          <a:xfrm>
            <a:off x="4846320" y="2295144"/>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57.2</a:t>
            </a:r>
          </a:p>
        </p:txBody>
      </p:sp>
      <p:sp>
        <p:nvSpPr>
          <p:cNvPr id="14" name="TextBox 13"/>
          <p:cNvSpPr txBox="1"/>
          <p:nvPr/>
        </p:nvSpPr>
        <p:spPr>
          <a:xfrm>
            <a:off x="548640" y="2633472"/>
            <a:ext cx="3017520" cy="338328"/>
          </a:xfrm>
          <a:prstGeom prst="rect">
            <a:avLst/>
          </a:prstGeom>
          <a:noFill/>
        </p:spPr>
        <p:txBody>
          <a:bodyPr wrap="square" lIns="0" rIns="0" tIns="0" bIns="0">
            <a:spAutoFit/>
          </a:bodyPr>
          <a:lstStyle/>
          <a:p>
            <a:pPr algn="l">
              <a:lnSpc>
                <a:spcPts val="1620"/>
              </a:lnSpc>
              <a:spcAft>
                <a:spcPts val="0"/>
              </a:spcAft>
            </a:pPr>
            <a:r>
              <a:rPr sz="1200" b="0" i="0">
                <a:solidFill>
                  <a:srgbClr val="1A1A1A"/>
                </a:solidFill>
                <a:latin typeface="Latin Modern Sans"/>
              </a:rPr>
              <a:t>   K–12, non-teaching</a:t>
            </a:r>
          </a:p>
        </p:txBody>
      </p:sp>
      <p:sp>
        <p:nvSpPr>
          <p:cNvPr id="15" name="TextBox 14"/>
          <p:cNvSpPr txBox="1"/>
          <p:nvPr/>
        </p:nvSpPr>
        <p:spPr>
          <a:xfrm>
            <a:off x="3657600" y="2633472"/>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a:t>
            </a:r>
          </a:p>
        </p:txBody>
      </p:sp>
      <p:sp>
        <p:nvSpPr>
          <p:cNvPr id="16" name="TextBox 15"/>
          <p:cNvSpPr txBox="1"/>
          <p:nvPr/>
        </p:nvSpPr>
        <p:spPr>
          <a:xfrm>
            <a:off x="4846320" y="2633472"/>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39.3</a:t>
            </a:r>
          </a:p>
        </p:txBody>
      </p:sp>
      <p:sp>
        <p:nvSpPr>
          <p:cNvPr id="17" name="TextBox 16"/>
          <p:cNvSpPr txBox="1"/>
          <p:nvPr/>
        </p:nvSpPr>
        <p:spPr>
          <a:xfrm>
            <a:off x="548640" y="2971800"/>
            <a:ext cx="3017520" cy="338328"/>
          </a:xfrm>
          <a:prstGeom prst="rect">
            <a:avLst/>
          </a:prstGeom>
          <a:noFill/>
        </p:spPr>
        <p:txBody>
          <a:bodyPr wrap="square" lIns="0" rIns="0" tIns="0" bIns="0">
            <a:spAutoFit/>
          </a:bodyPr>
          <a:lstStyle/>
          <a:p>
            <a:pPr algn="l">
              <a:lnSpc>
                <a:spcPts val="1620"/>
              </a:lnSpc>
              <a:spcAft>
                <a:spcPts val="0"/>
              </a:spcAft>
            </a:pPr>
            <a:r>
              <a:rPr sz="1200" b="0" i="0">
                <a:solidFill>
                  <a:srgbClr val="1A1A1A"/>
                </a:solidFill>
                <a:latin typeface="Latin Modern Sans"/>
              </a:rPr>
              <a:t>   outside education</a:t>
            </a:r>
          </a:p>
        </p:txBody>
      </p:sp>
      <p:sp>
        <p:nvSpPr>
          <p:cNvPr id="18" name="TextBox 17"/>
          <p:cNvSpPr txBox="1"/>
          <p:nvPr/>
        </p:nvSpPr>
        <p:spPr>
          <a:xfrm>
            <a:off x="3657600" y="2971800"/>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a:t>
            </a:r>
          </a:p>
        </p:txBody>
      </p:sp>
      <p:sp>
        <p:nvSpPr>
          <p:cNvPr id="19" name="TextBox 18"/>
          <p:cNvSpPr txBox="1"/>
          <p:nvPr/>
        </p:nvSpPr>
        <p:spPr>
          <a:xfrm>
            <a:off x="4846320" y="2971800"/>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11.8</a:t>
            </a:r>
          </a:p>
        </p:txBody>
      </p:sp>
      <p:sp>
        <p:nvSpPr>
          <p:cNvPr id="20" name="TextBox 19"/>
          <p:cNvSpPr txBox="1"/>
          <p:nvPr/>
        </p:nvSpPr>
        <p:spPr>
          <a:xfrm>
            <a:off x="548640" y="3310128"/>
            <a:ext cx="3017520" cy="338328"/>
          </a:xfrm>
          <a:prstGeom prst="rect">
            <a:avLst/>
          </a:prstGeom>
          <a:noFill/>
        </p:spPr>
        <p:txBody>
          <a:bodyPr wrap="square" lIns="0" rIns="0" tIns="0" bIns="0">
            <a:spAutoFit/>
          </a:bodyPr>
          <a:lstStyle/>
          <a:p>
            <a:pPr algn="l">
              <a:lnSpc>
                <a:spcPts val="1620"/>
              </a:lnSpc>
              <a:spcAft>
                <a:spcPts val="0"/>
              </a:spcAft>
            </a:pPr>
            <a:r>
              <a:rPr sz="1200" b="0" i="0">
                <a:solidFill>
                  <a:srgbClr val="1A1A1A"/>
                </a:solidFill>
                <a:latin typeface="Latin Modern Sans"/>
              </a:rPr>
              <a:t>Retired / out of LF, 55+</a:t>
            </a:r>
          </a:p>
        </p:txBody>
      </p:sp>
      <p:sp>
        <p:nvSpPr>
          <p:cNvPr id="21" name="TextBox 20"/>
          <p:cNvSpPr txBox="1"/>
          <p:nvPr/>
        </p:nvSpPr>
        <p:spPr>
          <a:xfrm>
            <a:off x="3657600" y="3310128"/>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36.4</a:t>
            </a:r>
          </a:p>
        </p:txBody>
      </p:sp>
      <p:sp>
        <p:nvSpPr>
          <p:cNvPr id="22" name="TextBox 21"/>
          <p:cNvSpPr txBox="1"/>
          <p:nvPr/>
        </p:nvSpPr>
        <p:spPr>
          <a:xfrm>
            <a:off x="4846320" y="3310128"/>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27.7</a:t>
            </a:r>
          </a:p>
        </p:txBody>
      </p:sp>
      <p:sp>
        <p:nvSpPr>
          <p:cNvPr id="23" name="TextBox 22"/>
          <p:cNvSpPr txBox="1"/>
          <p:nvPr/>
        </p:nvSpPr>
        <p:spPr>
          <a:xfrm>
            <a:off x="548640" y="3648456"/>
            <a:ext cx="3017520" cy="338328"/>
          </a:xfrm>
          <a:prstGeom prst="rect">
            <a:avLst/>
          </a:prstGeom>
          <a:noFill/>
        </p:spPr>
        <p:txBody>
          <a:bodyPr wrap="square" lIns="0" rIns="0" tIns="0" bIns="0">
            <a:spAutoFit/>
          </a:bodyPr>
          <a:lstStyle/>
          <a:p>
            <a:pPr algn="l">
              <a:lnSpc>
                <a:spcPts val="1620"/>
              </a:lnSpc>
              <a:spcAft>
                <a:spcPts val="0"/>
              </a:spcAft>
            </a:pPr>
            <a:r>
              <a:rPr sz="1200" b="0" i="0">
                <a:solidFill>
                  <a:srgbClr val="1A1A1A"/>
                </a:solidFill>
                <a:latin typeface="Latin Modern Sans"/>
              </a:rPr>
              <a:t>Out of the LF, under 55</a:t>
            </a:r>
          </a:p>
        </p:txBody>
      </p:sp>
      <p:sp>
        <p:nvSpPr>
          <p:cNvPr id="24" name="TextBox 23"/>
          <p:cNvSpPr txBox="1"/>
          <p:nvPr/>
        </p:nvSpPr>
        <p:spPr>
          <a:xfrm>
            <a:off x="3657600" y="3648456"/>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23.7</a:t>
            </a:r>
          </a:p>
        </p:txBody>
      </p:sp>
      <p:sp>
        <p:nvSpPr>
          <p:cNvPr id="25" name="TextBox 24"/>
          <p:cNvSpPr txBox="1"/>
          <p:nvPr/>
        </p:nvSpPr>
        <p:spPr>
          <a:xfrm>
            <a:off x="4846320" y="3648456"/>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10.1</a:t>
            </a:r>
          </a:p>
        </p:txBody>
      </p:sp>
      <p:sp>
        <p:nvSpPr>
          <p:cNvPr id="26" name="TextBox 25"/>
          <p:cNvSpPr txBox="1"/>
          <p:nvPr/>
        </p:nvSpPr>
        <p:spPr>
          <a:xfrm>
            <a:off x="548640" y="3986784"/>
            <a:ext cx="3017520" cy="338328"/>
          </a:xfrm>
          <a:prstGeom prst="rect">
            <a:avLst/>
          </a:prstGeom>
          <a:noFill/>
        </p:spPr>
        <p:txBody>
          <a:bodyPr wrap="square" lIns="0" rIns="0" tIns="0" bIns="0">
            <a:spAutoFit/>
          </a:bodyPr>
          <a:lstStyle/>
          <a:p>
            <a:pPr algn="l">
              <a:lnSpc>
                <a:spcPts val="1620"/>
              </a:lnSpc>
              <a:spcAft>
                <a:spcPts val="0"/>
              </a:spcAft>
            </a:pPr>
            <a:r>
              <a:rPr sz="1200" b="0" i="0">
                <a:solidFill>
                  <a:srgbClr val="1A1A1A"/>
                </a:solidFill>
                <a:latin typeface="Latin Modern Sans"/>
              </a:rPr>
              <a:t>Unemployed</a:t>
            </a:r>
          </a:p>
        </p:txBody>
      </p:sp>
      <p:sp>
        <p:nvSpPr>
          <p:cNvPr id="27" name="TextBox 26"/>
          <p:cNvSpPr txBox="1"/>
          <p:nvPr/>
        </p:nvSpPr>
        <p:spPr>
          <a:xfrm>
            <a:off x="3657600" y="3986784"/>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11.1</a:t>
            </a:r>
          </a:p>
        </p:txBody>
      </p:sp>
      <p:sp>
        <p:nvSpPr>
          <p:cNvPr id="28" name="TextBox 27"/>
          <p:cNvSpPr txBox="1"/>
          <p:nvPr/>
        </p:nvSpPr>
        <p:spPr>
          <a:xfrm>
            <a:off x="4846320" y="3986784"/>
            <a:ext cx="1097280" cy="338328"/>
          </a:xfrm>
          <a:prstGeom prst="rect">
            <a:avLst/>
          </a:prstGeom>
          <a:noFill/>
        </p:spPr>
        <p:txBody>
          <a:bodyPr wrap="square" lIns="0" rIns="0" tIns="0" bIns="0">
            <a:spAutoFit/>
          </a:bodyPr>
          <a:lstStyle/>
          <a:p>
            <a:pPr algn="r">
              <a:lnSpc>
                <a:spcPts val="1620"/>
              </a:lnSpc>
              <a:spcAft>
                <a:spcPts val="0"/>
              </a:spcAft>
            </a:pPr>
            <a:r>
              <a:rPr sz="1200" b="0" i="0">
                <a:solidFill>
                  <a:srgbClr val="1A1A1A"/>
                </a:solidFill>
                <a:latin typeface="Latin Modern Sans"/>
              </a:rPr>
              <a:t>4.8</a:t>
            </a:r>
          </a:p>
        </p:txBody>
      </p:sp>
      <p:cxnSp>
        <p:nvCxnSpPr>
          <p:cNvPr id="29" name="Connector 28"/>
          <p:cNvCxnSpPr/>
          <p:nvPr/>
        </p:nvCxnSpPr>
        <p:spPr>
          <a:xfrm>
            <a:off x="548640" y="4361688"/>
            <a:ext cx="539496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489704"/>
            <a:ext cx="5486400" cy="1097280"/>
          </a:xfrm>
          <a:prstGeom prst="rect">
            <a:avLst/>
          </a:prstGeom>
          <a:noFill/>
        </p:spPr>
        <p:txBody>
          <a:bodyPr wrap="square" lIns="0" rIns="0" tIns="0" bIns="0">
            <a:spAutoFit/>
          </a:bodyPr>
          <a:lstStyle/>
          <a:p>
            <a:pPr algn="l">
              <a:lnSpc>
                <a:spcPts val="1350"/>
              </a:lnSpc>
              <a:spcAft>
                <a:spcPts val="0"/>
              </a:spcAft>
            </a:pPr>
            <a:r>
              <a:rPr sz="1000" b="0" i="1">
                <a:solidFill>
                  <a:srgbClr val="6B7480"/>
                </a:solidFill>
                <a:latin typeface="Latin Modern Sans"/>
              </a:rPr>
              <a:t>TFS: Teacher Follow-up Survey 2021–22, the follow-up of the 2020–21 NTPS. Sources: NCES 2024-039, table A-8, and NTPS estimate tables.</a:t>
            </a:r>
          </a:p>
        </p:txBody>
      </p:sp>
      <p:sp>
        <p:nvSpPr>
          <p:cNvPr id="31" name="TextBox 30"/>
          <p:cNvSpPr txBox="1"/>
          <p:nvPr/>
        </p:nvSpPr>
        <p:spPr>
          <a:xfrm>
            <a:off x="6492240" y="1325880"/>
            <a:ext cx="5212080" cy="365760"/>
          </a:xfrm>
          <a:prstGeom prst="rect">
            <a:avLst/>
          </a:prstGeom>
          <a:noFill/>
        </p:spPr>
        <p:txBody>
          <a:bodyPr wrap="square" lIns="0" rIns="0" tIns="0" bIns="0">
            <a:spAutoFit/>
          </a:bodyPr>
          <a:lstStyle/>
          <a:p>
            <a:pPr algn="l">
              <a:lnSpc>
                <a:spcPts val="1890"/>
              </a:lnSpc>
              <a:spcAft>
                <a:spcPts val="0"/>
              </a:spcAft>
            </a:pPr>
            <a:r>
              <a:rPr sz="1400" b="1" i="0">
                <a:solidFill>
                  <a:srgbClr val="1F3864"/>
                </a:solidFill>
                <a:latin typeface="Latin Modern Sans"/>
              </a:rPr>
              <a:t>Why the columns differ</a:t>
            </a:r>
          </a:p>
        </p:txBody>
      </p:sp>
      <p:sp>
        <p:nvSpPr>
          <p:cNvPr id="32" name="TextBox 31"/>
          <p:cNvSpPr txBox="1"/>
          <p:nvPr/>
        </p:nvSpPr>
        <p:spPr>
          <a:xfrm>
            <a:off x="6492240" y="1783080"/>
            <a:ext cx="5212080" cy="5029200"/>
          </a:xfrm>
          <a:prstGeom prst="rect">
            <a:avLst/>
          </a:prstGeom>
          <a:noFill/>
        </p:spPr>
        <p:txBody>
          <a:bodyPr wrap="square" lIns="0" rIns="0" tIns="0" bIns="0">
            <a:spAutoFit/>
          </a:bodyPr>
          <a:lstStyle/>
          <a:p>
            <a:pPr algn="l">
              <a:lnSpc>
                <a:spcPts val="1485"/>
              </a:lnSpc>
              <a:spcAft>
                <a:spcPts val="800"/>
              </a:spcAft>
            </a:pPr>
            <a:r>
              <a:rPr sz="1100" b="0" i="0">
                <a:solidFill>
                  <a:srgbClr val="1F3864"/>
                </a:solidFill>
                <a:latin typeface="Latin Modern Sans"/>
              </a:rPr>
              <a:t>1.   </a:t>
            </a:r>
            <a:r>
              <a:rPr sz="1100" b="1" i="0">
                <a:solidFill>
                  <a:srgbClr val="1F3864"/>
                </a:solidFill>
                <a:latin typeface="Latin Modern Sans"/>
              </a:rPr>
              <a:t>Who counts as a teacher. </a:t>
            </a:r>
            <a:r>
              <a:rPr sz="1100" b="0" i="0">
                <a:solidFill>
                  <a:srgbClr val="1A1A1A"/>
                </a:solidFill>
                <a:latin typeface="Latin Modern Sans"/>
              </a:rPr>
              <a:t>TFS follows regular classroom teachers of public schools, sampled in schools. We cover public and private, and anyone whose longest job was teaching, including part-year and part-time.</a:t>
            </a:r>
          </a:p>
          <a:p>
            <a:pPr algn="l">
              <a:lnSpc>
                <a:spcPts val="1485"/>
              </a:lnSpc>
              <a:spcAft>
                <a:spcPts val="800"/>
              </a:spcAft>
            </a:pPr>
            <a:r>
              <a:rPr sz="1100" b="0" i="0">
                <a:solidFill>
                  <a:srgbClr val="1F3864"/>
                </a:solidFill>
                <a:latin typeface="Latin Modern Sans"/>
              </a:rPr>
              <a:t>2.   </a:t>
            </a:r>
            <a:r>
              <a:rPr sz="1100" b="1" i="0">
                <a:solidFill>
                  <a:srgbClr val="1F3864"/>
                </a:solidFill>
                <a:latin typeface="Latin Modern Sans"/>
              </a:rPr>
              <a:t>What counts as working. </a:t>
            </a:r>
            <a:r>
              <a:rPr sz="1100" b="0" i="0">
                <a:solidFill>
                  <a:srgbClr val="1A1A1A"/>
                </a:solidFill>
                <a:latin typeface="Latin Modern Sans"/>
              </a:rPr>
              <a:t>39 of the TFS’s 57 employed leavers hold non-teaching K–12 jobs: they left the classroom, not the school system. Our 28.8 means leaving the teaching occupation.</a:t>
            </a:r>
          </a:p>
          <a:p>
            <a:pPr algn="l">
              <a:lnSpc>
                <a:spcPts val="1485"/>
              </a:lnSpc>
              <a:spcAft>
                <a:spcPts val="800"/>
              </a:spcAft>
            </a:pPr>
            <a:r>
              <a:rPr sz="1100" b="0" i="0">
                <a:solidFill>
                  <a:srgbClr val="1F3864"/>
                </a:solidFill>
                <a:latin typeface="Latin Modern Sans"/>
              </a:rPr>
              <a:t>3.   </a:t>
            </a:r>
            <a:r>
              <a:rPr sz="1100" b="1" i="0">
                <a:solidFill>
                  <a:srgbClr val="1F3864"/>
                </a:solidFill>
                <a:latin typeface="Latin Modern Sans"/>
              </a:rPr>
              <a:t>Who is reachable. </a:t>
            </a:r>
            <a:r>
              <a:rPr sz="1100" b="0" i="0">
                <a:solidFill>
                  <a:srgbClr val="1A1A1A"/>
                </a:solidFill>
                <a:latin typeface="Latin Modern Sans"/>
              </a:rPr>
              <a:t>A school-based sample under-represents weakly attached teachers, exactly those who exit to non-participation; a household survey catches them.</a:t>
            </a:r>
          </a:p>
          <a:p>
            <a:pPr algn="l">
              <a:lnSpc>
                <a:spcPts val="1485"/>
              </a:lnSpc>
              <a:spcAft>
                <a:spcPts val="0"/>
              </a:spcAft>
            </a:pPr>
            <a:r>
              <a:rPr sz="1100" b="0" i="0">
                <a:solidFill>
                  <a:srgbClr val="1F3864"/>
                </a:solidFill>
                <a:latin typeface="Latin Modern Sans"/>
              </a:rPr>
              <a:t>4.   </a:t>
            </a:r>
            <a:r>
              <a:rPr sz="1100" b="1" i="0">
                <a:solidFill>
                  <a:srgbClr val="1F3864"/>
                </a:solidFill>
                <a:latin typeface="Latin Modern Sans"/>
              </a:rPr>
              <a:t>The window. </a:t>
            </a:r>
            <a:r>
              <a:rPr sz="1100" b="0" i="0">
                <a:solidFill>
                  <a:srgbClr val="1A1A1A"/>
                </a:solidFill>
                <a:latin typeface="Latin Modern Sans"/>
              </a:rPr>
              <a:t>Our column averages five years, 2020–2024; the TFS is the single year 2021–22.</a:t>
            </a:r>
          </a:p>
        </p:txBody>
      </p:sp>
      <p:sp>
        <p:nvSpPr>
          <p:cNvPr id="33" name="Rounded Rectangle 32">
            <a:hlinkClick action="ppaction://hlinksldjump" r:id="rId2"/>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Is the teacher group constant across code changes?</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43</a:t>
            </a:r>
          </a:p>
        </p:txBody>
      </p:sp>
      <p:pic>
        <p:nvPicPr>
          <p:cNvPr id="4" name="Picture 3" descr="codes_narrow.png"/>
          <p:cNvPicPr>
            <a:picLocks noChangeAspect="1"/>
          </p:cNvPicPr>
          <p:nvPr/>
        </p:nvPicPr>
        <p:blipFill>
          <a:blip r:embed="rId2"/>
          <a:stretch>
            <a:fillRect/>
          </a:stretch>
        </p:blipFill>
        <p:spPr>
          <a:xfrm>
            <a:off x="1069144" y="1051560"/>
            <a:ext cx="10023230" cy="4572000"/>
          </a:xfrm>
          <a:prstGeom prst="rect">
            <a:avLst/>
          </a:prstGeom>
        </p:spPr>
      </p:pic>
      <p:sp>
        <p:nvSpPr>
          <p:cNvPr id="5" name="TextBox 4"/>
          <p:cNvSpPr txBox="1"/>
          <p:nvPr/>
        </p:nvSpPr>
        <p:spPr>
          <a:xfrm>
            <a:off x="822960" y="5806440"/>
            <a:ext cx="10607040" cy="548640"/>
          </a:xfrm>
          <a:prstGeom prst="rect">
            <a:avLst/>
          </a:prstGeom>
          <a:noFill/>
        </p:spPr>
        <p:txBody>
          <a:bodyPr wrap="square" lIns="0" rIns="0" tIns="0" bIns="0">
            <a:spAutoFit/>
          </a:bodyPr>
          <a:lstStyle/>
          <a:p>
            <a:pPr algn="l">
              <a:lnSpc>
                <a:spcPts val="1755"/>
              </a:lnSpc>
              <a:spcAft>
                <a:spcPts val="0"/>
              </a:spcAft>
            </a:pPr>
            <a:r>
              <a:rPr sz="1300" b="0" i="0">
                <a:solidFill>
                  <a:srgbClr val="1A1A1A"/>
                </a:solidFill>
                <a:latin typeface="Latin Modern Sans"/>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Linear probability model, fixed-effects variants</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44</a:t>
            </a:r>
          </a:p>
        </p:txBody>
      </p:sp>
      <p:cxnSp>
        <p:nvCxnSpPr>
          <p:cNvPr id="4" name="Connector 3"/>
          <p:cNvCxnSpPr/>
          <p:nvPr/>
        </p:nvCxnSpPr>
        <p:spPr>
          <a:xfrm>
            <a:off x="1005840" y="1325880"/>
            <a:ext cx="950976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89888"/>
            <a:ext cx="5486400" cy="274320"/>
          </a:xfrm>
          <a:prstGeom prst="rect">
            <a:avLst/>
          </a:prstGeom>
          <a:noFill/>
        </p:spPr>
        <p:txBody>
          <a:bodyPr wrap="square" lIns="0" rIns="0" tIns="0" bIns="0">
            <a:spAutoFit/>
          </a:bodyPr>
          <a:lstStyle/>
          <a:p>
            <a:pPr algn="ctr">
              <a:lnSpc>
                <a:spcPts val="1552"/>
              </a:lnSpc>
              <a:spcAft>
                <a:spcPts val="0"/>
              </a:spcAft>
            </a:pPr>
            <a:r>
              <a:rPr sz="1150" b="0" i="0">
                <a:solidFill>
                  <a:srgbClr val="1A1A1A"/>
                </a:solidFill>
                <a:latin typeface="Latin Modern Sans"/>
              </a:rPr>
              <a:t>Dependent variable: left teaching (×100)</a:t>
            </a:r>
          </a:p>
        </p:txBody>
      </p:sp>
      <p:cxnSp>
        <p:nvCxnSpPr>
          <p:cNvPr id="6" name="Connector 5"/>
          <p:cNvCxnSpPr/>
          <p:nvPr/>
        </p:nvCxnSpPr>
        <p:spPr>
          <a:xfrm>
            <a:off x="5029200" y="1700784"/>
            <a:ext cx="548640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55648"/>
            <a:ext cx="1691640" cy="274320"/>
          </a:xfrm>
          <a:prstGeom prst="rect">
            <a:avLst/>
          </a:prstGeom>
          <a:noFill/>
        </p:spPr>
        <p:txBody>
          <a:bodyPr wrap="square" lIns="0" rIns="0" tIns="0" bIns="0">
            <a:spAutoFit/>
          </a:bodyPr>
          <a:lstStyle/>
          <a:p>
            <a:pPr algn="r">
              <a:lnSpc>
                <a:spcPts val="1552"/>
              </a:lnSpc>
              <a:spcAft>
                <a:spcPts val="0"/>
              </a:spcAft>
            </a:pPr>
            <a:r>
              <a:rPr sz="1150" b="1" i="0">
                <a:solidFill>
                  <a:srgbClr val="1A1A1A"/>
                </a:solidFill>
                <a:latin typeface="Latin Modern Sans"/>
              </a:rPr>
              <a:t>(1)</a:t>
            </a:r>
          </a:p>
        </p:txBody>
      </p:sp>
      <p:sp>
        <p:nvSpPr>
          <p:cNvPr id="8" name="TextBox 7"/>
          <p:cNvSpPr txBox="1"/>
          <p:nvPr/>
        </p:nvSpPr>
        <p:spPr>
          <a:xfrm>
            <a:off x="6903720" y="1755648"/>
            <a:ext cx="1691640" cy="274320"/>
          </a:xfrm>
          <a:prstGeom prst="rect">
            <a:avLst/>
          </a:prstGeom>
          <a:noFill/>
        </p:spPr>
        <p:txBody>
          <a:bodyPr wrap="square" lIns="0" rIns="0" tIns="0" bIns="0">
            <a:spAutoFit/>
          </a:bodyPr>
          <a:lstStyle/>
          <a:p>
            <a:pPr algn="r">
              <a:lnSpc>
                <a:spcPts val="1552"/>
              </a:lnSpc>
              <a:spcAft>
                <a:spcPts val="0"/>
              </a:spcAft>
            </a:pPr>
            <a:r>
              <a:rPr sz="1150" b="1" i="0">
                <a:solidFill>
                  <a:srgbClr val="1A1A1A"/>
                </a:solidFill>
                <a:latin typeface="Latin Modern Sans"/>
              </a:rPr>
              <a:t>(2)</a:t>
            </a:r>
          </a:p>
        </p:txBody>
      </p:sp>
      <p:sp>
        <p:nvSpPr>
          <p:cNvPr id="9" name="TextBox 8"/>
          <p:cNvSpPr txBox="1"/>
          <p:nvPr/>
        </p:nvSpPr>
        <p:spPr>
          <a:xfrm>
            <a:off x="8778240" y="1755648"/>
            <a:ext cx="1691640" cy="274320"/>
          </a:xfrm>
          <a:prstGeom prst="rect">
            <a:avLst/>
          </a:prstGeom>
          <a:noFill/>
        </p:spPr>
        <p:txBody>
          <a:bodyPr wrap="square" lIns="0" rIns="0" tIns="0" bIns="0">
            <a:spAutoFit/>
          </a:bodyPr>
          <a:lstStyle/>
          <a:p>
            <a:pPr algn="r">
              <a:lnSpc>
                <a:spcPts val="1552"/>
              </a:lnSpc>
              <a:spcAft>
                <a:spcPts val="0"/>
              </a:spcAft>
            </a:pPr>
            <a:r>
              <a:rPr sz="1150" b="1" i="0">
                <a:solidFill>
                  <a:srgbClr val="1A1A1A"/>
                </a:solidFill>
                <a:latin typeface="Latin Modern Sans"/>
              </a:rPr>
              <a:t>(3)</a:t>
            </a:r>
          </a:p>
        </p:txBody>
      </p:sp>
      <p:cxnSp>
        <p:nvCxnSpPr>
          <p:cNvPr id="10" name="Connector 9"/>
          <p:cNvCxnSpPr/>
          <p:nvPr/>
        </p:nvCxnSpPr>
        <p:spPr>
          <a:xfrm>
            <a:off x="1005840" y="2066543"/>
            <a:ext cx="950976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39696"/>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Full-year contract</a:t>
            </a:r>
          </a:p>
        </p:txBody>
      </p:sp>
      <p:sp>
        <p:nvSpPr>
          <p:cNvPr id="12" name="TextBox 11"/>
          <p:cNvSpPr txBox="1"/>
          <p:nvPr/>
        </p:nvSpPr>
        <p:spPr>
          <a:xfrm>
            <a:off x="5029200" y="213969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−11.54***</a:t>
            </a:r>
          </a:p>
        </p:txBody>
      </p:sp>
      <p:sp>
        <p:nvSpPr>
          <p:cNvPr id="13" name="TextBox 12"/>
          <p:cNvSpPr txBox="1"/>
          <p:nvPr/>
        </p:nvSpPr>
        <p:spPr>
          <a:xfrm>
            <a:off x="6903720" y="213969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−11.55***</a:t>
            </a:r>
          </a:p>
        </p:txBody>
      </p:sp>
      <p:sp>
        <p:nvSpPr>
          <p:cNvPr id="14" name="TextBox 13"/>
          <p:cNvSpPr txBox="1"/>
          <p:nvPr/>
        </p:nvSpPr>
        <p:spPr>
          <a:xfrm>
            <a:off x="8778240" y="213969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−11.65***</a:t>
            </a:r>
          </a:p>
        </p:txBody>
      </p:sp>
      <p:sp>
        <p:nvSpPr>
          <p:cNvPr id="15" name="TextBox 14"/>
          <p:cNvSpPr txBox="1"/>
          <p:nvPr/>
        </p:nvSpPr>
        <p:spPr>
          <a:xfrm>
            <a:off x="5029200" y="238201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(0.67)</a:t>
            </a:r>
          </a:p>
        </p:txBody>
      </p:sp>
      <p:sp>
        <p:nvSpPr>
          <p:cNvPr id="16" name="TextBox 15"/>
          <p:cNvSpPr txBox="1"/>
          <p:nvPr/>
        </p:nvSpPr>
        <p:spPr>
          <a:xfrm>
            <a:off x="6903720" y="238201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(0.66)</a:t>
            </a:r>
          </a:p>
        </p:txBody>
      </p:sp>
      <p:sp>
        <p:nvSpPr>
          <p:cNvPr id="17" name="TextBox 16"/>
          <p:cNvSpPr txBox="1"/>
          <p:nvPr/>
        </p:nvSpPr>
        <p:spPr>
          <a:xfrm>
            <a:off x="8778240" y="238201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+8.63***</a:t>
            </a:r>
          </a:p>
        </p:txBody>
      </p:sp>
      <p:sp>
        <p:nvSpPr>
          <p:cNvPr id="22" name="TextBox 21"/>
          <p:cNvSpPr txBox="1"/>
          <p:nvPr/>
        </p:nvSpPr>
        <p:spPr>
          <a:xfrm>
            <a:off x="5029200" y="287578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(1.09)</a:t>
            </a:r>
          </a:p>
        </p:txBody>
      </p:sp>
      <p:sp>
        <p:nvSpPr>
          <p:cNvPr id="23" name="TextBox 22"/>
          <p:cNvSpPr txBox="1"/>
          <p:nvPr/>
        </p:nvSpPr>
        <p:spPr>
          <a:xfrm>
            <a:off x="6903720" y="287578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(1.09)</a:t>
            </a:r>
          </a:p>
        </p:txBody>
      </p:sp>
      <p:sp>
        <p:nvSpPr>
          <p:cNvPr id="24" name="TextBox 23"/>
          <p:cNvSpPr txBox="1"/>
          <p:nvPr/>
        </p:nvSpPr>
        <p:spPr>
          <a:xfrm>
            <a:off x="8778240" y="287578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(1.10)</a:t>
            </a:r>
          </a:p>
        </p:txBody>
      </p:sp>
      <p:sp>
        <p:nvSpPr>
          <p:cNvPr id="25" name="TextBox 24"/>
          <p:cNvSpPr txBox="1"/>
          <p:nvPr/>
        </p:nvSpPr>
        <p:spPr>
          <a:xfrm>
            <a:off x="1005840" y="3127248"/>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Employer pension plan</a:t>
            </a:r>
          </a:p>
        </p:txBody>
      </p:sp>
      <p:sp>
        <p:nvSpPr>
          <p:cNvPr id="26" name="TextBox 25"/>
          <p:cNvSpPr txBox="1"/>
          <p:nvPr/>
        </p:nvSpPr>
        <p:spPr>
          <a:xfrm>
            <a:off x="5029200" y="312724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−2.35***</a:t>
            </a:r>
          </a:p>
        </p:txBody>
      </p:sp>
      <p:sp>
        <p:nvSpPr>
          <p:cNvPr id="27" name="TextBox 26"/>
          <p:cNvSpPr txBox="1"/>
          <p:nvPr/>
        </p:nvSpPr>
        <p:spPr>
          <a:xfrm>
            <a:off x="6903720" y="312724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−2.33***</a:t>
            </a:r>
          </a:p>
        </p:txBody>
      </p:sp>
      <p:sp>
        <p:nvSpPr>
          <p:cNvPr id="28" name="TextBox 27"/>
          <p:cNvSpPr txBox="1"/>
          <p:nvPr/>
        </p:nvSpPr>
        <p:spPr>
          <a:xfrm>
            <a:off x="8778240" y="312724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−2.33***</a:t>
            </a:r>
          </a:p>
        </p:txBody>
      </p:sp>
      <p:sp>
        <p:nvSpPr>
          <p:cNvPr id="29" name="TextBox 28"/>
          <p:cNvSpPr txBox="1"/>
          <p:nvPr/>
        </p:nvSpPr>
        <p:spPr>
          <a:xfrm>
            <a:off x="5029200" y="3369564"/>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(0.52)</a:t>
            </a:r>
          </a:p>
        </p:txBody>
      </p:sp>
      <p:sp>
        <p:nvSpPr>
          <p:cNvPr id="30" name="TextBox 29"/>
          <p:cNvSpPr txBox="1"/>
          <p:nvPr/>
        </p:nvSpPr>
        <p:spPr>
          <a:xfrm>
            <a:off x="6903720" y="3369564"/>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(0.52)</a:t>
            </a:r>
          </a:p>
        </p:txBody>
      </p:sp>
      <p:sp>
        <p:nvSpPr>
          <p:cNvPr id="31" name="TextBox 30"/>
          <p:cNvSpPr txBox="1"/>
          <p:nvPr/>
        </p:nvSpPr>
        <p:spPr>
          <a:xfrm>
            <a:off x="8778240" y="3369564"/>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(0.52)</a:t>
            </a:r>
          </a:p>
        </p:txBody>
      </p:sp>
      <p:sp>
        <p:nvSpPr>
          <p:cNvPr id="32" name="TextBox 31"/>
          <p:cNvSpPr txBox="1"/>
          <p:nvPr/>
        </p:nvSpPr>
        <p:spPr>
          <a:xfrm>
            <a:off x="1005840" y="3621024"/>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Public sector</a:t>
            </a:r>
          </a:p>
        </p:txBody>
      </p:sp>
      <p:sp>
        <p:nvSpPr>
          <p:cNvPr id="33" name="TextBox 32"/>
          <p:cNvSpPr txBox="1"/>
          <p:nvPr/>
        </p:nvSpPr>
        <p:spPr>
          <a:xfrm>
            <a:off x="5029200" y="3621024"/>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−2.35***</a:t>
            </a:r>
          </a:p>
        </p:txBody>
      </p:sp>
      <p:sp>
        <p:nvSpPr>
          <p:cNvPr id="34" name="TextBox 33"/>
          <p:cNvSpPr txBox="1"/>
          <p:nvPr/>
        </p:nvSpPr>
        <p:spPr>
          <a:xfrm>
            <a:off x="6903720" y="3621024"/>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−2.38***</a:t>
            </a:r>
          </a:p>
        </p:txBody>
      </p:sp>
      <p:sp>
        <p:nvSpPr>
          <p:cNvPr id="35" name="TextBox 34"/>
          <p:cNvSpPr txBox="1"/>
          <p:nvPr/>
        </p:nvSpPr>
        <p:spPr>
          <a:xfrm>
            <a:off x="8778240" y="3621024"/>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−2.39***</a:t>
            </a:r>
          </a:p>
        </p:txBody>
      </p:sp>
      <p:sp>
        <p:nvSpPr>
          <p:cNvPr id="36" name="TextBox 35"/>
          <p:cNvSpPr txBox="1"/>
          <p:nvPr/>
        </p:nvSpPr>
        <p:spPr>
          <a:xfrm>
            <a:off x="5029200" y="3863339"/>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(0.56)</a:t>
            </a:r>
          </a:p>
        </p:txBody>
      </p:sp>
      <p:sp>
        <p:nvSpPr>
          <p:cNvPr id="37" name="TextBox 36"/>
          <p:cNvSpPr txBox="1"/>
          <p:nvPr/>
        </p:nvSpPr>
        <p:spPr>
          <a:xfrm>
            <a:off x="6903720" y="3863339"/>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(0.56)</a:t>
            </a:r>
          </a:p>
        </p:txBody>
      </p:sp>
      <p:sp>
        <p:nvSpPr>
          <p:cNvPr id="38" name="TextBox 37"/>
          <p:cNvSpPr txBox="1"/>
          <p:nvPr/>
        </p:nvSpPr>
        <p:spPr>
          <a:xfrm>
            <a:off x="8778240" y="3863339"/>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(0.56)</a:t>
            </a:r>
          </a:p>
        </p:txBody>
      </p:sp>
      <p:sp>
        <p:nvSpPr>
          <p:cNvPr id="39" name="TextBox 38"/>
          <p:cNvSpPr txBox="1"/>
          <p:nvPr/>
        </p:nvSpPr>
        <p:spPr>
          <a:xfrm>
            <a:off x="1005840" y="4114800"/>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New baby during the year</a:t>
            </a:r>
          </a:p>
        </p:txBody>
      </p:sp>
      <p:sp>
        <p:nvSpPr>
          <p:cNvPr id="40" name="TextBox 39"/>
          <p:cNvSpPr txBox="1"/>
          <p:nvPr/>
        </p:nvSpPr>
        <p:spPr>
          <a:xfrm>
            <a:off x="5029200" y="4114800"/>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+5.72***</a:t>
            </a:r>
          </a:p>
        </p:txBody>
      </p:sp>
      <p:sp>
        <p:nvSpPr>
          <p:cNvPr id="41" name="TextBox 40"/>
          <p:cNvSpPr txBox="1"/>
          <p:nvPr/>
        </p:nvSpPr>
        <p:spPr>
          <a:xfrm>
            <a:off x="6903720" y="4114800"/>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+5.63***</a:t>
            </a:r>
          </a:p>
        </p:txBody>
      </p:sp>
      <p:sp>
        <p:nvSpPr>
          <p:cNvPr id="42" name="TextBox 41"/>
          <p:cNvSpPr txBox="1"/>
          <p:nvPr/>
        </p:nvSpPr>
        <p:spPr>
          <a:xfrm>
            <a:off x="8778240" y="4114800"/>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+5.71***</a:t>
            </a:r>
          </a:p>
        </p:txBody>
      </p:sp>
      <p:sp>
        <p:nvSpPr>
          <p:cNvPr id="43" name="TextBox 42"/>
          <p:cNvSpPr txBox="1"/>
          <p:nvPr/>
        </p:nvSpPr>
        <p:spPr>
          <a:xfrm>
            <a:off x="5029200" y="4357116"/>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(1.56)</a:t>
            </a:r>
          </a:p>
        </p:txBody>
      </p:sp>
      <p:sp>
        <p:nvSpPr>
          <p:cNvPr id="44" name="TextBox 43"/>
          <p:cNvSpPr txBox="1"/>
          <p:nvPr/>
        </p:nvSpPr>
        <p:spPr>
          <a:xfrm>
            <a:off x="6903720" y="4357116"/>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(1.56)</a:t>
            </a:r>
          </a:p>
        </p:txBody>
      </p:sp>
      <p:sp>
        <p:nvSpPr>
          <p:cNvPr id="45" name="TextBox 44"/>
          <p:cNvSpPr txBox="1"/>
          <p:nvPr/>
        </p:nvSpPr>
        <p:spPr>
          <a:xfrm>
            <a:off x="8778240" y="4357116"/>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(1.56)</a:t>
            </a:r>
          </a:p>
        </p:txBody>
      </p:sp>
      <p:sp>
        <p:nvSpPr>
          <p:cNvPr id="46" name="TextBox 45"/>
          <p:cNvSpPr txBox="1"/>
          <p:nvPr/>
        </p:nvSpPr>
        <p:spPr>
          <a:xfrm>
            <a:off x="1005840" y="4608576"/>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With a disability</a:t>
            </a:r>
          </a:p>
        </p:txBody>
      </p:sp>
      <p:sp>
        <p:nvSpPr>
          <p:cNvPr id="47" name="TextBox 46"/>
          <p:cNvSpPr txBox="1"/>
          <p:nvPr/>
        </p:nvSpPr>
        <p:spPr>
          <a:xfrm>
            <a:off x="5029200" y="460857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+8.85***</a:t>
            </a:r>
          </a:p>
        </p:txBody>
      </p:sp>
      <p:sp>
        <p:nvSpPr>
          <p:cNvPr id="48" name="TextBox 47"/>
          <p:cNvSpPr txBox="1"/>
          <p:nvPr/>
        </p:nvSpPr>
        <p:spPr>
          <a:xfrm>
            <a:off x="6903720" y="460857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+8.94***</a:t>
            </a:r>
          </a:p>
        </p:txBody>
      </p:sp>
      <p:sp>
        <p:nvSpPr>
          <p:cNvPr id="49" name="TextBox 48"/>
          <p:cNvSpPr txBox="1"/>
          <p:nvPr/>
        </p:nvSpPr>
        <p:spPr>
          <a:xfrm>
            <a:off x="8778240" y="460857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+8.94***</a:t>
            </a:r>
          </a:p>
        </p:txBody>
      </p:sp>
      <p:sp>
        <p:nvSpPr>
          <p:cNvPr id="50" name="TextBox 49"/>
          <p:cNvSpPr txBox="1"/>
          <p:nvPr/>
        </p:nvSpPr>
        <p:spPr>
          <a:xfrm>
            <a:off x="5029200" y="485089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(2.14)</a:t>
            </a:r>
          </a:p>
        </p:txBody>
      </p:sp>
      <p:sp>
        <p:nvSpPr>
          <p:cNvPr id="51" name="TextBox 50"/>
          <p:cNvSpPr txBox="1"/>
          <p:nvPr/>
        </p:nvSpPr>
        <p:spPr>
          <a:xfrm>
            <a:off x="6903720" y="485089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(2.14)</a:t>
            </a:r>
          </a:p>
        </p:txBody>
      </p:sp>
      <p:sp>
        <p:nvSpPr>
          <p:cNvPr id="52" name="TextBox 51"/>
          <p:cNvSpPr txBox="1"/>
          <p:nvPr/>
        </p:nvSpPr>
        <p:spPr>
          <a:xfrm>
            <a:off x="8778240" y="485089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(2.14)</a:t>
            </a:r>
          </a:p>
        </p:txBody>
      </p:sp>
      <p:sp>
        <p:nvSpPr>
          <p:cNvPr id="53" name="TextBox 52"/>
          <p:cNvSpPr txBox="1"/>
          <p:nvPr/>
        </p:nvSpPr>
        <p:spPr>
          <a:xfrm>
            <a:off x="1005840" y="5102352"/>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Bottom-quartile household income</a:t>
            </a:r>
          </a:p>
        </p:txBody>
      </p:sp>
      <p:sp>
        <p:nvSpPr>
          <p:cNvPr id="54" name="TextBox 53"/>
          <p:cNvSpPr txBox="1"/>
          <p:nvPr/>
        </p:nvSpPr>
        <p:spPr>
          <a:xfrm>
            <a:off x="5029200" y="510235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+4.17***</a:t>
            </a:r>
          </a:p>
        </p:txBody>
      </p:sp>
      <p:sp>
        <p:nvSpPr>
          <p:cNvPr id="55" name="TextBox 54"/>
          <p:cNvSpPr txBox="1"/>
          <p:nvPr/>
        </p:nvSpPr>
        <p:spPr>
          <a:xfrm>
            <a:off x="6903720" y="510235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+4.13***</a:t>
            </a:r>
          </a:p>
        </p:txBody>
      </p:sp>
      <p:sp>
        <p:nvSpPr>
          <p:cNvPr id="56" name="TextBox 55"/>
          <p:cNvSpPr txBox="1"/>
          <p:nvPr/>
        </p:nvSpPr>
        <p:spPr>
          <a:xfrm>
            <a:off x="8778240" y="510235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+4.01***</a:t>
            </a:r>
          </a:p>
        </p:txBody>
      </p:sp>
      <p:sp>
        <p:nvSpPr>
          <p:cNvPr id="57" name="TextBox 56"/>
          <p:cNvSpPr txBox="1"/>
          <p:nvPr/>
        </p:nvSpPr>
        <p:spPr>
          <a:xfrm>
            <a:off x="5029200" y="534466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(1.24)</a:t>
            </a:r>
          </a:p>
        </p:txBody>
      </p:sp>
      <p:sp>
        <p:nvSpPr>
          <p:cNvPr id="58" name="TextBox 57"/>
          <p:cNvSpPr txBox="1"/>
          <p:nvPr/>
        </p:nvSpPr>
        <p:spPr>
          <a:xfrm>
            <a:off x="6903720" y="534466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(1.24)</a:t>
            </a:r>
          </a:p>
        </p:txBody>
      </p:sp>
      <p:sp>
        <p:nvSpPr>
          <p:cNvPr id="59" name="TextBox 58"/>
          <p:cNvSpPr txBox="1"/>
          <p:nvPr/>
        </p:nvSpPr>
        <p:spPr>
          <a:xfrm>
            <a:off x="8778240" y="534466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(1.25)</a:t>
            </a:r>
          </a:p>
        </p:txBody>
      </p:sp>
      <p:cxnSp>
        <p:nvCxnSpPr>
          <p:cNvPr id="60" name="Connector 59"/>
          <p:cNvCxnSpPr/>
          <p:nvPr/>
        </p:nvCxnSpPr>
        <p:spPr>
          <a:xfrm>
            <a:off x="1005840" y="5614416"/>
            <a:ext cx="950976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687568"/>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Year fixed effects</a:t>
            </a:r>
          </a:p>
        </p:txBody>
      </p:sp>
      <p:sp>
        <p:nvSpPr>
          <p:cNvPr id="62" name="TextBox 61"/>
          <p:cNvSpPr txBox="1"/>
          <p:nvPr/>
        </p:nvSpPr>
        <p:spPr>
          <a:xfrm>
            <a:off x="5029200" y="568756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No</a:t>
            </a:r>
          </a:p>
        </p:txBody>
      </p:sp>
      <p:sp>
        <p:nvSpPr>
          <p:cNvPr id="63" name="TextBox 62"/>
          <p:cNvSpPr txBox="1"/>
          <p:nvPr/>
        </p:nvSpPr>
        <p:spPr>
          <a:xfrm>
            <a:off x="6903720" y="568756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Yes</a:t>
            </a:r>
          </a:p>
        </p:txBody>
      </p:sp>
      <p:sp>
        <p:nvSpPr>
          <p:cNvPr id="64" name="TextBox 63"/>
          <p:cNvSpPr txBox="1"/>
          <p:nvPr/>
        </p:nvSpPr>
        <p:spPr>
          <a:xfrm>
            <a:off x="8778240" y="568756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Yes</a:t>
            </a:r>
          </a:p>
        </p:txBody>
      </p:sp>
      <p:sp>
        <p:nvSpPr>
          <p:cNvPr id="65" name="TextBox 64"/>
          <p:cNvSpPr txBox="1"/>
          <p:nvPr/>
        </p:nvSpPr>
        <p:spPr>
          <a:xfrm>
            <a:off x="1005840" y="5961888"/>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State fixed effects</a:t>
            </a:r>
          </a:p>
        </p:txBody>
      </p:sp>
      <p:sp>
        <p:nvSpPr>
          <p:cNvPr id="66" name="TextBox 65"/>
          <p:cNvSpPr txBox="1"/>
          <p:nvPr/>
        </p:nvSpPr>
        <p:spPr>
          <a:xfrm>
            <a:off x="5029200" y="596188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No</a:t>
            </a:r>
          </a:p>
        </p:txBody>
      </p:sp>
      <p:sp>
        <p:nvSpPr>
          <p:cNvPr id="67" name="TextBox 66"/>
          <p:cNvSpPr txBox="1"/>
          <p:nvPr/>
        </p:nvSpPr>
        <p:spPr>
          <a:xfrm>
            <a:off x="6903720" y="596188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No</a:t>
            </a:r>
          </a:p>
        </p:txBody>
      </p:sp>
      <p:sp>
        <p:nvSpPr>
          <p:cNvPr id="68" name="TextBox 67"/>
          <p:cNvSpPr txBox="1"/>
          <p:nvPr/>
        </p:nvSpPr>
        <p:spPr>
          <a:xfrm>
            <a:off x="8778240" y="596188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Yes</a:t>
            </a:r>
          </a:p>
        </p:txBody>
      </p:sp>
      <p:sp>
        <p:nvSpPr>
          <p:cNvPr id="69" name="TextBox 68"/>
          <p:cNvSpPr txBox="1"/>
          <p:nvPr/>
        </p:nvSpPr>
        <p:spPr>
          <a:xfrm>
            <a:off x="1005840" y="6236207"/>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Observations</a:t>
            </a:r>
          </a:p>
        </p:txBody>
      </p:sp>
      <p:sp>
        <p:nvSpPr>
          <p:cNvPr id="70" name="TextBox 69"/>
          <p:cNvSpPr txBox="1"/>
          <p:nvPr/>
        </p:nvSpPr>
        <p:spPr>
          <a:xfrm>
            <a:off x="5029200" y="6236207"/>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18,571</a:t>
            </a:r>
          </a:p>
        </p:txBody>
      </p:sp>
      <p:sp>
        <p:nvSpPr>
          <p:cNvPr id="71" name="TextBox 70"/>
          <p:cNvSpPr txBox="1"/>
          <p:nvPr/>
        </p:nvSpPr>
        <p:spPr>
          <a:xfrm>
            <a:off x="6903720" y="6236207"/>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18,571</a:t>
            </a:r>
          </a:p>
        </p:txBody>
      </p:sp>
      <p:sp>
        <p:nvSpPr>
          <p:cNvPr id="72" name="TextBox 71"/>
          <p:cNvSpPr txBox="1"/>
          <p:nvPr/>
        </p:nvSpPr>
        <p:spPr>
          <a:xfrm>
            <a:off x="8778240" y="6236207"/>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18,571</a:t>
            </a:r>
          </a:p>
        </p:txBody>
      </p:sp>
      <p:cxnSp>
        <p:nvCxnSpPr>
          <p:cNvPr id="73" name="Connector 72"/>
          <p:cNvCxnSpPr/>
          <p:nvPr/>
        </p:nvCxnSpPr>
        <p:spPr>
          <a:xfrm>
            <a:off x="1005840" y="6528815"/>
            <a:ext cx="950976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656831"/>
            <a:ext cx="9509760" cy="548640"/>
          </a:xfrm>
          <a:prstGeom prst="rect">
            <a:avLst/>
          </a:prstGeom>
          <a:noFill/>
        </p:spPr>
        <p:txBody>
          <a:bodyPr wrap="square" lIns="0" rIns="0" tIns="0" bIns="0">
            <a:spAutoFit/>
          </a:bodyPr>
          <a:lstStyle/>
          <a:p>
            <a:pPr algn="l">
              <a:lnSpc>
                <a:spcPts val="1282"/>
              </a:lnSpc>
              <a:spcAft>
                <a:spcPts val="0"/>
              </a:spcAft>
            </a:pPr>
            <a:r>
              <a:rPr sz="950" b="0" i="1">
                <a:solidFill>
                  <a:srgbClr val="6B7480"/>
                </a:solidFill>
                <a:latin typeface="Latin Modern Sans"/>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LPM vs logit vs probit</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45</a:t>
            </a:r>
          </a:p>
        </p:txBody>
      </p:sp>
      <p:cxnSp>
        <p:nvCxnSpPr>
          <p:cNvPr id="4" name="Connector 3"/>
          <p:cNvCxnSpPr/>
          <p:nvPr/>
        </p:nvCxnSpPr>
        <p:spPr>
          <a:xfrm>
            <a:off x="1005840" y="1325880"/>
            <a:ext cx="950976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89888"/>
            <a:ext cx="5486400" cy="274320"/>
          </a:xfrm>
          <a:prstGeom prst="rect">
            <a:avLst/>
          </a:prstGeom>
          <a:noFill/>
        </p:spPr>
        <p:txBody>
          <a:bodyPr wrap="square" lIns="0" rIns="0" tIns="0" bIns="0">
            <a:spAutoFit/>
          </a:bodyPr>
          <a:lstStyle/>
          <a:p>
            <a:pPr algn="ctr">
              <a:lnSpc>
                <a:spcPts val="1552"/>
              </a:lnSpc>
              <a:spcAft>
                <a:spcPts val="0"/>
              </a:spcAft>
            </a:pPr>
            <a:r>
              <a:rPr sz="1150" b="0" i="0">
                <a:solidFill>
                  <a:srgbClr val="1A1A1A"/>
                </a:solidFill>
                <a:latin typeface="Latin Modern Sans"/>
              </a:rPr>
              <a:t>Average marginal effect on leaving (×100)</a:t>
            </a:r>
          </a:p>
        </p:txBody>
      </p:sp>
      <p:cxnSp>
        <p:nvCxnSpPr>
          <p:cNvPr id="6" name="Connector 5"/>
          <p:cNvCxnSpPr/>
          <p:nvPr/>
        </p:nvCxnSpPr>
        <p:spPr>
          <a:xfrm>
            <a:off x="5029200" y="1700784"/>
            <a:ext cx="548640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55648"/>
            <a:ext cx="1691640" cy="274320"/>
          </a:xfrm>
          <a:prstGeom prst="rect">
            <a:avLst/>
          </a:prstGeom>
          <a:noFill/>
        </p:spPr>
        <p:txBody>
          <a:bodyPr wrap="square" lIns="0" rIns="0" tIns="0" bIns="0">
            <a:spAutoFit/>
          </a:bodyPr>
          <a:lstStyle/>
          <a:p>
            <a:pPr algn="r">
              <a:lnSpc>
                <a:spcPts val="1552"/>
              </a:lnSpc>
              <a:spcAft>
                <a:spcPts val="0"/>
              </a:spcAft>
            </a:pPr>
            <a:r>
              <a:rPr sz="1150" b="1" i="0">
                <a:solidFill>
                  <a:srgbClr val="1A1A1A"/>
                </a:solidFill>
                <a:latin typeface="Latin Modern Sans"/>
              </a:rPr>
              <a:t>LPM</a:t>
            </a:r>
          </a:p>
        </p:txBody>
      </p:sp>
      <p:sp>
        <p:nvSpPr>
          <p:cNvPr id="8" name="TextBox 7"/>
          <p:cNvSpPr txBox="1"/>
          <p:nvPr/>
        </p:nvSpPr>
        <p:spPr>
          <a:xfrm>
            <a:off x="6903720" y="1755648"/>
            <a:ext cx="1691640" cy="274320"/>
          </a:xfrm>
          <a:prstGeom prst="rect">
            <a:avLst/>
          </a:prstGeom>
          <a:noFill/>
        </p:spPr>
        <p:txBody>
          <a:bodyPr wrap="square" lIns="0" rIns="0" tIns="0" bIns="0">
            <a:spAutoFit/>
          </a:bodyPr>
          <a:lstStyle/>
          <a:p>
            <a:pPr algn="r">
              <a:lnSpc>
                <a:spcPts val="1552"/>
              </a:lnSpc>
              <a:spcAft>
                <a:spcPts val="0"/>
              </a:spcAft>
            </a:pPr>
            <a:r>
              <a:rPr sz="1150" b="1" i="0">
                <a:solidFill>
                  <a:srgbClr val="1A1A1A"/>
                </a:solidFill>
                <a:latin typeface="Latin Modern Sans"/>
              </a:rPr>
              <a:t>Logit</a:t>
            </a:r>
          </a:p>
        </p:txBody>
      </p:sp>
      <p:sp>
        <p:nvSpPr>
          <p:cNvPr id="9" name="TextBox 8"/>
          <p:cNvSpPr txBox="1"/>
          <p:nvPr/>
        </p:nvSpPr>
        <p:spPr>
          <a:xfrm>
            <a:off x="8778240" y="1755648"/>
            <a:ext cx="1691640" cy="274320"/>
          </a:xfrm>
          <a:prstGeom prst="rect">
            <a:avLst/>
          </a:prstGeom>
          <a:noFill/>
        </p:spPr>
        <p:txBody>
          <a:bodyPr wrap="square" lIns="0" rIns="0" tIns="0" bIns="0">
            <a:spAutoFit/>
          </a:bodyPr>
          <a:lstStyle/>
          <a:p>
            <a:pPr algn="r">
              <a:lnSpc>
                <a:spcPts val="1552"/>
              </a:lnSpc>
              <a:spcAft>
                <a:spcPts val="0"/>
              </a:spcAft>
            </a:pPr>
            <a:r>
              <a:rPr sz="1150" b="1" i="0">
                <a:solidFill>
                  <a:srgbClr val="1A1A1A"/>
                </a:solidFill>
                <a:latin typeface="Latin Modern Sans"/>
              </a:rPr>
              <a:t>Probit</a:t>
            </a:r>
          </a:p>
        </p:txBody>
      </p:sp>
      <p:cxnSp>
        <p:nvCxnSpPr>
          <p:cNvPr id="10" name="Connector 9"/>
          <p:cNvCxnSpPr/>
          <p:nvPr/>
        </p:nvCxnSpPr>
        <p:spPr>
          <a:xfrm>
            <a:off x="1005840" y="2066543"/>
            <a:ext cx="950976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39696"/>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Full-year contract</a:t>
            </a:r>
          </a:p>
        </p:txBody>
      </p:sp>
      <p:sp>
        <p:nvSpPr>
          <p:cNvPr id="12" name="TextBox 11"/>
          <p:cNvSpPr txBox="1"/>
          <p:nvPr/>
        </p:nvSpPr>
        <p:spPr>
          <a:xfrm>
            <a:off x="5029200" y="213969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−11.13***</a:t>
            </a:r>
          </a:p>
        </p:txBody>
      </p:sp>
      <p:sp>
        <p:nvSpPr>
          <p:cNvPr id="13" name="TextBox 12"/>
          <p:cNvSpPr txBox="1"/>
          <p:nvPr/>
        </p:nvSpPr>
        <p:spPr>
          <a:xfrm>
            <a:off x="6903720" y="213969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−8.78***</a:t>
            </a:r>
          </a:p>
        </p:txBody>
      </p:sp>
      <p:sp>
        <p:nvSpPr>
          <p:cNvPr id="14" name="TextBox 13"/>
          <p:cNvSpPr txBox="1"/>
          <p:nvPr/>
        </p:nvSpPr>
        <p:spPr>
          <a:xfrm>
            <a:off x="8778240" y="213969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−8.49***</a:t>
            </a:r>
          </a:p>
        </p:txBody>
      </p:sp>
      <p:sp>
        <p:nvSpPr>
          <p:cNvPr id="15" name="TextBox 14"/>
          <p:cNvSpPr txBox="1"/>
          <p:nvPr/>
        </p:nvSpPr>
        <p:spPr>
          <a:xfrm>
            <a:off x="5029200" y="238201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(0.55)</a:t>
            </a:r>
          </a:p>
        </p:txBody>
      </p:sp>
      <p:sp>
        <p:nvSpPr>
          <p:cNvPr id="16" name="TextBox 15"/>
          <p:cNvSpPr txBox="1"/>
          <p:nvPr/>
        </p:nvSpPr>
        <p:spPr>
          <a:xfrm>
            <a:off x="6903720" y="238201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(0.40)</a:t>
            </a:r>
          </a:p>
        </p:txBody>
      </p:sp>
      <p:sp>
        <p:nvSpPr>
          <p:cNvPr id="17" name="TextBox 16"/>
          <p:cNvSpPr txBox="1"/>
          <p:nvPr/>
        </p:nvSpPr>
        <p:spPr>
          <a:xfrm>
            <a:off x="8778240" y="238201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+4.32***</a:t>
            </a:r>
          </a:p>
        </p:txBody>
      </p:sp>
      <p:sp>
        <p:nvSpPr>
          <p:cNvPr id="22" name="TextBox 21"/>
          <p:cNvSpPr txBox="1"/>
          <p:nvPr/>
        </p:nvSpPr>
        <p:spPr>
          <a:xfrm>
            <a:off x="5029200" y="287578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(0.92)</a:t>
            </a:r>
          </a:p>
        </p:txBody>
      </p:sp>
      <p:sp>
        <p:nvSpPr>
          <p:cNvPr id="23" name="TextBox 22"/>
          <p:cNvSpPr txBox="1"/>
          <p:nvPr/>
        </p:nvSpPr>
        <p:spPr>
          <a:xfrm>
            <a:off x="6903720" y="287578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(0.44)</a:t>
            </a:r>
          </a:p>
        </p:txBody>
      </p:sp>
      <p:sp>
        <p:nvSpPr>
          <p:cNvPr id="24" name="TextBox 23"/>
          <p:cNvSpPr txBox="1"/>
          <p:nvPr/>
        </p:nvSpPr>
        <p:spPr>
          <a:xfrm>
            <a:off x="8778240" y="287578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(0.47)</a:t>
            </a:r>
          </a:p>
        </p:txBody>
      </p:sp>
      <p:sp>
        <p:nvSpPr>
          <p:cNvPr id="25" name="TextBox 24"/>
          <p:cNvSpPr txBox="1"/>
          <p:nvPr/>
        </p:nvSpPr>
        <p:spPr>
          <a:xfrm>
            <a:off x="1005840" y="3127248"/>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Employer pension plan</a:t>
            </a:r>
          </a:p>
        </p:txBody>
      </p:sp>
      <p:sp>
        <p:nvSpPr>
          <p:cNvPr id="26" name="TextBox 25"/>
          <p:cNvSpPr txBox="1"/>
          <p:nvPr/>
        </p:nvSpPr>
        <p:spPr>
          <a:xfrm>
            <a:off x="5029200" y="312724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−2.55***</a:t>
            </a:r>
          </a:p>
        </p:txBody>
      </p:sp>
      <p:sp>
        <p:nvSpPr>
          <p:cNvPr id="27" name="TextBox 26"/>
          <p:cNvSpPr txBox="1"/>
          <p:nvPr/>
        </p:nvSpPr>
        <p:spPr>
          <a:xfrm>
            <a:off x="6903720" y="312724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−2.38***</a:t>
            </a:r>
          </a:p>
        </p:txBody>
      </p:sp>
      <p:sp>
        <p:nvSpPr>
          <p:cNvPr id="28" name="TextBox 27"/>
          <p:cNvSpPr txBox="1"/>
          <p:nvPr/>
        </p:nvSpPr>
        <p:spPr>
          <a:xfrm>
            <a:off x="8778240" y="312724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−2.41***</a:t>
            </a:r>
          </a:p>
        </p:txBody>
      </p:sp>
      <p:sp>
        <p:nvSpPr>
          <p:cNvPr id="29" name="TextBox 28"/>
          <p:cNvSpPr txBox="1"/>
          <p:nvPr/>
        </p:nvSpPr>
        <p:spPr>
          <a:xfrm>
            <a:off x="5029200" y="3369564"/>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(0.44)</a:t>
            </a:r>
          </a:p>
        </p:txBody>
      </p:sp>
      <p:sp>
        <p:nvSpPr>
          <p:cNvPr id="30" name="TextBox 29"/>
          <p:cNvSpPr txBox="1"/>
          <p:nvPr/>
        </p:nvSpPr>
        <p:spPr>
          <a:xfrm>
            <a:off x="6903720" y="3369564"/>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(0.39)</a:t>
            </a:r>
          </a:p>
        </p:txBody>
      </p:sp>
      <p:sp>
        <p:nvSpPr>
          <p:cNvPr id="31" name="TextBox 30"/>
          <p:cNvSpPr txBox="1"/>
          <p:nvPr/>
        </p:nvSpPr>
        <p:spPr>
          <a:xfrm>
            <a:off x="8778240" y="3369564"/>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(0.38)</a:t>
            </a:r>
          </a:p>
        </p:txBody>
      </p:sp>
      <p:sp>
        <p:nvSpPr>
          <p:cNvPr id="32" name="TextBox 31"/>
          <p:cNvSpPr txBox="1"/>
          <p:nvPr/>
        </p:nvSpPr>
        <p:spPr>
          <a:xfrm>
            <a:off x="1005840" y="3621024"/>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Public sector</a:t>
            </a:r>
          </a:p>
        </p:txBody>
      </p:sp>
      <p:sp>
        <p:nvSpPr>
          <p:cNvPr id="33" name="TextBox 32"/>
          <p:cNvSpPr txBox="1"/>
          <p:nvPr/>
        </p:nvSpPr>
        <p:spPr>
          <a:xfrm>
            <a:off x="5029200" y="3621024"/>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−2.17***</a:t>
            </a:r>
          </a:p>
        </p:txBody>
      </p:sp>
      <p:sp>
        <p:nvSpPr>
          <p:cNvPr id="34" name="TextBox 33"/>
          <p:cNvSpPr txBox="1"/>
          <p:nvPr/>
        </p:nvSpPr>
        <p:spPr>
          <a:xfrm>
            <a:off x="6903720" y="3621024"/>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−2.24***</a:t>
            </a:r>
          </a:p>
        </p:txBody>
      </p:sp>
      <p:sp>
        <p:nvSpPr>
          <p:cNvPr id="35" name="TextBox 34"/>
          <p:cNvSpPr txBox="1"/>
          <p:nvPr/>
        </p:nvSpPr>
        <p:spPr>
          <a:xfrm>
            <a:off x="8778240" y="3621024"/>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−2.27***</a:t>
            </a:r>
          </a:p>
        </p:txBody>
      </p:sp>
      <p:sp>
        <p:nvSpPr>
          <p:cNvPr id="36" name="TextBox 35"/>
          <p:cNvSpPr txBox="1"/>
          <p:nvPr/>
        </p:nvSpPr>
        <p:spPr>
          <a:xfrm>
            <a:off x="5029200" y="3863339"/>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(0.47)</a:t>
            </a:r>
          </a:p>
        </p:txBody>
      </p:sp>
      <p:sp>
        <p:nvSpPr>
          <p:cNvPr id="37" name="TextBox 36"/>
          <p:cNvSpPr txBox="1"/>
          <p:nvPr/>
        </p:nvSpPr>
        <p:spPr>
          <a:xfrm>
            <a:off x="6903720" y="3863339"/>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(0.39)</a:t>
            </a:r>
          </a:p>
        </p:txBody>
      </p:sp>
      <p:sp>
        <p:nvSpPr>
          <p:cNvPr id="38" name="TextBox 37"/>
          <p:cNvSpPr txBox="1"/>
          <p:nvPr/>
        </p:nvSpPr>
        <p:spPr>
          <a:xfrm>
            <a:off x="8778240" y="3863339"/>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(0.39)</a:t>
            </a:r>
          </a:p>
        </p:txBody>
      </p:sp>
      <p:sp>
        <p:nvSpPr>
          <p:cNvPr id="39" name="TextBox 38"/>
          <p:cNvSpPr txBox="1"/>
          <p:nvPr/>
        </p:nvSpPr>
        <p:spPr>
          <a:xfrm>
            <a:off x="1005840" y="4114800"/>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New baby during the year</a:t>
            </a:r>
          </a:p>
        </p:txBody>
      </p:sp>
      <p:sp>
        <p:nvSpPr>
          <p:cNvPr id="40" name="TextBox 39"/>
          <p:cNvSpPr txBox="1"/>
          <p:nvPr/>
        </p:nvSpPr>
        <p:spPr>
          <a:xfrm>
            <a:off x="5029200" y="4114800"/>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+5.65***</a:t>
            </a:r>
          </a:p>
        </p:txBody>
      </p:sp>
      <p:sp>
        <p:nvSpPr>
          <p:cNvPr id="41" name="TextBox 40"/>
          <p:cNvSpPr txBox="1"/>
          <p:nvPr/>
        </p:nvSpPr>
        <p:spPr>
          <a:xfrm>
            <a:off x="6903720" y="4114800"/>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+4.74***</a:t>
            </a:r>
          </a:p>
        </p:txBody>
      </p:sp>
      <p:sp>
        <p:nvSpPr>
          <p:cNvPr id="42" name="TextBox 41"/>
          <p:cNvSpPr txBox="1"/>
          <p:nvPr/>
        </p:nvSpPr>
        <p:spPr>
          <a:xfrm>
            <a:off x="8778240" y="4114800"/>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+4.59***</a:t>
            </a:r>
          </a:p>
        </p:txBody>
      </p:sp>
      <p:sp>
        <p:nvSpPr>
          <p:cNvPr id="43" name="TextBox 42"/>
          <p:cNvSpPr txBox="1"/>
          <p:nvPr/>
        </p:nvSpPr>
        <p:spPr>
          <a:xfrm>
            <a:off x="5029200" y="4357116"/>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(1.33)</a:t>
            </a:r>
          </a:p>
        </p:txBody>
      </p:sp>
      <p:sp>
        <p:nvSpPr>
          <p:cNvPr id="44" name="TextBox 43"/>
          <p:cNvSpPr txBox="1"/>
          <p:nvPr/>
        </p:nvSpPr>
        <p:spPr>
          <a:xfrm>
            <a:off x="6903720" y="4357116"/>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(0.90)</a:t>
            </a:r>
          </a:p>
        </p:txBody>
      </p:sp>
      <p:sp>
        <p:nvSpPr>
          <p:cNvPr id="45" name="TextBox 44"/>
          <p:cNvSpPr txBox="1"/>
          <p:nvPr/>
        </p:nvSpPr>
        <p:spPr>
          <a:xfrm>
            <a:off x="8778240" y="4357116"/>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(0.91)</a:t>
            </a:r>
          </a:p>
        </p:txBody>
      </p:sp>
      <p:sp>
        <p:nvSpPr>
          <p:cNvPr id="46" name="TextBox 45"/>
          <p:cNvSpPr txBox="1"/>
          <p:nvPr/>
        </p:nvSpPr>
        <p:spPr>
          <a:xfrm>
            <a:off x="1005840" y="4608576"/>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With a disability</a:t>
            </a:r>
          </a:p>
        </p:txBody>
      </p:sp>
      <p:sp>
        <p:nvSpPr>
          <p:cNvPr id="47" name="TextBox 46"/>
          <p:cNvSpPr txBox="1"/>
          <p:nvPr/>
        </p:nvSpPr>
        <p:spPr>
          <a:xfrm>
            <a:off x="5029200" y="460857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+8.31***</a:t>
            </a:r>
          </a:p>
        </p:txBody>
      </p:sp>
      <p:sp>
        <p:nvSpPr>
          <p:cNvPr id="48" name="TextBox 47"/>
          <p:cNvSpPr txBox="1"/>
          <p:nvPr/>
        </p:nvSpPr>
        <p:spPr>
          <a:xfrm>
            <a:off x="6903720" y="460857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+3.78***</a:t>
            </a:r>
          </a:p>
        </p:txBody>
      </p:sp>
      <p:sp>
        <p:nvSpPr>
          <p:cNvPr id="49" name="TextBox 48"/>
          <p:cNvSpPr txBox="1"/>
          <p:nvPr/>
        </p:nvSpPr>
        <p:spPr>
          <a:xfrm>
            <a:off x="8778240" y="4608576"/>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+4.19***</a:t>
            </a:r>
          </a:p>
        </p:txBody>
      </p:sp>
      <p:sp>
        <p:nvSpPr>
          <p:cNvPr id="50" name="TextBox 49"/>
          <p:cNvSpPr txBox="1"/>
          <p:nvPr/>
        </p:nvSpPr>
        <p:spPr>
          <a:xfrm>
            <a:off x="5029200" y="485089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(1.84)</a:t>
            </a:r>
          </a:p>
        </p:txBody>
      </p:sp>
      <p:sp>
        <p:nvSpPr>
          <p:cNvPr id="51" name="TextBox 50"/>
          <p:cNvSpPr txBox="1"/>
          <p:nvPr/>
        </p:nvSpPr>
        <p:spPr>
          <a:xfrm>
            <a:off x="6903720" y="485089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(0.80)</a:t>
            </a:r>
          </a:p>
        </p:txBody>
      </p:sp>
      <p:sp>
        <p:nvSpPr>
          <p:cNvPr id="52" name="TextBox 51"/>
          <p:cNvSpPr txBox="1"/>
          <p:nvPr/>
        </p:nvSpPr>
        <p:spPr>
          <a:xfrm>
            <a:off x="8778240" y="4850892"/>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(0.88)</a:t>
            </a:r>
          </a:p>
        </p:txBody>
      </p:sp>
      <p:sp>
        <p:nvSpPr>
          <p:cNvPr id="53" name="TextBox 52"/>
          <p:cNvSpPr txBox="1"/>
          <p:nvPr/>
        </p:nvSpPr>
        <p:spPr>
          <a:xfrm>
            <a:off x="1005840" y="5102352"/>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Bottom-quartile household income</a:t>
            </a:r>
          </a:p>
        </p:txBody>
      </p:sp>
      <p:sp>
        <p:nvSpPr>
          <p:cNvPr id="54" name="TextBox 53"/>
          <p:cNvSpPr txBox="1"/>
          <p:nvPr/>
        </p:nvSpPr>
        <p:spPr>
          <a:xfrm>
            <a:off x="5029200" y="510235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+4.67***</a:t>
            </a:r>
          </a:p>
        </p:txBody>
      </p:sp>
      <p:sp>
        <p:nvSpPr>
          <p:cNvPr id="55" name="TextBox 54"/>
          <p:cNvSpPr txBox="1"/>
          <p:nvPr/>
        </p:nvSpPr>
        <p:spPr>
          <a:xfrm>
            <a:off x="6903720" y="510235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+2.24***</a:t>
            </a:r>
          </a:p>
        </p:txBody>
      </p:sp>
      <p:sp>
        <p:nvSpPr>
          <p:cNvPr id="56" name="TextBox 55"/>
          <p:cNvSpPr txBox="1"/>
          <p:nvPr/>
        </p:nvSpPr>
        <p:spPr>
          <a:xfrm>
            <a:off x="8778240" y="5102352"/>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+2.50***</a:t>
            </a:r>
          </a:p>
        </p:txBody>
      </p:sp>
      <p:sp>
        <p:nvSpPr>
          <p:cNvPr id="57" name="TextBox 56"/>
          <p:cNvSpPr txBox="1"/>
          <p:nvPr/>
        </p:nvSpPr>
        <p:spPr>
          <a:xfrm>
            <a:off x="5029200" y="534466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(1.10)</a:t>
            </a:r>
          </a:p>
        </p:txBody>
      </p:sp>
      <p:sp>
        <p:nvSpPr>
          <p:cNvPr id="58" name="TextBox 57"/>
          <p:cNvSpPr txBox="1"/>
          <p:nvPr/>
        </p:nvSpPr>
        <p:spPr>
          <a:xfrm>
            <a:off x="6903720" y="534466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(0.58)</a:t>
            </a:r>
          </a:p>
        </p:txBody>
      </p:sp>
      <p:sp>
        <p:nvSpPr>
          <p:cNvPr id="59" name="TextBox 58"/>
          <p:cNvSpPr txBox="1"/>
          <p:nvPr/>
        </p:nvSpPr>
        <p:spPr>
          <a:xfrm>
            <a:off x="8778240" y="5344668"/>
            <a:ext cx="1691640" cy="274320"/>
          </a:xfrm>
          <a:prstGeom prst="rect">
            <a:avLst/>
          </a:prstGeom>
          <a:noFill/>
        </p:spPr>
        <p:txBody>
          <a:bodyPr wrap="square" lIns="0" rIns="0" tIns="0" bIns="0">
            <a:spAutoFit/>
          </a:bodyPr>
          <a:lstStyle/>
          <a:p>
            <a:pPr algn="r">
              <a:lnSpc>
                <a:spcPts val="1417"/>
              </a:lnSpc>
              <a:spcAft>
                <a:spcPts val="0"/>
              </a:spcAft>
            </a:pPr>
            <a:r>
              <a:rPr sz="1050" b="0" i="0">
                <a:solidFill>
                  <a:srgbClr val="6B7480"/>
                </a:solidFill>
                <a:latin typeface="Latin Modern Sans"/>
              </a:rPr>
              <a:t>(0.62)</a:t>
            </a:r>
          </a:p>
        </p:txBody>
      </p:sp>
      <p:cxnSp>
        <p:nvCxnSpPr>
          <p:cNvPr id="60" name="Connector 59"/>
          <p:cNvCxnSpPr/>
          <p:nvPr/>
        </p:nvCxnSpPr>
        <p:spPr>
          <a:xfrm>
            <a:off x="1005840" y="5614416"/>
            <a:ext cx="9509760"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687568"/>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Year fixed effects</a:t>
            </a:r>
          </a:p>
        </p:txBody>
      </p:sp>
      <p:sp>
        <p:nvSpPr>
          <p:cNvPr id="62" name="TextBox 61"/>
          <p:cNvSpPr txBox="1"/>
          <p:nvPr/>
        </p:nvSpPr>
        <p:spPr>
          <a:xfrm>
            <a:off x="5029200" y="568756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Yes</a:t>
            </a:r>
          </a:p>
        </p:txBody>
      </p:sp>
      <p:sp>
        <p:nvSpPr>
          <p:cNvPr id="63" name="TextBox 62"/>
          <p:cNvSpPr txBox="1"/>
          <p:nvPr/>
        </p:nvSpPr>
        <p:spPr>
          <a:xfrm>
            <a:off x="6903720" y="568756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Yes</a:t>
            </a:r>
          </a:p>
        </p:txBody>
      </p:sp>
      <p:sp>
        <p:nvSpPr>
          <p:cNvPr id="64" name="TextBox 63"/>
          <p:cNvSpPr txBox="1"/>
          <p:nvPr/>
        </p:nvSpPr>
        <p:spPr>
          <a:xfrm>
            <a:off x="8778240" y="568756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Yes</a:t>
            </a:r>
          </a:p>
        </p:txBody>
      </p:sp>
      <p:sp>
        <p:nvSpPr>
          <p:cNvPr id="65" name="TextBox 64"/>
          <p:cNvSpPr txBox="1"/>
          <p:nvPr/>
        </p:nvSpPr>
        <p:spPr>
          <a:xfrm>
            <a:off x="1005840" y="5961888"/>
            <a:ext cx="3840480" cy="274320"/>
          </a:xfrm>
          <a:prstGeom prst="rect">
            <a:avLst/>
          </a:prstGeom>
          <a:noFill/>
        </p:spPr>
        <p:txBody>
          <a:bodyPr wrap="square" lIns="0" rIns="0" tIns="0" bIns="0">
            <a:spAutoFit/>
          </a:bodyPr>
          <a:lstStyle/>
          <a:p>
            <a:pPr algn="l">
              <a:lnSpc>
                <a:spcPts val="1552"/>
              </a:lnSpc>
              <a:spcAft>
                <a:spcPts val="0"/>
              </a:spcAft>
            </a:pPr>
            <a:r>
              <a:rPr sz="1150" b="0" i="0">
                <a:solidFill>
                  <a:srgbClr val="1A1A1A"/>
                </a:solidFill>
                <a:latin typeface="Latin Modern Sans"/>
              </a:rPr>
              <a:t>Observations</a:t>
            </a:r>
          </a:p>
        </p:txBody>
      </p:sp>
      <p:sp>
        <p:nvSpPr>
          <p:cNvPr id="66" name="TextBox 65"/>
          <p:cNvSpPr txBox="1"/>
          <p:nvPr/>
        </p:nvSpPr>
        <p:spPr>
          <a:xfrm>
            <a:off x="5029200" y="596188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18,571</a:t>
            </a:r>
          </a:p>
        </p:txBody>
      </p:sp>
      <p:sp>
        <p:nvSpPr>
          <p:cNvPr id="67" name="TextBox 66"/>
          <p:cNvSpPr txBox="1"/>
          <p:nvPr/>
        </p:nvSpPr>
        <p:spPr>
          <a:xfrm>
            <a:off x="6903720" y="596188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18,571</a:t>
            </a:r>
          </a:p>
        </p:txBody>
      </p:sp>
      <p:sp>
        <p:nvSpPr>
          <p:cNvPr id="68" name="TextBox 67"/>
          <p:cNvSpPr txBox="1"/>
          <p:nvPr/>
        </p:nvSpPr>
        <p:spPr>
          <a:xfrm>
            <a:off x="8778240" y="5961888"/>
            <a:ext cx="1691640" cy="274320"/>
          </a:xfrm>
          <a:prstGeom prst="rect">
            <a:avLst/>
          </a:prstGeom>
          <a:noFill/>
        </p:spPr>
        <p:txBody>
          <a:bodyPr wrap="square" lIns="0" rIns="0" tIns="0" bIns="0">
            <a:spAutoFit/>
          </a:bodyPr>
          <a:lstStyle/>
          <a:p>
            <a:pPr algn="r">
              <a:lnSpc>
                <a:spcPts val="1552"/>
              </a:lnSpc>
              <a:spcAft>
                <a:spcPts val="0"/>
              </a:spcAft>
            </a:pPr>
            <a:r>
              <a:rPr sz="1150" b="0" i="0">
                <a:solidFill>
                  <a:srgbClr val="1A1A1A"/>
                </a:solidFill>
                <a:latin typeface="Latin Modern Sans"/>
              </a:rPr>
              <a:t>18,571</a:t>
            </a:r>
          </a:p>
        </p:txBody>
      </p:sp>
      <p:cxnSp>
        <p:nvCxnSpPr>
          <p:cNvPr id="69" name="Connector 68"/>
          <p:cNvCxnSpPr/>
          <p:nvPr/>
        </p:nvCxnSpPr>
        <p:spPr>
          <a:xfrm>
            <a:off x="1005840" y="6254495"/>
            <a:ext cx="9509760"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382512"/>
            <a:ext cx="9509760" cy="548640"/>
          </a:xfrm>
          <a:prstGeom prst="rect">
            <a:avLst/>
          </a:prstGeom>
          <a:noFill/>
        </p:spPr>
        <p:txBody>
          <a:bodyPr wrap="square" lIns="0" rIns="0" tIns="0" bIns="0">
            <a:spAutoFit/>
          </a:bodyPr>
          <a:lstStyle/>
          <a:p>
            <a:pPr algn="l">
              <a:lnSpc>
                <a:spcPts val="1282"/>
              </a:lnSpc>
              <a:spcAft>
                <a:spcPts val="0"/>
              </a:spcAft>
            </a:pPr>
            <a:r>
              <a:rPr sz="950" b="0" i="1">
                <a:solidFill>
                  <a:srgbClr val="6B7480"/>
                </a:solidFill>
                <a:latin typeface="Latin Modern Sans"/>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Is the LPM bounded between 0 and 1?</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46</a:t>
            </a:r>
          </a:p>
        </p:txBody>
      </p:sp>
      <p:pic>
        <p:nvPicPr>
          <p:cNvPr id="4" name="Picture 3" descr="lpm_check.png"/>
          <p:cNvPicPr>
            <a:picLocks noChangeAspect="1"/>
          </p:cNvPicPr>
          <p:nvPr/>
        </p:nvPicPr>
        <p:blipFill>
          <a:blip r:embed="rId2"/>
          <a:stretch>
            <a:fillRect/>
          </a:stretch>
        </p:blipFill>
        <p:spPr>
          <a:xfrm>
            <a:off x="1557117" y="1051560"/>
            <a:ext cx="9047284" cy="4480560"/>
          </a:xfrm>
          <a:prstGeom prst="rect">
            <a:avLst/>
          </a:prstGeom>
        </p:spPr>
      </p:pic>
      <p:sp>
        <p:nvSpPr>
          <p:cNvPr id="5" name="TextBox 4"/>
          <p:cNvSpPr txBox="1"/>
          <p:nvPr/>
        </p:nvSpPr>
        <p:spPr>
          <a:xfrm>
            <a:off x="822960" y="5715000"/>
            <a:ext cx="10607040" cy="457200"/>
          </a:xfrm>
          <a:prstGeom prst="rect">
            <a:avLst/>
          </a:prstGeom>
          <a:noFill/>
        </p:spPr>
        <p:txBody>
          <a:bodyPr wrap="square" lIns="0" rIns="0" tIns="0" bIns="0">
            <a:spAutoFit/>
          </a:bodyPr>
          <a:lstStyle/>
          <a:p>
            <a:pPr algn="l">
              <a:lnSpc>
                <a:spcPts val="1687"/>
              </a:lnSpc>
              <a:spcAft>
                <a:spcPts val="0"/>
              </a:spcAft>
            </a:pPr>
            <a:r>
              <a:rPr sz="1250" b="0" i="0">
                <a:solidFill>
                  <a:srgbClr val="1A1A1A"/>
                </a:solidFill>
                <a:latin typeface="Latin Modern Sans"/>
              </a:rPr>
              <a:t>No: 22% of fitted values fall below zero. By that check, the probit is the main specification and the LPM a robustness variant.</a:t>
            </a:r>
          </a:p>
        </p:txBody>
      </p:sp>
      <p:sp>
        <p:nvSpPr>
          <p:cNvPr id="6" name="Rounded Rectangle 5">
            <a:hlinkClick action="ppaction://hlinksldjump" r:id="rId3"/>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02920"/>
          </a:xfrm>
          <a:prstGeom prst="rect">
            <a:avLst/>
          </a:prstGeom>
          <a:noFill/>
        </p:spPr>
        <p:txBody>
          <a:bodyPr wrap="square" lIns="0" rIns="0" tIns="0" bIns="0"/>
          <a:lstStyle/>
          <a:p>
            <a:r>
              <a:rPr sz="2200" b="1">
                <a:solidFill>
                  <a:srgbClr val="1F3864"/>
                </a:solidFill>
                <a:latin typeface="Latin Modern Sans"/>
              </a:rPr>
              <a:t>What the CPS observes, of why teachers leave</a:t>
            </a:r>
          </a:p>
        </p:txBody>
      </p:sp>
      <p:sp>
        <p:nvSpPr>
          <p:cNvPr id="3" name="TextBox 2"/>
          <p:cNvSpPr txBox="1"/>
          <p:nvPr/>
        </p:nvSpPr>
        <p:spPr>
          <a:xfrm>
            <a:off x="11475720" y="6473952"/>
            <a:ext cx="548640" cy="274320"/>
          </a:xfrm>
          <a:prstGeom prst="rect">
            <a:avLst/>
          </a:prstGeom>
          <a:noFill/>
        </p:spPr>
        <p:txBody>
          <a:bodyPr wrap="none" lIns="0" rIns="0" tIns="0" bIns="0">
            <a:spAutoFit/>
          </a:bodyPr>
          <a:lstStyle/>
          <a:p>
            <a:pPr algn="r"/>
            <a:r>
              <a:rPr sz="1000">
                <a:solidFill>
                  <a:srgbClr val="6B7480"/>
                </a:solidFill>
                <a:latin typeface="Latin Modern Sans"/>
              </a:rPr>
              <a:t>47</a:t>
            </a:r>
          </a:p>
        </p:txBody>
      </p:sp>
      <p:cxnSp>
        <p:nvCxnSpPr>
          <p:cNvPr id="4" name="Connector 3"/>
          <p:cNvCxnSpPr/>
          <p:nvPr/>
        </p:nvCxnSpPr>
        <p:spPr>
          <a:xfrm>
            <a:off x="822960" y="1463040"/>
            <a:ext cx="10058399"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554480"/>
            <a:ext cx="6949440" cy="457200"/>
          </a:xfrm>
          <a:prstGeom prst="rect">
            <a:avLst/>
          </a:prstGeom>
          <a:noFill/>
        </p:spPr>
        <p:txBody>
          <a:bodyPr wrap="square" lIns="0" rIns="0" tIns="0" bIns="0">
            <a:spAutoFit/>
          </a:bodyPr>
          <a:lstStyle/>
          <a:p>
            <a:pPr algn="l">
              <a:lnSpc>
                <a:spcPts val="1957"/>
              </a:lnSpc>
              <a:spcAft>
                <a:spcPts val="0"/>
              </a:spcAft>
            </a:pPr>
            <a:r>
              <a:rPr sz="1450" b="1" i="0">
                <a:solidFill>
                  <a:srgbClr val="1A1A1A"/>
                </a:solidFill>
                <a:latin typeface="Latin Modern Sans"/>
              </a:rPr>
              <a:t>Reasons in the literature</a:t>
            </a:r>
          </a:p>
        </p:txBody>
      </p:sp>
      <p:sp>
        <p:nvSpPr>
          <p:cNvPr id="6" name="TextBox 5"/>
          <p:cNvSpPr txBox="1"/>
          <p:nvPr/>
        </p:nvSpPr>
        <p:spPr>
          <a:xfrm>
            <a:off x="7955279" y="1554480"/>
            <a:ext cx="2926080" cy="457200"/>
          </a:xfrm>
          <a:prstGeom prst="rect">
            <a:avLst/>
          </a:prstGeom>
          <a:noFill/>
        </p:spPr>
        <p:txBody>
          <a:bodyPr wrap="square" lIns="0" rIns="0" tIns="0" bIns="0">
            <a:spAutoFit/>
          </a:bodyPr>
          <a:lstStyle/>
          <a:p>
            <a:pPr algn="l">
              <a:lnSpc>
                <a:spcPts val="1957"/>
              </a:lnSpc>
              <a:spcAft>
                <a:spcPts val="0"/>
              </a:spcAft>
            </a:pPr>
            <a:r>
              <a:rPr sz="1450" b="1" i="0">
                <a:solidFill>
                  <a:srgbClr val="1A1A1A"/>
                </a:solidFill>
                <a:latin typeface="Latin Modern Sans"/>
              </a:rPr>
              <a:t>In the CPS?</a:t>
            </a:r>
          </a:p>
        </p:txBody>
      </p:sp>
      <p:cxnSp>
        <p:nvCxnSpPr>
          <p:cNvPr id="7" name="Connector 6"/>
          <p:cNvCxnSpPr/>
          <p:nvPr/>
        </p:nvCxnSpPr>
        <p:spPr>
          <a:xfrm>
            <a:off x="822960" y="2029968"/>
            <a:ext cx="10058399"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21408"/>
            <a:ext cx="6949440" cy="457200"/>
          </a:xfrm>
          <a:prstGeom prst="rect">
            <a:avLst/>
          </a:prstGeom>
          <a:noFill/>
        </p:spPr>
        <p:txBody>
          <a:bodyPr wrap="square" lIns="0" rIns="0" tIns="0" bIns="0">
            <a:spAutoFit/>
          </a:bodyPr>
          <a:lstStyle/>
          <a:p>
            <a:pPr algn="l">
              <a:lnSpc>
                <a:spcPts val="1957"/>
              </a:lnSpc>
              <a:spcAft>
                <a:spcPts val="0"/>
              </a:spcAft>
            </a:pPr>
            <a:r>
              <a:rPr sz="1450" b="0" i="0">
                <a:solidFill>
                  <a:srgbClr val="1A1A1A"/>
                </a:solidFill>
                <a:latin typeface="Latin Modern Sans"/>
              </a:rPr>
              <a:t>Working conditions</a:t>
            </a:r>
          </a:p>
        </p:txBody>
      </p:sp>
      <p:sp>
        <p:nvSpPr>
          <p:cNvPr id="9" name="TextBox 8"/>
          <p:cNvSpPr txBox="1"/>
          <p:nvPr/>
        </p:nvSpPr>
        <p:spPr>
          <a:xfrm>
            <a:off x="7955279" y="2121408"/>
            <a:ext cx="2926080" cy="457200"/>
          </a:xfrm>
          <a:prstGeom prst="rect">
            <a:avLst/>
          </a:prstGeom>
          <a:noFill/>
        </p:spPr>
        <p:txBody>
          <a:bodyPr wrap="square" lIns="0" rIns="0" tIns="0" bIns="0">
            <a:spAutoFit/>
          </a:bodyPr>
          <a:lstStyle/>
          <a:p>
            <a:pPr algn="l">
              <a:lnSpc>
                <a:spcPts val="1957"/>
              </a:lnSpc>
              <a:spcAft>
                <a:spcPts val="0"/>
              </a:spcAft>
            </a:pPr>
            <a:r>
              <a:rPr sz="1450" b="0" i="0">
                <a:solidFill>
                  <a:srgbClr val="6B7480"/>
                </a:solidFill>
                <a:latin typeface="Latin Modern Sans"/>
              </a:rPr>
              <a:t>no</a:t>
            </a:r>
          </a:p>
        </p:txBody>
      </p:sp>
      <p:sp>
        <p:nvSpPr>
          <p:cNvPr id="10" name="TextBox 9"/>
          <p:cNvSpPr txBox="1"/>
          <p:nvPr/>
        </p:nvSpPr>
        <p:spPr>
          <a:xfrm>
            <a:off x="822960" y="2578608"/>
            <a:ext cx="6949440" cy="457200"/>
          </a:xfrm>
          <a:prstGeom prst="rect">
            <a:avLst/>
          </a:prstGeom>
          <a:noFill/>
        </p:spPr>
        <p:txBody>
          <a:bodyPr wrap="square" lIns="0" rIns="0" tIns="0" bIns="0">
            <a:spAutoFit/>
          </a:bodyPr>
          <a:lstStyle/>
          <a:p>
            <a:pPr algn="l">
              <a:lnSpc>
                <a:spcPts val="1957"/>
              </a:lnSpc>
              <a:spcAft>
                <a:spcPts val="0"/>
              </a:spcAft>
            </a:pPr>
            <a:r>
              <a:rPr sz="1450" b="0" i="0">
                <a:solidFill>
                  <a:srgbClr val="1A1A1A"/>
                </a:solidFill>
                <a:latin typeface="Latin Modern Sans"/>
              </a:rPr>
              <a:t>Organizational support</a:t>
            </a:r>
          </a:p>
        </p:txBody>
      </p:sp>
      <p:sp>
        <p:nvSpPr>
          <p:cNvPr id="11" name="TextBox 10"/>
          <p:cNvSpPr txBox="1"/>
          <p:nvPr/>
        </p:nvSpPr>
        <p:spPr>
          <a:xfrm>
            <a:off x="7955279" y="2578608"/>
            <a:ext cx="2926080" cy="457200"/>
          </a:xfrm>
          <a:prstGeom prst="rect">
            <a:avLst/>
          </a:prstGeom>
          <a:noFill/>
        </p:spPr>
        <p:txBody>
          <a:bodyPr wrap="square" lIns="0" rIns="0" tIns="0" bIns="0">
            <a:spAutoFit/>
          </a:bodyPr>
          <a:lstStyle/>
          <a:p>
            <a:pPr algn="l">
              <a:lnSpc>
                <a:spcPts val="1957"/>
              </a:lnSpc>
              <a:spcAft>
                <a:spcPts val="0"/>
              </a:spcAft>
            </a:pPr>
            <a:r>
              <a:rPr sz="1450" b="0" i="0">
                <a:solidFill>
                  <a:srgbClr val="6B7480"/>
                </a:solidFill>
                <a:latin typeface="Latin Modern Sans"/>
              </a:rPr>
              <a:t>no</a:t>
            </a:r>
          </a:p>
        </p:txBody>
      </p:sp>
      <p:sp>
        <p:nvSpPr>
          <p:cNvPr id="12" name="TextBox 11"/>
          <p:cNvSpPr txBox="1"/>
          <p:nvPr/>
        </p:nvSpPr>
        <p:spPr>
          <a:xfrm>
            <a:off x="822960" y="3035808"/>
            <a:ext cx="6949440" cy="457200"/>
          </a:xfrm>
          <a:prstGeom prst="rect">
            <a:avLst/>
          </a:prstGeom>
          <a:noFill/>
        </p:spPr>
        <p:txBody>
          <a:bodyPr wrap="square" lIns="0" rIns="0" tIns="0" bIns="0">
            <a:spAutoFit/>
          </a:bodyPr>
          <a:lstStyle/>
          <a:p>
            <a:pPr algn="l">
              <a:lnSpc>
                <a:spcPts val="1957"/>
              </a:lnSpc>
              <a:spcAft>
                <a:spcPts val="0"/>
              </a:spcAft>
            </a:pPr>
            <a:r>
              <a:rPr sz="1450" b="0" i="0">
                <a:solidFill>
                  <a:srgbClr val="1A1A1A"/>
                </a:solidFill>
                <a:latin typeface="Latin Modern Sans"/>
              </a:rPr>
              <a:t>Autonomy and intrinsic motives</a:t>
            </a:r>
          </a:p>
        </p:txBody>
      </p:sp>
      <p:sp>
        <p:nvSpPr>
          <p:cNvPr id="13" name="TextBox 12"/>
          <p:cNvSpPr txBox="1"/>
          <p:nvPr/>
        </p:nvSpPr>
        <p:spPr>
          <a:xfrm>
            <a:off x="7955279" y="3035808"/>
            <a:ext cx="2926080" cy="457200"/>
          </a:xfrm>
          <a:prstGeom prst="rect">
            <a:avLst/>
          </a:prstGeom>
          <a:noFill/>
        </p:spPr>
        <p:txBody>
          <a:bodyPr wrap="square" lIns="0" rIns="0" tIns="0" bIns="0">
            <a:spAutoFit/>
          </a:bodyPr>
          <a:lstStyle/>
          <a:p>
            <a:pPr algn="l">
              <a:lnSpc>
                <a:spcPts val="1957"/>
              </a:lnSpc>
              <a:spcAft>
                <a:spcPts val="0"/>
              </a:spcAft>
            </a:pPr>
            <a:r>
              <a:rPr sz="1450" b="0" i="0">
                <a:solidFill>
                  <a:srgbClr val="6B7480"/>
                </a:solidFill>
                <a:latin typeface="Latin Modern Sans"/>
              </a:rPr>
              <a:t>no</a:t>
            </a:r>
          </a:p>
        </p:txBody>
      </p:sp>
      <p:sp>
        <p:nvSpPr>
          <p:cNvPr id="14" name="TextBox 13"/>
          <p:cNvSpPr txBox="1"/>
          <p:nvPr/>
        </p:nvSpPr>
        <p:spPr>
          <a:xfrm>
            <a:off x="822960" y="3493008"/>
            <a:ext cx="6949440" cy="457200"/>
          </a:xfrm>
          <a:prstGeom prst="rect">
            <a:avLst/>
          </a:prstGeom>
          <a:noFill/>
        </p:spPr>
        <p:txBody>
          <a:bodyPr wrap="square" lIns="0" rIns="0" tIns="0" bIns="0">
            <a:spAutoFit/>
          </a:bodyPr>
          <a:lstStyle/>
          <a:p>
            <a:pPr algn="l">
              <a:lnSpc>
                <a:spcPts val="1957"/>
              </a:lnSpc>
              <a:spcAft>
                <a:spcPts val="0"/>
              </a:spcAft>
            </a:pPr>
            <a:r>
              <a:rPr sz="1450" b="0" i="0">
                <a:solidFill>
                  <a:srgbClr val="1A1A1A"/>
                </a:solidFill>
                <a:latin typeface="Latin Modern Sans"/>
              </a:rPr>
              <a:t>Financial factors</a:t>
            </a:r>
          </a:p>
        </p:txBody>
      </p:sp>
      <p:sp>
        <p:nvSpPr>
          <p:cNvPr id="15" name="TextBox 14"/>
          <p:cNvSpPr txBox="1"/>
          <p:nvPr/>
        </p:nvSpPr>
        <p:spPr>
          <a:xfrm>
            <a:off x="7955279" y="3493008"/>
            <a:ext cx="2926080" cy="457200"/>
          </a:xfrm>
          <a:prstGeom prst="rect">
            <a:avLst/>
          </a:prstGeom>
          <a:noFill/>
        </p:spPr>
        <p:txBody>
          <a:bodyPr wrap="square" lIns="0" rIns="0" tIns="0" bIns="0">
            <a:spAutoFit/>
          </a:bodyPr>
          <a:lstStyle/>
          <a:p>
            <a:pPr algn="l">
              <a:lnSpc>
                <a:spcPts val="1957"/>
              </a:lnSpc>
              <a:spcAft>
                <a:spcPts val="0"/>
              </a:spcAft>
            </a:pPr>
            <a:r>
              <a:rPr sz="1450" b="1" i="0">
                <a:solidFill>
                  <a:srgbClr val="1F3864"/>
                </a:solidFill>
                <a:latin typeface="Latin Modern Sans"/>
              </a:rPr>
              <a:t>yes</a:t>
            </a:r>
          </a:p>
        </p:txBody>
      </p:sp>
      <p:sp>
        <p:nvSpPr>
          <p:cNvPr id="16" name="TextBox 15"/>
          <p:cNvSpPr txBox="1"/>
          <p:nvPr/>
        </p:nvSpPr>
        <p:spPr>
          <a:xfrm>
            <a:off x="822960" y="3950208"/>
            <a:ext cx="6949440" cy="457200"/>
          </a:xfrm>
          <a:prstGeom prst="rect">
            <a:avLst/>
          </a:prstGeom>
          <a:noFill/>
        </p:spPr>
        <p:txBody>
          <a:bodyPr wrap="square" lIns="0" rIns="0" tIns="0" bIns="0">
            <a:spAutoFit/>
          </a:bodyPr>
          <a:lstStyle/>
          <a:p>
            <a:pPr algn="l">
              <a:lnSpc>
                <a:spcPts val="1957"/>
              </a:lnSpc>
              <a:spcAft>
                <a:spcPts val="0"/>
              </a:spcAft>
            </a:pPr>
            <a:r>
              <a:rPr sz="1450" b="0" i="0">
                <a:solidFill>
                  <a:srgbClr val="1A1A1A"/>
                </a:solidFill>
                <a:latin typeface="Latin Modern Sans"/>
              </a:rPr>
              <a:t>Personal life-cycle motives</a:t>
            </a:r>
          </a:p>
        </p:txBody>
      </p:sp>
      <p:sp>
        <p:nvSpPr>
          <p:cNvPr id="17" name="TextBox 16"/>
          <p:cNvSpPr txBox="1"/>
          <p:nvPr/>
        </p:nvSpPr>
        <p:spPr>
          <a:xfrm>
            <a:off x="7955279" y="3950208"/>
            <a:ext cx="2926080" cy="457200"/>
          </a:xfrm>
          <a:prstGeom prst="rect">
            <a:avLst/>
          </a:prstGeom>
          <a:noFill/>
        </p:spPr>
        <p:txBody>
          <a:bodyPr wrap="square" lIns="0" rIns="0" tIns="0" bIns="0">
            <a:spAutoFit/>
          </a:bodyPr>
          <a:lstStyle/>
          <a:p>
            <a:pPr algn="l">
              <a:lnSpc>
                <a:spcPts val="1957"/>
              </a:lnSpc>
              <a:spcAft>
                <a:spcPts val="0"/>
              </a:spcAft>
            </a:pPr>
            <a:r>
              <a:rPr sz="1450" b="1" i="0">
                <a:solidFill>
                  <a:srgbClr val="1F3864"/>
                </a:solidFill>
                <a:latin typeface="Latin Modern Sans"/>
              </a:rPr>
              <a:t>yes</a:t>
            </a:r>
          </a:p>
        </p:txBody>
      </p:sp>
      <p:cxnSp>
        <p:nvCxnSpPr>
          <p:cNvPr id="18" name="Connector 17"/>
          <p:cNvCxnSpPr/>
          <p:nvPr/>
        </p:nvCxnSpPr>
        <p:spPr>
          <a:xfrm>
            <a:off x="822960" y="4425696"/>
            <a:ext cx="10058399" cy="0"/>
          </a:xfrm>
          <a:prstGeom prst="line">
            <a:avLst/>
          </a:prstGeom>
          <a:ln w="9525">
            <a:solidFill>
              <a:srgbClr val="1A1A1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17136"/>
            <a:ext cx="6949440" cy="457200"/>
          </a:xfrm>
          <a:prstGeom prst="rect">
            <a:avLst/>
          </a:prstGeom>
          <a:noFill/>
        </p:spPr>
        <p:txBody>
          <a:bodyPr wrap="square" lIns="0" rIns="0" tIns="0" bIns="0">
            <a:spAutoFit/>
          </a:bodyPr>
          <a:lstStyle/>
          <a:p>
            <a:pPr algn="l">
              <a:lnSpc>
                <a:spcPts val="1957"/>
              </a:lnSpc>
              <a:spcAft>
                <a:spcPts val="0"/>
              </a:spcAft>
            </a:pPr>
            <a:r>
              <a:rPr sz="1450" b="0" i="0">
                <a:solidFill>
                  <a:srgbClr val="1A1A1A"/>
                </a:solidFill>
                <a:latin typeface="Latin Modern Sans"/>
              </a:rPr>
              <a:t>Sociodemographics</a:t>
            </a:r>
          </a:p>
        </p:txBody>
      </p:sp>
      <p:sp>
        <p:nvSpPr>
          <p:cNvPr id="20" name="TextBox 19"/>
          <p:cNvSpPr txBox="1"/>
          <p:nvPr/>
        </p:nvSpPr>
        <p:spPr>
          <a:xfrm>
            <a:off x="7955279" y="4517136"/>
            <a:ext cx="2926080" cy="457200"/>
          </a:xfrm>
          <a:prstGeom prst="rect">
            <a:avLst/>
          </a:prstGeom>
          <a:noFill/>
        </p:spPr>
        <p:txBody>
          <a:bodyPr wrap="square" lIns="0" rIns="0" tIns="0" bIns="0">
            <a:spAutoFit/>
          </a:bodyPr>
          <a:lstStyle/>
          <a:p>
            <a:pPr algn="l">
              <a:lnSpc>
                <a:spcPts val="1957"/>
              </a:lnSpc>
              <a:spcAft>
                <a:spcPts val="0"/>
              </a:spcAft>
            </a:pPr>
            <a:r>
              <a:rPr sz="1450" b="1" i="0">
                <a:solidFill>
                  <a:srgbClr val="1F3864"/>
                </a:solidFill>
                <a:latin typeface="Latin Modern Sans"/>
              </a:rPr>
              <a:t>yes</a:t>
            </a:r>
          </a:p>
        </p:txBody>
      </p:sp>
      <p:cxnSp>
        <p:nvCxnSpPr>
          <p:cNvPr id="21" name="Connector 20"/>
          <p:cNvCxnSpPr/>
          <p:nvPr/>
        </p:nvCxnSpPr>
        <p:spPr>
          <a:xfrm>
            <a:off x="822960" y="5010912"/>
            <a:ext cx="10058399" cy="0"/>
          </a:xfrm>
          <a:prstGeom prst="line">
            <a:avLst/>
          </a:prstGeom>
          <a:ln w="17780">
            <a:solidFill>
              <a:srgbClr val="1A1A1A"/>
            </a:solidFill>
          </a:ln>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881360" y="6382512"/>
            <a:ext cx="585216" cy="310896"/>
          </a:xfrm>
          <a:prstGeom prst="round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7432" rIns="27432" tIns="0" bIns="0"/>
          <a:lstStyle/>
          <a:p>
            <a:pPr algn="ctr"/>
            <a:r>
              <a:rPr sz="1100">
                <a:solidFill>
                  <a:srgbClr val="1F3864"/>
                </a:solidFill>
                <a:latin typeface="Latin Modern Sans"/>
              </a:rPr>
              <a:t>◂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