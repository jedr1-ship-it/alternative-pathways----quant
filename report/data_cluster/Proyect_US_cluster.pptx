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2.xml"/><Relationship Id="rId4" Type="http://schemas.openxmlformats.org/officeDocument/2006/relationships/slide" Target="slide38.xml"/><Relationship Id="rId5" Type="http://schemas.openxmlformats.org/officeDocument/2006/relationships/slide" Target="slide4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3.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5.xml"/><Relationship Id="rId4" Type="http://schemas.openxmlformats.org/officeDocument/2006/relationships/slide" Target="slide47.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6.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51.xml"/><Relationship Id="rId4" Type="http://schemas.openxmlformats.org/officeDocument/2006/relationships/slide" Target="slide52.xml"/><Relationship Id="rId5" Type="http://schemas.openxmlformats.org/officeDocument/2006/relationships/slide" Target="slide53.xml"/><Relationship Id="rId6" Type="http://schemas.openxmlformats.org/officeDocument/2006/relationships/slide" Target="slide5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2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3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slide" Target="slide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slide" Target="slide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417320"/>
            <a:ext cx="10789920" cy="82296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build one of the longest continuous measures of teacher attrition in the United States, twenty-eight consecutive years (1998–2025).</a:t>
            </a:r>
          </a:p>
        </p:txBody>
      </p:sp>
      <p:sp>
        <p:nvSpPr>
          <p:cNvPr id="5" name="TextBox 4"/>
          <p:cNvSpPr txBox="1"/>
          <p:nvPr/>
        </p:nvSpPr>
        <p:spPr>
          <a:xfrm>
            <a:off x="822960" y="2743200"/>
            <a:ext cx="10789920" cy="5120640"/>
          </a:xfrm>
          <a:prstGeom prst="rect">
            <a:avLst/>
          </a:prstGeom>
          <a:noFill/>
        </p:spPr>
        <p:txBody>
          <a:bodyPr wrap="square" lIns="0" rIns="0" tIns="0" bIns="0">
            <a:spAutoFit/>
          </a:bodyPr>
          <a:lstStyle/>
          <a:p>
            <a:pPr algn="l">
              <a:lnSpc>
                <a:spcPts val="2560"/>
              </a:lnSpc>
              <a:spcAft>
                <a:spcPts val="3000"/>
              </a:spcAft>
            </a:pPr>
            <a:r>
              <a:rPr sz="2000" b="1" i="0">
                <a:solidFill>
                  <a:srgbClr val="2D6CB5"/>
                </a:solidFill>
                <a:latin typeface="Garamond"/>
              </a:rPr>
              <a:t>▪  </a:t>
            </a:r>
            <a:r>
              <a:rPr sz="2000" b="1" i="0">
                <a:solidFill>
                  <a:srgbClr val="102D5E"/>
                </a:solidFill>
                <a:latin typeface="Garamond"/>
              </a:rPr>
              <a:t>One source.  </a:t>
            </a:r>
            <a:r>
              <a:rPr sz="2000" b="0" i="0">
                <a:solidFill>
                  <a:srgbClr val="212529"/>
                </a:solidFill>
                <a:latin typeface="Garamond"/>
              </a:rPr>
              <a:t>A single instrument and a single definition over the whole period.</a:t>
            </a:r>
          </a:p>
          <a:p>
            <a:pPr algn="l">
              <a:lnSpc>
                <a:spcPts val="2560"/>
              </a:lnSpc>
              <a:spcAft>
                <a:spcPts val="3000"/>
              </a:spcAft>
            </a:pPr>
            <a:r>
              <a:rPr sz="2000" b="1" i="0">
                <a:solidFill>
                  <a:srgbClr val="2D6CB5"/>
                </a:solidFill>
                <a:latin typeface="Garamond"/>
              </a:rPr>
              <a:t>▪  </a:t>
            </a:r>
            <a:r>
              <a:rPr sz="2000" b="1" i="0">
                <a:solidFill>
                  <a:srgbClr val="102D5E"/>
                </a:solidFill>
                <a:latin typeface="Garamond"/>
              </a:rPr>
              <a:t>No gaps.  </a:t>
            </a:r>
            <a:r>
              <a:rPr sz="2000" b="0" i="0">
                <a:solidFill>
                  <a:srgbClr val="212529"/>
                </a:solidFill>
                <a:latin typeface="Garamond"/>
              </a:rPr>
              <a:t>Twenty-eight consecutive years against a quadrennial official benchmark.</a:t>
            </a:r>
          </a:p>
          <a:p>
            <a:pPr algn="l">
              <a:lnSpc>
                <a:spcPts val="2560"/>
              </a:lnSpc>
              <a:spcAft>
                <a:spcPts val="0"/>
              </a:spcAft>
            </a:pPr>
            <a:r>
              <a:rPr sz="2000" b="1" i="0">
                <a:solidFill>
                  <a:srgbClr val="2D6CB5"/>
                </a:solidFill>
                <a:latin typeface="Garamond"/>
              </a:rPr>
              <a:t>▪  </a:t>
            </a:r>
            <a:r>
              <a:rPr sz="2000" b="1" i="0">
                <a:solidFill>
                  <a:srgbClr val="102D5E"/>
                </a:solidFill>
                <a:latin typeface="Garamond"/>
              </a:rPr>
              <a:t>Beyond the rate.  </a:t>
            </a:r>
            <a:r>
              <a:rPr sz="2000" b="0" i="0">
                <a:solidFill>
                  <a:srgbClr val="212529"/>
                </a:solidFill>
                <a:latin typeface="Garamond"/>
              </a:rPr>
              <a:t>Who leaves, where they go, and what leaving pays.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
        <p:nvSpPr>
          <p:cNvPr id="12" name="Rounded Rectangle 11">
            <a:hlinkClick action="ppaction://hlinksldjump" r:id="rId5"/>
          </p:cNvPr>
          <p:cNvSpPr/>
          <p:nvPr/>
        </p:nvSpPr>
        <p:spPr>
          <a:xfrm>
            <a:off x="7377379"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Selection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All combinations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Put retention efforts where they can work: the first years of the career (mentoring, stable placements). Retirements can only be planned for, not prevented.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Every combination of the two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definition_grid.png"/>
          <p:cNvPicPr>
            <a:picLocks noChangeAspect="1"/>
          </p:cNvPicPr>
          <p:nvPr/>
        </p:nvPicPr>
        <p:blipFill>
          <a:blip r:embed="rId2"/>
          <a:stretch>
            <a:fillRect/>
          </a:stretch>
        </p:blipFill>
        <p:spPr>
          <a:xfrm>
            <a:off x="1494064" y="1005840"/>
            <a:ext cx="9173391" cy="4846320"/>
          </a:xfrm>
          <a:prstGeom prst="rect">
            <a:avLst/>
          </a:prstGeom>
        </p:spPr>
      </p:pic>
      <p:sp>
        <p:nvSpPr>
          <p:cNvPr id="5" name="TextBox 4"/>
          <p:cNvSpPr txBox="1"/>
          <p:nvPr/>
        </p:nvSpPr>
        <p:spPr>
          <a:xfrm>
            <a:off x="822960" y="5961888"/>
            <a:ext cx="10789920" cy="73152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Pooled 2005–2024, weighted; a leaver is always a person never seen teaching in year 2. The rate falls steeply with the year-1 teaching requirement and barely moves with the year-2 evidence requirement. Single, Pair, Triple and Strict are the second column.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linkage loss selective?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seltab-1.png"/>
          <p:cNvPicPr>
            <a:picLocks noChangeAspect="1"/>
          </p:cNvPicPr>
          <p:nvPr/>
        </p:nvPicPr>
        <p:blipFill>
          <a:blip r:embed="rId2"/>
          <a:stretch>
            <a:fillRect/>
          </a:stretch>
        </p:blipFill>
        <p:spPr>
          <a:xfrm>
            <a:off x="3948984" y="960119"/>
            <a:ext cx="4263551" cy="5669279"/>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53</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Determinants of leaving the teaching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54</a:t>
            </a:r>
          </a:p>
        </p:txBody>
      </p:sp>
      <p:sp>
        <p:nvSpPr>
          <p:cNvPr id="4" name="TextBox 3"/>
          <p:cNvSpPr txBox="1"/>
          <p:nvPr/>
        </p:nvSpPr>
        <p:spPr>
          <a:xfrm>
            <a:off x="822960" y="1115568"/>
            <a:ext cx="10789920" cy="365760"/>
          </a:xfrm>
          <a:prstGeom prst="rect">
            <a:avLst/>
          </a:prstGeom>
          <a:noFill/>
        </p:spPr>
        <p:txBody>
          <a:bodyPr wrap="square" lIns="0" rIns="0" tIns="0" bIns="0">
            <a:spAutoFit/>
          </a:bodyPr>
          <a:lstStyle/>
          <a:p>
            <a:pPr algn="l">
              <a:lnSpc>
                <a:spcPts val="1920"/>
              </a:lnSpc>
              <a:spcAft>
                <a:spcPts val="0"/>
              </a:spcAft>
            </a:pPr>
            <a:r>
              <a:rPr sz="1500" b="0" i="1">
                <a:solidFill>
                  <a:srgbClr val="6B7480"/>
                </a:solidFill>
                <a:latin typeface="Garamond"/>
              </a:rPr>
              <a:t>From the initial literature review of our policy paper</a:t>
            </a:r>
          </a:p>
        </p:txBody>
      </p:sp>
      <p:sp>
        <p:nvSpPr>
          <p:cNvPr id="5" name="TextBox 4"/>
          <p:cNvSpPr txBox="1"/>
          <p:nvPr/>
        </p:nvSpPr>
        <p:spPr>
          <a:xfrm>
            <a:off x="822960" y="1847088"/>
            <a:ext cx="10789920" cy="365760"/>
          </a:xfrm>
          <a:prstGeom prst="rect">
            <a:avLst/>
          </a:prstGeom>
          <a:noFill/>
        </p:spPr>
        <p:txBody>
          <a:bodyPr wrap="square" lIns="0" rIns="0" tIns="0" bIns="0">
            <a:spAutoFit/>
          </a:bodyPr>
          <a:lstStyle/>
          <a:p>
            <a:pPr algn="l">
              <a:lnSpc>
                <a:spcPts val="2432"/>
              </a:lnSpc>
              <a:spcAft>
                <a:spcPts val="0"/>
              </a:spcAft>
            </a:pPr>
            <a:r>
              <a:rPr sz="1900" b="1" i="0">
                <a:solidFill>
                  <a:srgbClr val="6B7480"/>
                </a:solidFill>
                <a:latin typeface="Garamond"/>
              </a:rPr>
              <a:t>In the literature, but not in the CPS</a:t>
            </a:r>
          </a:p>
        </p:txBody>
      </p:sp>
      <p:sp>
        <p:nvSpPr>
          <p:cNvPr id="6" name="TextBox 5"/>
          <p:cNvSpPr txBox="1"/>
          <p:nvPr/>
        </p:nvSpPr>
        <p:spPr>
          <a:xfrm>
            <a:off x="822960" y="2359152"/>
            <a:ext cx="10789920" cy="5120640"/>
          </a:xfrm>
          <a:prstGeom prst="rect">
            <a:avLst/>
          </a:prstGeom>
          <a:noFill/>
        </p:spPr>
        <p:txBody>
          <a:bodyPr wrap="square" lIns="0" rIns="0" tIns="0" bIns="0">
            <a:spAutoFit/>
          </a:bodyPr>
          <a:lstStyle/>
          <a:p>
            <a:pPr algn="l">
              <a:lnSpc>
                <a:spcPts val="2176"/>
              </a:lnSpc>
              <a:spcAft>
                <a:spcPts val="1200"/>
              </a:spcAft>
            </a:pPr>
            <a:r>
              <a:rPr sz="1700" b="1" i="0">
                <a:solidFill>
                  <a:srgbClr val="6B7480"/>
                </a:solidFill>
                <a:latin typeface="Garamond"/>
              </a:rPr>
              <a:t>▪  </a:t>
            </a:r>
            <a:r>
              <a:rPr sz="1700" b="1" i="0">
                <a:solidFill>
                  <a:srgbClr val="102D5E"/>
                </a:solidFill>
                <a:latin typeface="Garamond"/>
              </a:rPr>
              <a:t>Working conditions.  </a:t>
            </a:r>
            <a:r>
              <a:rPr sz="1700" b="0" i="0">
                <a:solidFill>
                  <a:srgbClr val="212529"/>
                </a:solidFill>
                <a:latin typeface="Garamond"/>
              </a:rPr>
              <a:t>Workload, class size, and student behavior.</a:t>
            </a:r>
          </a:p>
          <a:p>
            <a:pPr algn="l">
              <a:lnSpc>
                <a:spcPts val="2176"/>
              </a:lnSpc>
              <a:spcAft>
                <a:spcPts val="1200"/>
              </a:spcAft>
            </a:pPr>
            <a:r>
              <a:rPr sz="1700" b="1" i="0">
                <a:solidFill>
                  <a:srgbClr val="6B7480"/>
                </a:solidFill>
                <a:latin typeface="Garamond"/>
              </a:rPr>
              <a:t>▪  </a:t>
            </a:r>
            <a:r>
              <a:rPr sz="1700" b="1" i="0">
                <a:solidFill>
                  <a:srgbClr val="102D5E"/>
                </a:solidFill>
                <a:latin typeface="Garamond"/>
              </a:rPr>
              <a:t>Organizational support.  </a:t>
            </a:r>
            <a:r>
              <a:rPr sz="1700" b="0" i="0">
                <a:solidFill>
                  <a:srgbClr val="212529"/>
                </a:solidFill>
                <a:latin typeface="Garamond"/>
              </a:rPr>
              <a:t>Leadership, mentoring, and school climate.</a:t>
            </a:r>
          </a:p>
          <a:p>
            <a:pPr algn="l">
              <a:lnSpc>
                <a:spcPts val="2176"/>
              </a:lnSpc>
              <a:spcAft>
                <a:spcPts val="0"/>
              </a:spcAft>
            </a:pPr>
            <a:r>
              <a:rPr sz="1700" b="1" i="0">
                <a:solidFill>
                  <a:srgbClr val="6B7480"/>
                </a:solidFill>
                <a:latin typeface="Garamond"/>
              </a:rPr>
              <a:t>▪  </a:t>
            </a:r>
            <a:r>
              <a:rPr sz="1700" b="1" i="0">
                <a:solidFill>
                  <a:srgbClr val="102D5E"/>
                </a:solidFill>
                <a:latin typeface="Garamond"/>
              </a:rPr>
              <a:t>Autonomy and intrinsic motives.  </a:t>
            </a:r>
            <a:r>
              <a:rPr sz="1700" b="0" i="0">
                <a:solidFill>
                  <a:srgbClr val="212529"/>
                </a:solidFill>
                <a:latin typeface="Garamond"/>
              </a:rPr>
              <a:t>Control over one's own work and the sense of vocation.</a:t>
            </a:r>
          </a:p>
        </p:txBody>
      </p:sp>
      <p:sp>
        <p:nvSpPr>
          <p:cNvPr id="7" name="TextBox 6"/>
          <p:cNvSpPr txBox="1"/>
          <p:nvPr/>
        </p:nvSpPr>
        <p:spPr>
          <a:xfrm>
            <a:off x="822960" y="4041648"/>
            <a:ext cx="10789920" cy="365760"/>
          </a:xfrm>
          <a:prstGeom prst="rect">
            <a:avLst/>
          </a:prstGeom>
          <a:noFill/>
        </p:spPr>
        <p:txBody>
          <a:bodyPr wrap="square" lIns="0" rIns="0" tIns="0" bIns="0">
            <a:spAutoFit/>
          </a:bodyPr>
          <a:lstStyle/>
          <a:p>
            <a:pPr algn="l">
              <a:lnSpc>
                <a:spcPts val="2432"/>
              </a:lnSpc>
              <a:spcAft>
                <a:spcPts val="0"/>
              </a:spcAft>
            </a:pPr>
            <a:r>
              <a:rPr sz="1900" b="1" i="0">
                <a:solidFill>
                  <a:srgbClr val="102D5E"/>
                </a:solidFill>
                <a:latin typeface="Garamond"/>
              </a:rPr>
              <a:t>What the CPS observes</a:t>
            </a:r>
          </a:p>
        </p:txBody>
      </p:sp>
      <p:sp>
        <p:nvSpPr>
          <p:cNvPr id="8" name="TextBox 7"/>
          <p:cNvSpPr txBox="1"/>
          <p:nvPr/>
        </p:nvSpPr>
        <p:spPr>
          <a:xfrm>
            <a:off x="822960" y="4553712"/>
            <a:ext cx="10789920" cy="5120640"/>
          </a:xfrm>
          <a:prstGeom prst="rect">
            <a:avLst/>
          </a:prstGeom>
          <a:noFill/>
        </p:spPr>
        <p:txBody>
          <a:bodyPr wrap="square" lIns="0" rIns="0" tIns="0" bIns="0">
            <a:spAutoFit/>
          </a:bodyPr>
          <a:lstStyle/>
          <a:p>
            <a:pPr algn="l">
              <a:lnSpc>
                <a:spcPts val="2176"/>
              </a:lnSpc>
              <a:spcAft>
                <a:spcPts val="1200"/>
              </a:spcAft>
            </a:pPr>
            <a:r>
              <a:rPr sz="1700" b="1" i="0">
                <a:solidFill>
                  <a:srgbClr val="2D6CB5"/>
                </a:solidFill>
                <a:latin typeface="Garamond"/>
              </a:rPr>
              <a:t>▪  </a:t>
            </a:r>
            <a:r>
              <a:rPr sz="1700" b="1" i="0">
                <a:solidFill>
                  <a:srgbClr val="102D5E"/>
                </a:solidFill>
                <a:latin typeface="Garamond"/>
              </a:rPr>
              <a:t>Financial factors.  </a:t>
            </a:r>
            <a:r>
              <a:rPr sz="1700" b="0" i="0">
                <a:solidFill>
                  <a:srgbClr val="212529"/>
                </a:solidFill>
                <a:latin typeface="Garamond"/>
              </a:rPr>
              <a:t>Own earnings, household income, and the pay of the outside options.</a:t>
            </a:r>
          </a:p>
          <a:p>
            <a:pPr algn="l">
              <a:lnSpc>
                <a:spcPts val="2176"/>
              </a:lnSpc>
              <a:spcAft>
                <a:spcPts val="1200"/>
              </a:spcAft>
            </a:pPr>
            <a:r>
              <a:rPr sz="1700" b="1" i="0">
                <a:solidFill>
                  <a:srgbClr val="2D6CB5"/>
                </a:solidFill>
                <a:latin typeface="Garamond"/>
              </a:rPr>
              <a:t>▪  </a:t>
            </a:r>
            <a:r>
              <a:rPr sz="1700" b="1" i="0">
                <a:solidFill>
                  <a:srgbClr val="102D5E"/>
                </a:solidFill>
                <a:latin typeface="Garamond"/>
              </a:rPr>
              <a:t>Personal life-cycle motives.  </a:t>
            </a:r>
            <a:r>
              <a:rPr sz="1700" b="0" i="0">
                <a:solidFill>
                  <a:srgbClr val="212529"/>
                </a:solidFill>
                <a:latin typeface="Garamond"/>
              </a:rPr>
              <a:t>Marriage, children, health, and retirement timing.</a:t>
            </a:r>
          </a:p>
          <a:p>
            <a:pPr algn="l">
              <a:lnSpc>
                <a:spcPts val="2176"/>
              </a:lnSpc>
              <a:spcAft>
                <a:spcPts val="0"/>
              </a:spcAft>
            </a:pPr>
            <a:r>
              <a:rPr sz="1700" b="1" i="0">
                <a:solidFill>
                  <a:srgbClr val="2D6CB5"/>
                </a:solidFill>
                <a:latin typeface="Garamond"/>
              </a:rPr>
              <a:t>▪  </a:t>
            </a:r>
            <a:r>
              <a:rPr sz="1700" b="1" i="0">
                <a:solidFill>
                  <a:srgbClr val="102D5E"/>
                </a:solidFill>
                <a:latin typeface="Garamond"/>
              </a:rPr>
              <a:t>Sociodemographics.  </a:t>
            </a:r>
            <a:r>
              <a:rPr sz="1700" b="0" i="0">
                <a:solidFill>
                  <a:srgbClr val="212529"/>
                </a:solidFill>
                <a:latin typeface="Garamond"/>
              </a:rPr>
              <a:t>Sex, age, education, race and ethnicity, and state.</a:t>
            </a:r>
          </a:p>
        </p:txBody>
      </p:sp>
      <p:sp>
        <p:nvSpPr>
          <p:cNvPr id="9" name="Rounded Rectangle 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