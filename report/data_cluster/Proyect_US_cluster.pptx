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Motivacion: entender por que los profesores dejan la profesion y si hay un margen real de politica para suavizar la escasez reteniendolos o trayendolos de vuelta. Problema: en muchos paises no hay microdatos oficiales publicos; empezamos por Estados Unidos, el pais con mas informacion. Boton: fuentes oficiales y sus huecos temporales.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seis definiciones en un eje: de la mas laxa (17.5) a la mas estricta (10.5) y el recall anual (8.6). Los rombos negros son el benchmark oficial del NCES (Teacher Follow-up Survey, 8.0): nuestra medida retrospectiva aterriza justo encima.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 estable. Promedios EAG para paises con datos: 6.6 (datos 2016, EAG 2021), 6.5 (2022/23, EAG 2025), 6.4 (2024/25, EAG 2026). Los paises con series largas (Nueva Zelanda, Suecia, Israel, Noruega) tambien son estables. EEUU esta por encima de la mayoria de los que publican tasa.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cada 100 que dejan la docencia: 29 a otro empleo, 36 fuera de la poblacion activa con 55 o mas (retiro), 24 fuera antes de los 55 y 11 en paro. De los 29 empleados: 6 siguen en educacion, 2 en cuidado, 9 en otras profesiones y 11 en ventas, oficina y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grupo que sale antes de los 55: la salida temprana es una historia de familia, mas de la mitad son madres con un hijo en casa (13 de los 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los mas jovenes se van a estudiar: entre los que salen de la poblacion activa antes de los 55, estudia el 45 por ciento de los menores de 30 (8 por ciento de 30-39, 3 por ciento de 40-54) y el 31 por ciento de los que no tienen hijos en casa, frente al 3 por ciento de los que si. Ojo: n pequenos, va indicado en cada barra.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a: vinculacion al empleo (ano completo, tiempo parcial). c: compensacion (plan de pension, sector publico, renta del hogar en el cuartil inferior). f: familia (bebe, hijos, estado civil). h: salud (salud declarada, discapacidad). d: demografia (edad, sexo, raza, educacion). delta-t: efectos de ano. El LPM no esta acotado (22 por ciento de los ajustados por debajo de cero), asi que el probit es la especificacion principal; las variantes LPM estan en el anexo.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Relationship Id="rId4" Type="http://schemas.openxmlformats.org/officeDocument/2006/relationships/slide" Target="slide3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33.xml"/><Relationship Id="rId4" Type="http://schemas.openxmlformats.org/officeDocument/2006/relationships/slide" Target="slide34.xml"/><Relationship Id="rId5" Type="http://schemas.openxmlformats.org/officeDocument/2006/relationships/slide" Target="slide35.xml"/><Relationship Id="rId6" Type="http://schemas.openxmlformats.org/officeDocument/2006/relationships/slide" Target="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slide" Target="slide4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slide" Target="slide37.xml"/><Relationship Id="rId4" Type="http://schemas.openxmlformats.org/officeDocument/2006/relationships/slide" Target="slide38.xml"/><Relationship Id="rId5" Type="http://schemas.openxmlformats.org/officeDocument/2006/relationships/slide" Target="slide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Relationship Id="rId4" Type="http://schemas.openxmlformats.org/officeDocument/2006/relationships/slide" Target="slide3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slide" Target="slide4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Relationship Id="rId4" Type="http://schemas.openxmlformats.org/officeDocument/2006/relationships/slide" Target="slide4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Relationship Id="rId4" Type="http://schemas.openxmlformats.org/officeDocument/2006/relationships/slide" Target="slide43.xml"/><Relationship Id="rId5" Type="http://schemas.openxmlformats.org/officeDocument/2006/relationships/slide" Target="slide44.xml"/><Relationship Id="rId6" Type="http://schemas.openxmlformats.org/officeDocument/2006/relationships/slide" Target="slide45.xml"/><Relationship Id="rId7" Type="http://schemas.openxmlformats.org/officeDocument/2006/relationships/slide" Target="slide4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slide" Target="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slide" Target="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slide" Target="slide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slide" Target="slide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slide" Target="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slide" Target="slide1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slide" Target="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slide" Target="slide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slide" Target="slide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slide" Target="slide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slide" Target="slide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slide" Target="slide2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slide" Target="slide2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slide" Target="slide2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slide" Target="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5579561"/>
            <a:ext cx="154428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153513"/>
            <a:ext cx="154643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2169781" y="5153513"/>
            <a:ext cx="1211285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3399157" y="5153513"/>
            <a:ext cx="1187119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4604367" y="5153513"/>
            <a:ext cx="104010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389373"/>
            <a:ext cx="1290906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648405"/>
            <a:ext cx="131942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1942744" y="5648405"/>
            <a:ext cx="1919492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3880327" y="5648405"/>
            <a:ext cx="1197441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6311253"/>
            <a:ext cx="1669633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6311253"/>
            <a:ext cx="1682240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6244076"/>
            <a:ext cx="1843419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5851119"/>
            <a:ext cx="860192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483509" y="5851119"/>
            <a:ext cx="1439881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2941481" y="5851119"/>
            <a:ext cx="1196608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4156180" y="5851119"/>
            <a:ext cx="168694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415097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68614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398674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731415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626147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57434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57434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68431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159131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