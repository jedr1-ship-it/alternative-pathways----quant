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notesMaster" Target="notesMasters/notesMaster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GUION. En este gráfico veis cuatro líneas y unos puntos. Cada línea es una forma distinta de medir lo mismo, calculada sobre los mismos registros del CPS, de la menos estricta a la más precisa. Los puntos son la referencia nacional, el Teacher Follow-up Survey del NCES (8,0 en su última ola).</a:t>
            </a:r>
          </a:p>
          <a:p/>
          <a:p>
            <a:r>
              <a:t>ANY SIGHTING (~18): entra cualquiera visto enseñando en una sola entrevista del año 1. Más del doble de la referencia por tres causas: (1) dominante, a quién deja entrar un solo avistamiento — sustitutos y spells de un mes. Ojo con el dato: de los vistos enseñando en UNA sola entrevista del año 1, el 55% no aparece enseñando en NINGUNA de sus entrevistas del año 2 (no significa 'nunca más': el CPS solo los ve 16 meses). El gradiente: una vez 55%, dos 30%, tres 17%, cuatro 11%. (2) Un solo mes de código de ocupación es ruidoso. (3) La estacionalidad pesa poco: solo-verano es ~3% de estos leavers.</a:t>
            </a:r>
          </a:p>
          <a:p/>
          <a:p>
            <a:r>
              <a:t>MONTH PAIRS (~15): la unidad es el par mes-mes+12, no la persona; la misma persona puede contar como leaver en un par y stayer en otro. La caída de tres puntos hasta la siguiente línea es lo que se gana imponiendo un veredicto por persona.</a:t>
            </a:r>
          </a:p>
          <a:p/>
          <a:p>
            <a:r>
              <a:t>PANEL (~13): una persona, un veredicto (profesor si enseña en 2+ entrevistas del año 1; leaver solo si nunca enseña en el año 2, con 2+ entrevistas, una fuera del verano). Queda 4-5 puntos sobre el recall por dos razones: (1) concepto de año puntual — quien enseñó casi todo el año pero no en esas entrevistas cuenta como leaver; (2) retornos — uno de cada seis leavers del panel vuelve a enseñar en tres meses; la medida anual los absorbe.</a:t>
            </a:r>
          </a:p>
          <a:p/>
          <a:p>
            <a:r>
              <a:t>ANNUAL RECALL (8,6): empleo más largo del año anterior y ya no enseña en marzo. Comparte concepto con la encuesta oficial (empleo principal del año) y por eso aterriza junto a los puntos. Su riesgo propio: error de recuerdo.</a:t>
            </a:r>
          </a:p>
          <a:p/>
          <a:p>
            <a:r>
              <a:t>EJE: el recall empieza en 1997 (suplementos armonizados desde 1998); las líneas de panel empiezan en 2005 porque el identificador de hogar solo es único desde mayo de 2004.</a:t>
            </a:r>
          </a:p>
          <a:p/>
          <a:p>
            <a:r>
              <a:t>CIERRE: ninguna línea es 'la correcta'; cada construcción responde a una pregunta distinta. Si construyes tu variable de abandono desde una encuesta porque el registro administrativo no es accesible, debes saber qué elección tomas y qué le hace a tu número.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1920240"/>
            <a:ext cx="9994392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ts val="4050"/>
              </a:lnSpc>
              <a:spcAft>
                <a:spcPts val="600"/>
              </a:spcAft>
            </a:pPr>
            <a:r>
              <a:rPr sz="3000" b="1" i="0">
                <a:solidFill>
                  <a:srgbClr val="1F3864"/>
                </a:solidFill>
                <a:latin typeface="Garamond"/>
              </a:rPr>
              <a:t>Measuring Teacher Attrition with Labour Force Survey Data</a:t>
            </a:r>
          </a:p>
          <a:p>
            <a:pPr algn="ctr">
              <a:lnSpc>
                <a:spcPts val="2700"/>
              </a:lnSpc>
              <a:spcAft>
                <a:spcPts val="0"/>
              </a:spcAft>
            </a:pPr>
            <a:r>
              <a:rPr sz="2000" b="1" i="0">
                <a:solidFill>
                  <a:srgbClr val="1F3864"/>
                </a:solidFill>
                <a:latin typeface="Garamond"/>
              </a:rPr>
              <a:t>The Case of the United States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3749039"/>
            <a:ext cx="999439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ts val="2160"/>
              </a:lnSpc>
              <a:spcAft>
                <a:spcPts val="0"/>
              </a:spcAft>
            </a:pPr>
            <a:r>
              <a:rPr sz="1600" b="0" i="0">
                <a:solidFill>
                  <a:srgbClr val="1A2430"/>
                </a:solidFill>
                <a:latin typeface="Garamond"/>
              </a:rPr>
              <a:t>José Elías Durán Roa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4251960"/>
            <a:ext cx="999439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ts val="1687"/>
              </a:lnSpc>
              <a:spcAft>
                <a:spcPts val="0"/>
              </a:spcAft>
            </a:pPr>
            <a:r>
              <a:rPr sz="1250" b="0" i="0">
                <a:solidFill>
                  <a:srgbClr val="6B7480"/>
                </a:solidFill>
                <a:latin typeface="Garamond"/>
              </a:rPr>
              <a:t>Data Cluster · Directorate for Education and Skills</a:t>
            </a:r>
          </a:p>
        </p:txBody>
      </p:sp>
      <p:pic>
        <p:nvPicPr>
          <p:cNvPr id="5" name="Picture 4" descr="oec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72887" y="5074920"/>
            <a:ext cx="1645920" cy="41833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155680" cy="56692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300" b="1">
                <a:solidFill>
                  <a:srgbClr val="1F3864"/>
                </a:solidFill>
                <a:latin typeface="Garamond"/>
              </a:rPr>
              <a:t>Why this project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6B7480"/>
                </a:solidFill>
                <a:latin typeface="Garamond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00200"/>
            <a:ext cx="10607040" cy="4846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379"/>
              </a:lnSpc>
              <a:spcAft>
                <a:spcPts val="2400"/>
              </a:spcAft>
            </a:pPr>
            <a:r>
              <a:rPr sz="1700" b="1" i="0">
                <a:solidFill>
                  <a:srgbClr val="1F3864"/>
                </a:solidFill>
                <a:latin typeface="Garamond"/>
              </a:rPr>
              <a:t>▸   </a:t>
            </a:r>
            <a:r>
              <a:rPr sz="1700" b="0" i="0">
                <a:solidFill>
                  <a:srgbClr val="1A2430"/>
                </a:solidFill>
                <a:latin typeface="Garamond"/>
              </a:rPr>
              <a:t>Research on the decision to leave teaching needs a person-level leave-or-stay outcome linked to rich covariates: family events, pay, hours, pension coverage, destinations after exit.</a:t>
            </a:r>
          </a:p>
          <a:p>
            <a:pPr algn="l">
              <a:lnSpc>
                <a:spcPts val="2379"/>
              </a:lnSpc>
              <a:spcAft>
                <a:spcPts val="2400"/>
              </a:spcAft>
            </a:pPr>
            <a:r>
              <a:rPr sz="1700" b="1" i="0">
                <a:solidFill>
                  <a:srgbClr val="1F3864"/>
                </a:solidFill>
                <a:latin typeface="Garamond"/>
              </a:rPr>
              <a:t>▸   </a:t>
            </a:r>
            <a:r>
              <a:rPr sz="1700" b="0" i="0">
                <a:solidFill>
                  <a:srgbClr val="1A2430"/>
                </a:solidFill>
                <a:latin typeface="Garamond"/>
              </a:rPr>
              <a:t>Administrative records count leavers best, but they are often inaccessible, cover one state and the public sector only, and carry few covariates.</a:t>
            </a:r>
          </a:p>
          <a:p>
            <a:pPr algn="l">
              <a:lnSpc>
                <a:spcPts val="2379"/>
              </a:lnSpc>
              <a:spcAft>
                <a:spcPts val="0"/>
              </a:spcAft>
            </a:pPr>
            <a:r>
              <a:rPr sz="1700" b="1" i="0">
                <a:solidFill>
                  <a:srgbClr val="1F3864"/>
                </a:solidFill>
                <a:latin typeface="Garamond"/>
              </a:rPr>
              <a:t>▸   </a:t>
            </a:r>
            <a:r>
              <a:rPr sz="1700" b="0" i="0">
                <a:solidFill>
                  <a:srgbClr val="1A2430"/>
                </a:solidFill>
                <a:latin typeface="Garamond"/>
              </a:rPr>
              <a:t>Large household surveys are the accessible alternative. Using them well requires knowing the measurement choices they impose — and what each choice does to the estimate.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155680" cy="56692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300" b="1">
                <a:solidFill>
                  <a:srgbClr val="1F3864"/>
                </a:solidFill>
                <a:latin typeface="Garamond"/>
              </a:rPr>
              <a:t>Contribution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6B7480"/>
                </a:solidFill>
                <a:latin typeface="Garamond"/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00200"/>
            <a:ext cx="1060704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240"/>
              </a:lnSpc>
              <a:spcAft>
                <a:spcPts val="0"/>
              </a:spcAft>
            </a:pPr>
            <a:r>
              <a:rPr sz="1600" b="1" i="0">
                <a:solidFill>
                  <a:srgbClr val="1F3864"/>
                </a:solidFill>
                <a:latin typeface="Garamond"/>
              </a:rPr>
              <a:t>1.  A user's guide.  </a:t>
            </a:r>
            <a:r>
              <a:rPr sz="1600" b="0" i="0">
                <a:solidFill>
                  <a:srgbClr val="1A2430"/>
                </a:solidFill>
                <a:latin typeface="Garamond"/>
              </a:rPr>
              <a:t>A systematic account of the choices involved in constructing a leaving rate from a longitudinal household survey — linking individuals, defining a leaver — the error each choice introduces, its direction, and how much it moves the estimate.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063240"/>
            <a:ext cx="1060704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240"/>
              </a:lnSpc>
              <a:spcAft>
                <a:spcPts val="0"/>
              </a:spcAft>
            </a:pPr>
            <a:r>
              <a:rPr sz="1600" b="1" i="0">
                <a:solidFill>
                  <a:srgbClr val="1F3864"/>
                </a:solidFill>
                <a:latin typeface="Garamond"/>
              </a:rPr>
              <a:t>2.  An implementation.  </a:t>
            </a:r>
            <a:r>
              <a:rPr sz="1600" b="0" i="0">
                <a:solidFill>
                  <a:srgbClr val="1A2430"/>
                </a:solidFill>
                <a:latin typeface="Garamond"/>
              </a:rPr>
              <a:t>The guide applied to twenty-eight years of the Current Population Survey, benchmarked against the national reference on both the composition of the workforce and the rate.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526280"/>
            <a:ext cx="1060704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240"/>
              </a:lnSpc>
              <a:spcAft>
                <a:spcPts val="0"/>
              </a:spcAft>
            </a:pPr>
            <a:r>
              <a:rPr sz="1600" b="1" i="0">
                <a:solidFill>
                  <a:srgbClr val="1F3864"/>
                </a:solidFill>
                <a:latin typeface="Garamond"/>
              </a:rPr>
              <a:t>3.  A demonstration.  </a:t>
            </a:r>
            <a:r>
              <a:rPr sz="1600" b="0" i="0">
                <a:solidFill>
                  <a:srgbClr val="1A2430"/>
                </a:solidFill>
                <a:latin typeface="Garamond"/>
              </a:rPr>
              <a:t>What a survey-based outcome permits that records rarely do: the correlates of leaving, the destinations of leavers, and the heterogeneity across states.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155680" cy="56692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300" b="1">
                <a:solidFill>
                  <a:srgbClr val="1F3864"/>
                </a:solidFill>
                <a:latin typeface="Garamond"/>
              </a:rPr>
              <a:t>Where do the official statistics come from?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6B7480"/>
                </a:solidFill>
                <a:latin typeface="Garamond"/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00200"/>
            <a:ext cx="10607040" cy="4846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379"/>
              </a:lnSpc>
              <a:spcAft>
                <a:spcPts val="2400"/>
              </a:spcAft>
            </a:pPr>
            <a:r>
              <a:rPr sz="1700" b="1" i="0">
                <a:solidFill>
                  <a:srgbClr val="1F3864"/>
                </a:solidFill>
                <a:latin typeface="Garamond"/>
              </a:rPr>
              <a:t>▸   </a:t>
            </a:r>
            <a:r>
              <a:rPr sz="1700" b="0" i="0">
                <a:solidFill>
                  <a:srgbClr val="1A2430"/>
                </a:solidFill>
                <a:latin typeface="Garamond"/>
              </a:rPr>
              <a:t>The national reference is the NCES Teacher Follow-up Survey: itself a sample survey, run in occasional waves — eight since 1988–89 — and published with a lag.</a:t>
            </a:r>
          </a:p>
          <a:p>
            <a:pPr algn="l">
              <a:lnSpc>
                <a:spcPts val="2379"/>
              </a:lnSpc>
              <a:spcAft>
                <a:spcPts val="2400"/>
              </a:spcAft>
            </a:pPr>
            <a:r>
              <a:rPr sz="1700" b="1" i="0">
                <a:solidFill>
                  <a:srgbClr val="1F3864"/>
                </a:solidFill>
                <a:latin typeface="Garamond"/>
              </a:rPr>
              <a:t>▸   </a:t>
            </a:r>
            <a:r>
              <a:rPr sz="1700" b="0" i="0">
                <a:solidFill>
                  <a:srgbClr val="1A2430"/>
                </a:solidFill>
                <a:latin typeface="Garamond"/>
              </a:rPr>
              <a:t>Truly administrative data exist only state by state (longitudinal data systems, pension registers): public sector only, and they measure exit from the state school system, not from the profession.</a:t>
            </a:r>
          </a:p>
          <a:p>
            <a:pPr algn="l">
              <a:lnSpc>
                <a:spcPts val="2379"/>
              </a:lnSpc>
              <a:spcAft>
                <a:spcPts val="0"/>
              </a:spcAft>
            </a:pPr>
            <a:r>
              <a:rPr sz="1700" b="1" i="0">
                <a:solidFill>
                  <a:srgbClr val="1F3864"/>
                </a:solidFill>
                <a:latin typeface="Garamond"/>
              </a:rPr>
              <a:t>▸   </a:t>
            </a:r>
            <a:r>
              <a:rPr sz="1700" b="0" i="0">
                <a:solidFill>
                  <a:srgbClr val="1A2430"/>
                </a:solidFill>
                <a:latin typeface="Garamond"/>
              </a:rPr>
              <a:t>There is no national administrative count. Every national number is survey-based; the question is how the survey is used.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155680" cy="56692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300" b="1">
                <a:solidFill>
                  <a:srgbClr val="1F3864"/>
                </a:solidFill>
                <a:latin typeface="Garamond"/>
              </a:rPr>
              <a:t>The CPS replicates the official picture, every year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6B7480"/>
                </a:solidFill>
                <a:latin typeface="Garamond"/>
              </a:rPr>
              <a:t>5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22960" y="1298448"/>
            <a:ext cx="10543032" cy="0"/>
          </a:xfrm>
          <a:prstGeom prst="line">
            <a:avLst/>
          </a:prstGeom>
          <a:ln w="17780">
            <a:solidFill>
              <a:srgbClr val="1A24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297680" y="1389888"/>
            <a:ext cx="28346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890"/>
              </a:lnSpc>
              <a:spcAft>
                <a:spcPts val="0"/>
              </a:spcAft>
            </a:pPr>
            <a:r>
              <a:rPr sz="1400" b="1" i="0">
                <a:solidFill>
                  <a:srgbClr val="1A2430"/>
                </a:solidFill>
                <a:latin typeface="Garamond"/>
              </a:rPr>
              <a:t>CPS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06640" y="1389888"/>
            <a:ext cx="2103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890"/>
              </a:lnSpc>
              <a:spcAft>
                <a:spcPts val="0"/>
              </a:spcAft>
            </a:pPr>
            <a:r>
              <a:rPr sz="1400" b="1" i="0">
                <a:solidFill>
                  <a:srgbClr val="1A2430"/>
                </a:solidFill>
                <a:latin typeface="Garamond"/>
              </a:rPr>
              <a:t>NTPS (reference)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0" y="1389888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890"/>
              </a:lnSpc>
              <a:spcAft>
                <a:spcPts val="0"/>
              </a:spcAft>
            </a:pPr>
            <a:r>
              <a:rPr sz="1400" b="1" i="0">
                <a:solidFill>
                  <a:srgbClr val="1A2430"/>
                </a:solidFill>
                <a:latin typeface="Garamond"/>
              </a:rPr>
              <a:t>Difference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22960" y="1773936"/>
            <a:ext cx="10543032" cy="0"/>
          </a:xfrm>
          <a:prstGeom prst="line">
            <a:avLst/>
          </a:prstGeom>
          <a:ln w="9525">
            <a:solidFill>
              <a:srgbClr val="1A24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1883664"/>
            <a:ext cx="33832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22"/>
              </a:lnSpc>
              <a:spcAft>
                <a:spcPts val="0"/>
              </a:spcAft>
            </a:pPr>
            <a:r>
              <a:rPr sz="1350" b="1" i="0">
                <a:solidFill>
                  <a:srgbClr val="1A2430"/>
                </a:solidFill>
                <a:latin typeface="Garamond"/>
              </a:rPr>
              <a:t>Measurement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0" y="1883664"/>
            <a:ext cx="28346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822"/>
              </a:lnSpc>
              <a:spcAft>
                <a:spcPts val="0"/>
              </a:spcAft>
            </a:pPr>
            <a:r>
              <a:rPr sz="1350" b="1" i="0">
                <a:solidFill>
                  <a:srgbClr val="1F3864"/>
                </a:solidFill>
                <a:latin typeface="Garamond"/>
              </a:rPr>
              <a:t>every year, 1997–2024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6640" y="1883664"/>
            <a:ext cx="2103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822"/>
              </a:lnSpc>
              <a:spcAft>
                <a:spcPts val="0"/>
              </a:spcAft>
            </a:pPr>
            <a:r>
              <a:rPr sz="1350" b="1" i="0">
                <a:solidFill>
                  <a:srgbClr val="1A2430"/>
                </a:solidFill>
                <a:latin typeface="Garamond"/>
              </a:rPr>
              <a:t>occasional waves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822960" y="2286000"/>
            <a:ext cx="10543032" cy="0"/>
          </a:xfrm>
          <a:prstGeom prst="line">
            <a:avLst/>
          </a:prstGeom>
          <a:ln w="9525">
            <a:solidFill>
              <a:srgbClr val="1A24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22960" y="235915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552"/>
              </a:lnSpc>
              <a:spcAft>
                <a:spcPts val="0"/>
              </a:spcAft>
            </a:pPr>
            <a:r>
              <a:rPr sz="1150" b="0" i="1">
                <a:solidFill>
                  <a:srgbClr val="6B7480"/>
                </a:solidFill>
                <a:latin typeface="Garamond"/>
              </a:rPr>
              <a:t>Example wave: 2020–21, the latest NTPS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2706624"/>
            <a:ext cx="33832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22"/>
              </a:lnSpc>
              <a:spcAft>
                <a:spcPts val="0"/>
              </a:spcAft>
            </a:pPr>
            <a:r>
              <a:rPr sz="1350" b="0" i="0">
                <a:solidFill>
                  <a:srgbClr val="1A2430"/>
                </a:solidFill>
                <a:latin typeface="Garamond"/>
              </a:rPr>
              <a:t>Female (%)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2706624"/>
            <a:ext cx="28346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822"/>
              </a:lnSpc>
              <a:spcAft>
                <a:spcPts val="0"/>
              </a:spcAft>
            </a:pPr>
            <a:r>
              <a:rPr sz="1350" b="0" i="0">
                <a:solidFill>
                  <a:srgbClr val="1A2430"/>
                </a:solidFill>
                <a:latin typeface="Garamond"/>
              </a:rPr>
              <a:t>75.5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06640" y="2706624"/>
            <a:ext cx="2103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822"/>
              </a:lnSpc>
              <a:spcAft>
                <a:spcPts val="0"/>
              </a:spcAft>
            </a:pPr>
            <a:r>
              <a:rPr sz="1350" b="0" i="0">
                <a:solidFill>
                  <a:srgbClr val="1A2430"/>
                </a:solidFill>
                <a:latin typeface="Garamond"/>
              </a:rPr>
              <a:t>76.8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2706624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822"/>
              </a:lnSpc>
              <a:spcAft>
                <a:spcPts val="0"/>
              </a:spcAft>
            </a:pPr>
            <a:r>
              <a:rPr sz="1350" b="0" i="0">
                <a:solidFill>
                  <a:srgbClr val="1A2430"/>
                </a:solidFill>
                <a:latin typeface="Garamond"/>
              </a:rPr>
              <a:t>−1.3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3090672"/>
            <a:ext cx="33832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22"/>
              </a:lnSpc>
              <a:spcAft>
                <a:spcPts val="0"/>
              </a:spcAft>
            </a:pPr>
            <a:r>
              <a:rPr sz="1350" b="0" i="0">
                <a:solidFill>
                  <a:srgbClr val="1A2430"/>
                </a:solidFill>
                <a:latin typeface="Garamond"/>
              </a:rPr>
              <a:t>Master’s degree or higher (%)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0" y="3090672"/>
            <a:ext cx="28346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822"/>
              </a:lnSpc>
              <a:spcAft>
                <a:spcPts val="0"/>
              </a:spcAft>
            </a:pPr>
            <a:r>
              <a:rPr sz="1350" b="0" i="0">
                <a:solidFill>
                  <a:srgbClr val="1A2430"/>
                </a:solidFill>
                <a:latin typeface="Garamond"/>
              </a:rPr>
              <a:t>57.0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06640" y="3090672"/>
            <a:ext cx="2103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822"/>
              </a:lnSpc>
              <a:spcAft>
                <a:spcPts val="0"/>
              </a:spcAft>
            </a:pPr>
            <a:r>
              <a:rPr sz="1350" b="0" i="0">
                <a:solidFill>
                  <a:srgbClr val="1A2430"/>
                </a:solidFill>
                <a:latin typeface="Garamond"/>
              </a:rPr>
              <a:t>61.0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0" y="3090672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822"/>
              </a:lnSpc>
              <a:spcAft>
                <a:spcPts val="0"/>
              </a:spcAft>
            </a:pPr>
            <a:r>
              <a:rPr sz="1350" b="0" i="0">
                <a:solidFill>
                  <a:srgbClr val="1A2430"/>
                </a:solidFill>
                <a:latin typeface="Garamond"/>
              </a:rPr>
              <a:t>−4.0 ***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3474720"/>
            <a:ext cx="33832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22"/>
              </a:lnSpc>
              <a:spcAft>
                <a:spcPts val="0"/>
              </a:spcAft>
            </a:pPr>
            <a:r>
              <a:rPr sz="1350" b="0" i="0">
                <a:solidFill>
                  <a:srgbClr val="1A2430"/>
                </a:solidFill>
                <a:latin typeface="Garamond"/>
              </a:rPr>
              <a:t>Average age (years)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97680" y="3474720"/>
            <a:ext cx="28346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822"/>
              </a:lnSpc>
              <a:spcAft>
                <a:spcPts val="0"/>
              </a:spcAft>
            </a:pPr>
            <a:r>
              <a:rPr sz="1350" b="0" i="0">
                <a:solidFill>
                  <a:srgbClr val="1A2430"/>
                </a:solidFill>
                <a:latin typeface="Garamond"/>
              </a:rPr>
              <a:t>44.0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06640" y="3474720"/>
            <a:ext cx="2103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822"/>
              </a:lnSpc>
              <a:spcAft>
                <a:spcPts val="0"/>
              </a:spcAft>
            </a:pPr>
            <a:r>
              <a:rPr sz="1350" b="0" i="0">
                <a:solidFill>
                  <a:srgbClr val="1A2430"/>
                </a:solidFill>
                <a:latin typeface="Garamond"/>
              </a:rPr>
              <a:t>42.9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0" y="3474720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822"/>
              </a:lnSpc>
              <a:spcAft>
                <a:spcPts val="0"/>
              </a:spcAft>
            </a:pPr>
            <a:r>
              <a:rPr sz="1350" b="0" i="0">
                <a:solidFill>
                  <a:srgbClr val="1A2430"/>
                </a:solidFill>
                <a:latin typeface="Garamond"/>
              </a:rPr>
              <a:t>+1.1 ***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22960" y="3877056"/>
            <a:ext cx="10543032" cy="0"/>
          </a:xfrm>
          <a:prstGeom prst="line">
            <a:avLst/>
          </a:prstGeom>
          <a:ln w="9525">
            <a:solidFill>
              <a:srgbClr val="1A24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822960" y="3968496"/>
            <a:ext cx="33832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22"/>
              </a:lnSpc>
              <a:spcAft>
                <a:spcPts val="0"/>
              </a:spcAft>
            </a:pPr>
            <a:r>
              <a:rPr sz="1350" b="0" i="0">
                <a:solidFill>
                  <a:srgbClr val="1A2430"/>
                </a:solidFill>
                <a:latin typeface="Garamond"/>
              </a:rPr>
              <a:t>Teachers observed in the wave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80" y="3968496"/>
            <a:ext cx="28346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822"/>
              </a:lnSpc>
              <a:spcAft>
                <a:spcPts val="0"/>
              </a:spcAft>
            </a:pPr>
            <a:r>
              <a:rPr sz="1350" b="0" i="0">
                <a:solidFill>
                  <a:srgbClr val="1A2430"/>
                </a:solidFill>
                <a:latin typeface="Garamond"/>
              </a:rPr>
              <a:t>3,855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06640" y="3968496"/>
            <a:ext cx="2103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822"/>
              </a:lnSpc>
              <a:spcAft>
                <a:spcPts val="0"/>
              </a:spcAft>
            </a:pPr>
            <a:r>
              <a:rPr sz="1350" b="0" i="0">
                <a:solidFill>
                  <a:srgbClr val="1A2430"/>
                </a:solidFill>
                <a:latin typeface="Garamond"/>
              </a:rPr>
              <a:t>39,633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822960" y="4352544"/>
            <a:ext cx="10543032" cy="0"/>
          </a:xfrm>
          <a:prstGeom prst="line">
            <a:avLst/>
          </a:prstGeom>
          <a:ln w="17780">
            <a:solidFill>
              <a:srgbClr val="1A24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822960" y="4535424"/>
            <a:ext cx="10543032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just">
              <a:lnSpc>
                <a:spcPts val="1485"/>
              </a:lnSpc>
              <a:spcAft>
                <a:spcPts val="0"/>
              </a:spcAft>
            </a:pPr>
            <a:r>
              <a:rPr sz="1100" b="0" i="1">
                <a:solidFill>
                  <a:srgbClr val="6B7480"/>
                </a:solidFill>
                <a:latin typeface="Garamond"/>
              </a:rPr>
              <a:t>Public school teachers. CPS: supplements of 2021–2022, weighted. NTPS 2020–21 (NCES 2022-113; Digest of Education Statistics, table 209.10; respondent count from NCES 2024-024). Stars test the CPS mean against the published NTPS estimate, design-adjusted standard errors: *** p&lt;0.001; the female share does not differ significantly.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5623560"/>
            <a:ext cx="10543032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22"/>
              </a:lnSpc>
              <a:spcAft>
                <a:spcPts val="0"/>
              </a:spcAft>
            </a:pPr>
            <a:r>
              <a:rPr sz="1350" b="0" i="0">
                <a:solidFill>
                  <a:srgbClr val="1A2430"/>
                </a:solidFill>
                <a:latin typeface="Garamond"/>
              </a:rPr>
              <a:t>Full sample:  </a:t>
            </a:r>
            <a:r>
              <a:rPr sz="1350" b="1" i="0">
                <a:solidFill>
                  <a:srgbClr val="1F3864"/>
                </a:solidFill>
                <a:latin typeface="Garamond"/>
              </a:rPr>
              <a:t>5.0 million</a:t>
            </a:r>
            <a:r>
              <a:rPr sz="1350" b="0" i="0">
                <a:solidFill>
                  <a:srgbClr val="1A2430"/>
                </a:solidFill>
                <a:latin typeface="Garamond"/>
              </a:rPr>
              <a:t> person-year records, 1998–2025;  </a:t>
            </a:r>
            <a:r>
              <a:rPr sz="1350" b="1" i="0">
                <a:solidFill>
                  <a:srgbClr val="1F3864"/>
                </a:solidFill>
                <a:latin typeface="Garamond"/>
              </a:rPr>
              <a:t>104,545</a:t>
            </a:r>
            <a:r>
              <a:rPr sz="1350" b="0" i="0">
                <a:solidFill>
                  <a:srgbClr val="1A2430"/>
                </a:solidFill>
                <a:latin typeface="Garamond"/>
              </a:rPr>
              <a:t> teacher observations;  </a:t>
            </a:r>
            <a:r>
              <a:rPr sz="1350" b="1" i="0">
                <a:solidFill>
                  <a:srgbClr val="1F3864"/>
                </a:solidFill>
                <a:latin typeface="Garamond"/>
              </a:rPr>
              <a:t>48,842</a:t>
            </a:r>
            <a:r>
              <a:rPr sz="1350" b="0" i="0">
                <a:solidFill>
                  <a:srgbClr val="1A2430"/>
                </a:solidFill>
                <a:latin typeface="Garamond"/>
              </a:rPr>
              <a:t> teachers followed in the linked panel.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6B7480"/>
                </a:solidFill>
                <a:latin typeface="Garamond"/>
              </a:rPr>
              <a:t>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14884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90"/>
              </a:lnSpc>
              <a:spcAft>
                <a:spcPts val="0"/>
              </a:spcAft>
            </a:pPr>
            <a:r>
              <a:rPr sz="1400" b="1" i="0">
                <a:solidFill>
                  <a:srgbClr val="1F3864"/>
                </a:solidFill>
                <a:latin typeface="Garamond"/>
              </a:rPr>
              <a:t>interviewed 4 months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148840"/>
            <a:ext cx="32918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ts val="1755"/>
              </a:lnSpc>
              <a:spcAft>
                <a:spcPts val="0"/>
              </a:spcAft>
            </a:pPr>
            <a:r>
              <a:rPr sz="1300" b="0" i="1">
                <a:solidFill>
                  <a:srgbClr val="6B7480"/>
                </a:solidFill>
                <a:latin typeface="Garamond"/>
              </a:rPr>
              <a:t>8 months out of the sample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214884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890"/>
              </a:lnSpc>
              <a:spcAft>
                <a:spcPts val="0"/>
              </a:spcAft>
            </a:pPr>
            <a:r>
              <a:rPr sz="1400" b="1" i="0">
                <a:solidFill>
                  <a:srgbClr val="7B2530"/>
                </a:solidFill>
                <a:latin typeface="Garamond"/>
              </a:rPr>
              <a:t>interviewed 4 months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560320"/>
            <a:ext cx="658939" cy="56692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Garamond"/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1481899" y="2560320"/>
            <a:ext cx="658939" cy="56692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Garamond"/>
              </a:rPr>
              <a:t>2</a:t>
            </a:r>
          </a:p>
        </p:txBody>
      </p:sp>
      <p:sp>
        <p:nvSpPr>
          <p:cNvPr id="8" name="Rectangle 7"/>
          <p:cNvSpPr/>
          <p:nvPr/>
        </p:nvSpPr>
        <p:spPr>
          <a:xfrm>
            <a:off x="2140839" y="2560320"/>
            <a:ext cx="658939" cy="56692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Garamond"/>
              </a:rPr>
              <a:t>3</a:t>
            </a:r>
          </a:p>
        </p:txBody>
      </p:sp>
      <p:sp>
        <p:nvSpPr>
          <p:cNvPr id="9" name="Rectangle 8"/>
          <p:cNvSpPr/>
          <p:nvPr/>
        </p:nvSpPr>
        <p:spPr>
          <a:xfrm>
            <a:off x="2799778" y="2560320"/>
            <a:ext cx="658939" cy="56692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Garamond"/>
              </a:rPr>
              <a:t>4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58718" y="2560320"/>
            <a:ext cx="658939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C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7657" y="2560320"/>
            <a:ext cx="658939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C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776597" y="2560320"/>
            <a:ext cx="658939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C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35536" y="2560320"/>
            <a:ext cx="658939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C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094476" y="2560320"/>
            <a:ext cx="658939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C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753415" y="2560320"/>
            <a:ext cx="658939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C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412354" y="2560320"/>
            <a:ext cx="658939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C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71294" y="2560320"/>
            <a:ext cx="658939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C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730234" y="2560320"/>
            <a:ext cx="658939" cy="566928"/>
          </a:xfrm>
          <a:prstGeom prst="rect">
            <a:avLst/>
          </a:prstGeom>
          <a:solidFill>
            <a:srgbClr val="7B25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Garamond"/>
              </a:rPr>
              <a:t>5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89173" y="2560320"/>
            <a:ext cx="658939" cy="566928"/>
          </a:xfrm>
          <a:prstGeom prst="rect">
            <a:avLst/>
          </a:prstGeom>
          <a:solidFill>
            <a:srgbClr val="7B25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Garamond"/>
              </a:rPr>
              <a:t>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048113" y="2560320"/>
            <a:ext cx="658939" cy="566928"/>
          </a:xfrm>
          <a:prstGeom prst="rect">
            <a:avLst/>
          </a:prstGeom>
          <a:solidFill>
            <a:srgbClr val="7B25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Garamond"/>
              </a:rPr>
              <a:t>7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707052" y="2560320"/>
            <a:ext cx="658939" cy="566928"/>
          </a:xfrm>
          <a:prstGeom prst="rect">
            <a:avLst/>
          </a:prstGeom>
          <a:solidFill>
            <a:srgbClr val="7B25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Garamond"/>
              </a:rPr>
              <a:t>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3182112"/>
            <a:ext cx="6589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ts val="1485"/>
              </a:lnSpc>
              <a:spcAft>
                <a:spcPts val="0"/>
              </a:spcAft>
            </a:pPr>
            <a:r>
              <a:rPr sz="1100" b="0" i="0">
                <a:solidFill>
                  <a:srgbClr val="6B7480"/>
                </a:solidFill>
                <a:latin typeface="Garamond"/>
              </a:rPr>
              <a:t>Mar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99778" y="3182112"/>
            <a:ext cx="6589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ts val="1485"/>
              </a:lnSpc>
              <a:spcAft>
                <a:spcPts val="0"/>
              </a:spcAft>
            </a:pPr>
            <a:r>
              <a:rPr sz="1100" b="0" i="0">
                <a:solidFill>
                  <a:srgbClr val="6B7480"/>
                </a:solidFill>
                <a:latin typeface="Garamond"/>
              </a:rPr>
              <a:t>Jun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30234" y="3182112"/>
            <a:ext cx="6589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ts val="1485"/>
              </a:lnSpc>
              <a:spcAft>
                <a:spcPts val="0"/>
              </a:spcAft>
            </a:pPr>
            <a:r>
              <a:rPr sz="1100" b="0" i="0">
                <a:solidFill>
                  <a:srgbClr val="6B7480"/>
                </a:solidFill>
                <a:latin typeface="Garamond"/>
              </a:rPr>
              <a:t>Mar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707052" y="3182112"/>
            <a:ext cx="6589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ts val="1485"/>
              </a:lnSpc>
              <a:spcAft>
                <a:spcPts val="0"/>
              </a:spcAft>
            </a:pPr>
            <a:r>
              <a:rPr sz="1100" b="0" i="0">
                <a:solidFill>
                  <a:srgbClr val="6B7480"/>
                </a:solidFill>
                <a:latin typeface="Garamond"/>
              </a:rPr>
              <a:t>Jun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3493008"/>
            <a:ext cx="263575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ts val="1620"/>
              </a:lnSpc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Garamond"/>
              </a:rPr>
              <a:t>year 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30234" y="3493008"/>
            <a:ext cx="263575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ts val="1620"/>
              </a:lnSpc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Garamond"/>
              </a:rPr>
              <a:t>year 2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1152429" y="4069080"/>
            <a:ext cx="7907274" cy="0"/>
          </a:xfrm>
          <a:prstGeom prst="line">
            <a:avLst/>
          </a:prstGeom>
          <a:ln w="17780">
            <a:solidFill>
              <a:srgbClr val="1A24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1371600" y="4224528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ts val="1890"/>
              </a:lnSpc>
              <a:spcAft>
                <a:spcPts val="0"/>
              </a:spcAft>
            </a:pPr>
            <a:r>
              <a:rPr sz="1400" b="0" i="0">
                <a:solidFill>
                  <a:srgbClr val="1A2430"/>
                </a:solidFill>
                <a:latin typeface="Garamond"/>
              </a:rPr>
              <a:t>the same interview, exactly twelve months later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155680" cy="56692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300" b="1">
                <a:solidFill>
                  <a:srgbClr val="1F3864"/>
                </a:solidFill>
                <a:latin typeface="Garamond"/>
              </a:rPr>
              <a:t>The March supplement (ASEC)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6B7480"/>
                </a:solidFill>
                <a:latin typeface="Garamond"/>
              </a:rPr>
              <a:t>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91640"/>
            <a:ext cx="10607040" cy="4846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379"/>
              </a:lnSpc>
              <a:spcAft>
                <a:spcPts val="2400"/>
              </a:spcAft>
            </a:pPr>
            <a:r>
              <a:rPr sz="1700" b="1" i="0">
                <a:solidFill>
                  <a:srgbClr val="1F3864"/>
                </a:solidFill>
                <a:latin typeface="Garamond"/>
              </a:rPr>
              <a:t>▸   </a:t>
            </a:r>
            <a:r>
              <a:rPr sz="1700" b="0" i="0">
                <a:solidFill>
                  <a:srgbClr val="1A2430"/>
                </a:solidFill>
                <a:latin typeface="Garamond"/>
              </a:rPr>
              <a:t>The largest supplement of the CPS: the March sample is expanded to roughly 90,000 households.</a:t>
            </a:r>
          </a:p>
          <a:p>
            <a:pPr algn="l">
              <a:lnSpc>
                <a:spcPts val="2379"/>
              </a:lnSpc>
              <a:spcAft>
                <a:spcPts val="2400"/>
              </a:spcAft>
            </a:pPr>
            <a:r>
              <a:rPr sz="1700" b="1" i="0">
                <a:solidFill>
                  <a:srgbClr val="1F3864"/>
                </a:solidFill>
                <a:latin typeface="Garamond"/>
              </a:rPr>
              <a:t>▸   </a:t>
            </a:r>
            <a:r>
              <a:rPr sz="1700" b="0" i="0">
                <a:solidFill>
                  <a:srgbClr val="1A2430"/>
                </a:solidFill>
                <a:latin typeface="Garamond"/>
              </a:rPr>
              <a:t>Every adult reports on the previous calendar year: longest job held, weeks worked, earnings, benefits.</a:t>
            </a:r>
          </a:p>
          <a:p>
            <a:pPr algn="l">
              <a:lnSpc>
                <a:spcPts val="2379"/>
              </a:lnSpc>
              <a:spcAft>
                <a:spcPts val="0"/>
              </a:spcAft>
            </a:pPr>
            <a:r>
              <a:rPr sz="1700" b="1" i="0">
                <a:solidFill>
                  <a:srgbClr val="1F3864"/>
                </a:solidFill>
                <a:latin typeface="Garamond"/>
              </a:rPr>
              <a:t>▸   </a:t>
            </a:r>
            <a:r>
              <a:rPr sz="1700" b="0" i="0">
                <a:solidFill>
                  <a:srgbClr val="1A2430"/>
                </a:solidFill>
                <a:latin typeface="Garamond"/>
              </a:rPr>
              <a:t>We use it to reconstruct the leaving rate.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6B7480"/>
                </a:solidFill>
                <a:latin typeface="Garamond"/>
              </a:rPr>
              <a:t>8</a:t>
            </a:r>
          </a:p>
        </p:txBody>
      </p:sp>
      <p:pic>
        <p:nvPicPr>
          <p:cNvPr id="3" name="Picture 2" descr="codes_sl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558" y="182880"/>
            <a:ext cx="11213835" cy="630936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155680" cy="56692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300" b="1">
                <a:solidFill>
                  <a:srgbClr val="1F3864"/>
                </a:solidFill>
                <a:latin typeface="Garamond"/>
              </a:rPr>
              <a:t>Two ways to measure the leaving rate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6B7480"/>
                </a:solidFill>
                <a:latin typeface="Garamond"/>
              </a:rPr>
              <a:t>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160"/>
              </a:lnSpc>
              <a:spcAft>
                <a:spcPts val="0"/>
              </a:spcAft>
            </a:pPr>
            <a:r>
              <a:rPr sz="1600" b="1" i="0">
                <a:solidFill>
                  <a:srgbClr val="1F3864"/>
                </a:solidFill>
                <a:latin typeface="Garamond"/>
              </a:rPr>
              <a:t>Follow the person, year to year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512064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just">
              <a:lnSpc>
                <a:spcPts val="1890"/>
              </a:lnSpc>
              <a:spcAft>
                <a:spcPts val="1000"/>
              </a:spcAft>
            </a:pPr>
            <a:r>
              <a:rPr sz="1400" b="0" i="0">
                <a:solidFill>
                  <a:srgbClr val="1A2430"/>
                </a:solidFill>
                <a:latin typeface="Garamond"/>
              </a:rPr>
              <a:t>The rotation shows the same individual twelve months apart. The CPS has no person identifier, so records are linked on fields common to both years: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291840"/>
            <a:ext cx="512064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90"/>
              </a:lnSpc>
              <a:spcAft>
                <a:spcPts val="600"/>
              </a:spcAft>
            </a:pPr>
            <a:r>
              <a:rPr sz="1400" b="0" i="0">
                <a:solidFill>
                  <a:srgbClr val="1A2430"/>
                </a:solidFill>
                <a:latin typeface="Garamond"/>
              </a:rPr>
              <a:t>household identifier</a:t>
            </a:r>
          </a:p>
          <a:p>
            <a:pPr algn="l">
              <a:lnSpc>
                <a:spcPts val="1890"/>
              </a:lnSpc>
              <a:spcAft>
                <a:spcPts val="600"/>
              </a:spcAft>
            </a:pPr>
            <a:r>
              <a:rPr sz="1400" b="0" i="0">
                <a:solidFill>
                  <a:srgbClr val="1A2430"/>
                </a:solidFill>
                <a:latin typeface="Garamond"/>
              </a:rPr>
              <a:t>dwelling identifier</a:t>
            </a:r>
          </a:p>
          <a:p>
            <a:pPr algn="l">
              <a:lnSpc>
                <a:spcPts val="1890"/>
              </a:lnSpc>
              <a:spcAft>
                <a:spcPts val="1000"/>
              </a:spcAft>
            </a:pPr>
            <a:r>
              <a:rPr sz="1400" b="0" i="0">
                <a:solidFill>
                  <a:srgbClr val="1A2430"/>
                </a:solidFill>
                <a:latin typeface="Garamond"/>
              </a:rPr>
              <a:t>person line number within the household</a:t>
            </a:r>
          </a:p>
          <a:p>
            <a:pPr algn="l">
              <a:lnSpc>
                <a:spcPts val="1755"/>
              </a:lnSpc>
              <a:spcAft>
                <a:spcPts val="0"/>
              </a:spcAft>
            </a:pPr>
            <a:r>
              <a:rPr sz="1300" b="0" i="0">
                <a:solidFill>
                  <a:srgbClr val="6B7480"/>
                </a:solidFill>
                <a:latin typeface="Garamond"/>
              </a:rPr>
              <a:t>validated on sex, race, and age advancing 0–2 years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37160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160"/>
              </a:lnSpc>
              <a:spcAft>
                <a:spcPts val="0"/>
              </a:spcAft>
            </a:pPr>
            <a:r>
              <a:rPr sz="1600" b="1" i="0">
                <a:solidFill>
                  <a:srgbClr val="1F3864"/>
                </a:solidFill>
                <a:latin typeface="Garamond"/>
              </a:rPr>
              <a:t>Ask about last year, each March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920240"/>
            <a:ext cx="502920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just">
              <a:lnSpc>
                <a:spcPts val="1890"/>
              </a:lnSpc>
              <a:spcAft>
                <a:spcPts val="1200"/>
              </a:spcAft>
            </a:pPr>
            <a:r>
              <a:rPr sz="1400" b="0" i="0">
                <a:solidFill>
                  <a:srgbClr val="1A2430"/>
                </a:solidFill>
                <a:latin typeface="Garamond"/>
              </a:rPr>
              <a:t>The supplement’s retrospective question. Whoever reports teaching as last year’s longest job, and no longer teaches at the March interview, left within the year.</a:t>
            </a:r>
          </a:p>
          <a:p>
            <a:pPr algn="just">
              <a:lnSpc>
                <a:spcPts val="1755"/>
              </a:lnSpc>
              <a:spcAft>
                <a:spcPts val="0"/>
              </a:spcAft>
            </a:pPr>
            <a:r>
              <a:rPr sz="1300" b="0" i="0">
                <a:solidFill>
                  <a:srgbClr val="6B7480"/>
                </a:solidFill>
                <a:latin typeface="Garamond"/>
              </a:rPr>
              <a:t>The measure used in the literature so far.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155680" cy="56692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300" b="1">
                <a:solidFill>
                  <a:srgbClr val="1F3864"/>
                </a:solidFill>
                <a:latin typeface="Garamond"/>
              </a:rPr>
              <a:t>Measuring the leaving rate: the alternatives, side by side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6B7480"/>
                </a:solidFill>
                <a:latin typeface="Garamond"/>
              </a:rPr>
              <a:t>10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22960" y="1298448"/>
            <a:ext cx="10607040" cy="0"/>
          </a:xfrm>
          <a:prstGeom prst="line">
            <a:avLst/>
          </a:prstGeom>
          <a:ln w="17780">
            <a:solidFill>
              <a:srgbClr val="1A24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22960" y="1389888"/>
            <a:ext cx="17373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22"/>
              </a:lnSpc>
              <a:spcAft>
                <a:spcPts val="0"/>
              </a:spcAft>
            </a:pPr>
            <a:r>
              <a:rPr sz="1350" b="1" i="0">
                <a:solidFill>
                  <a:srgbClr val="1A2430"/>
                </a:solidFill>
                <a:latin typeface="Garamond"/>
              </a:rPr>
              <a:t>Measure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0" y="1389888"/>
            <a:ext cx="28346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22"/>
              </a:lnSpc>
              <a:spcAft>
                <a:spcPts val="0"/>
              </a:spcAft>
            </a:pPr>
            <a:r>
              <a:rPr sz="1350" b="1" i="0">
                <a:solidFill>
                  <a:srgbClr val="1A2430"/>
                </a:solidFill>
                <a:latin typeface="Garamond"/>
              </a:rPr>
              <a:t>A teacher is…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720" y="1389888"/>
            <a:ext cx="32918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22"/>
              </a:lnSpc>
              <a:spcAft>
                <a:spcPts val="0"/>
              </a:spcAft>
            </a:pPr>
            <a:r>
              <a:rPr sz="1350" b="1" i="0">
                <a:solidFill>
                  <a:srgbClr val="1A2430"/>
                </a:solidFill>
                <a:latin typeface="Garamond"/>
              </a:rPr>
              <a:t>A leaver is…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35440" y="1389888"/>
            <a:ext cx="2194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22"/>
              </a:lnSpc>
              <a:spcAft>
                <a:spcPts val="0"/>
              </a:spcAft>
            </a:pPr>
            <a:r>
              <a:rPr sz="1350" b="1" i="0">
                <a:solidFill>
                  <a:srgbClr val="1A2430"/>
                </a:solidFill>
                <a:latin typeface="Garamond"/>
              </a:rPr>
              <a:t>Rests on…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822960" y="1755648"/>
            <a:ext cx="10607040" cy="0"/>
          </a:xfrm>
          <a:prstGeom prst="line">
            <a:avLst/>
          </a:prstGeom>
          <a:ln w="9525">
            <a:solidFill>
              <a:srgbClr val="1A24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822960" y="1901952"/>
            <a:ext cx="1737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687"/>
              </a:lnSpc>
              <a:spcAft>
                <a:spcPts val="0"/>
              </a:spcAft>
            </a:pPr>
            <a:r>
              <a:rPr sz="1250" b="0" i="0">
                <a:solidFill>
                  <a:srgbClr val="1A2430"/>
                </a:solidFill>
                <a:latin typeface="Garamond"/>
              </a:rPr>
              <a:t>Annual recall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1901952"/>
            <a:ext cx="28346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687"/>
              </a:lnSpc>
              <a:spcAft>
                <a:spcPts val="0"/>
              </a:spcAft>
            </a:pPr>
            <a:r>
              <a:rPr sz="1250" b="0" i="0">
                <a:solidFill>
                  <a:srgbClr val="1A2430"/>
                </a:solidFill>
                <a:latin typeface="Garamond"/>
              </a:rPr>
              <a:t>whoever taught as last year’s longest job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60720" y="1901952"/>
            <a:ext cx="32918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687"/>
              </a:lnSpc>
              <a:spcAft>
                <a:spcPts val="0"/>
              </a:spcAft>
            </a:pPr>
            <a:r>
              <a:rPr sz="1250" b="0" i="0">
                <a:solidFill>
                  <a:srgbClr val="1A2430"/>
                </a:solidFill>
                <a:latin typeface="Garamond"/>
              </a:rPr>
              <a:t>no longer teaching at the March interview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35440" y="1901952"/>
            <a:ext cx="21945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687"/>
              </a:lnSpc>
              <a:spcAft>
                <a:spcPts val="0"/>
              </a:spcAft>
            </a:pPr>
            <a:r>
              <a:rPr sz="1250" b="0" i="0">
                <a:solidFill>
                  <a:srgbClr val="1A2430"/>
                </a:solidFill>
                <a:latin typeface="Garamond"/>
              </a:rPr>
              <a:t>accurate recall of the previous year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2834640"/>
            <a:ext cx="1737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687"/>
              </a:lnSpc>
              <a:spcAft>
                <a:spcPts val="0"/>
              </a:spcAft>
            </a:pPr>
            <a:r>
              <a:rPr sz="1250" b="0" i="0">
                <a:solidFill>
                  <a:srgbClr val="1A2430"/>
                </a:solidFill>
                <a:latin typeface="Garamond"/>
              </a:rPr>
              <a:t>Occupation pair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0" y="2834640"/>
            <a:ext cx="28346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687"/>
              </a:lnSpc>
              <a:spcAft>
                <a:spcPts val="0"/>
              </a:spcAft>
            </a:pPr>
            <a:r>
              <a:rPr sz="1250" b="0" i="0">
                <a:solidFill>
                  <a:srgbClr val="1A2430"/>
                </a:solidFill>
                <a:latin typeface="Garamond"/>
              </a:rPr>
              <a:t>a teaching occupation code one year ago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60720" y="2834640"/>
            <a:ext cx="32918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687"/>
              </a:lnSpc>
              <a:spcAft>
                <a:spcPts val="0"/>
              </a:spcAft>
            </a:pPr>
            <a:r>
              <a:rPr sz="1250" b="0" i="0">
                <a:solidFill>
                  <a:srgbClr val="1A2430"/>
                </a:solidFill>
                <a:latin typeface="Garamond"/>
              </a:rPr>
              <a:t>a different occupation code today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35440" y="2834640"/>
            <a:ext cx="21945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687"/>
              </a:lnSpc>
              <a:spcAft>
                <a:spcPts val="0"/>
              </a:spcAft>
            </a:pPr>
            <a:r>
              <a:rPr sz="1250" b="0" i="0">
                <a:solidFill>
                  <a:srgbClr val="1A2430"/>
                </a:solidFill>
                <a:latin typeface="Garamond"/>
              </a:rPr>
              <a:t>a current code existing; fails for the non-employed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3767328"/>
            <a:ext cx="1737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687"/>
              </a:lnSpc>
              <a:spcAft>
                <a:spcPts val="0"/>
              </a:spcAft>
            </a:pPr>
            <a:r>
              <a:rPr sz="1250" b="1" i="0">
                <a:solidFill>
                  <a:srgbClr val="1F3864"/>
                </a:solidFill>
                <a:latin typeface="Garamond"/>
              </a:rPr>
              <a:t>Panel (benchmark)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0" y="3767328"/>
            <a:ext cx="28346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687"/>
              </a:lnSpc>
              <a:spcAft>
                <a:spcPts val="0"/>
              </a:spcAft>
            </a:pPr>
            <a:r>
              <a:rPr sz="1250" b="0" i="0">
                <a:solidFill>
                  <a:srgbClr val="1A2430"/>
                </a:solidFill>
                <a:latin typeface="Garamond"/>
              </a:rPr>
              <a:t>teaching in two or more year-1 interviews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60720" y="3767328"/>
            <a:ext cx="32918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687"/>
              </a:lnSpc>
              <a:spcAft>
                <a:spcPts val="0"/>
              </a:spcAft>
            </a:pPr>
            <a:r>
              <a:rPr sz="1250" b="0" i="0">
                <a:solidFill>
                  <a:srgbClr val="1A2430"/>
                </a:solidFill>
                <a:latin typeface="Garamond"/>
              </a:rPr>
              <a:t>never teaching in year 2, given two or more interviews, one outside the summer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35440" y="3767328"/>
            <a:ext cx="21945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687"/>
              </a:lnSpc>
              <a:spcAft>
                <a:spcPts val="0"/>
              </a:spcAft>
            </a:pPr>
            <a:r>
              <a:rPr sz="1250" b="0" i="0">
                <a:solidFill>
                  <a:srgbClr val="1A2430"/>
                </a:solidFill>
                <a:latin typeface="Garamond"/>
              </a:rPr>
              <a:t>correct linkage across waves; movers cannot be linked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4700016"/>
            <a:ext cx="1737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687"/>
              </a:lnSpc>
              <a:spcAft>
                <a:spcPts val="0"/>
              </a:spcAft>
            </a:pPr>
            <a:r>
              <a:rPr sz="1250" b="0" i="0">
                <a:solidFill>
                  <a:srgbClr val="1A2430"/>
                </a:solidFill>
                <a:latin typeface="Garamond"/>
              </a:rPr>
              <a:t>Month pairs, any sighting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43200" y="4700016"/>
            <a:ext cx="28346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687"/>
              </a:lnSpc>
              <a:spcAft>
                <a:spcPts val="0"/>
              </a:spcAft>
            </a:pPr>
            <a:r>
              <a:rPr sz="1250" b="0" i="0">
                <a:solidFill>
                  <a:srgbClr val="1A2430"/>
                </a:solidFill>
                <a:latin typeface="Garamond"/>
              </a:rPr>
              <a:t>every teaching month, or a single sighting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60720" y="4700016"/>
            <a:ext cx="32918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687"/>
              </a:lnSpc>
              <a:spcAft>
                <a:spcPts val="0"/>
              </a:spcAft>
            </a:pPr>
            <a:r>
              <a:rPr sz="1250" b="0" i="0">
                <a:solidFill>
                  <a:srgbClr val="1A2430"/>
                </a:solidFill>
                <a:latin typeface="Garamond"/>
              </a:rPr>
              <a:t>not teaching twelve months after each month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35440" y="4700016"/>
            <a:ext cx="21945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687"/>
              </a:lnSpc>
              <a:spcAft>
                <a:spcPts val="0"/>
              </a:spcAft>
            </a:pPr>
            <a:r>
              <a:rPr sz="1250" b="0" i="0">
                <a:solidFill>
                  <a:srgbClr val="1A2430"/>
                </a:solidFill>
                <a:latin typeface="Garamond"/>
              </a:rPr>
              <a:t>one person counting several times; admits one-month spells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22960" y="5650992"/>
            <a:ext cx="10607040" cy="0"/>
          </a:xfrm>
          <a:prstGeom prst="line">
            <a:avLst/>
          </a:prstGeom>
          <a:ln w="17780">
            <a:solidFill>
              <a:srgbClr val="1A24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822960" y="5797296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620"/>
              </a:lnSpc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Garamond"/>
              </a:rPr>
              <a:t>Same records throughout; only the definition changes. Each row answers the same three questions.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155680" cy="56692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300" b="1">
                <a:solidFill>
                  <a:srgbClr val="1F3864"/>
                </a:solidFill>
                <a:latin typeface="Garamond"/>
              </a:rPr>
              <a:t>One dataset, one rate per definition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6B7480"/>
                </a:solidFill>
                <a:latin typeface="Garamond"/>
              </a:rPr>
              <a:t>11</a:t>
            </a:r>
          </a:p>
        </p:txBody>
      </p:sp>
      <p:pic>
        <p:nvPicPr>
          <p:cNvPr id="4" name="Picture 3" descr="v_all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1452" y="1097280"/>
            <a:ext cx="8738616" cy="4297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5760720"/>
            <a:ext cx="107899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22"/>
              </a:lnSpc>
              <a:spcAft>
                <a:spcPts val="0"/>
              </a:spcAft>
            </a:pPr>
            <a:r>
              <a:rPr sz="1350" b="1" i="0">
                <a:solidFill>
                  <a:srgbClr val="1F3864"/>
                </a:solidFill>
                <a:latin typeface="Garamond"/>
              </a:rPr>
              <a:t>Message.  </a:t>
            </a:r>
            <a:r>
              <a:rPr sz="1350" b="0" i="0">
                <a:solidFill>
                  <a:srgbClr val="1A2430"/>
                </a:solidFill>
                <a:latin typeface="Garamond"/>
              </a:rPr>
              <a:t>The definition of a leaver moves the measured rate by a factor of nearly four.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163056"/>
            <a:ext cx="107899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22"/>
              </a:lnSpc>
              <a:spcAft>
                <a:spcPts val="0"/>
              </a:spcAft>
            </a:pPr>
            <a:r>
              <a:rPr sz="1350" b="1" i="0">
                <a:solidFill>
                  <a:srgbClr val="7B2530"/>
                </a:solidFill>
                <a:latin typeface="Garamond"/>
              </a:rPr>
              <a:t>Policy.  </a:t>
            </a:r>
            <a:r>
              <a:rPr sz="1350" b="0" i="0">
                <a:solidFill>
                  <a:srgbClr val="1A2430"/>
                </a:solidFill>
                <a:latin typeface="Garamond"/>
              </a:rPr>
              <a:t>Comparisons across studies and countries must hold the definition fixed.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473952"/>
            <a:ext cx="106070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85"/>
              </a:lnSpc>
              <a:spcAft>
                <a:spcPts val="0"/>
              </a:spcAft>
            </a:pPr>
            <a:r>
              <a:rPr sz="1100" b="0" i="1">
                <a:solidFill>
                  <a:srgbClr val="6B7480"/>
                </a:solidFill>
                <a:latin typeface="Garamond"/>
              </a:rPr>
              <a:t>About 3,700 teachers observed per year in the recall series; about 2,500 classified per year in the panel measures. Dots: NCES Teacher Follow-up Survey.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155680" cy="56692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300" b="1">
                <a:solidFill>
                  <a:srgbClr val="1F3864"/>
                </a:solidFill>
                <a:latin typeface="Garamond"/>
              </a:rPr>
              <a:t>Why the lines differ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6B7480"/>
                </a:solidFill>
                <a:latin typeface="Garamond"/>
              </a:rP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1732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2025"/>
              </a:lnSpc>
              <a:spcAft>
                <a:spcPts val="0"/>
              </a:spcAft>
            </a:pPr>
            <a:r>
              <a:rPr sz="1500" b="1" i="0">
                <a:solidFill>
                  <a:srgbClr val="1F3864"/>
                </a:solidFill>
                <a:latin typeface="Garamond"/>
              </a:rPr>
              <a:t>18.2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65960" y="1417320"/>
            <a:ext cx="941832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750"/>
              </a:lnSpc>
              <a:spcAft>
                <a:spcPts val="0"/>
              </a:spcAft>
            </a:pPr>
            <a:r>
              <a:rPr sz="1400" b="1" i="0">
                <a:solidFill>
                  <a:srgbClr val="1F3864"/>
                </a:solidFill>
                <a:latin typeface="Garamond"/>
              </a:rPr>
              <a:t>Any sighting.  </a:t>
            </a:r>
            <a:r>
              <a:rPr sz="1400" b="0" i="0">
                <a:solidFill>
                  <a:srgbClr val="1A2430"/>
                </a:solidFill>
                <a:latin typeface="Garamond"/>
              </a:rPr>
              <a:t>One monthly sighting admits substitutes and one-month spells: of teachers seen teaching in a single year-1 interview, 55 percent are never seen teaching in their year-2 interviews, against 11 percent of those seen in all four. One month of coding is noisy; summer-only patterns are just 3 percent of these leavers.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404872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2025"/>
              </a:lnSpc>
              <a:spcAft>
                <a:spcPts val="0"/>
              </a:spcAft>
            </a:pPr>
            <a:r>
              <a:rPr sz="1500" b="1" i="0">
                <a:solidFill>
                  <a:srgbClr val="1F3864"/>
                </a:solidFill>
                <a:latin typeface="Garamond"/>
              </a:rPr>
              <a:t>15.4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65960" y="2404872"/>
            <a:ext cx="941832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750"/>
              </a:lnSpc>
              <a:spcAft>
                <a:spcPts val="0"/>
              </a:spcAft>
            </a:pPr>
            <a:r>
              <a:rPr sz="1400" b="1" i="0">
                <a:solidFill>
                  <a:srgbClr val="1F3864"/>
                </a:solidFill>
                <a:latin typeface="Garamond"/>
              </a:rPr>
              <a:t>Month pairs.  </a:t>
            </a:r>
            <a:r>
              <a:rPr sz="1400" b="0" i="0">
                <a:solidFill>
                  <a:srgbClr val="1A2430"/>
                </a:solidFill>
                <a:latin typeface="Garamond"/>
              </a:rPr>
              <a:t>The unit is the pair, not the person: the same teacher can count as a leaver in one pair and a stayer in another.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92424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2025"/>
              </a:lnSpc>
              <a:spcAft>
                <a:spcPts val="0"/>
              </a:spcAft>
            </a:pPr>
            <a:r>
              <a:rPr sz="1500" b="1" i="0">
                <a:solidFill>
                  <a:srgbClr val="1F3864"/>
                </a:solidFill>
                <a:latin typeface="Garamond"/>
              </a:rPr>
              <a:t>13.0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65960" y="3392424"/>
            <a:ext cx="941832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750"/>
              </a:lnSpc>
              <a:spcAft>
                <a:spcPts val="0"/>
              </a:spcAft>
            </a:pPr>
            <a:r>
              <a:rPr sz="1400" b="1" i="0">
                <a:solidFill>
                  <a:srgbClr val="1F3864"/>
                </a:solidFill>
                <a:latin typeface="Garamond"/>
              </a:rPr>
              <a:t>Panel measure.  </a:t>
            </a:r>
            <a:r>
              <a:rPr sz="1400" b="0" i="0">
                <a:solidFill>
                  <a:srgbClr val="1A2430"/>
                </a:solidFill>
                <a:latin typeface="Garamond"/>
              </a:rPr>
              <a:t>One verdict per person. Still a point-in-time notion of the year, and one leaver in six is teaching again within three months.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379976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2025"/>
              </a:lnSpc>
              <a:spcAft>
                <a:spcPts val="0"/>
              </a:spcAft>
            </a:pPr>
            <a:r>
              <a:rPr sz="1500" b="1" i="0">
                <a:solidFill>
                  <a:srgbClr val="1F3864"/>
                </a:solidFill>
                <a:latin typeface="Garamond"/>
              </a:rPr>
              <a:t>8.6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65960" y="4379976"/>
            <a:ext cx="941832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750"/>
              </a:lnSpc>
              <a:spcAft>
                <a:spcPts val="0"/>
              </a:spcAft>
            </a:pPr>
            <a:r>
              <a:rPr sz="1400" b="1" i="0">
                <a:solidFill>
                  <a:srgbClr val="1F3864"/>
                </a:solidFill>
                <a:latin typeface="Garamond"/>
              </a:rPr>
              <a:t>Annual recall.  </a:t>
            </a:r>
            <a:r>
              <a:rPr sz="1400" b="0" i="0">
                <a:solidFill>
                  <a:srgbClr val="1A2430"/>
                </a:solidFill>
                <a:latin typeface="Garamond"/>
              </a:rPr>
              <a:t>The main job of the year, revisited a year later — the concept of the official survey, which is why it lands next to the dots. Its own risk is recall error.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5367528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2025"/>
              </a:lnSpc>
              <a:spcAft>
                <a:spcPts val="0"/>
              </a:spcAft>
            </a:pPr>
            <a:r>
              <a:rPr sz="1500" b="1" i="0">
                <a:solidFill>
                  <a:srgbClr val="1F3864"/>
                </a:solidFill>
                <a:latin typeface="Garamond"/>
              </a:rPr>
              <a:t>8.0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65960" y="5367528"/>
            <a:ext cx="941832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750"/>
              </a:lnSpc>
              <a:spcAft>
                <a:spcPts val="0"/>
              </a:spcAft>
            </a:pPr>
            <a:r>
              <a:rPr sz="1400" b="1" i="0">
                <a:solidFill>
                  <a:srgbClr val="1F3864"/>
                </a:solidFill>
                <a:latin typeface="Garamond"/>
              </a:rPr>
              <a:t>NCES follow-up.  </a:t>
            </a:r>
            <a:r>
              <a:rPr sz="1400" b="0" i="0">
                <a:solidFill>
                  <a:srgbClr val="1A2430"/>
                </a:solidFill>
                <a:latin typeface="Garamond"/>
              </a:rPr>
              <a:t>The reference wave.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373368"/>
            <a:ext cx="106070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620"/>
              </a:lnSpc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Garamond"/>
              </a:rPr>
              <a:t>Each construction answers a slightly different question; the choice, not the data, drives the spread.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155680" cy="56692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300" b="1">
                <a:solidFill>
                  <a:srgbClr val="1F3864"/>
                </a:solidFill>
                <a:latin typeface="Garamond"/>
              </a:rPr>
              <a:t>The attachment gradient, shown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6B7480"/>
                </a:solidFill>
                <a:latin typeface="Garamond"/>
              </a:rPr>
              <a:t>13</a:t>
            </a:r>
          </a:p>
        </p:txBody>
      </p:sp>
      <p:pic>
        <p:nvPicPr>
          <p:cNvPr id="4" name="Picture 3" descr="sighting_gradi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240" y="1051560"/>
            <a:ext cx="8321040" cy="4160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5440680"/>
            <a:ext cx="107899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22"/>
              </a:lnSpc>
              <a:spcAft>
                <a:spcPts val="0"/>
              </a:spcAft>
            </a:pPr>
            <a:r>
              <a:rPr sz="1350" b="1" i="0">
                <a:solidFill>
                  <a:srgbClr val="1F3864"/>
                </a:solidFill>
                <a:latin typeface="Garamond"/>
              </a:rPr>
              <a:t>Message.  </a:t>
            </a:r>
            <a:r>
              <a:rPr sz="1350" b="0" i="0">
                <a:solidFill>
                  <a:srgbClr val="1A2430"/>
                </a:solidFill>
                <a:latin typeface="Garamond"/>
              </a:rPr>
              <a:t>Who the denominator admits drives the top lines: seen teaching once, 54 percent are never seen teaching a year later; seen all four times, 10 percent.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053328"/>
            <a:ext cx="107899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22"/>
              </a:lnSpc>
              <a:spcAft>
                <a:spcPts val="0"/>
              </a:spcAft>
            </a:pPr>
            <a:r>
              <a:rPr sz="1350" b="1" i="0">
                <a:solidFill>
                  <a:srgbClr val="7B2530"/>
                </a:solidFill>
                <a:latin typeface="Garamond"/>
              </a:rPr>
              <a:t>Caveat.  </a:t>
            </a:r>
            <a:r>
              <a:rPr sz="1350" b="0" i="0">
                <a:solidFill>
                  <a:srgbClr val="1A2430"/>
                </a:solidFill>
                <a:latin typeface="Garamond"/>
              </a:rPr>
              <a:t>Linkage follows addresses, not people: movers cannot be followed, and movers leave more, so the panel measures are lower bounds on mobility-related exit.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155680" cy="56692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300" b="1">
                <a:solidFill>
                  <a:srgbClr val="1F3864"/>
                </a:solidFill>
                <a:latin typeface="Garamond"/>
              </a:rPr>
              <a:t>Why teachers leave: what the CPS can and cannot see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6B7480"/>
                </a:solidFill>
                <a:latin typeface="Garamond"/>
              </a:rPr>
              <a:t>14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22960" y="1371600"/>
            <a:ext cx="10543032" cy="0"/>
          </a:xfrm>
          <a:prstGeom prst="line">
            <a:avLst/>
          </a:prstGeom>
          <a:ln w="17780">
            <a:solidFill>
              <a:srgbClr val="1A24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005840" y="148132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90"/>
              </a:lnSpc>
              <a:spcAft>
                <a:spcPts val="0"/>
              </a:spcAft>
            </a:pPr>
            <a:r>
              <a:rPr sz="1400" b="1" i="0">
                <a:solidFill>
                  <a:srgbClr val="1A2430"/>
                </a:solidFill>
                <a:latin typeface="Garamond"/>
              </a:rPr>
              <a:t>Reasons identified in the literature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03920" y="1481328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90"/>
              </a:lnSpc>
              <a:spcAft>
                <a:spcPts val="0"/>
              </a:spcAft>
            </a:pPr>
            <a:r>
              <a:rPr sz="1400" b="1" i="0">
                <a:solidFill>
                  <a:srgbClr val="1A2430"/>
                </a:solidFill>
                <a:latin typeface="Garamond"/>
              </a:rPr>
              <a:t>Observed in the CPS?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822960" y="1865376"/>
            <a:ext cx="10543032" cy="0"/>
          </a:xfrm>
          <a:prstGeom prst="line">
            <a:avLst/>
          </a:prstGeom>
          <a:ln w="9525">
            <a:solidFill>
              <a:srgbClr val="1A24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1005840" y="1993392"/>
            <a:ext cx="69494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90"/>
              </a:lnSpc>
              <a:spcAft>
                <a:spcPts val="0"/>
              </a:spcAft>
            </a:pPr>
            <a:r>
              <a:rPr sz="1400" b="0" i="0">
                <a:solidFill>
                  <a:srgbClr val="1A2430"/>
                </a:solidFill>
                <a:latin typeface="Garamond"/>
              </a:rPr>
              <a:t>Working conditions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1993392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90"/>
              </a:lnSpc>
              <a:spcAft>
                <a:spcPts val="0"/>
              </a:spcAft>
            </a:pPr>
            <a:r>
              <a:rPr sz="1400" b="0" i="0">
                <a:solidFill>
                  <a:srgbClr val="6B7480"/>
                </a:solidFill>
                <a:latin typeface="Garamond"/>
              </a:rPr>
              <a:t>no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432304"/>
            <a:ext cx="69494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90"/>
              </a:lnSpc>
              <a:spcAft>
                <a:spcPts val="0"/>
              </a:spcAft>
            </a:pPr>
            <a:r>
              <a:rPr sz="1400" b="0" i="0">
                <a:solidFill>
                  <a:srgbClr val="1A2430"/>
                </a:solidFill>
                <a:latin typeface="Garamond"/>
              </a:rPr>
              <a:t>Organizational support (mentoring, leadership)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2432304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90"/>
              </a:lnSpc>
              <a:spcAft>
                <a:spcPts val="0"/>
              </a:spcAft>
            </a:pPr>
            <a:r>
              <a:rPr sz="1400" b="0" i="0">
                <a:solidFill>
                  <a:srgbClr val="6B7480"/>
                </a:solidFill>
                <a:latin typeface="Garamond"/>
              </a:rPr>
              <a:t>no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871216"/>
            <a:ext cx="69494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90"/>
              </a:lnSpc>
              <a:spcAft>
                <a:spcPts val="0"/>
              </a:spcAft>
            </a:pPr>
            <a:r>
              <a:rPr sz="1400" b="0" i="0">
                <a:solidFill>
                  <a:srgbClr val="1A2430"/>
                </a:solidFill>
                <a:latin typeface="Garamond"/>
              </a:rPr>
              <a:t>Autonomy and intrinsic motives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2871216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90"/>
              </a:lnSpc>
              <a:spcAft>
                <a:spcPts val="0"/>
              </a:spcAft>
            </a:pPr>
            <a:r>
              <a:rPr sz="1400" b="0" i="0">
                <a:solidFill>
                  <a:srgbClr val="6B7480"/>
                </a:solidFill>
                <a:latin typeface="Garamond"/>
              </a:rPr>
              <a:t>no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3310128"/>
            <a:ext cx="69494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90"/>
              </a:lnSpc>
              <a:spcAft>
                <a:spcPts val="0"/>
              </a:spcAft>
            </a:pPr>
            <a:r>
              <a:rPr sz="1400" b="0" i="0">
                <a:solidFill>
                  <a:srgbClr val="1A2430"/>
                </a:solidFill>
                <a:latin typeface="Garamond"/>
              </a:rPr>
              <a:t>Financial factors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3310128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90"/>
              </a:lnSpc>
              <a:spcAft>
                <a:spcPts val="0"/>
              </a:spcAft>
            </a:pPr>
            <a:r>
              <a:rPr sz="1400" b="1" i="0">
                <a:solidFill>
                  <a:srgbClr val="1F3864"/>
                </a:solidFill>
                <a:latin typeface="Garamond"/>
              </a:rPr>
              <a:t>yes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3749039"/>
            <a:ext cx="69494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90"/>
              </a:lnSpc>
              <a:spcAft>
                <a:spcPts val="0"/>
              </a:spcAft>
            </a:pPr>
            <a:r>
              <a:rPr sz="1400" b="0" i="0">
                <a:solidFill>
                  <a:srgbClr val="1A2430"/>
                </a:solidFill>
                <a:latin typeface="Garamond"/>
              </a:rPr>
              <a:t>Personal life-cycle motives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20" y="3749039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90"/>
              </a:lnSpc>
              <a:spcAft>
                <a:spcPts val="0"/>
              </a:spcAft>
            </a:pPr>
            <a:r>
              <a:rPr sz="1400" b="1" i="0">
                <a:solidFill>
                  <a:srgbClr val="1F3864"/>
                </a:solidFill>
                <a:latin typeface="Garamond"/>
              </a:rPr>
              <a:t>yes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22960" y="4206240"/>
            <a:ext cx="10543032" cy="0"/>
          </a:xfrm>
          <a:prstGeom prst="line">
            <a:avLst/>
          </a:prstGeom>
          <a:ln w="9525">
            <a:solidFill>
              <a:srgbClr val="1A24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1005840" y="4297680"/>
            <a:ext cx="69494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90"/>
              </a:lnSpc>
              <a:spcAft>
                <a:spcPts val="0"/>
              </a:spcAft>
            </a:pPr>
            <a:r>
              <a:rPr sz="1400" b="0" i="0">
                <a:solidFill>
                  <a:srgbClr val="1A2430"/>
                </a:solidFill>
                <a:latin typeface="Garamond"/>
              </a:rPr>
              <a:t>Sociodemographic characteristics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20" y="4297680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90"/>
              </a:lnSpc>
              <a:spcAft>
                <a:spcPts val="0"/>
              </a:spcAft>
            </a:pPr>
            <a:r>
              <a:rPr sz="1400" b="1" i="0">
                <a:solidFill>
                  <a:srgbClr val="1F3864"/>
                </a:solidFill>
                <a:latin typeface="Garamond"/>
              </a:rPr>
              <a:t>yes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22960" y="4718304"/>
            <a:ext cx="10543032" cy="0"/>
          </a:xfrm>
          <a:prstGeom prst="line">
            <a:avLst/>
          </a:prstGeom>
          <a:ln w="17780">
            <a:solidFill>
              <a:srgbClr val="1A24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822960" y="4901184"/>
            <a:ext cx="10543032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620"/>
              </a:lnSpc>
              <a:spcAft>
                <a:spcPts val="0"/>
              </a:spcAft>
            </a:pPr>
            <a:r>
              <a:rPr sz="1200" b="0" i="1">
                <a:solidFill>
                  <a:srgbClr val="6B7480"/>
                </a:solidFill>
                <a:latin typeface="Garamond"/>
              </a:rPr>
              <a:t>Five broad families of reasons from our review of the literature. The CPS covers the economic and life-cycle margins.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155680" cy="56692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300" b="1">
                <a:solidFill>
                  <a:srgbClr val="1F3864"/>
                </a:solidFill>
                <a:latin typeface="Garamond"/>
              </a:rPr>
              <a:t>Five messages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6B7480"/>
                </a:solidFill>
                <a:latin typeface="Garamond"/>
              </a:rPr>
              <a:t>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17320"/>
            <a:ext cx="106070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950"/>
              </a:lnSpc>
              <a:spcAft>
                <a:spcPts val="0"/>
              </a:spcAft>
            </a:pPr>
            <a:r>
              <a:rPr sz="1500" b="1" i="0">
                <a:solidFill>
                  <a:srgbClr val="1F3864"/>
                </a:solidFill>
                <a:latin typeface="Garamond"/>
              </a:rPr>
              <a:t>1.  </a:t>
            </a:r>
            <a:r>
              <a:rPr sz="1500" b="0" i="0">
                <a:solidFill>
                  <a:srgbClr val="1A2430"/>
                </a:solidFill>
                <a:latin typeface="Garamond"/>
              </a:rPr>
              <a:t>Economic and employment conditions correlate with leaving far more than demographics.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441448"/>
            <a:ext cx="106070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950"/>
              </a:lnSpc>
              <a:spcAft>
                <a:spcPts val="0"/>
              </a:spcAft>
            </a:pPr>
            <a:r>
              <a:rPr sz="1500" b="1" i="0">
                <a:solidFill>
                  <a:srgbClr val="1F3864"/>
                </a:solidFill>
                <a:latin typeface="Garamond"/>
              </a:rPr>
              <a:t>2.  </a:t>
            </a:r>
            <a:r>
              <a:rPr sz="1500" b="0" i="0">
                <a:solidFill>
                  <a:srgbClr val="1A2430"/>
                </a:solidFill>
                <a:latin typeface="Garamond"/>
              </a:rPr>
              <a:t>Exits concentrate where attachment and annual pay are lowest: part-time and part-year teachers in the bottom of the earnings distribution.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465576"/>
            <a:ext cx="106070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950"/>
              </a:lnSpc>
              <a:spcAft>
                <a:spcPts val="0"/>
              </a:spcAft>
            </a:pPr>
            <a:r>
              <a:rPr sz="1500" b="1" i="0">
                <a:solidFill>
                  <a:srgbClr val="1F3864"/>
                </a:solidFill>
                <a:latin typeface="Garamond"/>
              </a:rPr>
              <a:t>3.  </a:t>
            </a:r>
            <a:r>
              <a:rPr sz="1500" b="0" i="0">
                <a:solidFill>
                  <a:srgbClr val="1A2430"/>
                </a:solidFill>
                <a:latin typeface="Garamond"/>
              </a:rPr>
              <a:t>Those same exits lead out of employment, not to better-paid jobs: two thirds of bottom-quintile leavers exit the labor force. Low pay and non-employment destinations are one phenomenon, not two.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489704"/>
            <a:ext cx="106070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950"/>
              </a:lnSpc>
              <a:spcAft>
                <a:spcPts val="0"/>
              </a:spcAft>
            </a:pPr>
            <a:r>
              <a:rPr sz="1500" b="1" i="0">
                <a:solidFill>
                  <a:srgbClr val="1F3864"/>
                </a:solidFill>
                <a:latin typeface="Garamond"/>
              </a:rPr>
              <a:t>4.  </a:t>
            </a:r>
            <a:r>
              <a:rPr sz="1500" b="0" i="0">
                <a:solidFill>
                  <a:srgbClr val="1A2430"/>
                </a:solidFill>
                <a:latin typeface="Garamond"/>
              </a:rPr>
              <a:t>Life-cycle events are the largest single trigger: childbirth raises a woman’s exit probability by about six points, more than in comparable professions.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513832"/>
            <a:ext cx="106070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950"/>
              </a:lnSpc>
              <a:spcAft>
                <a:spcPts val="0"/>
              </a:spcAft>
            </a:pPr>
            <a:r>
              <a:rPr sz="1500" b="1" i="0">
                <a:solidFill>
                  <a:srgbClr val="1F3864"/>
                </a:solidFill>
                <a:latin typeface="Garamond"/>
              </a:rPr>
              <a:t>5.  </a:t>
            </a:r>
            <a:r>
              <a:rPr sz="1500" b="0" i="0">
                <a:solidFill>
                  <a:srgbClr val="1A2430"/>
                </a:solidFill>
                <a:latin typeface="Garamond"/>
              </a:rPr>
              <a:t>Pension coverage retains, and attrition differs widely across states: the actionable margins are contractual and institutional.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155680" cy="56692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300" b="1">
                <a:solidFill>
                  <a:srgbClr val="1F3864"/>
                </a:solidFill>
                <a:latin typeface="Garamond"/>
              </a:rPr>
              <a:t>Leaving teaching, 1997–2024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6B7480"/>
                </a:solidFill>
                <a:latin typeface="Garamond"/>
              </a:rPr>
              <a:t>16</a:t>
            </a:r>
          </a:p>
        </p:txBody>
      </p:sp>
      <p:pic>
        <p:nvPicPr>
          <p:cNvPr id="4" name="Picture 3" descr="g2_evol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5920" y="1143000"/>
            <a:ext cx="8869680" cy="44348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5760720"/>
            <a:ext cx="107899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22"/>
              </a:lnSpc>
              <a:spcAft>
                <a:spcPts val="0"/>
              </a:spcAft>
            </a:pPr>
            <a:r>
              <a:rPr sz="1350" b="1" i="0">
                <a:solidFill>
                  <a:srgbClr val="1F3864"/>
                </a:solidFill>
                <a:latin typeface="Garamond"/>
              </a:rPr>
              <a:t>Message.  </a:t>
            </a:r>
            <a:r>
              <a:rPr sz="1350" b="0" i="0">
                <a:solidFill>
                  <a:srgbClr val="1A2430"/>
                </a:solidFill>
                <a:latin typeface="Garamond"/>
              </a:rPr>
              <a:t>The rate fluctuates around 8.6 percent with no trend: a persistent outflow, not a mounting exodus.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163056"/>
            <a:ext cx="107899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22"/>
              </a:lnSpc>
              <a:spcAft>
                <a:spcPts val="0"/>
              </a:spcAft>
            </a:pPr>
            <a:r>
              <a:rPr sz="1350" b="1" i="0">
                <a:solidFill>
                  <a:srgbClr val="7B2530"/>
                </a:solidFill>
                <a:latin typeface="Garamond"/>
              </a:rPr>
              <a:t>Policy.  </a:t>
            </a:r>
            <a:r>
              <a:rPr sz="1350" b="0" i="0">
                <a:solidFill>
                  <a:srgbClr val="1A2430"/>
                </a:solidFill>
                <a:latin typeface="Garamond"/>
              </a:rPr>
              <a:t>Retention faces a steady-state cost, not an emergency spike.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155680" cy="56692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300" b="1">
                <a:solidFill>
                  <a:srgbClr val="1F3864"/>
                </a:solidFill>
                <a:latin typeface="Garamond"/>
              </a:rPr>
              <a:t>Leaving teaching, by school sector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6B7480"/>
                </a:solidFill>
                <a:latin typeface="Garamond"/>
              </a:rPr>
              <a:t>17</a:t>
            </a:r>
          </a:p>
        </p:txBody>
      </p:sp>
      <p:pic>
        <p:nvPicPr>
          <p:cNvPr id="4" name="Picture 3" descr="pubpriv_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8046" y="1143000"/>
            <a:ext cx="8705426" cy="44348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5760720"/>
            <a:ext cx="107899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22"/>
              </a:lnSpc>
              <a:spcAft>
                <a:spcPts val="0"/>
              </a:spcAft>
            </a:pPr>
            <a:r>
              <a:rPr sz="1350" b="1" i="0">
                <a:solidFill>
                  <a:srgbClr val="1F3864"/>
                </a:solidFill>
                <a:latin typeface="Garamond"/>
              </a:rPr>
              <a:t>Message.  </a:t>
            </a:r>
            <a:r>
              <a:rPr sz="1350" b="0" i="0">
                <a:solidFill>
                  <a:srgbClr val="1A2430"/>
                </a:solidFill>
                <a:latin typeface="Garamond"/>
              </a:rPr>
              <a:t>Private schools lose teachers at roughly twice the public rate.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163056"/>
            <a:ext cx="107899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22"/>
              </a:lnSpc>
              <a:spcAft>
                <a:spcPts val="0"/>
              </a:spcAft>
            </a:pPr>
            <a:r>
              <a:rPr sz="1350" b="1" i="0">
                <a:solidFill>
                  <a:srgbClr val="7B2530"/>
                </a:solidFill>
                <a:latin typeface="Garamond"/>
              </a:rPr>
              <a:t>Policy.  </a:t>
            </a:r>
            <a:r>
              <a:rPr sz="1350" b="0" i="0">
                <a:solidFill>
                  <a:srgbClr val="1A2430"/>
                </a:solidFill>
                <a:latin typeface="Garamond"/>
              </a:rPr>
              <a:t>Retention tracks contract structure, pay and pensions, not classroom conditions alone.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155680" cy="56692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300" b="1">
                <a:solidFill>
                  <a:srgbClr val="1F3864"/>
                </a:solidFill>
                <a:latin typeface="Garamond"/>
              </a:rPr>
              <a:t>Leaving the occupation, by profession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6B7480"/>
                </a:solidFill>
                <a:latin typeface="Garamond"/>
              </a:rPr>
              <a:t>18</a:t>
            </a:r>
          </a:p>
        </p:txBody>
      </p:sp>
      <p:pic>
        <p:nvPicPr>
          <p:cNvPr id="4" name="Picture 3" descr="leave_professions_d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5920" y="1143000"/>
            <a:ext cx="8869680" cy="44348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5760720"/>
            <a:ext cx="107899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22"/>
              </a:lnSpc>
              <a:spcAft>
                <a:spcPts val="0"/>
              </a:spcAft>
            </a:pPr>
            <a:r>
              <a:rPr sz="1350" b="1" i="0">
                <a:solidFill>
                  <a:srgbClr val="1F3864"/>
                </a:solidFill>
                <a:latin typeface="Garamond"/>
              </a:rPr>
              <a:t>Message.  </a:t>
            </a:r>
            <a:r>
              <a:rPr sz="1350" b="0" i="0">
                <a:solidFill>
                  <a:srgbClr val="1A2430"/>
                </a:solidFill>
                <a:latin typeface="Garamond"/>
              </a:rPr>
              <a:t>Teacher attrition is unexceptional next to comparable professions: above nurses and accountants, well below social workers.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163056"/>
            <a:ext cx="107899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22"/>
              </a:lnSpc>
              <a:spcAft>
                <a:spcPts val="0"/>
              </a:spcAft>
            </a:pPr>
            <a:r>
              <a:rPr sz="1350" b="1" i="0">
                <a:solidFill>
                  <a:srgbClr val="7B2530"/>
                </a:solidFill>
                <a:latin typeface="Garamond"/>
              </a:rPr>
              <a:t>Policy.  </a:t>
            </a:r>
            <a:r>
              <a:rPr sz="1350" b="0" i="0">
                <a:solidFill>
                  <a:srgbClr val="1A2430"/>
                </a:solidFill>
                <a:latin typeface="Garamond"/>
              </a:rPr>
              <a:t>Benchmarks from other professions discipline how alarming any teacher figure should be.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155680" cy="56692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300" b="1">
                <a:solidFill>
                  <a:srgbClr val="1F3864"/>
                </a:solidFill>
                <a:latin typeface="Garamond"/>
              </a:rPr>
              <a:t>Labor force exit of women, by profession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6B7480"/>
                </a:solidFill>
                <a:latin typeface="Garamond"/>
              </a:rPr>
              <a:t>19</a:t>
            </a:r>
          </a:p>
        </p:txBody>
      </p:sp>
      <p:pic>
        <p:nvPicPr>
          <p:cNvPr id="4" name="Picture 3" descr="lf_professions_d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5920" y="1143000"/>
            <a:ext cx="8869680" cy="44348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5760720"/>
            <a:ext cx="107899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22"/>
              </a:lnSpc>
              <a:spcAft>
                <a:spcPts val="0"/>
              </a:spcAft>
            </a:pPr>
            <a:r>
              <a:rPr sz="1350" b="1" i="0">
                <a:solidFill>
                  <a:srgbClr val="1F3864"/>
                </a:solidFill>
                <a:latin typeface="Garamond"/>
              </a:rPr>
              <a:t>Message.  </a:t>
            </a:r>
            <a:r>
              <a:rPr sz="1350" b="0" i="0">
                <a:solidFill>
                  <a:srgbClr val="1A2430"/>
                </a:solidFill>
                <a:latin typeface="Garamond"/>
              </a:rPr>
              <a:t>Women teachers exit the labor force at about five percent a year, well above nurses, social workers and accountants.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163056"/>
            <a:ext cx="107899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22"/>
              </a:lnSpc>
              <a:spcAft>
                <a:spcPts val="0"/>
              </a:spcAft>
            </a:pPr>
            <a:r>
              <a:rPr sz="1350" b="1" i="0">
                <a:solidFill>
                  <a:srgbClr val="7B2530"/>
                </a:solidFill>
                <a:latin typeface="Garamond"/>
              </a:rPr>
              <a:t>Policy.  </a:t>
            </a:r>
            <a:r>
              <a:rPr sz="1350" b="0" i="0">
                <a:solidFill>
                  <a:srgbClr val="1A2430"/>
                </a:solidFill>
                <a:latin typeface="Garamond"/>
              </a:rPr>
              <a:t>The family-compatibility margin is specific to teaching, not to professional work in general.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155680" cy="56692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300" b="1">
                <a:solidFill>
                  <a:srgbClr val="1F3864"/>
                </a:solidFill>
                <a:latin typeface="Garamond"/>
              </a:rPr>
              <a:t>Teachers leaving per year, across countries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6B7480"/>
                </a:solidFill>
                <a:latin typeface="Garamond"/>
              </a:rPr>
              <a:t>20</a:t>
            </a:r>
          </a:p>
        </p:txBody>
      </p:sp>
      <p:pic>
        <p:nvPicPr>
          <p:cNvPr id="4" name="Picture 3" descr="intl_bars_d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39726" y="1143000"/>
            <a:ext cx="6082066" cy="44348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5760720"/>
            <a:ext cx="107899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22"/>
              </a:lnSpc>
              <a:spcAft>
                <a:spcPts val="0"/>
              </a:spcAft>
            </a:pPr>
            <a:r>
              <a:rPr sz="1350" b="1" i="0">
                <a:solidFill>
                  <a:srgbClr val="1F3864"/>
                </a:solidFill>
                <a:latin typeface="Garamond"/>
              </a:rPr>
              <a:t>Message.  </a:t>
            </a:r>
            <a:r>
              <a:rPr sz="1350" b="0" i="0">
                <a:solidFill>
                  <a:srgbClr val="1A2430"/>
                </a:solidFill>
                <a:latin typeface="Garamond"/>
              </a:rPr>
              <a:t>The US sits in the upper range of the school systems that publish a rate.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163056"/>
            <a:ext cx="107899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22"/>
              </a:lnSpc>
              <a:spcAft>
                <a:spcPts val="0"/>
              </a:spcAft>
            </a:pPr>
            <a:r>
              <a:rPr sz="1350" b="1" i="0">
                <a:solidFill>
                  <a:srgbClr val="7B2530"/>
                </a:solidFill>
                <a:latin typeface="Garamond"/>
              </a:rPr>
              <a:t>Policy.  </a:t>
            </a:r>
            <a:r>
              <a:rPr sz="1350" b="0" i="0">
                <a:solidFill>
                  <a:srgbClr val="1A2430"/>
                </a:solidFill>
                <a:latin typeface="Garamond"/>
              </a:rPr>
              <a:t>Comparable, survey-based measurement is what makes this ranking possible.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155680" cy="56692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300" b="1">
                <a:solidFill>
                  <a:srgbClr val="1F3864"/>
                </a:solidFill>
                <a:latin typeface="Garamond"/>
              </a:rPr>
              <a:t>Destinations of teachers who leave, 2024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6B7480"/>
                </a:solidFill>
                <a:latin typeface="Garamond"/>
              </a:rPr>
              <a:t>21</a:t>
            </a:r>
          </a:p>
        </p:txBody>
      </p:sp>
      <p:pic>
        <p:nvPicPr>
          <p:cNvPr id="4" name="Picture 3" descr="g3_flow100_20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8065" y="1143000"/>
            <a:ext cx="9265389" cy="44348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5760720"/>
            <a:ext cx="107899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22"/>
              </a:lnSpc>
              <a:spcAft>
                <a:spcPts val="0"/>
              </a:spcAft>
            </a:pPr>
            <a:r>
              <a:rPr sz="1350" b="1" i="0">
                <a:solidFill>
                  <a:srgbClr val="1F3864"/>
                </a:solidFill>
                <a:latin typeface="Garamond"/>
              </a:rPr>
              <a:t>Message.  </a:t>
            </a:r>
            <a:r>
              <a:rPr sz="1350" b="0" i="0">
                <a:solidFill>
                  <a:srgbClr val="1A2430"/>
                </a:solidFill>
                <a:latin typeface="Garamond"/>
              </a:rPr>
              <a:t>Of every hundred leavers, about a third take another job; most exit employment altogether.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163056"/>
            <a:ext cx="107899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22"/>
              </a:lnSpc>
              <a:spcAft>
                <a:spcPts val="0"/>
              </a:spcAft>
            </a:pPr>
            <a:r>
              <a:rPr sz="1350" b="1" i="0">
                <a:solidFill>
                  <a:srgbClr val="7B2530"/>
                </a:solidFill>
                <a:latin typeface="Garamond"/>
              </a:rPr>
              <a:t>Policy.  </a:t>
            </a:r>
            <a:r>
              <a:rPr sz="1350" b="0" i="0">
                <a:solidFill>
                  <a:srgbClr val="1A2430"/>
                </a:solidFill>
                <a:latin typeface="Garamond"/>
              </a:rPr>
              <a:t>Competing employers are not the main counterfactual; retirement and care are.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155680" cy="56692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300" b="1">
                <a:solidFill>
                  <a:srgbClr val="1F3864"/>
                </a:solidFill>
                <a:latin typeface="Garamond"/>
              </a:rPr>
              <a:t>The routes out of teaching, 2002–2024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6B7480"/>
                </a:solidFill>
                <a:latin typeface="Garamond"/>
              </a:rPr>
              <a:t>22</a:t>
            </a:r>
          </a:p>
        </p:txBody>
      </p:sp>
      <p:pic>
        <p:nvPicPr>
          <p:cNvPr id="4" name="Picture 3" descr="routes_bars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0240" y="1143000"/>
            <a:ext cx="9901038" cy="44348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5760720"/>
            <a:ext cx="107899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22"/>
              </a:lnSpc>
              <a:spcAft>
                <a:spcPts val="0"/>
              </a:spcAft>
            </a:pPr>
            <a:r>
              <a:rPr sz="1350" b="1" i="0">
                <a:solidFill>
                  <a:srgbClr val="1F3864"/>
                </a:solidFill>
                <a:latin typeface="Garamond"/>
              </a:rPr>
              <a:t>Message.  </a:t>
            </a:r>
            <a:r>
              <a:rPr sz="1350" b="0" i="0">
                <a:solidFill>
                  <a:srgbClr val="1A2430"/>
                </a:solidFill>
                <a:latin typeface="Garamond"/>
              </a:rPr>
              <a:t>The destination mix has been essentially stable for two decades.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163056"/>
            <a:ext cx="107899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22"/>
              </a:lnSpc>
              <a:spcAft>
                <a:spcPts val="0"/>
              </a:spcAft>
            </a:pPr>
            <a:r>
              <a:rPr sz="1350" b="1" i="0">
                <a:solidFill>
                  <a:srgbClr val="7B2530"/>
                </a:solidFill>
                <a:latin typeface="Garamond"/>
              </a:rPr>
              <a:t>Policy.  </a:t>
            </a:r>
            <a:r>
              <a:rPr sz="1350" b="0" i="0">
                <a:solidFill>
                  <a:srgbClr val="1A2430"/>
                </a:solidFill>
                <a:latin typeface="Garamond"/>
              </a:rPr>
              <a:t>The composition of the outflow is structural, not cyclical noise.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155680" cy="56692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300" b="1">
                <a:solidFill>
                  <a:srgbClr val="1F3864"/>
                </a:solidFill>
                <a:latin typeface="Garamond"/>
              </a:rPr>
              <a:t>Who leaves the labor force before 55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6B7480"/>
                </a:solidFill>
                <a:latin typeface="Garamond"/>
              </a:rPr>
              <a:t>23</a:t>
            </a:r>
          </a:p>
        </p:txBody>
      </p:sp>
      <p:pic>
        <p:nvPicPr>
          <p:cNvPr id="4" name="Picture 3" descr="yellow_flow20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8065" y="1143000"/>
            <a:ext cx="9265389" cy="44348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5760720"/>
            <a:ext cx="107899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22"/>
              </a:lnSpc>
              <a:spcAft>
                <a:spcPts val="0"/>
              </a:spcAft>
            </a:pPr>
            <a:r>
              <a:rPr sz="1350" b="1" i="0">
                <a:solidFill>
                  <a:srgbClr val="1F3864"/>
                </a:solidFill>
                <a:latin typeface="Garamond"/>
              </a:rPr>
              <a:t>Message.  </a:t>
            </a:r>
            <a:r>
              <a:rPr sz="1350" b="0" i="0">
                <a:solidFill>
                  <a:srgbClr val="1A2430"/>
                </a:solidFill>
                <a:latin typeface="Garamond"/>
              </a:rPr>
              <a:t>Nearly half of the pre-55 labor-force exits are mothers with a child at home.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163056"/>
            <a:ext cx="107899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22"/>
              </a:lnSpc>
              <a:spcAft>
                <a:spcPts val="0"/>
              </a:spcAft>
            </a:pPr>
            <a:r>
              <a:rPr sz="1350" b="1" i="0">
                <a:solidFill>
                  <a:srgbClr val="7B2530"/>
                </a:solidFill>
                <a:latin typeface="Garamond"/>
              </a:rPr>
              <a:t>Policy.  </a:t>
            </a:r>
            <a:r>
              <a:rPr sz="1350" b="0" i="0">
                <a:solidFill>
                  <a:srgbClr val="1A2430"/>
                </a:solidFill>
                <a:latin typeface="Garamond"/>
              </a:rPr>
              <a:t>Childcare and parental-leave policy are retention policy.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155680" cy="56692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300" b="1">
                <a:solidFill>
                  <a:srgbClr val="1F3864"/>
                </a:solidFill>
                <a:latin typeface="Garamond"/>
              </a:rPr>
              <a:t>Where the employed leavers go: every occupation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6B7480"/>
                </a:solidFill>
                <a:latin typeface="Garamond"/>
              </a:rPr>
              <a:t>24</a:t>
            </a:r>
          </a:p>
        </p:txBody>
      </p:sp>
      <p:pic>
        <p:nvPicPr>
          <p:cNvPr id="4" name="Picture 3" descr="occ_all_sl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5620" y="1143000"/>
            <a:ext cx="10090278" cy="44348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5760720"/>
            <a:ext cx="107899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22"/>
              </a:lnSpc>
              <a:spcAft>
                <a:spcPts val="0"/>
              </a:spcAft>
            </a:pPr>
            <a:r>
              <a:rPr sz="1350" b="1" i="0">
                <a:solidFill>
                  <a:srgbClr val="1F3864"/>
                </a:solidFill>
                <a:latin typeface="Garamond"/>
              </a:rPr>
              <a:t>Message.  </a:t>
            </a:r>
            <a:r>
              <a:rPr sz="1350" b="0" i="0">
                <a:solidFill>
                  <a:srgbClr val="1A2430"/>
                </a:solidFill>
                <a:latin typeface="Garamond"/>
              </a:rPr>
              <a:t>Employed leavers scatter widely; the largest block stays in education outside the classroom.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163056"/>
            <a:ext cx="107899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22"/>
              </a:lnSpc>
              <a:spcAft>
                <a:spcPts val="0"/>
              </a:spcAft>
            </a:pPr>
            <a:r>
              <a:rPr sz="1350" b="1" i="0">
                <a:solidFill>
                  <a:srgbClr val="7B2530"/>
                </a:solidFill>
                <a:latin typeface="Garamond"/>
              </a:rPr>
              <a:t>Policy.  </a:t>
            </a:r>
            <a:r>
              <a:rPr sz="1350" b="0" i="0">
                <a:solidFill>
                  <a:srgbClr val="1A2430"/>
                </a:solidFill>
                <a:latin typeface="Garamond"/>
              </a:rPr>
              <a:t>Skills remain in the education orbit, so re-entry is a realistic margin.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155680" cy="56692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300" b="1">
                <a:solidFill>
                  <a:srgbClr val="1F3864"/>
                </a:solidFill>
                <a:latin typeface="Garamond"/>
              </a:rPr>
              <a:t>Leaving teaching, by age and route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6B7480"/>
                </a:solidFill>
                <a:latin typeface="Garamond"/>
              </a:rPr>
              <a:t>25</a:t>
            </a:r>
          </a:p>
        </p:txBody>
      </p:sp>
      <p:pic>
        <p:nvPicPr>
          <p:cNvPr id="4" name="Picture 3" descr="g4_routes_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4151" y="1143000"/>
            <a:ext cx="8653217" cy="44348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5760720"/>
            <a:ext cx="107899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22"/>
              </a:lnSpc>
              <a:spcAft>
                <a:spcPts val="0"/>
              </a:spcAft>
            </a:pPr>
            <a:r>
              <a:rPr sz="1350" b="1" i="0">
                <a:solidFill>
                  <a:srgbClr val="1F3864"/>
                </a:solidFill>
                <a:latin typeface="Garamond"/>
              </a:rPr>
              <a:t>Message.  </a:t>
            </a:r>
            <a:r>
              <a:rPr sz="1350" b="0" i="0">
                <a:solidFill>
                  <a:srgbClr val="1A2430"/>
                </a:solidFill>
                <a:latin typeface="Garamond"/>
              </a:rPr>
              <a:t>Leaving is U-shaped in age, and non-employment dominates both ends of the career.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163056"/>
            <a:ext cx="107899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22"/>
              </a:lnSpc>
              <a:spcAft>
                <a:spcPts val="0"/>
              </a:spcAft>
            </a:pPr>
            <a:r>
              <a:rPr sz="1350" b="1" i="0">
                <a:solidFill>
                  <a:srgbClr val="7B2530"/>
                </a:solidFill>
                <a:latin typeface="Garamond"/>
              </a:rPr>
              <a:t>Policy.  </a:t>
            </a:r>
            <a:r>
              <a:rPr sz="1350" b="0" i="0">
                <a:solidFill>
                  <a:srgbClr val="1A2430"/>
                </a:solidFill>
                <a:latin typeface="Garamond"/>
              </a:rPr>
              <a:t>Early-career and pre-retirement exits call for different instruments.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155680" cy="56692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300" b="1">
                <a:solidFill>
                  <a:srgbClr val="1F3864"/>
                </a:solidFill>
                <a:latin typeface="Garamond"/>
              </a:rPr>
              <a:t>The econometric specification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6B7480"/>
                </a:solidFill>
                <a:latin typeface="Garamond"/>
              </a:rPr>
              <a:t>26</a:t>
            </a:r>
          </a:p>
        </p:txBody>
      </p:sp>
      <p:pic>
        <p:nvPicPr>
          <p:cNvPr id="4" name="Picture 3" descr="equ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744952"/>
            <a:ext cx="9966960" cy="135641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3977639"/>
            <a:ext cx="10607040" cy="4846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029"/>
              </a:lnSpc>
              <a:spcAft>
                <a:spcPts val="1200"/>
              </a:spcAft>
            </a:pPr>
            <a:r>
              <a:rPr sz="1450" b="1" i="0">
                <a:solidFill>
                  <a:srgbClr val="1F3864"/>
                </a:solidFill>
                <a:latin typeface="Garamond"/>
              </a:rPr>
              <a:t>▸   </a:t>
            </a:r>
            <a:r>
              <a:rPr sz="1450" b="0" i="0">
                <a:solidFill>
                  <a:srgbClr val="1A2430"/>
                </a:solidFill>
                <a:latin typeface="Garamond"/>
              </a:rPr>
              <a:t>Probit on college-graduate teachers, pooled 2015–2024, with calendar-year effects; n = 28,900.</a:t>
            </a:r>
          </a:p>
          <a:p>
            <a:pPr algn="l">
              <a:lnSpc>
                <a:spcPts val="2029"/>
              </a:lnSpc>
              <a:spcAft>
                <a:spcPts val="1200"/>
              </a:spcAft>
            </a:pPr>
            <a:r>
              <a:rPr sz="1450" b="1" i="0">
                <a:solidFill>
                  <a:srgbClr val="1F3864"/>
                </a:solidFill>
                <a:latin typeface="Garamond"/>
              </a:rPr>
              <a:t>▸   </a:t>
            </a:r>
            <a:r>
              <a:rPr sz="1450" b="0" i="0">
                <a:solidFill>
                  <a:srgbClr val="1A2430"/>
                </a:solidFill>
                <a:latin typeface="Garamond"/>
              </a:rPr>
              <a:t>Average marginal effects reported, in percentage points.</a:t>
            </a:r>
          </a:p>
          <a:p>
            <a:pPr algn="l">
              <a:lnSpc>
                <a:spcPts val="2029"/>
              </a:lnSpc>
              <a:spcAft>
                <a:spcPts val="0"/>
              </a:spcAft>
            </a:pPr>
            <a:r>
              <a:rPr sz="1450" b="1" i="0">
                <a:solidFill>
                  <a:srgbClr val="1F3864"/>
                </a:solidFill>
                <a:latin typeface="Garamond"/>
              </a:rPr>
              <a:t>▸   </a:t>
            </a:r>
            <a:r>
              <a:rPr sz="1450" b="0" i="0">
                <a:solidFill>
                  <a:srgbClr val="1A2430"/>
                </a:solidFill>
                <a:latin typeface="Garamond"/>
              </a:rPr>
              <a:t>Robust to logit and weighted LPM, state and year fixed effects, the full 1997–2024 window (n = 85,430), and the occupation-pair definition of leaving.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155680" cy="56692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300" b="1">
                <a:solidFill>
                  <a:srgbClr val="1F3864"/>
                </a:solidFill>
                <a:latin typeface="Garamond"/>
              </a:rPr>
              <a:t>Average marginal effects on the probability of leaving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6B7480"/>
                </a:solidFill>
                <a:latin typeface="Garamond"/>
              </a:rPr>
              <a:t>27</a:t>
            </a:r>
          </a:p>
        </p:txBody>
      </p:sp>
      <p:pic>
        <p:nvPicPr>
          <p:cNvPr id="4" name="Picture 3" descr="ame_semin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1686" y="1143000"/>
            <a:ext cx="8038147" cy="44348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5760720"/>
            <a:ext cx="107899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22"/>
              </a:lnSpc>
              <a:spcAft>
                <a:spcPts val="0"/>
              </a:spcAft>
            </a:pPr>
            <a:r>
              <a:rPr sz="1350" b="1" i="0">
                <a:solidFill>
                  <a:srgbClr val="1F3864"/>
                </a:solidFill>
                <a:latin typeface="Garamond"/>
              </a:rPr>
              <a:t>Message.  </a:t>
            </a:r>
            <a:r>
              <a:rPr sz="1350" b="0" i="0">
                <a:solidFill>
                  <a:srgbClr val="1A2430"/>
                </a:solidFill>
                <a:latin typeface="Garamond"/>
              </a:rPr>
              <a:t>Job attachment and compensation dominate; demographic differences are small.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163056"/>
            <a:ext cx="107899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22"/>
              </a:lnSpc>
              <a:spcAft>
                <a:spcPts val="0"/>
              </a:spcAft>
            </a:pPr>
            <a:r>
              <a:rPr sz="1350" b="1" i="0">
                <a:solidFill>
                  <a:srgbClr val="7B2530"/>
                </a:solidFill>
                <a:latin typeface="Garamond"/>
              </a:rPr>
              <a:t>Policy.  </a:t>
            </a:r>
            <a:r>
              <a:rPr sz="1350" b="0" i="0">
                <a:solidFill>
                  <a:srgbClr val="1A2430"/>
                </a:solidFill>
                <a:latin typeface="Garamond"/>
              </a:rPr>
              <a:t>The actionable levers are contractual: full-year contracts, pension coverage.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155680" cy="56692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300" b="1">
                <a:solidFill>
                  <a:srgbClr val="1F3864"/>
                </a:solidFill>
                <a:latin typeface="Garamond"/>
              </a:rPr>
              <a:t>The age profile of leaving, by route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6B7480"/>
                </a:solidFill>
                <a:latin typeface="Garamond"/>
              </a:rPr>
              <a:t>28</a:t>
            </a:r>
          </a:p>
        </p:txBody>
      </p:sp>
      <p:pic>
        <p:nvPicPr>
          <p:cNvPr id="4" name="Picture 3" descr="u_routes_d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16380"/>
            <a:ext cx="11064240" cy="36880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5760720"/>
            <a:ext cx="107899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22"/>
              </a:lnSpc>
              <a:spcAft>
                <a:spcPts val="0"/>
              </a:spcAft>
            </a:pPr>
            <a:r>
              <a:rPr sz="1350" b="1" i="0">
                <a:solidFill>
                  <a:srgbClr val="1F3864"/>
                </a:solidFill>
                <a:latin typeface="Garamond"/>
              </a:rPr>
              <a:t>Message.  </a:t>
            </a:r>
            <a:r>
              <a:rPr sz="1350" b="0" i="0">
                <a:solidFill>
                  <a:srgbClr val="1A2430"/>
                </a:solidFill>
                <a:latin typeface="Garamond"/>
              </a:rPr>
              <a:t>Young teachers switch to other jobs; older teachers leave the labor force.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163056"/>
            <a:ext cx="107899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22"/>
              </a:lnSpc>
              <a:spcAft>
                <a:spcPts val="0"/>
              </a:spcAft>
            </a:pPr>
            <a:r>
              <a:rPr sz="1350" b="1" i="0">
                <a:solidFill>
                  <a:srgbClr val="7B2530"/>
                </a:solidFill>
                <a:latin typeface="Garamond"/>
              </a:rPr>
              <a:t>Policy.  </a:t>
            </a:r>
            <a:r>
              <a:rPr sz="1350" b="0" i="0">
                <a:solidFill>
                  <a:srgbClr val="1A2430"/>
                </a:solidFill>
                <a:latin typeface="Garamond"/>
              </a:rPr>
              <a:t>The two peaks of the U respond to different policies.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155680" cy="56692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300" b="1">
                <a:solidFill>
                  <a:srgbClr val="1F3864"/>
                </a:solidFill>
                <a:latin typeface="Garamond"/>
              </a:rPr>
              <a:t>The effect of a new baby, by profession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6B7480"/>
                </a:solidFill>
                <a:latin typeface="Garamond"/>
              </a:rPr>
              <a:t>29</a:t>
            </a:r>
          </a:p>
        </p:txBody>
      </p:sp>
      <p:pic>
        <p:nvPicPr>
          <p:cNvPr id="4" name="Picture 3" descr="g8_newbab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0670" y="1143000"/>
            <a:ext cx="7660178" cy="44348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5760720"/>
            <a:ext cx="107899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22"/>
              </a:lnSpc>
              <a:spcAft>
                <a:spcPts val="0"/>
              </a:spcAft>
            </a:pPr>
            <a:r>
              <a:rPr sz="1350" b="1" i="0">
                <a:solidFill>
                  <a:srgbClr val="1F3864"/>
                </a:solidFill>
                <a:latin typeface="Garamond"/>
              </a:rPr>
              <a:t>Message.  </a:t>
            </a:r>
            <a:r>
              <a:rPr sz="1350" b="0" i="0">
                <a:solidFill>
                  <a:srgbClr val="1A2430"/>
                </a:solidFill>
                <a:latin typeface="Garamond"/>
              </a:rPr>
              <a:t>A new baby raises a woman teacher’s exit probability by 5.9 points, the largest effect among comparable professions.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163056"/>
            <a:ext cx="107899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22"/>
              </a:lnSpc>
              <a:spcAft>
                <a:spcPts val="0"/>
              </a:spcAft>
            </a:pPr>
            <a:r>
              <a:rPr sz="1350" b="1" i="0">
                <a:solidFill>
                  <a:srgbClr val="7B2530"/>
                </a:solidFill>
                <a:latin typeface="Garamond"/>
              </a:rPr>
              <a:t>Policy.  </a:t>
            </a:r>
            <a:r>
              <a:rPr sz="1350" b="0" i="0">
                <a:solidFill>
                  <a:srgbClr val="1A2430"/>
                </a:solidFill>
                <a:latin typeface="Garamond"/>
              </a:rPr>
              <a:t>Parental leave and childcare support target the largest single observable trigger.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155680" cy="56692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300" b="1">
                <a:solidFill>
                  <a:srgbClr val="1F3864"/>
                </a:solidFill>
                <a:latin typeface="Garamond"/>
              </a:rPr>
              <a:t>Leaving teaching and the unemployment rate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6B7480"/>
                </a:solidFill>
                <a:latin typeface="Garamond"/>
              </a:rPr>
              <a:t>30</a:t>
            </a:r>
          </a:p>
        </p:txBody>
      </p:sp>
      <p:pic>
        <p:nvPicPr>
          <p:cNvPr id="4" name="Picture 3" descr="n5_cyclica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09720"/>
            <a:ext cx="11064240" cy="41013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5760720"/>
            <a:ext cx="107899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22"/>
              </a:lnSpc>
              <a:spcAft>
                <a:spcPts val="0"/>
              </a:spcAft>
            </a:pPr>
            <a:r>
              <a:rPr sz="1350" b="1" i="0">
                <a:solidFill>
                  <a:srgbClr val="1F3864"/>
                </a:solidFill>
                <a:latin typeface="Garamond"/>
              </a:rPr>
              <a:t>Message.  </a:t>
            </a:r>
            <a:r>
              <a:rPr sz="1350" b="0" i="0">
                <a:solidFill>
                  <a:srgbClr val="1A2430"/>
                </a:solidFill>
                <a:latin typeface="Garamond"/>
              </a:rPr>
              <a:t>Exits into non-employment rise with unemployment; job-to-job exits do not.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163056"/>
            <a:ext cx="107899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22"/>
              </a:lnSpc>
              <a:spcAft>
                <a:spcPts val="0"/>
              </a:spcAft>
            </a:pPr>
            <a:r>
              <a:rPr sz="1350" b="1" i="0">
                <a:solidFill>
                  <a:srgbClr val="7B2530"/>
                </a:solidFill>
                <a:latin typeface="Garamond"/>
              </a:rPr>
              <a:t>Policy.  </a:t>
            </a:r>
            <a:r>
              <a:rPr sz="1350" b="0" i="0">
                <a:solidFill>
                  <a:srgbClr val="1A2430"/>
                </a:solidFill>
                <a:latin typeface="Garamond"/>
              </a:rPr>
              <a:t>Downturns intensify the non-employment route; support should be countercyclical.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155680" cy="56692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300" b="1">
                <a:solidFill>
                  <a:srgbClr val="1F3864"/>
                </a:solidFill>
                <a:latin typeface="Garamond"/>
              </a:rPr>
              <a:t>State-level cyclicality of leaving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6B7480"/>
                </a:solidFill>
                <a:latin typeface="Garamond"/>
              </a:rPr>
              <a:t>31</a:t>
            </a:r>
          </a:p>
        </p:txBody>
      </p:sp>
      <p:pic>
        <p:nvPicPr>
          <p:cNvPr id="4" name="Picture 3" descr="states_landscap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0758" y="1143000"/>
            <a:ext cx="9820002" cy="44348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5760720"/>
            <a:ext cx="107899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22"/>
              </a:lnSpc>
              <a:spcAft>
                <a:spcPts val="0"/>
              </a:spcAft>
            </a:pPr>
            <a:r>
              <a:rPr sz="1350" b="1" i="0">
                <a:solidFill>
                  <a:srgbClr val="1F3864"/>
                </a:solidFill>
                <a:latin typeface="Garamond"/>
              </a:rPr>
              <a:t>Message.  </a:t>
            </a:r>
            <a:r>
              <a:rPr sz="1350" b="0" i="0">
                <a:solidFill>
                  <a:srgbClr val="1A2430"/>
                </a:solidFill>
                <a:latin typeface="Garamond"/>
              </a:rPr>
              <a:t>States differ in how strongly teacher exits respond to the local cycle.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163056"/>
            <a:ext cx="107899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22"/>
              </a:lnSpc>
              <a:spcAft>
                <a:spcPts val="0"/>
              </a:spcAft>
            </a:pPr>
            <a:r>
              <a:rPr sz="1350" b="1" i="0">
                <a:solidFill>
                  <a:srgbClr val="7B2530"/>
                </a:solidFill>
                <a:latin typeface="Garamond"/>
              </a:rPr>
              <a:t>Policy.  </a:t>
            </a:r>
            <a:r>
              <a:rPr sz="1350" b="0" i="0">
                <a:solidFill>
                  <a:srgbClr val="1A2430"/>
                </a:solidFill>
                <a:latin typeface="Garamond"/>
              </a:rPr>
              <a:t>National averages hide state-level exposure to downturns.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155680" cy="56692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300" b="1">
                <a:solidFill>
                  <a:srgbClr val="1F3864"/>
                </a:solidFill>
                <a:latin typeface="Garamond"/>
              </a:rPr>
              <a:t>Attrition levels across states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6B7480"/>
                </a:solidFill>
                <a:latin typeface="Garamond"/>
              </a:rPr>
              <a:t>32</a:t>
            </a:r>
          </a:p>
        </p:txBody>
      </p:sp>
      <p:pic>
        <p:nvPicPr>
          <p:cNvPr id="4" name="Picture 3" descr="states_lev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177" y="1143000"/>
            <a:ext cx="10295164" cy="44348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5760720"/>
            <a:ext cx="107899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22"/>
              </a:lnSpc>
              <a:spcAft>
                <a:spcPts val="0"/>
              </a:spcAft>
            </a:pPr>
            <a:r>
              <a:rPr sz="1350" b="1" i="0">
                <a:solidFill>
                  <a:srgbClr val="1F3864"/>
                </a:solidFill>
                <a:latin typeface="Garamond"/>
              </a:rPr>
              <a:t>Message.  </a:t>
            </a:r>
            <a:r>
              <a:rPr sz="1350" b="0" i="0">
                <a:solidFill>
                  <a:srgbClr val="1A2430"/>
                </a:solidFill>
                <a:latin typeface="Garamond"/>
              </a:rPr>
              <a:t>Mean attrition of teachers under 55 ranges from about 4 to 13 percent across jurisdictions.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163056"/>
            <a:ext cx="107899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22"/>
              </a:lnSpc>
              <a:spcAft>
                <a:spcPts val="0"/>
              </a:spcAft>
            </a:pPr>
            <a:r>
              <a:rPr sz="1350" b="1" i="0">
                <a:solidFill>
                  <a:srgbClr val="7B2530"/>
                </a:solidFill>
                <a:latin typeface="Garamond"/>
              </a:rPr>
              <a:t>Policy.  </a:t>
            </a:r>
            <a:r>
              <a:rPr sz="1350" b="0" i="0">
                <a:solidFill>
                  <a:srgbClr val="1A2430"/>
                </a:solidFill>
                <a:latin typeface="Garamond"/>
              </a:rPr>
              <a:t>State pay scales, pensions and institutions are first-order.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155680" cy="56692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300" b="1">
                <a:solidFill>
                  <a:srgbClr val="1F3864"/>
                </a:solidFill>
                <a:latin typeface="Garamond"/>
              </a:rPr>
              <a:t>Real earnings growth by profession since 1997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6B7480"/>
                </a:solidFill>
                <a:latin typeface="Garamond"/>
              </a:rPr>
              <a:t>33</a:t>
            </a:r>
          </a:p>
        </p:txBody>
      </p:sp>
      <p:pic>
        <p:nvPicPr>
          <p:cNvPr id="4" name="Picture 3" descr="msgA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337" y="1143000"/>
            <a:ext cx="10756845" cy="44348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5760720"/>
            <a:ext cx="107899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22"/>
              </a:lnSpc>
              <a:spcAft>
                <a:spcPts val="0"/>
              </a:spcAft>
            </a:pPr>
            <a:r>
              <a:rPr sz="1350" b="1" i="0">
                <a:solidFill>
                  <a:srgbClr val="1F3864"/>
                </a:solidFill>
                <a:latin typeface="Garamond"/>
              </a:rPr>
              <a:t>Message.  </a:t>
            </a:r>
            <a:r>
              <a:rPr sz="1350" b="0" i="0">
                <a:solidFill>
                  <a:srgbClr val="1A2430"/>
                </a:solidFill>
                <a:latin typeface="Garamond"/>
              </a:rPr>
              <a:t>Teachers’ real median earnings fell 4 percent since 1997 while other graduates gained.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163056"/>
            <a:ext cx="107899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22"/>
              </a:lnSpc>
              <a:spcAft>
                <a:spcPts val="0"/>
              </a:spcAft>
            </a:pPr>
            <a:r>
              <a:rPr sz="1350" b="1" i="0">
                <a:solidFill>
                  <a:srgbClr val="7B2530"/>
                </a:solidFill>
                <a:latin typeface="Garamond"/>
              </a:rPr>
              <a:t>Policy.  </a:t>
            </a:r>
            <a:r>
              <a:rPr sz="1350" b="0" i="0">
                <a:solidFill>
                  <a:srgbClr val="1A2430"/>
                </a:solidFill>
                <a:latin typeface="Garamond"/>
              </a:rPr>
              <a:t>The relative-pay gap compounds slowly; it is a stock, not a shock.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155680" cy="56692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300" b="1">
                <a:solidFill>
                  <a:srgbClr val="1F3864"/>
                </a:solidFill>
                <a:latin typeface="Garamond"/>
              </a:rPr>
              <a:t>Leaving, by position in the teacher pay distribution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6B7480"/>
                </a:solidFill>
                <a:latin typeface="Garamond"/>
              </a:rPr>
              <a:t>34</a:t>
            </a:r>
          </a:p>
        </p:txBody>
      </p:sp>
      <p:pic>
        <p:nvPicPr>
          <p:cNvPr id="4" name="Picture 3" descr="pay3_deciles_d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5920" y="1143000"/>
            <a:ext cx="8869680" cy="44348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5760720"/>
            <a:ext cx="107899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22"/>
              </a:lnSpc>
              <a:spcAft>
                <a:spcPts val="0"/>
              </a:spcAft>
            </a:pPr>
            <a:r>
              <a:rPr sz="1350" b="1" i="0">
                <a:solidFill>
                  <a:srgbClr val="1F3864"/>
                </a:solidFill>
                <a:latin typeface="Garamond"/>
              </a:rPr>
              <a:t>Message.  </a:t>
            </a:r>
            <a:r>
              <a:rPr sz="1350" b="0" i="0">
                <a:solidFill>
                  <a:srgbClr val="1A2430"/>
                </a:solidFill>
                <a:latin typeface="Garamond"/>
              </a:rPr>
              <a:t>Leaving concentrates sharply in the lowest earnings deciles, mostly part-year teachers.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163056"/>
            <a:ext cx="107899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22"/>
              </a:lnSpc>
              <a:spcAft>
                <a:spcPts val="0"/>
              </a:spcAft>
            </a:pPr>
            <a:r>
              <a:rPr sz="1350" b="1" i="0">
                <a:solidFill>
                  <a:srgbClr val="7B2530"/>
                </a:solidFill>
                <a:latin typeface="Garamond"/>
              </a:rPr>
              <a:t>Policy.  </a:t>
            </a:r>
            <a:r>
              <a:rPr sz="1350" b="0" i="0">
                <a:solidFill>
                  <a:srgbClr val="1A2430"/>
                </a:solidFill>
                <a:latin typeface="Garamond"/>
              </a:rPr>
              <a:t>Stabilizing the bottom of the distribution buys the most retention.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155680" cy="56692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300" b="1">
                <a:solidFill>
                  <a:srgbClr val="1F3864"/>
                </a:solidFill>
                <a:latin typeface="Garamond"/>
              </a:rPr>
              <a:t>Pay compression: teachers and comparable professions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6B7480"/>
                </a:solidFill>
                <a:latin typeface="Garamond"/>
              </a:rPr>
              <a:t>35</a:t>
            </a:r>
          </a:p>
        </p:txBody>
      </p:sp>
      <p:pic>
        <p:nvPicPr>
          <p:cNvPr id="4" name="Picture 3" descr="pay5_compression_d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98454" y="1143000"/>
            <a:ext cx="7964610" cy="44348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5760720"/>
            <a:ext cx="107899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22"/>
              </a:lnSpc>
              <a:spcAft>
                <a:spcPts val="0"/>
              </a:spcAft>
            </a:pPr>
            <a:r>
              <a:rPr sz="1350" b="1" i="0">
                <a:solidFill>
                  <a:srgbClr val="1F3864"/>
                </a:solidFill>
                <a:latin typeface="Garamond"/>
              </a:rPr>
              <a:t>Message.  </a:t>
            </a:r>
            <a:r>
              <a:rPr sz="1350" b="0" i="0">
                <a:solidFill>
                  <a:srgbClr val="1A2430"/>
                </a:solidFill>
                <a:latin typeface="Garamond"/>
              </a:rPr>
              <a:t>Teacher pay is compressed: a 90/10 ratio of 2.6 against 5.1 for all other graduates.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163056"/>
            <a:ext cx="107899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22"/>
              </a:lnSpc>
              <a:spcAft>
                <a:spcPts val="0"/>
              </a:spcAft>
            </a:pPr>
            <a:r>
              <a:rPr sz="1350" b="1" i="0">
                <a:solidFill>
                  <a:srgbClr val="7B2530"/>
                </a:solidFill>
                <a:latin typeface="Garamond"/>
              </a:rPr>
              <a:t>Policy.  </a:t>
            </a:r>
            <a:r>
              <a:rPr sz="1350" b="0" i="0">
                <a:solidFill>
                  <a:srgbClr val="1A2430"/>
                </a:solidFill>
                <a:latin typeface="Garamond"/>
              </a:rPr>
              <a:t>Staying offers little earnings upside; career ladders would widen the right tail.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155680" cy="56692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300" b="1">
                <a:solidFill>
                  <a:srgbClr val="1F3864"/>
                </a:solidFill>
                <a:latin typeface="Garamond"/>
              </a:rPr>
              <a:t>The earnings change of leaving, by destination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6B7480"/>
                </a:solidFill>
                <a:latin typeface="Garamond"/>
              </a:rPr>
              <a:t>36</a:t>
            </a:r>
          </a:p>
        </p:txBody>
      </p:sp>
      <p:pic>
        <p:nvPicPr>
          <p:cNvPr id="4" name="Picture 3" descr="pay7_destinations_d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5920" y="1143000"/>
            <a:ext cx="8869680" cy="44348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5760720"/>
            <a:ext cx="107899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22"/>
              </a:lnSpc>
              <a:spcAft>
                <a:spcPts val="0"/>
              </a:spcAft>
            </a:pPr>
            <a:r>
              <a:rPr sz="1350" b="1" i="0">
                <a:solidFill>
                  <a:srgbClr val="1F3864"/>
                </a:solidFill>
                <a:latin typeface="Garamond"/>
              </a:rPr>
              <a:t>Message.  </a:t>
            </a:r>
            <a:r>
              <a:rPr sz="1350" b="0" i="0">
                <a:solidFill>
                  <a:srgbClr val="1A2430"/>
                </a:solidFill>
                <a:latin typeface="Garamond"/>
              </a:rPr>
              <a:t>Leavers who move to other professional jobs gain about 12 log points; moves near education gain little.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163056"/>
            <a:ext cx="107899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22"/>
              </a:lnSpc>
              <a:spcAft>
                <a:spcPts val="0"/>
              </a:spcAft>
            </a:pPr>
            <a:r>
              <a:rPr sz="1350" b="1" i="0">
                <a:solidFill>
                  <a:srgbClr val="7B2530"/>
                </a:solidFill>
                <a:latin typeface="Garamond"/>
              </a:rPr>
              <a:t>Policy.  </a:t>
            </a:r>
            <a:r>
              <a:rPr sz="1350" b="0" i="0">
                <a:solidFill>
                  <a:srgbClr val="1A2430"/>
                </a:solidFill>
                <a:latin typeface="Garamond"/>
              </a:rPr>
              <a:t>The outside option is real for those able to take it.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155680" cy="56692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300" b="1">
                <a:solidFill>
                  <a:srgbClr val="1F3864"/>
                </a:solidFill>
                <a:latin typeface="Garamond"/>
              </a:rPr>
              <a:t>Earnings changes: stayers and leavers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6B7480"/>
                </a:solidFill>
                <a:latin typeface="Garamond"/>
              </a:rPr>
              <a:t>37</a:t>
            </a:r>
          </a:p>
        </p:txBody>
      </p:sp>
      <p:pic>
        <p:nvPicPr>
          <p:cNvPr id="4" name="Picture 3" descr="g5b_earnings_dens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4123" y="1143000"/>
            <a:ext cx="8493273" cy="44348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5760720"/>
            <a:ext cx="107899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22"/>
              </a:lnSpc>
              <a:spcAft>
                <a:spcPts val="0"/>
              </a:spcAft>
            </a:pPr>
            <a:r>
              <a:rPr sz="1350" b="1" i="0">
                <a:solidFill>
                  <a:srgbClr val="1F3864"/>
                </a:solidFill>
                <a:latin typeface="Garamond"/>
              </a:rPr>
              <a:t>Message.  </a:t>
            </a:r>
            <a:r>
              <a:rPr sz="1350" b="0" i="0">
                <a:solidFill>
                  <a:srgbClr val="1A2430"/>
                </a:solidFill>
                <a:latin typeface="Garamond"/>
              </a:rPr>
              <a:t>For employed leavers the earnings change is a gamble: a quarter lose big, nearly half win big.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163056"/>
            <a:ext cx="107899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22"/>
              </a:lnSpc>
              <a:spcAft>
                <a:spcPts val="0"/>
              </a:spcAft>
            </a:pPr>
            <a:r>
              <a:rPr sz="1350" b="1" i="0">
                <a:solidFill>
                  <a:srgbClr val="7B2530"/>
                </a:solidFill>
                <a:latin typeface="Garamond"/>
              </a:rPr>
              <a:t>Policy.  </a:t>
            </a:r>
            <a:r>
              <a:rPr sz="1350" b="0" i="0">
                <a:solidFill>
                  <a:srgbClr val="1A2430"/>
                </a:solidFill>
                <a:latin typeface="Garamond"/>
              </a:rPr>
              <a:t>Leaving buys risk, not a sure raise.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155680" cy="56692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300" b="1">
                <a:solidFill>
                  <a:srgbClr val="1F3864"/>
                </a:solidFill>
                <a:latin typeface="Garamond"/>
              </a:rPr>
              <a:t>Pension coverage and leaving, across states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6B7480"/>
                </a:solidFill>
                <a:latin typeface="Garamond"/>
              </a:rPr>
              <a:t>38</a:t>
            </a:r>
          </a:p>
        </p:txBody>
      </p:sp>
      <p:pic>
        <p:nvPicPr>
          <p:cNvPr id="4" name="Picture 3" descr="pension_scatter_d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9687" y="1143000"/>
            <a:ext cx="7582145" cy="44348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5760720"/>
            <a:ext cx="107899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22"/>
              </a:lnSpc>
              <a:spcAft>
                <a:spcPts val="0"/>
              </a:spcAft>
            </a:pPr>
            <a:r>
              <a:rPr sz="1350" b="1" i="0">
                <a:solidFill>
                  <a:srgbClr val="1F3864"/>
                </a:solidFill>
                <a:latin typeface="Garamond"/>
              </a:rPr>
              <a:t>Message.  </a:t>
            </a:r>
            <a:r>
              <a:rPr sz="1350" b="0" i="0">
                <a:solidFill>
                  <a:srgbClr val="1A2430"/>
                </a:solidFill>
                <a:latin typeface="Garamond"/>
              </a:rPr>
              <a:t>Where pension coverage is higher, fewer teachers under 55 leave: 0.21 points per point of coverage.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163056"/>
            <a:ext cx="107899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22"/>
              </a:lnSpc>
              <a:spcAft>
                <a:spcPts val="0"/>
              </a:spcAft>
            </a:pPr>
            <a:r>
              <a:rPr sz="1350" b="1" i="0">
                <a:solidFill>
                  <a:srgbClr val="7B2530"/>
                </a:solidFill>
                <a:latin typeface="Garamond"/>
              </a:rPr>
              <a:t>Policy.  </a:t>
            </a:r>
            <a:r>
              <a:rPr sz="1350" b="0" i="0">
                <a:solidFill>
                  <a:srgbClr val="1A2430"/>
                </a:solidFill>
                <a:latin typeface="Garamond"/>
              </a:rPr>
              <a:t>Pension design is a measurable retention margin.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155680" cy="56692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300" b="1">
                <a:solidFill>
                  <a:srgbClr val="1F3864"/>
                </a:solidFill>
                <a:latin typeface="Garamond"/>
              </a:rPr>
              <a:t>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6B7480"/>
                </a:solidFill>
                <a:latin typeface="Garamond"/>
              </a:rPr>
              <a:t>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00200"/>
            <a:ext cx="10607040" cy="4846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240"/>
              </a:lnSpc>
              <a:spcAft>
                <a:spcPts val="2200"/>
              </a:spcAft>
            </a:pPr>
            <a:r>
              <a:rPr sz="1600" b="1" i="0">
                <a:solidFill>
                  <a:srgbClr val="1F3864"/>
                </a:solidFill>
                <a:latin typeface="Garamond"/>
              </a:rPr>
              <a:t>▸   </a:t>
            </a:r>
            <a:r>
              <a:rPr sz="1600" b="0" i="0">
                <a:solidFill>
                  <a:srgbClr val="1A2430"/>
                </a:solidFill>
                <a:latin typeface="Garamond"/>
              </a:rPr>
              <a:t>A labour force survey can measure teacher attrition at the person level, yearly, over three decades, and it replicates the official picture of the workforce.</a:t>
            </a:r>
          </a:p>
          <a:p>
            <a:pPr algn="l">
              <a:lnSpc>
                <a:spcPts val="2240"/>
              </a:lnSpc>
              <a:spcAft>
                <a:spcPts val="2200"/>
              </a:spcAft>
            </a:pPr>
            <a:r>
              <a:rPr sz="1600" b="1" i="0">
                <a:solidFill>
                  <a:srgbClr val="1F3864"/>
                </a:solidFill>
                <a:latin typeface="Garamond"/>
              </a:rPr>
              <a:t>▸   </a:t>
            </a:r>
            <a:r>
              <a:rPr sz="1600" b="0" i="0">
                <a:solidFill>
                  <a:srgbClr val="1A2430"/>
                </a:solidFill>
                <a:latin typeface="Garamond"/>
              </a:rPr>
              <a:t>The definition of a leaver is a first-order choice: the same records yield rates from 5 to 19 percent per year.</a:t>
            </a:r>
          </a:p>
          <a:p>
            <a:pPr algn="l">
              <a:lnSpc>
                <a:spcPts val="2240"/>
              </a:lnSpc>
              <a:spcAft>
                <a:spcPts val="2200"/>
              </a:spcAft>
            </a:pPr>
            <a:r>
              <a:rPr sz="1600" b="1" i="0">
                <a:solidFill>
                  <a:srgbClr val="1F3864"/>
                </a:solidFill>
                <a:latin typeface="Garamond"/>
              </a:rPr>
              <a:t>▸   </a:t>
            </a:r>
            <a:r>
              <a:rPr sz="1600" b="0" i="0">
                <a:solidFill>
                  <a:srgbClr val="1A2430"/>
                </a:solidFill>
                <a:latin typeface="Garamond"/>
              </a:rPr>
              <a:t>What the data say: attachment, pay and pensions, and life-cycle events correlate with leaving; demographics much less.</a:t>
            </a:r>
          </a:p>
          <a:p>
            <a:pPr algn="l">
              <a:lnSpc>
                <a:spcPts val="2240"/>
              </a:lnSpc>
              <a:spcAft>
                <a:spcPts val="0"/>
              </a:spcAft>
            </a:pPr>
            <a:r>
              <a:rPr sz="1600" b="1" i="0">
                <a:solidFill>
                  <a:srgbClr val="1F3864"/>
                </a:solidFill>
                <a:latin typeface="Garamond"/>
              </a:rPr>
              <a:t>▸   </a:t>
            </a:r>
            <a:r>
              <a:rPr sz="1600" b="0" i="0">
                <a:solidFill>
                  <a:srgbClr val="1A2430"/>
                </a:solidFill>
                <a:latin typeface="Garamond"/>
              </a:rPr>
              <a:t>The design travels: the same construction is feasible in the labour force surveys of Italy, Germany, the UK, France, Spain, Brazil and Mexico.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