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slide" Target="slide45.xml"/><Relationship Id="rId5"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slide" Target="slide44.xml"/><Relationship Id="rId4"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9.xml"/><Relationship Id="rId4" Type="http://schemas.openxmlformats.org/officeDocument/2006/relationships/slide" Target="slide50.xml"/><Relationship Id="rId5" Type="http://schemas.openxmlformats.org/officeDocument/2006/relationships/slide" Target="slide51.xml"/><Relationship Id="rId6" Type="http://schemas.openxmlformats.org/officeDocument/2006/relationships/slide" Target="slide5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20.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3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slide" Target="slide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slide" Target="slide2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In a normal month the CPS interviews about 50,000 households; in March the supplement adds some 20,000 more, interviewed in February and April — about 70,000 households in all.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counts as a teacher?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822960" y="1417320"/>
            <a:ext cx="10789920" cy="1828800"/>
          </a:xfrm>
          <a:prstGeom prst="rect">
            <a:avLst/>
          </a:prstGeom>
          <a:noFill/>
        </p:spPr>
        <p:txBody>
          <a:bodyPr wrap="square" lIns="0" rIns="0" tIns="0" bIns="0">
            <a:spAutoFit/>
          </a:bodyPr>
          <a:lstStyle/>
          <a:p>
            <a:pPr algn="l">
              <a:lnSpc>
                <a:spcPts val="2560"/>
              </a:lnSpc>
              <a:spcAft>
                <a:spcPts val="1000"/>
              </a:spcAft>
            </a:pPr>
            <a:r>
              <a:rPr sz="2000" b="1" i="0">
                <a:solidFill>
                  <a:srgbClr val="2D6CB5"/>
                </a:solidFill>
                <a:latin typeface="Garamond"/>
              </a:rPr>
              <a:t>▪  </a:t>
            </a:r>
            <a:r>
              <a:rPr sz="2000" b="0" i="0">
                <a:solidFill>
                  <a:srgbClr val="212529"/>
                </a:solidFill>
                <a:latin typeface="Garamond"/>
              </a:rPr>
              <a:t>The census assigns every worker a detailed occupation code for the job held longest last year. We count as a teacher anyone classified in one of the five school-teaching categories:</a:t>
            </a:r>
          </a:p>
        </p:txBody>
      </p:sp>
      <p:sp>
        <p:nvSpPr>
          <p:cNvPr id="5" name="TextBox 4"/>
          <p:cNvSpPr txBox="1"/>
          <p:nvPr/>
        </p:nvSpPr>
        <p:spPr>
          <a:xfrm>
            <a:off x="1417320" y="2542032"/>
            <a:ext cx="10058400" cy="2011680"/>
          </a:xfrm>
          <a:prstGeom prst="rect">
            <a:avLst/>
          </a:prstGeom>
          <a:noFill/>
        </p:spPr>
        <p:txBody>
          <a:bodyPr wrap="square" lIns="0" rIns="0" tIns="0" bIns="0">
            <a:spAutoFit/>
          </a:bodyPr>
          <a:lstStyle/>
          <a:p>
            <a:pPr algn="l">
              <a:lnSpc>
                <a:spcPts val="2432"/>
              </a:lnSpc>
              <a:spcAft>
                <a:spcPts val="600"/>
              </a:spcAft>
            </a:pPr>
            <a:r>
              <a:rPr sz="1900" b="1" i="0">
                <a:solidFill>
                  <a:srgbClr val="102D5E"/>
                </a:solidFill>
                <a:latin typeface="Garamond"/>
              </a:rPr>
              <a:t>(a)  </a:t>
            </a:r>
            <a:r>
              <a:rPr sz="1900" b="0" i="0">
                <a:solidFill>
                  <a:srgbClr val="212529"/>
                </a:solidFill>
                <a:latin typeface="Garamond"/>
              </a:rPr>
              <a:t>Preschool and kindergarten teachers</a:t>
            </a:r>
          </a:p>
          <a:p>
            <a:pPr algn="l">
              <a:lnSpc>
                <a:spcPts val="2432"/>
              </a:lnSpc>
              <a:spcAft>
                <a:spcPts val="600"/>
              </a:spcAft>
            </a:pPr>
            <a:r>
              <a:rPr sz="1900" b="1" i="0">
                <a:solidFill>
                  <a:srgbClr val="102D5E"/>
                </a:solidFill>
                <a:latin typeface="Garamond"/>
              </a:rPr>
              <a:t>(b)  </a:t>
            </a:r>
            <a:r>
              <a:rPr sz="1900" b="0" i="0">
                <a:solidFill>
                  <a:srgbClr val="212529"/>
                </a:solidFill>
                <a:latin typeface="Garamond"/>
              </a:rPr>
              <a:t>Elementary and middle school teachers</a:t>
            </a:r>
          </a:p>
          <a:p>
            <a:pPr algn="l">
              <a:lnSpc>
                <a:spcPts val="2432"/>
              </a:lnSpc>
              <a:spcAft>
                <a:spcPts val="600"/>
              </a:spcAft>
            </a:pPr>
            <a:r>
              <a:rPr sz="1900" b="1" i="0">
                <a:solidFill>
                  <a:srgbClr val="102D5E"/>
                </a:solidFill>
                <a:latin typeface="Garamond"/>
              </a:rPr>
              <a:t>(c)  </a:t>
            </a:r>
            <a:r>
              <a:rPr sz="1900" b="0" i="0">
                <a:solidFill>
                  <a:srgbClr val="212529"/>
                </a:solidFill>
                <a:latin typeface="Garamond"/>
              </a:rPr>
              <a:t>Secondary school teachers</a:t>
            </a:r>
          </a:p>
          <a:p>
            <a:pPr algn="l">
              <a:lnSpc>
                <a:spcPts val="2432"/>
              </a:lnSpc>
              <a:spcAft>
                <a:spcPts val="600"/>
              </a:spcAft>
            </a:pPr>
            <a:r>
              <a:rPr sz="1900" b="1" i="0">
                <a:solidFill>
                  <a:srgbClr val="102D5E"/>
                </a:solidFill>
                <a:latin typeface="Garamond"/>
              </a:rPr>
              <a:t>(d)  </a:t>
            </a:r>
            <a:r>
              <a:rPr sz="1900" b="0" i="0">
                <a:solidFill>
                  <a:srgbClr val="212529"/>
                </a:solidFill>
                <a:latin typeface="Garamond"/>
              </a:rPr>
              <a:t>Special education teachers</a:t>
            </a:r>
          </a:p>
          <a:p>
            <a:pPr algn="l">
              <a:lnSpc>
                <a:spcPts val="2432"/>
              </a:lnSpc>
              <a:spcAft>
                <a:spcPts val="600"/>
              </a:spcAft>
            </a:pPr>
            <a:r>
              <a:rPr sz="1900" b="1" i="0">
                <a:solidFill>
                  <a:srgbClr val="102D5E"/>
                </a:solidFill>
                <a:latin typeface="Garamond"/>
              </a:rPr>
              <a:t>(e)  </a:t>
            </a:r>
            <a:r>
              <a:rPr sz="1900" b="0" i="0">
                <a:solidFill>
                  <a:srgbClr val="212529"/>
                </a:solidFill>
                <a:latin typeface="Garamond"/>
              </a:rPr>
              <a:t>Other teachers and instructors</a:t>
            </a:r>
          </a:p>
        </p:txBody>
      </p:sp>
      <p:sp>
        <p:nvSpPr>
          <p:cNvPr id="6" name="TextBox 5"/>
          <p:cNvSpPr txBox="1"/>
          <p:nvPr/>
        </p:nvSpPr>
        <p:spPr>
          <a:xfrm>
            <a:off x="822960" y="4892040"/>
            <a:ext cx="10789920" cy="1188720"/>
          </a:xfrm>
          <a:prstGeom prst="rect">
            <a:avLst/>
          </a:prstGeom>
          <a:noFill/>
        </p:spPr>
        <p:txBody>
          <a:bodyPr wrap="square" lIns="0" rIns="0" tIns="0" bIns="0">
            <a:spAutoFit/>
          </a:bodyPr>
          <a:lstStyle/>
          <a:p>
            <a:pPr algn="l">
              <a:lnSpc>
                <a:spcPts val="2560"/>
              </a:lnSpc>
              <a:spcAft>
                <a:spcPts val="0"/>
              </a:spcAft>
            </a:pPr>
            <a:r>
              <a:rPr sz="2000" b="1" i="0">
                <a:solidFill>
                  <a:srgbClr val="2D6CB5"/>
                </a:solidFill>
                <a:latin typeface="Garamond"/>
              </a:rPr>
              <a:t>▪  </a:t>
            </a:r>
            <a:r>
              <a:rPr sz="2000" b="0" i="0">
                <a:solidFill>
                  <a:srgbClr val="212529"/>
                </a:solidFill>
                <a:latin typeface="Garamond"/>
              </a:rPr>
              <a:t>Our results are robust to this boundary: dropping special education teachers (d) and the residual category (e) moves the 1997–2024 average leaving rate from 8.6 to 8.7.</a:t>
            </a:r>
          </a:p>
        </p:txBody>
      </p:sp>
      <p:sp>
        <p:nvSpPr>
          <p:cNvPr id="7" name="Rounded Rectangle 6">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1920"/>
              </a:lnSpc>
              <a:spcAft>
                <a:spcPts val="1300"/>
              </a:spcAft>
            </a:pPr>
            <a:r>
              <a:rPr sz="1500" b="1" i="0">
                <a:solidFill>
                  <a:srgbClr val="2D6CB5"/>
                </a:solidFill>
                <a:latin typeface="Garamond"/>
              </a:rPr>
              <a:t>1.   </a:t>
            </a:r>
            <a:r>
              <a:rPr sz="1500" b="0" i="0">
                <a:solidFill>
                  <a:srgbClr val="212529"/>
                </a:solidFill>
                <a:latin typeface="Garamond"/>
              </a:rPr>
              <a:t>Individual matching errors: the sex–race–age check discards ~5% of links; a same-profile replacement slipping through is not measurable.</a:t>
            </a:r>
          </a:p>
          <a:p>
            <a:pPr algn="l">
              <a:lnSpc>
                <a:spcPts val="1920"/>
              </a:lnSpc>
              <a:spcAft>
                <a:spcPts val="1300"/>
              </a:spcAft>
            </a:pPr>
            <a:r>
              <a:rPr sz="1500" b="1" i="0">
                <a:solidFill>
                  <a:srgbClr val="2D6CB5"/>
                </a:solidFill>
                <a:latin typeface="Garamond"/>
              </a:rPr>
              <a:t>2.   </a:t>
            </a:r>
            <a:r>
              <a:rPr sz="1500" b="0" i="0">
                <a:solidFill>
                  <a:srgbClr val="212529"/>
                </a:solidFill>
                <a:latin typeface="Garamond"/>
              </a:rPr>
              <a:t>Internal migration: ~8% a year — the address responds but the person has moved (the Census mover rate is 8%).</a:t>
            </a:r>
          </a:p>
          <a:p>
            <a:pPr algn="l">
              <a:lnSpc>
                <a:spcPts val="1920"/>
              </a:lnSpc>
              <a:spcAft>
                <a:spcPts val="1300"/>
              </a:spcAft>
            </a:pPr>
            <a:r>
              <a:rPr sz="1500" b="1" i="0">
                <a:solidFill>
                  <a:srgbClr val="2D6CB5"/>
                </a:solidFill>
                <a:latin typeface="Garamond"/>
              </a:rPr>
              <a:t>3.   </a:t>
            </a:r>
            <a:r>
              <a:rPr sz="1500" b="0" i="0">
                <a:solidFill>
                  <a:srgbClr val="212529"/>
                </a:solidFill>
                <a:latin typeface="Garamond"/>
              </a:rPr>
              <a:t>Normal survey attrition: ~10% a year — the address is due for re-interview but never responds again (7% in 2015, 12% in 2023).</a:t>
            </a:r>
          </a:p>
          <a:p>
            <a:pPr algn="l">
              <a:lnSpc>
                <a:spcPts val="1920"/>
              </a:lnSpc>
              <a:spcAft>
                <a:spcPts val="1300"/>
              </a:spcAft>
            </a:pPr>
            <a:r>
              <a:rPr sz="1500" b="1" i="0">
                <a:solidFill>
                  <a:srgbClr val="2D6CB5"/>
                </a:solidFill>
                <a:latin typeface="Garamond"/>
              </a:rPr>
              <a:t>4.   </a:t>
            </a:r>
            <a:r>
              <a:rPr sz="1500" b="0" i="0">
                <a:solidFill>
                  <a:srgbClr val="212529"/>
                </a:solidFill>
                <a:latin typeface="Garamond"/>
              </a:rPr>
              <a:t>Strong seasonality in teaching.</a:t>
            </a:r>
          </a:p>
          <a:p>
            <a:pPr algn="l">
              <a:lnSpc>
                <a:spcPts val="1920"/>
              </a:lnSpc>
              <a:spcAft>
                <a:spcPts val="0"/>
              </a:spcAft>
            </a:pPr>
            <a:r>
              <a:rPr sz="1500" b="1" i="0">
                <a:solidFill>
                  <a:srgbClr val="2D6CB5"/>
                </a:solidFill>
                <a:latin typeface="Garamond"/>
              </a:rPr>
              <a:t>5.   </a:t>
            </a:r>
            <a:r>
              <a:rPr sz="15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Using only March, we observe ~4,000 teachers a year, once each. Using all twelve months we would observe ~11,000 teachers, three times each — but the retrospective questions that define the leaving rate are only asked in March.</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
        <p:nvSpPr>
          <p:cNvPr id="7" name="Rounded Rectangle 6">
            <a:hlinkClick action="ppaction://hlinksldjump" r:id="rId4"/>
          </p:cNvPr>
          <p:cNvSpPr/>
          <p:nvPr/>
        </p:nvSpPr>
        <p:spPr>
          <a:xfrm>
            <a:off x="3236061"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
        <p:nvSpPr>
          <p:cNvPr id="6" name="Rounded Rectangle 5">
            <a:hlinkClick action="ppaction://hlinksldjump" r:id="rId3"/>
          </p:cNvPr>
          <p:cNvSpPr/>
          <p:nvPr/>
        </p:nvSpPr>
        <p:spPr>
          <a:xfrm>
            <a:off x="82296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Pooled 1997–24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bygroup.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 </a:t>
            </a:r>
            <a:r>
              <a:rPr sz="1800" b="0" i="0">
                <a:solidFill>
                  <a:srgbClr val="6B7480"/>
                </a:solidFill>
                <a:latin typeface="Garamond"/>
              </a:rPr>
              <a:t>(out of the labor force, over 55)</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 </a:t>
            </a:r>
            <a:r>
              <a:rPr sz="1800" b="0" i="0">
                <a:solidFill>
                  <a:srgbClr val="6B7480"/>
                </a:solidFill>
                <a:latin typeface="Garamond"/>
              </a:rPr>
              <a:t>(employed in another job)</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 </a:t>
            </a:r>
            <a:r>
              <a:rPr sz="1800" b="0" i="0">
                <a:solidFill>
                  <a:srgbClr val="6B7480"/>
                </a:solidFill>
                <a:latin typeface="Garamond"/>
              </a:rPr>
              <a:t>(out of the labor force, under 55)</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cascade,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flow_olf55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(6,931 leavers) the picture is the same: 29 of every 100 leavers exit the labor force before 55, and 53% of them are mothers with a child at home (15 of the 29). The five-year window is not driving the composition.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same flow, pooled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pic>
        <p:nvPicPr>
          <p:cNvPr id="4" name="Picture 3" descr="flow_employed_pooled.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Over the whole period 1997–2024 (6,866 leavers, destination groups mapped across the 1990 and 2002/2010/2018 classifications) the composition barely moves: 27 to another job, 33 retired, 28 out of the labor force before 55 and 12 unemployed; the employed split is 22 / 8 / 30 / 40 percent. The five-year window is not driving the picture.</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three core codes moves the 1997–2024 average from 8.6 to 8.7.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51</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52</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