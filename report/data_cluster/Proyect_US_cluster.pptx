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GUION. En este gráfico veis cuatro líneas y unos puntos. Cada línea es una forma distinta de medir lo mismo, calculada sobre los mismos registros del CPS, de la menos estricta a la más precisa. Los puntos son la referencia nacional, el Teacher Follow-up Survey del NCES (8,0 en su última ola).</a:t>
            </a:r>
          </a:p>
          <a:p/>
          <a:p>
            <a:r>
              <a:t>ANY SIGHTING (~18): entra cualquiera visto enseñando en una sola entrevista del año 1. Más del doble de la referencia por tres causas: (1) dominante, a quién deja entrar un solo avistamiento — sustitutos y spells de un mes; gradiente medido: vistos una vez abandonan al 55%, dos al 30, tres al 17, cuatro al 11; (2) un solo mes de código de ocupación es ruidoso; (3) la estacionalidad pesa poco: solo-verano es ~3% de estos leavers.</a:t>
            </a:r>
          </a:p>
          <a:p/>
          <a:p>
            <a:r>
              <a:t>MONTH PAIRS (~15): la unidad es el par mes-mes+12, no la persona; la misma persona puede contar como leaver en un par y stayer en otro. La caída de tres puntos hasta la siguiente línea es lo que se gana imponiendo un veredicto por persona.</a:t>
            </a:r>
          </a:p>
          <a:p/>
          <a:p>
            <a:r>
              <a:t>PANEL (~13): una persona, un veredicto (profesor si enseña en 2+ entrevistas del año 1; leaver solo si nunca enseña en el año 2, con 2+ entrevistas, una fuera del verano). Queda 4-5 puntos sobre el recall por dos razones: (1) concepto de año puntual — quien enseñó casi todo el año pero no en esas entrevistas cuenta como leaver; (2) retornos — uno de cada seis leavers del panel vuelve a enseñar en tres meses; la medida anual los absorbe.</a:t>
            </a:r>
          </a:p>
          <a:p/>
          <a:p>
            <a:r>
              <a:t>ANNUAL RECALL (8,6): empleo más largo del año anterior y ya no enseña en marzo. Comparte concepto con la encuesta oficial (empleo principal del año) y por eso aterriza junto a los puntos. Su riesgo propio: error de recuerdo.</a:t>
            </a:r>
          </a:p>
          <a:p/>
          <a:p>
            <a:r>
              <a:t>EJE: el recall empieza en 1997 (suplementos armonizados desde 1998); las líneas de panel empiezan en 2005 porque el identificador de hogar solo es único desde mayo de 2004.</a:t>
            </a:r>
          </a:p>
          <a:p/>
          <a:p>
            <a:r>
              <a:t>CIERRE: ninguna línea es 'la correcta'; cada construcción responde a una pregunta distinta. Si construyes tu variable de abandono desde una encuesta porque el registro administrativo no es accesible, debes saber qué elección tomas y qué le hace a tu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050"/>
              </a:lnSpc>
              <a:spcAft>
                <a:spcPts val="600"/>
              </a:spcAft>
            </a:pPr>
            <a:r>
              <a:rPr sz="3000" b="1" i="0">
                <a:solidFill>
                  <a:srgbClr val="26456E"/>
                </a:solidFill>
                <a:latin typeface="Garamond"/>
              </a:rPr>
              <a:t>Measuring Teacher Attrition with Labour Force Survey Data</a:t>
            </a:r>
          </a:p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000" b="1" i="0">
                <a:solidFill>
                  <a:srgbClr val="26456E"/>
                </a:solidFill>
                <a:latin typeface="Garamond"/>
              </a:rPr>
              <a:t>The Case of the United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0332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José Elías Durán Roa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Garamond"/>
              </a:rPr>
              <a:t>Data Cluster · Directorate for Education and Skills</a:t>
            </a:r>
          </a:p>
        </p:txBody>
      </p:sp>
      <p:pic>
        <p:nvPicPr>
          <p:cNvPr id="6" name="Picture 5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167" y="5120640"/>
            <a:ext cx="1737360" cy="44157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Why this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95"/>
              </a:lnSpc>
              <a:spcAft>
                <a:spcPts val="2000"/>
              </a:spcAft>
            </a:pPr>
            <a:r>
              <a:rPr sz="1700" b="0" i="0">
                <a:solidFill>
                  <a:srgbClr val="1A2430"/>
                </a:solidFill>
                <a:latin typeface="Garamond"/>
              </a:rPr>
              <a:t>•  Research on the decision to leave teaching needs a person-level leave-or-stay outcome linked to rich covariates: family events, pay, hours, pension coverage, destinations after exit.</a:t>
            </a:r>
          </a:p>
          <a:p>
            <a:pPr algn="l">
              <a:lnSpc>
                <a:spcPts val="2295"/>
              </a:lnSpc>
              <a:spcAft>
                <a:spcPts val="2000"/>
              </a:spcAft>
            </a:pPr>
            <a:r>
              <a:rPr sz="1700" b="0" i="0">
                <a:solidFill>
                  <a:srgbClr val="1A2430"/>
                </a:solidFill>
                <a:latin typeface="Garamond"/>
              </a:rPr>
              <a:t>•  Administrative records count leavers best, but they are often inaccessible, cover one state and the public sector only, and carry few covariates.</a:t>
            </a:r>
          </a:p>
          <a:p>
            <a:pPr algn="l">
              <a:lnSpc>
                <a:spcPts val="2295"/>
              </a:lnSpc>
              <a:spcAft>
                <a:spcPts val="0"/>
              </a:spcAft>
            </a:pPr>
            <a:r>
              <a:rPr sz="1700" b="0" i="0">
                <a:solidFill>
                  <a:srgbClr val="1A2430"/>
                </a:solidFill>
                <a:latin typeface="Garamond"/>
              </a:rPr>
              <a:t>•  Large household surveys are the accessible alternative. Using them well requires knowing the measurement choices they impose — and what each choice does to the estimate.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1.  A user's guide.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A systematic account of the choices involved in constructing a leaving rate from a longitudinal household survey — linking individuals, defining a leaver — the error each choice introduces, its direction, and how much it moves the estimate.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2.  An implementation.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The guide applied to twenty-eight years of the Current Population Survey, benchmarked against the national reference on both the composition of the workforce and the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3.  A demonstration.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What a survey-based outcome permits that records rarely do: the correlates of leaving, the destinations of leavers, and the heterogeneity across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Where do the official statistics come from?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95"/>
              </a:lnSpc>
              <a:spcAft>
                <a:spcPts val="2000"/>
              </a:spcAft>
            </a:pPr>
            <a:r>
              <a:rPr sz="1700" b="0" i="0">
                <a:solidFill>
                  <a:srgbClr val="1A2430"/>
                </a:solidFill>
                <a:latin typeface="Garamond"/>
              </a:rPr>
              <a:t>•  The national reference is the NCES Teacher Follow-up Survey: itself a sample survey, run in occasional waves — eight since 1988–89 — and published with a lag.</a:t>
            </a:r>
          </a:p>
          <a:p>
            <a:pPr algn="l">
              <a:lnSpc>
                <a:spcPts val="2295"/>
              </a:lnSpc>
              <a:spcAft>
                <a:spcPts val="2000"/>
              </a:spcAft>
            </a:pPr>
            <a:r>
              <a:rPr sz="1700" b="0" i="0">
                <a:solidFill>
                  <a:srgbClr val="1A2430"/>
                </a:solidFill>
                <a:latin typeface="Garamond"/>
              </a:rPr>
              <a:t>•  Truly administrative data exist only state by state (longitudinal data systems, pension registers): public sector only, and they measure exit from the state school system, not from the profession.</a:t>
            </a:r>
          </a:p>
          <a:p>
            <a:pPr algn="l">
              <a:lnSpc>
                <a:spcPts val="2295"/>
              </a:lnSpc>
              <a:spcAft>
                <a:spcPts val="0"/>
              </a:spcAft>
            </a:pPr>
            <a:r>
              <a:rPr sz="1700" b="0" i="0">
                <a:solidFill>
                  <a:srgbClr val="1A2430"/>
                </a:solidFill>
                <a:latin typeface="Garamond"/>
              </a:rPr>
              <a:t>•  There is no national administrative count. Every national number is survey-based; the question is how the survey is used.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CPS replicates the official picture, every year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554480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297680" y="1645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CPS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6459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NTPS (official)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16459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Difference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029968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13969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39696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every year, 1997–2024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1396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occasional waves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542032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2615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0"/>
              </a:spcAft>
            </a:pPr>
            <a:r>
              <a:rPr sz="1150" b="0" i="1">
                <a:solidFill>
                  <a:srgbClr val="6B7480"/>
                </a:solidFill>
                <a:latin typeface="Garamond"/>
              </a:rPr>
              <a:t>Example wave: 2020–21, the latest NTPS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96265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Female (%)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962656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75.5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96265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76.8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62656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−1.3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4670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Master’s degree or higher (%)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4670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57.0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34670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61.0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3346704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−4.0 ***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73075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Average age (years)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7307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44.0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73075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42.9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73075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+1.1 ***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4133087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422452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Teachers observed in the wave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22452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3,855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422452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39,633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2960" y="4608576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22960" y="4773168"/>
            <a:ext cx="1054303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485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Garamond"/>
              </a:rPr>
              <a:t>Public school teachers. CPS: supplements of 2021–2022, weighted. NTPS 2020–21 (NCES 2022-113; Digest of Education Statistics, table 209.10; respondent count from NCES 2024-024). Stars test the CPS mean against the published NTPS estimate, design-adjusted standard errors: *** p&lt;0.001; the female share does not differ significantly.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06440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Full sample:  </a:t>
            </a:r>
            <a:r>
              <a:rPr sz="1350" b="1" i="0">
                <a:solidFill>
                  <a:srgbClr val="1F3864"/>
                </a:solidFill>
                <a:latin typeface="Garamond"/>
              </a:rPr>
              <a:t>5.0 million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 person-year records, 1998–2025;  </a:t>
            </a:r>
            <a:r>
              <a:rPr sz="1350" b="1" i="0">
                <a:solidFill>
                  <a:srgbClr val="1F3864"/>
                </a:solidFill>
                <a:latin typeface="Garamond"/>
              </a:rPr>
              <a:t>104,545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 teacher observations;  </a:t>
            </a:r>
            <a:r>
              <a:rPr sz="1350" b="1" i="0">
                <a:solidFill>
                  <a:srgbClr val="1F3864"/>
                </a:solidFill>
                <a:latin typeface="Garamond"/>
              </a:rPr>
              <a:t>48,842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 teachers followed in the linked panel.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402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interviewed 4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2402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55"/>
              </a:lnSpc>
              <a:spcAft>
                <a:spcPts val="0"/>
              </a:spcAft>
            </a:pPr>
            <a:r>
              <a:rPr sz="1300" b="0" i="1">
                <a:solidFill>
                  <a:srgbClr val="6B7480"/>
                </a:solidFill>
                <a:latin typeface="Garamond"/>
              </a:rPr>
              <a:t>8 months out of the sample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402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7B2530"/>
                </a:solidFill>
                <a:latin typeface="Garamond"/>
              </a:rPr>
              <a:t>interviewed 4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5176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481899" y="265176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0839" y="265176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9778" y="265176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8718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7657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76597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35536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4476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53415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12354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294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30234" y="265176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89173" y="265176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48113" y="265176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07052" y="265176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27355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Mar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9778" y="327355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Jun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0234" y="327355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Mar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07052" y="327355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Jun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58444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year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0234" y="358444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year 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52429" y="4160520"/>
            <a:ext cx="7907274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71600" y="43159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the same interview, exactly twelve months later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March supplement (ASEC)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430"/>
              </a:lnSpc>
              <a:spcAft>
                <a:spcPts val="2000"/>
              </a:spcAft>
            </a:pPr>
            <a:r>
              <a:rPr sz="1800" b="0" i="0">
                <a:solidFill>
                  <a:srgbClr val="1A2430"/>
                </a:solidFill>
                <a:latin typeface="Garamond"/>
              </a:rPr>
              <a:t>•  The largest supplement of the CPS: the March sample is expanded to roughly 90,000 households.</a:t>
            </a:r>
          </a:p>
          <a:p>
            <a:pPr algn="l">
              <a:lnSpc>
                <a:spcPts val="2430"/>
              </a:lnSpc>
              <a:spcAft>
                <a:spcPts val="2000"/>
              </a:spcAft>
            </a:pPr>
            <a:r>
              <a:rPr sz="1800" b="0" i="0">
                <a:solidFill>
                  <a:srgbClr val="1A2430"/>
                </a:solidFill>
                <a:latin typeface="Garamond"/>
              </a:rPr>
              <a:t>•  Every adult reports on the previous calendar year: longest job held, weeks worked, earnings, benefits.</a:t>
            </a:r>
          </a:p>
          <a:p>
            <a:pPr algn="l">
              <a:lnSpc>
                <a:spcPts val="2430"/>
              </a:lnSpc>
              <a:spcAft>
                <a:spcPts val="0"/>
              </a:spcAft>
            </a:pPr>
            <a:r>
              <a:rPr sz="1800" b="0" i="0">
                <a:solidFill>
                  <a:srgbClr val="1A2430"/>
                </a:solidFill>
                <a:latin typeface="Garamond"/>
              </a:rPr>
              <a:t>•  We use it to reconstruct the leaving rate.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de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98" y="228599"/>
            <a:ext cx="11376355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Two ways to measure the leaving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Follow the person, year to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890"/>
              </a:lnSpc>
              <a:spcAft>
                <a:spcPts val="10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The rotation shows the same individual twelve months apart. The CPS has no person identifier, so records are linked on fields common to both years: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household identifier</a:t>
            </a:r>
          </a:p>
          <a:p>
            <a:pPr algn="l">
              <a:lnSpc>
                <a:spcPts val="1890"/>
              </a:lnSpc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dwelling identifier</a:t>
            </a:r>
          </a:p>
          <a:p>
            <a:pPr algn="l">
              <a:lnSpc>
                <a:spcPts val="1890"/>
              </a:lnSpc>
              <a:spcAft>
                <a:spcPts val="10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person line number within the household</a:t>
            </a:r>
          </a:p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Garamond"/>
              </a:rPr>
              <a:t>validated on sex, race, and age advancing 0–2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Ask about last year, each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890"/>
              </a:lnSpc>
              <a:spcAft>
                <a:spcPts val="12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The supplement’s retrospective question. Whoever reports teaching as last year’s longest job, and no longer teaches at the March interview, left within the year.</a:t>
            </a:r>
          </a:p>
          <a:p>
            <a:pPr algn="just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Garamond"/>
              </a:rPr>
              <a:t>The measure used in the literature so far.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Measuring the leaving rate: the alternatives, side by side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554480"/>
            <a:ext cx="10607040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645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A teacher is…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64592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A leaver is…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16459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Rests on…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011680"/>
            <a:ext cx="10607040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157984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Annual 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57984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whoever taught as last year’s longest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157984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no longer teaching at the March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157984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accurate recall of the previous 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90672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Occupation pair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090672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 teaching occupation code one year ago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090672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 different occupation code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90672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 current code existing; fails for the non-employed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023360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1" i="0">
                <a:solidFill>
                  <a:srgbClr val="1F3864"/>
                </a:solidFill>
                <a:latin typeface="Garamond"/>
              </a:rPr>
              <a:t>Panel (benchmark)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0233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teaching in two or more year-1 interviews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0233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never teaching in year 2, given two or more interviews, one outside the summer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correct linkage of persons across waves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956048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Month pairs, any sighting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956048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every teaching month, or a single sighting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956048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not teaching twelve months after each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56048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one person counting several times; admits one-month spells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5907023"/>
            <a:ext cx="10607040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6053327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Same records throughout; only the definition changes. Each row answers the same three questions.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One dataset, one rate per definition</a:t>
            </a:r>
          </a:p>
        </p:txBody>
      </p:sp>
      <p:pic>
        <p:nvPicPr>
          <p:cNvPr id="4" name="Picture 3" descr="v_all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861" y="1325880"/>
            <a:ext cx="8273796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definition of a leaver moves the measured rate by a factor of nearly four.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Comparisons across studies and countries must hold the definition fixed.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85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Garamond"/>
              </a:rPr>
              <a:t>About 3,700 teachers observed per year in the recall series; about 2,500 classified per year in the panel measures. Dots: NCES Teacher Follow-up Survey.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Why the lines differ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18.2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554480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Any sighting.  </a:t>
            </a:r>
            <a:r>
              <a:rPr sz="1400" b="0" i="0">
                <a:solidFill>
                  <a:srgbClr val="1A2430"/>
                </a:solidFill>
                <a:latin typeface="Garamond"/>
              </a:rPr>
              <a:t>One monthly sighting admits substitutes and one-month spells: teachers seen teaching once in year 1 leave at 55 percent, seen four times at 11. One month of coding is noisy; summer-only patterns are just 3 percent of these leavers.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2374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15.4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523744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Month pairs.  </a:t>
            </a:r>
            <a:r>
              <a:rPr sz="1400" b="0" i="0">
                <a:solidFill>
                  <a:srgbClr val="1A2430"/>
                </a:solidFill>
                <a:latin typeface="Garamond"/>
              </a:rPr>
              <a:t>The unit is the pair, not the person: the same teacher can count as a leaver in one pair and a stayer in another.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930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13.0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493008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Panel measure.  </a:t>
            </a:r>
            <a:r>
              <a:rPr sz="1400" b="0" i="0">
                <a:solidFill>
                  <a:srgbClr val="1A2430"/>
                </a:solidFill>
                <a:latin typeface="Garamond"/>
              </a:rPr>
              <a:t>One verdict per person. Still a point-in-time notion of the year, and one leaver in six is teaching again within three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6227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8.6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4462272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Annual recall.  </a:t>
            </a:r>
            <a:r>
              <a:rPr sz="1400" b="0" i="0">
                <a:solidFill>
                  <a:srgbClr val="1A2430"/>
                </a:solidFill>
                <a:latin typeface="Garamond"/>
              </a:rPr>
              <a:t>The main job of the year, revisited a year later — the concept of the official survey, which is why it lands next to the dots. Its own risk is recall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3153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8.0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5431536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NCES follow-up.  </a:t>
            </a:r>
            <a:r>
              <a:rPr sz="1400" b="0" i="0">
                <a:solidFill>
                  <a:srgbClr val="1A2430"/>
                </a:solidFill>
                <a:latin typeface="Garamond"/>
              </a:rPr>
              <a:t>The reference wave.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Each construction answers a slightly different question; the choice, not the data, drives the spread.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Why teachers leave: what the CPS can and cannot see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645920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05840" y="1755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Reasons identified in the literature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Observed in the CPS?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2139696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226771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Working 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2677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06624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Organizational support (mentoring, leadership)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70662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45536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Autonomy and intrinsic motives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14553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8444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Financial factors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5844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0233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Personal life-cycle motives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0233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yes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" y="4480560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457200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Sociodemographic characteristics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5720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yes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4992624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5175504"/>
            <a:ext cx="105430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Five broad families of reasons from our review of the literature. The CPS covers the economic and life-cycle margins.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Five messages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1.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Economic and employment conditions correlate with leaving far more than demographics.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2432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2.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Exits concentrate where attachment and annual pay are lowest: part-time and part-year teachers in the bottom of the earnings distribution.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4845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3.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Those same exits lead out of employment, not to better-paid jobs: two thirds of bottom-quintile leavers exit the labor force. Low pay and non-employment destinations are one phenomenon, not two.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72584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4.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Life-cycle events are the largest single trigger: childbirth raises a woman’s exit probability by about six points, more than in comparable professions.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96712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5.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Pension coverage retains, and attrition differs widely across states: the actionable margins are contractual and institutional.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 teaching, 1997–2024</a:t>
            </a:r>
          </a:p>
        </p:txBody>
      </p:sp>
      <p:pic>
        <p:nvPicPr>
          <p:cNvPr id="4" name="Picture 3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371600"/>
            <a:ext cx="850392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rate fluctuates around 8.6 percent with no trend: a persistent outflow, not a mounting exodus.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Retention faces a steady-state cost, not an emergency spike.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 teaching, by school sector</a:t>
            </a:r>
          </a:p>
        </p:txBody>
      </p:sp>
      <p:pic>
        <p:nvPicPr>
          <p:cNvPr id="4" name="Picture 3" descr="pubpriv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539" y="1371600"/>
            <a:ext cx="834644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Private schools lose teachers at roughly twice the public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Retention tracks contract structure, pay and pensions, not classroom conditions alone.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 the occupation, by profession</a:t>
            </a:r>
          </a:p>
        </p:txBody>
      </p:sp>
      <p:pic>
        <p:nvPicPr>
          <p:cNvPr id="4" name="Picture 3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371600"/>
            <a:ext cx="850392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Teacher attrition is unexceptional next to comparable professions: above nurses and accountants, well below social workers.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Benchmarks from other professions discipline how alarming any teacher figure should be.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Labor force exit of women, by profession</a:t>
            </a:r>
          </a:p>
        </p:txBody>
      </p:sp>
      <p:pic>
        <p:nvPicPr>
          <p:cNvPr id="4" name="Picture 3" descr="lf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371600"/>
            <a:ext cx="850392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Women teachers exit the labor force at about five percent a year, well above nurses, social workers and accountants.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family-compatibility margin is specific to teaching, not to professional work in general.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Teachers leaving per year, across countries</a:t>
            </a:r>
          </a:p>
        </p:txBody>
      </p:sp>
      <p:pic>
        <p:nvPicPr>
          <p:cNvPr id="4" name="Picture 3" descr="intl_bar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5130" y="1371600"/>
            <a:ext cx="5831259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US sits in the upper range of the school systems that publish a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Comparable, survey-based measurement is what makes this ranking possible.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Destinations of teachers who leave, 2024</a:t>
            </a:r>
          </a:p>
        </p:txBody>
      </p:sp>
      <p:pic>
        <p:nvPicPr>
          <p:cNvPr id="4" name="Picture 3" descr="g3_flow100_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104" y="1371600"/>
            <a:ext cx="8883311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Of every hundred leavers, about a third take another job; most exit employment altogether.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Competing employers are not the main counterfactual; retirement and care are.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routes out of teaching, 2002–2024</a:t>
            </a:r>
          </a:p>
        </p:txBody>
      </p:sp>
      <p:pic>
        <p:nvPicPr>
          <p:cNvPr id="4" name="Picture 3" descr="routes_bar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386" y="1371600"/>
            <a:ext cx="9492747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destination mix has been essentially stable for two decades.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composition of the outflow is structural, not cyclical noise.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Who leaves the labor force before 55</a:t>
            </a:r>
          </a:p>
        </p:txBody>
      </p:sp>
      <p:pic>
        <p:nvPicPr>
          <p:cNvPr id="4" name="Picture 3" descr="yellow_flow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104" y="1371600"/>
            <a:ext cx="8883311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Nearly half of the pre-55 labor-force exits are mothers with a child at home.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Childcare and parental-leave policy are retention policy.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Where the employed leavers go: every occupation</a:t>
            </a:r>
          </a:p>
        </p:txBody>
      </p:sp>
      <p:pic>
        <p:nvPicPr>
          <p:cNvPr id="4" name="Picture 3" descr="occ_all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667" y="1371600"/>
            <a:ext cx="9674184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Employed leavers scatter widely; the largest block stays in education outside the classroom.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Skills remain in the education orbit, so re-entry is a realistic margin.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 teaching, by age and route</a:t>
            </a:r>
          </a:p>
        </p:txBody>
      </p:sp>
      <p:pic>
        <p:nvPicPr>
          <p:cNvPr id="4" name="Picture 3" descr="g4_routes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568" y="1371600"/>
            <a:ext cx="8296383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Leaving is U-shaped in age, and non-employment dominates both ends of the career.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Early-career and pre-retirement exits call for different instruments.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econometric specification</a:t>
            </a:r>
          </a:p>
        </p:txBody>
      </p:sp>
      <p:pic>
        <p:nvPicPr>
          <p:cNvPr id="4" name="Picture 3" descr="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27832"/>
            <a:ext cx="9966960" cy="13564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06908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1200"/>
              </a:spcAft>
            </a:pPr>
            <a:r>
              <a:rPr sz="1450" b="0" i="0">
                <a:solidFill>
                  <a:srgbClr val="1A2430"/>
                </a:solidFill>
                <a:latin typeface="Garamond"/>
              </a:rPr>
              <a:t>•  Probit on college-graduate teachers, pooled 2015–2024, with calendar-year effects; n = 28,900.</a:t>
            </a:r>
          </a:p>
          <a:p>
            <a:pPr algn="l">
              <a:lnSpc>
                <a:spcPts val="1957"/>
              </a:lnSpc>
              <a:spcAft>
                <a:spcPts val="1200"/>
              </a:spcAft>
            </a:pPr>
            <a:r>
              <a:rPr sz="1450" b="0" i="0">
                <a:solidFill>
                  <a:srgbClr val="1A2430"/>
                </a:solidFill>
                <a:latin typeface="Garamond"/>
              </a:rPr>
              <a:t>•  Average marginal effects reported, in percentage points.</a:t>
            </a:r>
          </a:p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1A2430"/>
                </a:solidFill>
                <a:latin typeface="Garamond"/>
              </a:rPr>
              <a:t>•  Robust to logit and weighted LPM, state and year fixed effects, the full 1997–2024 window (n = 85,430), and the occupation-pair definition of leaving.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Average marginal effects on the probability of leaving</a:t>
            </a:r>
          </a:p>
        </p:txBody>
      </p:sp>
      <p:pic>
        <p:nvPicPr>
          <p:cNvPr id="4" name="Picture 3" descr="ame_semi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7421" y="1371600"/>
            <a:ext cx="7706677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Job attachment and compensation dominate; demographic differences are small.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actionable levers are contractual: full-year contracts, pension coverage.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age profile of leaving, by route</a:t>
            </a:r>
          </a:p>
        </p:txBody>
      </p:sp>
      <p:pic>
        <p:nvPicPr>
          <p:cNvPr id="4" name="Picture 3" descr="u_rout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53540"/>
            <a:ext cx="11064240" cy="3688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Young teachers switch to other jobs; older teachers leave the labor force.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two peaks of the U respond to different policies.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effect of a new baby, by profession</a:t>
            </a:r>
          </a:p>
        </p:txBody>
      </p:sp>
      <p:pic>
        <p:nvPicPr>
          <p:cNvPr id="4" name="Picture 3" descr="g8_newba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612" y="1371600"/>
            <a:ext cx="7344294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A new baby raises a woman teacher’s exit probability by 5.9 points, the largest effect among comparable professions.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Parental leave and childcare support target the largest single observable trigger.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 teaching and the unemployment rate</a:t>
            </a:r>
          </a:p>
        </p:txBody>
      </p:sp>
      <p:pic>
        <p:nvPicPr>
          <p:cNvPr id="4" name="Picture 3" descr="n5_cyclic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46880"/>
            <a:ext cx="11064240" cy="41013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Exits into non-employment rise with unemployment; job-to-job exits do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Downturns intensify the non-employment route; support should be countercyclical.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State-level cyclicality of leaving</a:t>
            </a:r>
          </a:p>
        </p:txBody>
      </p:sp>
      <p:pic>
        <p:nvPicPr>
          <p:cNvPr id="4" name="Picture 3" descr="states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232" y="1371600"/>
            <a:ext cx="9415054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States differ in how strongly teacher exits respond to the local 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National averages hide state-level exposure to downturns.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Attrition levels across states</a:t>
            </a:r>
          </a:p>
        </p:txBody>
      </p:sp>
      <p:pic>
        <p:nvPicPr>
          <p:cNvPr id="4" name="Picture 3" descr="states_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449" y="1371600"/>
            <a:ext cx="9870621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Mean attrition of teachers under 55 ranges from about 4 to 13 percent across jurisdictions.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State pay scales, pensions and institutions are first-order.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Real earnings growth by profession since 1997</a:t>
            </a:r>
          </a:p>
        </p:txBody>
      </p:sp>
      <p:pic>
        <p:nvPicPr>
          <p:cNvPr id="4" name="Picture 3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127" y="1371600"/>
            <a:ext cx="10313264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Teachers’ real median earnings fell 4 percent since 1997 while other graduates gained.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relative-pay gap compounds slowly; it is a stock, not a shock.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Leaving, by position in the teacher pay distribution</a:t>
            </a:r>
          </a:p>
        </p:txBody>
      </p:sp>
      <p:pic>
        <p:nvPicPr>
          <p:cNvPr id="4" name="Picture 3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371600"/>
            <a:ext cx="850392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Leaving concentrates sharply in the lowest earnings deciles, mostly part-year teachers.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Stabilizing the bottom of the distribution buys the most retention.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Pay compression: teachers and comparable professions</a:t>
            </a:r>
          </a:p>
        </p:txBody>
      </p:sp>
      <p:pic>
        <p:nvPicPr>
          <p:cNvPr id="4" name="Picture 3" descr="pay5_compression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673" y="1371600"/>
            <a:ext cx="7636173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Teacher pay is compressed: a 90/10 ratio of 2.6 against 5.1 for all other graduates.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Staying offers little earnings upside; career ladders would widen the right tail.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earnings change of leaving, by destination</a:t>
            </a:r>
          </a:p>
        </p:txBody>
      </p:sp>
      <p:pic>
        <p:nvPicPr>
          <p:cNvPr id="4" name="Picture 3" descr="pay7_destinat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371600"/>
            <a:ext cx="850392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Leavers who move to other professional jobs gain about 12 log points; moves near education gain little.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outside option is real for those able to take it.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Earnings changes: stayers and leavers</a:t>
            </a:r>
          </a:p>
        </p:txBody>
      </p:sp>
      <p:pic>
        <p:nvPicPr>
          <p:cNvPr id="4" name="Picture 3" descr="g5b_earnings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242" y="1371600"/>
            <a:ext cx="8143035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For employed leavers the earnings change is a gamble: a quarter lose big, nearly half win big.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Leaving buys risk, not a sure raise.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Pension coverage and leaving, across states</a:t>
            </a:r>
          </a:p>
        </p:txBody>
      </p:sp>
      <p:pic>
        <p:nvPicPr>
          <p:cNvPr id="4" name="Picture 3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6019" y="1371600"/>
            <a:ext cx="726948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Where pension coverage is higher, fewer teachers under 55 leave: 0.21 points per point of coverage.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Pension design is a measurable retention margin.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•  A labour force survey can measure teacher attrition at the person level, yearly, over three decades, and it replicates the official picture of the workforce.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•  The definition of a leaver is a first-order choice: the same records yield rates from 5 to 19 percent per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79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•  What the data say: attachment, pay and pensions, and life-cycle events correlate with leaving; demographics much less.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•  The design travels: the same construction is feasible in the labour force surveys of Italy, Germany, the UK, France, Spain, Brazil and Mexico.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