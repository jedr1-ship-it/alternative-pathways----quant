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0.xml"/><Relationship Id="rId4" Type="http://schemas.openxmlformats.org/officeDocument/2006/relationships/slide" Target="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1.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3.xml"/><Relationship Id="rId4"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46.xml"/><Relationship Id="rId4" Type="http://schemas.openxmlformats.org/officeDocument/2006/relationships/slide" Target="slide47.xml"/><Relationship Id="rId5" Type="http://schemas.openxmlformats.org/officeDocument/2006/relationships/slide" Target="slide48.xml"/><Relationship Id="rId6" Type="http://schemas.openxmlformats.org/officeDocument/2006/relationships/slide" Target="slide4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 Target="slide2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600200"/>
            <a:ext cx="10789920" cy="54864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use the Current Population Survey to</a:t>
            </a:r>
          </a:p>
        </p:txBody>
      </p:sp>
      <p:sp>
        <p:nvSpPr>
          <p:cNvPr id="5" name="TextBox 4"/>
          <p:cNvSpPr txBox="1"/>
          <p:nvPr/>
        </p:nvSpPr>
        <p:spPr>
          <a:xfrm>
            <a:off x="822960" y="2788920"/>
            <a:ext cx="10789920" cy="5120640"/>
          </a:xfrm>
          <a:prstGeom prst="rect">
            <a:avLst/>
          </a:prstGeom>
          <a:noFill/>
        </p:spPr>
        <p:txBody>
          <a:bodyPr wrap="square" lIns="0" rIns="0" tIns="0" bIns="0">
            <a:spAutoFit/>
          </a:bodyPr>
          <a:lstStyle/>
          <a:p>
            <a:pPr algn="l">
              <a:lnSpc>
                <a:spcPts val="2816"/>
              </a:lnSpc>
              <a:spcAft>
                <a:spcPts val="4400"/>
              </a:spcAft>
            </a:pPr>
            <a:r>
              <a:rPr sz="2200" b="1" i="0">
                <a:solidFill>
                  <a:srgbClr val="2D6CB5"/>
                </a:solidFill>
                <a:latin typeface="Garamond"/>
              </a:rPr>
              <a:t>1.   </a:t>
            </a:r>
            <a:r>
              <a:rPr sz="2200" b="0" i="0">
                <a:solidFill>
                  <a:srgbClr val="212529"/>
                </a:solidFill>
                <a:latin typeface="Garamond"/>
              </a:rPr>
              <a:t>reproduce and extend the official statistics on teachers leaving the profession;</a:t>
            </a:r>
          </a:p>
          <a:p>
            <a:pPr algn="l">
              <a:lnSpc>
                <a:spcPts val="2816"/>
              </a:lnSpc>
              <a:spcAft>
                <a:spcPts val="0"/>
              </a:spcAft>
            </a:pPr>
            <a:r>
              <a:rPr sz="2200" b="1" i="0">
                <a:solidFill>
                  <a:srgbClr val="2D6CB5"/>
                </a:solidFill>
                <a:latin typeface="Garamond"/>
              </a:rPr>
              <a:t>2.   </a:t>
            </a:r>
            <a:r>
              <a:rPr sz="2200" b="0" i="0">
                <a:solidFill>
                  <a:srgbClr val="212529"/>
                </a:solidFill>
                <a:latin typeface="Garamond"/>
              </a:rPr>
              <a:t>having achieved A, study in detail how many leave, where they go,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and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Among them, 104,545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About 90,000 households, counting the March sample plus oversamples interviewed in February and April.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year their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teacher group, three coding regimes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sp>
        <p:nvSpPr>
          <p:cNvPr id="4" name="TextBox 3"/>
          <p:cNvSpPr txBox="1"/>
          <p:nvPr/>
        </p:nvSpPr>
        <p:spPr>
          <a:xfrm>
            <a:off x="466344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1998–2002</a:t>
            </a:r>
          </a:p>
        </p:txBody>
      </p:sp>
      <p:sp>
        <p:nvSpPr>
          <p:cNvPr id="5" name="TextBox 4"/>
          <p:cNvSpPr txBox="1"/>
          <p:nvPr/>
        </p:nvSpPr>
        <p:spPr>
          <a:xfrm>
            <a:off x="722376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2003–2019</a:t>
            </a:r>
          </a:p>
        </p:txBody>
      </p:sp>
      <p:sp>
        <p:nvSpPr>
          <p:cNvPr id="6" name="TextBox 5"/>
          <p:cNvSpPr txBox="1"/>
          <p:nvPr/>
        </p:nvSpPr>
        <p:spPr>
          <a:xfrm>
            <a:off x="978408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2020–2025</a:t>
            </a:r>
          </a:p>
        </p:txBody>
      </p:sp>
      <p:sp>
        <p:nvSpPr>
          <p:cNvPr id="7" name="TextBox 6"/>
          <p:cNvSpPr txBox="1"/>
          <p:nvPr/>
        </p:nvSpPr>
        <p:spPr>
          <a:xfrm>
            <a:off x="822960" y="1965960"/>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Pre-K and kindergarten</a:t>
            </a:r>
          </a:p>
        </p:txBody>
      </p:sp>
      <p:sp>
        <p:nvSpPr>
          <p:cNvPr id="8" name="TextBox 7"/>
          <p:cNvSpPr txBox="1"/>
          <p:nvPr/>
        </p:nvSpPr>
        <p:spPr>
          <a:xfrm>
            <a:off x="466344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155</a:t>
            </a:r>
          </a:p>
        </p:txBody>
      </p:sp>
      <p:sp>
        <p:nvSpPr>
          <p:cNvPr id="9" name="TextBox 8"/>
          <p:cNvSpPr txBox="1"/>
          <p:nvPr/>
        </p:nvSpPr>
        <p:spPr>
          <a:xfrm>
            <a:off x="6309360" y="1965960"/>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0" name="TextBox 9"/>
          <p:cNvSpPr txBox="1"/>
          <p:nvPr/>
        </p:nvSpPr>
        <p:spPr>
          <a:xfrm>
            <a:off x="722376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2300</a:t>
            </a:r>
          </a:p>
        </p:txBody>
      </p:sp>
      <p:sp>
        <p:nvSpPr>
          <p:cNvPr id="11" name="TextBox 10"/>
          <p:cNvSpPr txBox="1"/>
          <p:nvPr/>
        </p:nvSpPr>
        <p:spPr>
          <a:xfrm>
            <a:off x="8869680" y="1965960"/>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2" name="TextBox 11"/>
          <p:cNvSpPr txBox="1"/>
          <p:nvPr/>
        </p:nvSpPr>
        <p:spPr>
          <a:xfrm>
            <a:off x="978408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2300</a:t>
            </a:r>
          </a:p>
        </p:txBody>
      </p:sp>
      <p:sp>
        <p:nvSpPr>
          <p:cNvPr id="13" name="TextBox 12"/>
          <p:cNvSpPr txBox="1"/>
          <p:nvPr/>
        </p:nvSpPr>
        <p:spPr>
          <a:xfrm>
            <a:off x="822960" y="2532888"/>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Elementary (and middle)</a:t>
            </a:r>
          </a:p>
        </p:txBody>
      </p:sp>
      <p:sp>
        <p:nvSpPr>
          <p:cNvPr id="14" name="TextBox 13"/>
          <p:cNvSpPr txBox="1"/>
          <p:nvPr/>
        </p:nvSpPr>
        <p:spPr>
          <a:xfrm>
            <a:off x="466344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156</a:t>
            </a:r>
          </a:p>
        </p:txBody>
      </p:sp>
      <p:sp>
        <p:nvSpPr>
          <p:cNvPr id="15" name="TextBox 14"/>
          <p:cNvSpPr txBox="1"/>
          <p:nvPr/>
        </p:nvSpPr>
        <p:spPr>
          <a:xfrm>
            <a:off x="6309360" y="2532888"/>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6" name="TextBox 15"/>
          <p:cNvSpPr txBox="1"/>
          <p:nvPr/>
        </p:nvSpPr>
        <p:spPr>
          <a:xfrm>
            <a:off x="722376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2310</a:t>
            </a:r>
          </a:p>
        </p:txBody>
      </p:sp>
      <p:sp>
        <p:nvSpPr>
          <p:cNvPr id="17" name="TextBox 16"/>
          <p:cNvSpPr txBox="1"/>
          <p:nvPr/>
        </p:nvSpPr>
        <p:spPr>
          <a:xfrm>
            <a:off x="8869680" y="2532888"/>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8" name="TextBox 17"/>
          <p:cNvSpPr txBox="1"/>
          <p:nvPr/>
        </p:nvSpPr>
        <p:spPr>
          <a:xfrm>
            <a:off x="978408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2310</a:t>
            </a:r>
          </a:p>
        </p:txBody>
      </p:sp>
      <p:sp>
        <p:nvSpPr>
          <p:cNvPr id="19" name="TextBox 18"/>
          <p:cNvSpPr txBox="1"/>
          <p:nvPr/>
        </p:nvSpPr>
        <p:spPr>
          <a:xfrm>
            <a:off x="822960" y="3099816"/>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Secondary</a:t>
            </a:r>
          </a:p>
        </p:txBody>
      </p:sp>
      <p:sp>
        <p:nvSpPr>
          <p:cNvPr id="20" name="TextBox 19"/>
          <p:cNvSpPr txBox="1"/>
          <p:nvPr/>
        </p:nvSpPr>
        <p:spPr>
          <a:xfrm>
            <a:off x="466344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157</a:t>
            </a:r>
          </a:p>
        </p:txBody>
      </p:sp>
      <p:sp>
        <p:nvSpPr>
          <p:cNvPr id="21" name="TextBox 20"/>
          <p:cNvSpPr txBox="1"/>
          <p:nvPr/>
        </p:nvSpPr>
        <p:spPr>
          <a:xfrm>
            <a:off x="6309360" y="3099816"/>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2" name="TextBox 21"/>
          <p:cNvSpPr txBox="1"/>
          <p:nvPr/>
        </p:nvSpPr>
        <p:spPr>
          <a:xfrm>
            <a:off x="722376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2320</a:t>
            </a:r>
          </a:p>
        </p:txBody>
      </p:sp>
      <p:sp>
        <p:nvSpPr>
          <p:cNvPr id="23" name="TextBox 22"/>
          <p:cNvSpPr txBox="1"/>
          <p:nvPr/>
        </p:nvSpPr>
        <p:spPr>
          <a:xfrm>
            <a:off x="8869680" y="3099816"/>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4" name="TextBox 23"/>
          <p:cNvSpPr txBox="1"/>
          <p:nvPr/>
        </p:nvSpPr>
        <p:spPr>
          <a:xfrm>
            <a:off x="978408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2320</a:t>
            </a:r>
          </a:p>
        </p:txBody>
      </p:sp>
      <p:sp>
        <p:nvSpPr>
          <p:cNvPr id="25" name="TextBox 24"/>
          <p:cNvSpPr txBox="1"/>
          <p:nvPr/>
        </p:nvSpPr>
        <p:spPr>
          <a:xfrm>
            <a:off x="822960" y="3666744"/>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Special education</a:t>
            </a:r>
          </a:p>
        </p:txBody>
      </p:sp>
      <p:sp>
        <p:nvSpPr>
          <p:cNvPr id="26" name="TextBox 25"/>
          <p:cNvSpPr txBox="1"/>
          <p:nvPr/>
        </p:nvSpPr>
        <p:spPr>
          <a:xfrm>
            <a:off x="466344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158</a:t>
            </a:r>
          </a:p>
        </p:txBody>
      </p:sp>
      <p:sp>
        <p:nvSpPr>
          <p:cNvPr id="27" name="TextBox 26"/>
          <p:cNvSpPr txBox="1"/>
          <p:nvPr/>
        </p:nvSpPr>
        <p:spPr>
          <a:xfrm>
            <a:off x="6309360" y="3666744"/>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8" name="TextBox 27"/>
          <p:cNvSpPr txBox="1"/>
          <p:nvPr/>
        </p:nvSpPr>
        <p:spPr>
          <a:xfrm>
            <a:off x="722376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2330</a:t>
            </a:r>
          </a:p>
        </p:txBody>
      </p:sp>
      <p:sp>
        <p:nvSpPr>
          <p:cNvPr id="29" name="TextBox 28"/>
          <p:cNvSpPr txBox="1"/>
          <p:nvPr/>
        </p:nvSpPr>
        <p:spPr>
          <a:xfrm>
            <a:off x="8869680" y="3666744"/>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30" name="TextBox 29"/>
          <p:cNvSpPr txBox="1"/>
          <p:nvPr/>
        </p:nvSpPr>
        <p:spPr>
          <a:xfrm>
            <a:off x="978408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2330</a:t>
            </a:r>
          </a:p>
        </p:txBody>
      </p:sp>
      <p:sp>
        <p:nvSpPr>
          <p:cNvPr id="31" name="TextBox 30"/>
          <p:cNvSpPr txBox="1"/>
          <p:nvPr/>
        </p:nvSpPr>
        <p:spPr>
          <a:xfrm>
            <a:off x="822960" y="4233672"/>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Other teachers and instructors</a:t>
            </a:r>
          </a:p>
        </p:txBody>
      </p:sp>
      <p:sp>
        <p:nvSpPr>
          <p:cNvPr id="32" name="TextBox 31"/>
          <p:cNvSpPr txBox="1"/>
          <p:nvPr/>
        </p:nvSpPr>
        <p:spPr>
          <a:xfrm>
            <a:off x="466344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159</a:t>
            </a:r>
          </a:p>
        </p:txBody>
      </p:sp>
      <p:sp>
        <p:nvSpPr>
          <p:cNvPr id="33" name="TextBox 32"/>
          <p:cNvSpPr txBox="1"/>
          <p:nvPr/>
        </p:nvSpPr>
        <p:spPr>
          <a:xfrm>
            <a:off x="6309360" y="4233672"/>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34" name="TextBox 33"/>
          <p:cNvSpPr txBox="1"/>
          <p:nvPr/>
        </p:nvSpPr>
        <p:spPr>
          <a:xfrm>
            <a:off x="722376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2340</a:t>
            </a:r>
          </a:p>
        </p:txBody>
      </p:sp>
      <p:sp>
        <p:nvSpPr>
          <p:cNvPr id="35" name="TextBox 34"/>
          <p:cNvSpPr txBox="1"/>
          <p:nvPr/>
        </p:nvSpPr>
        <p:spPr>
          <a:xfrm>
            <a:off x="8869680" y="4233672"/>
            <a:ext cx="1005840" cy="411480"/>
          </a:xfrm>
          <a:prstGeom prst="rect">
            <a:avLst/>
          </a:prstGeom>
          <a:noFill/>
        </p:spPr>
        <p:txBody>
          <a:bodyPr wrap="square" lIns="0" rIns="0" tIns="0" bIns="0">
            <a:spAutoFit/>
          </a:bodyPr>
          <a:lstStyle/>
          <a:p>
            <a:pPr algn="ctr">
              <a:lnSpc>
                <a:spcPts val="2304"/>
              </a:lnSpc>
              <a:spcAft>
                <a:spcPts val="0"/>
              </a:spcAft>
            </a:pPr>
            <a:r>
              <a:rPr sz="1800" b="1" i="0">
                <a:solidFill>
                  <a:srgbClr val="8F2B36"/>
                </a:solidFill>
                <a:latin typeface="Garamond"/>
              </a:rPr>
              <a:t>→</a:t>
            </a:r>
          </a:p>
        </p:txBody>
      </p:sp>
      <p:sp>
        <p:nvSpPr>
          <p:cNvPr id="36" name="TextBox 35"/>
          <p:cNvSpPr txBox="1"/>
          <p:nvPr/>
        </p:nvSpPr>
        <p:spPr>
          <a:xfrm>
            <a:off x="978408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8F2B36"/>
                </a:solidFill>
                <a:latin typeface="Garamond"/>
              </a:rPr>
              <a:t>2360</a:t>
            </a:r>
          </a:p>
        </p:txBody>
      </p:sp>
      <p:sp>
        <p:nvSpPr>
          <p:cNvPr id="37" name="TextBox 36"/>
          <p:cNvSpPr txBox="1"/>
          <p:nvPr/>
        </p:nvSpPr>
        <p:spPr>
          <a:xfrm>
            <a:off x="822960" y="5120640"/>
            <a:ext cx="10789920" cy="91440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In 2003 every code changed but the five categories did not. In 2020 a single code changed. We always use the block, never a single code across regimes.</a:t>
            </a:r>
          </a:p>
        </p:txBody>
      </p:sp>
      <p:sp>
        <p:nvSpPr>
          <p:cNvPr id="38" name="Rounded Rectangle 37">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463040"/>
            <a:ext cx="484632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Following individuals</a:t>
            </a:r>
          </a:p>
        </p:txBody>
      </p:sp>
      <p:sp>
        <p:nvSpPr>
          <p:cNvPr id="6" name="TextBox 5"/>
          <p:cNvSpPr txBox="1"/>
          <p:nvPr/>
        </p:nvSpPr>
        <p:spPr>
          <a:xfrm>
            <a:off x="987552" y="2240280"/>
            <a:ext cx="475488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Identity is not certain, validation can admit noisy people.</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Movers are lost. About 25% of addresses are not found a year later.</a:t>
            </a:r>
          </a:p>
          <a:p>
            <a:pPr algn="l">
              <a:lnSpc>
                <a:spcPts val="2048"/>
              </a:lnSpc>
              <a:spcAft>
                <a:spcPts val="1500"/>
              </a:spcAft>
            </a:pPr>
            <a:r>
              <a:rPr sz="1600" b="1" i="0">
                <a:solidFill>
                  <a:srgbClr val="2D6CB5"/>
                </a:solidFill>
                <a:latin typeface="Garamond"/>
              </a:rPr>
              <a:t>3.   </a:t>
            </a:r>
            <a:r>
              <a:rPr sz="1600" b="0" i="0">
                <a:solidFill>
                  <a:srgbClr val="212529"/>
                </a:solidFill>
                <a:latin typeface="Garamond"/>
              </a:rPr>
              <a:t>Normal household attrition on top.</a:t>
            </a:r>
          </a:p>
          <a:p>
            <a:pPr algn="l">
              <a:lnSpc>
                <a:spcPts val="2048"/>
              </a:lnSpc>
              <a:spcAft>
                <a:spcPts val="1500"/>
              </a:spcAft>
            </a:pPr>
            <a:r>
              <a:rPr sz="1600" b="1" i="0">
                <a:solidFill>
                  <a:srgbClr val="2D6CB5"/>
                </a:solidFill>
                <a:latin typeface="Garamond"/>
              </a:rPr>
              <a:t>4.   </a:t>
            </a:r>
            <a:r>
              <a:rPr sz="1600" b="0" i="0">
                <a:solidFill>
                  <a:srgbClr val="212529"/>
                </a:solidFill>
                <a:latin typeface="Garamond"/>
              </a:rPr>
              <a:t>Strong seasonality in teaching.</a:t>
            </a:r>
          </a:p>
          <a:p>
            <a:pPr algn="l">
              <a:lnSpc>
                <a:spcPts val="2048"/>
              </a:lnSpc>
              <a:spcAft>
                <a:spcPts val="0"/>
              </a:spcAft>
            </a:pPr>
            <a:r>
              <a:rPr sz="1600" b="1" i="0">
                <a:solidFill>
                  <a:srgbClr val="2D6CB5"/>
                </a:solidFill>
                <a:latin typeface="Garamond"/>
              </a:rPr>
              <a:t>5.   </a:t>
            </a:r>
            <a:r>
              <a:rPr sz="1600" b="0" i="0">
                <a:solidFill>
                  <a:srgbClr val="212529"/>
                </a:solidFill>
                <a:latin typeface="Garamond"/>
              </a:rPr>
              <a:t>Many ways to define the rate (next slide).</a:t>
            </a:r>
          </a:p>
        </p:txBody>
      </p:sp>
      <p:sp>
        <p:nvSpPr>
          <p:cNvPr id="7" name="TextBox 6"/>
          <p:cNvSpPr txBox="1"/>
          <p:nvPr/>
        </p:nvSpPr>
        <p:spPr>
          <a:xfrm>
            <a:off x="6355080" y="1463040"/>
            <a:ext cx="512064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Retrospective March</a:t>
            </a:r>
          </a:p>
        </p:txBody>
      </p:sp>
      <p:sp>
        <p:nvSpPr>
          <p:cNvPr id="8" name="TextBox 7"/>
          <p:cNvSpPr txBox="1"/>
          <p:nvPr/>
        </p:nvSpPr>
        <p:spPr>
          <a:xfrm>
            <a:off x="6355080" y="2240280"/>
            <a:ext cx="512064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Recall bias.</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Less sample. One observation per person per year (~3,700 teachers) against ~11,000 monthly teacher observations.</a:t>
            </a:r>
          </a:p>
          <a:p>
            <a:pPr algn="l">
              <a:lnSpc>
                <a:spcPts val="2048"/>
              </a:lnSpc>
              <a:spcAft>
                <a:spcPts val="0"/>
              </a:spcAft>
            </a:pPr>
            <a:r>
              <a:rPr sz="1600" b="1" i="0">
                <a:solidFill>
                  <a:srgbClr val="2D6CB5"/>
                </a:solidFill>
                <a:latin typeface="Garamond"/>
              </a:rPr>
              <a:t>3.   </a:t>
            </a:r>
            <a:r>
              <a:rPr sz="1600" b="0" i="0">
                <a:solidFill>
                  <a:srgbClr val="212529"/>
                </a:solidFill>
                <a:latin typeface="Garamond"/>
              </a:rPr>
              <a:t>Only March-to-March transitions. Within-year spells are smoothed away.</a:t>
            </a:r>
          </a:p>
        </p:txBody>
      </p:sp>
      <p:sp>
        <p:nvSpPr>
          <p:cNvPr id="9" name="Rounded Rectangle 8">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Linkage loss</a:t>
            </a:r>
          </a:p>
        </p:txBody>
      </p:sp>
      <p:sp>
        <p:nvSpPr>
          <p:cNvPr id="10" name="Rounded Rectangle 9">
            <a:hlinkClick action="ppaction://hlinksldjump" r:id="rId3"/>
          </p:cNvPr>
          <p:cNvSpPr/>
          <p:nvPr/>
        </p:nvSpPr>
        <p:spPr>
          <a:xfrm>
            <a:off x="2746857" y="6327648"/>
            <a:ext cx="275600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Definition sensitivity</a:t>
            </a:r>
          </a:p>
        </p:txBody>
      </p:sp>
      <p:sp>
        <p:nvSpPr>
          <p:cNvPr id="11" name="Rounded Rectangle 10">
            <a:hlinkClick action="ppaction://hlinksldjump" r:id="rId4"/>
          </p:cNvPr>
          <p:cNvSpPr/>
          <p:nvPr/>
        </p:nvSpPr>
        <p:spPr>
          <a:xfrm>
            <a:off x="5649163"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8308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92807"/>
            <a:ext cx="411480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92807"/>
            <a:ext cx="402336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441448"/>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55117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55117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081528"/>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081528"/>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081528"/>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611880"/>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611880"/>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611880"/>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142232"/>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142232"/>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142232"/>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4672584"/>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4672584"/>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4672584"/>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20293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20293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20293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5769864"/>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rates under alternative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41732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527048"/>
            <a:ext cx="173736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527048"/>
            <a:ext cx="155448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Accountants</a:t>
            </a:r>
          </a:p>
        </p:txBody>
      </p:sp>
      <p:cxnSp>
        <p:nvCxnSpPr>
          <p:cNvPr id="9" name="Connector 8"/>
          <p:cNvCxnSpPr/>
          <p:nvPr/>
        </p:nvCxnSpPr>
        <p:spPr>
          <a:xfrm>
            <a:off x="822960" y="1911095"/>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0208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20208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20208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a:t>
            </a:r>
          </a:p>
        </p:txBody>
      </p:sp>
      <p:sp>
        <p:nvSpPr>
          <p:cNvPr id="15" name="TextBox 14"/>
          <p:cNvSpPr txBox="1"/>
          <p:nvPr/>
        </p:nvSpPr>
        <p:spPr>
          <a:xfrm>
            <a:off x="822960" y="238658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8658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8658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44.1</a:t>
            </a:r>
          </a:p>
        </p:txBody>
      </p:sp>
      <p:sp>
        <p:nvSpPr>
          <p:cNvPr id="20" name="TextBox 19"/>
          <p:cNvSpPr txBox="1"/>
          <p:nvPr/>
        </p:nvSpPr>
        <p:spPr>
          <a:xfrm>
            <a:off x="822960" y="275234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75234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75234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31.3</a:t>
            </a:r>
          </a:p>
        </p:txBody>
      </p:sp>
      <p:sp>
        <p:nvSpPr>
          <p:cNvPr id="25" name="TextBox 24"/>
          <p:cNvSpPr txBox="1"/>
          <p:nvPr/>
        </p:nvSpPr>
        <p:spPr>
          <a:xfrm>
            <a:off x="822960" y="311810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11810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11810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11.0</a:t>
            </a:r>
          </a:p>
        </p:txBody>
      </p:sp>
      <p:sp>
        <p:nvSpPr>
          <p:cNvPr id="30" name="TextBox 29"/>
          <p:cNvSpPr txBox="1"/>
          <p:nvPr/>
        </p:nvSpPr>
        <p:spPr>
          <a:xfrm>
            <a:off x="822960" y="348386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48386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48386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49.5</a:t>
            </a:r>
          </a:p>
        </p:txBody>
      </p:sp>
      <p:sp>
        <p:nvSpPr>
          <p:cNvPr id="35" name="TextBox 34"/>
          <p:cNvSpPr txBox="1"/>
          <p:nvPr/>
        </p:nvSpPr>
        <p:spPr>
          <a:xfrm>
            <a:off x="822960" y="38496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38496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38496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77,000</a:t>
            </a:r>
          </a:p>
        </p:txBody>
      </p:sp>
      <p:cxnSp>
        <p:nvCxnSpPr>
          <p:cNvPr id="40" name="Connector 39"/>
          <p:cNvCxnSpPr/>
          <p:nvPr/>
        </p:nvCxnSpPr>
        <p:spPr>
          <a:xfrm>
            <a:off x="822960" y="4233672"/>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343400"/>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343400"/>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343400"/>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6,897</a:t>
            </a:r>
          </a:p>
        </p:txBody>
      </p:sp>
      <p:cxnSp>
        <p:nvCxnSpPr>
          <p:cNvPr id="46" name="Connector 45"/>
          <p:cNvCxnSpPr/>
          <p:nvPr/>
        </p:nvCxnSpPr>
        <p:spPr>
          <a:xfrm>
            <a:off x="822960" y="4745736"/>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4855464"/>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is similar to nursing and social work in age and gender, and to social work in education. It differs in pay, weeks worked and the public sector.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about the same rate as comparable professions. The distinctive part of teaching is who leaves and where they go, not how many.</a:t>
            </a:r>
          </a:p>
        </p:txBody>
      </p:sp>
      <p:sp>
        <p:nvSpPr>
          <p:cNvPr id="6" name="Rounded Rectangle 5">
            <a:hlinkClick action="ppaction://hlinksldjump" r:id="rId3"/>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 third find another job, a third retire, and the rest split between early labor-force exit and unemployment.</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Vs NCES follow-up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
        <p:nvSpPr>
          <p:cNvPr id="6" name="Rounded Rectangle 5">
            <a:hlinkClick action="ppaction://hlinksldjump" r:id="rId3"/>
          </p:cNvPr>
          <p:cNvSpPr/>
          <p:nvPr/>
        </p:nvSpPr>
        <p:spPr>
          <a:xfrm>
            <a:off x="822960" y="6327648"/>
            <a:ext cx="167975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olf55.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Studying is the exit of the young and the childless, not of the mothers. Among leavers under 30, almost half are enrolled in school.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23</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The risk of leaving is highest at the two ends of the career. The young leave for other jobs; the old leave the labor force.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equation3.png"/>
          <p:cNvPicPr>
            <a:picLocks noChangeAspect="1"/>
          </p:cNvPicPr>
          <p:nvPr/>
        </p:nvPicPr>
        <p:blipFill>
          <a:blip r:embed="rId2"/>
          <a:stretch>
            <a:fillRect/>
          </a:stretch>
        </p:blipFill>
        <p:spPr>
          <a:xfrm>
            <a:off x="1920240" y="1183228"/>
            <a:ext cx="8321040" cy="1062543"/>
          </a:xfrm>
          <a:prstGeom prst="rect">
            <a:avLst/>
          </a:prstGeom>
        </p:spPr>
      </p:pic>
      <p:sp>
        <p:nvSpPr>
          <p:cNvPr id="5" name="TextBox 4"/>
          <p:cNvSpPr txBox="1"/>
          <p:nvPr/>
        </p:nvSpPr>
        <p:spPr>
          <a:xfrm>
            <a:off x="1463040" y="2560320"/>
            <a:ext cx="9692640" cy="2926080"/>
          </a:xfrm>
          <a:prstGeom prst="rect">
            <a:avLst/>
          </a:prstGeom>
          <a:noFill/>
        </p:spPr>
        <p:txBody>
          <a:bodyPr wrap="square" lIns="0" rIns="0" tIns="0" bIns="0">
            <a:spAutoFit/>
          </a:bodyPr>
          <a:lstStyle/>
          <a:p>
            <a:pPr algn="l">
              <a:lnSpc>
                <a:spcPts val="1920"/>
              </a:lnSpc>
              <a:spcAft>
                <a:spcPts val="500"/>
              </a:spcAft>
            </a:pPr>
            <a:r>
              <a:rPr sz="1500" b="0" i="0">
                <a:solidFill>
                  <a:srgbClr val="212529"/>
                </a:solidFill>
                <a:latin typeface="Garamond"/>
              </a:rPr>
              <a:t>y:  teacher i left teaching in year t</a:t>
            </a:r>
          </a:p>
          <a:p>
            <a:pPr algn="l">
              <a:lnSpc>
                <a:spcPts val="1920"/>
              </a:lnSpc>
              <a:spcAft>
                <a:spcPts val="500"/>
              </a:spcAft>
            </a:pPr>
            <a:r>
              <a:rPr sz="1500" b="0" i="0">
                <a:solidFill>
                  <a:srgbClr val="212529"/>
                </a:solidFill>
                <a:latin typeface="Garamond"/>
              </a:rPr>
              <a:t>a:  job attachment (full-year contract, part-time contract)</a:t>
            </a:r>
          </a:p>
          <a:p>
            <a:pPr algn="l">
              <a:lnSpc>
                <a:spcPts val="1920"/>
              </a:lnSpc>
              <a:spcAft>
                <a:spcPts val="500"/>
              </a:spcAft>
            </a:pPr>
            <a:r>
              <a:rPr sz="1500" b="0" i="0">
                <a:solidFill>
                  <a:srgbClr val="212529"/>
                </a:solidFill>
                <a:latin typeface="Garamond"/>
              </a:rPr>
              <a:t>c:  pay and security (pension plan, public sector, bottom-quartile household income)</a:t>
            </a:r>
          </a:p>
          <a:p>
            <a:pPr algn="l">
              <a:lnSpc>
                <a:spcPts val="1920"/>
              </a:lnSpc>
              <a:spcAft>
                <a:spcPts val="500"/>
              </a:spcAft>
            </a:pPr>
            <a:r>
              <a:rPr sz="1500" b="0" i="0">
                <a:solidFill>
                  <a:srgbClr val="212529"/>
                </a:solidFill>
                <a:latin typeface="Garamond"/>
              </a:rPr>
              <a:t>f:  family (new baby, children, marital status)</a:t>
            </a:r>
          </a:p>
          <a:p>
            <a:pPr algn="l">
              <a:lnSpc>
                <a:spcPts val="1920"/>
              </a:lnSpc>
              <a:spcAft>
                <a:spcPts val="500"/>
              </a:spcAft>
            </a:pPr>
            <a:r>
              <a:rPr sz="1500" b="0" i="0">
                <a:solidFill>
                  <a:srgbClr val="212529"/>
                </a:solidFill>
                <a:latin typeface="Garamond"/>
              </a:rPr>
              <a:t>h:  health (self-reported health, disability)</a:t>
            </a:r>
          </a:p>
          <a:p>
            <a:pPr algn="l">
              <a:lnSpc>
                <a:spcPts val="1920"/>
              </a:lnSpc>
              <a:spcAft>
                <a:spcPts val="500"/>
              </a:spcAft>
            </a:pPr>
            <a:r>
              <a:rPr sz="1500" b="0" i="0">
                <a:solidFill>
                  <a:srgbClr val="212529"/>
                </a:solidFill>
                <a:latin typeface="Garamond"/>
              </a:rPr>
              <a:t>d:  demographics (age, sex, race, education)</a:t>
            </a:r>
          </a:p>
          <a:p>
            <a:pPr algn="l">
              <a:lnSpc>
                <a:spcPts val="1920"/>
              </a:lnSpc>
              <a:spcAft>
                <a:spcPts val="0"/>
              </a:spcAft>
            </a:pPr>
            <a:r>
              <a:rPr sz="1500" b="0" i="0">
                <a:solidFill>
                  <a:srgbClr val="212529"/>
                </a:solidFill>
                <a:latin typeface="Garamond"/>
              </a:rPr>
              <a:t>δt:  year fixed effects (state FE variant in the appendix)</a:t>
            </a:r>
          </a:p>
        </p:txBody>
      </p:sp>
      <p:sp>
        <p:nvSpPr>
          <p:cNvPr id="6" name="TextBox 5"/>
          <p:cNvSpPr txBox="1"/>
          <p:nvPr/>
        </p:nvSpPr>
        <p:spPr>
          <a:xfrm>
            <a:off x="1463040" y="5623560"/>
            <a:ext cx="9692640" cy="41148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Probit, average marginal effects, robust standard errors. 2018–2024, n = 18,571.</a:t>
            </a:r>
          </a:p>
        </p:txBody>
      </p:sp>
      <p:sp>
        <p:nvSpPr>
          <p:cNvPr id="7" name="Rounded Rectangle 6">
            <a:hlinkClick action="ppaction://hlinksldjump" r:id="rId3"/>
          </p:cNvPr>
          <p:cNvSpPr/>
          <p:nvPr/>
        </p:nvSpPr>
        <p:spPr>
          <a:xfrm>
            <a:off x="822960" y="6327648"/>
            <a:ext cx="89702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LPM</a:t>
            </a:r>
          </a:p>
        </p:txBody>
      </p:sp>
      <p:sp>
        <p:nvSpPr>
          <p:cNvPr id="8" name="Rounded Rectangle 7">
            <a:hlinkClick action="ppaction://hlinksldjump" r:id="rId4"/>
          </p:cNvPr>
          <p:cNvSpPr/>
          <p:nvPr/>
        </p:nvSpPr>
        <p:spPr>
          <a:xfrm>
            <a:off x="186629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Logit / probit</a:t>
            </a:r>
          </a:p>
        </p:txBody>
      </p:sp>
      <p:sp>
        <p:nvSpPr>
          <p:cNvPr id="9" name="Rounded Rectangle 8">
            <a:hlinkClick action="ppaction://hlinksldjump" r:id="rId5"/>
          </p:cNvPr>
          <p:cNvSpPr/>
          <p:nvPr/>
        </p:nvSpPr>
        <p:spPr>
          <a:xfrm>
            <a:off x="3985869"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Bounded?</a:t>
            </a:r>
          </a:p>
        </p:txBody>
      </p:sp>
      <p:sp>
        <p:nvSpPr>
          <p:cNvPr id="10" name="Rounded Rectangle 9">
            <a:hlinkClick action="ppaction://hlinksldjump" r:id="rId6"/>
          </p:cNvPr>
          <p:cNvSpPr/>
          <p:nvPr/>
        </p:nvSpPr>
        <p:spPr>
          <a:xfrm>
            <a:off x="5518404" y="6327648"/>
            <a:ext cx="207111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What we observe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Teachers sit 4% below their 1997 level, while comparable professions grew by about 12% on average.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moves with the cycle. It rises when unemployment rises, so teachers are pushed out in bad times more than pulled away in good ones.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325880"/>
            <a:ext cx="10789920" cy="5120640"/>
          </a:xfrm>
          <a:prstGeom prst="rect">
            <a:avLst/>
          </a:prstGeom>
          <a:noFill/>
        </p:spPr>
        <p:txBody>
          <a:bodyPr wrap="square" lIns="0" rIns="0" tIns="0" bIns="0">
            <a:spAutoFit/>
          </a:bodyPr>
          <a:lstStyle/>
          <a:p>
            <a:pPr algn="l">
              <a:lnSpc>
                <a:spcPts val="2432"/>
              </a:lnSpc>
              <a:spcAft>
                <a:spcPts val="2400"/>
              </a:spcAft>
            </a:pPr>
            <a:r>
              <a:rPr sz="1900" b="1" i="0">
                <a:solidFill>
                  <a:srgbClr val="2D6CB5"/>
                </a:solidFill>
                <a:latin typeface="Garamond"/>
              </a:rPr>
              <a:t>▪  </a:t>
            </a:r>
            <a:r>
              <a:rPr sz="1900" b="0" i="0">
                <a:solidFill>
                  <a:srgbClr val="212529"/>
                </a:solidFill>
                <a:latin typeface="Garamond"/>
              </a:rPr>
              <a:t>Job security is fundamental to retain a teacher, our analysis shows that a full-year contract and pension coverage are strongly correlated with a lower teacher leaving rate.</a:t>
            </a:r>
          </a:p>
          <a:p>
            <a:pPr algn="l">
              <a:lnSpc>
                <a:spcPts val="2432"/>
              </a:lnSpc>
              <a:spcAft>
                <a:spcPts val="2400"/>
              </a:spcAft>
            </a:pPr>
            <a:r>
              <a:rPr sz="1900" b="1" i="0">
                <a:solidFill>
                  <a:srgbClr val="2D6CB5"/>
                </a:solidFill>
                <a:latin typeface="Garamond"/>
              </a:rPr>
              <a:t>▪  </a:t>
            </a:r>
            <a:r>
              <a:rPr sz="1900" b="0" i="0">
                <a:solidFill>
                  <a:srgbClr val="212529"/>
                </a:solidFill>
                <a:latin typeface="Garamond"/>
              </a:rPr>
              <a:t>The financial margin still has room as a retention incentive in the US as most leavers concentrate in the bottom deciles of income.</a:t>
            </a:r>
          </a:p>
          <a:p>
            <a:pPr algn="l">
              <a:lnSpc>
                <a:spcPts val="2432"/>
              </a:lnSpc>
              <a:spcAft>
                <a:spcPts val="2400"/>
              </a:spcAft>
            </a:pPr>
            <a:r>
              <a:rPr sz="1900" b="1" i="0">
                <a:solidFill>
                  <a:srgbClr val="2D6CB5"/>
                </a:solidFill>
                <a:latin typeface="Garamond"/>
              </a:rPr>
              <a:t>▪  </a:t>
            </a:r>
            <a:r>
              <a:rPr sz="1900" b="0" i="0">
                <a:solidFill>
                  <a:srgbClr val="212529"/>
                </a:solidFill>
                <a:latin typeface="Garamond"/>
              </a:rPr>
              <a:t>The most important group of teachers that leave without moving to another job are mothers with a child at home, followed by the young who go back to study. Flexibility can ease the return of that group, and additional qualifications should pay when they come back.</a:t>
            </a:r>
          </a:p>
          <a:p>
            <a:pPr algn="l">
              <a:lnSpc>
                <a:spcPts val="2432"/>
              </a:lnSpc>
              <a:spcAft>
                <a:spcPts val="0"/>
              </a:spcAft>
            </a:pPr>
            <a:r>
              <a:rPr sz="1900" b="1" i="0">
                <a:solidFill>
                  <a:srgbClr val="2D6CB5"/>
                </a:solidFill>
                <a:latin typeface="Garamond"/>
              </a:rPr>
              <a:t>▪  </a:t>
            </a:r>
            <a:r>
              <a:rPr sz="1900" b="0" i="0">
                <a:solidFill>
                  <a:srgbClr val="212529"/>
                </a:solidFill>
                <a:latin typeface="Garamond"/>
              </a:rPr>
              <a:t>Age matters beyond working conditions, the risk of leaving follows the life cycle and peaks at the two ends of a career. Therefore, early-career retention efforts are key (e.g. mentorship, balanced working conditions, secure placements).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32</a:t>
            </a:r>
          </a:p>
        </p:txBody>
      </p:sp>
      <p:sp>
        <p:nvSpPr>
          <p:cNvPr id="4" name="TextBox 3"/>
          <p:cNvSpPr txBox="1"/>
          <p:nvPr/>
        </p:nvSpPr>
        <p:spPr>
          <a:xfrm>
            <a:off x="822960" y="118872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Short term</a:t>
            </a:r>
          </a:p>
        </p:txBody>
      </p:sp>
      <p:sp>
        <p:nvSpPr>
          <p:cNvPr id="5" name="TextBox 4"/>
          <p:cNvSpPr txBox="1"/>
          <p:nvPr/>
        </p:nvSpPr>
        <p:spPr>
          <a:xfrm>
            <a:off x="822960" y="168249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Retirees, about 3% of teachers each year, are a pool that can cover local shortages. They bring experience and positive spillovers.</a:t>
            </a:r>
          </a:p>
        </p:txBody>
      </p:sp>
      <p:sp>
        <p:nvSpPr>
          <p:cNvPr id="6" name="TextBox 5"/>
          <p:cNvSpPr txBox="1"/>
          <p:nvPr/>
        </p:nvSpPr>
        <p:spPr>
          <a:xfrm>
            <a:off x="822960" y="26060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Medium term</a:t>
            </a:r>
          </a:p>
        </p:txBody>
      </p:sp>
      <p:sp>
        <p:nvSpPr>
          <p:cNvPr id="7" name="TextBox 6"/>
          <p:cNvSpPr txBox="1"/>
          <p:nvPr/>
        </p:nvSpPr>
        <p:spPr>
          <a:xfrm>
            <a:off x="822960" y="309981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The young. The probability of leaving is highest at the start of the career, so mentoring and accompaniment belong where the risk is.</a:t>
            </a:r>
          </a:p>
        </p:txBody>
      </p:sp>
      <p:sp>
        <p:nvSpPr>
          <p:cNvPr id="8" name="TextBox 7"/>
          <p:cNvSpPr txBox="1"/>
          <p:nvPr/>
        </p:nvSpPr>
        <p:spPr>
          <a:xfrm>
            <a:off x="822960" y="402336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Across the board</a:t>
            </a:r>
          </a:p>
        </p:txBody>
      </p:sp>
      <p:sp>
        <p:nvSpPr>
          <p:cNvPr id="9" name="TextBox 8"/>
          <p:cNvSpPr txBox="1"/>
          <p:nvPr/>
        </p:nvSpPr>
        <p:spPr>
          <a:xfrm>
            <a:off x="822960" y="451713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Economic security and flexibility, so that teachers who want to stay or to return can do so. Insecurity should not be why a position is left.</a:t>
            </a:r>
          </a:p>
        </p:txBody>
      </p:sp>
      <p:sp>
        <p:nvSpPr>
          <p:cNvPr id="10" name="TextBox 9"/>
          <p:cNvSpPr txBox="1"/>
          <p:nvPr/>
        </p:nvSpPr>
        <p:spPr>
          <a:xfrm>
            <a:off x="822960" y="54406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Caveat</a:t>
            </a:r>
          </a:p>
        </p:txBody>
      </p:sp>
      <p:sp>
        <p:nvSpPr>
          <p:cNvPr id="11" name="TextBox 10"/>
          <p:cNvSpPr txBox="1"/>
          <p:nvPr/>
        </p:nvSpPr>
        <p:spPr>
          <a:xfrm>
            <a:off x="822960" y="5934456"/>
            <a:ext cx="10789920" cy="73152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cxnSp>
        <p:nvCxnSpPr>
          <p:cNvPr id="4" name="Connector 3"/>
          <p:cNvCxnSpPr/>
          <p:nvPr/>
        </p:nvCxnSpPr>
        <p:spPr>
          <a:xfrm>
            <a:off x="822960" y="16459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274320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Instrument</a:t>
            </a:r>
          </a:p>
        </p:txBody>
      </p:sp>
      <p:sp>
        <p:nvSpPr>
          <p:cNvPr id="6" name="TextBox 5"/>
          <p:cNvSpPr txBox="1"/>
          <p:nvPr/>
        </p:nvSpPr>
        <p:spPr>
          <a:xfrm>
            <a:off x="3749039" y="1755648"/>
            <a:ext cx="39319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asks</a:t>
            </a:r>
          </a:p>
        </p:txBody>
      </p:sp>
      <p:sp>
        <p:nvSpPr>
          <p:cNvPr id="7" name="TextBox 6"/>
          <p:cNvSpPr txBox="1"/>
          <p:nvPr/>
        </p:nvSpPr>
        <p:spPr>
          <a:xfrm>
            <a:off x="7863840" y="1755648"/>
            <a:ext cx="356616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produces</a:t>
            </a:r>
          </a:p>
        </p:txBody>
      </p:sp>
      <p:cxnSp>
        <p:nvCxnSpPr>
          <p:cNvPr id="8" name="Connector 7"/>
          <p:cNvCxnSpPr/>
          <p:nvPr/>
        </p:nvCxnSpPr>
        <p:spPr>
          <a:xfrm>
            <a:off x="822960" y="21579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67712"/>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Basic monthly interview</a:t>
            </a:r>
          </a:p>
        </p:txBody>
      </p:sp>
      <p:sp>
        <p:nvSpPr>
          <p:cNvPr id="10" name="TextBox 9"/>
          <p:cNvSpPr txBox="1"/>
          <p:nvPr/>
        </p:nvSpPr>
        <p:spPr>
          <a:xfrm>
            <a:off x="3749039" y="2267712"/>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Labor force status in the reference week, occupation, hours</a:t>
            </a:r>
          </a:p>
        </p:txBody>
      </p:sp>
      <p:sp>
        <p:nvSpPr>
          <p:cNvPr id="11" name="TextBox 10"/>
          <p:cNvSpPr txBox="1"/>
          <p:nvPr/>
        </p:nvSpPr>
        <p:spPr>
          <a:xfrm>
            <a:off x="7863840" y="2267712"/>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official monthly unemployment rate, employment and earnings statistics</a:t>
            </a:r>
          </a:p>
        </p:txBody>
      </p:sp>
      <p:sp>
        <p:nvSpPr>
          <p:cNvPr id="12" name="TextBox 11"/>
          <p:cNvSpPr txBox="1"/>
          <p:nvPr/>
        </p:nvSpPr>
        <p:spPr>
          <a:xfrm>
            <a:off x="822960" y="3154680"/>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Topical supplements</a:t>
            </a:r>
          </a:p>
        </p:txBody>
      </p:sp>
      <p:sp>
        <p:nvSpPr>
          <p:cNvPr id="13" name="TextBox 12"/>
          <p:cNvSpPr txBox="1"/>
          <p:nvPr/>
        </p:nvSpPr>
        <p:spPr>
          <a:xfrm>
            <a:off x="3749039" y="3154680"/>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School enrollment (Oct.), voting (Nov.), tobacco, computer use</a:t>
            </a:r>
          </a:p>
        </p:txBody>
      </p:sp>
      <p:sp>
        <p:nvSpPr>
          <p:cNvPr id="14" name="TextBox 13"/>
          <p:cNvSpPr txBox="1"/>
          <p:nvPr/>
        </p:nvSpPr>
        <p:spPr>
          <a:xfrm>
            <a:off x="7863840" y="3154680"/>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Topic-specific official statistics</a:t>
            </a:r>
          </a:p>
        </p:txBody>
      </p:sp>
      <p:sp>
        <p:nvSpPr>
          <p:cNvPr id="15" name="TextBox 14"/>
          <p:cNvSpPr txBox="1"/>
          <p:nvPr/>
        </p:nvSpPr>
        <p:spPr>
          <a:xfrm>
            <a:off x="822960" y="3904488"/>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March supplement (ASEC)</a:t>
            </a:r>
          </a:p>
        </p:txBody>
      </p:sp>
      <p:sp>
        <p:nvSpPr>
          <p:cNvPr id="16" name="TextBox 15"/>
          <p:cNvSpPr txBox="1"/>
          <p:nvPr/>
        </p:nvSpPr>
        <p:spPr>
          <a:xfrm>
            <a:off x="3749039" y="3904488"/>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previous calendar year, from the longest job to weeks, income and benefits</a:t>
            </a:r>
          </a:p>
        </p:txBody>
      </p:sp>
      <p:sp>
        <p:nvSpPr>
          <p:cNvPr id="17" name="TextBox 16"/>
          <p:cNvSpPr txBox="1"/>
          <p:nvPr/>
        </p:nvSpPr>
        <p:spPr>
          <a:xfrm>
            <a:off x="7863840" y="3904488"/>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473659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3317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441448"/>
            <a:ext cx="256032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437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53512"/>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337560"/>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721608"/>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14223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7997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cxnSp>
        <p:nvCxnSpPr>
          <p:cNvPr id="4" name="Connector 3"/>
          <p:cNvCxnSpPr/>
          <p:nvPr/>
        </p:nvCxnSpPr>
        <p:spPr>
          <a:xfrm>
            <a:off x="822960" y="1600200"/>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09928"/>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field</a:t>
            </a:r>
          </a:p>
        </p:txBody>
      </p:sp>
      <p:sp>
        <p:nvSpPr>
          <p:cNvPr id="6" name="TextBox 5"/>
          <p:cNvSpPr txBox="1"/>
          <p:nvPr/>
        </p:nvSpPr>
        <p:spPr>
          <a:xfrm>
            <a:off x="6309360" y="1709928"/>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public files</a:t>
            </a:r>
          </a:p>
        </p:txBody>
      </p:sp>
      <p:cxnSp>
        <p:nvCxnSpPr>
          <p:cNvPr id="7" name="Connector 6"/>
          <p:cNvCxnSpPr/>
          <p:nvPr/>
        </p:nvCxnSpPr>
        <p:spPr>
          <a:xfrm>
            <a:off x="822960" y="2112264"/>
            <a:ext cx="1078992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221992"/>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Roster carried forward by the interviewer</a:t>
            </a:r>
          </a:p>
        </p:txBody>
      </p:sp>
      <p:sp>
        <p:nvSpPr>
          <p:cNvPr id="9" name="TextBox 8"/>
          <p:cNvSpPr txBox="1"/>
          <p:nvPr/>
        </p:nvSpPr>
        <p:spPr>
          <a:xfrm>
            <a:off x="6309360" y="2221992"/>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 person identifier at all</a:t>
            </a:r>
          </a:p>
        </p:txBody>
      </p:sp>
      <p:sp>
        <p:nvSpPr>
          <p:cNvPr id="10" name="TextBox 9"/>
          <p:cNvSpPr txBox="1"/>
          <p:nvPr/>
        </p:nvSpPr>
        <p:spPr>
          <a:xfrm>
            <a:off x="822960" y="2807208"/>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member keeps a line number</a:t>
            </a:r>
          </a:p>
        </p:txBody>
      </p:sp>
      <p:sp>
        <p:nvSpPr>
          <p:cNvPr id="11" name="TextBox 10"/>
          <p:cNvSpPr txBox="1"/>
          <p:nvPr/>
        </p:nvSpPr>
        <p:spPr>
          <a:xfrm>
            <a:off x="6309360" y="2807208"/>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Household id + dwelling id + line number reconstruct it</a:t>
            </a:r>
          </a:p>
        </p:txBody>
      </p:sp>
      <p:sp>
        <p:nvSpPr>
          <p:cNvPr id="12" name="TextBox 11"/>
          <p:cNvSpPr txBox="1"/>
          <p:nvPr/>
        </p:nvSpPr>
        <p:spPr>
          <a:xfrm>
            <a:off x="822960" y="3575304"/>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Occupation asked by dependent interviewing month to month</a:t>
            </a:r>
          </a:p>
        </p:txBody>
      </p:sp>
      <p:sp>
        <p:nvSpPr>
          <p:cNvPr id="13" name="TextBox 12"/>
          <p:cNvSpPr txBox="1"/>
          <p:nvPr/>
        </p:nvSpPr>
        <p:spPr>
          <a:xfrm>
            <a:off x="6309360" y="3575304"/>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Validated on sex, race, age advancing 0–2 years</a:t>
            </a:r>
          </a:p>
        </p:txBody>
      </p:sp>
      <p:sp>
        <p:nvSpPr>
          <p:cNvPr id="14" name="TextBox 13"/>
          <p:cNvSpPr txBox="1"/>
          <p:nvPr/>
        </p:nvSpPr>
        <p:spPr>
          <a:xfrm>
            <a:off x="822960" y="4343400"/>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Identity is known</a:t>
            </a:r>
          </a:p>
        </p:txBody>
      </p:sp>
      <p:sp>
        <p:nvSpPr>
          <p:cNvPr id="15" name="TextBox 14"/>
          <p:cNvSpPr txBox="1"/>
          <p:nvPr/>
        </p:nvSpPr>
        <p:spPr>
          <a:xfrm>
            <a:off x="6309360" y="4343400"/>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5312664"/>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pic>
        <p:nvPicPr>
          <p:cNvPr id="4" name="Picture 3" descr="profs_ext.png"/>
          <p:cNvPicPr>
            <a:picLocks noChangeAspect="1"/>
          </p:cNvPicPr>
          <p:nvPr/>
        </p:nvPicPr>
        <p:blipFill>
          <a:blip r:embed="rId2"/>
          <a:stretch>
            <a:fillRect/>
          </a:stretch>
        </p:blipFill>
        <p:spPr>
          <a:xfrm>
            <a:off x="1563052" y="1097280"/>
            <a:ext cx="9035415" cy="4663440"/>
          </a:xfrm>
          <a:prstGeom prst="rect">
            <a:avLst/>
          </a:prstGeom>
        </p:spPr>
      </p:pic>
      <p:sp>
        <p:nvSpPr>
          <p:cNvPr id="5" name="TextBox 4"/>
          <p:cNvSpPr txBox="1"/>
          <p:nvPr/>
        </p:nvSpPr>
        <p:spPr>
          <a:xfrm>
            <a:off x="822960" y="5897880"/>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Three-year moving averages, for readability with nine professions. The main charts use the raw annual series.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cxnSp>
        <p:nvCxnSpPr>
          <p:cNvPr id="4" name="Connector 3"/>
          <p:cNvCxnSpPr/>
          <p:nvPr/>
        </p:nvCxnSpPr>
        <p:spPr>
          <a:xfrm>
            <a:off x="548640" y="141732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27048"/>
            <a:ext cx="3017520" cy="320040"/>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47088"/>
            <a:ext cx="1097280" cy="320040"/>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47088"/>
            <a:ext cx="1097280" cy="320040"/>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185416"/>
            <a:ext cx="53949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61518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293522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25526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57530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38953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25196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398264"/>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cxnSp>
        <p:nvCxnSpPr>
          <p:cNvPr id="4" name="Connector 3"/>
          <p:cNvCxnSpPr/>
          <p:nvPr/>
        </p:nvCxnSpPr>
        <p:spPr>
          <a:xfrm>
            <a:off x="822960" y="1554480"/>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Of every 100 employed leavers…</a:t>
            </a:r>
          </a:p>
        </p:txBody>
      </p:sp>
      <p:sp>
        <p:nvSpPr>
          <p:cNvPr id="6" name="TextBox 5"/>
          <p:cNvSpPr txBox="1"/>
          <p:nvPr/>
        </p:nvSpPr>
        <p:spPr>
          <a:xfrm>
            <a:off x="7955279" y="1664207"/>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share</a:t>
            </a:r>
          </a:p>
        </p:txBody>
      </p:sp>
      <p:cxnSp>
        <p:nvCxnSpPr>
          <p:cNvPr id="7" name="Connector 6"/>
          <p:cNvCxnSpPr/>
          <p:nvPr/>
        </p:nvCxnSpPr>
        <p:spPr>
          <a:xfrm>
            <a:off x="822960" y="2066543"/>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Education, non-teaching</a:t>
            </a:r>
          </a:p>
        </p:txBody>
      </p:sp>
      <p:sp>
        <p:nvSpPr>
          <p:cNvPr id="9" name="TextBox 8"/>
          <p:cNvSpPr txBox="1"/>
          <p:nvPr/>
        </p:nvSpPr>
        <p:spPr>
          <a:xfrm>
            <a:off x="7955279" y="2176272"/>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22.6</a:t>
            </a:r>
          </a:p>
        </p:txBody>
      </p:sp>
      <p:sp>
        <p:nvSpPr>
          <p:cNvPr id="10" name="TextBox 9"/>
          <p:cNvSpPr txBox="1"/>
          <p:nvPr/>
        </p:nvSpPr>
        <p:spPr>
          <a:xfrm>
            <a:off x="822960" y="2560320"/>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Care</a:t>
            </a:r>
          </a:p>
        </p:txBody>
      </p:sp>
      <p:sp>
        <p:nvSpPr>
          <p:cNvPr id="11" name="TextBox 10"/>
          <p:cNvSpPr txBox="1"/>
          <p:nvPr/>
        </p:nvSpPr>
        <p:spPr>
          <a:xfrm>
            <a:off x="7955279" y="2560320"/>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8.5</a:t>
            </a:r>
          </a:p>
        </p:txBody>
      </p:sp>
      <p:sp>
        <p:nvSpPr>
          <p:cNvPr id="12" name="TextBox 11"/>
          <p:cNvSpPr txBox="1"/>
          <p:nvPr/>
        </p:nvSpPr>
        <p:spPr>
          <a:xfrm>
            <a:off x="822960" y="2944368"/>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Professional and managerial</a:t>
            </a:r>
          </a:p>
        </p:txBody>
      </p:sp>
      <p:sp>
        <p:nvSpPr>
          <p:cNvPr id="13" name="TextBox 12"/>
          <p:cNvSpPr txBox="1"/>
          <p:nvPr/>
        </p:nvSpPr>
        <p:spPr>
          <a:xfrm>
            <a:off x="7955279" y="2944368"/>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32.4</a:t>
            </a:r>
          </a:p>
        </p:txBody>
      </p:sp>
      <p:sp>
        <p:nvSpPr>
          <p:cNvPr id="14" name="TextBox 13"/>
          <p:cNvSpPr txBox="1"/>
          <p:nvPr/>
        </p:nvSpPr>
        <p:spPr>
          <a:xfrm>
            <a:off x="822960" y="3328415"/>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Sales, office and manual</a:t>
            </a:r>
          </a:p>
        </p:txBody>
      </p:sp>
      <p:sp>
        <p:nvSpPr>
          <p:cNvPr id="15" name="TextBox 14"/>
          <p:cNvSpPr txBox="1"/>
          <p:nvPr/>
        </p:nvSpPr>
        <p:spPr>
          <a:xfrm>
            <a:off x="7955279" y="3328415"/>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36.5</a:t>
            </a:r>
          </a:p>
        </p:txBody>
      </p:sp>
      <p:cxnSp>
        <p:nvCxnSpPr>
          <p:cNvPr id="16" name="Connector 15"/>
          <p:cNvCxnSpPr/>
          <p:nvPr/>
        </p:nvCxnSpPr>
        <p:spPr>
          <a:xfrm>
            <a:off x="822960" y="3730751"/>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840479"/>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8F2B36"/>
                </a:solidFill>
                <a:latin typeface="Garamond"/>
              </a:rPr>
              <a:t>Memo: occupations where fewer than half of US workers hold a college degree (in red)</a:t>
            </a:r>
          </a:p>
        </p:txBody>
      </p:sp>
      <p:sp>
        <p:nvSpPr>
          <p:cNvPr id="18" name="TextBox 17"/>
          <p:cNvSpPr txBox="1"/>
          <p:nvPr/>
        </p:nvSpPr>
        <p:spPr>
          <a:xfrm>
            <a:off x="7955279" y="3840479"/>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8F2B36"/>
                </a:solidFill>
                <a:latin typeface="Garamond"/>
              </a:rPr>
              <a:t>36.3</a:t>
            </a:r>
          </a:p>
        </p:txBody>
      </p:sp>
      <p:cxnSp>
        <p:nvCxnSpPr>
          <p:cNvPr id="19" name="Connector 18"/>
          <p:cNvCxnSpPr/>
          <p:nvPr/>
        </p:nvCxnSpPr>
        <p:spPr>
          <a:xfrm>
            <a:off x="822960" y="4261103"/>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498847"/>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narrow core moves the pooled rate by 0.1 points.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59893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263640"/>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391656"/>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00760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135624"/>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the CPS observes, of why teachers leave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49</a:t>
            </a:r>
          </a:p>
        </p:txBody>
      </p:sp>
      <p:cxnSp>
        <p:nvCxnSpPr>
          <p:cNvPr id="4" name="Connector 3"/>
          <p:cNvCxnSpPr/>
          <p:nvPr/>
        </p:nvCxnSpPr>
        <p:spPr>
          <a:xfrm>
            <a:off x="822960" y="1645920"/>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694944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Reasons in the literature</a:t>
            </a:r>
          </a:p>
        </p:txBody>
      </p:sp>
      <p:sp>
        <p:nvSpPr>
          <p:cNvPr id="6" name="TextBox 5"/>
          <p:cNvSpPr txBox="1"/>
          <p:nvPr/>
        </p:nvSpPr>
        <p:spPr>
          <a:xfrm>
            <a:off x="7955279" y="1755648"/>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In the CPS?</a:t>
            </a:r>
          </a:p>
        </p:txBody>
      </p:sp>
      <p:cxnSp>
        <p:nvCxnSpPr>
          <p:cNvPr id="7" name="Connector 6"/>
          <p:cNvCxnSpPr/>
          <p:nvPr/>
        </p:nvCxnSpPr>
        <p:spPr>
          <a:xfrm>
            <a:off x="822960" y="2194560"/>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304288"/>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Working conditions</a:t>
            </a:r>
          </a:p>
        </p:txBody>
      </p:sp>
      <p:sp>
        <p:nvSpPr>
          <p:cNvPr id="9" name="TextBox 8"/>
          <p:cNvSpPr txBox="1"/>
          <p:nvPr/>
        </p:nvSpPr>
        <p:spPr>
          <a:xfrm>
            <a:off x="7955279" y="2304288"/>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0" name="TextBox 9"/>
          <p:cNvSpPr txBox="1"/>
          <p:nvPr/>
        </p:nvSpPr>
        <p:spPr>
          <a:xfrm>
            <a:off x="822960" y="2724912"/>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Organizational support</a:t>
            </a:r>
          </a:p>
        </p:txBody>
      </p:sp>
      <p:sp>
        <p:nvSpPr>
          <p:cNvPr id="11" name="TextBox 10"/>
          <p:cNvSpPr txBox="1"/>
          <p:nvPr/>
        </p:nvSpPr>
        <p:spPr>
          <a:xfrm>
            <a:off x="7955279" y="2724912"/>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2" name="TextBox 11"/>
          <p:cNvSpPr txBox="1"/>
          <p:nvPr/>
        </p:nvSpPr>
        <p:spPr>
          <a:xfrm>
            <a:off x="822960" y="3145536"/>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Autonomy and intrinsic motives</a:t>
            </a:r>
          </a:p>
        </p:txBody>
      </p:sp>
      <p:sp>
        <p:nvSpPr>
          <p:cNvPr id="13" name="TextBox 12"/>
          <p:cNvSpPr txBox="1"/>
          <p:nvPr/>
        </p:nvSpPr>
        <p:spPr>
          <a:xfrm>
            <a:off x="7955279" y="3145536"/>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4" name="TextBox 13"/>
          <p:cNvSpPr txBox="1"/>
          <p:nvPr/>
        </p:nvSpPr>
        <p:spPr>
          <a:xfrm>
            <a:off x="822960" y="3566160"/>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Financial factors</a:t>
            </a:r>
          </a:p>
        </p:txBody>
      </p:sp>
      <p:sp>
        <p:nvSpPr>
          <p:cNvPr id="15" name="TextBox 14"/>
          <p:cNvSpPr txBox="1"/>
          <p:nvPr/>
        </p:nvSpPr>
        <p:spPr>
          <a:xfrm>
            <a:off x="7955279" y="3566160"/>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sp>
        <p:nvSpPr>
          <p:cNvPr id="16" name="TextBox 15"/>
          <p:cNvSpPr txBox="1"/>
          <p:nvPr/>
        </p:nvSpPr>
        <p:spPr>
          <a:xfrm>
            <a:off x="822960" y="398678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Personal life-cycle motives</a:t>
            </a:r>
          </a:p>
        </p:txBody>
      </p:sp>
      <p:sp>
        <p:nvSpPr>
          <p:cNvPr id="17" name="TextBox 16"/>
          <p:cNvSpPr txBox="1"/>
          <p:nvPr/>
        </p:nvSpPr>
        <p:spPr>
          <a:xfrm>
            <a:off x="7955279" y="398678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18" name="Connector 17"/>
          <p:cNvCxnSpPr/>
          <p:nvPr/>
        </p:nvCxnSpPr>
        <p:spPr>
          <a:xfrm>
            <a:off x="822960" y="4425696"/>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53542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Sociodemographics</a:t>
            </a:r>
          </a:p>
        </p:txBody>
      </p:sp>
      <p:sp>
        <p:nvSpPr>
          <p:cNvPr id="20" name="TextBox 19"/>
          <p:cNvSpPr txBox="1"/>
          <p:nvPr/>
        </p:nvSpPr>
        <p:spPr>
          <a:xfrm>
            <a:off x="7955279" y="453542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21" name="Connector 20"/>
          <p:cNvCxnSpPr/>
          <p:nvPr/>
        </p:nvCxnSpPr>
        <p:spPr>
          <a:xfrm>
            <a:off x="822960" y="4992624"/>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