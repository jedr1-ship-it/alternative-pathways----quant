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84"/>
              </a:lnSpc>
            </a:pPr>
            <a:r>
              <a:rPr sz="2800" b="1">
                <a:solidFill>
                  <a:srgbClr val="102D5E"/>
                </a:solidFill>
                <a:latin typeface="Garamond"/>
              </a:rPr>
              <a:t>Of every 100 leavers (average, 2020–2024)</a:t>
            </a:r>
          </a:p>
        </p:txBody>
      </p:sp>
      <p:pic>
        <p:nvPicPr>
          <p:cNvPr id="3" name="Picture 2" descr="flow_employed_5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85" y="1051560"/>
            <a:ext cx="9446149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875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102D5E"/>
                </a:solidFill>
                <a:latin typeface="Garamond"/>
              </a:rPr>
              <a:t>Key message.  </a:t>
            </a:r>
            <a:r>
              <a:rPr sz="1600" b="0">
                <a:solidFill>
                  <a:srgbClr val="212529"/>
                </a:solidFill>
                <a:latin typeface="Garamond"/>
              </a:rPr>
              <a:t>A third find another job, a third retire, and the rest split between early labor-force exit and unemployment.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822960" y="6327648"/>
            <a:ext cx="1973275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Pooled 1997–24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84"/>
              </a:lnSpc>
            </a:pPr>
            <a:r>
              <a:rPr sz="2800" b="1">
                <a:solidFill>
                  <a:srgbClr val="102D5E"/>
                </a:solidFill>
                <a:latin typeface="Garamond"/>
              </a:rPr>
              <a:t>The same flow, pooled 1997–2024</a:t>
            </a:r>
          </a:p>
        </p:txBody>
      </p:sp>
      <p:pic>
        <p:nvPicPr>
          <p:cNvPr id="3" name="Picture 2" descr="flow_employed_poo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85" y="1051560"/>
            <a:ext cx="9446149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7150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350" b="0">
                <a:solidFill>
                  <a:srgbClr val="212529"/>
                </a:solidFill>
                <a:latin typeface="Garamond"/>
              </a:rPr>
              <a:t>Over the whole period 1997–2024 (6,866 leavers, destination groups mapped across the 1990 and 2002/2010/2018 classifications) the composition barely moves: 27 to another job, 33 retired, 28 out of the labor force before 55 and 12 unemployed; the employed split is 22 / 8 / 30 / 40 percent. The five-year window is not driving the picture.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