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584"/>
              </a:lnSpc>
            </a:pPr>
            <a:r>
              <a:rPr sz="2800" b="1">
                <a:solidFill>
                  <a:srgbClr val="102D5E"/>
                </a:solidFill>
                <a:latin typeface="Garamond"/>
              </a:rPr>
              <a:t>Of every 100 leavers (average, 2020–2024)</a:t>
            </a:r>
          </a:p>
        </p:txBody>
      </p:sp>
      <p:pic>
        <p:nvPicPr>
          <p:cNvPr id="3" name="Picture 2" descr="flow_employed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</a:pPr>
            <a:r>
              <a:rPr sz="1600" b="1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>
                <a:solidFill>
                  <a:srgbClr val="212529"/>
                </a:solidFill>
                <a:latin typeface="Garamond"/>
              </a:rPr>
              <a:t>A third find another job, a third retire, and the rest split between early labor-force exit and unemployment.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822960" y="6327648"/>
            <a:ext cx="1973275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Pooled 2002–24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584"/>
              </a:lnSpc>
            </a:pPr>
            <a:r>
              <a:rPr sz="2800" b="1">
                <a:solidFill>
                  <a:srgbClr val="102D5E"/>
                </a:solidFill>
                <a:latin typeface="Garamond"/>
              </a:rPr>
              <a:t>The same flow, pooled 2002–2024</a:t>
            </a:r>
          </a:p>
        </p:txBody>
      </p:sp>
      <p:pic>
        <p:nvPicPr>
          <p:cNvPr id="3" name="Picture 2" descr="flow_employed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71500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350" b="0">
                <a:solidFill>
                  <a:srgbClr val="212529"/>
                </a:solidFill>
                <a:latin typeface="Garamond"/>
              </a:rPr>
              <a:t>Over the whole comparable-codes period (5,791 leavers) the composition barely moves: 26 to another job, 35 retired, 27 out of the labor force before 55 and 12 unemployed; the employed split is 22 / 9 / 30 / 39 percent. The five-year window is not driving the picture.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