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slide" Target="slide5.xml"/><Relationship Id="rId4" Type="http://schemas.openxmlformats.org/officeDocument/2006/relationships/slide" Target="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slide" Target="slide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slide" Target="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slide" Target="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471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102D5E"/>
                </a:solidFill>
                <a:latin typeface="Garamond"/>
              </a:rPr>
              <a:t>Of every 100 leavers (average, 2020–2024)</a:t>
            </a:r>
          </a:p>
        </p:txBody>
      </p:sp>
      <p:pic>
        <p:nvPicPr>
          <p:cNvPr id="3" name="Picture 2" descr="flow_employed_5y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7685" y="1051560"/>
            <a:ext cx="9446149" cy="4526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5687568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048"/>
              </a:lnSpc>
              <a:spcAft>
                <a:spcPts val="0"/>
              </a:spcAft>
            </a:pPr>
            <a:r>
              <a:rPr sz="1600" b="1" i="0">
                <a:solidFill>
                  <a:srgbClr val="102D5E"/>
                </a:solidFill>
                <a:latin typeface="Garamond"/>
              </a:rPr>
              <a:t>Key message.  </a:t>
            </a:r>
            <a:r>
              <a:rPr sz="1600" b="0" i="0">
                <a:solidFill>
                  <a:srgbClr val="212529"/>
                </a:solidFill>
                <a:latin typeface="Garamond"/>
              </a:rPr>
              <a:t>A third find another job, a third retire, and the rest split between early labor-force exit and unemployment.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822960" y="6327648"/>
            <a:ext cx="1973275" cy="365760"/>
          </a:xfrm>
          <a:prstGeom prst="roundRect">
            <a:avLst/>
          </a:prstGeom>
          <a:solidFill>
            <a:srgbClr val="BE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1800" b="1">
                <a:solidFill>
                  <a:srgbClr val="102D5E"/>
                </a:solidFill>
                <a:latin typeface="Garamond"/>
              </a:rPr>
              <a:t>☞ </a:t>
            </a:r>
            <a:r>
              <a:rPr sz="1400">
                <a:solidFill>
                  <a:srgbClr val="102D5E"/>
                </a:solidFill>
                <a:latin typeface="Garamond"/>
              </a:rPr>
              <a:t>Pooled 1997–24</a:t>
            </a:r>
          </a:p>
        </p:txBody>
      </p:sp>
      <p:sp>
        <p:nvSpPr>
          <p:cNvPr id="6" name="Rounded Rectangle 5">
            <a:hlinkClick action="ppaction://hlinksldjump" r:id="rId4"/>
          </p:cNvPr>
          <p:cNvSpPr/>
          <p:nvPr/>
        </p:nvSpPr>
        <p:spPr>
          <a:xfrm>
            <a:off x="2942539" y="6327648"/>
            <a:ext cx="2266797" cy="365760"/>
          </a:xfrm>
          <a:prstGeom prst="roundRect">
            <a:avLst/>
          </a:prstGeom>
          <a:solidFill>
            <a:srgbClr val="BE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1800" b="1">
                <a:solidFill>
                  <a:srgbClr val="102D5E"/>
                </a:solidFill>
                <a:latin typeface="Garamond"/>
              </a:rPr>
              <a:t>☞ </a:t>
            </a:r>
            <a:r>
              <a:rPr sz="1400">
                <a:solidFill>
                  <a:srgbClr val="102D5E"/>
                </a:solidFill>
                <a:latin typeface="Garamond"/>
              </a:rPr>
              <a:t>Vs NCES follow-up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471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102D5E"/>
                </a:solidFill>
                <a:latin typeface="Garamond"/>
              </a:rPr>
              <a:t>Who leaves the labor force before 55 (average, 2020–2024)</a:t>
            </a:r>
          </a:p>
        </p:txBody>
      </p:sp>
      <p:pic>
        <p:nvPicPr>
          <p:cNvPr id="3" name="Picture 2" descr="flow_olf55_5y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7685" y="1051560"/>
            <a:ext cx="9446149" cy="4526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5687568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048"/>
              </a:lnSpc>
              <a:spcAft>
                <a:spcPts val="0"/>
              </a:spcAft>
            </a:pPr>
            <a:r>
              <a:rPr sz="1600" b="1" i="0">
                <a:solidFill>
                  <a:srgbClr val="102D5E"/>
                </a:solidFill>
                <a:latin typeface="Garamond"/>
              </a:rPr>
              <a:t>Key message.  </a:t>
            </a:r>
            <a:r>
              <a:rPr sz="1600" b="0" i="0">
                <a:solidFill>
                  <a:srgbClr val="212529"/>
                </a:solidFill>
                <a:latin typeface="Garamond"/>
              </a:rPr>
              <a:t>Early labor-force exit is mostly a family story. More than half of this group are mothers with a child at home.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822960" y="6327648"/>
            <a:ext cx="1973275" cy="365760"/>
          </a:xfrm>
          <a:prstGeom prst="roundRect">
            <a:avLst/>
          </a:prstGeom>
          <a:solidFill>
            <a:srgbClr val="BE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1800" b="1">
                <a:solidFill>
                  <a:srgbClr val="102D5E"/>
                </a:solidFill>
                <a:latin typeface="Garamond"/>
              </a:rPr>
              <a:t>☞ </a:t>
            </a:r>
            <a:r>
              <a:rPr sz="1400">
                <a:solidFill>
                  <a:srgbClr val="102D5E"/>
                </a:solidFill>
                <a:latin typeface="Garamond"/>
              </a:rPr>
              <a:t>Pooled 1997–24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471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102D5E"/>
                </a:solidFill>
                <a:latin typeface="Garamond"/>
              </a:rPr>
              <a:t>And the youngest of them leave to study</a:t>
            </a:r>
          </a:p>
        </p:txBody>
      </p:sp>
      <p:pic>
        <p:nvPicPr>
          <p:cNvPr id="3" name="Picture 2" descr="study_bygro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7685" y="1051560"/>
            <a:ext cx="9446149" cy="4526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5687568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048"/>
              </a:lnSpc>
              <a:spcAft>
                <a:spcPts val="0"/>
              </a:spcAft>
            </a:pPr>
            <a:r>
              <a:rPr sz="1600" b="1" i="0">
                <a:solidFill>
                  <a:srgbClr val="102D5E"/>
                </a:solidFill>
                <a:latin typeface="Garamond"/>
              </a:rPr>
              <a:t>Key message.  </a:t>
            </a:r>
            <a:r>
              <a:rPr sz="1600" b="0" i="0">
                <a:solidFill>
                  <a:srgbClr val="212529"/>
                </a:solidFill>
                <a:latin typeface="Garamond"/>
              </a:rPr>
              <a:t>Studying is the exit of the young and the childless, not of the mothers. Among leavers under 30, almost half are enrolled in school.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471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102D5E"/>
                </a:solidFill>
                <a:latin typeface="Garamond"/>
              </a:rPr>
              <a:t>Three margins for re-attraction policies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816"/>
              </a:lnSpc>
              <a:spcAft>
                <a:spcPts val="0"/>
              </a:spcAft>
            </a:pPr>
            <a:r>
              <a:rPr sz="2200" b="1" i="0">
                <a:solidFill>
                  <a:srgbClr val="2D6CB5"/>
                </a:solidFill>
                <a:latin typeface="Garamond"/>
              </a:rPr>
              <a:t>Retirees </a:t>
            </a:r>
            <a:r>
              <a:rPr sz="1800" b="0" i="0">
                <a:solidFill>
                  <a:srgbClr val="6B7480"/>
                </a:solidFill>
                <a:latin typeface="Garamond"/>
              </a:rPr>
              <a:t>(out of the labor force, over 55)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7899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432"/>
              </a:lnSpc>
              <a:spcAft>
                <a:spcPts val="0"/>
              </a:spcAft>
            </a:pPr>
            <a:r>
              <a:rPr sz="1900" b="0" i="0">
                <a:solidFill>
                  <a:srgbClr val="212529"/>
                </a:solidFill>
                <a:latin typeface="Garamond"/>
              </a:rPr>
              <a:t>About 3% of teachers retire each year, a third of all exits. Delaying retirement extends careers and can be a short-term solution to local teacher shortages, but it does not reintegrate anyone.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816"/>
              </a:lnSpc>
              <a:spcAft>
                <a:spcPts val="0"/>
              </a:spcAft>
            </a:pPr>
            <a:r>
              <a:rPr sz="2200" b="1" i="0">
                <a:solidFill>
                  <a:srgbClr val="2D6CB5"/>
                </a:solidFill>
                <a:latin typeface="Garamond"/>
              </a:rPr>
              <a:t>Switchers </a:t>
            </a:r>
            <a:r>
              <a:rPr sz="1800" b="0" i="0">
                <a:solidFill>
                  <a:srgbClr val="6B7480"/>
                </a:solidFill>
                <a:latin typeface="Garamond"/>
              </a:rPr>
              <a:t>(employed in another job)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37560"/>
            <a:ext cx="107899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432"/>
              </a:lnSpc>
              <a:spcAft>
                <a:spcPts val="0"/>
              </a:spcAft>
            </a:pPr>
            <a:r>
              <a:rPr sz="1900" b="0" i="0">
                <a:solidFill>
                  <a:srgbClr val="212529"/>
                </a:solidFill>
                <a:latin typeface="Garamond"/>
              </a:rPr>
              <a:t>About 2% move to another job each year, often to jobs that do not require a degree. A real margin, but shortages cannot be closed through re-attraction alone.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52628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816"/>
              </a:lnSpc>
              <a:spcAft>
                <a:spcPts val="0"/>
              </a:spcAft>
            </a:pPr>
            <a:r>
              <a:rPr sz="2200" b="1" i="0">
                <a:solidFill>
                  <a:srgbClr val="2D6CB5"/>
                </a:solidFill>
                <a:latin typeface="Garamond"/>
              </a:rPr>
              <a:t>Early exits </a:t>
            </a:r>
            <a:r>
              <a:rPr sz="1800" b="0" i="0">
                <a:solidFill>
                  <a:srgbClr val="6B7480"/>
                </a:solidFill>
                <a:latin typeface="Garamond"/>
              </a:rPr>
              <a:t>(out of the labor force, under 55)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029200"/>
            <a:ext cx="107899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432"/>
              </a:lnSpc>
              <a:spcAft>
                <a:spcPts val="0"/>
              </a:spcAft>
            </a:pPr>
            <a:r>
              <a:rPr sz="1900" b="0" i="0">
                <a:solidFill>
                  <a:srgbClr val="212529"/>
                </a:solidFill>
                <a:latin typeface="Garamond"/>
              </a:rPr>
              <a:t>About 2% leave the labor force before 55 each year. Most are mothers at home, for whom flexibility and re-entry paths may facilitate reintegration. This also applies to the ones that leave to study.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471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102D5E"/>
                </a:solidFill>
                <a:latin typeface="Garamond"/>
              </a:rPr>
              <a:t>The same flow, pooled 1997–2024</a:t>
            </a:r>
          </a:p>
        </p:txBody>
      </p:sp>
      <p:pic>
        <p:nvPicPr>
          <p:cNvPr id="3" name="Picture 2" descr="flow_employed_pool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7685" y="1051560"/>
            <a:ext cx="9446149" cy="4526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5715000"/>
            <a:ext cx="107899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728"/>
              </a:lnSpc>
              <a:spcAft>
                <a:spcPts val="0"/>
              </a:spcAft>
            </a:pPr>
            <a:r>
              <a:rPr sz="1350" b="0" i="0">
                <a:solidFill>
                  <a:srgbClr val="212529"/>
                </a:solidFill>
                <a:latin typeface="Garamond"/>
              </a:rPr>
              <a:t>Over the whole period 1997–2024 (6,866 leavers, destination groups mapped across the 1990 and 2002/2010/2018 classifications) the composition barely moves: 27 to another job, 33 retired, 28 out of the labor force before 55 and 12 unemployed; the employed split is 22 / 8 / 30 / 40 percent. The five-year window is not driving the picture.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10469880" y="6327648"/>
            <a:ext cx="994867" cy="365760"/>
          </a:xfrm>
          <a:prstGeom prst="roundRect">
            <a:avLst/>
          </a:prstGeom>
          <a:solidFill>
            <a:srgbClr val="BE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1800" b="1">
                <a:solidFill>
                  <a:srgbClr val="102D5E"/>
                </a:solidFill>
                <a:latin typeface="Garamond"/>
              </a:rPr>
              <a:t>☞ </a:t>
            </a:r>
            <a:r>
              <a:rPr sz="1400">
                <a:solidFill>
                  <a:srgbClr val="102D5E"/>
                </a:solidFill>
                <a:latin typeface="Garamond"/>
              </a:rPr>
              <a:t>Back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471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102D5E"/>
                </a:solidFill>
                <a:latin typeface="Garamond"/>
              </a:rPr>
              <a:t>The same cascade, pooled 1997–2024</a:t>
            </a:r>
          </a:p>
        </p:txBody>
      </p:sp>
      <p:pic>
        <p:nvPicPr>
          <p:cNvPr id="3" name="Picture 2" descr="flow_olf55_pool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7685" y="1051560"/>
            <a:ext cx="9446149" cy="4526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5715000"/>
            <a:ext cx="107899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728"/>
              </a:lnSpc>
              <a:spcAft>
                <a:spcPts val="0"/>
              </a:spcAft>
            </a:pPr>
            <a:r>
              <a:rPr sz="1350" b="0" i="0">
                <a:solidFill>
                  <a:srgbClr val="212529"/>
                </a:solidFill>
                <a:latin typeface="Garamond"/>
              </a:rPr>
              <a:t>Over the whole period (6,931 leavers) the picture is the same: 29 of every 100 leavers exit the labor force before 55, and 53% of them are mothers with a child at home (15 of the 29). The five-year window is not driving the composition.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10469880" y="6327648"/>
            <a:ext cx="994867" cy="365760"/>
          </a:xfrm>
          <a:prstGeom prst="roundRect">
            <a:avLst/>
          </a:prstGeom>
          <a:solidFill>
            <a:srgbClr val="BE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1800" b="1">
                <a:solidFill>
                  <a:srgbClr val="102D5E"/>
                </a:solidFill>
                <a:latin typeface="Garamond"/>
              </a:rPr>
              <a:t>☞ </a:t>
            </a:r>
            <a:r>
              <a:rPr sz="1400">
                <a:solidFill>
                  <a:srgbClr val="102D5E"/>
                </a:solidFill>
                <a:latin typeface="Garamond"/>
              </a:rPr>
              <a:t>Back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