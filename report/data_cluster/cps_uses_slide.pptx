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</a:pPr>
            <a:r>
              <a:rPr sz="2800" b="1">
                <a:solidFill>
                  <a:srgbClr val="102D5E"/>
                </a:solidFill>
                <a:latin typeface="Garamond"/>
              </a:rPr>
              <a:t>The CPS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800"/>
              </a:spcAft>
            </a:pPr>
            <a:r>
              <a:rPr sz="2000" b="1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0">
                <a:solidFill>
                  <a:srgbClr val="212529"/>
                </a:solidFill>
                <a:latin typeface="Garamond"/>
              </a:rPr>
              <a:t>The basic monthly survey produces: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01168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(a)  </a:t>
            </a:r>
            <a:r>
              <a:rPr sz="1900" b="0">
                <a:solidFill>
                  <a:srgbClr val="212529"/>
                </a:solidFill>
                <a:latin typeface="Garamond"/>
              </a:rPr>
              <a:t>The official monthly unemployment rate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(b)  </a:t>
            </a:r>
            <a:r>
              <a:rPr sz="1900" b="0">
                <a:solidFill>
                  <a:srgbClr val="212529"/>
                </a:solidFill>
                <a:latin typeface="Garamond"/>
              </a:rPr>
              <a:t>The official employment and earnings statistics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(c)  </a:t>
            </a:r>
            <a:r>
              <a:rPr sz="1900" b="0">
                <a:solidFill>
                  <a:srgbClr val="212529"/>
                </a:solidFill>
                <a:latin typeface="Garamond"/>
              </a:rPr>
              <a:t>Topic-specific official statistics, through its monthly supplements (school enrollment, voting, tobacco, computer use)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800"/>
              </a:spcAft>
            </a:pPr>
            <a:r>
              <a:rPr sz="2000" b="1">
                <a:solidFill>
                  <a:srgbClr val="2D6CB5"/>
                </a:solidFill>
                <a:latin typeface="Garamond"/>
              </a:rPr>
              <a:t>▪  </a:t>
            </a:r>
            <a:r>
              <a:rPr sz="2000" b="0">
                <a:solidFill>
                  <a:srgbClr val="212529"/>
                </a:solidFill>
                <a:latin typeface="Garamond"/>
              </a:rPr>
              <a:t>The March supplement (ASEC) produces: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1148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(a)  </a:t>
            </a:r>
            <a:r>
              <a:rPr sz="1900" b="0">
                <a:solidFill>
                  <a:srgbClr val="212529"/>
                </a:solidFill>
                <a:latin typeface="Garamond"/>
              </a:rPr>
              <a:t>The official income and poverty statistics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(b)  </a:t>
            </a:r>
            <a:r>
              <a:rPr sz="1900" b="0">
                <a:solidFill>
                  <a:srgbClr val="212529"/>
                </a:solidFill>
                <a:latin typeface="Garamond"/>
              </a:rPr>
              <a:t>The official health-insurance coverage statistics</a:t>
            </a:r>
          </a:p>
          <a:p>
            <a:pPr>
              <a:lnSpc>
                <a:spcPts val="2432"/>
              </a:lnSpc>
              <a:spcAft>
                <a:spcPts val="6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(c)  </a:t>
            </a:r>
            <a:r>
              <a:rPr sz="1900" b="0">
                <a:solidFill>
                  <a:srgbClr val="212529"/>
                </a:solidFill>
                <a:latin typeface="Garamond"/>
              </a:rPr>
              <a:t>Our retrospective measure: the longest job held last year, with weeks worked, earnings and benefits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