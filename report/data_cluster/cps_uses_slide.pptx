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19456"/>
            <a:ext cx="11247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3584"/>
              </a:lnSpc>
            </a:pPr>
            <a:r>
              <a:rPr sz="2800" b="1">
                <a:solidFill>
                  <a:srgbClr val="102D5E"/>
                </a:solidFill>
                <a:latin typeface="Garamond"/>
              </a:rPr>
              <a:t>The CPS uses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822960" y="1591056"/>
            <a:ext cx="106070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22960" y="164592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1">
                <a:solidFill>
                  <a:srgbClr val="212529"/>
                </a:solidFill>
                <a:latin typeface="Garamond"/>
              </a:rPr>
              <a:t>Instrument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749039" y="164592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1">
                <a:solidFill>
                  <a:srgbClr val="212529"/>
                </a:solidFill>
                <a:latin typeface="Garamond"/>
              </a:rPr>
              <a:t>What it asks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164592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1">
                <a:solidFill>
                  <a:srgbClr val="212529"/>
                </a:solidFill>
                <a:latin typeface="Garamond"/>
              </a:rPr>
              <a:t>What it produces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822960" y="2011680"/>
            <a:ext cx="106070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822960" y="21488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Basic monthly interview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49039" y="214884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Labor force status in the reference week, occupation, hours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214884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The official monthly unemployment rate, employment and earnings statistics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089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Topical supplements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10896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School enrollment (Oct.), voting (Nov.), tobacco, computer use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10896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Topic-specific official statistics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March supplement (ASEC)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49039" y="4069080"/>
            <a:ext cx="39319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The previous calendar year, from the longest job to weeks, income and benefits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069080"/>
            <a:ext cx="3566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855"/>
              </a:lnSpc>
            </a:pPr>
            <a:r>
              <a:rPr sz="1450" b="0">
                <a:solidFill>
                  <a:srgbClr val="212529"/>
                </a:solidFill>
                <a:latin typeface="Garamond"/>
              </a:rPr>
              <a:t>Official income, poverty and health-insurance statistics, and our retrospective measure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5047488"/>
            <a:ext cx="10607040" cy="0"/>
          </a:xfrm>
          <a:prstGeom prst="line">
            <a:avLst/>
          </a:prstGeom>
          <a:ln w="12700">
            <a:solidFill>
              <a:srgbClr val="21252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10469880" y="6327648"/>
            <a:ext cx="994867" cy="365760"/>
          </a:xfrm>
          <a:prstGeom prst="roundRect">
            <a:avLst/>
          </a:prstGeom>
          <a:solidFill>
            <a:srgbClr val="BED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36576" rIns="36576" tIns="0" bIns="0"/>
          <a:lstStyle/>
          <a:p>
            <a:pPr algn="ctr"/>
            <a:r>
              <a:rPr sz="1800" b="1">
                <a:solidFill>
                  <a:srgbClr val="102D5E"/>
                </a:solidFill>
                <a:latin typeface="Garamond"/>
              </a:rPr>
              <a:t>☞ </a:t>
            </a:r>
            <a:r>
              <a:rPr sz="1400">
                <a:solidFill>
                  <a:srgbClr val="102D5E"/>
                </a:solidFill>
                <a:latin typeface="Garamond"/>
              </a:rPr>
              <a:t>Back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