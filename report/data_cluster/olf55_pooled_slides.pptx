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84"/>
              </a:lnSpc>
            </a:pPr>
            <a:r>
              <a:rPr sz="2800" b="1">
                <a:solidFill>
                  <a:srgbClr val="102D5E"/>
                </a:solidFill>
                <a:latin typeface="Garamond"/>
              </a:rPr>
              <a:t>Who leaves the labor force before 55 (average, 2020–2024)</a:t>
            </a:r>
          </a:p>
        </p:txBody>
      </p:sp>
      <p:pic>
        <p:nvPicPr>
          <p:cNvPr id="3" name="Picture 2" descr="flow_olf55_5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875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 b="0">
                <a:solidFill>
                  <a:srgbClr val="212529"/>
                </a:solidFill>
                <a:latin typeface="Garamond"/>
              </a:rPr>
              <a:t>Early labor-force exit is mostly a family story. More than half of this group are mothers with a child at home.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22960" y="6327648"/>
            <a:ext cx="1973275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Pooled 1997–24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84"/>
              </a:lnSpc>
            </a:pPr>
            <a:r>
              <a:rPr sz="2800" b="1">
                <a:solidFill>
                  <a:srgbClr val="102D5E"/>
                </a:solidFill>
                <a:latin typeface="Garamond"/>
              </a:rPr>
              <a:t>The same cascade, pooled 1997–2024</a:t>
            </a:r>
          </a:p>
        </p:txBody>
      </p:sp>
      <p:pic>
        <p:nvPicPr>
          <p:cNvPr id="3" name="Picture 2" descr="flow_olf55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85" y="1051560"/>
            <a:ext cx="9446149" cy="452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150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0">
                <a:solidFill>
                  <a:srgbClr val="212529"/>
                </a:solidFill>
                <a:latin typeface="Garamond"/>
              </a:rPr>
              <a:t>Over the whole period (6,931 leavers) the picture is the same: 29 of every 100 leavers exit the labor force before 55, and 53% of them are mothers with a child at home (15 of the 29). The five-year window is not driving the composition.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