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  <a:spcAft>
                <a:spcPts val="0"/>
              </a:spcAft>
            </a:pPr>
            <a:r>
              <a:rPr sz="2800" b="1" i="0">
                <a:solidFill>
                  <a:srgbClr val="102D5E"/>
                </a:solidFill>
                <a:latin typeface="Garamond"/>
              </a:rPr>
              <a:t>Who counts as a teacher?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census assigns every worker a detailed occupation code for the job held longest last year. We count as a teacher anyone classified in one of the five school-teaching categories: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542032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(a)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Preschool and kindergarten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(b)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Elementary and middle school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(c)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Secondary school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(d)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Special education teachers</a:t>
            </a:r>
          </a:p>
          <a:p>
            <a:pPr algn="l">
              <a:lnSpc>
                <a:spcPts val="2432"/>
              </a:lnSpc>
              <a:spcAft>
                <a:spcPts val="600"/>
              </a:spcAft>
            </a:pPr>
            <a:r>
              <a:rPr sz="1900" b="1" i="0">
                <a:solidFill>
                  <a:srgbClr val="102D5E"/>
                </a:solidFill>
                <a:latin typeface="Garamond"/>
              </a:rPr>
              <a:t>(e)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Other teachers and instructors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Our results are robust to this boundary: dropping special education teachers (d) and the residual category (e) moves the pooled leaving rate by 0.1 points (8.7 to 8.6).</a:t>
            </a:r>
          </a:p>
        </p:txBody>
      </p:sp>
      <p:sp>
        <p:nvSpPr>
          <p:cNvPr id="6" name="Rounded Rectangle 5">
            <a:hlinkClick r:id="rId2" action="ppaction://hlinksldjump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Traceability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