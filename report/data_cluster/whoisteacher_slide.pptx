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84"/>
              </a:lnSpc>
              <a:spcAft>
                <a:spcPts val="0"/>
              </a:spcAft>
            </a:pPr>
            <a:r>
              <a:rPr sz="2800" b="1" i="0">
                <a:solidFill>
                  <a:srgbClr val="102D5E"/>
                </a:solidFill>
                <a:latin typeface="Garamond"/>
              </a:rPr>
              <a:t>Who counts as a teacher?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560"/>
              </a:lnSpc>
              <a:spcAft>
                <a:spcPts val="1000"/>
              </a:spcAft>
            </a:pPr>
            <a:r>
              <a:rPr sz="2000" b="1" i="0">
                <a:solidFill>
                  <a:srgbClr val="2D6CB5"/>
                </a:solidFill>
                <a:latin typeface="Garamond"/>
              </a:rPr>
              <a:t>▪  </a:t>
            </a:r>
            <a:r>
              <a:rPr sz="2000" b="0" i="0">
                <a:solidFill>
                  <a:srgbClr val="212529"/>
                </a:solidFill>
                <a:latin typeface="Garamond"/>
              </a:rPr>
              <a:t>The census assigns every worker a detailed occupation code for the job held longest last year. We count as a teacher anyone classified in one of the five school-teaching categories: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542032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32"/>
              </a:lnSpc>
              <a:spcAft>
                <a:spcPts val="600"/>
              </a:spcAft>
            </a:pPr>
            <a:r>
              <a:rPr sz="1900" b="1" i="0">
                <a:solidFill>
                  <a:srgbClr val="102D5E"/>
                </a:solidFill>
                <a:latin typeface="Garamond"/>
              </a:rPr>
              <a:t>(a)  </a:t>
            </a:r>
            <a:r>
              <a:rPr sz="1900" b="0" i="0">
                <a:solidFill>
                  <a:srgbClr val="212529"/>
                </a:solidFill>
                <a:latin typeface="Garamond"/>
              </a:rPr>
              <a:t>Preschool and kindergarten teachers</a:t>
            </a:r>
          </a:p>
          <a:p>
            <a:pPr algn="l">
              <a:lnSpc>
                <a:spcPts val="2432"/>
              </a:lnSpc>
              <a:spcAft>
                <a:spcPts val="600"/>
              </a:spcAft>
            </a:pPr>
            <a:r>
              <a:rPr sz="1900" b="1" i="0">
                <a:solidFill>
                  <a:srgbClr val="102D5E"/>
                </a:solidFill>
                <a:latin typeface="Garamond"/>
              </a:rPr>
              <a:t>(b)  </a:t>
            </a:r>
            <a:r>
              <a:rPr sz="1900" b="0" i="0">
                <a:solidFill>
                  <a:srgbClr val="212529"/>
                </a:solidFill>
                <a:latin typeface="Garamond"/>
              </a:rPr>
              <a:t>Elementary and middle school teachers</a:t>
            </a:r>
          </a:p>
          <a:p>
            <a:pPr algn="l">
              <a:lnSpc>
                <a:spcPts val="2432"/>
              </a:lnSpc>
              <a:spcAft>
                <a:spcPts val="600"/>
              </a:spcAft>
            </a:pPr>
            <a:r>
              <a:rPr sz="1900" b="1" i="0">
                <a:solidFill>
                  <a:srgbClr val="102D5E"/>
                </a:solidFill>
                <a:latin typeface="Garamond"/>
              </a:rPr>
              <a:t>(c)  </a:t>
            </a:r>
            <a:r>
              <a:rPr sz="1900" b="0" i="0">
                <a:solidFill>
                  <a:srgbClr val="212529"/>
                </a:solidFill>
                <a:latin typeface="Garamond"/>
              </a:rPr>
              <a:t>Secondary school teachers</a:t>
            </a:r>
          </a:p>
          <a:p>
            <a:pPr algn="l">
              <a:lnSpc>
                <a:spcPts val="2432"/>
              </a:lnSpc>
              <a:spcAft>
                <a:spcPts val="600"/>
              </a:spcAft>
            </a:pPr>
            <a:r>
              <a:rPr sz="1900" b="1" i="0">
                <a:solidFill>
                  <a:srgbClr val="102D5E"/>
                </a:solidFill>
                <a:latin typeface="Garamond"/>
              </a:rPr>
              <a:t>(d)  </a:t>
            </a:r>
            <a:r>
              <a:rPr sz="1900" b="0" i="0">
                <a:solidFill>
                  <a:srgbClr val="212529"/>
                </a:solidFill>
                <a:latin typeface="Garamond"/>
              </a:rPr>
              <a:t>Special education teachers</a:t>
            </a:r>
          </a:p>
          <a:p>
            <a:pPr algn="l">
              <a:lnSpc>
                <a:spcPts val="2432"/>
              </a:lnSpc>
              <a:spcAft>
                <a:spcPts val="600"/>
              </a:spcAft>
            </a:pPr>
            <a:r>
              <a:rPr sz="1900" b="1" i="0">
                <a:solidFill>
                  <a:srgbClr val="102D5E"/>
                </a:solidFill>
                <a:latin typeface="Garamond"/>
              </a:rPr>
              <a:t>(e)  </a:t>
            </a:r>
            <a:r>
              <a:rPr sz="1900" b="0" i="0">
                <a:solidFill>
                  <a:srgbClr val="212529"/>
                </a:solidFill>
                <a:latin typeface="Garamond"/>
              </a:rPr>
              <a:t>Other teachers and instructors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560"/>
              </a:lnSpc>
              <a:spcAft>
                <a:spcPts val="0"/>
              </a:spcAft>
            </a:pPr>
            <a:r>
              <a:rPr sz="2000" b="1" i="0">
                <a:solidFill>
                  <a:srgbClr val="2D6CB5"/>
                </a:solidFill>
                <a:latin typeface="Garamond"/>
              </a:rPr>
              <a:t>▪  </a:t>
            </a:r>
            <a:r>
              <a:rPr sz="2000" b="0" i="0">
                <a:solidFill>
                  <a:srgbClr val="212529"/>
                </a:solidFill>
                <a:latin typeface="Garamond"/>
              </a:rPr>
              <a:t>Our results are robust to this boundary: dropping special education teachers (d) and the residual category (e) moves the pooled leaving rate by 0.1 points (8.6 to 8.7).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822960" y="6327648"/>
            <a:ext cx="1777593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Traceability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