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71600" y="2048255"/>
            <a:ext cx="9784080" cy="0"/>
          </a:xfrm>
          <a:prstGeom prst="line">
            <a:avLst/>
          </a:prstGeom>
          <a:ln w="12700">
            <a:solidFill>
              <a:srgbClr val="212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71600" y="2103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Garamond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103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0000"/>
                </a:solidFill>
                <a:latin typeface="Garamond"/>
              </a:rPr>
              <a:t>Persons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59" y="21031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0000"/>
                </a:solidFill>
                <a:latin typeface="Garamond"/>
              </a:rPr>
              <a:t>Months of fresh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19" y="21031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0000"/>
                </a:solidFill>
                <a:latin typeface="Garamond"/>
              </a:rPr>
              <a:t>Share of year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2432303"/>
            <a:ext cx="9784080" cy="0"/>
          </a:xfrm>
          <a:prstGeom prst="line">
            <a:avLst/>
          </a:prstGeom>
          <a:ln w="12700">
            <a:solidFill>
              <a:srgbClr val="212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71600" y="25420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2D5E"/>
                </a:solidFill>
                <a:latin typeface="Garamond"/>
              </a:rPr>
              <a:t>March supplement (ASEC)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4203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>
                <a:solidFill>
                  <a:srgbClr val="102D5E"/>
                </a:solidFill>
                <a:latin typeface="Garamond"/>
              </a:rPr>
              <a:t>145,752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4203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>
                <a:solidFill>
                  <a:srgbClr val="102D5E"/>
                </a:solidFill>
                <a:latin typeface="Garamond"/>
              </a:rPr>
              <a:t>5.7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5420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>
                <a:solidFill>
                  <a:srgbClr val="102D5E"/>
                </a:solidFill>
                <a:latin typeface="Garamond"/>
              </a:rPr>
              <a:t>38%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2607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12529"/>
                </a:solidFill>
                <a:latin typeface="Garamond"/>
              </a:rPr>
              <a:t>The full year, distinct persons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26079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>
                <a:solidFill>
                  <a:srgbClr val="212529"/>
                </a:solidFill>
                <a:latin typeface="Garamond"/>
              </a:rPr>
              <a:t>382,007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926079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>
                <a:solidFill>
                  <a:srgbClr val="212529"/>
                </a:solidFill>
                <a:latin typeface="Garamond"/>
              </a:rPr>
              <a:t>14.9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926079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>
                <a:solidFill>
                  <a:srgbClr val="212529"/>
                </a:solidFill>
                <a:latin typeface="Garamond"/>
              </a:rPr>
              <a:t>100%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3328415"/>
            <a:ext cx="9784080" cy="0"/>
          </a:xfrm>
          <a:prstGeom prst="line">
            <a:avLst/>
          </a:prstGeom>
          <a:ln w="12700">
            <a:solidFill>
              <a:srgbClr val="212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71600" y="345643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480"/>
                </a:solidFill>
                <a:latin typeface="Garamond"/>
              </a:rPr>
              <a:t>A normal month interviews 100,527 adults (3.9 months of fresh sample); each additional month brings 25,589 people not yet seen (= 1 month of fresh sample); the supplement adds 45,225 in one file (= 1.8 months). 2006; adults 18+.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9768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2D5E"/>
                </a:solidFill>
                <a:latin typeface="Garamond"/>
              </a:rPr>
              <a:t>Key message.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9768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Garamond"/>
              </a:rPr>
              <a:t>                         The ASEC adds 45,000 people to a normal 100,000-person month — almost two months of fresh sample in a single file, and 38% of all the people the CPS meets in a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