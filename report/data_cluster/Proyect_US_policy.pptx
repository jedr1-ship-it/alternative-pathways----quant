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17320"/>
            <a:ext cx="12191695" cy="2286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1752" y="2103120"/>
            <a:ext cx="1158544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Garamond"/>
              </a:rPr>
              <a:t>Measuring Teacher Attrition Beyond Administrative Data</a:t>
            </a:r>
          </a:p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3200" b="0" i="0">
                <a:solidFill>
                  <a:srgbClr val="D7E3F2"/>
                </a:solidFill>
                <a:latin typeface="Garamond"/>
              </a:rPr>
              <a:t>The case of the United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24528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300"/>
              </a:lnSpc>
              <a:spcAft>
                <a:spcPts val="200"/>
              </a:spcAft>
            </a:pPr>
            <a:r>
              <a:rPr sz="2000" b="1" i="0">
                <a:solidFill>
                  <a:srgbClr val="212529"/>
                </a:solidFill>
                <a:latin typeface="Garamond"/>
              </a:rPr>
              <a:t>José Elías Durán Roa</a:t>
            </a:r>
          </a:p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Garamond"/>
              </a:rPr>
              <a:t>José Manuel Torres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02352"/>
            <a:ext cx="103601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1792"/>
              </a:lnSpc>
              <a:spcAft>
                <a:spcPts val="0"/>
              </a:spcAft>
            </a:pPr>
            <a:r>
              <a:rPr sz="1400" b="0" i="0">
                <a:solidFill>
                  <a:srgbClr val="6B7480"/>
                </a:solidFill>
                <a:latin typeface="Garamond"/>
              </a:rPr>
              <a:t>Directorate for Education and Skills</a:t>
            </a:r>
          </a:p>
        </p:txBody>
      </p:sp>
      <p:pic>
        <p:nvPicPr>
          <p:cNvPr id="6" name="Picture 5" descr="oec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808" y="5596128"/>
            <a:ext cx="1554480" cy="3950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Why this project?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200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400" b="0" i="0">
                <a:solidFill>
                  <a:srgbClr val="212529"/>
                </a:solidFill>
                <a:latin typeface="Garamond"/>
              </a:rPr>
              <a:t>Understand why teachers leave the profession.</a:t>
            </a:r>
          </a:p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400" b="0" i="0">
                <a:solidFill>
                  <a:srgbClr val="212529"/>
                </a:solidFill>
                <a:latin typeface="Garamond"/>
              </a:rPr>
              <a:t>Is there a real policy margin to soften teacher shortages by retaining teachers, or bringing them back?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072"/>
              </a:lnSpc>
              <a:spcAft>
                <a:spcPts val="0"/>
              </a:spcAft>
            </a:pPr>
            <a:r>
              <a:rPr sz="2400" b="1" i="0">
                <a:solidFill>
                  <a:srgbClr val="2D6CB5"/>
                </a:solidFill>
                <a:latin typeface="Garamond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8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Official microdata on teachers are not publicly available for many countries.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US official rate (NCES Teacher Follow-up Survey) appears only every 4–9 years, not annually.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Current Population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554480"/>
            <a:ext cx="2670048" cy="214884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0" bIns="0"/>
          <a:lstStyle/>
          <a:p>
            <a:pPr algn="ctr"/>
            <a:r>
              <a:rPr sz="4400" b="1">
                <a:solidFill>
                  <a:srgbClr val="102D5E"/>
                </a:solidFill>
                <a:latin typeface="Garamond"/>
              </a:rPr>
              <a:t>28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consecutive years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(1998–2025)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554480"/>
            <a:ext cx="2670048" cy="64008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65576" y="1554480"/>
            <a:ext cx="2670048" cy="214884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84048" bIns="0"/>
          <a:lstStyle/>
          <a:p>
            <a:pPr algn="ctr"/>
            <a:r>
              <a:rPr sz="3000" b="1">
                <a:solidFill>
                  <a:srgbClr val="102D5E"/>
                </a:solidFill>
                <a:latin typeface="Garamond"/>
              </a:rPr>
              <a:t>5 million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people interviewed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in the March surveys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65576" y="1554480"/>
            <a:ext cx="2670048" cy="64008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554480"/>
            <a:ext cx="2670048" cy="214884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84048" bIns="0"/>
          <a:lstStyle/>
          <a:p>
            <a:pPr algn="ctr"/>
            <a:r>
              <a:rPr sz="3000" b="1">
                <a:solidFill>
                  <a:srgbClr val="102D5E"/>
                </a:solidFill>
                <a:latin typeface="Garamond"/>
              </a:rPr>
              <a:t>103,820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teachers observed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over the period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554480"/>
            <a:ext cx="2670048" cy="64008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61704" y="1554480"/>
            <a:ext cx="2670048" cy="214884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0" bIns="0"/>
          <a:lstStyle/>
          <a:p>
            <a:pPr algn="ctr"/>
            <a:r>
              <a:rPr sz="4400" b="1">
                <a:solidFill>
                  <a:srgbClr val="102D5E"/>
                </a:solidFill>
                <a:latin typeface="Garamond"/>
              </a:rPr>
              <a:t>51</a:t>
            </a:r>
          </a:p>
          <a:p>
            <a:pPr algn="ctr">
              <a:spcBef>
                <a:spcPts val="100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states, including the</a:t>
            </a:r>
          </a:p>
          <a:p>
            <a:pPr algn="ctr">
              <a:spcBef>
                <a:spcPts val="0"/>
              </a:spcBef>
            </a:pPr>
            <a:r>
              <a:rPr sz="1450">
                <a:solidFill>
                  <a:srgbClr val="212529"/>
                </a:solidFill>
                <a:latin typeface="Garamond"/>
              </a:rPr>
              <a:t>District of Columbia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61704" y="1554480"/>
            <a:ext cx="2670048" cy="64008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43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100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The monthly household survey of the United States, run by the Census Bureau.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Every March it asks each adult about last year: the main job held, weeks worked, earnings and benefits.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counts as a leaver?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5" name="Rectangle 4"/>
          <p:cNvSpPr/>
          <p:nvPr/>
        </p:nvSpPr>
        <p:spPr>
          <a:xfrm>
            <a:off x="154533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F</a:t>
            </a:r>
          </a:p>
        </p:txBody>
      </p:sp>
      <p:sp>
        <p:nvSpPr>
          <p:cNvPr id="6" name="Rectangle 5"/>
          <p:cNvSpPr/>
          <p:nvPr/>
        </p:nvSpPr>
        <p:spPr>
          <a:xfrm>
            <a:off x="2221991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</a:t>
            </a:r>
          </a:p>
        </p:txBody>
      </p:sp>
      <p:sp>
        <p:nvSpPr>
          <p:cNvPr id="7" name="Rectangle 6"/>
          <p:cNvSpPr/>
          <p:nvPr/>
        </p:nvSpPr>
        <p:spPr>
          <a:xfrm>
            <a:off x="2898648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75304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2861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05272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58584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11896" y="2788920"/>
            <a:ext cx="676656" cy="731520"/>
          </a:xfrm>
          <a:prstGeom prst="rect">
            <a:avLst/>
          </a:prstGeom>
          <a:solidFill>
            <a:srgbClr val="102D5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87000" y="2788920"/>
            <a:ext cx="896112" cy="731520"/>
          </a:xfrm>
          <a:prstGeom prst="rect">
            <a:avLst/>
          </a:prstGeom>
          <a:solidFill>
            <a:srgbClr val="8F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Garamond"/>
              </a:rPr>
              <a:t>Mar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12848"/>
            <a:ext cx="8119871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102D5E"/>
                </a:solidFill>
                <a:latin typeface="Garamond"/>
              </a:rPr>
              <a:t>Last calendar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2128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8F2B36"/>
                </a:solidFill>
                <a:latin typeface="Garamond"/>
              </a:rPr>
              <a:t>this March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79991" y="3154679"/>
            <a:ext cx="1161289" cy="0"/>
          </a:xfrm>
          <a:prstGeom prst="line">
            <a:avLst/>
          </a:prstGeom>
          <a:ln w="22860">
            <a:solidFill>
              <a:srgbClr val="8F2B36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68680" y="3703320"/>
            <a:ext cx="811987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Garamond"/>
              </a:rPr>
              <a:t>Longest job held: teaching  </a:t>
            </a:r>
            <a:r>
              <a:rPr sz="1900" b="1" i="0">
                <a:solidFill>
                  <a:srgbClr val="2E7D32"/>
                </a:solidFill>
                <a:latin typeface="Garamond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703320"/>
            <a:ext cx="2377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176"/>
              </a:lnSpc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Garamond"/>
              </a:rPr>
              <a:t>teaching now?  </a:t>
            </a:r>
            <a:r>
              <a:rPr sz="1900" b="1" i="0">
                <a:solidFill>
                  <a:srgbClr val="8F2B36"/>
                </a:solidFill>
                <a:latin typeface="Garamond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8920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560"/>
              </a:lnSpc>
              <a:spcAft>
                <a:spcPts val="0"/>
              </a:spcAft>
            </a:pPr>
            <a:r>
              <a:rPr sz="2000" b="0" i="0">
                <a:solidFill>
                  <a:srgbClr val="212529"/>
                </a:solidFill>
                <a:latin typeface="Garamond"/>
              </a:rPr>
              <a:t>Leavers are the ones who taught as last year’s longest job and are not teaching this March.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Leaving rate: how many leave?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teaching, 1997–2024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6</a:t>
            </a:r>
          </a:p>
        </p:txBody>
      </p:sp>
      <p:pic>
        <p:nvPicPr>
          <p:cNvPr id="4" name="Picture 3" descr="g2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55"/>
              </a:lnSpc>
              <a:spcAft>
                <a:spcPts val="0"/>
              </a:spcAft>
            </a:pPr>
            <a:r>
              <a:rPr sz="14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450" b="0" i="0">
                <a:solidFill>
                  <a:srgbClr val="212529"/>
                </a:solidFill>
                <a:latin typeface="Garamond"/>
              </a:rPr>
              <a:t>The leaving rate has remained stable, oscillating between 7 and 10%. The US rate stands slightly above the average (6.5%) of the OECD countries with reported data in the latest edition of Education at a Glance.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Comparable professions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7</a:t>
            </a:r>
          </a:p>
        </p:txBody>
      </p:sp>
      <p:pic>
        <p:nvPicPr>
          <p:cNvPr id="4" name="Picture 3" descr="comparables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07047"/>
            <a:ext cx="9235440" cy="432386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55"/>
              </a:lnSpc>
              <a:spcAft>
                <a:spcPts val="0"/>
              </a:spcAft>
            </a:pPr>
            <a:r>
              <a:rPr sz="14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450" b="0" i="0">
                <a:solidFill>
                  <a:srgbClr val="212529"/>
                </a:solidFill>
                <a:latin typeface="Garamond"/>
              </a:rPr>
              <a:t>Teaching is similar to nursing, social work and counseling in age and gender, and to social work in education and wages; the main difference is nurses' pay.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 the occupation, by profession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8</a:t>
            </a:r>
          </a:p>
        </p:txBody>
      </p:sp>
      <p:pic>
        <p:nvPicPr>
          <p:cNvPr id="4" name="Picture 3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Teachers leave at about the same or at a lower rate than comparable professions.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Composition: where they go?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teaching (average, 2020–2025)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10</a:t>
            </a:r>
          </a:p>
        </p:txBody>
      </p:sp>
      <p:pic>
        <p:nvPicPr>
          <p:cNvPr id="4" name="Picture 3" descr="flow_employed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messages.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Among the leavers, we have switchers, early exits and retirees, besides the unemployed. Among the switchers, 31% stay in education or care.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Who leaves the labor force before 55 (average, 2020–2025)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11</a:t>
            </a:r>
          </a:p>
        </p:txBody>
      </p:sp>
      <p:pic>
        <p:nvPicPr>
          <p:cNvPr id="4" name="Picture 3" descr="flow_olf55_5y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5" y="1051560"/>
            <a:ext cx="9446149" cy="4526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Among early exits, more than half (57%) are mothers with a child at home.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Correlations: why they leave?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What correlates with leaving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13</a:t>
            </a:r>
          </a:p>
        </p:txBody>
      </p:sp>
      <p:pic>
        <p:nvPicPr>
          <p:cNvPr id="4" name="Picture 3" descr="ame_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500" y="1024128"/>
            <a:ext cx="898652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Early-career teachers respond to different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14</a:t>
            </a:r>
          </a:p>
        </p:txBody>
      </p:sp>
      <p:pic>
        <p:nvPicPr>
          <p:cNvPr id="4" name="Picture 3" descr="ame_by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766" y="1005840"/>
            <a:ext cx="7727986" cy="46634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769864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55"/>
              </a:lnSpc>
              <a:spcAft>
                <a:spcPts val="0"/>
              </a:spcAft>
            </a:pPr>
            <a:r>
              <a:rPr sz="14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450" b="0" i="0">
                <a:solidFill>
                  <a:srgbClr val="212529"/>
                </a:solidFill>
                <a:latin typeface="Garamond"/>
              </a:rPr>
              <a:t>For teachers under 35, a public-school job retains three times more strongly than for the rest (−4.5 vs −1.6 points), and a pension plan also retains more. Security keeps the young in the classroom.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Relative pay since 1997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15</a:t>
            </a:r>
          </a:p>
        </p:txBody>
      </p:sp>
      <p:pic>
        <p:nvPicPr>
          <p:cNvPr id="4" name="Picture 3" descr="msg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37" y="1097280"/>
            <a:ext cx="10756845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Teacher pay has not grown in 25 years.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Leaving, by position in the teacher pay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16</a:t>
            </a:r>
          </a:p>
        </p:txBody>
      </p:sp>
      <p:pic>
        <p:nvPicPr>
          <p:cNvPr id="4" name="Picture 3" descr="pay3_decil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Leavers are concentrated in the bottom two deciles.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Pension coverage and leaving, across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17</a:t>
            </a:r>
          </a:p>
        </p:txBody>
      </p:sp>
      <p:pic>
        <p:nvPicPr>
          <p:cNvPr id="4" name="Picture 3" descr="pension_scatter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9687" y="1097280"/>
            <a:ext cx="7582145" cy="4434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559552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  <a:spcAft>
                <a:spcPts val="0"/>
              </a:spcAft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States where more teachers have a pension plan have fewer early exits.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7680"/>
              </a:lnSpc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Garamond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3584"/>
              </a:lnSpc>
              <a:spcAft>
                <a:spcPts val="0"/>
              </a:spcAft>
            </a:pPr>
            <a:r>
              <a:rPr sz="2800" b="0" i="0">
                <a:solidFill>
                  <a:srgbClr val="D7E3F2"/>
                </a:solidFill>
                <a:latin typeface="Garamond"/>
              </a:rPr>
              <a:t>What it means for policy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Policy options for re-attraction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Short term and retirees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A reserve for local shortages. They bring experience and can mentor new teachers. Make it easy to return, for example part-time or “double-dipping”.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Medium term and switchers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Early-career conditions (secure contracts, fair pay at the bottom) and support (mentoring). Learn why some move to jobs that do not require a degree.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Long term and early exits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Flexibility, so those who want to return can do so in favoring conditions, and clear paths to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566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100" b="1" i="0">
                <a:solidFill>
                  <a:srgbClr val="2D6CB5"/>
                </a:solidFill>
                <a:latin typeface="Garamond"/>
              </a:rPr>
              <a:t>Research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06908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176"/>
              </a:lnSpc>
              <a:spcAft>
                <a:spcPts val="0"/>
              </a:spcAft>
            </a:pPr>
            <a:r>
              <a:rPr sz="1700" b="0" i="0">
                <a:solidFill>
                  <a:srgbClr val="212529"/>
                </a:solidFill>
                <a:latin typeface="Garamond"/>
              </a:rPr>
              <a:t>Working conditions inside schools. Do these patterns hold in other countries?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5806440"/>
            <a:ext cx="10543032" cy="0"/>
          </a:xfrm>
          <a:prstGeom prst="line">
            <a:avLst/>
          </a:prstGeom>
          <a:ln w="12700">
            <a:solidFill>
              <a:srgbClr val="102D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59893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102D5E"/>
                </a:solidFill>
                <a:latin typeface="Garamond"/>
              </a:rPr>
              <a:t>Across all three: economic security.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78992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Pay floors.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Leaving concentrates in the bottom two pay deciles. Would raising the floor retain more teachers than raising the average?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Early careers.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Exits peak in the first years of the career. Which policies move this margin — mentoring, stable placements, or pay?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Family exits.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Half of the early labor-force exits are mothers with a child at home. Is this an education policy problem or a child-care one?</a:t>
            </a:r>
          </a:p>
          <a:p>
            <a:pPr algn="l">
              <a:lnSpc>
                <a:spcPts val="2560"/>
              </a:lnSpc>
              <a:spcAft>
                <a:spcPts val="260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Re-entry.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The young leave to study and mothers leave to care. How many could come back, and what would bring them back?</a:t>
            </a:r>
          </a:p>
          <a:p>
            <a:pPr algn="l">
              <a:lnSpc>
                <a:spcPts val="2560"/>
              </a:lnSpc>
              <a:spcAft>
                <a:spcPts val="0"/>
              </a:spcAft>
            </a:pPr>
            <a:r>
              <a:rPr sz="2000" b="1" i="0">
                <a:solidFill>
                  <a:srgbClr val="2D6CB5"/>
                </a:solidFill>
                <a:latin typeface="Garamond"/>
              </a:rPr>
              <a:t>▪  </a:t>
            </a:r>
            <a:r>
              <a:rPr sz="2000" b="1" i="0">
                <a:solidFill>
                  <a:srgbClr val="102D5E"/>
                </a:solidFill>
                <a:latin typeface="Garamond"/>
              </a:rPr>
              <a:t>What we cannot see.  </a:t>
            </a:r>
            <a:r>
              <a:rPr sz="2000" b="0" i="0">
                <a:solidFill>
                  <a:srgbClr val="212529"/>
                </a:solidFill>
                <a:latin typeface="Garamond"/>
              </a:rPr>
              <a:t>Working conditions and school climate are invisible in household data. What would it take to measure them every year?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