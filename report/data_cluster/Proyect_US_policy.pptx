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2286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103120"/>
            <a:ext cx="1158544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Garamond"/>
              </a:rPr>
              <a:t>Measuring Teacher Attrition</a:t>
            </a:r>
          </a:p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3200" b="0" i="0">
                <a:solidFill>
                  <a:srgbClr val="D7E3F2"/>
                </a:solidFill>
                <a:latin typeface="Garamond"/>
              </a:rPr>
              <a:t>Beyond Administrative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0"/>
              </a:lnSpc>
              <a:spcAft>
                <a:spcPts val="20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Elías Durán Roa</a:t>
            </a:r>
          </a:p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Manuel Torres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92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5596128"/>
            <a:ext cx="1554480" cy="3950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200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Understand why teachers leave the profession.</a:t>
            </a:r>
          </a:p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Is there a real policy margin to soften teacher shortages by retaining teachers,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8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Official microdata on teachers are not publicly available for many countries.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US official rate (NCES Teacher Follow-up Survey) appears only every 4–9 years, not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2670048" cy="21488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28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consecutive years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(1998–2025)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5576" y="1554480"/>
            <a:ext cx="2670048" cy="21488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100,000+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adults interviewed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every March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2670048" cy="21488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104,545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teachers observed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over the period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1704" y="1554480"/>
            <a:ext cx="2670048" cy="21488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51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states, including the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District of Columbia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The monthly household survey of the United States, run by the Census Bureau.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Every March it asks each adult about last year: the main job held, weeks worked, earnings and benefits.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counts as a leaver?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533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F</a:t>
            </a:r>
          </a:p>
        </p:txBody>
      </p:sp>
      <p:sp>
        <p:nvSpPr>
          <p:cNvPr id="6" name="Rectangle 5"/>
          <p:cNvSpPr/>
          <p:nvPr/>
        </p:nvSpPr>
        <p:spPr>
          <a:xfrm>
            <a:off x="2221991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530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5272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858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88920"/>
            <a:ext cx="896112" cy="731520"/>
          </a:xfrm>
          <a:prstGeom prst="rect">
            <a:avLst/>
          </a:prstGeom>
          <a:solidFill>
            <a:srgbClr val="8F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12848"/>
            <a:ext cx="811987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Last calendar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12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8F2B36"/>
                </a:solidFill>
                <a:latin typeface="Garamond"/>
              </a:rPr>
              <a:t>this March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79991" y="3154679"/>
            <a:ext cx="1161289" cy="0"/>
          </a:xfrm>
          <a:prstGeom prst="line">
            <a:avLst/>
          </a:prstGeom>
          <a:ln w="22860">
            <a:solidFill>
              <a:srgbClr val="8F2B36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3703320"/>
            <a:ext cx="811987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Longest job held: teaching  </a:t>
            </a:r>
            <a:r>
              <a:rPr sz="1900" b="1" i="0">
                <a:solidFill>
                  <a:srgbClr val="2E7D32"/>
                </a:solidFill>
                <a:latin typeface="Garamon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7033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teaching now?  </a:t>
            </a:r>
            <a:r>
              <a:rPr sz="1900" b="1" i="0">
                <a:solidFill>
                  <a:srgbClr val="8F2B36"/>
                </a:solidFill>
                <a:latin typeface="Garamond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Leavers are the ones who taught as last year’s longest job and are not teaching this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Leaving rate: how many leave?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pic>
        <p:nvPicPr>
          <p:cNvPr id="4" name="Picture 3" descr="comparabl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07047"/>
            <a:ext cx="9235440" cy="43238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Teaching is similar to nursing, social work and counseling in age and gender, and to social work in education and wages; the main difference is nurses' pay.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Teachers leave at about the same or at a lower rate than comparable professions.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and the economic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9</a:t>
            </a:r>
          </a:p>
        </p:txBody>
      </p:sp>
      <p:pic>
        <p:nvPicPr>
          <p:cNvPr id="4" name="Picture 3" descr="cyc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145" y="1097280"/>
            <a:ext cx="9503228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Attrition slightly moves with the business cycle; recessions don’t solve shortages and booms not necessarily cause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Composition: where they go?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teaching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messages.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the leavers, we have switchers, early exits and retirees, besides the unemployed. Among the switchers, 31% stay in education or care.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12</a:t>
            </a:r>
          </a:p>
        </p:txBody>
      </p:sp>
      <p:pic>
        <p:nvPicPr>
          <p:cNvPr id="4" name="Picture 3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early exits, more than half (57%) are mothers with a child at home.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pic>
        <p:nvPicPr>
          <p:cNvPr id="4" name="Picture 3" descr="study_by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early exits, 13% are enrolled in school. Among early exits under 30, almost half (47%) are enrolled in school.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Three types of leavers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Switchers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(employed in another job)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Two groups, two approaches. Some stay close to education: how can we bring their skills back to schools? Others move to jobs that do not need a degree: why do they go there?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Early exits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(out of the labor force, under 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Two groups, two approaches. Mostly mothers at home. Also young people without children who return to study.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Retirees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(out of the labor force, over 55)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Experienced teachers at the end of their careers.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Correlations: why they leave?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16</a:t>
            </a:r>
          </a:p>
        </p:txBody>
      </p:sp>
      <p:pic>
        <p:nvPicPr>
          <p:cNvPr id="4" name="Picture 3" descr="ame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500" y="1024128"/>
            <a:ext cx="89865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Early-career teachers respond to different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17</a:t>
            </a:r>
          </a:p>
        </p:txBody>
      </p:sp>
      <p:pic>
        <p:nvPicPr>
          <p:cNvPr id="4" name="Picture 3" descr="ame_by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766" y="1005840"/>
            <a:ext cx="7727986" cy="4663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76986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For teachers under 35, a public-school job retains three times more strongly than for the rest (−4.5 vs −1.6 points), and a pension plan also retains more. Security keeps the young in the classroom.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over the life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18</a:t>
            </a:r>
          </a:p>
        </p:txBody>
      </p:sp>
      <p:pic>
        <p:nvPicPr>
          <p:cNvPr id="4" name="Picture 3" descr="u_rout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1140"/>
            <a:ext cx="10881360" cy="3627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The risk of leaving is highest at the two ends of the career. Early exits go to other jobs; late exits leave the labor force.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19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097280"/>
            <a:ext cx="107568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 pay has not grown in 25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20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21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097280"/>
            <a:ext cx="75821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States where more teachers have a pension plan have fewer early exits.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What it means for policy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Data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280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 i="0">
                <a:solidFill>
                  <a:srgbClr val="102D5E"/>
                </a:solidFill>
                <a:latin typeface="Garamond"/>
              </a:rPr>
              <a:t>Contract.  </a:t>
            </a:r>
            <a:r>
              <a:rPr sz="2100" b="0" i="0">
                <a:solidFill>
                  <a:srgbClr val="212529"/>
                </a:solidFill>
                <a:latin typeface="Garamond"/>
              </a:rPr>
              <a:t>A full-year contract goes with far fewer exits, a part-time contract with more.</a:t>
            </a:r>
          </a:p>
          <a:p>
            <a:pPr algn="l">
              <a:lnSpc>
                <a:spcPts val="2688"/>
              </a:lnSpc>
              <a:spcAft>
                <a:spcPts val="280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 i="0">
                <a:solidFill>
                  <a:srgbClr val="102D5E"/>
                </a:solidFill>
                <a:latin typeface="Garamond"/>
              </a:rPr>
              <a:t>Age.  </a:t>
            </a:r>
            <a:r>
              <a:rPr sz="2100" b="0" i="0">
                <a:solidFill>
                  <a:srgbClr val="212529"/>
                </a:solidFill>
                <a:latin typeface="Garamond"/>
              </a:rPr>
              <a:t>Highest at both ends of the career. Young teachers leave for other jobs, older teachers leave the labor force.</a:t>
            </a:r>
          </a:p>
          <a:p>
            <a:pPr algn="l">
              <a:lnSpc>
                <a:spcPts val="2688"/>
              </a:lnSpc>
              <a:spcAft>
                <a:spcPts val="280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 i="0">
                <a:solidFill>
                  <a:srgbClr val="102D5E"/>
                </a:solidFill>
                <a:latin typeface="Garamond"/>
              </a:rPr>
              <a:t>Pay.  </a:t>
            </a:r>
            <a:r>
              <a:rPr sz="2100" b="0" i="0">
                <a:solidFill>
                  <a:srgbClr val="212529"/>
                </a:solidFill>
                <a:latin typeface="Garamond"/>
              </a:rPr>
              <a:t>Exits are concentrated at the bottom of the pay distribution.</a:t>
            </a:r>
          </a:p>
          <a:p>
            <a:pPr algn="l">
              <a:lnSpc>
                <a:spcPts val="2688"/>
              </a:lnSpc>
              <a:spcAft>
                <a:spcPts val="280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 i="0">
                <a:solidFill>
                  <a:srgbClr val="102D5E"/>
                </a:solidFill>
                <a:latin typeface="Garamond"/>
              </a:rPr>
              <a:t>Security.  </a:t>
            </a:r>
            <a:r>
              <a:rPr sz="2100" b="0" i="0">
                <a:solidFill>
                  <a:srgbClr val="212529"/>
                </a:solidFill>
                <a:latin typeface="Garamond"/>
              </a:rPr>
              <a:t>A pension plan and a public-sector job go with fewer exits.</a:t>
            </a:r>
          </a:p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 i="0">
                <a:solidFill>
                  <a:srgbClr val="102D5E"/>
                </a:solidFill>
                <a:latin typeface="Garamond"/>
              </a:rPr>
              <a:t>Life events.  </a:t>
            </a:r>
            <a:r>
              <a:rPr sz="2100" b="0" i="0">
                <a:solidFill>
                  <a:srgbClr val="212529"/>
                </a:solidFill>
                <a:latin typeface="Garamond"/>
              </a:rPr>
              <a:t>A new baby during the year, or a disability, go with more exits.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Policy options for re-attraction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298448"/>
            <a:ext cx="5349240" cy="1993392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09728"/>
          <a:lstStyle/>
          <a:p>
            <a:pPr algn="ctr"/>
            <a:r>
              <a:rPr sz="1900" b="1">
                <a:solidFill>
                  <a:srgbClr val="102D5E"/>
                </a:solidFill>
                <a:latin typeface="Garamond"/>
              </a:rPr>
              <a:t>Short term and retirees</a:t>
            </a:r>
          </a:p>
          <a:p>
            <a:pPr>
              <a:lnSpc>
                <a:spcPts val="1891"/>
              </a:lnSpc>
              <a:spcBef>
                <a:spcPts val="600"/>
              </a:spcBef>
            </a:pPr>
            <a:r>
              <a:rPr sz="1550">
                <a:solidFill>
                  <a:srgbClr val="212529"/>
                </a:solidFill>
                <a:latin typeface="Garamond"/>
              </a:rPr>
              <a:t>A reserve for local shortages. They bring experience and can mentor new teachers. Make it easy to return, for example part-time or “double-dipping”.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1" y="1298448"/>
            <a:ext cx="5349240" cy="1993392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09728"/>
          <a:lstStyle/>
          <a:p>
            <a:pPr algn="ctr"/>
            <a:r>
              <a:rPr sz="1900" b="1">
                <a:solidFill>
                  <a:srgbClr val="102D5E"/>
                </a:solidFill>
                <a:latin typeface="Garamond"/>
              </a:rPr>
              <a:t>Medium term and switchers</a:t>
            </a:r>
          </a:p>
          <a:p>
            <a:pPr>
              <a:lnSpc>
                <a:spcPts val="1891"/>
              </a:lnSpc>
              <a:spcBef>
                <a:spcPts val="600"/>
              </a:spcBef>
            </a:pPr>
            <a:r>
              <a:rPr sz="1550">
                <a:solidFill>
                  <a:srgbClr val="212529"/>
                </a:solidFill>
                <a:latin typeface="Garamond"/>
              </a:rPr>
              <a:t>Early-career conditions (secure contracts, fair pay at the bottom) and support (mentoring). Learn why some move to jobs that do not require a degree.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3547872"/>
            <a:ext cx="5349240" cy="1993392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09728"/>
          <a:lstStyle/>
          <a:p>
            <a:pPr algn="ctr"/>
            <a:r>
              <a:rPr sz="1900" b="1">
                <a:solidFill>
                  <a:srgbClr val="102D5E"/>
                </a:solidFill>
                <a:latin typeface="Garamond"/>
              </a:rPr>
              <a:t>Long term and early exits</a:t>
            </a:r>
          </a:p>
          <a:p>
            <a:pPr>
              <a:lnSpc>
                <a:spcPts val="1891"/>
              </a:lnSpc>
              <a:spcBef>
                <a:spcPts val="600"/>
              </a:spcBef>
            </a:pPr>
            <a:r>
              <a:rPr sz="1550">
                <a:solidFill>
                  <a:srgbClr val="212529"/>
                </a:solidFill>
                <a:latin typeface="Garamond"/>
              </a:rPr>
              <a:t>Flexibility, so those who want to return can do so in favoring conditions, and clear paths to return.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1" y="3547872"/>
            <a:ext cx="5349240" cy="1993392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09728"/>
          <a:lstStyle/>
          <a:p>
            <a:pPr algn="ctr"/>
            <a:r>
              <a:rPr sz="1900" b="1">
                <a:solidFill>
                  <a:srgbClr val="102D5E"/>
                </a:solidFill>
                <a:latin typeface="Garamond"/>
              </a:rPr>
              <a:t>Research agenda</a:t>
            </a:r>
          </a:p>
          <a:p>
            <a:pPr>
              <a:lnSpc>
                <a:spcPts val="1891"/>
              </a:lnSpc>
              <a:spcBef>
                <a:spcPts val="600"/>
              </a:spcBef>
            </a:pPr>
            <a:r>
              <a:rPr sz="1550">
                <a:solidFill>
                  <a:srgbClr val="212529"/>
                </a:solidFill>
                <a:latin typeface="Garamond"/>
              </a:rPr>
              <a:t>Working conditions inside schools. Do these patterns hold in other countries?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Across all three: economic security.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Pay floors.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Leaving concentrates in the bottom two pay deciles. Would raising the floor retain more teachers than raising the average?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Early careers.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Exits peak in the first years of the career. Which policies move this margin — mentoring, stable placements, or pay?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Family exits.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Half of the early labor-force exits are mothers with a child at home. Is this an education policy problem or a child-care one?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Re-entry.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young leave to study and mothers leave to care. How many could come back, and what would bring them back?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What we cannot see.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Working conditions and school climate are invisible in household data. What would it take to measure them every year?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