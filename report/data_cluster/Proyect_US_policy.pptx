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Teacher Attrition in the United States</a:t>
            </a:r>
          </a:p>
          <a:p>
            <a:pPr algn="ctr">
              <a:lnSpc>
                <a:spcPts val="3584"/>
              </a:lnSpc>
              <a:spcAft>
                <a:spcPts val="0"/>
              </a:spcAft>
            </a:pPr>
            <a:r>
              <a:rPr sz="3200" b="0" i="0">
                <a:solidFill>
                  <a:srgbClr val="D7E3F2"/>
                </a:solidFill>
                <a:latin typeface="Garamond"/>
              </a:rPr>
              <a:t>What twenty-eight years of labour force data show</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statistics on teacher attrition are published only every four or five years.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data, in one slide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Rounded Rectangle 3"/>
          <p:cNvSpPr/>
          <p:nvPr/>
        </p:nvSpPr>
        <p:spPr>
          <a:xfrm>
            <a:off x="667512" y="1554480"/>
            <a:ext cx="2670048" cy="2148840"/>
          </a:xfrm>
          <a:prstGeom prst="roundRect">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0" bIns="0"/>
          <a:lstStyle/>
          <a:p>
            <a:pPr algn="ctr"/>
            <a:r>
              <a:rPr sz="4400" b="1">
                <a:solidFill>
                  <a:srgbClr val="102D5E"/>
                </a:solidFill>
                <a:latin typeface="Garamond"/>
              </a:rPr>
              <a:t>28</a:t>
            </a:r>
          </a:p>
          <a:p>
            <a:pPr algn="ctr">
              <a:spcBef>
                <a:spcPts val="1000"/>
              </a:spcBef>
            </a:pPr>
            <a:r>
              <a:rPr sz="1450">
                <a:solidFill>
                  <a:srgbClr val="212529"/>
                </a:solidFill>
                <a:latin typeface="Garamond"/>
              </a:rPr>
              <a:t>consecutive years</a:t>
            </a:r>
          </a:p>
          <a:p>
            <a:pPr algn="ctr">
              <a:spcBef>
                <a:spcPts val="0"/>
              </a:spcBef>
            </a:pPr>
            <a:r>
              <a:rPr sz="1450">
                <a:solidFill>
                  <a:srgbClr val="212529"/>
                </a:solidFill>
                <a:latin typeface="Garamond"/>
              </a:rPr>
              <a:t>(1998–2025)</a:t>
            </a:r>
          </a:p>
        </p:txBody>
      </p:sp>
      <p:sp>
        <p:nvSpPr>
          <p:cNvPr id="5" name="Rounded Rectangle 4"/>
          <p:cNvSpPr/>
          <p:nvPr/>
        </p:nvSpPr>
        <p:spPr>
          <a:xfrm>
            <a:off x="3465576" y="1554480"/>
            <a:ext cx="2670048" cy="2148840"/>
          </a:xfrm>
          <a:prstGeom prst="roundRect">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84048" bIns="0"/>
          <a:lstStyle/>
          <a:p>
            <a:pPr algn="ctr"/>
            <a:r>
              <a:rPr sz="3000" b="1">
                <a:solidFill>
                  <a:srgbClr val="102D5E"/>
                </a:solidFill>
                <a:latin typeface="Garamond"/>
              </a:rPr>
              <a:t>100,000+</a:t>
            </a:r>
          </a:p>
          <a:p>
            <a:pPr algn="ctr">
              <a:spcBef>
                <a:spcPts val="1000"/>
              </a:spcBef>
            </a:pPr>
            <a:r>
              <a:rPr sz="1450">
                <a:solidFill>
                  <a:srgbClr val="212529"/>
                </a:solidFill>
                <a:latin typeface="Garamond"/>
              </a:rPr>
              <a:t>adults interviewed</a:t>
            </a:r>
          </a:p>
          <a:p>
            <a:pPr algn="ctr">
              <a:spcBef>
                <a:spcPts val="0"/>
              </a:spcBef>
            </a:pPr>
            <a:r>
              <a:rPr sz="1450">
                <a:solidFill>
                  <a:srgbClr val="212529"/>
                </a:solidFill>
                <a:latin typeface="Garamond"/>
              </a:rPr>
              <a:t>every March</a:t>
            </a:r>
          </a:p>
        </p:txBody>
      </p:sp>
      <p:sp>
        <p:nvSpPr>
          <p:cNvPr id="6" name="Rounded Rectangle 5"/>
          <p:cNvSpPr/>
          <p:nvPr/>
        </p:nvSpPr>
        <p:spPr>
          <a:xfrm>
            <a:off x="6263640" y="1554480"/>
            <a:ext cx="2670048" cy="2148840"/>
          </a:xfrm>
          <a:prstGeom prst="roundRect">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84048" bIns="0"/>
          <a:lstStyle/>
          <a:p>
            <a:pPr algn="ctr"/>
            <a:r>
              <a:rPr sz="3000" b="1">
                <a:solidFill>
                  <a:srgbClr val="102D5E"/>
                </a:solidFill>
                <a:latin typeface="Garamond"/>
              </a:rPr>
              <a:t>104,545</a:t>
            </a:r>
          </a:p>
          <a:p>
            <a:pPr algn="ctr">
              <a:spcBef>
                <a:spcPts val="1000"/>
              </a:spcBef>
            </a:pPr>
            <a:r>
              <a:rPr sz="1450">
                <a:solidFill>
                  <a:srgbClr val="212529"/>
                </a:solidFill>
                <a:latin typeface="Garamond"/>
              </a:rPr>
              <a:t>teachers observed</a:t>
            </a:r>
          </a:p>
          <a:p>
            <a:pPr algn="ctr">
              <a:spcBef>
                <a:spcPts val="0"/>
              </a:spcBef>
            </a:pPr>
            <a:r>
              <a:rPr sz="1450">
                <a:solidFill>
                  <a:srgbClr val="212529"/>
                </a:solidFill>
                <a:latin typeface="Garamond"/>
              </a:rPr>
              <a:t>over the period</a:t>
            </a:r>
          </a:p>
        </p:txBody>
      </p:sp>
      <p:sp>
        <p:nvSpPr>
          <p:cNvPr id="7" name="Rounded Rectangle 6"/>
          <p:cNvSpPr/>
          <p:nvPr/>
        </p:nvSpPr>
        <p:spPr>
          <a:xfrm>
            <a:off x="9061704" y="1554480"/>
            <a:ext cx="2670048" cy="2148840"/>
          </a:xfrm>
          <a:prstGeom prst="roundRect">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0" bIns="0"/>
          <a:lstStyle/>
          <a:p>
            <a:pPr algn="ctr"/>
            <a:r>
              <a:rPr sz="4400" b="1">
                <a:solidFill>
                  <a:srgbClr val="102D5E"/>
                </a:solidFill>
                <a:latin typeface="Garamond"/>
              </a:rPr>
              <a:t>51</a:t>
            </a:r>
          </a:p>
          <a:p>
            <a:pPr algn="ctr">
              <a:spcBef>
                <a:spcPts val="1000"/>
              </a:spcBef>
            </a:pPr>
            <a:r>
              <a:rPr sz="1450">
                <a:solidFill>
                  <a:srgbClr val="212529"/>
                </a:solidFill>
                <a:latin typeface="Garamond"/>
              </a:rPr>
              <a:t>states, including the</a:t>
            </a:r>
          </a:p>
          <a:p>
            <a:pPr algn="ctr">
              <a:spcBef>
                <a:spcPts val="0"/>
              </a:spcBef>
            </a:pPr>
            <a:r>
              <a:rPr sz="1450">
                <a:solidFill>
                  <a:srgbClr val="212529"/>
                </a:solidFill>
                <a:latin typeface="Garamond"/>
              </a:rPr>
              <a:t>District of Columbia</a:t>
            </a:r>
          </a:p>
        </p:txBody>
      </p:sp>
      <p:sp>
        <p:nvSpPr>
          <p:cNvPr id="8" name="TextBox 7"/>
          <p:cNvSpPr txBox="1"/>
          <p:nvPr/>
        </p:nvSpPr>
        <p:spPr>
          <a:xfrm>
            <a:off x="822960" y="4343400"/>
            <a:ext cx="10789920" cy="1097280"/>
          </a:xfrm>
          <a:prstGeom prst="rect">
            <a:avLst/>
          </a:prstGeom>
          <a:noFill/>
        </p:spPr>
        <p:txBody>
          <a:bodyPr wrap="square" lIns="0" rIns="0" tIns="0" bIns="0">
            <a:spAutoFit/>
          </a:bodyPr>
          <a:lstStyle/>
          <a:p>
            <a:pPr algn="l">
              <a:lnSpc>
                <a:spcPts val="2560"/>
              </a:lnSpc>
              <a:spcAft>
                <a:spcPts val="1000"/>
              </a:spcAft>
            </a:pPr>
            <a:r>
              <a:rPr sz="2000" b="0" i="0">
                <a:solidFill>
                  <a:srgbClr val="212529"/>
                </a:solidFill>
                <a:latin typeface="Garamond"/>
              </a:rPr>
              <a:t>Every March, the Census Bureau asks each adult about last year: the main job held, weeks worked, earnings and benefits.</a:t>
            </a:r>
          </a:p>
          <a:p>
            <a:pPr algn="l">
              <a:lnSpc>
                <a:spcPts val="2560"/>
              </a:lnSpc>
              <a:spcAft>
                <a:spcPts val="0"/>
              </a:spcAft>
            </a:pPr>
            <a:r>
              <a:rPr sz="2000" b="1" i="0">
                <a:solidFill>
                  <a:srgbClr val="102D5E"/>
                </a:solidFill>
                <a:latin typeface="Garamond"/>
              </a:rPr>
              <a:t>A teacher</a:t>
            </a:r>
            <a:r>
              <a:rPr sz="2000" b="0" i="0">
                <a:solidFill>
                  <a:srgbClr val="212529"/>
                </a:solidFill>
                <a:latin typeface="Garamond"/>
              </a:rPr>
              <a:t> taught as last year's main job. </a:t>
            </a:r>
            <a:r>
              <a:rPr sz="2000" b="1" i="0">
                <a:solidFill>
                  <a:srgbClr val="102D5E"/>
                </a:solidFill>
                <a:latin typeface="Garamond"/>
              </a:rPr>
              <a:t>A leaver</a:t>
            </a:r>
            <a:r>
              <a:rPr sz="2000" b="0" i="0">
                <a:solidFill>
                  <a:srgbClr val="212529"/>
                </a:solidFill>
                <a:latin typeface="Garamond"/>
              </a:rPr>
              <a:t> is a teacher no longer teaching this March.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Rectangle 4"/>
          <p:cNvSpPr/>
          <p:nvPr/>
        </p:nvSpPr>
        <p:spPr>
          <a:xfrm>
            <a:off x="0" y="5559552"/>
            <a:ext cx="12191695" cy="960120"/>
          </a:xfrm>
          <a:prstGeom prst="rect">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Rectangle 4"/>
          <p:cNvSpPr/>
          <p:nvPr/>
        </p:nvSpPr>
        <p:spPr>
          <a:xfrm>
            <a:off x="0" y="5559552"/>
            <a:ext cx="12191695" cy="960120"/>
          </a:xfrm>
          <a:prstGeom prst="rect">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pic>
        <p:nvPicPr>
          <p:cNvPr id="4" name="Picture 3" descr="comparables_table.png"/>
          <p:cNvPicPr>
            <a:picLocks noChangeAspect="1"/>
          </p:cNvPicPr>
          <p:nvPr/>
        </p:nvPicPr>
        <p:blipFill>
          <a:blip r:embed="rId2"/>
          <a:stretch>
            <a:fillRect/>
          </a:stretch>
        </p:blipFill>
        <p:spPr>
          <a:xfrm>
            <a:off x="1463040" y="1541387"/>
            <a:ext cx="9235440" cy="432386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Rectangle 4"/>
          <p:cNvSpPr/>
          <p:nvPr/>
        </p:nvSpPr>
        <p:spPr>
          <a:xfrm>
            <a:off x="0" y="5559552"/>
            <a:ext cx="12191695" cy="960120"/>
          </a:xfrm>
          <a:prstGeom prst="rect">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are not being poached: 7 of every 10 leavers exit employment altogether — to retirement, home or unemployment. Only 3 in 10 trade teaching for another job.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Rectangle 4"/>
          <p:cNvSpPr/>
          <p:nvPr/>
        </p:nvSpPr>
        <p:spPr>
          <a:xfrm>
            <a:off x="0" y="5632704"/>
            <a:ext cx="12191695" cy="960120"/>
          </a:xfrm>
          <a:prstGeom prst="rect">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Rectangle 4"/>
          <p:cNvSpPr/>
          <p:nvPr/>
        </p:nvSpPr>
        <p:spPr>
          <a:xfrm>
            <a:off x="0" y="5559552"/>
            <a:ext cx="12191695" cy="960120"/>
          </a:xfrm>
          <a:prstGeom prst="rect">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pic>
        <p:nvPicPr>
          <p:cNvPr id="4" name="Picture 3" descr="study_bygroup.png"/>
          <p:cNvPicPr>
            <a:picLocks noChangeAspect="1"/>
          </p:cNvPicPr>
          <p:nvPr/>
        </p:nvPicPr>
        <p:blipFill>
          <a:blip r:embed="rId2"/>
          <a:stretch>
            <a:fillRect/>
          </a:stretch>
        </p:blipFill>
        <p:spPr>
          <a:xfrm>
            <a:off x="1357685" y="1051560"/>
            <a:ext cx="9446149" cy="4526280"/>
          </a:xfrm>
          <a:prstGeom prst="rect">
            <a:avLst/>
          </a:prstGeom>
        </p:spPr>
      </p:pic>
      <p:sp>
        <p:nvSpPr>
          <p:cNvPr id="5" name="Rectangle 4"/>
          <p:cNvSpPr/>
          <p:nvPr/>
        </p:nvSpPr>
        <p:spPr>
          <a:xfrm>
            <a:off x="0" y="5559552"/>
            <a:ext cx="12191695" cy="960120"/>
          </a:xfrm>
          <a:prstGeom prst="rect">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Rectangle 4"/>
          <p:cNvSpPr/>
          <p:nvPr/>
        </p:nvSpPr>
        <p:spPr>
          <a:xfrm>
            <a:off x="0" y="5559552"/>
            <a:ext cx="12191695" cy="960120"/>
          </a:xfrm>
          <a:prstGeom prst="rect">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Put retention efforts where they can work: the first years of the career (mentoring, stable placements). Retirements can only be planned for, not prevented.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 </a:t>
            </a:r>
            <a:r>
              <a:rPr sz="1800" b="0" i="0">
                <a:solidFill>
                  <a:srgbClr val="6B7480"/>
                </a:solidFill>
                <a:latin typeface="Garamond"/>
              </a:rPr>
              <a:t>(out of the labor force, over 55)</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 </a:t>
            </a:r>
            <a:r>
              <a:rPr sz="1800" b="0" i="0">
                <a:solidFill>
                  <a:srgbClr val="6B7480"/>
                </a:solidFill>
                <a:latin typeface="Garamond"/>
              </a:rPr>
              <a:t>(employed in another job)</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 </a:t>
            </a:r>
            <a:r>
              <a:rPr sz="1800" b="0" i="0">
                <a:solidFill>
                  <a:srgbClr val="6B7480"/>
                </a:solidFill>
                <a:latin typeface="Garamond"/>
              </a:rPr>
              <a:t>(out of the labor force, under 55)</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13</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Early-career teachers respond to different levers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ame_byage.png"/>
          <p:cNvPicPr>
            <a:picLocks noChangeAspect="1"/>
          </p:cNvPicPr>
          <p:nvPr/>
        </p:nvPicPr>
        <p:blipFill>
          <a:blip r:embed="rId2"/>
          <a:stretch>
            <a:fillRect/>
          </a:stretch>
        </p:blipFill>
        <p:spPr>
          <a:xfrm>
            <a:off x="2216766" y="1005840"/>
            <a:ext cx="7727986" cy="4663440"/>
          </a:xfrm>
          <a:prstGeom prst="rect">
            <a:avLst/>
          </a:prstGeom>
        </p:spPr>
      </p:pic>
      <p:sp>
        <p:nvSpPr>
          <p:cNvPr id="5" name="Rectangle 4"/>
          <p:cNvSpPr/>
          <p:nvPr/>
        </p:nvSpPr>
        <p:spPr>
          <a:xfrm>
            <a:off x="0" y="5769864"/>
            <a:ext cx="12191695" cy="960120"/>
          </a:xfrm>
          <a:prstGeom prst="rect">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89788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For teachers under 35, a public-school job retains three times more strongly than for the rest (−4.5 vs −1.6 points), and a pension plan also retains more. Security keeps the young in the classroom.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Rectangle 4"/>
          <p:cNvSpPr/>
          <p:nvPr/>
        </p:nvSpPr>
        <p:spPr>
          <a:xfrm>
            <a:off x="0" y="5559552"/>
            <a:ext cx="12191695" cy="960120"/>
          </a:xfrm>
          <a:prstGeom prst="rect">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Rectangle 4"/>
          <p:cNvSpPr/>
          <p:nvPr/>
        </p:nvSpPr>
        <p:spPr>
          <a:xfrm>
            <a:off x="0" y="5559552"/>
            <a:ext cx="12191695" cy="960120"/>
          </a:xfrm>
          <a:prstGeom prst="rect">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17</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Rectangle 4"/>
          <p:cNvSpPr/>
          <p:nvPr/>
        </p:nvSpPr>
        <p:spPr>
          <a:xfrm>
            <a:off x="0" y="5559552"/>
            <a:ext cx="12191695" cy="960120"/>
          </a:xfrm>
          <a:prstGeom prst="rect">
            <a:avLst/>
          </a:prstGeom>
          <a:solidFill>
            <a:srgbClr val="EC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Open questions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sp>
        <p:nvSpPr>
          <p:cNvPr id="4" name="TextBox 3"/>
          <p:cNvSpPr txBox="1"/>
          <p:nvPr/>
        </p:nvSpPr>
        <p:spPr>
          <a:xfrm>
            <a:off x="822960" y="1554480"/>
            <a:ext cx="10789920" cy="5120640"/>
          </a:xfrm>
          <a:prstGeom prst="rect">
            <a:avLst/>
          </a:prstGeom>
          <a:noFill/>
        </p:spPr>
        <p:txBody>
          <a:bodyPr wrap="square" lIns="0" rIns="0" tIns="0" bIns="0">
            <a:spAutoFit/>
          </a:bodyPr>
          <a:lstStyle/>
          <a:p>
            <a:pPr algn="l">
              <a:lnSpc>
                <a:spcPts val="2560"/>
              </a:lnSpc>
              <a:spcAft>
                <a:spcPts val="2600"/>
              </a:spcAft>
            </a:pPr>
            <a:r>
              <a:rPr sz="2000" b="1" i="0">
                <a:solidFill>
                  <a:srgbClr val="2D6CB5"/>
                </a:solidFill>
                <a:latin typeface="Garamond"/>
              </a:rPr>
              <a:t>▪  </a:t>
            </a:r>
            <a:r>
              <a:rPr sz="2000" b="1" i="0">
                <a:solidFill>
                  <a:srgbClr val="102D5E"/>
                </a:solidFill>
                <a:latin typeface="Garamond"/>
              </a:rPr>
              <a:t>Pay floors.  </a:t>
            </a:r>
            <a:r>
              <a:rPr sz="2000" b="0" i="0">
                <a:solidFill>
                  <a:srgbClr val="212529"/>
                </a:solidFill>
                <a:latin typeface="Garamond"/>
              </a:rPr>
              <a:t>Leaving concentrates in the bottom two pay deciles. Would raising the floor retain more teachers than raising the average?</a:t>
            </a:r>
          </a:p>
          <a:p>
            <a:pPr algn="l">
              <a:lnSpc>
                <a:spcPts val="2560"/>
              </a:lnSpc>
              <a:spcAft>
                <a:spcPts val="2600"/>
              </a:spcAft>
            </a:pPr>
            <a:r>
              <a:rPr sz="2000" b="1" i="0">
                <a:solidFill>
                  <a:srgbClr val="2D6CB5"/>
                </a:solidFill>
                <a:latin typeface="Garamond"/>
              </a:rPr>
              <a:t>▪  </a:t>
            </a:r>
            <a:r>
              <a:rPr sz="2000" b="1" i="0">
                <a:solidFill>
                  <a:srgbClr val="102D5E"/>
                </a:solidFill>
                <a:latin typeface="Garamond"/>
              </a:rPr>
              <a:t>Early careers.  </a:t>
            </a:r>
            <a:r>
              <a:rPr sz="2000" b="0" i="0">
                <a:solidFill>
                  <a:srgbClr val="212529"/>
                </a:solidFill>
                <a:latin typeface="Garamond"/>
              </a:rPr>
              <a:t>Exits peak in the first years of the career. Which policies move this margin — mentoring, stable placements, or pay?</a:t>
            </a:r>
          </a:p>
          <a:p>
            <a:pPr algn="l">
              <a:lnSpc>
                <a:spcPts val="2560"/>
              </a:lnSpc>
              <a:spcAft>
                <a:spcPts val="2600"/>
              </a:spcAft>
            </a:pPr>
            <a:r>
              <a:rPr sz="2000" b="1" i="0">
                <a:solidFill>
                  <a:srgbClr val="2D6CB5"/>
                </a:solidFill>
                <a:latin typeface="Garamond"/>
              </a:rPr>
              <a:t>▪  </a:t>
            </a:r>
            <a:r>
              <a:rPr sz="2000" b="1" i="0">
                <a:solidFill>
                  <a:srgbClr val="102D5E"/>
                </a:solidFill>
                <a:latin typeface="Garamond"/>
              </a:rPr>
              <a:t>Family exits.  </a:t>
            </a:r>
            <a:r>
              <a:rPr sz="2000" b="0" i="0">
                <a:solidFill>
                  <a:srgbClr val="212529"/>
                </a:solidFill>
                <a:latin typeface="Garamond"/>
              </a:rPr>
              <a:t>Half of the early labor-force exits are mothers with a child at home. Is this an education policy problem or a child-care one?</a:t>
            </a:r>
          </a:p>
          <a:p>
            <a:pPr algn="l">
              <a:lnSpc>
                <a:spcPts val="2560"/>
              </a:lnSpc>
              <a:spcAft>
                <a:spcPts val="2600"/>
              </a:spcAft>
            </a:pPr>
            <a:r>
              <a:rPr sz="2000" b="1" i="0">
                <a:solidFill>
                  <a:srgbClr val="2D6CB5"/>
                </a:solidFill>
                <a:latin typeface="Garamond"/>
              </a:rPr>
              <a:t>▪  </a:t>
            </a:r>
            <a:r>
              <a:rPr sz="2000" b="1" i="0">
                <a:solidFill>
                  <a:srgbClr val="102D5E"/>
                </a:solidFill>
                <a:latin typeface="Garamond"/>
              </a:rPr>
              <a:t>Re-entry.  </a:t>
            </a:r>
            <a:r>
              <a:rPr sz="2000" b="0" i="0">
                <a:solidFill>
                  <a:srgbClr val="212529"/>
                </a:solidFill>
                <a:latin typeface="Garamond"/>
              </a:rPr>
              <a:t>The young leave to study and mothers leave to care. How many could come back, and what would bring them back?</a:t>
            </a:r>
          </a:p>
          <a:p>
            <a:pPr algn="l">
              <a:lnSpc>
                <a:spcPts val="2560"/>
              </a:lnSpc>
              <a:spcAft>
                <a:spcPts val="0"/>
              </a:spcAft>
            </a:pPr>
            <a:r>
              <a:rPr sz="2000" b="1" i="0">
                <a:solidFill>
                  <a:srgbClr val="2D6CB5"/>
                </a:solidFill>
                <a:latin typeface="Garamond"/>
              </a:rPr>
              <a:t>▪  </a:t>
            </a:r>
            <a:r>
              <a:rPr sz="2000" b="1" i="0">
                <a:solidFill>
                  <a:srgbClr val="102D5E"/>
                </a:solidFill>
                <a:latin typeface="Garamond"/>
              </a:rPr>
              <a:t>What we cannot see.  </a:t>
            </a:r>
            <a:r>
              <a:rPr sz="2000" b="0" i="0">
                <a:solidFill>
                  <a:srgbClr val="212529"/>
                </a:solidFill>
                <a:latin typeface="Garamond"/>
              </a:rPr>
              <a:t>Working conditions and school climate are invisible in household data. What would it take to measure them every year?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