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dot as the change in the probability of leaving, in percentage points, against an average of about 7 in 100 teachers a year. The hierarchy is clear. First, the contract: a full-year contract goes with almost 8 points less leaving, and a part-time contract with 4 points more. These are the largest effects on the chart. Second, life events: a new baby or a disability each add about 4 points. Third, security: a pension plan and a public-school job each cut leaving by about 2 points. Surprisingly, demographics matter much less: being a woman, being Black or holding a master's degree moves the rate by 2 points at most once contracts and life events are accounted for. Pay is measured per hour, because weeks and hours are already in the model: a 10 percent higher hourly pay goes with 0.1 points less leaving, about 1.6 percent of the average rate. That does not make pay irrelevant. Low pay comes bundled with part-year and part-time contracts, which is where most of the action is, as the next charts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17320"/>
            <a:ext cx="12191695" cy="2286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" y="2103120"/>
            <a:ext cx="1158544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Garamond"/>
              </a:rPr>
              <a:t>Measuring Teacher Attrition Beyond Administrative Data</a:t>
            </a:r>
          </a:p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3200" b="0" i="0">
                <a:solidFill>
                  <a:srgbClr val="D7E3F2"/>
                </a:solidFill>
                <a:latin typeface="Garamond"/>
              </a:rPr>
              <a:t>The case of the United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24528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0"/>
              </a:lnSpc>
              <a:spcAft>
                <a:spcPts val="20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Elías Durán Roa</a:t>
            </a:r>
          </a:p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Manuel Torres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02352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92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808" y="5596128"/>
            <a:ext cx="1554480" cy="3950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Why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200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Understand why teachers leave the profession.</a:t>
            </a:r>
          </a:p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Is there a real policy margin to soften teacher shortages by retaining teachers, or bringing them 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8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Official microdata on teachers are not publicly available for many countries.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US official rate (NCES Teacher Follow-up Survey) appears only every 4–9 years, not annually.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Current Population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600200"/>
            <a:ext cx="10543032" cy="0"/>
          </a:xfrm>
          <a:prstGeom prst="line">
            <a:avLst/>
          </a:prstGeom>
          <a:ln w="20320">
            <a:solidFill>
              <a:srgbClr val="2125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Years (1998–2025)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8718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5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5877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Individual observations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58718" y="1965960"/>
            <a:ext cx="0" cy="1508760"/>
          </a:xfrm>
          <a:prstGeom prst="line">
            <a:avLst/>
          </a:prstGeom>
          <a:ln w="9525">
            <a:solidFill>
              <a:srgbClr val="C9C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4476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103,820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1636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Teachers in our database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4476" y="1965960"/>
            <a:ext cx="0" cy="1508760"/>
          </a:xfrm>
          <a:prstGeom prst="line">
            <a:avLst/>
          </a:prstGeom>
          <a:ln w="9525">
            <a:solidFill>
              <a:srgbClr val="C9C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730234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7394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States, including the District of Columbia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30234" y="1965960"/>
            <a:ext cx="0" cy="1508760"/>
          </a:xfrm>
          <a:prstGeom prst="line">
            <a:avLst/>
          </a:prstGeom>
          <a:ln w="9525">
            <a:solidFill>
              <a:srgbClr val="C9C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2960" y="3840480"/>
            <a:ext cx="10543032" cy="0"/>
          </a:xfrm>
          <a:prstGeom prst="line">
            <a:avLst/>
          </a:prstGeom>
          <a:ln w="7620">
            <a:solidFill>
              <a:srgbClr val="2125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4343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00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The monthly household survey of the United States, run by the Census Bureau.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Every March it asks each adult about last year: the main job held, weeks worked, earnings and benefits.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counts as a leaver?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5" name="Rectangle 4"/>
          <p:cNvSpPr/>
          <p:nvPr/>
        </p:nvSpPr>
        <p:spPr>
          <a:xfrm>
            <a:off x="154533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F</a:t>
            </a:r>
          </a:p>
        </p:txBody>
      </p:sp>
      <p:sp>
        <p:nvSpPr>
          <p:cNvPr id="6" name="Rectangle 5"/>
          <p:cNvSpPr/>
          <p:nvPr/>
        </p:nvSpPr>
        <p:spPr>
          <a:xfrm>
            <a:off x="2221991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864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530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2861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05272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5858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189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88920"/>
            <a:ext cx="896112" cy="731520"/>
          </a:xfrm>
          <a:prstGeom prst="rect">
            <a:avLst/>
          </a:prstGeom>
          <a:solidFill>
            <a:srgbClr val="8F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12848"/>
            <a:ext cx="811987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Last calendar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2128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8F2B36"/>
                </a:solidFill>
                <a:latin typeface="Garamond"/>
              </a:rPr>
              <a:t>this March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79991" y="3154679"/>
            <a:ext cx="1161289" cy="0"/>
          </a:xfrm>
          <a:prstGeom prst="line">
            <a:avLst/>
          </a:prstGeom>
          <a:ln w="22860">
            <a:solidFill>
              <a:srgbClr val="8F2B36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" y="3703320"/>
            <a:ext cx="811987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Longest job held: teaching  </a:t>
            </a:r>
            <a:r>
              <a:rPr sz="1900" b="1" i="0">
                <a:solidFill>
                  <a:srgbClr val="2E7D32"/>
                </a:solidFill>
                <a:latin typeface="Garamond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7033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teaching now?  </a:t>
            </a:r>
            <a:r>
              <a:rPr sz="1900" b="1" i="0">
                <a:solidFill>
                  <a:srgbClr val="8F2B36"/>
                </a:solidFill>
                <a:latin typeface="Garamond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920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Leavers are the ones who taught as last year’s longest job and are not teaching this March.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Leaving rate: how many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how often does your system measure who leaves?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6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84"/>
              </a:lnSpc>
              <a:spcAft>
                <a:spcPts val="0"/>
              </a:spcAft>
            </a:pPr>
            <a:r>
              <a:rPr sz="15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550" b="0" i="0">
                <a:solidFill>
                  <a:srgbClr val="102D5E"/>
                </a:solidFill>
                <a:latin typeface="Garamond"/>
              </a:rPr>
              <a:t>The leaving rate has remained stable, oscillating between 7 and 10%. The US rate stands slightly above the average (6.5%) of the OECD countries with reported data in the latest edition of Education at a Glance.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Comparable professions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7</a:t>
            </a:r>
          </a:p>
        </p:txBody>
      </p:sp>
      <p:pic>
        <p:nvPicPr>
          <p:cNvPr id="4" name="Picture 3" descr="comparabl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07047"/>
            <a:ext cx="9235440" cy="43238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84"/>
              </a:lnSpc>
              <a:spcAft>
                <a:spcPts val="0"/>
              </a:spcAft>
            </a:pPr>
            <a:r>
              <a:rPr sz="15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550" b="0" i="0">
                <a:solidFill>
                  <a:srgbClr val="102D5E"/>
                </a:solidFill>
                <a:latin typeface="Garamond"/>
              </a:rPr>
              <a:t>Teaching is similar to nursing, social work and counseling in age and gender, and to social work in education and wages; the main difference is nurses' pay.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the occupation,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8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Teachers leave at about the same or at a lower rate than comparable professions.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Composition: where they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where do teachers go when they leave in your country?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teaching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10</a:t>
            </a:r>
          </a:p>
        </p:txBody>
      </p:sp>
      <p:pic>
        <p:nvPicPr>
          <p:cNvPr id="4" name="Picture 3" descr="flow_employed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messages.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Among the leavers, we have switchers, early exits and retirees, besides the unemployed. Among the switchers, 31% stay in education or care.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the labor force before 55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11</a:t>
            </a:r>
          </a:p>
        </p:txBody>
      </p:sp>
      <p:pic>
        <p:nvPicPr>
          <p:cNvPr id="4" name="Picture 3" descr="flow_olf55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Among early exits, more than half (57%) are mothers with a child at home.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Correlations: why they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which of these levers can your system move?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Why do teachers leave?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0" i="1">
                <a:solidFill>
                  <a:srgbClr val="6B7480"/>
                </a:solidFill>
                <a:latin typeface="Garamond"/>
              </a:rPr>
              <a:t>Reasons identified in the literature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5056632" cy="3063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102D5E"/>
                </a:solidFill>
                <a:latin typeface="Garamond"/>
              </a:rPr>
              <a:t>Beyond household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212529"/>
                </a:solidFill>
                <a:latin typeface="Garamond"/>
              </a:rPr>
              <a:t>Working conditions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212529"/>
                </a:solidFill>
                <a:latin typeface="Garamond"/>
              </a:rPr>
              <a:t>Organizational support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212529"/>
                </a:solidFill>
                <a:latin typeface="Garamond"/>
              </a:rPr>
              <a:t>Autonomy and intrinsic motives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783080"/>
            <a:ext cx="5056632" cy="306324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aramond"/>
              </a:rPr>
              <a:t>What we explore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Garamond"/>
              </a:rPr>
              <a:t>Financial factors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Garamond"/>
              </a:rPr>
              <a:t>Personal life-cycle motives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Garamond"/>
              </a:rPr>
              <a:t>Sociodemographics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12664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422392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For discussion.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Are there more? Which ones matter most in your country?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14</a:t>
            </a:r>
          </a:p>
        </p:txBody>
      </p:sp>
      <p:pic>
        <p:nvPicPr>
          <p:cNvPr id="4" name="Picture 3" descr="ame_w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796" y="960120"/>
            <a:ext cx="7381926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724144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833872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84"/>
              </a:lnSpc>
              <a:spcAft>
                <a:spcPts val="0"/>
              </a:spcAft>
            </a:pPr>
            <a:r>
              <a:rPr sz="15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550" b="0" i="0">
                <a:solidFill>
                  <a:srgbClr val="102D5E"/>
                </a:solidFill>
                <a:latin typeface="Garamond"/>
              </a:rPr>
              <a:t>Contracts matter most, then life events and economic security. Demographics matter far less, and pay works mostly through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Relative pay since 1997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15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7" y="1097280"/>
            <a:ext cx="107568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Teacher pay has not grown in 25 years.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16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Leavers are concentrated in the bottom two deciles.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Pension coverage and leaving,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17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687" y="1097280"/>
            <a:ext cx="75821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States where more teachers have a pension plan have fewer early exits.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What it means for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what would bring teachers back in your country?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Policy options for re-attraction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Short term and retirees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A reserve for local shortages. They bring experience and can mentor new teachers. Make it easy to return, for example part-time or “double-dipping”.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Medium term and switchers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Early-career conditions (secure contracts, fair pay at the bottom) and support (mentoring). Learn why some move to jobs that do not require a degree.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Long term and early exits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Flexibility, so those who want to return can do so in favoring conditions, and clear paths to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Research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Working conditions inside schools. Do these patterns hold in other countries?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5806440"/>
            <a:ext cx="10543032" cy="0"/>
          </a:xfrm>
          <a:prstGeom prst="line">
            <a:avLst/>
          </a:prstGeom>
          <a:ln w="12700">
            <a:solidFill>
              <a:srgbClr val="102D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5989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102D5E"/>
                </a:solidFill>
                <a:latin typeface="Garamond"/>
              </a:rPr>
              <a:t>Across all three: economic security.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Pay floors.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Leaving concentrates in the bottom two pay deciles. Would raising the floor retain more teachers than raising the average?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Early careers.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Exits peak in the first years of the career. Which policies move this margin — mentoring, stable placements, or pay?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Family exits.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Half of the early labor-force exits are mothers with a child at home. Is this an education policy problem or a child-care one?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Re-entry.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young leave to study and mothers leave to care. How many could come back, and what would bring them back?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What we cannot see.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Working conditions and school climate are invisible in household data. What would it take to measure them every year?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