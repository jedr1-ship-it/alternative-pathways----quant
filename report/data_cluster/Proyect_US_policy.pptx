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17320"/>
            <a:ext cx="12191695" cy="2286000"/>
          </a:xfrm>
          <a:prstGeom prst="rect">
            <a:avLst/>
          </a:prstGeom>
          <a:solidFill>
            <a:srgbClr val="102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1752" y="2103120"/>
            <a:ext cx="11585448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584"/>
              </a:lnSpc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Garamond"/>
              </a:rPr>
              <a:t>Measuring Teacher Attrition Beyond Administrative Data</a:t>
            </a:r>
          </a:p>
          <a:p>
            <a:pPr algn="ctr">
              <a:lnSpc>
                <a:spcPts val="3584"/>
              </a:lnSpc>
              <a:spcAft>
                <a:spcPts val="0"/>
              </a:spcAft>
            </a:pPr>
            <a:r>
              <a:rPr sz="3200" b="0" i="0">
                <a:solidFill>
                  <a:srgbClr val="D7E3F2"/>
                </a:solidFill>
                <a:latin typeface="Garamond"/>
              </a:rPr>
              <a:t>The case of the United States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24528"/>
            <a:ext cx="103601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2300"/>
              </a:lnSpc>
              <a:spcAft>
                <a:spcPts val="200"/>
              </a:spcAft>
            </a:pPr>
            <a:r>
              <a:rPr sz="2000" b="1" i="0">
                <a:solidFill>
                  <a:srgbClr val="212529"/>
                </a:solidFill>
                <a:latin typeface="Garamond"/>
              </a:rPr>
              <a:t>José Elías Durán Roa</a:t>
            </a:r>
          </a:p>
          <a:p>
            <a:pPr algn="ctr">
              <a:lnSpc>
                <a:spcPts val="2300"/>
              </a:lnSpc>
              <a:spcAft>
                <a:spcPts val="0"/>
              </a:spcAft>
            </a:pPr>
            <a:r>
              <a:rPr sz="2000" b="1" i="0">
                <a:solidFill>
                  <a:srgbClr val="212529"/>
                </a:solidFill>
                <a:latin typeface="Garamond"/>
              </a:rPr>
              <a:t>José Manuel Torres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102352"/>
            <a:ext cx="103601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792"/>
              </a:lnSpc>
              <a:spcAft>
                <a:spcPts val="0"/>
              </a:spcAft>
            </a:pPr>
            <a:r>
              <a:rPr sz="1400" b="0" i="0">
                <a:solidFill>
                  <a:srgbClr val="6B7480"/>
                </a:solidFill>
                <a:latin typeface="Garamond"/>
              </a:rPr>
              <a:t>Directorate for Education and Skills</a:t>
            </a:r>
          </a:p>
        </p:txBody>
      </p:sp>
      <p:pic>
        <p:nvPicPr>
          <p:cNvPr id="6" name="Picture 5" descr="oec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1808" y="5596128"/>
            <a:ext cx="1554480" cy="39509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Why this project?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072"/>
              </a:lnSpc>
              <a:spcAft>
                <a:spcPts val="0"/>
              </a:spcAft>
            </a:pPr>
            <a:r>
              <a:rPr sz="2400" b="1" i="0">
                <a:solidFill>
                  <a:srgbClr val="2D6CB5"/>
                </a:solidFill>
                <a:latin typeface="Garamond"/>
              </a:rPr>
              <a:t>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789920" cy="5120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072"/>
              </a:lnSpc>
              <a:spcAft>
                <a:spcPts val="2000"/>
              </a:spcAft>
            </a:pPr>
            <a:r>
              <a:rPr sz="24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2400" b="0" i="0">
                <a:solidFill>
                  <a:srgbClr val="212529"/>
                </a:solidFill>
                <a:latin typeface="Garamond"/>
              </a:rPr>
              <a:t>Understand why teachers leave the profession.</a:t>
            </a:r>
          </a:p>
          <a:p>
            <a:pPr algn="l">
              <a:lnSpc>
                <a:spcPts val="3072"/>
              </a:lnSpc>
              <a:spcAft>
                <a:spcPts val="0"/>
              </a:spcAft>
            </a:pPr>
            <a:r>
              <a:rPr sz="24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2400" b="0" i="0">
                <a:solidFill>
                  <a:srgbClr val="212529"/>
                </a:solidFill>
                <a:latin typeface="Garamond"/>
              </a:rPr>
              <a:t>Is there a real policy margin to soften teacher shortages by retaining teachers, or bringing them back?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072"/>
              </a:lnSpc>
              <a:spcAft>
                <a:spcPts val="0"/>
              </a:spcAft>
            </a:pPr>
            <a:r>
              <a:rPr sz="2400" b="1" i="0">
                <a:solidFill>
                  <a:srgbClr val="2D6CB5"/>
                </a:solidFill>
                <a:latin typeface="Garamond"/>
              </a:rPr>
              <a:t>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789920" cy="5120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560"/>
              </a:lnSpc>
              <a:spcAft>
                <a:spcPts val="1800"/>
              </a:spcAft>
            </a:pPr>
            <a:r>
              <a:rPr sz="20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2000" b="0" i="0">
                <a:solidFill>
                  <a:srgbClr val="212529"/>
                </a:solidFill>
                <a:latin typeface="Garamond"/>
              </a:rPr>
              <a:t>Official microdata on teachers are not publicly available for many countries.</a:t>
            </a:r>
          </a:p>
          <a:p>
            <a:pPr algn="l">
              <a:lnSpc>
                <a:spcPts val="2560"/>
              </a:lnSpc>
              <a:spcAft>
                <a:spcPts val="0"/>
              </a:spcAft>
            </a:pPr>
            <a:r>
              <a:rPr sz="20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2000" b="0" i="0">
                <a:solidFill>
                  <a:srgbClr val="212529"/>
                </a:solidFill>
                <a:latin typeface="Garamond"/>
              </a:rPr>
              <a:t>The US official rate (NCES Teacher Follow-up Survey) appears only every 4–9 years, not annually.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The Current Population Survey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600200"/>
            <a:ext cx="10543032" cy="0"/>
          </a:xfrm>
          <a:prstGeom prst="line">
            <a:avLst/>
          </a:prstGeom>
          <a:ln w="20320">
            <a:solidFill>
              <a:srgbClr val="2125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1984248"/>
            <a:ext cx="263575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600"/>
              </a:lnSpc>
              <a:spcAft>
                <a:spcPts val="0"/>
              </a:spcAft>
            </a:pPr>
            <a:r>
              <a:rPr sz="3600" b="1" i="0">
                <a:solidFill>
                  <a:srgbClr val="102D5E"/>
                </a:solidFill>
                <a:latin typeface="Garamond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971800"/>
            <a:ext cx="236143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725"/>
              </a:lnSpc>
              <a:spcAft>
                <a:spcPts val="0"/>
              </a:spcAft>
            </a:pPr>
            <a:r>
              <a:rPr sz="1500" b="0" i="1">
                <a:solidFill>
                  <a:srgbClr val="6B7480"/>
                </a:solidFill>
                <a:latin typeface="Garamond"/>
              </a:rPr>
              <a:t>Years (1998–2025)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58718" y="1984248"/>
            <a:ext cx="263575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600"/>
              </a:lnSpc>
              <a:spcAft>
                <a:spcPts val="0"/>
              </a:spcAft>
            </a:pPr>
            <a:r>
              <a:rPr sz="3600" b="1" i="0">
                <a:solidFill>
                  <a:srgbClr val="102D5E"/>
                </a:solidFill>
                <a:latin typeface="Garamond"/>
              </a:rPr>
              <a:t>5 million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95877" y="2971800"/>
            <a:ext cx="236143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725"/>
              </a:lnSpc>
              <a:spcAft>
                <a:spcPts val="0"/>
              </a:spcAft>
            </a:pPr>
            <a:r>
              <a:rPr sz="1500" b="0" i="1">
                <a:solidFill>
                  <a:srgbClr val="6B7480"/>
                </a:solidFill>
                <a:latin typeface="Garamond"/>
              </a:rPr>
              <a:t>Individual observations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58718" y="1965960"/>
            <a:ext cx="0" cy="1508760"/>
          </a:xfrm>
          <a:prstGeom prst="line">
            <a:avLst/>
          </a:prstGeom>
          <a:ln w="9525">
            <a:solidFill>
              <a:srgbClr val="C9CF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094476" y="1984248"/>
            <a:ext cx="263575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600"/>
              </a:lnSpc>
              <a:spcAft>
                <a:spcPts val="0"/>
              </a:spcAft>
            </a:pPr>
            <a:r>
              <a:rPr sz="3600" b="1" i="0">
                <a:solidFill>
                  <a:srgbClr val="102D5E"/>
                </a:solidFill>
                <a:latin typeface="Garamond"/>
              </a:rPr>
              <a:t>103,820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1636" y="2971800"/>
            <a:ext cx="236143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725"/>
              </a:lnSpc>
              <a:spcAft>
                <a:spcPts val="0"/>
              </a:spcAft>
            </a:pPr>
            <a:r>
              <a:rPr sz="1500" b="0" i="1">
                <a:solidFill>
                  <a:srgbClr val="6B7480"/>
                </a:solidFill>
                <a:latin typeface="Garamond"/>
              </a:rPr>
              <a:t>Teachers in our database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94476" y="1965960"/>
            <a:ext cx="0" cy="1508760"/>
          </a:xfrm>
          <a:prstGeom prst="line">
            <a:avLst/>
          </a:prstGeom>
          <a:ln w="9525">
            <a:solidFill>
              <a:srgbClr val="C9CF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730234" y="1984248"/>
            <a:ext cx="263575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600"/>
              </a:lnSpc>
              <a:spcAft>
                <a:spcPts val="0"/>
              </a:spcAft>
            </a:pPr>
            <a:r>
              <a:rPr sz="3600" b="1" i="0">
                <a:solidFill>
                  <a:srgbClr val="102D5E"/>
                </a:solidFill>
                <a:latin typeface="Garamond"/>
              </a:rPr>
              <a:t>51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7394" y="2971800"/>
            <a:ext cx="236143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725"/>
              </a:lnSpc>
              <a:spcAft>
                <a:spcPts val="0"/>
              </a:spcAft>
            </a:pPr>
            <a:r>
              <a:rPr sz="1500" b="0" i="1">
                <a:solidFill>
                  <a:srgbClr val="6B7480"/>
                </a:solidFill>
                <a:latin typeface="Garamond"/>
              </a:rPr>
              <a:t>States, including the District of Columbia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30234" y="1965960"/>
            <a:ext cx="0" cy="1508760"/>
          </a:xfrm>
          <a:prstGeom prst="line">
            <a:avLst/>
          </a:prstGeom>
          <a:ln w="9525">
            <a:solidFill>
              <a:srgbClr val="C9CF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22960" y="3840480"/>
            <a:ext cx="10543032" cy="0"/>
          </a:xfrm>
          <a:prstGeom prst="line">
            <a:avLst/>
          </a:prstGeom>
          <a:ln w="7620">
            <a:solidFill>
              <a:srgbClr val="2125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22960" y="4343400"/>
            <a:ext cx="107899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560"/>
              </a:lnSpc>
              <a:spcAft>
                <a:spcPts val="1000"/>
              </a:spcAft>
            </a:pPr>
            <a:r>
              <a:rPr sz="2000" b="0" i="0">
                <a:solidFill>
                  <a:srgbClr val="212529"/>
                </a:solidFill>
                <a:latin typeface="Garamond"/>
              </a:rPr>
              <a:t>The monthly household survey of the United States, run by the Census Bureau.</a:t>
            </a:r>
          </a:p>
          <a:p>
            <a:pPr algn="l">
              <a:lnSpc>
                <a:spcPts val="2560"/>
              </a:lnSpc>
              <a:spcAft>
                <a:spcPts val="0"/>
              </a:spcAft>
            </a:pPr>
            <a:r>
              <a:rPr sz="2000" b="0" i="0">
                <a:solidFill>
                  <a:srgbClr val="212529"/>
                </a:solidFill>
                <a:latin typeface="Garamond"/>
              </a:rPr>
              <a:t>Every March it asks each adult about last year: the main job held, weeks worked, earnings and benefits.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Who counts as a leaver?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4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J</a:t>
            </a:r>
          </a:p>
        </p:txBody>
      </p:sp>
      <p:sp>
        <p:nvSpPr>
          <p:cNvPr id="5" name="Rectangle 4"/>
          <p:cNvSpPr/>
          <p:nvPr/>
        </p:nvSpPr>
        <p:spPr>
          <a:xfrm>
            <a:off x="1545336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F</a:t>
            </a:r>
          </a:p>
        </p:txBody>
      </p:sp>
      <p:sp>
        <p:nvSpPr>
          <p:cNvPr id="6" name="Rectangle 5"/>
          <p:cNvSpPr/>
          <p:nvPr/>
        </p:nvSpPr>
        <p:spPr>
          <a:xfrm>
            <a:off x="2221991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M</a:t>
            </a:r>
          </a:p>
        </p:txBody>
      </p:sp>
      <p:sp>
        <p:nvSpPr>
          <p:cNvPr id="7" name="Rectangle 6"/>
          <p:cNvSpPr/>
          <p:nvPr/>
        </p:nvSpPr>
        <p:spPr>
          <a:xfrm>
            <a:off x="2898648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A</a:t>
            </a:r>
          </a:p>
        </p:txBody>
      </p:sp>
      <p:sp>
        <p:nvSpPr>
          <p:cNvPr id="8" name="Rectangle 7"/>
          <p:cNvSpPr/>
          <p:nvPr/>
        </p:nvSpPr>
        <p:spPr>
          <a:xfrm>
            <a:off x="3575304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M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J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28616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J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05272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81928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58584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11896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287000" y="2788920"/>
            <a:ext cx="896112" cy="731520"/>
          </a:xfrm>
          <a:prstGeom prst="rect">
            <a:avLst/>
          </a:prstGeom>
          <a:solidFill>
            <a:srgbClr val="8F2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Mar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212848"/>
            <a:ext cx="8119871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2176"/>
              </a:lnSpc>
              <a:spcAft>
                <a:spcPts val="0"/>
              </a:spcAft>
            </a:pPr>
            <a:r>
              <a:rPr sz="1700" b="1" i="0">
                <a:solidFill>
                  <a:srgbClr val="102D5E"/>
                </a:solidFill>
                <a:latin typeface="Garamond"/>
              </a:rPr>
              <a:t>Last calendar year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21284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2176"/>
              </a:lnSpc>
              <a:spcAft>
                <a:spcPts val="0"/>
              </a:spcAft>
            </a:pPr>
            <a:r>
              <a:rPr sz="1700" b="1" i="0">
                <a:solidFill>
                  <a:srgbClr val="8F2B36"/>
                </a:solidFill>
                <a:latin typeface="Garamond"/>
              </a:rPr>
              <a:t>this March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079991" y="3154679"/>
            <a:ext cx="1161289" cy="0"/>
          </a:xfrm>
          <a:prstGeom prst="line">
            <a:avLst/>
          </a:prstGeom>
          <a:ln w="22860">
            <a:solidFill>
              <a:srgbClr val="8F2B36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68680" y="3703320"/>
            <a:ext cx="8119871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2176"/>
              </a:lnSpc>
              <a:spcAft>
                <a:spcPts val="0"/>
              </a:spcAft>
            </a:pPr>
            <a:r>
              <a:rPr sz="1700" b="1" i="0">
                <a:solidFill>
                  <a:srgbClr val="212529"/>
                </a:solidFill>
                <a:latin typeface="Garamond"/>
              </a:rPr>
              <a:t>Longest job held: teaching  </a:t>
            </a:r>
            <a:r>
              <a:rPr sz="1900" b="1" i="0">
                <a:solidFill>
                  <a:srgbClr val="2E7D32"/>
                </a:solidFill>
                <a:latin typeface="Garamond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55480" y="3703320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2176"/>
              </a:lnSpc>
              <a:spcAft>
                <a:spcPts val="0"/>
              </a:spcAft>
            </a:pPr>
            <a:r>
              <a:rPr sz="1700" b="1" i="0">
                <a:solidFill>
                  <a:srgbClr val="212529"/>
                </a:solidFill>
                <a:latin typeface="Garamond"/>
              </a:rPr>
              <a:t>teaching now?  </a:t>
            </a:r>
            <a:r>
              <a:rPr sz="1900" b="1" i="0">
                <a:solidFill>
                  <a:srgbClr val="8F2B36"/>
                </a:solidFill>
                <a:latin typeface="Garamond"/>
              </a:rPr>
              <a:t>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89204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2560"/>
              </a:lnSpc>
              <a:spcAft>
                <a:spcPts val="0"/>
              </a:spcAft>
            </a:pPr>
            <a:r>
              <a:rPr sz="2000" b="0" i="0">
                <a:solidFill>
                  <a:srgbClr val="212529"/>
                </a:solidFill>
                <a:latin typeface="Garamond"/>
              </a:rPr>
              <a:t>Leavers are the ones who taught as last year’s longest job and are not teaching this March.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40280"/>
            <a:ext cx="10360152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7680"/>
              </a:lnSpc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Garamond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03320"/>
            <a:ext cx="103601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584"/>
              </a:lnSpc>
              <a:spcAft>
                <a:spcPts val="0"/>
              </a:spcAft>
            </a:pPr>
            <a:r>
              <a:rPr sz="2800" b="0" i="0">
                <a:solidFill>
                  <a:srgbClr val="D7E3F2"/>
                </a:solidFill>
                <a:latin typeface="Garamond"/>
              </a:rPr>
              <a:t>Leaving rate: how many leave?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892040"/>
            <a:ext cx="94457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2304"/>
              </a:lnSpc>
              <a:spcAft>
                <a:spcPts val="0"/>
              </a:spcAft>
            </a:pPr>
            <a:r>
              <a:rPr sz="1800" b="0" i="1">
                <a:solidFill>
                  <a:srgbClr val="BED3EE"/>
                </a:solidFill>
                <a:latin typeface="Garamond"/>
              </a:rPr>
              <a:t>For discussion: how often does your system measure who leaves?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Leaving teaching, 1997–2024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6</a:t>
            </a:r>
          </a:p>
        </p:txBody>
      </p:sp>
      <p:pic>
        <p:nvPicPr>
          <p:cNvPr id="4" name="Picture 3" descr="g2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097280"/>
            <a:ext cx="8869680" cy="44348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559552"/>
            <a:ext cx="12191695" cy="96012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5669280"/>
            <a:ext cx="73152" cy="713232"/>
          </a:xfrm>
          <a:prstGeom prst="rect">
            <a:avLst/>
          </a:prstGeom>
          <a:solidFill>
            <a:srgbClr val="102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687568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984"/>
              </a:lnSpc>
              <a:spcAft>
                <a:spcPts val="0"/>
              </a:spcAft>
            </a:pPr>
            <a:r>
              <a:rPr sz="1550" b="1" i="0">
                <a:solidFill>
                  <a:srgbClr val="102D5E"/>
                </a:solidFill>
                <a:latin typeface="Garamond"/>
              </a:rPr>
              <a:t>Key message.  </a:t>
            </a:r>
            <a:r>
              <a:rPr sz="1550" b="0" i="0">
                <a:solidFill>
                  <a:srgbClr val="102D5E"/>
                </a:solidFill>
                <a:latin typeface="Garamond"/>
              </a:rPr>
              <a:t>The leaving rate has remained stable, oscillating between 7 and 10%. The US rate stands slightly above the average (6.5%) of the OECD countries with reported data in the latest edition of Education at a Glance.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Comparable professions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7</a:t>
            </a:r>
          </a:p>
        </p:txBody>
      </p:sp>
      <p:pic>
        <p:nvPicPr>
          <p:cNvPr id="4" name="Picture 3" descr="comparables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107047"/>
            <a:ext cx="9235440" cy="432386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559552"/>
            <a:ext cx="12191695" cy="96012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5669280"/>
            <a:ext cx="73152" cy="713232"/>
          </a:xfrm>
          <a:prstGeom prst="rect">
            <a:avLst/>
          </a:prstGeom>
          <a:solidFill>
            <a:srgbClr val="102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687568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984"/>
              </a:lnSpc>
              <a:spcAft>
                <a:spcPts val="0"/>
              </a:spcAft>
            </a:pPr>
            <a:r>
              <a:rPr sz="1550" b="1" i="0">
                <a:solidFill>
                  <a:srgbClr val="102D5E"/>
                </a:solidFill>
                <a:latin typeface="Garamond"/>
              </a:rPr>
              <a:t>Key message.  </a:t>
            </a:r>
            <a:r>
              <a:rPr sz="1550" b="0" i="0">
                <a:solidFill>
                  <a:srgbClr val="102D5E"/>
                </a:solidFill>
                <a:latin typeface="Garamond"/>
              </a:rPr>
              <a:t>Teaching is similar to nursing, social work and counseling in age and gender, and to social work in education and wages; the main difference is nurses' pay.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Leaving the occupation, by profession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8</a:t>
            </a:r>
          </a:p>
        </p:txBody>
      </p:sp>
      <p:pic>
        <p:nvPicPr>
          <p:cNvPr id="4" name="Picture 3" descr="leave_profession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097280"/>
            <a:ext cx="8869680" cy="44348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559552"/>
            <a:ext cx="12191695" cy="96012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5669280"/>
            <a:ext cx="73152" cy="713232"/>
          </a:xfrm>
          <a:prstGeom prst="rect">
            <a:avLst/>
          </a:prstGeom>
          <a:solidFill>
            <a:srgbClr val="102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687568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176"/>
              </a:lnSpc>
              <a:spcAft>
                <a:spcPts val="0"/>
              </a:spcAft>
            </a:pPr>
            <a:r>
              <a:rPr sz="1700" b="1" i="0">
                <a:solidFill>
                  <a:srgbClr val="102D5E"/>
                </a:solidFill>
                <a:latin typeface="Garamond"/>
              </a:rPr>
              <a:t>Key message.  </a:t>
            </a:r>
            <a:r>
              <a:rPr sz="1700" b="0" i="0">
                <a:solidFill>
                  <a:srgbClr val="102D5E"/>
                </a:solidFill>
                <a:latin typeface="Garamond"/>
              </a:rPr>
              <a:t>Teachers leave at about the same or at a lower rate than comparable professions.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40280"/>
            <a:ext cx="10360152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7680"/>
              </a:lnSpc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Garamond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03320"/>
            <a:ext cx="103601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584"/>
              </a:lnSpc>
              <a:spcAft>
                <a:spcPts val="0"/>
              </a:spcAft>
            </a:pPr>
            <a:r>
              <a:rPr sz="2800" b="0" i="0">
                <a:solidFill>
                  <a:srgbClr val="D7E3F2"/>
                </a:solidFill>
                <a:latin typeface="Garamond"/>
              </a:rPr>
              <a:t>Composition: where they go?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892040"/>
            <a:ext cx="94457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2304"/>
              </a:lnSpc>
              <a:spcAft>
                <a:spcPts val="0"/>
              </a:spcAft>
            </a:pPr>
            <a:r>
              <a:rPr sz="1800" b="0" i="1">
                <a:solidFill>
                  <a:srgbClr val="BED3EE"/>
                </a:solidFill>
                <a:latin typeface="Garamond"/>
              </a:rPr>
              <a:t>For discussion: where do teachers go when they leave in your country?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Who leaves teaching (average, 2020–2025)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10</a:t>
            </a:r>
          </a:p>
        </p:txBody>
      </p:sp>
      <p:pic>
        <p:nvPicPr>
          <p:cNvPr id="4" name="Picture 3" descr="flow_employed_5y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685" y="1051560"/>
            <a:ext cx="9446149" cy="4526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559552"/>
            <a:ext cx="12191695" cy="96012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5669280"/>
            <a:ext cx="73152" cy="713232"/>
          </a:xfrm>
          <a:prstGeom prst="rect">
            <a:avLst/>
          </a:prstGeom>
          <a:solidFill>
            <a:srgbClr val="102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687568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176"/>
              </a:lnSpc>
              <a:spcAft>
                <a:spcPts val="0"/>
              </a:spcAft>
            </a:pPr>
            <a:r>
              <a:rPr sz="1700" b="1" i="0">
                <a:solidFill>
                  <a:srgbClr val="102D5E"/>
                </a:solidFill>
                <a:latin typeface="Garamond"/>
              </a:rPr>
              <a:t>Key messages.  </a:t>
            </a:r>
            <a:r>
              <a:rPr sz="1700" b="0" i="0">
                <a:solidFill>
                  <a:srgbClr val="102D5E"/>
                </a:solidFill>
                <a:latin typeface="Garamond"/>
              </a:rPr>
              <a:t>Among the leavers, we have switchers, early exits and retirees, besides the unemployed. Among the switchers, 31% stay in education or care.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Who leaves the labor force before 55 (average, 2020–2025)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11</a:t>
            </a:r>
          </a:p>
        </p:txBody>
      </p:sp>
      <p:pic>
        <p:nvPicPr>
          <p:cNvPr id="4" name="Picture 3" descr="flow_olf55_5y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685" y="1051560"/>
            <a:ext cx="9446149" cy="4526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559552"/>
            <a:ext cx="12191695" cy="96012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5669280"/>
            <a:ext cx="73152" cy="713232"/>
          </a:xfrm>
          <a:prstGeom prst="rect">
            <a:avLst/>
          </a:prstGeom>
          <a:solidFill>
            <a:srgbClr val="102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687568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176"/>
              </a:lnSpc>
              <a:spcAft>
                <a:spcPts val="0"/>
              </a:spcAft>
            </a:pPr>
            <a:r>
              <a:rPr sz="1700" b="1" i="0">
                <a:solidFill>
                  <a:srgbClr val="102D5E"/>
                </a:solidFill>
                <a:latin typeface="Garamond"/>
              </a:rPr>
              <a:t>Key message.  </a:t>
            </a:r>
            <a:r>
              <a:rPr sz="1700" b="0" i="0">
                <a:solidFill>
                  <a:srgbClr val="102D5E"/>
                </a:solidFill>
                <a:latin typeface="Garamond"/>
              </a:rPr>
              <a:t>Among early exits, more than half (57%) are mothers with a child at home.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40280"/>
            <a:ext cx="10360152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7680"/>
              </a:lnSpc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Garamond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03320"/>
            <a:ext cx="103601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584"/>
              </a:lnSpc>
              <a:spcAft>
                <a:spcPts val="0"/>
              </a:spcAft>
            </a:pPr>
            <a:r>
              <a:rPr sz="2800" b="0" i="0">
                <a:solidFill>
                  <a:srgbClr val="D7E3F2"/>
                </a:solidFill>
                <a:latin typeface="Garamond"/>
              </a:rPr>
              <a:t>Correlations: why they leave?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892040"/>
            <a:ext cx="94457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2304"/>
              </a:lnSpc>
              <a:spcAft>
                <a:spcPts val="0"/>
              </a:spcAft>
            </a:pPr>
            <a:r>
              <a:rPr sz="1800" b="0" i="1">
                <a:solidFill>
                  <a:srgbClr val="BED3EE"/>
                </a:solidFill>
                <a:latin typeface="Garamond"/>
              </a:rPr>
              <a:t>For discussion: which of these levers can your system move?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Why do teachers leave?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48"/>
              </a:lnSpc>
              <a:spcAft>
                <a:spcPts val="0"/>
              </a:spcAft>
            </a:pPr>
            <a:r>
              <a:rPr sz="1600" b="0" i="1">
                <a:solidFill>
                  <a:srgbClr val="6B7480"/>
                </a:solidFill>
                <a:latin typeface="Garamond"/>
              </a:rPr>
              <a:t>Reasons identified in the literature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5056632" cy="3063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96596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560"/>
              </a:lnSpc>
              <a:spcAft>
                <a:spcPts val="0"/>
              </a:spcAft>
            </a:pPr>
            <a:r>
              <a:rPr sz="2000" b="1" i="0">
                <a:solidFill>
                  <a:srgbClr val="102D5E"/>
                </a:solidFill>
                <a:latin typeface="Garamond"/>
              </a:rPr>
              <a:t>Beyond household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448056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816"/>
              </a:lnSpc>
              <a:spcAft>
                <a:spcPts val="1400"/>
              </a:spcAft>
            </a:pPr>
            <a:r>
              <a:rPr sz="2200" b="0" i="0">
                <a:solidFill>
                  <a:srgbClr val="212529"/>
                </a:solidFill>
                <a:latin typeface="Garamond"/>
              </a:rPr>
              <a:t>Working conditions</a:t>
            </a:r>
          </a:p>
          <a:p>
            <a:pPr algn="l">
              <a:lnSpc>
                <a:spcPts val="2816"/>
              </a:lnSpc>
              <a:spcAft>
                <a:spcPts val="1400"/>
              </a:spcAft>
            </a:pPr>
            <a:r>
              <a:rPr sz="2200" b="0" i="0">
                <a:solidFill>
                  <a:srgbClr val="212529"/>
                </a:solidFill>
                <a:latin typeface="Garamond"/>
              </a:rPr>
              <a:t>Organizational support</a:t>
            </a:r>
          </a:p>
          <a:p>
            <a:pPr algn="l">
              <a:lnSpc>
                <a:spcPts val="2816"/>
              </a:lnSpc>
              <a:spcAft>
                <a:spcPts val="1400"/>
              </a:spcAft>
            </a:pPr>
            <a:r>
              <a:rPr sz="2200" b="0" i="0">
                <a:solidFill>
                  <a:srgbClr val="212529"/>
                </a:solidFill>
                <a:latin typeface="Garamond"/>
              </a:rPr>
              <a:t>Autonomy and intrinsic motives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783080"/>
            <a:ext cx="5056632" cy="3063240"/>
          </a:xfrm>
          <a:prstGeom prst="rect">
            <a:avLst/>
          </a:prstGeom>
          <a:solidFill>
            <a:srgbClr val="102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96596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56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Garamond"/>
              </a:rPr>
              <a:t>What we explore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606040"/>
            <a:ext cx="448056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816"/>
              </a:lnSpc>
              <a:spcAft>
                <a:spcPts val="1400"/>
              </a:spcAft>
            </a:pPr>
            <a:r>
              <a:rPr sz="2200" b="0" i="0">
                <a:solidFill>
                  <a:srgbClr val="FFFFFF"/>
                </a:solidFill>
                <a:latin typeface="Garamond"/>
              </a:rPr>
              <a:t>Financial factors</a:t>
            </a:r>
          </a:p>
          <a:p>
            <a:pPr algn="l">
              <a:lnSpc>
                <a:spcPts val="2816"/>
              </a:lnSpc>
              <a:spcAft>
                <a:spcPts val="1400"/>
              </a:spcAft>
            </a:pPr>
            <a:r>
              <a:rPr sz="2200" b="0" i="0">
                <a:solidFill>
                  <a:srgbClr val="FFFFFF"/>
                </a:solidFill>
                <a:latin typeface="Garamond"/>
              </a:rPr>
              <a:t>Personal life-cycle motives</a:t>
            </a:r>
          </a:p>
          <a:p>
            <a:pPr algn="l">
              <a:lnSpc>
                <a:spcPts val="2816"/>
              </a:lnSpc>
              <a:spcAft>
                <a:spcPts val="1400"/>
              </a:spcAft>
            </a:pPr>
            <a:r>
              <a:rPr sz="2200" b="0" i="0">
                <a:solidFill>
                  <a:srgbClr val="FFFFFF"/>
                </a:solidFill>
                <a:latin typeface="Garamond"/>
              </a:rPr>
              <a:t>Sociodemographics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5312664"/>
            <a:ext cx="12191695" cy="96012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5422392"/>
            <a:ext cx="73152" cy="713232"/>
          </a:xfrm>
          <a:prstGeom prst="rect">
            <a:avLst/>
          </a:prstGeom>
          <a:solidFill>
            <a:srgbClr val="102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440680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176"/>
              </a:lnSpc>
              <a:spcAft>
                <a:spcPts val="0"/>
              </a:spcAft>
            </a:pPr>
            <a:r>
              <a:rPr sz="1700" b="1" i="0">
                <a:solidFill>
                  <a:srgbClr val="102D5E"/>
                </a:solidFill>
                <a:latin typeface="Garamond"/>
              </a:rPr>
              <a:t>For discussion.  </a:t>
            </a:r>
            <a:r>
              <a:rPr sz="1700" b="0" i="0">
                <a:solidFill>
                  <a:srgbClr val="102D5E"/>
                </a:solidFill>
                <a:latin typeface="Garamond"/>
              </a:rPr>
              <a:t>Are there more? Which ones matter most in your country?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Relative pay since 1997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14</a:t>
            </a:r>
          </a:p>
        </p:txBody>
      </p:sp>
      <p:pic>
        <p:nvPicPr>
          <p:cNvPr id="4" name="Picture 3" descr="msg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337" y="1097280"/>
            <a:ext cx="10756845" cy="44348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559552"/>
            <a:ext cx="12191695" cy="96012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5669280"/>
            <a:ext cx="73152" cy="713232"/>
          </a:xfrm>
          <a:prstGeom prst="rect">
            <a:avLst/>
          </a:prstGeom>
          <a:solidFill>
            <a:srgbClr val="102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687568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176"/>
              </a:lnSpc>
              <a:spcAft>
                <a:spcPts val="0"/>
              </a:spcAft>
            </a:pPr>
            <a:r>
              <a:rPr sz="1700" b="1" i="0">
                <a:solidFill>
                  <a:srgbClr val="102D5E"/>
                </a:solidFill>
                <a:latin typeface="Garamond"/>
              </a:rPr>
              <a:t>Key message.  </a:t>
            </a:r>
            <a:r>
              <a:rPr sz="1700" b="0" i="0">
                <a:solidFill>
                  <a:srgbClr val="102D5E"/>
                </a:solidFill>
                <a:latin typeface="Garamond"/>
              </a:rPr>
              <a:t>Teacher pay has not grown in 25 years.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Leaving, by position in the teacher pay distribution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15</a:t>
            </a:r>
          </a:p>
        </p:txBody>
      </p:sp>
      <p:pic>
        <p:nvPicPr>
          <p:cNvPr id="4" name="Picture 3" descr="pay3_decil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097280"/>
            <a:ext cx="8869680" cy="44348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559552"/>
            <a:ext cx="12191695" cy="96012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5669280"/>
            <a:ext cx="73152" cy="713232"/>
          </a:xfrm>
          <a:prstGeom prst="rect">
            <a:avLst/>
          </a:prstGeom>
          <a:solidFill>
            <a:srgbClr val="102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687568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176"/>
              </a:lnSpc>
              <a:spcAft>
                <a:spcPts val="0"/>
              </a:spcAft>
            </a:pPr>
            <a:r>
              <a:rPr sz="1700" b="1" i="0">
                <a:solidFill>
                  <a:srgbClr val="102D5E"/>
                </a:solidFill>
                <a:latin typeface="Garamond"/>
              </a:rPr>
              <a:t>Key message.  </a:t>
            </a:r>
            <a:r>
              <a:rPr sz="1700" b="0" i="0">
                <a:solidFill>
                  <a:srgbClr val="102D5E"/>
                </a:solidFill>
                <a:latin typeface="Garamond"/>
              </a:rPr>
              <a:t>Leavers are concentrated in the bottom two deciles.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Pension coverage and leaving, across states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16</a:t>
            </a:r>
          </a:p>
        </p:txBody>
      </p:sp>
      <p:pic>
        <p:nvPicPr>
          <p:cNvPr id="4" name="Picture 3" descr="pension_scatter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9687" y="1097280"/>
            <a:ext cx="7582145" cy="44348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559552"/>
            <a:ext cx="12191695" cy="96012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5669280"/>
            <a:ext cx="73152" cy="713232"/>
          </a:xfrm>
          <a:prstGeom prst="rect">
            <a:avLst/>
          </a:prstGeom>
          <a:solidFill>
            <a:srgbClr val="102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687568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176"/>
              </a:lnSpc>
              <a:spcAft>
                <a:spcPts val="0"/>
              </a:spcAft>
            </a:pPr>
            <a:r>
              <a:rPr sz="1700" b="1" i="0">
                <a:solidFill>
                  <a:srgbClr val="102D5E"/>
                </a:solidFill>
                <a:latin typeface="Garamond"/>
              </a:rPr>
              <a:t>Key message.  </a:t>
            </a:r>
            <a:r>
              <a:rPr sz="1700" b="0" i="0">
                <a:solidFill>
                  <a:srgbClr val="102D5E"/>
                </a:solidFill>
                <a:latin typeface="Garamond"/>
              </a:rPr>
              <a:t>States where more teachers have a pension plan have fewer early exits.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40280"/>
            <a:ext cx="10360152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7680"/>
              </a:lnSpc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Garamond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03320"/>
            <a:ext cx="103601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584"/>
              </a:lnSpc>
              <a:spcAft>
                <a:spcPts val="0"/>
              </a:spcAft>
            </a:pPr>
            <a:r>
              <a:rPr sz="2800" b="0" i="0">
                <a:solidFill>
                  <a:srgbClr val="D7E3F2"/>
                </a:solidFill>
                <a:latin typeface="Garamond"/>
              </a:rPr>
              <a:t>What it means for 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892040"/>
            <a:ext cx="94457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2304"/>
              </a:lnSpc>
              <a:spcAft>
                <a:spcPts val="0"/>
              </a:spcAft>
            </a:pPr>
            <a:r>
              <a:rPr sz="1800" b="0" i="1">
                <a:solidFill>
                  <a:srgbClr val="BED3EE"/>
                </a:solidFill>
                <a:latin typeface="Garamond"/>
              </a:rPr>
              <a:t>For discussion: what would bring teachers back in your country?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Policy options for re-attraction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688"/>
              </a:lnSpc>
              <a:spcAft>
                <a:spcPts val="0"/>
              </a:spcAft>
            </a:pPr>
            <a:r>
              <a:rPr sz="2100" b="1" i="0">
                <a:solidFill>
                  <a:srgbClr val="2D6CB5"/>
                </a:solidFill>
                <a:latin typeface="Garamond"/>
              </a:rPr>
              <a:t>Short term and retirees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512064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176"/>
              </a:lnSpc>
              <a:spcAft>
                <a:spcPts val="0"/>
              </a:spcAft>
            </a:pPr>
            <a:r>
              <a:rPr sz="1700" b="0" i="0">
                <a:solidFill>
                  <a:srgbClr val="212529"/>
                </a:solidFill>
                <a:latin typeface="Garamond"/>
              </a:rPr>
              <a:t>A reserve for local shortages. They bring experience and can mentor new teachers. Make it easy to return, for example part-time or “double-dipping”.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32588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688"/>
              </a:lnSpc>
              <a:spcAft>
                <a:spcPts val="0"/>
              </a:spcAft>
            </a:pPr>
            <a:r>
              <a:rPr sz="2100" b="1" i="0">
                <a:solidFill>
                  <a:srgbClr val="2D6CB5"/>
                </a:solidFill>
                <a:latin typeface="Garamond"/>
              </a:rPr>
              <a:t>Medium term and switchers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828800"/>
            <a:ext cx="512064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176"/>
              </a:lnSpc>
              <a:spcAft>
                <a:spcPts val="0"/>
              </a:spcAft>
            </a:pPr>
            <a:r>
              <a:rPr sz="1700" b="0" i="0">
                <a:solidFill>
                  <a:srgbClr val="212529"/>
                </a:solidFill>
                <a:latin typeface="Garamond"/>
              </a:rPr>
              <a:t>Early-career conditions (secure contracts, fair pay at the bottom) and support (mentoring). Learn why some move to jobs that do not require a degree.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688"/>
              </a:lnSpc>
              <a:spcAft>
                <a:spcPts val="0"/>
              </a:spcAft>
            </a:pPr>
            <a:r>
              <a:rPr sz="2100" b="1" i="0">
                <a:solidFill>
                  <a:srgbClr val="2D6CB5"/>
                </a:solidFill>
                <a:latin typeface="Garamond"/>
              </a:rPr>
              <a:t>Long term and early exits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69080"/>
            <a:ext cx="512064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176"/>
              </a:lnSpc>
              <a:spcAft>
                <a:spcPts val="0"/>
              </a:spcAft>
            </a:pPr>
            <a:r>
              <a:rPr sz="1700" b="0" i="0">
                <a:solidFill>
                  <a:srgbClr val="212529"/>
                </a:solidFill>
                <a:latin typeface="Garamond"/>
              </a:rPr>
              <a:t>Flexibility, so those who want to return can do so in favoring conditions, and clear paths to return.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35661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688"/>
              </a:lnSpc>
              <a:spcAft>
                <a:spcPts val="0"/>
              </a:spcAft>
            </a:pPr>
            <a:r>
              <a:rPr sz="2100" b="1" i="0">
                <a:solidFill>
                  <a:srgbClr val="2D6CB5"/>
                </a:solidFill>
                <a:latin typeface="Garamond"/>
              </a:rPr>
              <a:t>Research agenda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4069080"/>
            <a:ext cx="512064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176"/>
              </a:lnSpc>
              <a:spcAft>
                <a:spcPts val="0"/>
              </a:spcAft>
            </a:pPr>
            <a:r>
              <a:rPr sz="1700" b="0" i="0">
                <a:solidFill>
                  <a:srgbClr val="212529"/>
                </a:solidFill>
                <a:latin typeface="Garamond"/>
              </a:rPr>
              <a:t>Working conditions inside schools. Do these patterns hold in other countries?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22960" y="5806440"/>
            <a:ext cx="10543032" cy="0"/>
          </a:xfrm>
          <a:prstGeom prst="line">
            <a:avLst/>
          </a:prstGeom>
          <a:ln w="12700">
            <a:solidFill>
              <a:srgbClr val="102D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" y="598932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2560"/>
              </a:lnSpc>
              <a:spcAft>
                <a:spcPts val="0"/>
              </a:spcAft>
            </a:pPr>
            <a:r>
              <a:rPr sz="2000" b="1" i="0">
                <a:solidFill>
                  <a:srgbClr val="102D5E"/>
                </a:solidFill>
                <a:latin typeface="Garamond"/>
              </a:rPr>
              <a:t>Across all three: economic security.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Open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789920" cy="5120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560"/>
              </a:lnSpc>
              <a:spcAft>
                <a:spcPts val="2600"/>
              </a:spcAft>
            </a:pPr>
            <a:r>
              <a:rPr sz="20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2000" b="1" i="0">
                <a:solidFill>
                  <a:srgbClr val="102D5E"/>
                </a:solidFill>
                <a:latin typeface="Garamond"/>
              </a:rPr>
              <a:t>Pay floors.  </a:t>
            </a:r>
            <a:r>
              <a:rPr sz="2000" b="0" i="0">
                <a:solidFill>
                  <a:srgbClr val="212529"/>
                </a:solidFill>
                <a:latin typeface="Garamond"/>
              </a:rPr>
              <a:t>Leaving concentrates in the bottom two pay deciles. Would raising the floor retain more teachers than raising the average?</a:t>
            </a:r>
          </a:p>
          <a:p>
            <a:pPr algn="l">
              <a:lnSpc>
                <a:spcPts val="2560"/>
              </a:lnSpc>
              <a:spcAft>
                <a:spcPts val="2600"/>
              </a:spcAft>
            </a:pPr>
            <a:r>
              <a:rPr sz="20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2000" b="1" i="0">
                <a:solidFill>
                  <a:srgbClr val="102D5E"/>
                </a:solidFill>
                <a:latin typeface="Garamond"/>
              </a:rPr>
              <a:t>Early careers.  </a:t>
            </a:r>
            <a:r>
              <a:rPr sz="2000" b="0" i="0">
                <a:solidFill>
                  <a:srgbClr val="212529"/>
                </a:solidFill>
                <a:latin typeface="Garamond"/>
              </a:rPr>
              <a:t>Exits peak in the first years of the career. Which policies move this margin — mentoring, stable placements, or pay?</a:t>
            </a:r>
          </a:p>
          <a:p>
            <a:pPr algn="l">
              <a:lnSpc>
                <a:spcPts val="2560"/>
              </a:lnSpc>
              <a:spcAft>
                <a:spcPts val="2600"/>
              </a:spcAft>
            </a:pPr>
            <a:r>
              <a:rPr sz="20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2000" b="1" i="0">
                <a:solidFill>
                  <a:srgbClr val="102D5E"/>
                </a:solidFill>
                <a:latin typeface="Garamond"/>
              </a:rPr>
              <a:t>Family exits.  </a:t>
            </a:r>
            <a:r>
              <a:rPr sz="2000" b="0" i="0">
                <a:solidFill>
                  <a:srgbClr val="212529"/>
                </a:solidFill>
                <a:latin typeface="Garamond"/>
              </a:rPr>
              <a:t>Half of the early labor-force exits are mothers with a child at home. Is this an education policy problem or a child-care one?</a:t>
            </a:r>
          </a:p>
          <a:p>
            <a:pPr algn="l">
              <a:lnSpc>
                <a:spcPts val="2560"/>
              </a:lnSpc>
              <a:spcAft>
                <a:spcPts val="2600"/>
              </a:spcAft>
            </a:pPr>
            <a:r>
              <a:rPr sz="20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2000" b="1" i="0">
                <a:solidFill>
                  <a:srgbClr val="102D5E"/>
                </a:solidFill>
                <a:latin typeface="Garamond"/>
              </a:rPr>
              <a:t>Re-entry.  </a:t>
            </a:r>
            <a:r>
              <a:rPr sz="2000" b="0" i="0">
                <a:solidFill>
                  <a:srgbClr val="212529"/>
                </a:solidFill>
                <a:latin typeface="Garamond"/>
              </a:rPr>
              <a:t>The young leave to study and mothers leave to care. How many could come back, and what would bring them back?</a:t>
            </a:r>
          </a:p>
          <a:p>
            <a:pPr algn="l">
              <a:lnSpc>
                <a:spcPts val="2560"/>
              </a:lnSpc>
              <a:spcAft>
                <a:spcPts val="0"/>
              </a:spcAft>
            </a:pPr>
            <a:r>
              <a:rPr sz="20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2000" b="1" i="0">
                <a:solidFill>
                  <a:srgbClr val="102D5E"/>
                </a:solidFill>
                <a:latin typeface="Garamond"/>
              </a:rPr>
              <a:t>What we cannot see.  </a:t>
            </a:r>
            <a:r>
              <a:rPr sz="2000" b="0" i="0">
                <a:solidFill>
                  <a:srgbClr val="212529"/>
                </a:solidFill>
                <a:latin typeface="Garamond"/>
              </a:rPr>
              <a:t>Working conditions and school climate are invisible in household data. What would it take to measure them every year?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