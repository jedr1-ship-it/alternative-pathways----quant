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17320"/>
            <a:ext cx="12191695" cy="2286000"/>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01752" y="2103120"/>
            <a:ext cx="11585448" cy="1371600"/>
          </a:xfrm>
          <a:prstGeom prst="rect">
            <a:avLst/>
          </a:prstGeom>
          <a:noFill/>
        </p:spPr>
        <p:txBody>
          <a:bodyPr wrap="square" lIns="0" rIns="0" tIns="0" bIns="0">
            <a:spAutoFit/>
          </a:bodyPr>
          <a:lstStyle/>
          <a:p>
            <a:pPr algn="ctr">
              <a:lnSpc>
                <a:spcPts val="3584"/>
              </a:lnSpc>
              <a:spcAft>
                <a:spcPts val="400"/>
              </a:spcAft>
            </a:pPr>
            <a:r>
              <a:rPr sz="3200" b="1" i="0">
                <a:solidFill>
                  <a:srgbClr val="FFFFFF"/>
                </a:solidFill>
                <a:latin typeface="Garamond"/>
              </a:rPr>
              <a:t>Teacher Attrition in the United States</a:t>
            </a:r>
          </a:p>
          <a:p>
            <a:pPr algn="ctr">
              <a:lnSpc>
                <a:spcPts val="3584"/>
              </a:lnSpc>
              <a:spcAft>
                <a:spcPts val="0"/>
              </a:spcAft>
            </a:pPr>
            <a:r>
              <a:rPr sz="3200" b="0" i="0">
                <a:solidFill>
                  <a:srgbClr val="D7E3F2"/>
                </a:solidFill>
                <a:latin typeface="Garamond"/>
              </a:rPr>
              <a:t>What twenty-eight years of labour force data show</a:t>
            </a:r>
          </a:p>
        </p:txBody>
      </p:sp>
      <p:sp>
        <p:nvSpPr>
          <p:cNvPr id="4" name="TextBox 3"/>
          <p:cNvSpPr txBox="1"/>
          <p:nvPr/>
        </p:nvSpPr>
        <p:spPr>
          <a:xfrm>
            <a:off x="914400" y="4224528"/>
            <a:ext cx="10360152" cy="731520"/>
          </a:xfrm>
          <a:prstGeom prst="rect">
            <a:avLst/>
          </a:prstGeom>
          <a:noFill/>
        </p:spPr>
        <p:txBody>
          <a:bodyPr wrap="square" lIns="0" rIns="0" tIns="0" bIns="0">
            <a:spAutoFit/>
          </a:bodyPr>
          <a:lstStyle/>
          <a:p>
            <a:pPr algn="ctr">
              <a:lnSpc>
                <a:spcPts val="2300"/>
              </a:lnSpc>
              <a:spcAft>
                <a:spcPts val="200"/>
              </a:spcAft>
            </a:pPr>
            <a:r>
              <a:rPr sz="2000" b="1" i="0">
                <a:solidFill>
                  <a:srgbClr val="212529"/>
                </a:solidFill>
                <a:latin typeface="Garamond"/>
              </a:rPr>
              <a:t>José Elías Durán Roa</a:t>
            </a:r>
          </a:p>
          <a:p>
            <a:pPr algn="ctr">
              <a:lnSpc>
                <a:spcPts val="2300"/>
              </a:lnSpc>
              <a:spcAft>
                <a:spcPts val="0"/>
              </a:spcAft>
            </a:pPr>
            <a:r>
              <a:rPr sz="2000" b="1" i="0">
                <a:solidFill>
                  <a:srgbClr val="212529"/>
                </a:solidFill>
                <a:latin typeface="Garamond"/>
              </a:rPr>
              <a:t>José Manuel Torres</a:t>
            </a:r>
          </a:p>
        </p:txBody>
      </p:sp>
      <p:sp>
        <p:nvSpPr>
          <p:cNvPr id="5" name="TextBox 4"/>
          <p:cNvSpPr txBox="1"/>
          <p:nvPr/>
        </p:nvSpPr>
        <p:spPr>
          <a:xfrm>
            <a:off x="914400" y="5102352"/>
            <a:ext cx="10360152" cy="365760"/>
          </a:xfrm>
          <a:prstGeom prst="rect">
            <a:avLst/>
          </a:prstGeom>
          <a:noFill/>
        </p:spPr>
        <p:txBody>
          <a:bodyPr wrap="square" lIns="0" rIns="0" tIns="0" bIns="0">
            <a:spAutoFit/>
          </a:bodyPr>
          <a:lstStyle/>
          <a:p>
            <a:pPr algn="ctr">
              <a:lnSpc>
                <a:spcPts val="1792"/>
              </a:lnSpc>
              <a:spcAft>
                <a:spcPts val="0"/>
              </a:spcAft>
            </a:pPr>
            <a:r>
              <a:rPr sz="1400" b="0" i="0">
                <a:solidFill>
                  <a:srgbClr val="6B7480"/>
                </a:solidFill>
                <a:latin typeface="Garamond"/>
              </a:rPr>
              <a:t>Directorate for Education and Skills</a:t>
            </a:r>
          </a:p>
        </p:txBody>
      </p:sp>
      <p:pic>
        <p:nvPicPr>
          <p:cNvPr id="6" name="Picture 5" descr="oecd_logo.png"/>
          <p:cNvPicPr>
            <a:picLocks noChangeAspect="1"/>
          </p:cNvPicPr>
          <p:nvPr/>
        </p:nvPicPr>
        <p:blipFill>
          <a:blip r:embed="rId2"/>
          <a:stretch>
            <a:fillRect/>
          </a:stretch>
        </p:blipFill>
        <p:spPr>
          <a:xfrm>
            <a:off x="5321808" y="5596128"/>
            <a:ext cx="1554480" cy="39509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Why this project?</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a:t>
            </a:r>
          </a:p>
        </p:txBody>
      </p:sp>
      <p:sp>
        <p:nvSpPr>
          <p:cNvPr id="4" name="TextBox 3"/>
          <p:cNvSpPr txBox="1"/>
          <p:nvPr/>
        </p:nvSpPr>
        <p:spPr>
          <a:xfrm>
            <a:off x="822960" y="1234440"/>
            <a:ext cx="10789920" cy="457200"/>
          </a:xfrm>
          <a:prstGeom prst="rect">
            <a:avLst/>
          </a:prstGeom>
          <a:noFill/>
        </p:spPr>
        <p:txBody>
          <a:bodyPr wrap="square" lIns="0" rIns="0" tIns="0" bIns="0">
            <a:spAutoFit/>
          </a:bodyPr>
          <a:lstStyle/>
          <a:p>
            <a:pPr algn="l">
              <a:lnSpc>
                <a:spcPts val="3072"/>
              </a:lnSpc>
              <a:spcAft>
                <a:spcPts val="0"/>
              </a:spcAft>
            </a:pPr>
            <a:r>
              <a:rPr sz="2400" b="1" i="0">
                <a:solidFill>
                  <a:srgbClr val="2D6CB5"/>
                </a:solidFill>
                <a:latin typeface="Garamond"/>
              </a:rPr>
              <a:t>Motivation</a:t>
            </a:r>
          </a:p>
        </p:txBody>
      </p:sp>
      <p:sp>
        <p:nvSpPr>
          <p:cNvPr id="5" name="TextBox 4"/>
          <p:cNvSpPr txBox="1"/>
          <p:nvPr/>
        </p:nvSpPr>
        <p:spPr>
          <a:xfrm>
            <a:off x="822960" y="1828800"/>
            <a:ext cx="10789920" cy="5120640"/>
          </a:xfrm>
          <a:prstGeom prst="rect">
            <a:avLst/>
          </a:prstGeom>
          <a:noFill/>
        </p:spPr>
        <p:txBody>
          <a:bodyPr wrap="square" lIns="0" rIns="0" tIns="0" bIns="0">
            <a:spAutoFit/>
          </a:bodyPr>
          <a:lstStyle/>
          <a:p>
            <a:pPr algn="l">
              <a:lnSpc>
                <a:spcPts val="3072"/>
              </a:lnSpc>
              <a:spcAft>
                <a:spcPts val="2000"/>
              </a:spcAft>
            </a:pPr>
            <a:r>
              <a:rPr sz="2400" b="1" i="0">
                <a:solidFill>
                  <a:srgbClr val="2D6CB5"/>
                </a:solidFill>
                <a:latin typeface="Garamond"/>
              </a:rPr>
              <a:t>▪  </a:t>
            </a:r>
            <a:r>
              <a:rPr sz="2400" b="0" i="0">
                <a:solidFill>
                  <a:srgbClr val="212529"/>
                </a:solidFill>
                <a:latin typeface="Garamond"/>
              </a:rPr>
              <a:t>Understand why teachers leave the profession.</a:t>
            </a:r>
          </a:p>
          <a:p>
            <a:pPr algn="l">
              <a:lnSpc>
                <a:spcPts val="3072"/>
              </a:lnSpc>
              <a:spcAft>
                <a:spcPts val="0"/>
              </a:spcAft>
            </a:pPr>
            <a:r>
              <a:rPr sz="2400" b="1" i="0">
                <a:solidFill>
                  <a:srgbClr val="2D6CB5"/>
                </a:solidFill>
                <a:latin typeface="Garamond"/>
              </a:rPr>
              <a:t>▪  </a:t>
            </a:r>
            <a:r>
              <a:rPr sz="2400" b="0" i="0">
                <a:solidFill>
                  <a:srgbClr val="212529"/>
                </a:solidFill>
                <a:latin typeface="Garamond"/>
              </a:rPr>
              <a:t>Is there a real policy margin to soften teacher shortages by retaining teachers, or bringing them back?</a:t>
            </a:r>
          </a:p>
        </p:txBody>
      </p:sp>
      <p:sp>
        <p:nvSpPr>
          <p:cNvPr id="6" name="TextBox 5"/>
          <p:cNvSpPr txBox="1"/>
          <p:nvPr/>
        </p:nvSpPr>
        <p:spPr>
          <a:xfrm>
            <a:off x="822960" y="3657600"/>
            <a:ext cx="10789920" cy="457200"/>
          </a:xfrm>
          <a:prstGeom prst="rect">
            <a:avLst/>
          </a:prstGeom>
          <a:noFill/>
        </p:spPr>
        <p:txBody>
          <a:bodyPr wrap="square" lIns="0" rIns="0" tIns="0" bIns="0">
            <a:spAutoFit/>
          </a:bodyPr>
          <a:lstStyle/>
          <a:p>
            <a:pPr algn="l">
              <a:lnSpc>
                <a:spcPts val="3072"/>
              </a:lnSpc>
              <a:spcAft>
                <a:spcPts val="0"/>
              </a:spcAft>
            </a:pPr>
            <a:r>
              <a:rPr sz="2400" b="1" i="0">
                <a:solidFill>
                  <a:srgbClr val="2D6CB5"/>
                </a:solidFill>
                <a:latin typeface="Garamond"/>
              </a:rPr>
              <a:t>Problem</a:t>
            </a:r>
          </a:p>
        </p:txBody>
      </p:sp>
      <p:sp>
        <p:nvSpPr>
          <p:cNvPr id="7" name="TextBox 6"/>
          <p:cNvSpPr txBox="1"/>
          <p:nvPr/>
        </p:nvSpPr>
        <p:spPr>
          <a:xfrm>
            <a:off x="822960" y="4206240"/>
            <a:ext cx="10789920" cy="5120640"/>
          </a:xfrm>
          <a:prstGeom prst="rect">
            <a:avLst/>
          </a:prstGeom>
          <a:noFill/>
        </p:spPr>
        <p:txBody>
          <a:bodyPr wrap="square" lIns="0" rIns="0" tIns="0" bIns="0">
            <a:spAutoFit/>
          </a:bodyPr>
          <a:lstStyle/>
          <a:p>
            <a:pPr algn="l">
              <a:lnSpc>
                <a:spcPts val="2560"/>
              </a:lnSpc>
              <a:spcAft>
                <a:spcPts val="1800"/>
              </a:spcAft>
            </a:pPr>
            <a:r>
              <a:rPr sz="2000" b="1" i="0">
                <a:solidFill>
                  <a:srgbClr val="2D6CB5"/>
                </a:solidFill>
                <a:latin typeface="Garamond"/>
              </a:rPr>
              <a:t>▪  </a:t>
            </a:r>
            <a:r>
              <a:rPr sz="2000" b="0" i="0">
                <a:solidFill>
                  <a:srgbClr val="212529"/>
                </a:solidFill>
                <a:latin typeface="Garamond"/>
              </a:rPr>
              <a:t>Official statistics on teacher attrition are published only every four or five years.</a:t>
            </a:r>
          </a:p>
          <a:p>
            <a:pPr algn="l">
              <a:lnSpc>
                <a:spcPts val="2560"/>
              </a:lnSpc>
              <a:spcAft>
                <a:spcPts val="0"/>
              </a:spcAft>
            </a:pPr>
            <a:r>
              <a:rPr sz="2000" b="1" i="0">
                <a:solidFill>
                  <a:srgbClr val="2D6CB5"/>
                </a:solidFill>
                <a:latin typeface="Garamond"/>
              </a:rPr>
              <a:t>▪  </a:t>
            </a:r>
            <a:r>
              <a:rPr sz="2000" b="0" i="0">
                <a:solidFill>
                  <a:srgbClr val="212529"/>
                </a:solidFill>
                <a:latin typeface="Garamond"/>
              </a:rPr>
              <a:t>We start with the United States, the country with the most information available.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The data, in one slide</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a:t>
            </a:r>
          </a:p>
        </p:txBody>
      </p:sp>
      <p:sp>
        <p:nvSpPr>
          <p:cNvPr id="4" name="TextBox 3"/>
          <p:cNvSpPr txBox="1"/>
          <p:nvPr/>
        </p:nvSpPr>
        <p:spPr>
          <a:xfrm>
            <a:off x="822960" y="2011680"/>
            <a:ext cx="10789920" cy="5120640"/>
          </a:xfrm>
          <a:prstGeom prst="rect">
            <a:avLst/>
          </a:prstGeom>
          <a:noFill/>
        </p:spPr>
        <p:txBody>
          <a:bodyPr wrap="square" lIns="0" rIns="0" tIns="0" bIns="0">
            <a:spAutoFit/>
          </a:bodyPr>
          <a:lstStyle/>
          <a:p>
            <a:pPr algn="l">
              <a:lnSpc>
                <a:spcPts val="2816"/>
              </a:lnSpc>
              <a:spcAft>
                <a:spcPts val="3400"/>
              </a:spcAft>
            </a:pPr>
            <a:r>
              <a:rPr sz="2200" b="1" i="0">
                <a:solidFill>
                  <a:srgbClr val="2D6CB5"/>
                </a:solidFill>
                <a:latin typeface="Garamond"/>
              </a:rPr>
              <a:t>▪  </a:t>
            </a:r>
            <a:r>
              <a:rPr sz="2200" b="1" i="0">
                <a:solidFill>
                  <a:srgbClr val="102D5E"/>
                </a:solidFill>
                <a:latin typeface="Garamond"/>
              </a:rPr>
              <a:t>One source.  </a:t>
            </a:r>
            <a:r>
              <a:rPr sz="2200" b="0" i="0">
                <a:solidFill>
                  <a:srgbClr val="212529"/>
                </a:solidFill>
                <a:latin typeface="Garamond"/>
              </a:rPr>
              <a:t>The Census Bureau's household survey (the CPS), which records every worker's occupation each year.</a:t>
            </a:r>
          </a:p>
          <a:p>
            <a:pPr algn="l">
              <a:lnSpc>
                <a:spcPts val="2816"/>
              </a:lnSpc>
              <a:spcAft>
                <a:spcPts val="3400"/>
              </a:spcAft>
            </a:pPr>
            <a:r>
              <a:rPr sz="2200" b="1" i="0">
                <a:solidFill>
                  <a:srgbClr val="2D6CB5"/>
                </a:solidFill>
                <a:latin typeface="Garamond"/>
              </a:rPr>
              <a:t>▪  </a:t>
            </a:r>
            <a:r>
              <a:rPr sz="2200" b="1" i="0">
                <a:solidFill>
                  <a:srgbClr val="102D5E"/>
                </a:solidFill>
                <a:latin typeface="Garamond"/>
              </a:rPr>
              <a:t>One definition.  </a:t>
            </a:r>
            <a:r>
              <a:rPr sz="2200" b="0" i="0">
                <a:solidFill>
                  <a:srgbClr val="212529"/>
                </a:solidFill>
                <a:latin typeface="Garamond"/>
              </a:rPr>
              <a:t>A teacher is anyone whose main job last year was school teaching; a leaver is a teacher no longer teaching a year later.</a:t>
            </a:r>
          </a:p>
          <a:p>
            <a:pPr algn="l">
              <a:lnSpc>
                <a:spcPts val="2816"/>
              </a:lnSpc>
              <a:spcAft>
                <a:spcPts val="0"/>
              </a:spcAft>
            </a:pPr>
            <a:r>
              <a:rPr sz="2200" b="1" i="0">
                <a:solidFill>
                  <a:srgbClr val="2D6CB5"/>
                </a:solidFill>
                <a:latin typeface="Garamond"/>
              </a:rPr>
              <a:t>▪  </a:t>
            </a:r>
            <a:r>
              <a:rPr sz="2200" b="1" i="0">
                <a:solidFill>
                  <a:srgbClr val="102D5E"/>
                </a:solidFill>
                <a:latin typeface="Garamond"/>
              </a:rPr>
              <a:t>One series.  </a:t>
            </a:r>
            <a:r>
              <a:rPr sz="2200" b="0" i="0">
                <a:solidFill>
                  <a:srgbClr val="212529"/>
                </a:solidFill>
                <a:latin typeface="Garamond"/>
              </a:rPr>
              <a:t>Twenty-eight consecutive years (1998–2025), matching the official benchmark where it exists and filling the years in between.</a:t>
            </a:r>
          </a:p>
        </p:txBody>
      </p:sp>
      <p:sp>
        <p:nvSpPr>
          <p:cNvPr id="5" name="TextBox 4"/>
          <p:cNvSpPr txBox="1"/>
          <p:nvPr/>
        </p:nvSpPr>
        <p:spPr>
          <a:xfrm>
            <a:off x="822960" y="5760720"/>
            <a:ext cx="10789920" cy="548640"/>
          </a:xfrm>
          <a:prstGeom prst="rect">
            <a:avLst/>
          </a:prstGeom>
          <a:noFill/>
        </p:spPr>
        <p:txBody>
          <a:bodyPr wrap="square" lIns="0" rIns="0" tIns="0" bIns="0">
            <a:spAutoFit/>
          </a:bodyPr>
          <a:lstStyle/>
          <a:p>
            <a:pPr algn="l">
              <a:lnSpc>
                <a:spcPts val="1792"/>
              </a:lnSpc>
              <a:spcAft>
                <a:spcPts val="0"/>
              </a:spcAft>
            </a:pPr>
            <a:r>
              <a:rPr sz="1400" b="0" i="1">
                <a:solidFill>
                  <a:srgbClr val="6B7480"/>
                </a:solidFill>
                <a:latin typeface="Garamond"/>
              </a:rPr>
              <a:t>The methodological detail is in the appendix of the long deck and in the paper.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teaching, 1997–2024</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a:t>
            </a:r>
          </a:p>
        </p:txBody>
      </p:sp>
      <p:pic>
        <p:nvPicPr>
          <p:cNvPr id="4" name="Picture 3" descr="g2_evolution.png"/>
          <p:cNvPicPr>
            <a:picLocks noChangeAspect="1"/>
          </p:cNvPicPr>
          <p:nvPr/>
        </p:nvPicPr>
        <p:blipFill>
          <a:blip r:embed="rId2"/>
          <a:stretch>
            <a:fillRect/>
          </a:stretch>
        </p:blipFill>
        <p:spPr>
          <a:xfrm>
            <a:off x="1645920" y="1097280"/>
            <a:ext cx="8869680" cy="443484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Around 8 of every 100 teachers leave each year, and the rate has been stable for 25 years. Attrition is a permanent flow, not a recent crisis.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the occupation, by profession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5</a:t>
            </a:r>
          </a:p>
        </p:txBody>
      </p:sp>
      <p:pic>
        <p:nvPicPr>
          <p:cNvPr id="4" name="Picture 3" descr="leave_professions_deck.png"/>
          <p:cNvPicPr>
            <a:picLocks noChangeAspect="1"/>
          </p:cNvPicPr>
          <p:nvPr/>
        </p:nvPicPr>
        <p:blipFill>
          <a:blip r:embed="rId2"/>
          <a:stretch>
            <a:fillRect/>
          </a:stretch>
        </p:blipFill>
        <p:spPr>
          <a:xfrm>
            <a:off x="1645920" y="1097280"/>
            <a:ext cx="8869680" cy="443484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Teachers leave at rates similar to or below the comparable professions. The distinctive part of teaching is who leaves and where they go, not how many.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Of every 100 leavers (average, 2020–2024)</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6</a:t>
            </a:r>
          </a:p>
        </p:txBody>
      </p:sp>
      <p:pic>
        <p:nvPicPr>
          <p:cNvPr id="4" name="Picture 3" descr="flow_employed_5yr.png"/>
          <p:cNvPicPr>
            <a:picLocks noChangeAspect="1"/>
          </p:cNvPicPr>
          <p:nvPr/>
        </p:nvPicPr>
        <p:blipFill>
          <a:blip r:embed="rId2"/>
          <a:stretch>
            <a:fillRect/>
          </a:stretch>
        </p:blipFill>
        <p:spPr>
          <a:xfrm>
            <a:off x="1357685" y="1051560"/>
            <a:ext cx="9446149" cy="452628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Teachers are not being poached: 7 of every 10 leavers exit employment altogether — to retirement, home or unemployment. Only 3 in 10 trade teaching for another job.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Where the employed leavers go</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7</a:t>
            </a:r>
          </a:p>
        </p:txBody>
      </p:sp>
      <p:pic>
        <p:nvPicPr>
          <p:cNvPr id="4" name="Picture 3" descr="occ_all_slide.png"/>
          <p:cNvPicPr>
            <a:picLocks noChangeAspect="1"/>
          </p:cNvPicPr>
          <p:nvPr/>
        </p:nvPicPr>
        <p:blipFill>
          <a:blip r:embed="rId2"/>
          <a:stretch>
            <a:fillRect/>
          </a:stretch>
        </p:blipFill>
        <p:spPr>
          <a:xfrm>
            <a:off x="775562" y="1024128"/>
            <a:ext cx="10610395" cy="4663440"/>
          </a:xfrm>
          <a:prstGeom prst="rect">
            <a:avLst/>
          </a:prstGeom>
        </p:spPr>
      </p:pic>
      <p:sp>
        <p:nvSpPr>
          <p:cNvPr id="5" name="Rectangle 4"/>
          <p:cNvSpPr/>
          <p:nvPr/>
        </p:nvSpPr>
        <p:spPr>
          <a:xfrm>
            <a:off x="0" y="5632704"/>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760720"/>
            <a:ext cx="10789920" cy="822960"/>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Key message.  </a:t>
            </a:r>
            <a:r>
              <a:rPr sz="1450" b="0" i="0">
                <a:solidFill>
                  <a:srgbClr val="212529"/>
                </a:solidFill>
                <a:latin typeface="Garamond"/>
              </a:rPr>
              <a:t>More than a third of the employed leavers move to occupations where most workers hold no college degree (in red). Leaving teaching usually means leaving the profession, not moving 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Who leaves the labor force before 55 (average, 2020–2024)</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8</a:t>
            </a:r>
          </a:p>
        </p:txBody>
      </p:sp>
      <p:pic>
        <p:nvPicPr>
          <p:cNvPr id="4" name="Picture 3" descr="flow_olf55_5yr.png"/>
          <p:cNvPicPr>
            <a:picLocks noChangeAspect="1"/>
          </p:cNvPicPr>
          <p:nvPr/>
        </p:nvPicPr>
        <p:blipFill>
          <a:blip r:embed="rId2"/>
          <a:stretch>
            <a:fillRect/>
          </a:stretch>
        </p:blipFill>
        <p:spPr>
          <a:xfrm>
            <a:off x="1357685" y="1051560"/>
            <a:ext cx="9446149" cy="452628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Early labor-force exit is mostly a family story. More than half of this group are mothers with a child at home.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And the youngest of them leave to study</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9</a:t>
            </a:r>
          </a:p>
        </p:txBody>
      </p:sp>
      <p:pic>
        <p:nvPicPr>
          <p:cNvPr id="4" name="Picture 3" descr="study_bygroup.png"/>
          <p:cNvPicPr>
            <a:picLocks noChangeAspect="1"/>
          </p:cNvPicPr>
          <p:nvPr/>
        </p:nvPicPr>
        <p:blipFill>
          <a:blip r:embed="rId2"/>
          <a:stretch>
            <a:fillRect/>
          </a:stretch>
        </p:blipFill>
        <p:spPr>
          <a:xfrm>
            <a:off x="1357685" y="1051560"/>
            <a:ext cx="9446149" cy="452628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Studying is the exit of the young and the childless, not of the mothers. Among leavers under 30, almost half are enrolled in school.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over the life cycle</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10</a:t>
            </a:r>
          </a:p>
        </p:txBody>
      </p:sp>
      <p:pic>
        <p:nvPicPr>
          <p:cNvPr id="4" name="Picture 3" descr="u_routes_deck.png"/>
          <p:cNvPicPr>
            <a:picLocks noChangeAspect="1"/>
          </p:cNvPicPr>
          <p:nvPr/>
        </p:nvPicPr>
        <p:blipFill>
          <a:blip r:embed="rId2"/>
          <a:stretch>
            <a:fillRect/>
          </a:stretch>
        </p:blipFill>
        <p:spPr>
          <a:xfrm>
            <a:off x="640080" y="1501140"/>
            <a:ext cx="10881360" cy="362712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Put retention efforts where they can work: the first years of the career (mentoring, stable placements). Retirements can only be planned for, not prevented.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What this says for policy: three margins, quantified</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11</a:t>
            </a:r>
          </a:p>
        </p:txBody>
      </p:sp>
      <p:sp>
        <p:nvSpPr>
          <p:cNvPr id="4" name="TextBox 3"/>
          <p:cNvSpPr txBox="1"/>
          <p:nvPr/>
        </p:nvSpPr>
        <p:spPr>
          <a:xfrm>
            <a:off x="822960" y="123444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Retirees </a:t>
            </a:r>
            <a:r>
              <a:rPr sz="1800" b="0" i="0">
                <a:solidFill>
                  <a:srgbClr val="6B7480"/>
                </a:solidFill>
                <a:latin typeface="Garamond"/>
              </a:rPr>
              <a:t>(out of the labor force, over 55)</a:t>
            </a:r>
          </a:p>
        </p:txBody>
      </p:sp>
      <p:sp>
        <p:nvSpPr>
          <p:cNvPr id="5" name="TextBox 4"/>
          <p:cNvSpPr txBox="1"/>
          <p:nvPr/>
        </p:nvSpPr>
        <p:spPr>
          <a:xfrm>
            <a:off x="822960" y="1737360"/>
            <a:ext cx="10789920" cy="914400"/>
          </a:xfrm>
          <a:prstGeom prst="rect">
            <a:avLst/>
          </a:prstGeom>
          <a:noFill/>
        </p:spPr>
        <p:txBody>
          <a:bodyPr wrap="square" lIns="0" rIns="0" tIns="0" bIns="0">
            <a:spAutoFit/>
          </a:bodyPr>
          <a:lstStyle/>
          <a:p>
            <a:pPr algn="l">
              <a:lnSpc>
                <a:spcPts val="2432"/>
              </a:lnSpc>
              <a:spcAft>
                <a:spcPts val="0"/>
              </a:spcAft>
            </a:pPr>
            <a:r>
              <a:rPr sz="1900" b="0" i="0">
                <a:solidFill>
                  <a:srgbClr val="212529"/>
                </a:solidFill>
                <a:latin typeface="Garamond"/>
              </a:rPr>
              <a:t>About 3% of teachers retire each year, a third of all exits. Delaying retirement extends careers but does not reintegrate anyone.</a:t>
            </a:r>
          </a:p>
        </p:txBody>
      </p:sp>
      <p:sp>
        <p:nvSpPr>
          <p:cNvPr id="6" name="TextBox 5"/>
          <p:cNvSpPr txBox="1"/>
          <p:nvPr/>
        </p:nvSpPr>
        <p:spPr>
          <a:xfrm>
            <a:off x="822960" y="283464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Switchers </a:t>
            </a:r>
            <a:r>
              <a:rPr sz="1800" b="0" i="0">
                <a:solidFill>
                  <a:srgbClr val="6B7480"/>
                </a:solidFill>
                <a:latin typeface="Garamond"/>
              </a:rPr>
              <a:t>(employed in another job)</a:t>
            </a:r>
          </a:p>
        </p:txBody>
      </p:sp>
      <p:sp>
        <p:nvSpPr>
          <p:cNvPr id="7" name="TextBox 6"/>
          <p:cNvSpPr txBox="1"/>
          <p:nvPr/>
        </p:nvSpPr>
        <p:spPr>
          <a:xfrm>
            <a:off x="822960" y="3337560"/>
            <a:ext cx="10789920" cy="914400"/>
          </a:xfrm>
          <a:prstGeom prst="rect">
            <a:avLst/>
          </a:prstGeom>
          <a:noFill/>
        </p:spPr>
        <p:txBody>
          <a:bodyPr wrap="square" lIns="0" rIns="0" tIns="0" bIns="0">
            <a:spAutoFit/>
          </a:bodyPr>
          <a:lstStyle/>
          <a:p>
            <a:pPr algn="l">
              <a:lnSpc>
                <a:spcPts val="2432"/>
              </a:lnSpc>
              <a:spcAft>
                <a:spcPts val="0"/>
              </a:spcAft>
            </a:pPr>
            <a:r>
              <a:rPr sz="1900" b="0" i="0">
                <a:solidFill>
                  <a:srgbClr val="212529"/>
                </a:solidFill>
                <a:latin typeface="Garamond"/>
              </a:rPr>
              <a:t>About 2% move to another job each year, often to jobs that do not require a degree. A real margin, but shortages cannot be closed through retention alone.</a:t>
            </a:r>
          </a:p>
        </p:txBody>
      </p:sp>
      <p:sp>
        <p:nvSpPr>
          <p:cNvPr id="8" name="TextBox 7"/>
          <p:cNvSpPr txBox="1"/>
          <p:nvPr/>
        </p:nvSpPr>
        <p:spPr>
          <a:xfrm>
            <a:off x="822960" y="452628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Early exits </a:t>
            </a:r>
            <a:r>
              <a:rPr sz="1800" b="0" i="0">
                <a:solidFill>
                  <a:srgbClr val="6B7480"/>
                </a:solidFill>
                <a:latin typeface="Garamond"/>
              </a:rPr>
              <a:t>(out of the labor force, under 55)</a:t>
            </a:r>
          </a:p>
        </p:txBody>
      </p:sp>
      <p:sp>
        <p:nvSpPr>
          <p:cNvPr id="9" name="TextBox 8"/>
          <p:cNvSpPr txBox="1"/>
          <p:nvPr/>
        </p:nvSpPr>
        <p:spPr>
          <a:xfrm>
            <a:off x="822960" y="5029200"/>
            <a:ext cx="10789920" cy="1097280"/>
          </a:xfrm>
          <a:prstGeom prst="rect">
            <a:avLst/>
          </a:prstGeom>
          <a:noFill/>
        </p:spPr>
        <p:txBody>
          <a:bodyPr wrap="square" lIns="0" rIns="0" tIns="0" bIns="0">
            <a:spAutoFit/>
          </a:bodyPr>
          <a:lstStyle/>
          <a:p>
            <a:pPr algn="l">
              <a:lnSpc>
                <a:spcPts val="2432"/>
              </a:lnSpc>
              <a:spcAft>
                <a:spcPts val="0"/>
              </a:spcAft>
            </a:pPr>
            <a:r>
              <a:rPr sz="1900" b="0" i="0">
                <a:solidFill>
                  <a:srgbClr val="212529"/>
                </a:solidFill>
                <a:latin typeface="Garamond"/>
              </a:rPr>
              <a:t>About 2% leave the labor force before 55 each year. Most are mothers at home, for whom flexibility may be the missing piece. The young and childless leave to study and need re-entry paths.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What correlates with leaving</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12</a:t>
            </a:r>
          </a:p>
        </p:txBody>
      </p:sp>
      <p:pic>
        <p:nvPicPr>
          <p:cNvPr id="4" name="Picture 3" descr="ame_ext.png"/>
          <p:cNvPicPr>
            <a:picLocks noChangeAspect="1"/>
          </p:cNvPicPr>
          <p:nvPr/>
        </p:nvPicPr>
        <p:blipFill>
          <a:blip r:embed="rId2"/>
          <a:stretch>
            <a:fillRect/>
          </a:stretch>
        </p:blipFill>
        <p:spPr>
          <a:xfrm>
            <a:off x="1587500" y="1024128"/>
            <a:ext cx="8986520" cy="55778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Relative pay since 1997</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13</a:t>
            </a:r>
          </a:p>
        </p:txBody>
      </p:sp>
      <p:pic>
        <p:nvPicPr>
          <p:cNvPr id="4" name="Picture 3" descr="msgA3.png"/>
          <p:cNvPicPr>
            <a:picLocks noChangeAspect="1"/>
          </p:cNvPicPr>
          <p:nvPr/>
        </p:nvPicPr>
        <p:blipFill>
          <a:blip r:embed="rId2"/>
          <a:stretch>
            <a:fillRect/>
          </a:stretch>
        </p:blipFill>
        <p:spPr>
          <a:xfrm>
            <a:off x="702337" y="1097280"/>
            <a:ext cx="10756845" cy="443484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Teacher pay has not grown in 25 years, and neither has it in the closest helping professions. The typical graduate now out-earns a teacher by $30,000 a year.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by position in the teacher pay distribution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14</a:t>
            </a:r>
          </a:p>
        </p:txBody>
      </p:sp>
      <p:pic>
        <p:nvPicPr>
          <p:cNvPr id="4" name="Picture 3" descr="pay3_deciles_deck.png"/>
          <p:cNvPicPr>
            <a:picLocks noChangeAspect="1"/>
          </p:cNvPicPr>
          <p:nvPr/>
        </p:nvPicPr>
        <p:blipFill>
          <a:blip r:embed="rId2"/>
          <a:stretch>
            <a:fillRect/>
          </a:stretch>
        </p:blipFill>
        <p:spPr>
          <a:xfrm>
            <a:off x="1645920" y="1097280"/>
            <a:ext cx="8869680" cy="443484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Leaving is concentrated in the bottom two pay deciles, where part-year and part-time contracts live. Above the median, pay barely matters.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Pension coverage and leaving, across states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15</a:t>
            </a:r>
          </a:p>
        </p:txBody>
      </p:sp>
      <p:pic>
        <p:nvPicPr>
          <p:cNvPr id="4" name="Picture 3" descr="pension_scatter_deck.png"/>
          <p:cNvPicPr>
            <a:picLocks noChangeAspect="1"/>
          </p:cNvPicPr>
          <p:nvPr/>
        </p:nvPicPr>
        <p:blipFill>
          <a:blip r:embed="rId2"/>
          <a:stretch>
            <a:fillRect/>
          </a:stretch>
        </p:blipFill>
        <p:spPr>
          <a:xfrm>
            <a:off x="2289687" y="1097280"/>
            <a:ext cx="7582145" cy="4434840"/>
          </a:xfrm>
          <a:prstGeom prst="rect">
            <a:avLst/>
          </a:prstGeom>
        </p:spPr>
      </p:pic>
      <p:sp>
        <p:nvSpPr>
          <p:cNvPr id="5" name="Rectangle 4"/>
          <p:cNvSpPr/>
          <p:nvPr/>
        </p:nvSpPr>
        <p:spPr>
          <a:xfrm>
            <a:off x="0" y="5559552"/>
            <a:ext cx="12191695"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States where more teachers have a pension plan lose fewer teachers before 55. Economic security retains.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Open questions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16</a:t>
            </a:r>
          </a:p>
        </p:txBody>
      </p:sp>
      <p:sp>
        <p:nvSpPr>
          <p:cNvPr id="4" name="TextBox 3"/>
          <p:cNvSpPr txBox="1"/>
          <p:nvPr/>
        </p:nvSpPr>
        <p:spPr>
          <a:xfrm>
            <a:off x="822960" y="1554480"/>
            <a:ext cx="10789920" cy="5120640"/>
          </a:xfrm>
          <a:prstGeom prst="rect">
            <a:avLst/>
          </a:prstGeom>
          <a:noFill/>
        </p:spPr>
        <p:txBody>
          <a:bodyPr wrap="square" lIns="0" rIns="0" tIns="0" bIns="0">
            <a:spAutoFit/>
          </a:bodyPr>
          <a:lstStyle/>
          <a:p>
            <a:pPr algn="l">
              <a:lnSpc>
                <a:spcPts val="2560"/>
              </a:lnSpc>
              <a:spcAft>
                <a:spcPts val="2600"/>
              </a:spcAft>
            </a:pPr>
            <a:r>
              <a:rPr sz="2000" b="1" i="0">
                <a:solidFill>
                  <a:srgbClr val="2D6CB5"/>
                </a:solidFill>
                <a:latin typeface="Garamond"/>
              </a:rPr>
              <a:t>▪  </a:t>
            </a:r>
            <a:r>
              <a:rPr sz="2000" b="1" i="0">
                <a:solidFill>
                  <a:srgbClr val="102D5E"/>
                </a:solidFill>
                <a:latin typeface="Garamond"/>
              </a:rPr>
              <a:t>Pay floors.  </a:t>
            </a:r>
            <a:r>
              <a:rPr sz="2000" b="0" i="0">
                <a:solidFill>
                  <a:srgbClr val="212529"/>
                </a:solidFill>
                <a:latin typeface="Garamond"/>
              </a:rPr>
              <a:t>Leaving concentrates in the bottom two pay deciles. Would raising the floor retain more teachers than raising the average?</a:t>
            </a:r>
          </a:p>
          <a:p>
            <a:pPr algn="l">
              <a:lnSpc>
                <a:spcPts val="2560"/>
              </a:lnSpc>
              <a:spcAft>
                <a:spcPts val="2600"/>
              </a:spcAft>
            </a:pPr>
            <a:r>
              <a:rPr sz="2000" b="1" i="0">
                <a:solidFill>
                  <a:srgbClr val="2D6CB5"/>
                </a:solidFill>
                <a:latin typeface="Garamond"/>
              </a:rPr>
              <a:t>▪  </a:t>
            </a:r>
            <a:r>
              <a:rPr sz="2000" b="1" i="0">
                <a:solidFill>
                  <a:srgbClr val="102D5E"/>
                </a:solidFill>
                <a:latin typeface="Garamond"/>
              </a:rPr>
              <a:t>Early careers.  </a:t>
            </a:r>
            <a:r>
              <a:rPr sz="2000" b="0" i="0">
                <a:solidFill>
                  <a:srgbClr val="212529"/>
                </a:solidFill>
                <a:latin typeface="Garamond"/>
              </a:rPr>
              <a:t>Exits peak in the first years of the career. Which policies move this margin — mentoring, stable placements, or pay?</a:t>
            </a:r>
          </a:p>
          <a:p>
            <a:pPr algn="l">
              <a:lnSpc>
                <a:spcPts val="2560"/>
              </a:lnSpc>
              <a:spcAft>
                <a:spcPts val="2600"/>
              </a:spcAft>
            </a:pPr>
            <a:r>
              <a:rPr sz="2000" b="1" i="0">
                <a:solidFill>
                  <a:srgbClr val="2D6CB5"/>
                </a:solidFill>
                <a:latin typeface="Garamond"/>
              </a:rPr>
              <a:t>▪  </a:t>
            </a:r>
            <a:r>
              <a:rPr sz="2000" b="1" i="0">
                <a:solidFill>
                  <a:srgbClr val="102D5E"/>
                </a:solidFill>
                <a:latin typeface="Garamond"/>
              </a:rPr>
              <a:t>Family exits.  </a:t>
            </a:r>
            <a:r>
              <a:rPr sz="2000" b="0" i="0">
                <a:solidFill>
                  <a:srgbClr val="212529"/>
                </a:solidFill>
                <a:latin typeface="Garamond"/>
              </a:rPr>
              <a:t>Half of the early labor-force exits are mothers with a child at home. Is this an education policy problem or a child-care one?</a:t>
            </a:r>
          </a:p>
          <a:p>
            <a:pPr algn="l">
              <a:lnSpc>
                <a:spcPts val="2560"/>
              </a:lnSpc>
              <a:spcAft>
                <a:spcPts val="2600"/>
              </a:spcAft>
            </a:pPr>
            <a:r>
              <a:rPr sz="2000" b="1" i="0">
                <a:solidFill>
                  <a:srgbClr val="2D6CB5"/>
                </a:solidFill>
                <a:latin typeface="Garamond"/>
              </a:rPr>
              <a:t>▪  </a:t>
            </a:r>
            <a:r>
              <a:rPr sz="2000" b="1" i="0">
                <a:solidFill>
                  <a:srgbClr val="102D5E"/>
                </a:solidFill>
                <a:latin typeface="Garamond"/>
              </a:rPr>
              <a:t>Re-entry.  </a:t>
            </a:r>
            <a:r>
              <a:rPr sz="2000" b="0" i="0">
                <a:solidFill>
                  <a:srgbClr val="212529"/>
                </a:solidFill>
                <a:latin typeface="Garamond"/>
              </a:rPr>
              <a:t>The young leave to study and mothers leave to care. How many could come back, and what would bring them back?</a:t>
            </a:r>
          </a:p>
          <a:p>
            <a:pPr algn="l">
              <a:lnSpc>
                <a:spcPts val="2560"/>
              </a:lnSpc>
              <a:spcAft>
                <a:spcPts val="0"/>
              </a:spcAft>
            </a:pPr>
            <a:r>
              <a:rPr sz="2000" b="1" i="0">
                <a:solidFill>
                  <a:srgbClr val="2D6CB5"/>
                </a:solidFill>
                <a:latin typeface="Garamond"/>
              </a:rPr>
              <a:t>▪  </a:t>
            </a:r>
            <a:r>
              <a:rPr sz="2000" b="1" i="0">
                <a:solidFill>
                  <a:srgbClr val="102D5E"/>
                </a:solidFill>
                <a:latin typeface="Garamond"/>
              </a:rPr>
              <a:t>What we cannot see.  </a:t>
            </a:r>
            <a:r>
              <a:rPr sz="2000" b="0" i="0">
                <a:solidFill>
                  <a:srgbClr val="212529"/>
                </a:solidFill>
                <a:latin typeface="Garamond"/>
              </a:rPr>
              <a:t>Working conditions and school climate are invisible in household data. What would it take to measure them every year?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