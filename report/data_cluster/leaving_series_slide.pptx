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2800" b="1">
                <a:solidFill>
                  <a:srgbClr val="102D5E"/>
                </a:solidFill>
                <a:latin typeface="Garamond"/>
              </a:rPr>
              <a:t>Leaving teaching, 1997–2024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6B7480"/>
                </a:solidFill>
                <a:latin typeface="Garamond"/>
              </a:rPr>
              <a:t>1</a:t>
            </a:r>
          </a:p>
        </p:txBody>
      </p:sp>
      <p:pic>
        <p:nvPicPr>
          <p:cNvPr id="4" name="Picture 3" descr="g2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097280"/>
            <a:ext cx="8869680" cy="4434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559552"/>
            <a:ext cx="12191695" cy="960120"/>
          </a:xfrm>
          <a:prstGeom prst="rect">
            <a:avLst/>
          </a:prstGeom>
          <a:solidFill>
            <a:srgbClr val="EC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669280"/>
            <a:ext cx="73152" cy="713232"/>
          </a:xfrm>
          <a:prstGeom prst="rect">
            <a:avLst/>
          </a:prstGeom>
          <a:solidFill>
            <a:srgbClr val="1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6875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984"/>
              </a:lnSpc>
              <a:spcAft>
                <a:spcPts val="0"/>
              </a:spcAft>
            </a:pPr>
            <a:r>
              <a:rPr sz="1550" b="1" i="0">
                <a:solidFill>
                  <a:srgbClr val="102D5E"/>
                </a:solidFill>
                <a:latin typeface="Garamond"/>
              </a:rPr>
              <a:t>Key message.  </a:t>
            </a:r>
            <a:r>
              <a:rPr sz="1550" b="0" i="0">
                <a:solidFill>
                  <a:srgbClr val="102D5E"/>
                </a:solidFill>
                <a:latin typeface="Garamond"/>
              </a:rPr>
              <a:t>The leaving rate has remained stable, oscillating between 7 and 10%. The US rate stands slightly above the average (6.5%) of the OECD countries with reported data in the latest edition of Education at a Glance.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