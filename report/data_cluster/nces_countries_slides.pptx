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02D5E"/>
                </a:solidFill>
                <a:latin typeface="Garamond"/>
              </a:rPr>
              <a:t>Our destinations vs the NCES follow-up survey</a:t>
            </a:r>
          </a:p>
        </p:txBody>
      </p:sp>
      <p:pic>
        <p:nvPicPr>
          <p:cNvPr id="3" name="Picture 2" descr="nce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63943"/>
            <a:ext cx="5394960" cy="34215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480" y="114300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75"/>
              </a:lnSpc>
              <a:spcAft>
                <a:spcPts val="1200"/>
              </a:spcAft>
            </a:pPr>
            <a:r>
              <a:rPr sz="1900" b="1">
                <a:solidFill>
                  <a:srgbClr val="102D5E"/>
                </a:solidFill>
                <a:latin typeface="Garamond"/>
              </a:rPr>
              <a:t>Why the columns differ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78308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spcAft>
                <a:spcPts val="1200"/>
              </a:spcAft>
            </a:pPr>
            <a:r>
              <a:rPr sz="1500" b="1">
                <a:solidFill>
                  <a:srgbClr val="2D6CB5"/>
                </a:solidFill>
                <a:latin typeface="Garamond"/>
              </a:rPr>
              <a:t>1.  </a:t>
            </a:r>
            <a:r>
              <a:rPr sz="1500" b="1">
                <a:solidFill>
                  <a:srgbClr val="102D5E"/>
                </a:solidFill>
                <a:latin typeface="Garamond"/>
              </a:rPr>
              <a:t>Who counts as a teacher.  </a:t>
            </a:r>
            <a:r>
              <a:rPr sz="1500" b="0">
                <a:solidFill>
                  <a:srgbClr val="212529"/>
                </a:solidFill>
                <a:latin typeface="Garamond"/>
              </a:rPr>
              <a:t>TFS follows regular classroom teachers of public schools, sampled in schools; we cover public and private, and anyone whose longest job was teaching.</a:t>
            </a:r>
          </a:p>
          <a:p>
            <a:pPr>
              <a:lnSpc>
                <a:spcPts val="1875"/>
              </a:lnSpc>
              <a:spcAft>
                <a:spcPts val="1200"/>
              </a:spcAft>
            </a:pPr>
            <a:r>
              <a:rPr sz="1500" b="1">
                <a:solidFill>
                  <a:srgbClr val="2D6CB5"/>
                </a:solidFill>
                <a:latin typeface="Garamond"/>
              </a:rPr>
              <a:t>2.  </a:t>
            </a:r>
            <a:r>
              <a:rPr sz="1500" b="1">
                <a:solidFill>
                  <a:srgbClr val="102D5E"/>
                </a:solidFill>
                <a:latin typeface="Garamond"/>
              </a:rPr>
              <a:t>What counts as working.  </a:t>
            </a:r>
            <a:r>
              <a:rPr sz="1500" b="0">
                <a:solidFill>
                  <a:srgbClr val="212529"/>
                </a:solidFill>
                <a:latin typeface="Garamond"/>
              </a:rPr>
              <a:t>39 of the TFS's 57 employed leavers hold non-teaching K–12 jobs — they left the classroom, not the school system. Our 28.8 means leaving the occupation.</a:t>
            </a:r>
          </a:p>
          <a:p>
            <a:pPr>
              <a:lnSpc>
                <a:spcPts val="1875"/>
              </a:lnSpc>
              <a:spcAft>
                <a:spcPts val="1200"/>
              </a:spcAft>
            </a:pPr>
            <a:r>
              <a:rPr sz="1500" b="1">
                <a:solidFill>
                  <a:srgbClr val="2D6CB5"/>
                </a:solidFill>
                <a:latin typeface="Garamond"/>
              </a:rPr>
              <a:t>3.  </a:t>
            </a:r>
            <a:r>
              <a:rPr sz="1500" b="1">
                <a:solidFill>
                  <a:srgbClr val="102D5E"/>
                </a:solidFill>
                <a:latin typeface="Garamond"/>
              </a:rPr>
              <a:t>Who is reachable.  </a:t>
            </a:r>
            <a:r>
              <a:rPr sz="1500" b="0">
                <a:solidFill>
                  <a:srgbClr val="212529"/>
                </a:solidFill>
                <a:latin typeface="Garamond"/>
              </a:rPr>
              <a:t>A school-based sample under-represents weakly attached teachers, exactly those who exit to non-participation; a household survey catches them.</a:t>
            </a:r>
          </a:p>
          <a:p>
            <a:pPr>
              <a:lnSpc>
                <a:spcPts val="1875"/>
              </a:lnSpc>
              <a:spcAft>
                <a:spcPts val="1200"/>
              </a:spcAft>
            </a:pPr>
            <a:r>
              <a:rPr sz="1500" b="1">
                <a:solidFill>
                  <a:srgbClr val="2D6CB5"/>
                </a:solidFill>
                <a:latin typeface="Garamond"/>
              </a:rPr>
              <a:t>4.  </a:t>
            </a:r>
            <a:r>
              <a:rPr sz="1500" b="1">
                <a:solidFill>
                  <a:srgbClr val="102D5E"/>
                </a:solidFill>
                <a:latin typeface="Garamond"/>
              </a:rPr>
              <a:t>The window.  </a:t>
            </a:r>
            <a:r>
              <a:rPr sz="1500" b="0">
                <a:solidFill>
                  <a:srgbClr val="212529"/>
                </a:solidFill>
                <a:latin typeface="Garamond"/>
              </a:rPr>
              <a:t>Our column averages 2020–2024; the TFS is the single year 2021–22.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11018520" y="6382512"/>
            <a:ext cx="994867" cy="347472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700" b="1">
                <a:solidFill>
                  <a:srgbClr val="102D5E"/>
                </a:solidFill>
                <a:latin typeface="Garamond"/>
              </a:rPr>
              <a:t>☞ </a:t>
            </a:r>
            <a:r>
              <a:rPr sz="1350">
                <a:solidFill>
                  <a:srgbClr val="102D5E"/>
                </a:solidFill>
                <a:latin typeface="Garamond"/>
              </a:rPr>
              <a:t>back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02D5E"/>
                </a:solidFill>
                <a:latin typeface="Garamond"/>
              </a:rPr>
              <a:t>Teacher attrition across countries</a:t>
            </a:r>
          </a:p>
        </p:txBody>
      </p:sp>
      <p:pic>
        <p:nvPicPr>
          <p:cNvPr id="3" name="Picture 2" descr="intl_bars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784" y="868679"/>
            <a:ext cx="7022592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08192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75"/>
              </a:lnSpc>
              <a:spcAft>
                <a:spcPts val="0"/>
              </a:spcAft>
            </a:pPr>
            <a:r>
              <a:rPr sz="1100" b="0">
                <a:solidFill>
                  <a:srgbClr val="6B7480"/>
                </a:solidFill>
                <a:latin typeface="Garamond"/>
              </a:rPr>
              <a:t>Annual share of teachers leaving, latest comparable national figure (2021 or later), retirements included. Sources: OECD Education at a Glance 2025 (Table D8.4) and national statistical agencies; the United States is our CPS estimate — Education at a Glance reports no current US figure.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464040" y="274320"/>
            <a:ext cx="1875434" cy="347472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700" b="1">
                <a:solidFill>
                  <a:srgbClr val="102D5E"/>
                </a:solidFill>
                <a:latin typeface="Garamond"/>
              </a:rPr>
              <a:t>☞ </a:t>
            </a:r>
            <a:r>
              <a:rPr sz="1350">
                <a:solidFill>
                  <a:srgbClr val="102D5E"/>
                </a:solidFill>
                <a:latin typeface="Garamond"/>
              </a:rPr>
              <a:t>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658368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87"/>
              </a:lnSpc>
              <a:spcAft>
                <a:spcPts val="0"/>
              </a:spcAft>
            </a:pPr>
            <a:r>
              <a:rPr sz="950" b="0">
                <a:solidFill>
                  <a:srgbClr val="6B7480"/>
                </a:solidFill>
                <a:latin typeface="Garamond"/>
              </a:rPr>
              <a:t>(copy this button to the main deck)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11018520" y="6382512"/>
            <a:ext cx="994867" cy="347472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700" b="1">
                <a:solidFill>
                  <a:srgbClr val="102D5E"/>
                </a:solidFill>
                <a:latin typeface="Garamond"/>
              </a:rPr>
              <a:t>☞ </a:t>
            </a:r>
            <a:r>
              <a:rPr sz="1350">
                <a:solidFill>
                  <a:srgbClr val="102D5E"/>
                </a:solidFill>
                <a:latin typeface="Garamond"/>
              </a:rPr>
              <a:t>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