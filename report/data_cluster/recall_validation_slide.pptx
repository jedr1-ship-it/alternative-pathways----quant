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430000" cy="365760"/>
          </a:xfrm>
          <a:prstGeom prst="rect">
            <a:avLst/>
          </a:prstGeom>
          <a:noFill/>
        </p:spPr>
        <p:txBody>
          <a:bodyPr wrap="square" lIns="0" rIns="0" tIns="0" bIns="0">
            <a:spAutoFit/>
          </a:bodyPr>
          <a:lstStyle/>
          <a:p>
            <a:pPr algn="l">
              <a:lnSpc>
                <a:spcPts val="3528"/>
              </a:lnSpc>
            </a:pPr>
            <a:r>
              <a:rPr sz="2800" b="1" i="0">
                <a:solidFill>
                  <a:srgbClr val="102D5E"/>
                </a:solidFill>
                <a:latin typeface="Garamond"/>
              </a:rPr>
              <a:t>Does the retrospective report match what we observed?</a:t>
            </a:r>
          </a:p>
        </p:txBody>
      </p:sp>
      <p:sp>
        <p:nvSpPr>
          <p:cNvPr id="3" name="TextBox 2"/>
          <p:cNvSpPr txBox="1"/>
          <p:nvPr/>
        </p:nvSpPr>
        <p:spPr>
          <a:xfrm>
            <a:off x="822960" y="1188720"/>
            <a:ext cx="10789920" cy="365760"/>
          </a:xfrm>
          <a:prstGeom prst="rect">
            <a:avLst/>
          </a:prstGeom>
          <a:noFill/>
        </p:spPr>
        <p:txBody>
          <a:bodyPr wrap="square" lIns="0" rIns="0" tIns="0" bIns="0">
            <a:spAutoFit/>
          </a:bodyPr>
          <a:lstStyle/>
          <a:p>
            <a:pPr algn="l">
              <a:lnSpc>
                <a:spcPts val="1953"/>
              </a:lnSpc>
            </a:pPr>
            <a:r>
              <a:rPr sz="1550" b="0" i="0">
                <a:solidFill>
                  <a:srgbClr val="212529"/>
                </a:solidFill>
                <a:latin typeface="Garamond"/>
              </a:rPr>
              <a:t>The test. Half of each March sample was interviewed four times during the very year the ASEC asks about. We classify those people as teachers from the four direct observations, and check whether they also report teaching as their longest job of that year.</a:t>
            </a:r>
          </a:p>
        </p:txBody>
      </p:sp>
      <p:cxnSp>
        <p:nvCxnSpPr>
          <p:cNvPr id="4" name="Connector 3"/>
          <p:cNvCxnSpPr/>
          <p:nvPr/>
        </p:nvCxnSpPr>
        <p:spPr>
          <a:xfrm>
            <a:off x="2194560" y="2276856"/>
            <a:ext cx="7680960" cy="0"/>
          </a:xfrm>
          <a:prstGeom prst="line">
            <a:avLst/>
          </a:prstGeom>
          <a:ln w="1778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194560" y="2331720"/>
            <a:ext cx="2926080" cy="365760"/>
          </a:xfrm>
          <a:prstGeom prst="rect">
            <a:avLst/>
          </a:prstGeom>
          <a:noFill/>
        </p:spPr>
        <p:txBody>
          <a:bodyPr wrap="square" lIns="0" rIns="0" tIns="0" bIns="0">
            <a:spAutoFit/>
          </a:bodyPr>
          <a:lstStyle/>
          <a:p>
            <a:pPr algn="l">
              <a:lnSpc>
                <a:spcPts val="1764"/>
              </a:lnSpc>
            </a:pPr>
            <a:r>
              <a:rPr sz="1400" b="1" i="0">
                <a:solidFill>
                  <a:srgbClr val="212529"/>
                </a:solidFill>
                <a:latin typeface="Garamond"/>
              </a:rPr>
              <a:t>Seen teaching in…</a:t>
            </a:r>
          </a:p>
        </p:txBody>
      </p:sp>
      <p:sp>
        <p:nvSpPr>
          <p:cNvPr id="6" name="TextBox 5"/>
          <p:cNvSpPr txBox="1"/>
          <p:nvPr/>
        </p:nvSpPr>
        <p:spPr>
          <a:xfrm>
            <a:off x="5120640" y="2331720"/>
            <a:ext cx="2377440" cy="365760"/>
          </a:xfrm>
          <a:prstGeom prst="rect">
            <a:avLst/>
          </a:prstGeom>
          <a:noFill/>
        </p:spPr>
        <p:txBody>
          <a:bodyPr wrap="square" lIns="0" rIns="0" tIns="0" bIns="0">
            <a:spAutoFit/>
          </a:bodyPr>
          <a:lstStyle/>
          <a:p>
            <a:pPr algn="r">
              <a:lnSpc>
                <a:spcPts val="1764"/>
              </a:lnSpc>
            </a:pPr>
            <a:r>
              <a:rPr sz="1400" b="1" i="0">
                <a:solidFill>
                  <a:srgbClr val="212529"/>
                </a:solidFill>
                <a:latin typeface="Garamond"/>
              </a:rPr>
              <a:t>Classified teachers</a:t>
            </a:r>
          </a:p>
        </p:txBody>
      </p:sp>
      <p:sp>
        <p:nvSpPr>
          <p:cNvPr id="7" name="TextBox 6"/>
          <p:cNvSpPr txBox="1"/>
          <p:nvPr/>
        </p:nvSpPr>
        <p:spPr>
          <a:xfrm>
            <a:off x="7498079" y="2331720"/>
            <a:ext cx="2377440" cy="365760"/>
          </a:xfrm>
          <a:prstGeom prst="rect">
            <a:avLst/>
          </a:prstGeom>
          <a:noFill/>
        </p:spPr>
        <p:txBody>
          <a:bodyPr wrap="square" lIns="0" rIns="0" tIns="0" bIns="0">
            <a:spAutoFit/>
          </a:bodyPr>
          <a:lstStyle/>
          <a:p>
            <a:pPr algn="r">
              <a:lnSpc>
                <a:spcPts val="1764"/>
              </a:lnSpc>
            </a:pPr>
            <a:r>
              <a:rPr sz="1400" b="1" i="0">
                <a:solidFill>
                  <a:srgbClr val="212529"/>
                </a:solidFill>
                <a:latin typeface="Garamond"/>
              </a:rPr>
              <a:t>Not a retro-teacher</a:t>
            </a:r>
          </a:p>
        </p:txBody>
      </p:sp>
      <p:cxnSp>
        <p:nvCxnSpPr>
          <p:cNvPr id="8" name="Connector 7"/>
          <p:cNvCxnSpPr/>
          <p:nvPr/>
        </p:nvCxnSpPr>
        <p:spPr>
          <a:xfrm>
            <a:off x="2194560" y="2642615"/>
            <a:ext cx="7680960" cy="0"/>
          </a:xfrm>
          <a:prstGeom prst="line">
            <a:avLst/>
          </a:prstGeom>
          <a:ln w="762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194560" y="2734056"/>
            <a:ext cx="2926080" cy="365760"/>
          </a:xfrm>
          <a:prstGeom prst="rect">
            <a:avLst/>
          </a:prstGeom>
          <a:noFill/>
        </p:spPr>
        <p:txBody>
          <a:bodyPr wrap="square" lIns="0" rIns="0" tIns="0" bIns="0">
            <a:spAutoFit/>
          </a:bodyPr>
          <a:lstStyle/>
          <a:p>
            <a:pPr algn="l">
              <a:lnSpc>
                <a:spcPts val="1764"/>
              </a:lnSpc>
            </a:pPr>
            <a:r>
              <a:rPr sz="1400" b="0" i="0">
                <a:solidFill>
                  <a:srgbClr val="212529"/>
                </a:solidFill>
                <a:latin typeface="Garamond"/>
              </a:rPr>
              <a:t>≥1 of the 4 interviews (Single)</a:t>
            </a:r>
          </a:p>
        </p:txBody>
      </p:sp>
      <p:sp>
        <p:nvSpPr>
          <p:cNvPr id="10" name="TextBox 9"/>
          <p:cNvSpPr txBox="1"/>
          <p:nvPr/>
        </p:nvSpPr>
        <p:spPr>
          <a:xfrm>
            <a:off x="5120640" y="2734056"/>
            <a:ext cx="2377440" cy="365760"/>
          </a:xfrm>
          <a:prstGeom prst="rect">
            <a:avLst/>
          </a:prstGeom>
          <a:noFill/>
        </p:spPr>
        <p:txBody>
          <a:bodyPr wrap="square" lIns="0" rIns="0" tIns="0" bIns="0">
            <a:spAutoFit/>
          </a:bodyPr>
          <a:lstStyle/>
          <a:p>
            <a:pPr algn="r">
              <a:lnSpc>
                <a:spcPts val="1764"/>
              </a:lnSpc>
            </a:pPr>
            <a:r>
              <a:rPr sz="1400" b="0" i="0">
                <a:solidFill>
                  <a:srgbClr val="212529"/>
                </a:solidFill>
                <a:latin typeface="Garamond"/>
              </a:rPr>
              <a:t>1,459</a:t>
            </a:r>
          </a:p>
        </p:txBody>
      </p:sp>
      <p:sp>
        <p:nvSpPr>
          <p:cNvPr id="11" name="TextBox 10"/>
          <p:cNvSpPr txBox="1"/>
          <p:nvPr/>
        </p:nvSpPr>
        <p:spPr>
          <a:xfrm>
            <a:off x="7498079" y="2734056"/>
            <a:ext cx="2377440" cy="365760"/>
          </a:xfrm>
          <a:prstGeom prst="rect">
            <a:avLst/>
          </a:prstGeom>
          <a:noFill/>
        </p:spPr>
        <p:txBody>
          <a:bodyPr wrap="square" lIns="0" rIns="0" tIns="0" bIns="0">
            <a:spAutoFit/>
          </a:bodyPr>
          <a:lstStyle/>
          <a:p>
            <a:pPr algn="r">
              <a:lnSpc>
                <a:spcPts val="1764"/>
              </a:lnSpc>
            </a:pPr>
            <a:r>
              <a:rPr sz="1400" b="1" i="0">
                <a:solidFill>
                  <a:srgbClr val="102D5E"/>
                </a:solidFill>
                <a:latin typeface="Garamond"/>
              </a:rPr>
              <a:t>17%</a:t>
            </a:r>
          </a:p>
        </p:txBody>
      </p:sp>
      <p:sp>
        <p:nvSpPr>
          <p:cNvPr id="12" name="TextBox 11"/>
          <p:cNvSpPr txBox="1"/>
          <p:nvPr/>
        </p:nvSpPr>
        <p:spPr>
          <a:xfrm>
            <a:off x="2194560" y="3044951"/>
            <a:ext cx="2926080" cy="365760"/>
          </a:xfrm>
          <a:prstGeom prst="rect">
            <a:avLst/>
          </a:prstGeom>
          <a:noFill/>
        </p:spPr>
        <p:txBody>
          <a:bodyPr wrap="square" lIns="0" rIns="0" tIns="0" bIns="0">
            <a:spAutoFit/>
          </a:bodyPr>
          <a:lstStyle/>
          <a:p>
            <a:pPr algn="l">
              <a:lnSpc>
                <a:spcPts val="1764"/>
              </a:lnSpc>
            </a:pPr>
            <a:r>
              <a:rPr sz="1400" b="0" i="0">
                <a:solidFill>
                  <a:srgbClr val="212529"/>
                </a:solidFill>
                <a:latin typeface="Garamond"/>
              </a:rPr>
              <a:t>≥2 of the 4 (Pair)</a:t>
            </a:r>
          </a:p>
        </p:txBody>
      </p:sp>
      <p:sp>
        <p:nvSpPr>
          <p:cNvPr id="13" name="TextBox 12"/>
          <p:cNvSpPr txBox="1"/>
          <p:nvPr/>
        </p:nvSpPr>
        <p:spPr>
          <a:xfrm>
            <a:off x="5120640" y="3044951"/>
            <a:ext cx="2377440" cy="365760"/>
          </a:xfrm>
          <a:prstGeom prst="rect">
            <a:avLst/>
          </a:prstGeom>
          <a:noFill/>
        </p:spPr>
        <p:txBody>
          <a:bodyPr wrap="square" lIns="0" rIns="0" tIns="0" bIns="0">
            <a:spAutoFit/>
          </a:bodyPr>
          <a:lstStyle/>
          <a:p>
            <a:pPr algn="r">
              <a:lnSpc>
                <a:spcPts val="1764"/>
              </a:lnSpc>
            </a:pPr>
            <a:r>
              <a:rPr sz="1400" b="0" i="0">
                <a:solidFill>
                  <a:srgbClr val="212529"/>
                </a:solidFill>
                <a:latin typeface="Garamond"/>
              </a:rPr>
              <a:t>1,325</a:t>
            </a:r>
          </a:p>
        </p:txBody>
      </p:sp>
      <p:sp>
        <p:nvSpPr>
          <p:cNvPr id="14" name="TextBox 13"/>
          <p:cNvSpPr txBox="1"/>
          <p:nvPr/>
        </p:nvSpPr>
        <p:spPr>
          <a:xfrm>
            <a:off x="7498079" y="3044951"/>
            <a:ext cx="2377440" cy="365760"/>
          </a:xfrm>
          <a:prstGeom prst="rect">
            <a:avLst/>
          </a:prstGeom>
          <a:noFill/>
        </p:spPr>
        <p:txBody>
          <a:bodyPr wrap="square" lIns="0" rIns="0" tIns="0" bIns="0">
            <a:spAutoFit/>
          </a:bodyPr>
          <a:lstStyle/>
          <a:p>
            <a:pPr algn="r">
              <a:lnSpc>
                <a:spcPts val="1764"/>
              </a:lnSpc>
            </a:pPr>
            <a:r>
              <a:rPr sz="1400" b="1" i="0">
                <a:solidFill>
                  <a:srgbClr val="102D5E"/>
                </a:solidFill>
                <a:latin typeface="Garamond"/>
              </a:rPr>
              <a:t>13%</a:t>
            </a:r>
          </a:p>
        </p:txBody>
      </p:sp>
      <p:sp>
        <p:nvSpPr>
          <p:cNvPr id="15" name="TextBox 14"/>
          <p:cNvSpPr txBox="1"/>
          <p:nvPr/>
        </p:nvSpPr>
        <p:spPr>
          <a:xfrm>
            <a:off x="2194560" y="3355847"/>
            <a:ext cx="2926080" cy="365760"/>
          </a:xfrm>
          <a:prstGeom prst="rect">
            <a:avLst/>
          </a:prstGeom>
          <a:noFill/>
        </p:spPr>
        <p:txBody>
          <a:bodyPr wrap="square" lIns="0" rIns="0" tIns="0" bIns="0">
            <a:spAutoFit/>
          </a:bodyPr>
          <a:lstStyle/>
          <a:p>
            <a:pPr algn="l">
              <a:lnSpc>
                <a:spcPts val="1764"/>
              </a:lnSpc>
            </a:pPr>
            <a:r>
              <a:rPr sz="1400" b="0" i="0">
                <a:solidFill>
                  <a:srgbClr val="212529"/>
                </a:solidFill>
                <a:latin typeface="Garamond"/>
              </a:rPr>
              <a:t>≥3 of the 4 (Triple)</a:t>
            </a:r>
          </a:p>
        </p:txBody>
      </p:sp>
      <p:sp>
        <p:nvSpPr>
          <p:cNvPr id="16" name="TextBox 15"/>
          <p:cNvSpPr txBox="1"/>
          <p:nvPr/>
        </p:nvSpPr>
        <p:spPr>
          <a:xfrm>
            <a:off x="5120640" y="3355847"/>
            <a:ext cx="2377440" cy="365760"/>
          </a:xfrm>
          <a:prstGeom prst="rect">
            <a:avLst/>
          </a:prstGeom>
          <a:noFill/>
        </p:spPr>
        <p:txBody>
          <a:bodyPr wrap="square" lIns="0" rIns="0" tIns="0" bIns="0">
            <a:spAutoFit/>
          </a:bodyPr>
          <a:lstStyle/>
          <a:p>
            <a:pPr algn="r">
              <a:lnSpc>
                <a:spcPts val="1764"/>
              </a:lnSpc>
            </a:pPr>
            <a:r>
              <a:rPr sz="1400" b="0" i="0">
                <a:solidFill>
                  <a:srgbClr val="212529"/>
                </a:solidFill>
                <a:latin typeface="Garamond"/>
              </a:rPr>
              <a:t>1,231</a:t>
            </a:r>
          </a:p>
        </p:txBody>
      </p:sp>
      <p:sp>
        <p:nvSpPr>
          <p:cNvPr id="17" name="TextBox 16"/>
          <p:cNvSpPr txBox="1"/>
          <p:nvPr/>
        </p:nvSpPr>
        <p:spPr>
          <a:xfrm>
            <a:off x="7498079" y="3355847"/>
            <a:ext cx="2377440" cy="365760"/>
          </a:xfrm>
          <a:prstGeom prst="rect">
            <a:avLst/>
          </a:prstGeom>
          <a:noFill/>
        </p:spPr>
        <p:txBody>
          <a:bodyPr wrap="square" lIns="0" rIns="0" tIns="0" bIns="0">
            <a:spAutoFit/>
          </a:bodyPr>
          <a:lstStyle/>
          <a:p>
            <a:pPr algn="r">
              <a:lnSpc>
                <a:spcPts val="1764"/>
              </a:lnSpc>
            </a:pPr>
            <a:r>
              <a:rPr sz="1400" b="1" i="0">
                <a:solidFill>
                  <a:srgbClr val="102D5E"/>
                </a:solidFill>
                <a:latin typeface="Garamond"/>
              </a:rPr>
              <a:t>10%</a:t>
            </a:r>
          </a:p>
        </p:txBody>
      </p:sp>
      <p:sp>
        <p:nvSpPr>
          <p:cNvPr id="18" name="TextBox 17"/>
          <p:cNvSpPr txBox="1"/>
          <p:nvPr/>
        </p:nvSpPr>
        <p:spPr>
          <a:xfrm>
            <a:off x="2194560" y="3666744"/>
            <a:ext cx="2926080" cy="365760"/>
          </a:xfrm>
          <a:prstGeom prst="rect">
            <a:avLst/>
          </a:prstGeom>
          <a:noFill/>
        </p:spPr>
        <p:txBody>
          <a:bodyPr wrap="square" lIns="0" rIns="0" tIns="0" bIns="0">
            <a:spAutoFit/>
          </a:bodyPr>
          <a:lstStyle/>
          <a:p>
            <a:pPr algn="l">
              <a:lnSpc>
                <a:spcPts val="1764"/>
              </a:lnSpc>
            </a:pPr>
            <a:r>
              <a:rPr sz="1400" b="0" i="0">
                <a:solidFill>
                  <a:srgbClr val="212529"/>
                </a:solidFill>
                <a:latin typeface="Garamond"/>
              </a:rPr>
              <a:t>All 4 (Strict)</a:t>
            </a:r>
          </a:p>
        </p:txBody>
      </p:sp>
      <p:sp>
        <p:nvSpPr>
          <p:cNvPr id="19" name="TextBox 18"/>
          <p:cNvSpPr txBox="1"/>
          <p:nvPr/>
        </p:nvSpPr>
        <p:spPr>
          <a:xfrm>
            <a:off x="5120640" y="3666744"/>
            <a:ext cx="2377440" cy="365760"/>
          </a:xfrm>
          <a:prstGeom prst="rect">
            <a:avLst/>
          </a:prstGeom>
          <a:noFill/>
        </p:spPr>
        <p:txBody>
          <a:bodyPr wrap="square" lIns="0" rIns="0" tIns="0" bIns="0">
            <a:spAutoFit/>
          </a:bodyPr>
          <a:lstStyle/>
          <a:p>
            <a:pPr algn="r">
              <a:lnSpc>
                <a:spcPts val="1764"/>
              </a:lnSpc>
            </a:pPr>
            <a:r>
              <a:rPr sz="1400" b="0" i="0">
                <a:solidFill>
                  <a:srgbClr val="212529"/>
                </a:solidFill>
                <a:latin typeface="Garamond"/>
              </a:rPr>
              <a:t>1,100</a:t>
            </a:r>
          </a:p>
        </p:txBody>
      </p:sp>
      <p:sp>
        <p:nvSpPr>
          <p:cNvPr id="20" name="TextBox 19"/>
          <p:cNvSpPr txBox="1"/>
          <p:nvPr/>
        </p:nvSpPr>
        <p:spPr>
          <a:xfrm>
            <a:off x="7498079" y="3666744"/>
            <a:ext cx="2377440" cy="365760"/>
          </a:xfrm>
          <a:prstGeom prst="rect">
            <a:avLst/>
          </a:prstGeom>
          <a:noFill/>
        </p:spPr>
        <p:txBody>
          <a:bodyPr wrap="square" lIns="0" rIns="0" tIns="0" bIns="0">
            <a:spAutoFit/>
          </a:bodyPr>
          <a:lstStyle/>
          <a:p>
            <a:pPr algn="r">
              <a:lnSpc>
                <a:spcPts val="1764"/>
              </a:lnSpc>
            </a:pPr>
            <a:r>
              <a:rPr sz="1400" b="1" i="0">
                <a:solidFill>
                  <a:srgbClr val="102D5E"/>
                </a:solidFill>
                <a:latin typeface="Garamond"/>
              </a:rPr>
              <a:t>8%</a:t>
            </a:r>
          </a:p>
        </p:txBody>
      </p:sp>
      <p:cxnSp>
        <p:nvCxnSpPr>
          <p:cNvPr id="21" name="Connector 20"/>
          <p:cNvCxnSpPr/>
          <p:nvPr/>
        </p:nvCxnSpPr>
        <p:spPr>
          <a:xfrm>
            <a:off x="2194560" y="4005072"/>
            <a:ext cx="7680960" cy="0"/>
          </a:xfrm>
          <a:prstGeom prst="line">
            <a:avLst/>
          </a:prstGeom>
          <a:ln w="1778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4178807"/>
            <a:ext cx="10789920" cy="365760"/>
          </a:xfrm>
          <a:prstGeom prst="rect">
            <a:avLst/>
          </a:prstGeom>
          <a:noFill/>
        </p:spPr>
        <p:txBody>
          <a:bodyPr wrap="square" lIns="0" rIns="0" tIns="0" bIns="0">
            <a:spAutoFit/>
          </a:bodyPr>
          <a:lstStyle/>
          <a:p>
            <a:pPr algn="l">
              <a:lnSpc>
                <a:spcPts val="1764"/>
              </a:lnSpc>
            </a:pPr>
            <a:r>
              <a:rPr sz="1400" b="0" i="0">
                <a:solidFill>
                  <a:srgbClr val="212529"/>
                </a:solidFill>
                <a:latin typeface="Garamond"/>
              </a:rPr>
              <a:t>Reverse check: 13% of retrospective teachers were never seen teaching in their four interviews.</a:t>
            </a:r>
          </a:p>
        </p:txBody>
      </p:sp>
      <p:sp>
        <p:nvSpPr>
          <p:cNvPr id="23" name="TextBox 22"/>
          <p:cNvSpPr txBox="1"/>
          <p:nvPr/>
        </p:nvSpPr>
        <p:spPr>
          <a:xfrm>
            <a:off x="822960" y="4663440"/>
            <a:ext cx="10789920" cy="365760"/>
          </a:xfrm>
          <a:prstGeom prst="rect">
            <a:avLst/>
          </a:prstGeom>
          <a:noFill/>
        </p:spPr>
        <p:txBody>
          <a:bodyPr wrap="square" lIns="0" rIns="0" tIns="0" bIns="0">
            <a:spAutoFit/>
          </a:bodyPr>
          <a:lstStyle/>
          <a:p>
            <a:pPr algn="l">
              <a:lnSpc>
                <a:spcPts val="1701"/>
              </a:lnSpc>
            </a:pPr>
            <a:r>
              <a:rPr sz="1350" b="0" i="0">
                <a:solidFill>
                  <a:srgbClr val="6B7480"/>
                </a:solidFill>
                <a:latin typeface="Garamond"/>
              </a:rPr>
              <a:t>Reading. The disagreement falls as the direct evidence strengthens, so most of it is definitional, not error: a person seen teaching in one month often did hold a longer job elsewhere that year. The 8% floor mixes partial-year coverage (four interviews span a third of the year), proxy respondents, occupation coding and recall — it cannot be attributed to a single cause.</a:t>
            </a:r>
          </a:p>
        </p:txBody>
      </p:sp>
      <p:sp>
        <p:nvSpPr>
          <p:cNvPr id="24" name="TextBox 23"/>
          <p:cNvSpPr txBox="1"/>
          <p:nvPr/>
        </p:nvSpPr>
        <p:spPr>
          <a:xfrm>
            <a:off x="822960" y="5687568"/>
            <a:ext cx="10789920" cy="365760"/>
          </a:xfrm>
          <a:prstGeom prst="rect">
            <a:avLst/>
          </a:prstGeom>
          <a:noFill/>
        </p:spPr>
        <p:txBody>
          <a:bodyPr wrap="square" lIns="0" rIns="0" tIns="0" bIns="0">
            <a:spAutoFit/>
          </a:bodyPr>
          <a:lstStyle/>
          <a:p>
            <a:pPr algn="l">
              <a:lnSpc>
                <a:spcPts val="1638"/>
              </a:lnSpc>
            </a:pPr>
            <a:r>
              <a:rPr sz="1300" b="0" i="0">
                <a:solidFill>
                  <a:srgbClr val="212529"/>
                </a:solidFill>
                <a:latin typeface="Garamond"/>
              </a:rPr>
              <a:t/>
            </a:r>
          </a:p>
        </p:txBody>
      </p:sp>
      <p:sp>
        <p:nvSpPr>
          <p:cNvPr id="25" name="TextBox 24"/>
          <p:cNvSpPr txBox="1"/>
          <p:nvPr/>
        </p:nvSpPr>
        <p:spPr>
          <a:xfrm>
            <a:off x="822960" y="5687568"/>
            <a:ext cx="10789920" cy="548640"/>
          </a:xfrm>
          <a:prstGeom prst="rect">
            <a:avLst/>
          </a:prstGeom>
          <a:noFill/>
        </p:spPr>
        <p:txBody>
          <a:bodyPr wrap="square" lIns="0" rIns="0" tIns="0" bIns="0">
            <a:spAutoFit/>
          </a:bodyPr>
          <a:lstStyle/>
          <a:p>
            <a:pPr>
              <a:lnSpc>
                <a:spcPts val="1889"/>
              </a:lnSpc>
            </a:pPr>
            <a:r>
              <a:rPr sz="1500" b="1">
                <a:solidFill>
                  <a:srgbClr val="102D5E"/>
                </a:solidFill>
                <a:latin typeface="Garamond"/>
              </a:rPr>
              <a:t>Key message.  </a:t>
            </a:r>
            <a:r>
              <a:rPr sz="1500">
                <a:solidFill>
                  <a:srgbClr val="212529"/>
                </a:solidFill>
                <a:latin typeface="Garamond"/>
              </a:rPr>
              <a:t>The retrospective measure and the panel definitions converge: 92% agreement for teachers observed teaching in all four interviews. ASEC 2017–2019 linked to the prior year's monthly files; 16,792 adults with the full first-year rotation; the usual linkage validation (household, line, sex, age).</a:t>
            </a:r>
          </a:p>
        </p:txBody>
      </p:sp>
      <p:sp>
        <p:nvSpPr>
          <p:cNvPr id="26" name="Rounded Rectangle 25">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