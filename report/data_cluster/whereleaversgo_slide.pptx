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</a:pPr>
            <a:r>
              <a:rPr sz="2800" b="1">
                <a:solidFill>
                  <a:srgbClr val="102D5E"/>
                </a:solidFill>
                <a:latin typeface="Garamond"/>
              </a:rPr>
              <a:t>Where the employed leavers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2400"/>
              </a:spcAft>
            </a:pPr>
            <a:r>
              <a:rPr sz="2000" b="1">
                <a:solidFill>
                  <a:srgbClr val="2D6CB5"/>
                </a:solidFill>
                <a:latin typeface="Garamond"/>
              </a:rPr>
              <a:t>▪  </a:t>
            </a:r>
            <a:r>
              <a:rPr sz="2000" b="1">
                <a:solidFill>
                  <a:srgbClr val="102D5E"/>
                </a:solidFill>
                <a:latin typeface="Garamond"/>
              </a:rPr>
              <a:t>Most leave education for good.  </a:t>
            </a:r>
            <a:r>
              <a:rPr sz="2000" b="0">
                <a:solidFill>
                  <a:srgbClr val="212529"/>
                </a:solidFill>
                <a:latin typeface="Garamond"/>
              </a:rPr>
              <a:t>Only one in three employed leavers stays in an education or care job (lecturers, tutors, administrators, counselors); the other two thirds leave the sector entirely.</a:t>
            </a:r>
          </a:p>
          <a:p>
            <a:pPr>
              <a:lnSpc>
                <a:spcPts val="2560"/>
              </a:lnSpc>
              <a:spcAft>
                <a:spcPts val="2400"/>
              </a:spcAft>
            </a:pPr>
            <a:r>
              <a:rPr sz="2000" b="1">
                <a:solidFill>
                  <a:srgbClr val="2D6CB5"/>
                </a:solidFill>
                <a:latin typeface="Garamond"/>
              </a:rPr>
              <a:t>▪  </a:t>
            </a:r>
            <a:r>
              <a:rPr sz="2000" b="1">
                <a:solidFill>
                  <a:srgbClr val="102D5E"/>
                </a:solidFill>
                <a:latin typeface="Garamond"/>
              </a:rPr>
              <a:t>The clearest step up is the exception, not the rule.  </a:t>
            </a:r>
            <a:r>
              <a:rPr sz="2000" b="0">
                <a:solidFill>
                  <a:srgbClr val="212529"/>
                </a:solidFill>
                <a:latin typeface="Garamond"/>
              </a:rPr>
              <a:t>Management is the single biggest destination (10%); no other destination reaches 3%.</a:t>
            </a:r>
          </a:p>
          <a:p>
            <a:pPr>
              <a:lnSpc>
                <a:spcPts val="2560"/>
              </a:lnSpc>
              <a:spcAft>
                <a:spcPts val="2400"/>
              </a:spcAft>
            </a:pPr>
            <a:r>
              <a:rPr sz="2000" b="1">
                <a:solidFill>
                  <a:srgbClr val="2D6CB5"/>
                </a:solidFill>
                <a:latin typeface="Garamond"/>
              </a:rPr>
              <a:t>▪  </a:t>
            </a:r>
            <a:r>
              <a:rPr sz="2000" b="1">
                <a:solidFill>
                  <a:srgbClr val="102D5E"/>
                </a:solidFill>
                <a:latin typeface="Garamond"/>
              </a:rPr>
              <a:t>For more than a third, leaving means stepping off the degree track.  </a:t>
            </a:r>
            <a:r>
              <a:rPr sz="2000" b="0">
                <a:solidFill>
                  <a:srgbClr val="212529"/>
                </a:solidFill>
                <a:latin typeface="Garamond"/>
              </a:rPr>
              <a:t>36% land in sales, office and manual work, where only one in five workers holds a college degree.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5778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</a:pPr>
            <a:r>
              <a:rPr sz="1600" b="1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600" b="0">
                <a:solidFill>
                  <a:srgbClr val="212529"/>
                </a:solidFill>
                <a:latin typeface="Garamond"/>
              </a:rPr>
              <a:t>Leaving teaching usually means leaving the profession, not moving up.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822960" y="6327648"/>
            <a:ext cx="1679752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Proportions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2649016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