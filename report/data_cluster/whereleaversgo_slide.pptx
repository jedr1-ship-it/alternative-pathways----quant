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112471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3528"/>
              </a:lnSpc>
              <a:spcAft>
                <a:spcPts val="0"/>
              </a:spcAft>
            </a:pPr>
            <a:r>
              <a:rPr sz="2800" b="1" i="0">
                <a:solidFill>
                  <a:srgbClr val="102D5E"/>
                </a:solidFill>
                <a:latin typeface="Garamond"/>
              </a:rPr>
              <a:t>Where the employed leavers go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107899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2394"/>
              </a:lnSpc>
              <a:spcAft>
                <a:spcPts val="2000"/>
              </a:spcAft>
            </a:pPr>
            <a:r>
              <a:rPr sz="1900" b="1" i="0">
                <a:solidFill>
                  <a:srgbClr val="2D6CB5"/>
                </a:solidFill>
                <a:latin typeface="Garamond"/>
              </a:rPr>
              <a:t>▪  </a:t>
            </a:r>
            <a:r>
              <a:rPr sz="1900" b="1" i="0">
                <a:solidFill>
                  <a:srgbClr val="102D5E"/>
                </a:solidFill>
                <a:latin typeface="Garamond"/>
              </a:rPr>
              <a:t>Education, non-teaching — 23%.  </a:t>
            </a:r>
            <a:r>
              <a:rPr sz="1900" b="0" i="0">
                <a:solidFill>
                  <a:srgbClr val="212529"/>
                </a:solidFill>
                <a:latin typeface="Garamond"/>
              </a:rPr>
              <a:t>Postsecondary teachers (8%), tutors (4%), teaching assistants (4%), education administrators (3%), librarians (2%).</a:t>
            </a:r>
          </a:p>
          <a:p>
            <a:pPr>
              <a:lnSpc>
                <a:spcPts val="2394"/>
              </a:lnSpc>
              <a:spcAft>
                <a:spcPts val="2000"/>
              </a:spcAft>
            </a:pPr>
            <a:r>
              <a:rPr sz="1900" b="1" i="0">
                <a:solidFill>
                  <a:srgbClr val="2D6CB5"/>
                </a:solidFill>
                <a:latin typeface="Garamond"/>
              </a:rPr>
              <a:t>▪  </a:t>
            </a:r>
            <a:r>
              <a:rPr sz="1900" b="1" i="0">
                <a:solidFill>
                  <a:srgbClr val="102D5E"/>
                </a:solidFill>
                <a:latin typeface="Garamond"/>
              </a:rPr>
              <a:t>Care — 9%.  </a:t>
            </a:r>
            <a:r>
              <a:rPr sz="1900" b="0" i="0">
                <a:solidFill>
                  <a:srgbClr val="212529"/>
                </a:solidFill>
                <a:latin typeface="Garamond"/>
              </a:rPr>
              <a:t>Educational and career counselors (2%), social and human service assistants (1%), social workers (1%), childcare workers (1%).</a:t>
            </a:r>
          </a:p>
          <a:p>
            <a:pPr>
              <a:lnSpc>
                <a:spcPts val="2394"/>
              </a:lnSpc>
              <a:spcAft>
                <a:spcPts val="2000"/>
              </a:spcAft>
            </a:pPr>
            <a:r>
              <a:rPr sz="1900" b="1" i="0">
                <a:solidFill>
                  <a:srgbClr val="2D6CB5"/>
                </a:solidFill>
                <a:latin typeface="Garamond"/>
              </a:rPr>
              <a:t>▪  </a:t>
            </a:r>
            <a:r>
              <a:rPr sz="1900" b="1" i="0">
                <a:solidFill>
                  <a:srgbClr val="102D5E"/>
                </a:solidFill>
                <a:latin typeface="Garamond"/>
              </a:rPr>
              <a:t>Other professional and managerial — 32%.  </a:t>
            </a:r>
            <a:r>
              <a:rPr sz="1900" b="0" i="0">
                <a:solidFill>
                  <a:srgbClr val="212529"/>
                </a:solidFill>
                <a:latin typeface="Garamond"/>
              </a:rPr>
              <a:t>Managers (10%), coaches (2%), architects (2%), business operations specialists (1%).</a:t>
            </a:r>
          </a:p>
          <a:p>
            <a:pPr>
              <a:lnSpc>
                <a:spcPts val="2394"/>
              </a:lnSpc>
              <a:spcAft>
                <a:spcPts val="2000"/>
              </a:spcAft>
            </a:pPr>
            <a:r>
              <a:rPr sz="1900" b="1" i="0">
                <a:solidFill>
                  <a:srgbClr val="2D6CB5"/>
                </a:solidFill>
                <a:latin typeface="Garamond"/>
              </a:rPr>
              <a:t>▪  </a:t>
            </a:r>
            <a:r>
              <a:rPr sz="1900" b="1" i="0">
                <a:solidFill>
                  <a:srgbClr val="102D5E"/>
                </a:solidFill>
                <a:latin typeface="Garamond"/>
              </a:rPr>
              <a:t>Sales, office and manual — 36%.  </a:t>
            </a:r>
            <a:r>
              <a:rPr sz="1900" b="0" i="0">
                <a:solidFill>
                  <a:srgbClr val="212529"/>
                </a:solidFill>
                <a:latin typeface="Garamond"/>
              </a:rPr>
              <a:t>Secretaries (3%), retail salespersons (2%), landscaping (2%), exercise trainers (2%), taxi drivers (1%) — almost entirely occupations where most workers hold no college degree.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577840"/>
            <a:ext cx="107899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2016"/>
              </a:lnSpc>
              <a:spcAft>
                <a:spcPts val="0"/>
              </a:spcAft>
            </a:pPr>
            <a:r>
              <a:rPr sz="1600" b="1" i="0">
                <a:solidFill>
                  <a:srgbClr val="102D5E"/>
                </a:solidFill>
                <a:latin typeface="Garamond"/>
              </a:rPr>
              <a:t>Key message.  </a:t>
            </a:r>
            <a:r>
              <a:rPr sz="1600" b="0" i="0">
                <a:solidFill>
                  <a:srgbClr val="212529"/>
                </a:solidFill>
                <a:latin typeface="Garamond"/>
              </a:rPr>
              <a:t>More than a third of the employed leavers move to occupations where most workers hold no college degree. Leaving teaching usually means leaving the profession, not moving up.</a:t>
            </a:r>
          </a:p>
        </p:txBody>
      </p:sp>
      <p:sp>
        <p:nvSpPr>
          <p:cNvPr id="5" name="Rounded Rectangle 4">
            <a:hlinkClick action="ppaction://hlinksldjump" r:id="rId2"/>
          </p:cNvPr>
          <p:cNvSpPr/>
          <p:nvPr/>
        </p:nvSpPr>
        <p:spPr>
          <a:xfrm>
            <a:off x="822960" y="6327648"/>
            <a:ext cx="1679752" cy="365760"/>
          </a:xfrm>
          <a:prstGeom prst="roundRect">
            <a:avLst/>
          </a:prstGeom>
          <a:solidFill>
            <a:srgbClr val="BE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6576" rIns="36576" tIns="0" bIns="0"/>
          <a:lstStyle/>
          <a:p>
            <a:pPr algn="ctr"/>
            <a:r>
              <a:rPr sz="1800" b="1">
                <a:solidFill>
                  <a:srgbClr val="102D5E"/>
                </a:solidFill>
                <a:latin typeface="Garamond"/>
              </a:rPr>
              <a:t>☞ </a:t>
            </a:r>
            <a:r>
              <a:rPr sz="1400">
                <a:solidFill>
                  <a:srgbClr val="102D5E"/>
                </a:solidFill>
                <a:latin typeface="Garamond"/>
              </a:rPr>
              <a:t>Proportions</a:t>
            </a:r>
          </a:p>
        </p:txBody>
      </p:sp>
      <p:sp>
        <p:nvSpPr>
          <p:cNvPr id="6" name="Rounded Rectangle 5">
            <a:hlinkClick action="ppaction://hlinksldjump" r:id="rId2"/>
          </p:cNvPr>
          <p:cNvSpPr/>
          <p:nvPr/>
        </p:nvSpPr>
        <p:spPr>
          <a:xfrm>
            <a:off x="2649016" y="6327648"/>
            <a:ext cx="994867" cy="365760"/>
          </a:xfrm>
          <a:prstGeom prst="roundRect">
            <a:avLst/>
          </a:prstGeom>
          <a:solidFill>
            <a:srgbClr val="BE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6576" rIns="36576" tIns="0" bIns="0"/>
          <a:lstStyle/>
          <a:p>
            <a:pPr algn="ctr"/>
            <a:r>
              <a:rPr sz="1800" b="1">
                <a:solidFill>
                  <a:srgbClr val="102D5E"/>
                </a:solidFill>
                <a:latin typeface="Garamond"/>
              </a:rPr>
              <a:t>☞ </a:t>
            </a:r>
            <a:r>
              <a:rPr sz="1400">
                <a:solidFill>
                  <a:srgbClr val="102D5E"/>
                </a:solidFill>
                <a:latin typeface="Garamond"/>
              </a:rPr>
              <a:t>Back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