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slide" Target="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slide" Target="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slide" Target="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0058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02D5E"/>
                </a:solidFill>
                <a:latin typeface="Garamond"/>
              </a:rPr>
              <a:t>Are the margins stable over time?</a:t>
            </a:r>
          </a:p>
        </p:txBody>
      </p:sp>
      <p:pic>
        <p:nvPicPr>
          <p:cNvPr id="3" name="Picture 2" descr="ame_twoperi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0144" y="914400"/>
            <a:ext cx="8501230" cy="4983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053328"/>
            <a:ext cx="9326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6B7480"/>
                </a:solidFill>
                <a:latin typeface="Garamond"/>
              </a:rPr>
              <a:t>Probit average marginal effects in percentage points, estimated separately on 1997–2017 and on the deck's window 2018–2024, with the controls available in every year. Benchmarks: average annual leaving probability 7.9% (1997–2017) and 7.3% (2018–2024). With the full controls (health, disability, income; available from 2019) the 2018–24 margins are unchanged.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9464040" y="274320"/>
            <a:ext cx="1581912" cy="365760"/>
          </a:xfrm>
          <a:prstGeom prst="roundRect">
            <a:avLst/>
          </a:prstGeom>
          <a:solidFill>
            <a:srgbClr val="BE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800" b="1">
                <a:solidFill>
                  <a:srgbClr val="102D5E"/>
                </a:solidFill>
                <a:latin typeface="Garamond"/>
              </a:rPr>
              <a:t>☞ </a:t>
            </a:r>
            <a:r>
              <a:rPr sz="1400">
                <a:solidFill>
                  <a:srgbClr val="102D5E"/>
                </a:solidFill>
                <a:latin typeface="Garamond"/>
              </a:rPr>
              <a:t>robustness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64040" y="676656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6B7480"/>
                </a:solidFill>
                <a:latin typeface="Garamond"/>
              </a:rPr>
              <a:t>(copy this button to the main deck)</a:t>
            </a:r>
          </a:p>
        </p:txBody>
      </p:sp>
      <p:sp>
        <p:nvSpPr>
          <p:cNvPr id="7" name="Rounded Rectangle 6">
            <a:hlinkClick action="ppaction://hlinksldjump" r:id="rId3"/>
          </p:cNvPr>
          <p:cNvSpPr/>
          <p:nvPr/>
        </p:nvSpPr>
        <p:spPr>
          <a:xfrm>
            <a:off x="10469880" y="6327648"/>
            <a:ext cx="994867" cy="365760"/>
          </a:xfrm>
          <a:prstGeom prst="roundRect">
            <a:avLst/>
          </a:prstGeom>
          <a:solidFill>
            <a:srgbClr val="BE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800" b="1">
                <a:solidFill>
                  <a:srgbClr val="102D5E"/>
                </a:solidFill>
                <a:latin typeface="Garamond"/>
              </a:rPr>
              <a:t>☞ </a:t>
            </a:r>
            <a:r>
              <a:rPr sz="1400">
                <a:solidFill>
                  <a:srgbClr val="102D5E"/>
                </a:solidFill>
                <a:latin typeface="Garamond"/>
              </a:rPr>
              <a:t>back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0058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02D5E"/>
                </a:solidFill>
                <a:latin typeface="Garamond"/>
              </a:rPr>
              <a:t>The margins over the whole period</a:t>
            </a:r>
          </a:p>
        </p:txBody>
      </p:sp>
      <p:pic>
        <p:nvPicPr>
          <p:cNvPr id="3" name="Picture 2" descr="robtable_allye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0597" y="914400"/>
            <a:ext cx="5640324" cy="5394959"/>
          </a:xfrm>
          <a:prstGeom prst="rect">
            <a:avLst/>
          </a:prstGeom>
        </p:spPr>
      </p:pic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10469880" y="6327648"/>
            <a:ext cx="994867" cy="365760"/>
          </a:xfrm>
          <a:prstGeom prst="roundRect">
            <a:avLst/>
          </a:prstGeom>
          <a:solidFill>
            <a:srgbClr val="BE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800" b="1">
                <a:solidFill>
                  <a:srgbClr val="102D5E"/>
                </a:solidFill>
                <a:latin typeface="Garamond"/>
              </a:rPr>
              <a:t>☞ </a:t>
            </a:r>
            <a:r>
              <a:rPr sz="1400">
                <a:solidFill>
                  <a:srgbClr val="102D5E"/>
                </a:solidFill>
                <a:latin typeface="Garamond"/>
              </a:rPr>
              <a:t>back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0058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02D5E"/>
                </a:solidFill>
                <a:latin typeface="Garamond"/>
              </a:rPr>
              <a:t>Fixed-effects variants, full specification</a:t>
            </a:r>
          </a:p>
        </p:txBody>
      </p:sp>
      <p:pic>
        <p:nvPicPr>
          <p:cNvPr id="3" name="Picture 2" descr="robtabl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0689" y="914400"/>
            <a:ext cx="6180141" cy="5394959"/>
          </a:xfrm>
          <a:prstGeom prst="rect">
            <a:avLst/>
          </a:prstGeom>
        </p:spPr>
      </p:pic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10469880" y="6327648"/>
            <a:ext cx="994867" cy="365760"/>
          </a:xfrm>
          <a:prstGeom prst="roundRect">
            <a:avLst/>
          </a:prstGeom>
          <a:solidFill>
            <a:srgbClr val="BE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800" b="1">
                <a:solidFill>
                  <a:srgbClr val="102D5E"/>
                </a:solidFill>
                <a:latin typeface="Garamond"/>
              </a:rPr>
              <a:t>☞ </a:t>
            </a:r>
            <a:r>
              <a:rPr sz="1400">
                <a:solidFill>
                  <a:srgbClr val="102D5E"/>
                </a:solidFill>
                <a:latin typeface="Garamond"/>
              </a:rPr>
              <a:t>back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0058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02D5E"/>
                </a:solidFill>
                <a:latin typeface="Garamond"/>
              </a:rPr>
              <a:t>LPM vs logit vs probit, full specification</a:t>
            </a:r>
          </a:p>
        </p:txBody>
      </p:sp>
      <p:pic>
        <p:nvPicPr>
          <p:cNvPr id="3" name="Picture 2" descr="robtabl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7723" y="914400"/>
            <a:ext cx="6706072" cy="5394960"/>
          </a:xfrm>
          <a:prstGeom prst="rect">
            <a:avLst/>
          </a:prstGeom>
        </p:spPr>
      </p:pic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10469880" y="6327648"/>
            <a:ext cx="994867" cy="365760"/>
          </a:xfrm>
          <a:prstGeom prst="roundRect">
            <a:avLst/>
          </a:prstGeom>
          <a:solidFill>
            <a:srgbClr val="BE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800" b="1">
                <a:solidFill>
                  <a:srgbClr val="102D5E"/>
                </a:solidFill>
                <a:latin typeface="Garamond"/>
              </a:rPr>
              <a:t>☞ </a:t>
            </a:r>
            <a:r>
              <a:rPr sz="1400">
                <a:solidFill>
                  <a:srgbClr val="102D5E"/>
                </a:solidFill>
                <a:latin typeface="Garamond"/>
              </a:rPr>
              <a:t>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