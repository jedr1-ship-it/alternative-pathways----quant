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What correlates with leaving, 1997–2024</a:t>
            </a:r>
          </a:p>
        </p:txBody>
      </p:sp>
      <p:pic>
        <p:nvPicPr>
          <p:cNvPr id="3" name="Picture 2" descr="ame_all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516" y="1005840"/>
            <a:ext cx="867848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9963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6B7480"/>
                </a:solidFill>
                <a:latin typeface="Garamond"/>
              </a:rPr>
              <a:t>Probit average marginal effects in percentage points, all survey years: N = 84,146 teacher-year observations, calendar 1997–2024. Health, disability and income controls exist only from the 2019 supplement; adding them (N = 18,571) leaves every margin unchanged.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464040" y="274320"/>
            <a:ext cx="1581912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676656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margins over the whole period</a:t>
            </a:r>
          </a:p>
        </p:txBody>
      </p:sp>
      <p:pic>
        <p:nvPicPr>
          <p:cNvPr id="3" name="Picture 2" descr="robtable_all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597" y="914400"/>
            <a:ext cx="5640324" cy="5394959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Fixed-effects variants, full specification</a:t>
            </a:r>
          </a:p>
        </p:txBody>
      </p:sp>
      <p:pic>
        <p:nvPicPr>
          <p:cNvPr id="3" name="Picture 2" descr="robtabl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689" y="914400"/>
            <a:ext cx="6180141" cy="5394959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3268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LPM vs logit vs probit, full specification</a:t>
            </a:r>
          </a:p>
        </p:txBody>
      </p:sp>
      <p:pic>
        <p:nvPicPr>
          <p:cNvPr id="3" name="Picture 2" descr="robtabl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7723" y="914400"/>
            <a:ext cx="6706072" cy="5394960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