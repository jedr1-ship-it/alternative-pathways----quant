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3584"/>
              </a:lnSpc>
            </a:pPr>
            <a:r>
              <a:rPr sz="2800" b="1" i="0">
                <a:solidFill>
                  <a:srgbClr val="102D5E"/>
                </a:solidFill>
                <a:latin typeface="Garamond"/>
              </a:rPr>
              <a:t>Comparable professions: who we compare teachers with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822960" y="1417320"/>
            <a:ext cx="10698480" cy="0"/>
          </a:xfrm>
          <a:prstGeom prst="line">
            <a:avLst/>
          </a:prstGeom>
          <a:ln w="16510">
            <a:solidFill>
              <a:srgbClr val="21252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4663440" y="1527048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1920"/>
              </a:lnSpc>
            </a:pPr>
            <a:r>
              <a:rPr sz="1500" b="1" i="0">
                <a:solidFill>
                  <a:srgbClr val="212529"/>
                </a:solidFill>
                <a:latin typeface="Garamond"/>
              </a:rPr>
              <a:t>Teachers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527048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1920"/>
              </a:lnSpc>
            </a:pPr>
            <a:r>
              <a:rPr sz="1500" b="1" i="0">
                <a:solidFill>
                  <a:srgbClr val="212529"/>
                </a:solidFill>
                <a:latin typeface="Garamond"/>
              </a:rPr>
              <a:t>Nurses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138160" y="1527048"/>
            <a:ext cx="17373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1920"/>
              </a:lnSpc>
            </a:pPr>
            <a:r>
              <a:rPr sz="1500" b="1" i="0">
                <a:solidFill>
                  <a:srgbClr val="212529"/>
                </a:solidFill>
                <a:latin typeface="Garamond"/>
              </a:rPr>
              <a:t>Social workers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66960" y="1527048"/>
            <a:ext cx="1554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1920"/>
              </a:lnSpc>
            </a:pPr>
            <a:r>
              <a:rPr sz="1500" b="1" i="0">
                <a:solidFill>
                  <a:srgbClr val="212529"/>
                </a:solidFill>
                <a:latin typeface="Garamond"/>
              </a:rPr>
              <a:t>Counselors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22960" y="1911095"/>
            <a:ext cx="10698480" cy="0"/>
          </a:xfrm>
          <a:prstGeom prst="line">
            <a:avLst/>
          </a:prstGeom>
          <a:ln w="8890">
            <a:solidFill>
              <a:srgbClr val="21252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22960" y="2020824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920"/>
              </a:lnSpc>
            </a:pPr>
            <a:r>
              <a:rPr sz="1500" b="0" i="0">
                <a:solidFill>
                  <a:srgbClr val="212529"/>
                </a:solidFill>
                <a:latin typeface="Garamond"/>
              </a:rPr>
              <a:t>Female (%)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63440" y="2020824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1920"/>
              </a:lnSpc>
            </a:pPr>
            <a:r>
              <a:rPr sz="1500" b="0" i="0">
                <a:solidFill>
                  <a:srgbClr val="212529"/>
                </a:solidFill>
                <a:latin typeface="Garamond"/>
              </a:rPr>
              <a:t>76.0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020824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1920"/>
              </a:lnSpc>
            </a:pPr>
            <a:r>
              <a:rPr sz="1500" b="0" i="0">
                <a:solidFill>
                  <a:srgbClr val="212529"/>
                </a:solidFill>
                <a:latin typeface="Garamond"/>
              </a:rPr>
              <a:t>88.2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38160" y="2020824"/>
            <a:ext cx="17373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1920"/>
              </a:lnSpc>
            </a:pPr>
            <a:r>
              <a:rPr sz="1500" b="0" i="0">
                <a:solidFill>
                  <a:srgbClr val="212529"/>
                </a:solidFill>
                <a:latin typeface="Garamond"/>
              </a:rPr>
              <a:t>82.9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966960" y="2020824"/>
            <a:ext cx="1554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1920"/>
              </a:lnSpc>
            </a:pPr>
            <a:r>
              <a:rPr sz="1500" b="0" i="0">
                <a:solidFill>
                  <a:srgbClr val="212529"/>
                </a:solidFill>
                <a:latin typeface="Garamond"/>
              </a:rPr>
              <a:t>76.2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2386584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920"/>
              </a:lnSpc>
            </a:pPr>
            <a:r>
              <a:rPr sz="1500" b="0" i="0">
                <a:solidFill>
                  <a:srgbClr val="212529"/>
                </a:solidFill>
                <a:latin typeface="Garamond"/>
              </a:rPr>
              <a:t>Average age (years)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63440" y="2386584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1920"/>
              </a:lnSpc>
            </a:pPr>
            <a:r>
              <a:rPr sz="1500" b="0" i="0">
                <a:solidFill>
                  <a:srgbClr val="212529"/>
                </a:solidFill>
                <a:latin typeface="Garamond"/>
              </a:rPr>
              <a:t>44.4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2386584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1920"/>
              </a:lnSpc>
            </a:pPr>
            <a:r>
              <a:rPr sz="1500" b="0" i="0">
                <a:solidFill>
                  <a:srgbClr val="212529"/>
                </a:solidFill>
                <a:latin typeface="Garamond"/>
              </a:rPr>
              <a:t>43.1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38160" y="2386584"/>
            <a:ext cx="17373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1920"/>
              </a:lnSpc>
            </a:pPr>
            <a:r>
              <a:rPr sz="1500" b="0" i="0">
                <a:solidFill>
                  <a:srgbClr val="212529"/>
                </a:solidFill>
                <a:latin typeface="Garamond"/>
              </a:rPr>
              <a:t>43.4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966960" y="2386584"/>
            <a:ext cx="1554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1920"/>
              </a:lnSpc>
            </a:pPr>
            <a:r>
              <a:rPr sz="1500" b="0" i="0">
                <a:solidFill>
                  <a:srgbClr val="212529"/>
                </a:solidFill>
                <a:latin typeface="Garamond"/>
              </a:rPr>
              <a:t>43.2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2752344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920"/>
              </a:lnSpc>
            </a:pPr>
            <a:r>
              <a:rPr sz="1500" b="0" i="0">
                <a:solidFill>
                  <a:srgbClr val="212529"/>
                </a:solidFill>
                <a:latin typeface="Garamond"/>
              </a:rPr>
              <a:t>Master’s or higher (%)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63440" y="2752344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1920"/>
              </a:lnSpc>
            </a:pPr>
            <a:r>
              <a:rPr sz="1500" b="0" i="0">
                <a:solidFill>
                  <a:srgbClr val="212529"/>
                </a:solidFill>
                <a:latin typeface="Garamond"/>
              </a:rPr>
              <a:t>51.9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2752344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1920"/>
              </a:lnSpc>
            </a:pPr>
            <a:r>
              <a:rPr sz="1500" b="0" i="0">
                <a:solidFill>
                  <a:srgbClr val="212529"/>
                </a:solidFill>
                <a:latin typeface="Garamond"/>
              </a:rPr>
              <a:t>25.9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38160" y="2752344"/>
            <a:ext cx="17373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1920"/>
              </a:lnSpc>
            </a:pPr>
            <a:r>
              <a:rPr sz="1500" b="0" i="0">
                <a:solidFill>
                  <a:srgbClr val="212529"/>
                </a:solidFill>
                <a:latin typeface="Garamond"/>
              </a:rPr>
              <a:t>50.8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66960" y="2752344"/>
            <a:ext cx="1554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1920"/>
              </a:lnSpc>
            </a:pPr>
            <a:r>
              <a:rPr sz="1500" b="0" i="0">
                <a:solidFill>
                  <a:srgbClr val="212529"/>
                </a:solidFill>
                <a:latin typeface="Garamond"/>
              </a:rPr>
              <a:t>67.8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3118103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920"/>
              </a:lnSpc>
            </a:pPr>
            <a:r>
              <a:rPr sz="1500" b="0" i="0">
                <a:solidFill>
                  <a:srgbClr val="212529"/>
                </a:solidFill>
                <a:latin typeface="Garamond"/>
              </a:rPr>
              <a:t>Public sector (%)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63440" y="3118103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1920"/>
              </a:lnSpc>
            </a:pPr>
            <a:r>
              <a:rPr sz="1500" b="0" i="0">
                <a:solidFill>
                  <a:srgbClr val="212529"/>
                </a:solidFill>
                <a:latin typeface="Garamond"/>
              </a:rPr>
              <a:t>70.2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3118103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1920"/>
              </a:lnSpc>
            </a:pPr>
            <a:r>
              <a:rPr sz="1500" b="0" i="0">
                <a:solidFill>
                  <a:srgbClr val="212529"/>
                </a:solidFill>
                <a:latin typeface="Garamond"/>
              </a:rPr>
              <a:t>12.3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38160" y="3118103"/>
            <a:ext cx="17373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1920"/>
              </a:lnSpc>
            </a:pPr>
            <a:r>
              <a:rPr sz="1500" b="0" i="0">
                <a:solidFill>
                  <a:srgbClr val="212529"/>
                </a:solidFill>
                <a:latin typeface="Garamond"/>
              </a:rPr>
              <a:t>43.1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966960" y="3118103"/>
            <a:ext cx="1554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1920"/>
              </a:lnSpc>
            </a:pPr>
            <a:r>
              <a:rPr sz="1500" b="0" i="0">
                <a:solidFill>
                  <a:srgbClr val="212529"/>
                </a:solidFill>
                <a:latin typeface="Garamond"/>
              </a:rPr>
              <a:t>36.7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60" y="3483863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920"/>
              </a:lnSpc>
            </a:pPr>
            <a:r>
              <a:rPr sz="1500" b="0" i="0">
                <a:solidFill>
                  <a:srgbClr val="212529"/>
                </a:solidFill>
                <a:latin typeface="Garamond"/>
              </a:rPr>
              <a:t>Weeks worked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63440" y="3483863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1920"/>
              </a:lnSpc>
            </a:pPr>
            <a:r>
              <a:rPr sz="1500" b="0" i="0">
                <a:solidFill>
                  <a:srgbClr val="212529"/>
                </a:solidFill>
                <a:latin typeface="Garamond"/>
              </a:rPr>
              <a:t>46.6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3483863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1920"/>
              </a:lnSpc>
            </a:pPr>
            <a:r>
              <a:rPr sz="1500" b="0" i="0">
                <a:solidFill>
                  <a:srgbClr val="212529"/>
                </a:solidFill>
                <a:latin typeface="Garamond"/>
              </a:rPr>
              <a:t>49.3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38160" y="3483863"/>
            <a:ext cx="17373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1920"/>
              </a:lnSpc>
            </a:pPr>
            <a:r>
              <a:rPr sz="1500" b="0" i="0">
                <a:solidFill>
                  <a:srgbClr val="212529"/>
                </a:solidFill>
                <a:latin typeface="Garamond"/>
              </a:rPr>
              <a:t>49.6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966960" y="3483863"/>
            <a:ext cx="1554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1920"/>
              </a:lnSpc>
            </a:pPr>
            <a:r>
              <a:rPr sz="1500" b="0" i="0">
                <a:solidFill>
                  <a:srgbClr val="212529"/>
                </a:solidFill>
                <a:latin typeface="Garamond"/>
              </a:rPr>
              <a:t>48.5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2960" y="3849624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920"/>
              </a:lnSpc>
            </a:pPr>
            <a:r>
              <a:rPr sz="1500" b="0" i="0">
                <a:solidFill>
                  <a:srgbClr val="212529"/>
                </a:solidFill>
                <a:latin typeface="Garamond"/>
              </a:rPr>
              <a:t>Median annual wage ($)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663440" y="3849624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1920"/>
              </a:lnSpc>
            </a:pPr>
            <a:r>
              <a:rPr sz="1500" b="0" i="0">
                <a:solidFill>
                  <a:srgbClr val="212529"/>
                </a:solidFill>
                <a:latin typeface="Garamond"/>
              </a:rPr>
              <a:t>56,000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0" y="3849624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1920"/>
              </a:lnSpc>
            </a:pPr>
            <a:r>
              <a:rPr sz="1500" b="0" i="0">
                <a:solidFill>
                  <a:srgbClr val="212529"/>
                </a:solidFill>
                <a:latin typeface="Garamond"/>
              </a:rPr>
              <a:t>80,000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138160" y="3849624"/>
            <a:ext cx="17373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1920"/>
              </a:lnSpc>
            </a:pPr>
            <a:r>
              <a:rPr sz="1500" b="0" i="0">
                <a:solidFill>
                  <a:srgbClr val="212529"/>
                </a:solidFill>
                <a:latin typeface="Garamond"/>
              </a:rPr>
              <a:t>57,000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966960" y="3849624"/>
            <a:ext cx="1554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1920"/>
              </a:lnSpc>
            </a:pPr>
            <a:r>
              <a:rPr sz="1500" b="0" i="0">
                <a:solidFill>
                  <a:srgbClr val="212529"/>
                </a:solidFill>
                <a:latin typeface="Garamond"/>
              </a:rPr>
              <a:t>55,000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822960" y="4233672"/>
            <a:ext cx="10698480" cy="0"/>
          </a:xfrm>
          <a:prstGeom prst="line">
            <a:avLst/>
          </a:prstGeom>
          <a:ln w="8890">
            <a:solidFill>
              <a:srgbClr val="21252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822960" y="434340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920"/>
              </a:lnSpc>
            </a:pPr>
            <a:r>
              <a:rPr sz="1500" b="0" i="0">
                <a:solidFill>
                  <a:srgbClr val="212529"/>
                </a:solidFill>
                <a:latin typeface="Garamond"/>
              </a:rPr>
              <a:t>Observations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663440" y="4343400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1920"/>
              </a:lnSpc>
            </a:pPr>
            <a:r>
              <a:rPr sz="1500" b="0" i="0">
                <a:solidFill>
                  <a:srgbClr val="212529"/>
                </a:solidFill>
                <a:latin typeface="Garamond"/>
              </a:rPr>
              <a:t>28,932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00800" y="4343400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1920"/>
              </a:lnSpc>
            </a:pPr>
            <a:r>
              <a:rPr sz="1500" b="0" i="0">
                <a:solidFill>
                  <a:srgbClr val="212529"/>
                </a:solidFill>
                <a:latin typeface="Garamond"/>
              </a:rPr>
              <a:t>13,107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38160" y="4343400"/>
            <a:ext cx="17373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1920"/>
              </a:lnSpc>
            </a:pPr>
            <a:r>
              <a:rPr sz="1500" b="0" i="0">
                <a:solidFill>
                  <a:srgbClr val="212529"/>
                </a:solidFill>
                <a:latin typeface="Garamond"/>
              </a:rPr>
              <a:t>3,407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966960" y="4343400"/>
            <a:ext cx="1554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ts val="1920"/>
              </a:lnSpc>
            </a:pPr>
            <a:r>
              <a:rPr sz="1500" b="0" i="0">
                <a:solidFill>
                  <a:srgbClr val="212529"/>
                </a:solidFill>
                <a:latin typeface="Garamond"/>
              </a:rPr>
              <a:t>3,962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822960" y="4745736"/>
            <a:ext cx="10698480" cy="0"/>
          </a:xfrm>
          <a:prstGeom prst="line">
            <a:avLst/>
          </a:prstGeom>
          <a:ln w="16510">
            <a:solidFill>
              <a:srgbClr val="21252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822960" y="491032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600"/>
              </a:lnSpc>
            </a:pPr>
            <a:r>
              <a:rPr sz="1250" b="0" i="1">
                <a:solidFill>
                  <a:srgbClr val="6B7480"/>
                </a:solidFill>
                <a:latin typeface="Garamond"/>
              </a:rPr>
              <a:t>College graduates, pooled 2015–2024, weighted; wages from 2020–2024.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22960" y="5897880"/>
            <a:ext cx="107899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855"/>
              </a:lnSpc>
            </a:pPr>
            <a:r>
              <a:rPr sz="1450" b="1" i="0">
                <a:solidFill>
                  <a:srgbClr val="102D5E"/>
                </a:solidFill>
                <a:latin typeface="Garamond"/>
              </a:rPr>
              <a:t>Key message.  </a:t>
            </a:r>
            <a:r>
              <a:rPr sz="1450" b="0" i="0">
                <a:solidFill>
                  <a:srgbClr val="212529"/>
                </a:solidFill>
                <a:latin typeface="Garamond"/>
              </a:rPr>
              <a:t>Teaching is similar to counseling in gender and pay, and to social work in age and education. What sets teaching apart is the public sector and the shorter work year.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3584"/>
              </a:lnSpc>
            </a:pPr>
            <a:r>
              <a:rPr sz="2800" b="1" i="0">
                <a:solidFill>
                  <a:srgbClr val="102D5E"/>
                </a:solidFill>
                <a:latin typeface="Garamond"/>
              </a:rPr>
              <a:t>Leaving the occupation, by profession</a:t>
            </a:r>
          </a:p>
        </p:txBody>
      </p:sp>
      <p:pic>
        <p:nvPicPr>
          <p:cNvPr id="3" name="Picture 2" descr="leave_professions_d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5920" y="1097280"/>
            <a:ext cx="8869680" cy="44348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5687568"/>
            <a:ext cx="107899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2048"/>
              </a:lnSpc>
            </a:pPr>
            <a:r>
              <a:rPr sz="1600" b="1" i="0">
                <a:solidFill>
                  <a:srgbClr val="102D5E"/>
                </a:solidFill>
                <a:latin typeface="Garamond"/>
              </a:rPr>
              <a:t>Key message.  </a:t>
            </a:r>
            <a:r>
              <a:rPr sz="1600" b="0" i="0">
                <a:solidFill>
                  <a:srgbClr val="212529"/>
                </a:solidFill>
                <a:latin typeface="Garamond"/>
              </a:rPr>
              <a:t>Teachers leave at rates similar to or below the comparable professions. The distinctive part of teaching is who leaves and where they go, not how many.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