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584"/>
              </a:lnSpc>
              <a:spcAft>
                <a:spcPts val="0"/>
              </a:spcAft>
            </a:pPr>
            <a:r>
              <a:rPr sz="2800" b="1" i="0">
                <a:solidFill>
                  <a:srgbClr val="102D5E"/>
                </a:solidFill>
                <a:latin typeface="Garamond"/>
              </a:rPr>
              <a:t>Determinants of leaving the teaching profession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15568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</a:pPr>
            <a:r>
              <a:rPr sz="1500" b="0" i="1">
                <a:solidFill>
                  <a:srgbClr val="6B7480"/>
                </a:solidFill>
                <a:latin typeface="Garamond"/>
              </a:rPr>
              <a:t>From the initial literature review of our policy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47088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</a:pPr>
            <a:r>
              <a:rPr sz="1900" b="1" i="0">
                <a:solidFill>
                  <a:srgbClr val="6B7480"/>
                </a:solidFill>
                <a:latin typeface="Garamond"/>
              </a:rPr>
              <a:t>In the literature, but not in the CPS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59152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1200"/>
              </a:spcAft>
            </a:pPr>
            <a:r>
              <a:rPr sz="1700" b="1" i="0">
                <a:solidFill>
                  <a:srgbClr val="6B7480"/>
                </a:solidFill>
                <a:latin typeface="Garamond"/>
              </a:rPr>
              <a:t>▪  </a:t>
            </a:r>
            <a:r>
              <a:rPr sz="1700" b="1" i="0">
                <a:solidFill>
                  <a:srgbClr val="102D5E"/>
                </a:solidFill>
                <a:latin typeface="Garamond"/>
              </a:rPr>
              <a:t>Working conditions.  </a:t>
            </a:r>
            <a:r>
              <a:rPr sz="1700" b="0" i="0">
                <a:solidFill>
                  <a:srgbClr val="212529"/>
                </a:solidFill>
                <a:latin typeface="Garamond"/>
              </a:rPr>
              <a:t>Workload, class size, and student behavior.</a:t>
            </a:r>
          </a:p>
          <a:p>
            <a:pPr>
              <a:lnSpc>
                <a:spcPts val="2176"/>
              </a:lnSpc>
              <a:spcAft>
                <a:spcPts val="1200"/>
              </a:spcAft>
            </a:pPr>
            <a:r>
              <a:rPr sz="1700" b="1" i="0">
                <a:solidFill>
                  <a:srgbClr val="6B7480"/>
                </a:solidFill>
                <a:latin typeface="Garamond"/>
              </a:rPr>
              <a:t>▪  </a:t>
            </a:r>
            <a:r>
              <a:rPr sz="1700" b="1" i="0">
                <a:solidFill>
                  <a:srgbClr val="102D5E"/>
                </a:solidFill>
                <a:latin typeface="Garamond"/>
              </a:rPr>
              <a:t>Organizational support.  </a:t>
            </a:r>
            <a:r>
              <a:rPr sz="1700" b="0" i="0">
                <a:solidFill>
                  <a:srgbClr val="212529"/>
                </a:solidFill>
                <a:latin typeface="Garamond"/>
              </a:rPr>
              <a:t>Leadership, mentoring, and school climate.</a:t>
            </a:r>
          </a:p>
          <a:p>
            <a:pPr>
              <a:lnSpc>
                <a:spcPts val="2176"/>
              </a:lnSpc>
              <a:spcAft>
                <a:spcPts val="0"/>
              </a:spcAft>
            </a:pPr>
            <a:r>
              <a:rPr sz="1700" b="1" i="0">
                <a:solidFill>
                  <a:srgbClr val="6B7480"/>
                </a:solidFill>
                <a:latin typeface="Garamond"/>
              </a:rPr>
              <a:t>▪  </a:t>
            </a:r>
            <a:r>
              <a:rPr sz="1700" b="1" i="0">
                <a:solidFill>
                  <a:srgbClr val="102D5E"/>
                </a:solidFill>
                <a:latin typeface="Garamond"/>
              </a:rPr>
              <a:t>Autonomy and intrinsic motives.  </a:t>
            </a:r>
            <a:r>
              <a:rPr sz="1700" b="0" i="0">
                <a:solidFill>
                  <a:srgbClr val="212529"/>
                </a:solidFill>
                <a:latin typeface="Garamond"/>
              </a:rPr>
              <a:t>Control over one's own work and the sense of vocation.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41648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</a:pPr>
            <a:r>
              <a:rPr sz="1900" b="1" i="0">
                <a:solidFill>
                  <a:srgbClr val="102D5E"/>
                </a:solidFill>
                <a:latin typeface="Garamond"/>
              </a:rPr>
              <a:t>What the CPS observes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53712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1200"/>
              </a:spcAft>
            </a:pPr>
            <a:r>
              <a:rPr sz="1700" b="1" i="0">
                <a:solidFill>
                  <a:srgbClr val="2D6CB5"/>
                </a:solidFill>
                <a:latin typeface="Garamond"/>
              </a:rPr>
              <a:t>▪  </a:t>
            </a:r>
            <a:r>
              <a:rPr sz="1700" b="1" i="0">
                <a:solidFill>
                  <a:srgbClr val="102D5E"/>
                </a:solidFill>
                <a:latin typeface="Garamond"/>
              </a:rPr>
              <a:t>Financial factors.  </a:t>
            </a:r>
            <a:r>
              <a:rPr sz="1700" b="0" i="0">
                <a:solidFill>
                  <a:srgbClr val="212529"/>
                </a:solidFill>
                <a:latin typeface="Garamond"/>
              </a:rPr>
              <a:t>Own earnings, household income, and the pay of the outside options.</a:t>
            </a:r>
          </a:p>
          <a:p>
            <a:pPr>
              <a:lnSpc>
                <a:spcPts val="2176"/>
              </a:lnSpc>
              <a:spcAft>
                <a:spcPts val="1200"/>
              </a:spcAft>
            </a:pPr>
            <a:r>
              <a:rPr sz="1700" b="1" i="0">
                <a:solidFill>
                  <a:srgbClr val="2D6CB5"/>
                </a:solidFill>
                <a:latin typeface="Garamond"/>
              </a:rPr>
              <a:t>▪  </a:t>
            </a:r>
            <a:r>
              <a:rPr sz="1700" b="1" i="0">
                <a:solidFill>
                  <a:srgbClr val="102D5E"/>
                </a:solidFill>
                <a:latin typeface="Garamond"/>
              </a:rPr>
              <a:t>Personal life-cycle motives.  </a:t>
            </a:r>
            <a:r>
              <a:rPr sz="1700" b="0" i="0">
                <a:solidFill>
                  <a:srgbClr val="212529"/>
                </a:solidFill>
                <a:latin typeface="Garamond"/>
              </a:rPr>
              <a:t>Marriage, children, health, and retirement timing.</a:t>
            </a:r>
          </a:p>
          <a:p>
            <a:pPr>
              <a:lnSpc>
                <a:spcPts val="2176"/>
              </a:lnSpc>
              <a:spcAft>
                <a:spcPts val="0"/>
              </a:spcAft>
            </a:pPr>
            <a:r>
              <a:rPr sz="1700" b="1" i="0">
                <a:solidFill>
                  <a:srgbClr val="2D6CB5"/>
                </a:solidFill>
                <a:latin typeface="Garamond"/>
              </a:rPr>
              <a:t>▪  </a:t>
            </a:r>
            <a:r>
              <a:rPr sz="1700" b="1" i="0">
                <a:solidFill>
                  <a:srgbClr val="102D5E"/>
                </a:solidFill>
                <a:latin typeface="Garamond"/>
              </a:rPr>
              <a:t>Sociodemographics.  </a:t>
            </a:r>
            <a:r>
              <a:rPr sz="1700" b="0" i="0">
                <a:solidFill>
                  <a:srgbClr val="212529"/>
                </a:solidFill>
                <a:latin typeface="Garamond"/>
              </a:rPr>
              <a:t>Sex, age, education, race and ethnicity, and state.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10561320" y="6327648"/>
            <a:ext cx="914400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