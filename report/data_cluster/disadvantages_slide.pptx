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19456"/>
            <a:ext cx="1124712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2800" b="1">
                <a:solidFill>
                  <a:srgbClr val="102D5E"/>
                </a:solidFill>
                <a:latin typeface="Garamond"/>
              </a:rPr>
              <a:t>Disadvantages of each option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804672"/>
            <a:ext cx="5879592" cy="60533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87552" y="1463040"/>
            <a:ext cx="48463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3072"/>
              </a:lnSpc>
              <a:spcAft>
                <a:spcPts val="0"/>
              </a:spcAft>
            </a:pPr>
            <a:r>
              <a:rPr sz="2400" b="1">
                <a:solidFill>
                  <a:srgbClr val="102D5E"/>
                </a:solidFill>
                <a:latin typeface="Garamond"/>
              </a:rPr>
              <a:t>A. Following individuals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2240280"/>
            <a:ext cx="475488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48"/>
              </a:lnSpc>
              <a:spcAft>
                <a:spcPts val="1500"/>
              </a:spcAft>
            </a:pPr>
            <a:r>
              <a:rPr sz="1600" b="1">
                <a:solidFill>
                  <a:srgbClr val="2D6CB5"/>
                </a:solidFill>
                <a:latin typeface="Garamond"/>
              </a:rPr>
              <a:t>1.   </a:t>
            </a:r>
            <a:r>
              <a:rPr sz="1600" b="0">
                <a:solidFill>
                  <a:srgbClr val="212529"/>
                </a:solidFill>
                <a:latin typeface="Garamond"/>
              </a:rPr>
              <a:t>Individual matching errors: the sex–race–age check discards ~5% of links; a same-profile replacement slipping through is not measurable.</a:t>
            </a:r>
          </a:p>
          <a:p>
            <a:pPr>
              <a:lnSpc>
                <a:spcPts val="2048"/>
              </a:lnSpc>
              <a:spcAft>
                <a:spcPts val="1500"/>
              </a:spcAft>
            </a:pPr>
            <a:r>
              <a:rPr sz="1600" b="1">
                <a:solidFill>
                  <a:srgbClr val="2D6CB5"/>
                </a:solidFill>
                <a:latin typeface="Garamond"/>
              </a:rPr>
              <a:t>2.   </a:t>
            </a:r>
            <a:r>
              <a:rPr sz="1600" b="0">
                <a:solidFill>
                  <a:srgbClr val="212529"/>
                </a:solidFill>
                <a:latin typeface="Garamond"/>
              </a:rPr>
              <a:t>Internal migration: ~8% of people move home each year, and a move breaks the address link.</a:t>
            </a:r>
          </a:p>
          <a:p>
            <a:pPr>
              <a:lnSpc>
                <a:spcPts val="2048"/>
              </a:lnSpc>
              <a:spcAft>
                <a:spcPts val="1500"/>
              </a:spcAft>
            </a:pPr>
            <a:r>
              <a:rPr sz="1600" b="1">
                <a:solidFill>
                  <a:srgbClr val="2D6CB5"/>
                </a:solidFill>
                <a:latin typeface="Garamond"/>
              </a:rPr>
              <a:t>3.   </a:t>
            </a:r>
            <a:r>
              <a:rPr sz="1600" b="0">
                <a:solidFill>
                  <a:srgbClr val="212529"/>
                </a:solidFill>
                <a:latin typeface="Garamond"/>
              </a:rPr>
              <a:t>Normal survey attrition: 6–9% of due re-interviews are missed each month; ~17% of teachers never reappear in year 2.</a:t>
            </a:r>
          </a:p>
          <a:p>
            <a:pPr>
              <a:lnSpc>
                <a:spcPts val="2048"/>
              </a:lnSpc>
              <a:spcAft>
                <a:spcPts val="1500"/>
              </a:spcAft>
            </a:pPr>
            <a:r>
              <a:rPr sz="1600" b="1">
                <a:solidFill>
                  <a:srgbClr val="2D6CB5"/>
                </a:solidFill>
                <a:latin typeface="Garamond"/>
              </a:rPr>
              <a:t>4.   </a:t>
            </a:r>
            <a:r>
              <a:rPr sz="1600" b="0">
                <a:solidFill>
                  <a:srgbClr val="212529"/>
                </a:solidFill>
                <a:latin typeface="Garamond"/>
              </a:rPr>
              <a:t>Strong seasonality in teaching.</a:t>
            </a:r>
          </a:p>
          <a:p>
            <a:pPr>
              <a:lnSpc>
                <a:spcPts val="2048"/>
              </a:lnSpc>
              <a:spcAft>
                <a:spcPts val="0"/>
              </a:spcAft>
            </a:pPr>
            <a:r>
              <a:rPr sz="1600" b="1">
                <a:solidFill>
                  <a:srgbClr val="2D6CB5"/>
                </a:solidFill>
                <a:latin typeface="Garamond"/>
              </a:rPr>
              <a:t>5.   </a:t>
            </a:r>
            <a:r>
              <a:rPr sz="1600" b="0">
                <a:solidFill>
                  <a:srgbClr val="212529"/>
                </a:solidFill>
                <a:latin typeface="Garamond"/>
              </a:rPr>
              <a:t>Many ways to define the rate (next slide).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55080" y="1463040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3072"/>
              </a:lnSpc>
              <a:spcAft>
                <a:spcPts val="0"/>
              </a:spcAft>
            </a:pPr>
            <a:r>
              <a:rPr sz="2400" b="1">
                <a:solidFill>
                  <a:srgbClr val="102D5E"/>
                </a:solidFill>
                <a:latin typeface="Garamond"/>
              </a:rPr>
              <a:t>B. Retrospective March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55080" y="2240280"/>
            <a:ext cx="512064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lnSpc>
                <a:spcPts val="2048"/>
              </a:lnSpc>
              <a:spcAft>
                <a:spcPts val="1500"/>
              </a:spcAft>
            </a:pPr>
            <a:r>
              <a:rPr sz="1600" b="1">
                <a:solidFill>
                  <a:srgbClr val="2D6CB5"/>
                </a:solidFill>
                <a:latin typeface="Garamond"/>
              </a:rPr>
              <a:t>1.   </a:t>
            </a:r>
            <a:r>
              <a:rPr sz="1600" b="0">
                <a:solidFill>
                  <a:srgbClr val="212529"/>
                </a:solidFill>
                <a:latin typeface="Garamond"/>
              </a:rPr>
              <a:t>Recall bias.</a:t>
            </a:r>
          </a:p>
          <a:p>
            <a:pPr>
              <a:lnSpc>
                <a:spcPts val="2048"/>
              </a:lnSpc>
              <a:spcAft>
                <a:spcPts val="1500"/>
              </a:spcAft>
            </a:pPr>
            <a:r>
              <a:rPr sz="1600" b="1">
                <a:solidFill>
                  <a:srgbClr val="2D6CB5"/>
                </a:solidFill>
                <a:latin typeface="Garamond"/>
              </a:rPr>
              <a:t>2.   </a:t>
            </a:r>
            <a:r>
              <a:rPr sz="1600" b="0">
                <a:solidFill>
                  <a:srgbClr val="212529"/>
                </a:solidFill>
                <a:latin typeface="Garamond"/>
              </a:rPr>
              <a:t>Less sample. Using only March, we observe ~4,000 teachers a year, once each. Using all twelve months we would observe ~11,000 teachers, three times each — but the retrospective questions that define the leaving rate are only asked in March.</a:t>
            </a:r>
          </a:p>
          <a:p>
            <a:pPr>
              <a:lnSpc>
                <a:spcPts val="2048"/>
              </a:lnSpc>
              <a:spcAft>
                <a:spcPts val="0"/>
              </a:spcAft>
            </a:pPr>
            <a:r>
              <a:rPr sz="1600" b="1">
                <a:solidFill>
                  <a:srgbClr val="2D6CB5"/>
                </a:solidFill>
                <a:latin typeface="Garamond"/>
              </a:rPr>
              <a:t>3.   </a:t>
            </a:r>
            <a:r>
              <a:rPr sz="1600" b="0">
                <a:solidFill>
                  <a:srgbClr val="212529"/>
                </a:solidFill>
                <a:latin typeface="Garamond"/>
              </a:rPr>
              <a:t>Only March-to-March transitions. Within-year spells are smoothed away.</a:t>
            </a:r>
          </a:p>
        </p:txBody>
      </p:sp>
      <p:sp>
        <p:nvSpPr>
          <p:cNvPr id="8" name="Rounded Rectangle 7">
            <a:hlinkClick action="ppaction://hlinksldjump" r:id="rId2"/>
          </p:cNvPr>
          <p:cNvSpPr/>
          <p:nvPr/>
        </p:nvSpPr>
        <p:spPr>
          <a:xfrm>
            <a:off x="822960" y="6327648"/>
            <a:ext cx="1777593" cy="365760"/>
          </a:xfrm>
          <a:prstGeom prst="roundRect">
            <a:avLst/>
          </a:prstGeom>
          <a:solidFill>
            <a:srgbClr val="BE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800" b="1">
                <a:solidFill>
                  <a:srgbClr val="102D5E"/>
                </a:solidFill>
                <a:latin typeface="Garamond"/>
              </a:rPr>
              <a:t>☞ </a:t>
            </a:r>
            <a:r>
              <a:rPr sz="1400">
                <a:solidFill>
                  <a:srgbClr val="102D5E"/>
                </a:solidFill>
                <a:latin typeface="Garamond"/>
              </a:rPr>
              <a:t>Linkage loss</a:t>
            </a:r>
          </a:p>
        </p:txBody>
      </p:sp>
      <p:sp>
        <p:nvSpPr>
          <p:cNvPr id="9" name="Rounded Rectangle 8">
            <a:hlinkClick action="ppaction://hlinksldjump" r:id="rId2"/>
          </p:cNvPr>
          <p:cNvSpPr/>
          <p:nvPr/>
        </p:nvSpPr>
        <p:spPr>
          <a:xfrm>
            <a:off x="2746857" y="6327648"/>
            <a:ext cx="2756001" cy="365760"/>
          </a:xfrm>
          <a:prstGeom prst="roundRect">
            <a:avLst/>
          </a:prstGeom>
          <a:solidFill>
            <a:srgbClr val="BE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800" b="1">
                <a:solidFill>
                  <a:srgbClr val="102D5E"/>
                </a:solidFill>
                <a:latin typeface="Garamond"/>
              </a:rPr>
              <a:t>☞ </a:t>
            </a:r>
            <a:r>
              <a:rPr sz="1400">
                <a:solidFill>
                  <a:srgbClr val="102D5E"/>
                </a:solidFill>
                <a:latin typeface="Garamond"/>
              </a:rPr>
              <a:t>Definition sensitivity</a:t>
            </a:r>
          </a:p>
        </p:txBody>
      </p:sp>
      <p:sp>
        <p:nvSpPr>
          <p:cNvPr id="10" name="Rounded Rectangle 9">
            <a:hlinkClick action="ppaction://hlinksldjump" r:id="rId2"/>
          </p:cNvPr>
          <p:cNvSpPr/>
          <p:nvPr/>
        </p:nvSpPr>
        <p:spPr>
          <a:xfrm>
            <a:off x="5649163" y="6327648"/>
            <a:ext cx="1581912" cy="365760"/>
          </a:xfrm>
          <a:prstGeom prst="roundRect">
            <a:avLst/>
          </a:prstGeom>
          <a:solidFill>
            <a:srgbClr val="BE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36576" rIns="36576" tIns="0" bIns="0"/>
          <a:lstStyle/>
          <a:p>
            <a:pPr algn="ctr"/>
            <a:r>
              <a:rPr sz="1800" b="1">
                <a:solidFill>
                  <a:srgbClr val="102D5E"/>
                </a:solidFill>
                <a:latin typeface="Garamond"/>
              </a:rPr>
              <a:t>☞ </a:t>
            </a:r>
            <a:r>
              <a:rPr sz="1400">
                <a:solidFill>
                  <a:srgbClr val="102D5E"/>
                </a:solidFill>
                <a:latin typeface="Garamond"/>
              </a:rPr>
              <a:t>Validation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