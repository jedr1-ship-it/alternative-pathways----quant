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Disadvantages of each option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04672"/>
            <a:ext cx="5879592" cy="605332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46304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072"/>
              </a:lnSpc>
              <a:spcAft>
                <a:spcPts val="0"/>
              </a:spcAft>
            </a:pPr>
            <a:r>
              <a:rPr sz="2400" b="1">
                <a:solidFill>
                  <a:srgbClr val="102D5E"/>
                </a:solidFill>
                <a:latin typeface="Garamond"/>
              </a:rPr>
              <a:t>A. Following individuals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240280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048"/>
              </a:lnSpc>
              <a:spcAft>
                <a:spcPts val="150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1.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Identity is not certain, validation can admit noisy people.</a:t>
            </a:r>
          </a:p>
          <a:p>
            <a:pPr>
              <a:lnSpc>
                <a:spcPts val="2048"/>
              </a:lnSpc>
              <a:spcAft>
                <a:spcPts val="150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2.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Movers are lost. About 25% of addresses are not found a year later.</a:t>
            </a:r>
          </a:p>
          <a:p>
            <a:pPr>
              <a:lnSpc>
                <a:spcPts val="2048"/>
              </a:lnSpc>
              <a:spcAft>
                <a:spcPts val="150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3.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Normal household attrition on top.</a:t>
            </a:r>
          </a:p>
          <a:p>
            <a:pPr>
              <a:lnSpc>
                <a:spcPts val="2048"/>
              </a:lnSpc>
              <a:spcAft>
                <a:spcPts val="150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4.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Strong seasonality in teaching.</a:t>
            </a:r>
          </a:p>
          <a:p>
            <a:pPr>
              <a:lnSpc>
                <a:spcPts val="2048"/>
              </a:lnSpc>
              <a:spcAft>
                <a:spcPts val="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5.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Many ways to define the rate (next slide).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463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072"/>
              </a:lnSpc>
              <a:spcAft>
                <a:spcPts val="0"/>
              </a:spcAft>
            </a:pPr>
            <a:r>
              <a:rPr sz="2400" b="1">
                <a:solidFill>
                  <a:srgbClr val="102D5E"/>
                </a:solidFill>
                <a:latin typeface="Garamond"/>
              </a:rPr>
              <a:t>B. Retrospective March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2240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048"/>
              </a:lnSpc>
              <a:spcAft>
                <a:spcPts val="150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1.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Recall bias.</a:t>
            </a:r>
          </a:p>
          <a:p>
            <a:pPr>
              <a:lnSpc>
                <a:spcPts val="2048"/>
              </a:lnSpc>
              <a:spcAft>
                <a:spcPts val="150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2.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Less sample. The ASEC sees each teacher once a year, ~4,000 in all. The twelve monthly files see ~11,000 distinct teachers, about three times each. We give up two of every three teachers in exchange for the retrospective questions, which only March asks.</a:t>
            </a:r>
          </a:p>
          <a:p>
            <a:pPr>
              <a:lnSpc>
                <a:spcPts val="2048"/>
              </a:lnSpc>
              <a:spcAft>
                <a:spcPts val="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3.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Only March-to-March transitions. Within-year spells are smoothed away.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822960" y="6327648"/>
            <a:ext cx="1777593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Linkage loss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2746857" y="6327648"/>
            <a:ext cx="2756001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Definition sensitivity</a:t>
            </a:r>
          </a:p>
        </p:txBody>
      </p:sp>
      <p:sp>
        <p:nvSpPr>
          <p:cNvPr id="10" name="Rounded Rectangle 9">
            <a:hlinkClick action="ppaction://hlinksldjump" r:id="rId2"/>
          </p:cNvPr>
          <p:cNvSpPr/>
          <p:nvPr/>
        </p:nvSpPr>
        <p:spPr>
          <a:xfrm>
            <a:off x="5649163" y="6327648"/>
            <a:ext cx="1581912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Validation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