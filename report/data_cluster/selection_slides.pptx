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slide" Target="slide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Are the margins stable over time?</a:t>
            </a:r>
          </a:p>
        </p:txBody>
      </p:sp>
      <p:pic>
        <p:nvPicPr>
          <p:cNvPr id="3" name="Picture 2" descr="ame_twoperi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141" y="960120"/>
            <a:ext cx="842323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B7480"/>
                </a:solidFill>
                <a:latin typeface="Garamond"/>
              </a:rPr>
              <a:t>Probit average marginal effects with the controls available in every year, health and disability included. Age enters as a quadratic and is not shown. Baseline rates: 7.9% (1997–2017) and 7.3% (2018–2024).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22960" y="6327648"/>
            <a:ext cx="2071116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selection table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The margins over the whole period</a:t>
            </a:r>
          </a:p>
        </p:txBody>
      </p:sp>
      <p:pic>
        <p:nvPicPr>
          <p:cNvPr id="3" name="Picture 2" descr="ame_allye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1516" y="960120"/>
            <a:ext cx="8678487" cy="4937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>
                <a:solidFill>
                  <a:srgbClr val="6B7480"/>
                </a:solidFill>
                <a:latin typeface="Garamond"/>
              </a:rPr>
              <a:t>Probit average marginal effects, surveys 1998–2025, N = 84,146, health and disability included. Age enters as a quadratic and is not shown.</a:t>
            </a:r>
          </a:p>
        </p:txBody>
      </p:sp>
      <p:sp>
        <p:nvSpPr>
          <p:cNvPr id="5" name="Rounded Rectangle 4">
            <a:hlinkClick action="ppaction://hlinksldjump" r:id="rId3"/>
          </p:cNvPr>
          <p:cNvSpPr/>
          <p:nvPr/>
        </p:nvSpPr>
        <p:spPr>
          <a:xfrm>
            <a:off x="822960" y="6327648"/>
            <a:ext cx="2071116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selection table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Is the linkage loss selective?</a:t>
            </a:r>
          </a:p>
        </p:txBody>
      </p:sp>
      <p:pic>
        <p:nvPicPr>
          <p:cNvPr id="3" name="Picture 2" descr="seltab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4600" y="914400"/>
            <a:ext cx="4332318" cy="5760720"/>
          </a:xfrm>
          <a:prstGeom prst="rect">
            <a:avLst/>
          </a:prstGeom>
        </p:spPr>
      </p:pic>
      <p:sp>
        <p:nvSpPr>
          <p:cNvPr id="4" name="Rounded Rectangle 3">
            <a:hlinkClick action="ppaction://hlinksldjump" r:id="rId3"/>
          </p:cNvPr>
          <p:cNvSpPr/>
          <p:nvPr/>
        </p:nvSpPr>
        <p:spPr>
          <a:xfrm>
            <a:off x="10561320" y="6327648"/>
            <a:ext cx="914400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Back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