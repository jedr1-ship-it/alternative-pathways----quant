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1" i="0">
                <a:solidFill>
                  <a:srgbClr val="102D5E"/>
                </a:solidFill>
                <a:latin typeface="Garamond"/>
              </a:rPr>
              <a:t>Two ways to define a leaver.  A: follow the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1" i="0">
                <a:solidFill>
                  <a:srgbClr val="102D5E"/>
                </a:solidFill>
                <a:latin typeface="Garamond"/>
              </a:rPr>
              <a:t>interviewed 4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828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875"/>
              </a:lnSpc>
            </a:pPr>
            <a:r>
              <a:rPr sz="1500" b="0" i="1">
                <a:solidFill>
                  <a:srgbClr val="6B7480"/>
                </a:solidFill>
                <a:latin typeface="Garamond"/>
              </a:rPr>
              <a:t>8 months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ts val="2000"/>
              </a:lnSpc>
            </a:pPr>
            <a:r>
              <a:rPr sz="1600" b="1" i="0">
                <a:solidFill>
                  <a:srgbClr val="8F2B36"/>
                </a:solidFill>
                <a:latin typeface="Garamond"/>
              </a:rPr>
              <a:t>interviewed 4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658939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1899" y="2331720"/>
            <a:ext cx="658939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0839" y="2331720"/>
            <a:ext cx="658939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9778" y="2331720"/>
            <a:ext cx="658939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8718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7657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76597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35536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4476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53415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12354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1294" y="2331720"/>
            <a:ext cx="65893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9C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0234" y="2331720"/>
            <a:ext cx="658939" cy="658368"/>
          </a:xfrm>
          <a:prstGeom prst="rect">
            <a:avLst/>
          </a:prstGeom>
          <a:solidFill>
            <a:srgbClr val="8F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89173" y="2331720"/>
            <a:ext cx="658939" cy="658368"/>
          </a:xfrm>
          <a:prstGeom prst="rect">
            <a:avLst/>
          </a:prstGeom>
          <a:solidFill>
            <a:srgbClr val="8F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48113" y="2331720"/>
            <a:ext cx="658939" cy="658368"/>
          </a:xfrm>
          <a:prstGeom prst="rect">
            <a:avLst/>
          </a:prstGeom>
          <a:solidFill>
            <a:srgbClr val="8F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07052" y="2331720"/>
            <a:ext cx="658939" cy="658368"/>
          </a:xfrm>
          <a:prstGeom prst="rect">
            <a:avLst/>
          </a:prstGeom>
          <a:solidFill>
            <a:srgbClr val="8F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aramond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044952"/>
            <a:ext cx="6589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 i="0">
                <a:solidFill>
                  <a:srgbClr val="6B7480"/>
                </a:solidFill>
                <a:latin typeface="Garamond"/>
              </a:rPr>
              <a:t>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9778" y="3044952"/>
            <a:ext cx="6589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 i="0">
                <a:solidFill>
                  <a:srgbClr val="6B7480"/>
                </a:solidFill>
                <a:latin typeface="Garamond"/>
              </a:rPr>
              <a:t>Jun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0234" y="3044952"/>
            <a:ext cx="6589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 i="0">
                <a:solidFill>
                  <a:srgbClr val="6B7480"/>
                </a:solidFill>
                <a:latin typeface="Garamond"/>
              </a:rPr>
              <a:t>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07052" y="3044952"/>
            <a:ext cx="6589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 i="0">
                <a:solidFill>
                  <a:srgbClr val="6B7480"/>
                </a:solidFill>
                <a:latin typeface="Garamond"/>
              </a:rPr>
              <a:t>Jun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102D5E"/>
                </a:solidFill>
                <a:latin typeface="Garamon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0234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8F2B36"/>
                </a:solidFill>
                <a:latin typeface="Garamond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899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102D5E"/>
                </a:solidFill>
                <a:latin typeface="Garamond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9173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8F2B36"/>
                </a:solidFill>
                <a:latin typeface="Garamond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0839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102D5E"/>
                </a:solidFill>
                <a:latin typeface="Garamon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8113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8F2B36"/>
                </a:solidFill>
                <a:latin typeface="Garamond"/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9778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102D5E"/>
                </a:solidFill>
                <a:latin typeface="Garamond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7052" y="3383280"/>
            <a:ext cx="6589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125"/>
              </a:lnSpc>
            </a:pPr>
            <a:r>
              <a:rPr sz="1700" b="1" i="0">
                <a:solidFill>
                  <a:srgbClr val="8F2B36"/>
                </a:solidFill>
                <a:latin typeface="Garamond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79476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875"/>
              </a:lnSpc>
            </a:pPr>
            <a:r>
              <a:rPr sz="1500" b="1" i="0">
                <a:solidFill>
                  <a:srgbClr val="102D5E"/>
                </a:solidFill>
                <a:latin typeface="Garamond"/>
              </a:rPr>
              <a:t>seen teaching, year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0234" y="379476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875"/>
              </a:lnSpc>
            </a:pPr>
            <a:r>
              <a:rPr sz="1500" b="1" i="0">
                <a:solidFill>
                  <a:srgbClr val="8F2B36"/>
                </a:solidFill>
                <a:latin typeface="Garamond"/>
              </a:rPr>
              <a:t>never seen teaching, year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375"/>
              </a:lnSpc>
            </a:pPr>
            <a:r>
              <a:rPr sz="1900" b="1" i="0">
                <a:solidFill>
                  <a:srgbClr val="212529"/>
                </a:solidFill>
                <a:latin typeface="Garamond"/>
              </a:rPr>
              <a:t>a teacher in year 1, not seen teaching in any year-2 interview ⇒ a leaver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0" i="0">
                <a:solidFill>
                  <a:srgbClr val="6B7480"/>
                </a:solidFill>
                <a:latin typeface="Garamond"/>
              </a:rPr>
              <a:t>The link follows the household: household identifier + dwelling identifier + person line number, validated on sex, race, and age advancing 0–2 years.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500"/>
              </a:lnSpc>
            </a:pPr>
            <a:r>
              <a:rPr sz="2800" b="1" i="0">
                <a:solidFill>
                  <a:srgbClr val="102D5E"/>
                </a:solidFill>
                <a:latin typeface="Garamond"/>
              </a:rPr>
              <a:t>Two ways to define a leaver.  B: ask about last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102D5E"/>
                </a:solidFill>
                <a:latin typeface="Garamond"/>
              </a:rPr>
              <a:t>last calendar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J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828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F</a:t>
            </a:r>
          </a:p>
        </p:txBody>
      </p:sp>
      <p:sp>
        <p:nvSpPr>
          <p:cNvPr id="6" name="Rectangle 5"/>
          <p:cNvSpPr/>
          <p:nvPr/>
        </p:nvSpPr>
        <p:spPr>
          <a:xfrm>
            <a:off x="213360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424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M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956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J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1020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6552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7616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480" y="2331720"/>
            <a:ext cx="655320" cy="658368"/>
          </a:xfrm>
          <a:prstGeom prst="rect">
            <a:avLst/>
          </a:prstGeom>
          <a:solidFill>
            <a:srgbClr val="1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875"/>
              </a:lnSpc>
            </a:pPr>
            <a:r>
              <a:rPr sz="1500" b="1" i="0">
                <a:solidFill>
                  <a:srgbClr val="102D5E"/>
                </a:solidFill>
                <a:latin typeface="Garamond"/>
              </a:rPr>
              <a:t>longest job held: teaching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2331720"/>
            <a:ext cx="868680" cy="658368"/>
          </a:xfrm>
          <a:prstGeom prst="rect">
            <a:avLst/>
          </a:prstGeom>
          <a:solidFill>
            <a:srgbClr val="8F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Garamond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8F2B36"/>
                </a:solidFill>
                <a:latin typeface="Garamond"/>
              </a:rPr>
              <a:t>this March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108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875"/>
              </a:lnSpc>
            </a:pPr>
            <a:r>
              <a:rPr sz="1500" b="1" i="0">
                <a:solidFill>
                  <a:srgbClr val="8F2B36"/>
                </a:solidFill>
                <a:latin typeface="Garamond"/>
              </a:rPr>
              <a:t>teaching now? 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96528" y="2660904"/>
            <a:ext cx="923544" cy="0"/>
          </a:xfrm>
          <a:prstGeom prst="line">
            <a:avLst/>
          </a:prstGeom>
          <a:ln w="1778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375"/>
              </a:lnSpc>
            </a:pPr>
            <a:r>
              <a:rPr sz="1900" b="1" i="0">
                <a:solidFill>
                  <a:srgbClr val="212529"/>
                </a:solidFill>
                <a:latin typeface="Garamond"/>
              </a:rPr>
              <a:t>taught as last year’s longest job, not teaching this March ⇒ a leaver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0" i="0">
                <a:solidFill>
                  <a:srgbClr val="6B7480"/>
                </a:solidFill>
                <a:latin typeface="Garamond"/>
              </a:rPr>
              <a:t>One single interview covers both: the March supplement asks every adult the longest job held during the previous calendar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