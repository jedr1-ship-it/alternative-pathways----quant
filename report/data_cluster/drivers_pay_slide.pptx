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 dot as the change in the probability of leaving, in percentage points, against an average of about 7 in 100 teachers a year. The hierarchy is clear. First, the contract: a full-year contract goes with almost 8 points less leaving, and a part-time contract with 4 points more. These are the largest effects on the chart. Second, life events: a new baby or a disability each add about 4 points. Third, security: a pension plan and a public-school job each cut leaving by about 2 points. Surprisingly, demographics matter much less: being a woman, being Black or holding a master's degree moves the rate by 2 points at most once contracts and life events are accounted for. Pay is measured per hour, because weeks and hours are already in the model: a 10 percent higher hourly pay goes with 0.1 points less leaving, about 1.6 percent of the average rate. That does not make pay irrelevant. Low pay comes bundled with part-year and part-time contracts, which is where most of the action is, as the next charts show.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47120" cy="5669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2800" b="1">
                <a:solidFill>
                  <a:srgbClr val="102D5E"/>
                </a:solidFill>
                <a:latin typeface="Garamond"/>
              </a:rPr>
              <a:t>What correlates with leaving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6B7480"/>
                </a:solidFill>
                <a:latin typeface="Garamond"/>
              </a:rPr>
              <a:t>1</a:t>
            </a:r>
          </a:p>
        </p:txBody>
      </p:sp>
      <p:pic>
        <p:nvPicPr>
          <p:cNvPr id="4" name="Picture 3" descr="ame_w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9796" y="960120"/>
            <a:ext cx="7381926" cy="47091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724144"/>
            <a:ext cx="12191695" cy="960120"/>
          </a:xfrm>
          <a:prstGeom prst="rect">
            <a:avLst/>
          </a:prstGeom>
          <a:solidFill>
            <a:srgbClr val="EC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5833872"/>
            <a:ext cx="73152" cy="713232"/>
          </a:xfrm>
          <a:prstGeom prst="rect">
            <a:avLst/>
          </a:prstGeom>
          <a:solidFill>
            <a:srgbClr val="1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85216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984"/>
              </a:lnSpc>
              <a:spcAft>
                <a:spcPts val="0"/>
              </a:spcAft>
            </a:pPr>
            <a:r>
              <a:rPr sz="1550" b="1" i="0">
                <a:solidFill>
                  <a:srgbClr val="102D5E"/>
                </a:solidFill>
                <a:latin typeface="Garamond"/>
              </a:rPr>
              <a:t>Key message.  </a:t>
            </a:r>
            <a:r>
              <a:rPr sz="1550" b="0" i="0">
                <a:solidFill>
                  <a:srgbClr val="102D5E"/>
                </a:solidFill>
                <a:latin typeface="Garamond"/>
              </a:rPr>
              <a:t>Contracts matter most, then life events and economic security. Demographics matter far less, and pay works mostly through the contract.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