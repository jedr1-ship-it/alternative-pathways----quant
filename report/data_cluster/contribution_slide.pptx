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84"/>
              </a:lnSpc>
            </a:pPr>
            <a:r>
              <a:rPr sz="2800" b="1">
                <a:solidFill>
                  <a:srgbClr val="102D5E"/>
                </a:solidFill>
                <a:latin typeface="Garamond"/>
              </a:rP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2D6CB5"/>
                </a:solidFill>
                <a:latin typeface="Garamond"/>
              </a:rPr>
              <a:t>1.  A yearly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212529"/>
                </a:solidFill>
                <a:latin typeface="Garamond"/>
              </a:rPr>
              <a:t>A continuous, yearly measure of teacher attrition in the United States, built from public survey microdata, where the official number appears only once every several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2D6CB5"/>
                </a:solidFill>
                <a:latin typeface="Garamond"/>
              </a:rPr>
              <a:t>2.  A user’s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212529"/>
                </a:solidFill>
                <a:latin typeface="Garamond"/>
              </a:rPr>
              <a:t>A methodological discussion of how to measure attrition with a labour force survey: how to define a leaver, which assumptions each choice carries, and how the results land on the official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2D6CB5"/>
                </a:solidFill>
                <a:latin typeface="Garamond"/>
              </a:rPr>
              <a:t>3.  Who leaves,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212529"/>
                </a:solidFill>
                <a:latin typeface="Garamond"/>
              </a:rPr>
              <a:t>The composition of the flow, where leavers go, and what correlates with leaving: job security, pay, family, health and the life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1408"/>
              </a:lnSpc>
            </a:pPr>
            <a:r>
              <a:rPr sz="1100" b="0">
                <a:solidFill>
                  <a:srgbClr val="6B7480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