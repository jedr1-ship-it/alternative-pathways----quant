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3640"/>
              </a:lnSpc>
              <a:spcAft>
                <a:spcPts val="0"/>
              </a:spcAft>
            </a:pPr>
            <a:r>
              <a:rPr sz="2800" b="1">
                <a:solidFill>
                  <a:srgbClr val="102D5E"/>
                </a:solidFill>
                <a:latin typeface="Garamond"/>
              </a:rPr>
              <a:t>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730"/>
              </a:lnSpc>
              <a:spcAft>
                <a:spcPts val="0"/>
              </a:spcAft>
            </a:pPr>
            <a:r>
              <a:rPr sz="2100" b="0">
                <a:solidFill>
                  <a:srgbClr val="212529"/>
                </a:solidFill>
                <a:latin typeface="Garamond"/>
              </a:rPr>
              <a:t>We build one of the longest continuous measures of teacher attrition in the United States: twenty-eight consecutive years, 1998–2025.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730"/>
              </a:lnSpc>
              <a:spcAft>
                <a:spcPts val="2800"/>
              </a:spcAft>
            </a:pPr>
            <a:r>
              <a:rPr sz="2100" b="1">
                <a:solidFill>
                  <a:srgbClr val="2D6CB5"/>
                </a:solidFill>
                <a:latin typeface="Garamond"/>
              </a:rPr>
              <a:t>▪  </a:t>
            </a:r>
            <a:r>
              <a:rPr sz="2100" b="1">
                <a:solidFill>
                  <a:srgbClr val="102D5E"/>
                </a:solidFill>
                <a:latin typeface="Garamond"/>
              </a:rPr>
              <a:t>One source.  </a:t>
            </a:r>
            <a:r>
              <a:rPr sz="2100" b="0">
                <a:solidFill>
                  <a:srgbClr val="212529"/>
                </a:solidFill>
                <a:latin typeface="Garamond"/>
              </a:rPr>
              <a:t>Every number comes from the same instrument — the CPS March supplement — under a single definition, with no splicing of surveys.</a:t>
            </a:r>
          </a:p>
          <a:p>
            <a:pPr>
              <a:lnSpc>
                <a:spcPts val="2730"/>
              </a:lnSpc>
              <a:spcAft>
                <a:spcPts val="2800"/>
              </a:spcAft>
            </a:pPr>
            <a:r>
              <a:rPr sz="2100" b="1">
                <a:solidFill>
                  <a:srgbClr val="2D6CB5"/>
                </a:solidFill>
                <a:latin typeface="Garamond"/>
              </a:rPr>
              <a:t>▪  </a:t>
            </a:r>
            <a:r>
              <a:rPr sz="2100" b="1">
                <a:solidFill>
                  <a:srgbClr val="102D5E"/>
                </a:solidFill>
                <a:latin typeface="Garamond"/>
              </a:rPr>
              <a:t>No gaps.  </a:t>
            </a:r>
            <a:r>
              <a:rPr sz="2100" b="0">
                <a:solidFill>
                  <a:srgbClr val="212529"/>
                </a:solidFill>
                <a:latin typeface="Garamond"/>
              </a:rPr>
              <a:t>Twenty-eight consecutive annual observations; the official benchmark measures once every four or more years.</a:t>
            </a:r>
          </a:p>
          <a:p>
            <a:pPr>
              <a:lnSpc>
                <a:spcPts val="2730"/>
              </a:lnSpc>
              <a:spcAft>
                <a:spcPts val="2800"/>
              </a:spcAft>
            </a:pPr>
            <a:r>
              <a:rPr sz="2100" b="1">
                <a:solidFill>
                  <a:srgbClr val="2D6CB5"/>
                </a:solidFill>
                <a:latin typeface="Garamond"/>
              </a:rPr>
              <a:t>▪  </a:t>
            </a:r>
            <a:r>
              <a:rPr sz="2100" b="1">
                <a:solidFill>
                  <a:srgbClr val="102D5E"/>
                </a:solidFill>
                <a:latin typeface="Garamond"/>
              </a:rPr>
              <a:t>Beyond the rate.  </a:t>
            </a:r>
            <a:r>
              <a:rPr sz="2100" b="0">
                <a:solidFill>
                  <a:srgbClr val="212529"/>
                </a:solidFill>
                <a:latin typeface="Garamond"/>
              </a:rPr>
              <a:t>The same files show who leaves, where they go, what leaving pays, who returns, and what moves the rate.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