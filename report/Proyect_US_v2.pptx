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73" r:id="rId2"/>
    <p:sldId id="272" r:id="rId3"/>
    <p:sldId id="290" r:id="rId36"/>
    <p:sldId id="291" r:id="rId37"/>
    <p:sldId id="257" r:id="rId4"/>
    <p:sldId id="256" r:id="rId5"/>
    <p:sldId id="292" r:id="rId38"/>
    <p:sldId id="293" r:id="rId39"/>
    <p:sldId id="258" r:id="rId6"/>
    <p:sldId id="259" r:id="rId7"/>
    <p:sldId id="280" r:id="rId8"/>
    <p:sldId id="275" r:id="rId9"/>
    <p:sldId id="276" r:id="rId10"/>
    <p:sldId id="277" r:id="rId11"/>
    <p:sldId id="294" r:id="rId40"/>
    <p:sldId id="260" r:id="rId12"/>
    <p:sldId id="278" r:id="rId13"/>
    <p:sldId id="288" r:id="rId14"/>
    <p:sldId id="279" r:id="rId15"/>
    <p:sldId id="295" r:id="rId41"/>
    <p:sldId id="261" r:id="rId16"/>
    <p:sldId id="282" r:id="rId17"/>
    <p:sldId id="269" r:id="rId18"/>
    <p:sldId id="289" r:id="rId19"/>
    <p:sldId id="263" r:id="rId20"/>
    <p:sldId id="296" r:id="rId42"/>
    <p:sldId id="265" r:id="rId21"/>
    <p:sldId id="274" r:id="rId22"/>
    <p:sldId id="297" r:id="rId43"/>
    <p:sldId id="268" r:id="rId23"/>
    <p:sldId id="284" r:id="rId24"/>
    <p:sldId id="283" r:id="rId25"/>
    <p:sldId id="285" r:id="rId26"/>
    <p:sldId id="267" r:id="rId27"/>
    <p:sldId id="287" r:id="rId28"/>
    <p:sldId id="298" r:id="rId4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CBCFD4-F07F-4C26-A185-37CE9D7E7788}" v="36" dt="2026-09-28T08:51:07.0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404" autoAdjust="0"/>
  </p:normalViewPr>
  <p:slideViewPr>
    <p:cSldViewPr snapToGrid="0" snapToObjects="1">
      <p:cViewPr varScale="1">
        <p:scale>
          <a:sx n="111" d="100"/>
          <a:sy n="111" d="100"/>
        </p:scale>
        <p:origin x="55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microsoft.com/office/2016/11/relationships/changesInfo" Target="changesInfos/changesInfo1.xml"/><Relationship Id="rId35" Type="http://schemas.microsoft.com/office/2015/10/relationships/revisionInfo" Target="revisionInfo.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RÁN ROA José Elías, EDU/IMEP" userId="143a056d-beac-4d27-9201-e13b90a5b16d" providerId="ADAL" clId="{2092A00E-CDA0-46B1-B356-89CA31F35643}"/>
    <pc:docChg chg="undo redo custSel addSld delSld modSld sldOrd">
      <pc:chgData name="DURÁN ROA José Elías, EDU/IMEP" userId="143a056d-beac-4d27-9201-e13b90a5b16d" providerId="ADAL" clId="{2092A00E-CDA0-46B1-B356-89CA31F35643}" dt="2026-09-28T08:51:18.239" v="2956" actId="14100"/>
      <pc:docMkLst>
        <pc:docMk/>
      </pc:docMkLst>
      <pc:sldChg chg="modSp add mod">
        <pc:chgData name="DURÁN ROA José Elías, EDU/IMEP" userId="143a056d-beac-4d27-9201-e13b90a5b16d" providerId="ADAL" clId="{2092A00E-CDA0-46B1-B356-89CA31F35643}" dt="2026-09-24T13:20:27.325" v="2917" actId="1076"/>
        <pc:sldMkLst>
          <pc:docMk/>
          <pc:sldMk cId="0" sldId="256"/>
        </pc:sldMkLst>
        <pc:spChg chg="mod">
          <ac:chgData name="DURÁN ROA José Elías, EDU/IMEP" userId="143a056d-beac-4d27-9201-e13b90a5b16d" providerId="ADAL" clId="{2092A00E-CDA0-46B1-B356-89CA31F35643}" dt="2026-09-24T13:20:23.630" v="2916" actId="1076"/>
          <ac:spMkLst>
            <pc:docMk/>
            <pc:sldMk cId="0" sldId="256"/>
            <ac:spMk id="2" creationId="{00000000-0000-0000-0000-000000000000}"/>
          </ac:spMkLst>
        </pc:spChg>
        <pc:grpChg chg="mod">
          <ac:chgData name="DURÁN ROA José Elías, EDU/IMEP" userId="143a056d-beac-4d27-9201-e13b90a5b16d" providerId="ADAL" clId="{2092A00E-CDA0-46B1-B356-89CA31F35643}" dt="2026-09-24T13:20:27.325" v="2917" actId="1076"/>
          <ac:grpSpMkLst>
            <pc:docMk/>
            <pc:sldMk cId="0" sldId="256"/>
            <ac:grpSpMk id="75" creationId="{51F17309-771B-D3FF-3939-29E28FC2362D}"/>
          </ac:grpSpMkLst>
        </pc:grpChg>
      </pc:sldChg>
      <pc:sldChg chg="modSp mod">
        <pc:chgData name="DURÁN ROA José Elías, EDU/IMEP" userId="143a056d-beac-4d27-9201-e13b90a5b16d" providerId="ADAL" clId="{2092A00E-CDA0-46B1-B356-89CA31F35643}" dt="2026-09-24T13:30:49.867" v="2918" actId="1076"/>
        <pc:sldMkLst>
          <pc:docMk/>
          <pc:sldMk cId="0" sldId="267"/>
        </pc:sldMkLst>
        <pc:picChg chg="mod">
          <ac:chgData name="DURÁN ROA José Elías, EDU/IMEP" userId="143a056d-beac-4d27-9201-e13b90a5b16d" providerId="ADAL" clId="{2092A00E-CDA0-46B1-B356-89CA31F35643}" dt="2026-09-24T13:30:49.867" v="2918" actId="1076"/>
          <ac:picMkLst>
            <pc:docMk/>
            <pc:sldMk cId="0" sldId="267"/>
            <ac:picMk id="3" creationId="{00000000-0000-0000-0000-000000000000}"/>
          </ac:picMkLst>
        </pc:picChg>
      </pc:sldChg>
      <pc:sldChg chg="modSp mod">
        <pc:chgData name="DURÁN ROA José Elías, EDU/IMEP" userId="143a056d-beac-4d27-9201-e13b90a5b16d" providerId="ADAL" clId="{2092A00E-CDA0-46B1-B356-89CA31F35643}" dt="2026-09-28T08:51:18.239" v="2956" actId="14100"/>
        <pc:sldMkLst>
          <pc:docMk/>
          <pc:sldMk cId="0" sldId="272"/>
        </pc:sldMkLst>
        <pc:spChg chg="mod">
          <ac:chgData name="DURÁN ROA José Elías, EDU/IMEP" userId="143a056d-beac-4d27-9201-e13b90a5b16d" providerId="ADAL" clId="{2092A00E-CDA0-46B1-B356-89CA31F35643}" dt="2026-09-28T08:51:18.239" v="2956" actId="14100"/>
          <ac:spMkLst>
            <pc:docMk/>
            <pc:sldMk cId="0" sldId="272"/>
            <ac:spMk id="3" creationId="{00000000-0000-0000-0000-000000000000}"/>
          </ac:spMkLst>
        </pc:spChg>
        <pc:spChg chg="mod">
          <ac:chgData name="DURÁN ROA José Elías, EDU/IMEP" userId="143a056d-beac-4d27-9201-e13b90a5b16d" providerId="ADAL" clId="{2092A00E-CDA0-46B1-B356-89CA31F35643}" dt="2026-09-28T08:51:11.663" v="2955" actId="14100"/>
          <ac:spMkLst>
            <pc:docMk/>
            <pc:sldMk cId="0" sldId="272"/>
            <ac:spMk id="24" creationId="{80E520F7-2B73-E152-9BA8-476910128798}"/>
          </ac:spMkLst>
        </pc:spChg>
      </pc:sldChg>
      <pc:sldChg chg="modSp mod modNotesTx">
        <pc:chgData name="DURÁN ROA José Elías, EDU/IMEP" userId="143a056d-beac-4d27-9201-e13b90a5b16d" providerId="ADAL" clId="{2092A00E-CDA0-46B1-B356-89CA31F35643}" dt="2026-09-18T09:29:49.405" v="2913" actId="1076"/>
        <pc:sldMkLst>
          <pc:docMk/>
          <pc:sldMk cId="0" sldId="273"/>
        </pc:sldMkLst>
        <pc:picChg chg="mod">
          <ac:chgData name="DURÁN ROA José Elías, EDU/IMEP" userId="143a056d-beac-4d27-9201-e13b90a5b16d" providerId="ADAL" clId="{2092A00E-CDA0-46B1-B356-89CA31F35643}" dt="2026-09-18T09:29:49.405" v="2913" actId="1076"/>
          <ac:picMkLst>
            <pc:docMk/>
            <pc:sldMk cId="0" sldId="273"/>
            <ac:picMk id="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4074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Twenty-eight years, no trend. The two worst years are 2001 and 2019, a generation apart. Any exodus narrative starts from a fact this series does not contain.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6368544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4101083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8257530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071151-F904-FD32-00D7-2AD927C0801A}"/>
              </a:ext>
            </a:extLst>
          </p:cNvPr>
          <p:cNvSpPr txBox="1"/>
          <p:nvPr>
            <p:extLst>
              <p:ext uri="{1162E1C5-73C7-4A58-AE30-91384D911F3F}">
                <p184:classification xmlns:p184="http://schemas.microsoft.com/office/powerpoint/2018/4/main" val="ftr"/>
              </p:ext>
            </p:extLst>
          </p:nvPr>
        </p:nvSpPr>
        <p:spPr>
          <a:xfrm>
            <a:off x="5475288" y="6642100"/>
            <a:ext cx="1270000" cy="152400"/>
          </a:xfrm>
          <a:prstGeom prst="rect">
            <a:avLst/>
          </a:prstGeom>
        </p:spPr>
        <p:txBody>
          <a:bodyPr horzOverflow="overflow" lIns="0" tIns="0" rIns="0" bIns="0">
            <a:spAutoFit/>
          </a:bodyPr>
          <a:lstStyle/>
          <a:p>
            <a:pPr algn="l"/>
            <a:r>
              <a:rPr lang="en-US" sz="1000">
                <a:solidFill>
                  <a:srgbClr val="0000FF">
                    <a:alpha val="50000"/>
                  </a:srgbClr>
                </a:solidFill>
                <a:latin typeface="Arial Narrow" panose="020B0606020202030204" pitchFamily="34" charset="0"/>
              </a:rPr>
              <a:t>Unclassified - Non classifié</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oecd_logo.png"/>
          <p:cNvPicPr>
            <a:picLocks noChangeAspect="1"/>
          </p:cNvPicPr>
          <p:nvPr/>
        </p:nvPicPr>
        <p:blipFill>
          <a:blip r:embed="rId3"/>
          <a:stretch>
            <a:fillRect/>
          </a:stretch>
        </p:blipFill>
        <p:spPr>
          <a:xfrm>
            <a:off x="640080" y="429768"/>
            <a:ext cx="1828800" cy="466344"/>
          </a:xfrm>
          <a:prstGeom prst="rect">
            <a:avLst/>
          </a:prstGeom>
        </p:spPr>
      </p:pic>
      <p:sp>
        <p:nvSpPr>
          <p:cNvPr id="3" name="Text 0"/>
          <p:cNvSpPr/>
          <p:nvPr/>
        </p:nvSpPr>
        <p:spPr>
          <a:xfrm>
            <a:off x="640080" y="896112"/>
            <a:ext cx="5486400" cy="292608"/>
          </a:xfrm>
          <a:prstGeom prst="rect">
            <a:avLst/>
          </a:prstGeom>
          <a:noFill/>
          <a:ln/>
        </p:spPr>
        <p:txBody>
          <a:bodyPr wrap="square" lIns="0" tIns="0" rIns="0" bIns="0" rtlCol="0" anchor="ctr"/>
          <a:lstStyle/>
          <a:p>
            <a:pPr marL="0" indent="0" algn="l">
              <a:buNone/>
            </a:pPr>
            <a:r>
              <a:rPr lang="en-US" sz="1200" dirty="0">
                <a:solidFill>
                  <a:srgbClr val="5A6572"/>
                </a:solidFill>
                <a:latin typeface="Garamond" pitchFamily="34" charset="0"/>
                <a:ea typeface="Garamond" pitchFamily="34" charset="-122"/>
                <a:cs typeface="Garamond" pitchFamily="34" charset="-120"/>
              </a:rPr>
              <a:t>Directorate for Education and Skills</a:t>
            </a:r>
            <a:endParaRPr lang="en-US" sz="1200" dirty="0"/>
          </a:p>
        </p:txBody>
      </p:sp>
      <p:sp>
        <p:nvSpPr>
          <p:cNvPr id="4" name="Text 1"/>
          <p:cNvSpPr/>
          <p:nvPr/>
        </p:nvSpPr>
        <p:spPr>
          <a:xfrm>
            <a:off x="640080" y="2377440"/>
            <a:ext cx="10881360" cy="868680"/>
          </a:xfrm>
          <a:prstGeom prst="rect">
            <a:avLst/>
          </a:prstGeom>
          <a:noFill/>
          <a:ln/>
        </p:spPr>
        <p:txBody>
          <a:bodyPr wrap="square" lIns="0" tIns="0" rIns="0" bIns="0" rtlCol="0" anchor="ctr"/>
          <a:lstStyle/>
          <a:p>
            <a:pPr marL="0" indent="0" algn="l">
              <a:buNone/>
            </a:pPr>
            <a:r>
              <a:rPr lang="en-US" sz="3400" b="1" dirty="0">
                <a:solidFill>
                  <a:srgbClr val="00549F"/>
                </a:solidFill>
                <a:latin typeface="Garamond" pitchFamily="34" charset="0"/>
                <a:ea typeface="Garamond" pitchFamily="34" charset="-122"/>
                <a:cs typeface="Garamond" pitchFamily="34" charset="-120"/>
              </a:rPr>
              <a:t>Who Leaves Teaching, and Why?</a:t>
            </a:r>
            <a:endParaRPr lang="en-US" sz="3400" dirty="0"/>
          </a:p>
        </p:txBody>
      </p:sp>
      <p:sp>
        <p:nvSpPr>
          <p:cNvPr id="5" name="Text 2"/>
          <p:cNvSpPr/>
          <p:nvPr/>
        </p:nvSpPr>
        <p:spPr>
          <a:xfrm>
            <a:off x="640080" y="3246120"/>
            <a:ext cx="10881360" cy="457200"/>
          </a:xfrm>
          <a:prstGeom prst="rect">
            <a:avLst/>
          </a:prstGeom>
          <a:noFill/>
          <a:ln/>
        </p:spPr>
        <p:txBody>
          <a:bodyPr wrap="square" lIns="0" tIns="0" rIns="0" bIns="0" rtlCol="0" anchor="ctr"/>
          <a:lstStyle/>
          <a:p>
            <a:pPr marL="0" indent="0" algn="l">
              <a:buNone/>
            </a:pPr>
            <a:r>
              <a:rPr lang="en-US" sz="1800" dirty="0">
                <a:solidFill>
                  <a:srgbClr val="1A2430"/>
                </a:solidFill>
                <a:latin typeface="Garamond" pitchFamily="34" charset="0"/>
                <a:ea typeface="Garamond" pitchFamily="34" charset="-122"/>
                <a:cs typeface="Garamond" pitchFamily="34" charset="-120"/>
              </a:rPr>
              <a:t>The Anatomy of Teacher Attrition in the United States, 1997–2024</a:t>
            </a:r>
            <a:endParaRPr lang="en-US" sz="1800" dirty="0"/>
          </a:p>
        </p:txBody>
      </p:sp>
      <p:sp>
        <p:nvSpPr>
          <p:cNvPr id="6" name="Text 3"/>
          <p:cNvSpPr/>
          <p:nvPr/>
        </p:nvSpPr>
        <p:spPr>
          <a:xfrm>
            <a:off x="640080" y="4160520"/>
            <a:ext cx="10881360" cy="365760"/>
          </a:xfrm>
          <a:prstGeom prst="rect">
            <a:avLst/>
          </a:prstGeom>
          <a:noFill/>
          <a:ln/>
        </p:spPr>
        <p:txBody>
          <a:bodyPr wrap="square" lIns="0" tIns="0" rIns="0" bIns="0" rtlCol="0" anchor="ctr"/>
          <a:lstStyle/>
          <a:p>
            <a:pPr marL="0" indent="0" algn="l">
              <a:buNone/>
            </a:pPr>
            <a:r>
              <a:rPr lang="en-US" sz="1500" dirty="0">
                <a:solidFill>
                  <a:srgbClr val="1A2430"/>
                </a:solidFill>
                <a:latin typeface="Garamond" pitchFamily="34" charset="0"/>
                <a:ea typeface="Garamond" pitchFamily="34" charset="-122"/>
                <a:cs typeface="Garamond" pitchFamily="34" charset="-120"/>
              </a:rPr>
              <a:t>José Elías Durán Roa</a:t>
            </a:r>
            <a:endParaRPr lang="en-US" sz="1500" dirty="0"/>
          </a:p>
        </p:txBody>
      </p:sp>
      <p:sp>
        <p:nvSpPr>
          <p:cNvPr id="7" name="Text 4"/>
          <p:cNvSpPr/>
          <p:nvPr/>
        </p:nvSpPr>
        <p:spPr>
          <a:xfrm>
            <a:off x="653796" y="4434840"/>
            <a:ext cx="10881360" cy="770339"/>
          </a:xfrm>
          <a:prstGeom prst="rect">
            <a:avLst/>
          </a:prstGeom>
          <a:noFill/>
          <a:ln/>
        </p:spPr>
        <p:txBody>
          <a:bodyPr wrap="square" lIns="0" tIns="0" rIns="0" bIns="0" rtlCol="0" anchor="ctr"/>
          <a:lstStyle/>
          <a:p>
            <a:pPr marL="0" indent="0" algn="l">
              <a:buNone/>
            </a:pPr>
            <a:r>
              <a:rPr lang="en-US" sz="1250" dirty="0">
                <a:solidFill>
                  <a:srgbClr val="5A6572"/>
                </a:solidFill>
                <a:latin typeface="Garamond" pitchFamily="34" charset="0"/>
                <a:ea typeface="Garamond" pitchFamily="34" charset="-122"/>
                <a:cs typeface="Garamond" pitchFamily="34" charset="-120"/>
              </a:rPr>
              <a:t>University of Alicante / OECD </a:t>
            </a:r>
          </a:p>
          <a:p>
            <a:pPr marL="0" indent="0" algn="l">
              <a:buNone/>
            </a:pPr>
            <a:r>
              <a:rPr lang="en-US" sz="1250" dirty="0">
                <a:solidFill>
                  <a:srgbClr val="5A6572"/>
                </a:solidFill>
                <a:latin typeface="Garamond" pitchFamily="34" charset="0"/>
                <a:ea typeface="Garamond" pitchFamily="34" charset="-122"/>
                <a:cs typeface="Garamond" pitchFamily="34" charset="-120"/>
              </a:rPr>
              <a:t>July 2026</a:t>
            </a:r>
            <a:endParaRPr lang="en-US" sz="1250" dirty="0"/>
          </a:p>
        </p:txBody>
      </p:sp>
      <p:sp>
        <p:nvSpPr>
          <p:cNvPr id="8" name="Shape 5"/>
          <p:cNvSpPr/>
          <p:nvPr/>
        </p:nvSpPr>
        <p:spPr>
          <a:xfrm>
            <a:off x="0" y="6263640"/>
            <a:ext cx="12188952" cy="594360"/>
          </a:xfrm>
          <a:prstGeom prst="rect">
            <a:avLst/>
          </a:prstGeom>
          <a:solidFill>
            <a:srgbClr val="00549F"/>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5800" y="1002213"/>
            <a:ext cx="9875520" cy="548640"/>
          </a:xfrm>
          <a:prstGeom prst="rect">
            <a:avLst/>
          </a:prstGeom>
          <a:noFill/>
          <a:ln/>
        </p:spPr>
        <p:txBody>
          <a:bodyPr wrap="square" lIns="0" tIns="0" rIns="0" bIns="0" rtlCol="0" anchor="ctr"/>
          <a:lstStyle/>
          <a:p>
            <a:pPr marL="0" indent="0" algn="l">
              <a:buNone/>
            </a:pPr>
            <a:r>
              <a:rPr lang="en-US" sz="2800" b="1" dirty="0">
                <a:solidFill>
                  <a:srgbClr val="26456E"/>
                </a:solidFill>
                <a:latin typeface="Garamond" pitchFamily="34" charset="0"/>
                <a:ea typeface="Garamond" pitchFamily="34" charset="-122"/>
                <a:cs typeface="Garamond" pitchFamily="34" charset="-120"/>
              </a:rPr>
              <a:t>Motivation</a:t>
            </a:r>
            <a:endParaRPr lang="en-US" sz="2400" dirty="0"/>
          </a:p>
        </p:txBody>
      </p:sp>
      <p:sp>
        <p:nvSpPr>
          <p:cNvPr id="3" name="Text 1"/>
          <p:cNvSpPr/>
          <p:nvPr/>
        </p:nvSpPr>
        <p:spPr>
          <a:xfrm>
            <a:off x="750499" y="1913330"/>
            <a:ext cx="10795326" cy="3173612"/>
          </a:xfrm>
          <a:prstGeom prst="rect">
            <a:avLst/>
          </a:prstGeom>
          <a:noFill/>
          <a:ln/>
        </p:spPr>
        <p:txBody>
          <a:bodyPr wrap="square" lIns="0" tIns="0" rIns="0" bIns="0" rtlCol="0" anchor="t"/>
          <a:lstStyle/>
          <a:p>
            <a:pPr marL="0" indent="0" algn="just">
              <a:lnSpc>
                <a:spcPts val="2200"/>
              </a:lnSpc>
              <a:buNone/>
            </a:pPr>
            <a:r>
              <a:rPr lang="en-US" sz="1900" dirty="0">
                <a:solidFill>
                  <a:srgbClr val="1A2430"/>
                </a:solidFill>
                <a:latin typeface="Garamond" pitchFamily="34" charset="0"/>
                <a:ea typeface="Garamond" pitchFamily="34" charset="-122"/>
                <a:cs typeface="Garamond" pitchFamily="34" charset="-120"/>
              </a:rPr>
              <a:t>Measuring teacher attrition is hard as it requires following the same teachers over time.</a:t>
            </a:r>
          </a:p>
          <a:p>
            <a:pPr marL="0" indent="0" algn="just">
              <a:lnSpc>
                <a:spcPts val="2200"/>
              </a:lnSpc>
              <a:buNone/>
            </a:pPr>
            <a:endParaRPr lang="en-US" sz="1900" dirty="0">
              <a:solidFill>
                <a:srgbClr val="1A2430"/>
              </a:solidFill>
              <a:latin typeface="Garamond" pitchFamily="34" charset="0"/>
              <a:ea typeface="Garamond" pitchFamily="34" charset="-122"/>
              <a:cs typeface="Garamond" pitchFamily="34" charset="-120"/>
            </a:endParaRPr>
          </a:p>
          <a:p>
            <a:pPr algn="just">
              <a:lnSpc>
                <a:spcPts val="2200"/>
              </a:lnSpc>
            </a:pPr>
            <a:r>
              <a:rPr lang="en-US" sz="1900" dirty="0">
                <a:solidFill>
                  <a:srgbClr val="1A2430"/>
                </a:solidFill>
                <a:latin typeface="Garamond" pitchFamily="34" charset="0"/>
                <a:ea typeface="Garamond" pitchFamily="34" charset="-122"/>
                <a:cs typeface="Garamond" pitchFamily="34" charset="-120"/>
              </a:rPr>
              <a:t>In the US, the official source is the NCES Teacher Follow-up Survey. It runs every four to five years, on small samples, and its microdata are not public.</a:t>
            </a:r>
          </a:p>
          <a:p>
            <a:pPr algn="just">
              <a:lnSpc>
                <a:spcPts val="2200"/>
              </a:lnSpc>
            </a:pPr>
            <a:endParaRPr lang="en-US" sz="1900" dirty="0">
              <a:solidFill>
                <a:srgbClr val="1A2430"/>
              </a:solidFill>
              <a:latin typeface="Garamond" pitchFamily="34" charset="0"/>
            </a:endParaRPr>
          </a:p>
          <a:p>
            <a:pPr algn="just">
              <a:lnSpc>
                <a:spcPts val="2200"/>
              </a:lnSpc>
            </a:pPr>
            <a:r>
              <a:rPr lang="en-US" sz="1900" dirty="0">
                <a:solidFill>
                  <a:srgbClr val="1A2430"/>
                </a:solidFill>
                <a:latin typeface="Garamond" pitchFamily="34" charset="0"/>
                <a:ea typeface="Garamond" pitchFamily="34" charset="-122"/>
                <a:cs typeface="Garamond" pitchFamily="34" charset="-120"/>
              </a:rPr>
              <a:t>Researchers found an alternative measure, the CPS, the largest longitudinal survey in the US. Harris &amp; Adams (2007) and </a:t>
            </a:r>
            <a:r>
              <a:rPr lang="en-US" sz="1900" dirty="0" err="1">
                <a:solidFill>
                  <a:srgbClr val="1A2430"/>
                </a:solidFill>
                <a:latin typeface="Garamond" pitchFamily="34" charset="0"/>
                <a:ea typeface="Garamond" pitchFamily="34" charset="-122"/>
                <a:cs typeface="Garamond" pitchFamily="34" charset="-120"/>
              </a:rPr>
              <a:t>Aldeman</a:t>
            </a:r>
            <a:r>
              <a:rPr lang="en-US" sz="1900" dirty="0">
                <a:solidFill>
                  <a:srgbClr val="1A2430"/>
                </a:solidFill>
                <a:latin typeface="Garamond" pitchFamily="34" charset="0"/>
                <a:ea typeface="Garamond" pitchFamily="34" charset="-122"/>
                <a:cs typeface="Garamond" pitchFamily="34" charset="-120"/>
              </a:rPr>
              <a:t> &amp; Yi (2025) used it to show that teacher attrition is similar to that of comparable professions.</a:t>
            </a:r>
            <a:endParaRPr lang="en-US" sz="1900" dirty="0"/>
          </a:p>
          <a:p>
            <a:pPr algn="just">
              <a:lnSpc>
                <a:spcPts val="2200"/>
              </a:lnSpc>
            </a:pPr>
            <a:endParaRPr lang="en-US" sz="1900" dirty="0"/>
          </a:p>
          <a:p>
            <a:pPr marL="0" indent="0" algn="just">
              <a:lnSpc>
                <a:spcPts val="2200"/>
              </a:lnSpc>
              <a:buNone/>
            </a:pPr>
            <a:endParaRPr lang="en-US" sz="1900" dirty="0">
              <a:solidFill>
                <a:srgbClr val="1A2430"/>
              </a:solidFill>
              <a:latin typeface="Garamond" pitchFamily="34" charset="0"/>
              <a:ea typeface="Garamond" pitchFamily="34" charset="-122"/>
              <a:cs typeface="Garamond" pitchFamily="34" charset="-120"/>
            </a:endParaRPr>
          </a:p>
          <a:p>
            <a:pPr marL="0" indent="0" algn="just">
              <a:lnSpc>
                <a:spcPts val="2200"/>
              </a:lnSpc>
              <a:buNone/>
            </a:pPr>
            <a:endParaRPr lang="en-US" sz="1900" dirty="0">
              <a:solidFill>
                <a:srgbClr val="1A2430"/>
              </a:solidFill>
              <a:latin typeface="Garamond" pitchFamily="34" charset="0"/>
            </a:endParaRPr>
          </a:p>
          <a:p>
            <a:pPr algn="just">
              <a:lnSpc>
                <a:spcPts val="2200"/>
              </a:lnSpc>
            </a:pPr>
            <a:endParaRPr lang="en-US" sz="1900" dirty="0"/>
          </a:p>
        </p:txBody>
      </p:sp>
      <p:sp>
        <p:nvSpPr>
          <p:cNvPr id="22" name="Text 0">
            <a:extLst>
              <a:ext uri="{FF2B5EF4-FFF2-40B4-BE49-F238E27FC236}">
                <a16:creationId xmlns:a16="http://schemas.microsoft.com/office/drawing/2014/main" id="{EFC749EB-CBE6-5D06-B1A7-39A821369918}"/>
              </a:ext>
            </a:extLst>
          </p:cNvPr>
          <p:cNvSpPr/>
          <p:nvPr/>
        </p:nvSpPr>
        <p:spPr>
          <a:xfrm>
            <a:off x="685800" y="4286348"/>
            <a:ext cx="9875520" cy="548640"/>
          </a:xfrm>
          <a:prstGeom prst="rect">
            <a:avLst/>
          </a:prstGeom>
          <a:noFill/>
          <a:ln/>
        </p:spPr>
        <p:txBody>
          <a:bodyPr wrap="square" lIns="0" tIns="0" rIns="0" bIns="0" rtlCol="0" anchor="ctr"/>
          <a:lstStyle/>
          <a:p>
            <a:pPr marL="0" indent="0" algn="l">
              <a:buNone/>
            </a:pPr>
            <a:r>
              <a:rPr lang="en-US" sz="2800" b="1" dirty="0">
                <a:solidFill>
                  <a:srgbClr val="26456E"/>
                </a:solidFill>
                <a:latin typeface="Garamond" pitchFamily="34" charset="0"/>
              </a:rPr>
              <a:t>Contribution</a:t>
            </a:r>
            <a:endParaRPr lang="en-US" sz="2400" dirty="0"/>
          </a:p>
        </p:txBody>
      </p:sp>
      <p:sp>
        <p:nvSpPr>
          <p:cNvPr id="24" name="TextBox 23">
            <a:extLst>
              <a:ext uri="{FF2B5EF4-FFF2-40B4-BE49-F238E27FC236}">
                <a16:creationId xmlns:a16="http://schemas.microsoft.com/office/drawing/2014/main" id="{80E520F7-2B73-E152-9BA8-476910128798}"/>
              </a:ext>
            </a:extLst>
          </p:cNvPr>
          <p:cNvSpPr txBox="1"/>
          <p:nvPr/>
        </p:nvSpPr>
        <p:spPr>
          <a:xfrm>
            <a:off x="646177" y="4987754"/>
            <a:ext cx="11292394" cy="923330"/>
          </a:xfrm>
          <a:prstGeom prst="rect">
            <a:avLst/>
          </a:prstGeom>
          <a:noFill/>
        </p:spPr>
        <p:txBody>
          <a:bodyPr wrap="square">
            <a:spAutoFit/>
          </a:bodyPr>
          <a:lstStyle/>
          <a:p>
            <a:r>
              <a:rPr lang="en-US" dirty="0">
                <a:latin typeface="Garamond" panose="02020404030301010803" pitchFamily="18" charset="0"/>
              </a:rPr>
              <a:t>I build the longest continuous measurement of teacher attrition in the US, twenty-eight consecutive years (1998 – 2025) from a single instrument, and characterize who leaves, where they go, what leaving pays, who returns, and what moves the rate.</a:t>
            </a:r>
          </a:p>
          <a:p>
            <a:endParaRPr lang="en-US" dirty="0"/>
          </a:p>
        </p:txBody>
      </p:sp>
      <p:sp>
        <p:nvSpPr>
          <p:cNvPr id="26" name="Shape 5">
            <a:extLst>
              <a:ext uri="{FF2B5EF4-FFF2-40B4-BE49-F238E27FC236}">
                <a16:creationId xmlns:a16="http://schemas.microsoft.com/office/drawing/2014/main" id="{9B9D95AD-643E-E682-F4D6-C0A9098EA1C3}"/>
              </a:ext>
            </a:extLst>
          </p:cNvPr>
          <p:cNvSpPr/>
          <p:nvPr/>
        </p:nvSpPr>
        <p:spPr>
          <a:xfrm>
            <a:off x="3048" y="-30309"/>
            <a:ext cx="12188952" cy="594360"/>
          </a:xfrm>
          <a:prstGeom prst="rect">
            <a:avLst/>
          </a:prstGeom>
          <a:solidFill>
            <a:srgbClr val="00549F"/>
          </a:solidFill>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2" grpId="0" animBg="1"/>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14984" y="1098168"/>
            <a:ext cx="9875520" cy="548640"/>
          </a:xfrm>
          <a:prstGeom prst="rect">
            <a:avLst/>
          </a:prstGeom>
          <a:noFill/>
          <a:ln/>
        </p:spPr>
        <p:txBody>
          <a:bodyPr wrap="square" lIns="0" tIns="0" rIns="0" bIns="0" rtlCol="0" anchor="ctr"/>
          <a:lstStyle/>
          <a:p>
            <a:pPr marL="0" indent="0" algn="l">
              <a:buNone/>
            </a:pPr>
            <a:r>
              <a:rPr lang="en-US" sz="2800" b="1" dirty="0">
                <a:solidFill>
                  <a:srgbClr val="1F3B66"/>
                </a:solidFill>
                <a:latin typeface="Garamond" pitchFamily="34" charset="0"/>
                <a:ea typeface="Garamond" pitchFamily="34" charset="-122"/>
                <a:cs typeface="Garamond" pitchFamily="34" charset="-120"/>
              </a:rPr>
              <a:t>Data</a:t>
            </a:r>
            <a:endParaRPr lang="en-US" sz="3600" dirty="0"/>
          </a:p>
        </p:txBody>
      </p:sp>
      <p:sp>
        <p:nvSpPr>
          <p:cNvPr id="3" name="Text 1"/>
          <p:cNvSpPr/>
          <p:nvPr/>
        </p:nvSpPr>
        <p:spPr>
          <a:xfrm>
            <a:off x="1175262" y="2104988"/>
            <a:ext cx="10222475" cy="4268379"/>
          </a:xfrm>
          <a:prstGeom prst="rect">
            <a:avLst/>
          </a:prstGeom>
          <a:noFill/>
          <a:ln/>
        </p:spPr>
        <p:txBody>
          <a:bodyPr wrap="square" lIns="0" tIns="0" rIns="0" bIns="0" rtlCol="0" anchor="t"/>
          <a:lstStyle/>
          <a:p>
            <a:pPr marL="0" indent="0" algn="l">
              <a:lnSpc>
                <a:spcPts val="2200"/>
              </a:lnSpc>
              <a:spcBef>
                <a:spcPts val="600"/>
              </a:spcBef>
              <a:buNone/>
            </a:pPr>
            <a:r>
              <a:rPr lang="en-US" sz="1900" dirty="0">
                <a:solidFill>
                  <a:srgbClr val="1A2430"/>
                </a:solidFill>
                <a:latin typeface="Garamond" pitchFamily="34" charset="0"/>
                <a:ea typeface="Garamond" pitchFamily="34" charset="-122"/>
                <a:cs typeface="Garamond" pitchFamily="34" charset="-120"/>
              </a:rPr>
              <a:t>The Current Population Survey (CPS) is the main household survey in US, used to compute the country’s official employment statistics. </a:t>
            </a:r>
          </a:p>
          <a:p>
            <a:pPr marL="0" indent="0" algn="l">
              <a:lnSpc>
                <a:spcPts val="2200"/>
              </a:lnSpc>
              <a:spcBef>
                <a:spcPts val="600"/>
              </a:spcBef>
              <a:buNone/>
            </a:pPr>
            <a:endParaRPr lang="en-US" sz="1900" dirty="0">
              <a:solidFill>
                <a:srgbClr val="1A2430"/>
              </a:solidFill>
              <a:latin typeface="Garamond" pitchFamily="34" charset="0"/>
            </a:endParaRPr>
          </a:p>
          <a:p>
            <a:pPr>
              <a:lnSpc>
                <a:spcPts val="2200"/>
              </a:lnSpc>
              <a:spcBef>
                <a:spcPts val="600"/>
              </a:spcBef>
            </a:pPr>
            <a:r>
              <a:rPr lang="en-US" sz="1900" dirty="0">
                <a:solidFill>
                  <a:srgbClr val="1A2430"/>
                </a:solidFill>
                <a:latin typeface="Garamond" pitchFamily="34" charset="0"/>
              </a:rPr>
              <a:t>I pool all its rounds from 1998 to 2025 into a single file and turn it into a tool for following teachers</a:t>
            </a:r>
          </a:p>
          <a:p>
            <a:pPr>
              <a:lnSpc>
                <a:spcPts val="2200"/>
              </a:lnSpc>
              <a:spcBef>
                <a:spcPts val="600"/>
              </a:spcBef>
            </a:pPr>
            <a:endParaRPr lang="en-US" sz="1900" dirty="0">
              <a:solidFill>
                <a:srgbClr val="1A2430"/>
              </a:solidFill>
              <a:latin typeface="Garamond" pitchFamily="34" charset="0"/>
            </a:endParaRPr>
          </a:p>
          <a:p>
            <a:pPr>
              <a:lnSpc>
                <a:spcPts val="2200"/>
              </a:lnSpc>
              <a:spcBef>
                <a:spcPts val="600"/>
              </a:spcBef>
            </a:pPr>
            <a:r>
              <a:rPr lang="en-US" sz="1900" dirty="0">
                <a:solidFill>
                  <a:srgbClr val="1A2430"/>
                </a:solidFill>
                <a:latin typeface="Garamond" pitchFamily="34" charset="0"/>
              </a:rPr>
              <a:t>Each March, respondents report the longest job held last calendar year and their occupation today. Whoever taught last year and no longer teaches has left the profession within the year.</a:t>
            </a:r>
          </a:p>
          <a:p>
            <a:pPr>
              <a:lnSpc>
                <a:spcPts val="2200"/>
              </a:lnSpc>
              <a:spcBef>
                <a:spcPts val="600"/>
              </a:spcBef>
            </a:pPr>
            <a:endParaRPr lang="en-US" sz="1900" dirty="0">
              <a:solidFill>
                <a:srgbClr val="1A2430"/>
              </a:solidFill>
              <a:latin typeface="Garamond" pitchFamily="34" charset="0"/>
            </a:endParaRPr>
          </a:p>
          <a:p>
            <a:pPr>
              <a:lnSpc>
                <a:spcPts val="2200"/>
              </a:lnSpc>
              <a:spcBef>
                <a:spcPts val="600"/>
              </a:spcBef>
            </a:pPr>
            <a:r>
              <a:rPr lang="en-US" sz="1900" dirty="0">
                <a:solidFill>
                  <a:srgbClr val="1A2430"/>
                </a:solidFill>
                <a:latin typeface="Garamond" pitchFamily="34" charset="0"/>
              </a:rPr>
              <a:t>My final dataset holds 5 million individual records, with 104,545 teachers, around </a:t>
            </a:r>
            <a:r>
              <a:rPr lang="en-US" sz="1900" dirty="0">
                <a:solidFill>
                  <a:srgbClr val="1A2430"/>
                </a:solidFill>
                <a:latin typeface="Garamond" panose="02020404030301010803" pitchFamily="18" charset="0"/>
              </a:rPr>
              <a:t>3,700 </a:t>
            </a:r>
            <a:r>
              <a:rPr lang="en-US" sz="1900" dirty="0">
                <a:latin typeface="Garamond" panose="02020404030301010803" pitchFamily="18" charset="0"/>
              </a:rPr>
              <a:t>per year.</a:t>
            </a:r>
          </a:p>
          <a:p>
            <a:pPr>
              <a:lnSpc>
                <a:spcPts val="2200"/>
              </a:lnSpc>
            </a:pPr>
            <a:endParaRPr lang="en-US" sz="1900" dirty="0">
              <a:solidFill>
                <a:srgbClr val="1A2430"/>
              </a:solidFill>
              <a:latin typeface="Garamond" pitchFamily="34" charset="0"/>
            </a:endParaRPr>
          </a:p>
          <a:p>
            <a:pPr>
              <a:lnSpc>
                <a:spcPts val="2200"/>
              </a:lnSpc>
            </a:pPr>
            <a:endParaRPr lang="en-US" sz="1900" dirty="0">
              <a:solidFill>
                <a:srgbClr val="1A2430"/>
              </a:solidFill>
              <a:latin typeface="Garamond" pitchFamily="34" charset="0"/>
            </a:endParaRPr>
          </a:p>
          <a:p>
            <a:pPr marL="0" indent="0" algn="l">
              <a:lnSpc>
                <a:spcPts val="2200"/>
              </a:lnSpc>
              <a:buNone/>
            </a:pPr>
            <a:endParaRPr lang="en-US" sz="1900" dirty="0"/>
          </a:p>
        </p:txBody>
      </p:sp>
      <p:sp>
        <p:nvSpPr>
          <p:cNvPr id="4" name="Text 2"/>
          <p:cNvSpPr/>
          <p:nvPr/>
        </p:nvSpPr>
        <p:spPr>
          <a:xfrm>
            <a:off x="1178311" y="3652142"/>
            <a:ext cx="9838427" cy="868680"/>
          </a:xfrm>
          <a:prstGeom prst="rect">
            <a:avLst/>
          </a:prstGeom>
          <a:noFill/>
          <a:ln/>
        </p:spPr>
        <p:txBody>
          <a:bodyPr wrap="square" lIns="0" tIns="0" rIns="0" bIns="0" rtlCol="0" anchor="t"/>
          <a:lstStyle/>
          <a:p>
            <a:pPr>
              <a:lnSpc>
                <a:spcPts val="2200"/>
              </a:lnSpc>
            </a:pPr>
            <a:endParaRPr lang="en-US" sz="1900" dirty="0">
              <a:solidFill>
                <a:srgbClr val="1A2430"/>
              </a:solidFill>
              <a:latin typeface="Garamond" pitchFamily="34" charset="0"/>
            </a:endParaRPr>
          </a:p>
        </p:txBody>
      </p:sp>
      <p:sp>
        <p:nvSpPr>
          <p:cNvPr id="6" name="Text 4"/>
          <p:cNvSpPr/>
          <p:nvPr/>
        </p:nvSpPr>
        <p:spPr>
          <a:xfrm>
            <a:off x="1175262" y="4582264"/>
            <a:ext cx="9902952" cy="868680"/>
          </a:xfrm>
          <a:prstGeom prst="rect">
            <a:avLst/>
          </a:prstGeom>
          <a:noFill/>
          <a:ln/>
        </p:spPr>
        <p:txBody>
          <a:bodyPr wrap="square" lIns="0" tIns="0" rIns="0" bIns="0" rtlCol="0" anchor="t"/>
          <a:lstStyle/>
          <a:p>
            <a:pPr marL="0" indent="0" algn="l">
              <a:lnSpc>
                <a:spcPts val="2200"/>
              </a:lnSpc>
              <a:buNone/>
            </a:pPr>
            <a:endParaRPr lang="en-US" sz="2000" dirty="0"/>
          </a:p>
        </p:txBody>
      </p:sp>
      <p:sp>
        <p:nvSpPr>
          <p:cNvPr id="12" name="Shape 5">
            <a:extLst>
              <a:ext uri="{FF2B5EF4-FFF2-40B4-BE49-F238E27FC236}">
                <a16:creationId xmlns:a16="http://schemas.microsoft.com/office/drawing/2014/main" id="{518B18F2-09F6-C779-08D2-8908297B6DAF}"/>
              </a:ext>
            </a:extLst>
          </p:cNvPr>
          <p:cNvSpPr/>
          <p:nvPr/>
        </p:nvSpPr>
        <p:spPr>
          <a:xfrm>
            <a:off x="3048" y="-30309"/>
            <a:ext cx="12188952" cy="594360"/>
          </a:xfrm>
          <a:prstGeom prst="rect">
            <a:avLst/>
          </a:prstGeom>
          <a:solidFill>
            <a:srgbClr val="00549F"/>
          </a:solidFill>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4048" y="200391"/>
            <a:ext cx="11155680" cy="502920"/>
          </a:xfrm>
          <a:prstGeom prst="rect">
            <a:avLst/>
          </a:prstGeom>
          <a:noFill/>
          <a:ln/>
        </p:spPr>
        <p:txBody>
          <a:bodyPr wrap="square" lIns="0" tIns="0" rIns="0" bIns="0" rtlCol="0" anchor="ctr"/>
          <a:lstStyle/>
          <a:p>
            <a:pPr marR="0" lvl="0" fontAlgn="auto">
              <a:lnSpc>
                <a:spcPct val="100000"/>
              </a:lnSpc>
              <a:spcBef>
                <a:spcPts val="0"/>
              </a:spcBef>
              <a:spcAft>
                <a:spcPts val="0"/>
              </a:spcAft>
              <a:buClrTx/>
              <a:buSzTx/>
              <a:tabLst/>
              <a:defRPr/>
            </a:pPr>
            <a:r>
              <a:rPr lang="en-US" sz="2800" b="1" dirty="0">
                <a:solidFill>
                  <a:srgbClr val="1F3B66"/>
                </a:solidFill>
                <a:latin typeface="Garamond" pitchFamily="34" charset="0"/>
              </a:rPr>
              <a:t>Who counts as a teacher</a:t>
            </a:r>
          </a:p>
        </p:txBody>
      </p:sp>
      <p:grpSp>
        <p:nvGrpSpPr>
          <p:cNvPr id="75" name="Group 74">
            <a:extLst>
              <a:ext uri="{FF2B5EF4-FFF2-40B4-BE49-F238E27FC236}">
                <a16:creationId xmlns:a16="http://schemas.microsoft.com/office/drawing/2014/main" id="{51F17309-771B-D3FF-3939-29E28FC2362D}"/>
              </a:ext>
            </a:extLst>
          </p:cNvPr>
          <p:cNvGrpSpPr/>
          <p:nvPr/>
        </p:nvGrpSpPr>
        <p:grpSpPr>
          <a:xfrm>
            <a:off x="-105156" y="948776"/>
            <a:ext cx="11713464" cy="4934352"/>
            <a:chOff x="228600" y="1018392"/>
            <a:chExt cx="11713464" cy="4934352"/>
          </a:xfrm>
        </p:grpSpPr>
        <p:sp>
          <p:nvSpPr>
            <p:cNvPr id="9" name="Text 7"/>
            <p:cNvSpPr/>
            <p:nvPr/>
          </p:nvSpPr>
          <p:spPr>
            <a:xfrm>
              <a:off x="228600" y="1664208"/>
              <a:ext cx="132588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Pre-K &amp;</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kindergarten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228600" y="2505456"/>
              <a:ext cx="132588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Elementary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&amp; middle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228600" y="3346704"/>
              <a:ext cx="132588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Secondary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3"/>
            <p:cNvSpPr/>
            <p:nvPr/>
          </p:nvSpPr>
          <p:spPr>
            <a:xfrm>
              <a:off x="228600" y="4187952"/>
              <a:ext cx="132588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Special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education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5"/>
            <p:cNvSpPr/>
            <p:nvPr/>
          </p:nvSpPr>
          <p:spPr>
            <a:xfrm>
              <a:off x="228600" y="5029200"/>
              <a:ext cx="132588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Other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teachers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74" name="Group 73">
              <a:extLst>
                <a:ext uri="{FF2B5EF4-FFF2-40B4-BE49-F238E27FC236}">
                  <a16:creationId xmlns:a16="http://schemas.microsoft.com/office/drawing/2014/main" id="{E3450633-D153-B820-0022-F15911D44518}"/>
                </a:ext>
              </a:extLst>
            </p:cNvPr>
            <p:cNvGrpSpPr/>
            <p:nvPr/>
          </p:nvGrpSpPr>
          <p:grpSpPr>
            <a:xfrm>
              <a:off x="1687068" y="1018392"/>
              <a:ext cx="10254996" cy="4934352"/>
              <a:chOff x="1687068" y="1018392"/>
              <a:chExt cx="10254996" cy="4934352"/>
            </a:xfrm>
          </p:grpSpPr>
          <p:sp>
            <p:nvSpPr>
              <p:cNvPr id="3" name="Text 1"/>
              <p:cNvSpPr/>
              <p:nvPr/>
            </p:nvSpPr>
            <p:spPr>
              <a:xfrm>
                <a:off x="1687068" y="1266187"/>
                <a:ext cx="32461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Surveys 1998–2002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824228" y="1035558"/>
                <a:ext cx="32461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Census occupation classification of 1990</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257800" y="1280160"/>
                <a:ext cx="32461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Surveys 2003–2019</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912614" y="1025508"/>
                <a:ext cx="3813049"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Census occupation classification of 2002/2010</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8691372" y="1283524"/>
                <a:ext cx="32461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Surveys 2020–2025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691372" y="1018392"/>
                <a:ext cx="32461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Census occupation classification of 2018</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1691640" y="1664208"/>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1801368" y="1664208"/>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155</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2532888" y="1664208"/>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Teachers, prekindergarten and kindergarten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937760" y="2007108"/>
                <a:ext cx="256032" cy="0"/>
              </a:xfrm>
              <a:prstGeom prst="line">
                <a:avLst/>
              </a:prstGeom>
              <a:noFill/>
              <a:ln w="1270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5193792" y="1664208"/>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5303520" y="1664208"/>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2300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035040" y="1664208"/>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Preschool and kindergarten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439912" y="2007108"/>
                <a:ext cx="256032" cy="0"/>
              </a:xfrm>
              <a:prstGeom prst="line">
                <a:avLst/>
              </a:prstGeom>
              <a:noFill/>
              <a:ln w="1270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8695944" y="1664208"/>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8805672" y="1664208"/>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2300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9537192" y="1664208"/>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Preschool and kindergarten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1691640" y="2505456"/>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1801368" y="2505456"/>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156</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2532888" y="2505456"/>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Teachers, elementary school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4937760" y="2848356"/>
                <a:ext cx="256032" cy="0"/>
              </a:xfrm>
              <a:prstGeom prst="line">
                <a:avLst/>
              </a:prstGeom>
              <a:noFill/>
              <a:ln w="1270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5193792" y="2505456"/>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5303520" y="2505456"/>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2310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035040" y="2505456"/>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Elementary and middle school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8439912" y="2848356"/>
                <a:ext cx="256032" cy="0"/>
              </a:xfrm>
              <a:prstGeom prst="line">
                <a:avLst/>
              </a:prstGeom>
              <a:noFill/>
              <a:ln w="1270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8695944" y="2505456"/>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8805672" y="2505456"/>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2310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9537192" y="2505456"/>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Elementary and middle school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1691640" y="3346704"/>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1801368" y="3346704"/>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157</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2532888" y="3346704"/>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Teachers, secondary school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p:cNvSpPr/>
              <p:nvPr/>
            </p:nvSpPr>
            <p:spPr>
              <a:xfrm>
                <a:off x="4937760" y="3689604"/>
                <a:ext cx="256032" cy="0"/>
              </a:xfrm>
              <a:prstGeom prst="line">
                <a:avLst/>
              </a:prstGeom>
              <a:noFill/>
              <a:ln w="1270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p:cNvSpPr/>
              <p:nvPr/>
            </p:nvSpPr>
            <p:spPr>
              <a:xfrm>
                <a:off x="5193792" y="3346704"/>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p:cNvSpPr/>
              <p:nvPr/>
            </p:nvSpPr>
            <p:spPr>
              <a:xfrm>
                <a:off x="5303520" y="3346704"/>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2320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6035040" y="3346704"/>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Secondary school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9"/>
              <p:cNvSpPr/>
              <p:nvPr/>
            </p:nvSpPr>
            <p:spPr>
              <a:xfrm>
                <a:off x="8439912" y="3689604"/>
                <a:ext cx="256032" cy="0"/>
              </a:xfrm>
              <a:prstGeom prst="line">
                <a:avLst/>
              </a:prstGeom>
              <a:noFill/>
              <a:ln w="1270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p:cNvSpPr/>
              <p:nvPr/>
            </p:nvSpPr>
            <p:spPr>
              <a:xfrm>
                <a:off x="8695944" y="3346704"/>
                <a:ext cx="3246120" cy="685800"/>
              </a:xfrm>
              <a:prstGeom prst="roundRect">
                <a:avLst>
                  <a:gd name="adj" fmla="val 9333"/>
                </a:avLst>
              </a:prstGeom>
              <a:solidFill>
                <a:srgbClr val="EBF1F8"/>
              </a:solidFill>
              <a:ln w="15240">
                <a:solidFill>
                  <a:srgbClr val="1F4E7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1"/>
              <p:cNvSpPr/>
              <p:nvPr/>
            </p:nvSpPr>
            <p:spPr>
              <a:xfrm>
                <a:off x="8805672" y="3346704"/>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4E79"/>
                    </a:solidFill>
                    <a:effectLst/>
                    <a:uLnTx/>
                    <a:uFillTx/>
                    <a:latin typeface="Garamond" pitchFamily="34" charset="0"/>
                    <a:ea typeface="Garamond" pitchFamily="34" charset="-122"/>
                    <a:cs typeface="Garamond" pitchFamily="34" charset="-120"/>
                  </a:rPr>
                  <a:t>2320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2"/>
              <p:cNvSpPr/>
              <p:nvPr/>
            </p:nvSpPr>
            <p:spPr>
              <a:xfrm>
                <a:off x="9537192" y="3346704"/>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Secondary school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Shape 44"/>
              <p:cNvSpPr/>
              <p:nvPr/>
            </p:nvSpPr>
            <p:spPr>
              <a:xfrm>
                <a:off x="1691640" y="4187952"/>
                <a:ext cx="3246120" cy="685800"/>
              </a:xfrm>
              <a:prstGeom prst="roundRect">
                <a:avLst>
                  <a:gd name="adj" fmla="val 9333"/>
                </a:avLst>
              </a:prstGeom>
              <a:solidFill>
                <a:srgbClr val="F6EDEC"/>
              </a:solidFill>
              <a:ln w="1524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45"/>
              <p:cNvSpPr/>
              <p:nvPr/>
            </p:nvSpPr>
            <p:spPr>
              <a:xfrm>
                <a:off x="1801368" y="4187952"/>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158</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6"/>
              <p:cNvSpPr/>
              <p:nvPr/>
            </p:nvSpPr>
            <p:spPr>
              <a:xfrm>
                <a:off x="2532888" y="4187952"/>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Teachers, special education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7"/>
              <p:cNvSpPr/>
              <p:nvPr/>
            </p:nvSpPr>
            <p:spPr>
              <a:xfrm>
                <a:off x="4937760" y="4530852"/>
                <a:ext cx="256032" cy="0"/>
              </a:xfrm>
              <a:prstGeom prst="line">
                <a:avLst/>
              </a:prstGeom>
              <a:noFill/>
              <a:ln w="1270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p:cNvSpPr/>
              <p:nvPr/>
            </p:nvSpPr>
            <p:spPr>
              <a:xfrm>
                <a:off x="5193792" y="4187952"/>
                <a:ext cx="3246120" cy="685800"/>
              </a:xfrm>
              <a:prstGeom prst="roundRect">
                <a:avLst>
                  <a:gd name="adj" fmla="val 9333"/>
                </a:avLst>
              </a:prstGeom>
              <a:solidFill>
                <a:srgbClr val="F6EDEC"/>
              </a:solidFill>
              <a:ln w="1524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49"/>
              <p:cNvSpPr/>
              <p:nvPr/>
            </p:nvSpPr>
            <p:spPr>
              <a:xfrm>
                <a:off x="5303520" y="4187952"/>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2330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50"/>
              <p:cNvSpPr/>
              <p:nvPr/>
            </p:nvSpPr>
            <p:spPr>
              <a:xfrm>
                <a:off x="6035040" y="4187952"/>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Special education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Shape 51"/>
              <p:cNvSpPr/>
              <p:nvPr/>
            </p:nvSpPr>
            <p:spPr>
              <a:xfrm>
                <a:off x="8439912" y="4530852"/>
                <a:ext cx="256032" cy="0"/>
              </a:xfrm>
              <a:prstGeom prst="line">
                <a:avLst/>
              </a:prstGeom>
              <a:noFill/>
              <a:ln w="1270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p:cNvSpPr/>
              <p:nvPr/>
            </p:nvSpPr>
            <p:spPr>
              <a:xfrm>
                <a:off x="8695944" y="4187952"/>
                <a:ext cx="3246120" cy="685800"/>
              </a:xfrm>
              <a:prstGeom prst="roundRect">
                <a:avLst>
                  <a:gd name="adj" fmla="val 9333"/>
                </a:avLst>
              </a:prstGeom>
              <a:solidFill>
                <a:srgbClr val="F6EDEC"/>
              </a:solidFill>
              <a:ln w="1524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53"/>
              <p:cNvSpPr/>
              <p:nvPr/>
            </p:nvSpPr>
            <p:spPr>
              <a:xfrm>
                <a:off x="8805672" y="4187952"/>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2330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4"/>
              <p:cNvSpPr/>
              <p:nvPr/>
            </p:nvSpPr>
            <p:spPr>
              <a:xfrm>
                <a:off x="9537192" y="4187952"/>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Special education teachers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Shape 56"/>
              <p:cNvSpPr/>
              <p:nvPr/>
            </p:nvSpPr>
            <p:spPr>
              <a:xfrm>
                <a:off x="1691640" y="5029200"/>
                <a:ext cx="3246120" cy="685800"/>
              </a:xfrm>
              <a:prstGeom prst="roundRect">
                <a:avLst>
                  <a:gd name="adj" fmla="val 9333"/>
                </a:avLst>
              </a:prstGeom>
              <a:solidFill>
                <a:srgbClr val="F6EDEC"/>
              </a:solidFill>
              <a:ln w="1524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7"/>
              <p:cNvSpPr/>
              <p:nvPr/>
            </p:nvSpPr>
            <p:spPr>
              <a:xfrm>
                <a:off x="1801368" y="5029200"/>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159</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Text 58"/>
              <p:cNvSpPr/>
              <p:nvPr/>
            </p:nvSpPr>
            <p:spPr>
              <a:xfrm>
                <a:off x="2532888" y="5029200"/>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Teachers, n.e.c. (not elsewhere classified)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Shape 59"/>
              <p:cNvSpPr/>
              <p:nvPr/>
            </p:nvSpPr>
            <p:spPr>
              <a:xfrm>
                <a:off x="4937760" y="5372100"/>
                <a:ext cx="256032" cy="0"/>
              </a:xfrm>
              <a:prstGeom prst="line">
                <a:avLst/>
              </a:prstGeom>
              <a:noFill/>
              <a:ln w="1270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60"/>
              <p:cNvSpPr/>
              <p:nvPr/>
            </p:nvSpPr>
            <p:spPr>
              <a:xfrm>
                <a:off x="5193792" y="5029200"/>
                <a:ext cx="3246120" cy="685800"/>
              </a:xfrm>
              <a:prstGeom prst="roundRect">
                <a:avLst>
                  <a:gd name="adj" fmla="val 9333"/>
                </a:avLst>
              </a:prstGeom>
              <a:solidFill>
                <a:srgbClr val="F6EDEC"/>
              </a:solidFill>
              <a:ln w="1524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61"/>
              <p:cNvSpPr/>
              <p:nvPr/>
            </p:nvSpPr>
            <p:spPr>
              <a:xfrm>
                <a:off x="5303520" y="5029200"/>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2340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Text 62"/>
              <p:cNvSpPr/>
              <p:nvPr/>
            </p:nvSpPr>
            <p:spPr>
              <a:xfrm>
                <a:off x="6035040" y="5029200"/>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Other teachers and instructors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Shape 63"/>
              <p:cNvSpPr/>
              <p:nvPr/>
            </p:nvSpPr>
            <p:spPr>
              <a:xfrm>
                <a:off x="8439912" y="5372100"/>
                <a:ext cx="256032" cy="0"/>
              </a:xfrm>
              <a:prstGeom prst="line">
                <a:avLst/>
              </a:prstGeom>
              <a:noFill/>
              <a:ln w="1270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64"/>
              <p:cNvSpPr/>
              <p:nvPr/>
            </p:nvSpPr>
            <p:spPr>
              <a:xfrm>
                <a:off x="8695944" y="5029200"/>
                <a:ext cx="3246120" cy="685800"/>
              </a:xfrm>
              <a:prstGeom prst="roundRect">
                <a:avLst>
                  <a:gd name="adj" fmla="val 9333"/>
                </a:avLst>
              </a:prstGeom>
              <a:solidFill>
                <a:srgbClr val="F6EDEC"/>
              </a:solidFill>
              <a:ln w="15240">
                <a:solidFill>
                  <a:srgbClr val="7E2F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Text 65"/>
              <p:cNvSpPr/>
              <p:nvPr/>
            </p:nvSpPr>
            <p:spPr>
              <a:xfrm>
                <a:off x="8805672" y="5029200"/>
                <a:ext cx="685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E2F2A"/>
                    </a:solidFill>
                    <a:effectLst/>
                    <a:uLnTx/>
                    <a:uFillTx/>
                    <a:latin typeface="Garamond" pitchFamily="34" charset="0"/>
                    <a:ea typeface="Garamond" pitchFamily="34" charset="-122"/>
                    <a:cs typeface="Garamond" pitchFamily="34" charset="-120"/>
                  </a:rPr>
                  <a:t>2360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Text 66"/>
              <p:cNvSpPr/>
              <p:nvPr/>
            </p:nvSpPr>
            <p:spPr>
              <a:xfrm>
                <a:off x="9537192" y="5029200"/>
                <a:ext cx="2286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2430"/>
                    </a:solidFill>
                    <a:effectLst/>
                    <a:uLnTx/>
                    <a:uFillTx/>
                    <a:latin typeface="Garamond" pitchFamily="34" charset="0"/>
                    <a:ea typeface="Garamond" pitchFamily="34" charset="-122"/>
                    <a:cs typeface="Garamond" pitchFamily="34" charset="-120"/>
                  </a:rPr>
                  <a:t>Other teachers and instructors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Shape 67"/>
              <p:cNvSpPr/>
              <p:nvPr/>
            </p:nvSpPr>
            <p:spPr>
              <a:xfrm>
                <a:off x="5065776" y="1024128"/>
                <a:ext cx="0" cy="4690872"/>
              </a:xfrm>
              <a:prstGeom prst="line">
                <a:avLst/>
              </a:prstGeom>
              <a:noFill/>
              <a:ln w="9525">
                <a:solidFill>
                  <a:srgbClr val="B9C0C8"/>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68"/>
              <p:cNvSpPr/>
              <p:nvPr/>
            </p:nvSpPr>
            <p:spPr>
              <a:xfrm>
                <a:off x="4242816" y="5733288"/>
                <a:ext cx="1645920"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2003 reclassification</a:t>
                </a: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Shape 69"/>
              <p:cNvSpPr/>
              <p:nvPr/>
            </p:nvSpPr>
            <p:spPr>
              <a:xfrm>
                <a:off x="8567928" y="1024128"/>
                <a:ext cx="0" cy="4690872"/>
              </a:xfrm>
              <a:prstGeom prst="line">
                <a:avLst/>
              </a:prstGeom>
              <a:noFill/>
              <a:ln w="9525">
                <a:solidFill>
                  <a:srgbClr val="B9C0C8"/>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Text 70"/>
              <p:cNvSpPr/>
              <p:nvPr/>
            </p:nvSpPr>
            <p:spPr>
              <a:xfrm>
                <a:off x="7744968" y="5733288"/>
                <a:ext cx="1645920"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2020 reclassification</a:t>
                </a: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73" name="Text 71"/>
          <p:cNvSpPr/>
          <p:nvPr/>
        </p:nvSpPr>
        <p:spPr>
          <a:xfrm>
            <a:off x="2605178" y="6188177"/>
            <a:ext cx="7366958" cy="77724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Traceable as a block: </a:t>
            </a:r>
            <a:r>
              <a:rPr kumimoji="0" lang="en-US" sz="1100" b="0" i="0" u="none" strike="noStrike" kern="1200" cap="none" spc="0" normalizeH="0" baseline="0" noProof="0" dirty="0">
                <a:ln>
                  <a:noFill/>
                </a:ln>
                <a:solidFill>
                  <a:prstClr val="black"/>
                </a:solidFill>
                <a:effectLst/>
                <a:uLnTx/>
                <a:uFillTx/>
                <a:latin typeface="Garamond" pitchFamily="34" charset="0"/>
                <a:ea typeface="Garamond" pitchFamily="34" charset="-122"/>
                <a:cs typeface="Garamond" pitchFamily="34" charset="-120"/>
              </a:rPr>
              <a:t>the K–12 teaching group maps one-to-one across the three classifications — every figure uses the union, never a sub-code across regimes.† middle-school teachers sit under elementary or secondary before 2003, with elementary (2310) after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 Composition of the Teaching Workforce, 2005–2024</a:t>
            </a:r>
            <a:endParaRPr lang="en-US" sz="2100" dirty="0"/>
          </a:p>
        </p:txBody>
      </p:sp>
      <p:pic>
        <p:nvPicPr>
          <p:cNvPr id="3" name="Image 0" descr="figs_png/g1_workforce.png"/>
          <p:cNvPicPr>
            <a:picLocks noChangeAspect="1"/>
          </p:cNvPicPr>
          <p:nvPr/>
        </p:nvPicPr>
        <p:blipFill>
          <a:blip r:embed="rId3"/>
          <a:stretch>
            <a:fillRect/>
          </a:stretch>
        </p:blipFill>
        <p:spPr>
          <a:xfrm>
            <a:off x="1133040" y="804672"/>
            <a:ext cx="9922873" cy="4709160"/>
          </a:xfrm>
          <a:prstGeom prst="rect">
            <a:avLst/>
          </a:prstGeom>
        </p:spPr>
      </p:pic>
      <p:sp>
        <p:nvSpPr>
          <p:cNvPr id="5" name="Text 1"/>
          <p:cNvSpPr/>
          <p:nvPr/>
        </p:nvSpPr>
        <p:spPr>
          <a:xfrm>
            <a:off x="1455195" y="5760720"/>
            <a:ext cx="9922873"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College-graduate teachers aged 18+ whose longest job last year was K–12 teaching; ASEC supplement weights. Thin gray lines are annual values; blue lines are centered 3-year averages, with endpoint values printed. “Public school,” “part-time,” and “pension plan” refer to the longest job held last year; the open circle marks 2013, a year with a reduced sample due to the ASEC redesign. Source: author’s calculations from March CPS supplements, survey years 2006–2025.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2. Leaving Teaching, 1997–2024</a:t>
            </a:r>
            <a:endParaRPr lang="en-US" sz="2100" dirty="0"/>
          </a:p>
        </p:txBody>
      </p:sp>
      <p:pic>
        <p:nvPicPr>
          <p:cNvPr id="3" name="Image 0" descr="figs_png/g2_evolution.png"/>
          <p:cNvPicPr>
            <a:picLocks noChangeAspect="1"/>
          </p:cNvPicPr>
          <p:nvPr/>
        </p:nvPicPr>
        <p:blipFill>
          <a:blip r:embed="rId3"/>
          <a:stretch>
            <a:fillRect/>
          </a:stretch>
        </p:blipFill>
        <p:spPr>
          <a:xfrm>
            <a:off x="1385316" y="804672"/>
            <a:ext cx="9418320" cy="4709160"/>
          </a:xfrm>
          <a:prstGeom prst="rect">
            <a:avLst/>
          </a:prstGeom>
        </p:spPr>
      </p:pic>
      <p:sp>
        <p:nvSpPr>
          <p:cNvPr id="5" name="Text 1"/>
          <p:cNvSpPr/>
          <p:nvPr/>
        </p:nvSpPr>
        <p:spPr>
          <a:xfrm>
            <a:off x="2075380" y="5650992"/>
            <a:ext cx="8621376"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Share of college-graduate teachers (longest job last calendar year) not employed in a teaching occupation the following March; ASEC weights. Shaded band: 95 percent confidence interval using a design factor of 1.5. Dotted line: the 1997–2024 mean (8.6). The gray band marks the Covid supplements. Source: author’s calculations from March CPS supplements, survey years 1998–2025.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3. Leaving Teaching by School Sector, 1997-2024</a:t>
            </a:r>
            <a:endParaRPr lang="en-US" sz="2100" dirty="0"/>
          </a:p>
        </p:txBody>
      </p:sp>
      <p:pic>
        <p:nvPicPr>
          <p:cNvPr id="3" name="Image 0" descr="figs_png/n5b_states_trio.png"/>
          <p:cNvPicPr>
            <a:picLocks noChangeAspect="1"/>
          </p:cNvPicPr>
          <p:nvPr/>
        </p:nvPicPr>
        <p:blipFill>
          <a:blip r:embed="rId2"/>
          <a:stretch>
            <a:fillRect/>
          </a:stretch>
        </p:blipFill>
        <p:spPr>
          <a:xfrm>
            <a:off x="1342143" y="804672"/>
            <a:ext cx="9504666" cy="4842000"/>
          </a:xfrm>
          <a:prstGeom prst="rect">
            <a:avLst/>
          </a:prstGeom>
        </p:spPr>
      </p:pic>
      <p:sp>
        <p:nvSpPr>
          <p:cNvPr id="5" name="Text 1"/>
          <p:cNvSpPr/>
          <p:nvPr/>
        </p:nvSpPr>
        <p:spPr>
          <a:xfrm>
            <a:off x="1826077" y="5777154"/>
            <a:ext cx="9372754"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Annual share of college-graduate teachers leaving the profession by the following March, by sector of the teaching-year job (class of worker: government vs. private), ASEC weights. Shaded bands: 95 percent confidence intervals with a design factor of 1.5; dotted lines: the 1997-2024 sector means. The gray band marks the Covid supplements. Source: author’s calculations from March CPS supplements, survey years 1998-2025.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4. Rates of Leaving the Occupation, Teachers and Comparable Professions</a:t>
            </a:r>
            <a:endParaRPr lang="en-US" sz="2100" dirty="0"/>
          </a:p>
        </p:txBody>
      </p:sp>
      <p:pic>
        <p:nvPicPr>
          <p:cNvPr id="3" name="Image 0" descr="figs_png/n5b_states_trio.png"/>
          <p:cNvPicPr>
            <a:picLocks noChangeAspect="1"/>
          </p:cNvPicPr>
          <p:nvPr/>
        </p:nvPicPr>
        <p:blipFill>
          <a:blip r:embed="rId3"/>
          <a:stretch>
            <a:fillRect/>
          </a:stretch>
        </p:blipFill>
        <p:spPr>
          <a:xfrm>
            <a:off x="1252476" y="804672"/>
            <a:ext cx="9684000" cy="4842000"/>
          </a:xfrm>
          <a:prstGeom prst="rect">
            <a:avLst/>
          </a:prstGeom>
        </p:spPr>
      </p:pic>
      <p:sp>
        <p:nvSpPr>
          <p:cNvPr id="5" name="Text 1"/>
          <p:cNvSpPr/>
          <p:nvPr/>
        </p:nvSpPr>
        <p:spPr>
          <a:xfrm>
            <a:off x="1674688" y="5747256"/>
            <a:ext cx="9430024"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Percent of college graduates aged 18 and over whose longest job last year was in each occupation and who are no longer in it at the following March interview, by any route; centered 3-year pooled windows with shaded 95 percent confidence bands; occupation codes harmonized across the 1990, 2002, 2010 and 2018 Census classifications. Source: Author’s calculations from March CPS supplements, 1998–2025.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5. Labor Force Exit of Women, Teachers and Comparable Professions</a:t>
            </a:r>
            <a:endParaRPr lang="en-US" sz="2100" dirty="0"/>
          </a:p>
        </p:txBody>
      </p:sp>
      <p:pic>
        <p:nvPicPr>
          <p:cNvPr id="3" name="Image 0" descr="figs_png/n5b_states_trio.png"/>
          <p:cNvPicPr>
            <a:picLocks noChangeAspect="1"/>
          </p:cNvPicPr>
          <p:nvPr/>
        </p:nvPicPr>
        <p:blipFill>
          <a:blip r:embed="rId3"/>
          <a:stretch>
            <a:fillRect/>
          </a:stretch>
        </p:blipFill>
        <p:spPr>
          <a:xfrm>
            <a:off x="1252476" y="704088"/>
            <a:ext cx="9684000" cy="4842000"/>
          </a:xfrm>
          <a:prstGeom prst="rect">
            <a:avLst/>
          </a:prstGeom>
        </p:spPr>
      </p:pic>
      <p:sp>
        <p:nvSpPr>
          <p:cNvPr id="5" name="Text 1"/>
          <p:cNvSpPr/>
          <p:nvPr/>
        </p:nvSpPr>
        <p:spPr>
          <a:xfrm>
            <a:off x="1523453" y="5766880"/>
            <a:ext cx="9684000"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Percent of college-graduate women in each occupation who are out of the labor force at the following March interview; centered 3-year pooled windows, additionally smoothed with a 3-year moving average; shaded 95 percent confidence bands. Source: Author’s calculations from March CPS supplements, 1998–2025.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6. Teachers Leaving per Year Across Countries</a:t>
            </a:r>
            <a:endParaRPr lang="en-US" sz="2100" dirty="0"/>
          </a:p>
        </p:txBody>
      </p:sp>
      <p:pic>
        <p:nvPicPr>
          <p:cNvPr id="3" name="Image 0" descr="figs_png/n5b_states_trio.png"/>
          <p:cNvPicPr>
            <a:picLocks noChangeAspect="1"/>
          </p:cNvPicPr>
          <p:nvPr/>
        </p:nvPicPr>
        <p:blipFill>
          <a:blip r:embed="rId2"/>
          <a:stretch>
            <a:fillRect/>
          </a:stretch>
        </p:blipFill>
        <p:spPr>
          <a:xfrm>
            <a:off x="2775285" y="804672"/>
            <a:ext cx="6638382" cy="4842000"/>
          </a:xfrm>
          <a:prstGeom prst="rect">
            <a:avLst/>
          </a:prstGeom>
        </p:spPr>
      </p:pic>
      <p:sp>
        <p:nvSpPr>
          <p:cNvPr id="5" name="Text 1"/>
          <p:cNvSpPr/>
          <p:nvPr/>
        </p:nvSpPr>
        <p:spPr>
          <a:xfrm>
            <a:off x="1095555" y="5647196"/>
            <a:ext cx="10194091"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Most recent year available, 2021 or later; every bar is an annual flow over the teacher stock with retirements included; the counted object is printed under each name. Sources: Hong Kong EDB via LegCo; DfE School Workforce Census 2025; OECD Education at a Glance 2025 Table D8.4 (Flanders, France, Ireland); author’s CPS estimate (United States); NZ Ministry of Education; OCW/DUO (Netherlands, primary); Welsh Government SWAC; Israel CBS; e61 Institute tax records (Australia); Destatis flow tables via FiBS (Germany, excl. BY, NI, NRW); MEXT (Japan).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38912"/>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7. Destinations of Teachers Who Leave the Profession, 2024</a:t>
            </a:r>
            <a:endParaRPr lang="en-US" sz="2100" dirty="0"/>
          </a:p>
        </p:txBody>
      </p:sp>
      <p:pic>
        <p:nvPicPr>
          <p:cNvPr id="3" name="Image 0" descr="figs_png/g3_flow100.png"/>
          <p:cNvPicPr>
            <a:picLocks noChangeAspect="1"/>
          </p:cNvPicPr>
          <p:nvPr/>
        </p:nvPicPr>
        <p:blipFill>
          <a:blip r:embed="rId3"/>
          <a:stretch>
            <a:fillRect/>
          </a:stretch>
        </p:blipFill>
        <p:spPr>
          <a:xfrm>
            <a:off x="1016668" y="941832"/>
            <a:ext cx="9827812" cy="4709160"/>
          </a:xfrm>
          <a:prstGeom prst="rect">
            <a:avLst/>
          </a:prstGeom>
        </p:spPr>
      </p:pic>
      <p:sp>
        <p:nvSpPr>
          <p:cNvPr id="5" name="Text 1"/>
          <p:cNvSpPr/>
          <p:nvPr/>
        </p:nvSpPr>
        <p:spPr>
          <a:xfrm>
            <a:off x="1751162" y="5824728"/>
            <a:ext cx="9161253"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College-graduate leavers of teaching year 2024, observed in March 2025 (178 leavers, ASEC weights). Top bar: labor force status at the March 2025 interview, per 100 leavers; “out of the labor force” is split at age 55. Bottom bar: the occupational destination of the 33 employed leavers, rescaled to sum to their total. Single-year estimates; the pooled 2015–2024 version is in the paper. Source: author’s calculations from the March 2025 CPS supplement.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8724" y="946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8. Where the Employed Leavers Go: Every Occupation, 2019–2024</a:t>
            </a:r>
            <a:endParaRPr lang="en-US" sz="2100" dirty="0"/>
          </a:p>
        </p:txBody>
      </p:sp>
      <p:pic>
        <p:nvPicPr>
          <p:cNvPr id="3" name="Image 0" descr="occ_all_slide.png"/>
          <p:cNvPicPr>
            <a:picLocks noChangeAspect="1"/>
          </p:cNvPicPr>
          <p:nvPr/>
        </p:nvPicPr>
        <p:blipFill>
          <a:blip r:embed="rId2"/>
          <a:stretch>
            <a:fillRect/>
          </a:stretch>
        </p:blipFill>
        <p:spPr>
          <a:xfrm>
            <a:off x="277271" y="709404"/>
            <a:ext cx="11637455" cy="5115324"/>
          </a:xfrm>
          <a:prstGeom prst="rect">
            <a:avLst/>
          </a:prstGeom>
        </p:spPr>
      </p:pic>
      <p:sp>
        <p:nvSpPr>
          <p:cNvPr id="5" name="Text 1"/>
          <p:cNvSpPr/>
          <p:nvPr/>
        </p:nvSpPr>
        <p:spPr>
          <a:xfrm>
            <a:off x="458723" y="5824728"/>
            <a:ext cx="11274552"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Every destination occupation of the college-graduate leavers employed the March after the teaching year, in percent of employed leavers, pooled over teaching years 2019–2024 (2018 Census occupation codes); groups and colors as in Figure 7, with group totals in the headers. Shares below roughly 1 percent rest on one to three sample cases and are indicative only. Source: author’s calculations from March CPS supplements, survey years 2020–2025.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38912"/>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9. Who Leaves the Labor Force Before 55, 2015–2024</a:t>
            </a:r>
            <a:endParaRPr lang="en-US" sz="2100" dirty="0"/>
          </a:p>
        </p:txBody>
      </p:sp>
      <p:pic>
        <p:nvPicPr>
          <p:cNvPr id="3" name="Image 0" descr="yellow_flow2.png"/>
          <p:cNvPicPr>
            <a:picLocks noChangeAspect="1"/>
          </p:cNvPicPr>
          <p:nvPr/>
        </p:nvPicPr>
        <p:blipFill>
          <a:blip r:embed="rId3"/>
          <a:stretch>
            <a:fillRect/>
          </a:stretch>
        </p:blipFill>
        <p:spPr>
          <a:xfrm>
            <a:off x="1335500" y="944668"/>
            <a:ext cx="9521000" cy="4562008"/>
          </a:xfrm>
          <a:prstGeom prst="rect">
            <a:avLst/>
          </a:prstGeom>
        </p:spPr>
      </p:pic>
      <p:sp>
        <p:nvSpPr>
          <p:cNvPr id="5" name="Text 1"/>
          <p:cNvSpPr/>
          <p:nvPr/>
        </p:nvSpPr>
        <p:spPr>
          <a:xfrm>
            <a:off x="1751162" y="5506676"/>
            <a:ext cx="9161253"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College-graduate leavers pooled over teaching years 2015–2024, ASEC weights. Top bar: labor force status at the March interview after the teaching year, per 100 leavers; “out of the labor force” is split at age 55. Bottom bar: the 24 who leave the labor force before 55, rescaled to sum to their total. Mothers are women with an own child in the household, split by the age of the youngest; “baby born that year” is an own child aged 0. Source: author’s calculations from March CPS supplements.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38912"/>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10. The Routes out of Teaching, 2002-2024</a:t>
            </a:r>
            <a:endParaRPr lang="en-US" sz="2100" dirty="0"/>
          </a:p>
        </p:txBody>
      </p:sp>
      <p:pic>
        <p:nvPicPr>
          <p:cNvPr id="3" name="Image 0" descr="figs_png/g3_flow100.png"/>
          <p:cNvPicPr>
            <a:picLocks noChangeAspect="1"/>
          </p:cNvPicPr>
          <p:nvPr/>
        </p:nvPicPr>
        <p:blipFill>
          <a:blip r:embed="rId2"/>
          <a:stretch>
            <a:fillRect/>
          </a:stretch>
        </p:blipFill>
        <p:spPr>
          <a:xfrm>
            <a:off x="899307" y="944668"/>
            <a:ext cx="10390339" cy="4562008"/>
          </a:xfrm>
          <a:prstGeom prst="rect">
            <a:avLst/>
          </a:prstGeom>
        </p:spPr>
      </p:pic>
      <p:sp>
        <p:nvSpPr>
          <p:cNvPr id="5" name="Text 1"/>
          <p:cNvSpPr/>
          <p:nvPr/>
        </p:nvSpPr>
        <p:spPr>
          <a:xfrm>
            <a:off x="1751162" y="5824728"/>
            <a:ext cx="9161253"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Labor force status of college-graduate leavers at the March interview after the teaching year, per 100 leavers (each bar sums to 100), pooled over the teaching years shown; “out of the labor force” is split at age 55. Source: author’s calculations from March CPS supplements.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11. Leaving Teaching by Age and Route</a:t>
            </a:r>
            <a:endParaRPr lang="en-US" sz="2100" dirty="0"/>
          </a:p>
        </p:txBody>
      </p:sp>
      <p:pic>
        <p:nvPicPr>
          <p:cNvPr id="3" name="Image 0" descr="figs_png/g4_routes_age.png"/>
          <p:cNvPicPr>
            <a:picLocks noChangeAspect="1"/>
          </p:cNvPicPr>
          <p:nvPr/>
        </p:nvPicPr>
        <p:blipFill>
          <a:blip r:embed="rId3"/>
          <a:stretch>
            <a:fillRect/>
          </a:stretch>
        </p:blipFill>
        <p:spPr>
          <a:xfrm>
            <a:off x="1497439" y="804672"/>
            <a:ext cx="9194074" cy="4709160"/>
          </a:xfrm>
          <a:prstGeom prst="rect">
            <a:avLst/>
          </a:prstGeom>
        </p:spPr>
      </p:pic>
      <p:sp>
        <p:nvSpPr>
          <p:cNvPr id="5" name="Text 1"/>
          <p:cNvSpPr/>
          <p:nvPr/>
        </p:nvSpPr>
        <p:spPr>
          <a:xfrm>
            <a:off x="1915064" y="5614416"/>
            <a:ext cx="8850702"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College-graduate teachers pooled over calendar 2015–2024, ASEC weights; ten age groups. The black line is the total leaving rate; stacked areas decompose it into exits to another job, unemployment, and out of the labor force. Source: author’s calculations from March CPS supplements.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3" name="Image 0" descr="figs_png/g6_ame.png"/>
          <p:cNvPicPr>
            <a:picLocks noChangeAspect="1"/>
          </p:cNvPicPr>
          <p:nvPr/>
        </p:nvPicPr>
        <p:blipFill>
          <a:blip r:embed="rId2"/>
          <a:srcRect b="21859"/>
          <a:stretch>
            <a:fillRect/>
          </a:stretch>
        </p:blipFill>
        <p:spPr>
          <a:xfrm>
            <a:off x="900830" y="1970017"/>
            <a:ext cx="10390339" cy="2751971"/>
          </a:xfrm>
          <a:prstGeom prst="rect">
            <a:avLst/>
          </a:prstGeom>
        </p:spPr>
      </p:pic>
      <p:sp>
        <p:nvSpPr>
          <p:cNvPr id="2" name="Text 0"/>
          <p:cNvSpPr/>
          <p:nvPr/>
        </p:nvSpPr>
        <p:spPr>
          <a:xfrm>
            <a:off x="1316782" y="1330190"/>
            <a:ext cx="8766637" cy="502920"/>
          </a:xfrm>
          <a:prstGeom prst="rect">
            <a:avLst/>
          </a:prstGeom>
          <a:noFill/>
          <a:ln/>
        </p:spPr>
        <p:txBody>
          <a:bodyPr wrap="square" lIns="0" tIns="0" rIns="0" bIns="0" rtlCol="0" anchor="ctr"/>
          <a:lstStyle/>
          <a:p>
            <a:r>
              <a:rPr lang="en-US" sz="1900" dirty="0">
                <a:solidFill>
                  <a:srgbClr val="1A2430"/>
                </a:solidFill>
                <a:latin typeface="Garamond" pitchFamily="34" charset="0"/>
                <a:ea typeface="Garamond" pitchFamily="34" charset="-122"/>
                <a:cs typeface="Garamond" pitchFamily="34" charset="-120"/>
              </a:rPr>
              <a:t>I estimate the probability of leaving given the observed characteristics using a probit :</a:t>
            </a:r>
            <a:endParaRPr lang="en-US" sz="1900" dirty="0"/>
          </a:p>
        </p:txBody>
      </p:sp>
      <p:sp>
        <p:nvSpPr>
          <p:cNvPr id="5" name="Text 1"/>
          <p:cNvSpPr/>
          <p:nvPr/>
        </p:nvSpPr>
        <p:spPr>
          <a:xfrm>
            <a:off x="2452460" y="6063077"/>
            <a:ext cx="8151963" cy="1097280"/>
          </a:xfrm>
          <a:prstGeom prst="rect">
            <a:avLst/>
          </a:prstGeom>
          <a:noFill/>
          <a:ln/>
        </p:spPr>
        <p:txBody>
          <a:bodyPr wrap="square" lIns="0" tIns="0" rIns="0" bIns="0" rtlCol="0" anchor="t"/>
          <a:lstStyle/>
          <a:p>
            <a:pPr marL="0" indent="0" algn="just">
              <a:buNone/>
            </a:pP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3" name="Image 0" descr="figs_png/g6_ame.png"/>
          <p:cNvPicPr>
            <a:picLocks noChangeAspect="1"/>
          </p:cNvPicPr>
          <p:nvPr/>
        </p:nvPicPr>
        <p:blipFill>
          <a:blip r:embed="rId3"/>
          <a:stretch>
            <a:fillRect/>
          </a:stretch>
        </p:blipFill>
        <p:spPr>
          <a:xfrm>
            <a:off x="2614345" y="631906"/>
            <a:ext cx="6963309" cy="4961357"/>
          </a:xfrm>
          <a:prstGeom prst="rect">
            <a:avLst/>
          </a:prstGeom>
        </p:spPr>
      </p:pic>
      <p:sp>
        <p:nvSpPr>
          <p:cNvPr id="2" name="Text 0"/>
          <p:cNvSpPr/>
          <p:nvPr/>
        </p:nvSpPr>
        <p:spPr>
          <a:xfrm>
            <a:off x="458724" y="128986"/>
            <a:ext cx="11274552" cy="502920"/>
          </a:xfrm>
          <a:prstGeom prst="rect">
            <a:avLst/>
          </a:prstGeom>
          <a:noFill/>
          <a:ln/>
        </p:spPr>
        <p:txBody>
          <a:bodyPr wrap="square" lIns="0" tIns="0" rIns="0" bIns="0" rtlCol="0" anchor="ctr"/>
          <a:lstStyle/>
          <a:p>
            <a:pPr marL="0" indent="0" algn="ctr">
              <a:buNone/>
            </a:pPr>
            <a:r>
              <a:rPr lang="en-US" sz="2000" dirty="0">
                <a:solidFill>
                  <a:srgbClr val="1A2430"/>
                </a:solidFill>
                <a:latin typeface="Garamond" pitchFamily="34" charset="0"/>
                <a:ea typeface="Garamond" pitchFamily="34" charset="-122"/>
                <a:cs typeface="Garamond" pitchFamily="34" charset="-120"/>
              </a:rPr>
              <a:t>Figure 12. Average Marginal Effects on the Probability of Leaving Teaching</a:t>
            </a:r>
            <a:endParaRPr lang="en-US" sz="2000" dirty="0"/>
          </a:p>
        </p:txBody>
      </p:sp>
      <p:sp>
        <p:nvSpPr>
          <p:cNvPr id="5" name="Text 1"/>
          <p:cNvSpPr/>
          <p:nvPr/>
        </p:nvSpPr>
        <p:spPr>
          <a:xfrm>
            <a:off x="2336846" y="5736858"/>
            <a:ext cx="8151963" cy="1097280"/>
          </a:xfrm>
          <a:prstGeom prst="rect">
            <a:avLst/>
          </a:prstGeom>
          <a:noFill/>
          <a:ln/>
        </p:spPr>
        <p:txBody>
          <a:bodyPr wrap="square" lIns="0" tIns="0" rIns="0" bIns="0" rtlCol="0" anchor="t"/>
          <a:lstStyle/>
          <a:p>
            <a:pPr marL="0" indent="0" algn="just">
              <a:buNone/>
            </a:pPr>
            <a:r>
              <a:rPr lang="en-US" sz="1100" dirty="0">
                <a:solidFill>
                  <a:srgbClr val="5A6572"/>
                </a:solidFill>
                <a:latin typeface="Garamond" pitchFamily="34" charset="0"/>
                <a:ea typeface="Garamond" pitchFamily="34" charset="-122"/>
                <a:cs typeface="Garamond" pitchFamily="34" charset="-120"/>
              </a:rPr>
              <a:t>Notes: Average marginal effects (percentage points) on the probability of leaving teaching, from a probit on college-graduate teachers pooled over calendar 2015–2024 with year effects; whiskers are 95 percent confidence intervals; filled markers are significant at 5 percent. Age enters the model as a quadratic and its profile is shown in the next figure. “Worked full year” is 50+ weeks at the last-year job; “part-time” is under 35 weekly hours. n = 28,900. Source: author’s calculations from March CPS supplements. The regression have an n= 28,932</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59357"/>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13. The Age Profile of Leaving Teaching</a:t>
            </a:r>
            <a:endParaRPr lang="en-US" sz="2100" dirty="0"/>
          </a:p>
        </p:txBody>
      </p:sp>
      <p:pic>
        <p:nvPicPr>
          <p:cNvPr id="3" name="Image 0" descr="figs_png/n5b_states_trio.png"/>
          <p:cNvPicPr>
            <a:picLocks noChangeAspect="1"/>
          </p:cNvPicPr>
          <p:nvPr/>
        </p:nvPicPr>
        <p:blipFill>
          <a:blip r:embed="rId3"/>
          <a:stretch>
            <a:fillRect/>
          </a:stretch>
        </p:blipFill>
        <p:spPr>
          <a:xfrm>
            <a:off x="899306" y="1350000"/>
            <a:ext cx="10390339" cy="3463446"/>
          </a:xfrm>
          <a:prstGeom prst="rect">
            <a:avLst/>
          </a:prstGeom>
        </p:spPr>
      </p:pic>
      <p:sp>
        <p:nvSpPr>
          <p:cNvPr id="5" name="Text 1"/>
          <p:cNvSpPr/>
          <p:nvPr/>
        </p:nvSpPr>
        <p:spPr>
          <a:xfrm>
            <a:off x="1095555" y="5179841"/>
            <a:ext cx="10194091"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Each panel is the predicted probability by age from a separate probit on college-graduate teachers pooled over calendar 2015–2024 (age entered as a quadratic, other covariates at sample means, year effects). Left: leaving teaching by any route; center: moving to another occupation; right: leaving the labor force. Exits to unemployment are the residual route and are not shown, so the two right panels do not sum exactly to the left one. Shaded bands: 95 percent confidence intervals by the delta method. Source: author’s calculations from March CPS supplements.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5457" y="233605"/>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14. The Effect of a New Baby on Leaving, by Profession</a:t>
            </a:r>
            <a:endParaRPr lang="en-US" sz="2100" dirty="0"/>
          </a:p>
        </p:txBody>
      </p:sp>
      <p:pic>
        <p:nvPicPr>
          <p:cNvPr id="3" name="Image 0" descr="figs_png/g8_newbaby.png"/>
          <p:cNvPicPr>
            <a:picLocks noChangeAspect="1"/>
          </p:cNvPicPr>
          <p:nvPr/>
        </p:nvPicPr>
        <p:blipFill>
          <a:blip r:embed="rId3"/>
          <a:stretch>
            <a:fillRect/>
          </a:stretch>
        </p:blipFill>
        <p:spPr>
          <a:xfrm>
            <a:off x="2024799" y="920353"/>
            <a:ext cx="8335868" cy="4822856"/>
          </a:xfrm>
          <a:prstGeom prst="rect">
            <a:avLst/>
          </a:prstGeom>
        </p:spPr>
      </p:pic>
      <p:sp>
        <p:nvSpPr>
          <p:cNvPr id="5" name="Text 1"/>
          <p:cNvSpPr/>
          <p:nvPr/>
        </p:nvSpPr>
        <p:spPr>
          <a:xfrm>
            <a:off x="2320505" y="5823520"/>
            <a:ext cx="8635042"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Average marginal effect of a new baby (own child aged 0 in the household) on the probability that a woman leaves each profession, from profession-specific probits with age, age squared, marital status, education, and year effects; whiskers are 95 percent confidence intervals. Solid bars are significant at 5 percent; light bars are not. Samples pool 2010–2024. Source: author’s calculations from March CPS supplements.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0916" y="367486"/>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15. Leaving Teaching and the Unemployment Rate, 1997–2024</a:t>
            </a:r>
            <a:endParaRPr lang="en-US" sz="2100" dirty="0"/>
          </a:p>
        </p:txBody>
      </p:sp>
      <p:pic>
        <p:nvPicPr>
          <p:cNvPr id="3" name="Image 0" descr="figs_png/n5_cyclicality.png"/>
          <p:cNvPicPr>
            <a:picLocks noChangeAspect="1"/>
          </p:cNvPicPr>
          <p:nvPr/>
        </p:nvPicPr>
        <p:blipFill>
          <a:blip r:embed="rId3"/>
          <a:stretch>
            <a:fillRect/>
          </a:stretch>
        </p:blipFill>
        <p:spPr>
          <a:xfrm>
            <a:off x="470916" y="1072233"/>
            <a:ext cx="11247120" cy="4174039"/>
          </a:xfrm>
          <a:prstGeom prst="rect">
            <a:avLst/>
          </a:prstGeom>
        </p:spPr>
      </p:pic>
      <p:sp>
        <p:nvSpPr>
          <p:cNvPr id="5" name="Text 1"/>
          <p:cNvSpPr/>
          <p:nvPr/>
        </p:nvSpPr>
        <p:spPr>
          <a:xfrm>
            <a:off x="854015" y="5448099"/>
            <a:ext cx="10644824"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Left: the leaving series (annual, from calendar 2000) against the BLS national unemployment rate (annual average). Right: binned scatter (deciles of the unemployment rate in the survey month, March of t+1, when the exit is observed) of the two labor-market routes, with OLS fits on the underlying annual data; correlations are −0.16 (to another job) and +0.29 (out of the labor force). Unemployment: BLS via FRED (UNRATE). Source: author’s calculations from March CPS supplements.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16. State-Level Cyclicality of Leaving Across the States</a:t>
            </a:r>
            <a:endParaRPr lang="en-US" sz="2100" dirty="0"/>
          </a:p>
        </p:txBody>
      </p:sp>
      <p:pic>
        <p:nvPicPr>
          <p:cNvPr id="3" name="Image 0" descr="figs_png/n5b_states_trio.png"/>
          <p:cNvPicPr>
            <a:picLocks noChangeAspect="1"/>
          </p:cNvPicPr>
          <p:nvPr/>
        </p:nvPicPr>
        <p:blipFill>
          <a:blip r:embed="rId2"/>
          <a:stretch>
            <a:fillRect/>
          </a:stretch>
        </p:blipFill>
        <p:spPr>
          <a:xfrm>
            <a:off x="899307" y="879466"/>
            <a:ext cx="10390339" cy="4692411"/>
          </a:xfrm>
          <a:prstGeom prst="rect">
            <a:avLst/>
          </a:prstGeom>
        </p:spPr>
      </p:pic>
      <p:sp>
        <p:nvSpPr>
          <p:cNvPr id="5" name="Text 1"/>
          <p:cNvSpPr/>
          <p:nvPr/>
        </p:nvSpPr>
        <p:spPr>
          <a:xfrm>
            <a:off x="1417833" y="5643605"/>
            <a:ext cx="9727974"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Slope of a weighted linear probability model of leaving on the state unemployment rate in the survey month, estimated separately by state on all years 1997–2024; whiskers are 95 percent intervals, heteroskedasticity-robust; bold and colored: significant at 5 percent. States with fewer than 400 teacher observations are excluded (North Dakota). Source: Author’s calculations from March CPS supplements and BLS LAUS.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8698"/>
            <a:ext cx="11274552" cy="502920"/>
          </a:xfrm>
          <a:prstGeom prst="rect">
            <a:avLst/>
          </a:prstGeom>
          <a:noFill/>
          <a:ln/>
        </p:spPr>
        <p:txBody>
          <a:bodyPr wrap="square" lIns="0" tIns="0" rIns="0" bIns="0" rtlCol="0" anchor="ctr"/>
          <a:lstStyle/>
          <a:p>
            <a:pPr algn="ctr"/>
            <a:r>
              <a:rPr lang="en-US" sz="2100" dirty="0">
                <a:solidFill>
                  <a:srgbClr val="1A2430"/>
                </a:solidFill>
                <a:latin typeface="Garamond" pitchFamily="34" charset="0"/>
                <a:ea typeface="Garamond" pitchFamily="34" charset="-122"/>
                <a:cs typeface="Garamond" pitchFamily="34" charset="-120"/>
              </a:rPr>
              <a:t>Figure 17. Real Earnings Growth by Profession since 1997</a:t>
            </a:r>
            <a:endParaRPr lang="en-US" sz="2100" dirty="0"/>
          </a:p>
        </p:txBody>
      </p:sp>
      <p:sp>
        <p:nvSpPr>
          <p:cNvPr id="5" name="Text 1"/>
          <p:cNvSpPr/>
          <p:nvPr/>
        </p:nvSpPr>
        <p:spPr>
          <a:xfrm>
            <a:off x="1089062" y="5502536"/>
            <a:ext cx="9596384"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Weighted median annual wage and salary earnings of full-time, full-year college graduates aged 25–60, in each profession and overall, deflated to 2024 dollars with the CPI-U; the two windows pool survey years 2004–2014 and 2015–2025. Filled dots (with values): recent window. Source: author’s calculations from March CPS supplements; CPI: BLS via FRED.</a:t>
            </a:r>
            <a:endParaRPr lang="en-US" sz="1200" dirty="0"/>
          </a:p>
        </p:txBody>
      </p:sp>
      <p:pic>
        <p:nvPicPr>
          <p:cNvPr id="13" name="Image 0" descr="figs_png/n6b_pay_windows.png">
            <a:extLst>
              <a:ext uri="{FF2B5EF4-FFF2-40B4-BE49-F238E27FC236}">
                <a16:creationId xmlns:a16="http://schemas.microsoft.com/office/drawing/2014/main" id="{63918AC2-E7FC-4BD2-1BEE-2726C075B09E}"/>
              </a:ext>
            </a:extLst>
          </p:cNvPr>
          <p:cNvPicPr>
            <a:picLocks noChangeAspect="1"/>
          </p:cNvPicPr>
          <p:nvPr/>
        </p:nvPicPr>
        <p:blipFill>
          <a:blip r:embed="rId3"/>
          <a:stretch>
            <a:fillRect/>
          </a:stretch>
        </p:blipFill>
        <p:spPr>
          <a:xfrm>
            <a:off x="695383" y="806823"/>
            <a:ext cx="10801234" cy="44531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8724"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18. Pay Compression: Teachers and Comparable Professions</a:t>
            </a:r>
            <a:endParaRPr lang="en-US" sz="2100" dirty="0"/>
          </a:p>
        </p:txBody>
      </p:sp>
      <p:sp>
        <p:nvSpPr>
          <p:cNvPr id="5" name="Text 1"/>
          <p:cNvSpPr/>
          <p:nvPr/>
        </p:nvSpPr>
        <p:spPr>
          <a:xfrm>
            <a:off x="2233342" y="5614725"/>
            <a:ext cx="8209052"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10th percentile, median and 90th percentile of annual wage and salary earnings, full-time full-year workers with positive earnings, pooled over 2015–2024, in $1,000 of 2024 (CPI-U), ASEC weights. Registered nurses matched across the 2010 and 2018 occupation classifications. Source: author’s calculations from March CPS supplements.</a:t>
            </a:r>
            <a:endParaRPr lang="en-US" sz="1200" dirty="0"/>
          </a:p>
        </p:txBody>
      </p:sp>
      <p:pic>
        <p:nvPicPr>
          <p:cNvPr id="6" name="Picture 5">
            <a:extLst>
              <a:ext uri="{FF2B5EF4-FFF2-40B4-BE49-F238E27FC236}">
                <a16:creationId xmlns:a16="http://schemas.microsoft.com/office/drawing/2014/main" id="{D5F9119C-C7FE-D7BA-BF69-64788E8B0B82}"/>
              </a:ext>
            </a:extLst>
          </p:cNvPr>
          <p:cNvPicPr>
            <a:picLocks noChangeAspect="1"/>
          </p:cNvPicPr>
          <p:nvPr/>
        </p:nvPicPr>
        <p:blipFill>
          <a:blip r:embed="rId2"/>
          <a:stretch>
            <a:fillRect/>
          </a:stretch>
        </p:blipFill>
        <p:spPr>
          <a:xfrm>
            <a:off x="1453692" y="981777"/>
            <a:ext cx="9284616" cy="4431294"/>
          </a:xfrm>
          <a:prstGeom prst="rect">
            <a:avLst/>
          </a:prstGeom>
        </p:spPr>
      </p:pic>
      <p:pic>
        <p:nvPicPr>
          <p:cNvPr id="8" name="Image 0" descr="figs_png/g5b_earnings_density.png">
            <a:extLst>
              <a:ext uri="{FF2B5EF4-FFF2-40B4-BE49-F238E27FC236}">
                <a16:creationId xmlns:a16="http://schemas.microsoft.com/office/drawing/2014/main" id="{03C890BE-8626-7D30-C84A-ECD16D7811BF}"/>
              </a:ext>
            </a:extLst>
          </p:cNvPr>
          <p:cNvPicPr>
            <a:picLocks noChangeAspect="1"/>
          </p:cNvPicPr>
          <p:nvPr/>
        </p:nvPicPr>
        <p:blipFill>
          <a:blip r:embed="rId3"/>
          <a:stretch>
            <a:fillRect/>
          </a:stretch>
        </p:blipFill>
        <p:spPr>
          <a:xfrm>
            <a:off x="1565917" y="704088"/>
            <a:ext cx="8876477" cy="494258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8724" y="30695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19. Who Leaves: the Leaving Rate by Position in the Teacher Pay Distribution</a:t>
            </a:r>
            <a:endParaRPr lang="en-US" sz="2100" dirty="0"/>
          </a:p>
        </p:txBody>
      </p:sp>
      <p:sp>
        <p:nvSpPr>
          <p:cNvPr id="5" name="Text 1"/>
          <p:cNvSpPr/>
          <p:nvPr/>
        </p:nvSpPr>
        <p:spPr>
          <a:xfrm>
            <a:off x="923026" y="5760720"/>
            <a:ext cx="10498347"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Annual leaving rate by within-year decile of annual wage and salary earnings among college-graduate teachers with positive earnings, pooled over teaching years 2015–2024, ASEC weights. The lowest deciles are dominated by part-year and part-time teaching jobs, so the gradient reflects job attachment as well as pay. Source: author’s calculations from March CPS supplements.</a:t>
            </a:r>
            <a:endParaRPr lang="en-US" sz="1200" dirty="0"/>
          </a:p>
        </p:txBody>
      </p:sp>
      <p:pic>
        <p:nvPicPr>
          <p:cNvPr id="6" name="Image 0" descr="figs_png/g5b_earnings_density.png">
            <a:extLst>
              <a:ext uri="{FF2B5EF4-FFF2-40B4-BE49-F238E27FC236}">
                <a16:creationId xmlns:a16="http://schemas.microsoft.com/office/drawing/2014/main" id="{83B6E2DD-8BCC-3384-F81E-EDC96D1C2238}"/>
              </a:ext>
            </a:extLst>
          </p:cNvPr>
          <p:cNvPicPr>
            <a:picLocks noChangeAspect="1"/>
          </p:cNvPicPr>
          <p:nvPr/>
        </p:nvPicPr>
        <p:blipFill>
          <a:blip r:embed="rId2"/>
          <a:stretch>
            <a:fillRect/>
          </a:stretch>
        </p:blipFill>
        <p:spPr>
          <a:xfrm>
            <a:off x="1105905" y="915128"/>
            <a:ext cx="9684000" cy="4842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3" name="Image 0" descr="figs_png/g5b_earnings_density.png"/>
          <p:cNvPicPr>
            <a:picLocks noChangeAspect="1"/>
          </p:cNvPicPr>
          <p:nvPr/>
        </p:nvPicPr>
        <p:blipFill>
          <a:blip r:embed="rId2"/>
          <a:stretch>
            <a:fillRect/>
          </a:stretch>
        </p:blipFill>
        <p:spPr>
          <a:xfrm>
            <a:off x="1252476" y="804672"/>
            <a:ext cx="9684000" cy="4842000"/>
          </a:xfrm>
          <a:prstGeom prst="rect">
            <a:avLst/>
          </a:prstGeom>
        </p:spPr>
      </p:pic>
      <p:sp>
        <p:nvSpPr>
          <p:cNvPr id="2" name="Text 0"/>
          <p:cNvSpPr/>
          <p:nvPr/>
        </p:nvSpPr>
        <p:spPr>
          <a:xfrm>
            <a:off x="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20. The Earnings Change of Leaving, by Destination</a:t>
            </a:r>
            <a:endParaRPr lang="en-US" sz="2100" dirty="0"/>
          </a:p>
        </p:txBody>
      </p:sp>
      <p:sp>
        <p:nvSpPr>
          <p:cNvPr id="5" name="Text 1"/>
          <p:cNvSpPr/>
          <p:nvPr/>
        </p:nvSpPr>
        <p:spPr>
          <a:xfrm>
            <a:off x="923026" y="5568869"/>
            <a:ext cx="10498347"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Median change in log annual earnings (×100) between the teaching year and the next, for teachers linked across consecutive March supplements (2011–2025) with consistent sex and age; positive earnings required in both years, so exits to nonemployment are excluded. Destination groups as in Figure 9. Source: author’s calculations from March CPS supplements.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3" name="Image 0" descr="figs_png/g5b_earnings_density.png"/>
          <p:cNvPicPr>
            <a:picLocks noChangeAspect="1"/>
          </p:cNvPicPr>
          <p:nvPr/>
        </p:nvPicPr>
        <p:blipFill>
          <a:blip r:embed="rId3"/>
          <a:stretch>
            <a:fillRect/>
          </a:stretch>
        </p:blipFill>
        <p:spPr>
          <a:xfrm>
            <a:off x="848265" y="187538"/>
            <a:ext cx="10181181" cy="5321981"/>
          </a:xfrm>
          <a:prstGeom prst="rect">
            <a:avLst/>
          </a:prstGeom>
        </p:spPr>
      </p:pic>
      <p:sp>
        <p:nvSpPr>
          <p:cNvPr id="2" name="Text 0"/>
          <p:cNvSpPr/>
          <p:nvPr/>
        </p:nvSpPr>
        <p:spPr>
          <a:xfrm>
            <a:off x="0"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21. The Distribution of Earnings Changes: Stayers and Leavers</a:t>
            </a:r>
            <a:endParaRPr lang="en-US" sz="2100" dirty="0"/>
          </a:p>
        </p:txBody>
      </p:sp>
      <p:sp>
        <p:nvSpPr>
          <p:cNvPr id="5" name="Text 1"/>
          <p:cNvSpPr/>
          <p:nvPr/>
        </p:nvSpPr>
        <p:spPr>
          <a:xfrm>
            <a:off x="923026" y="5568869"/>
            <a:ext cx="10498347"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Kernel densities of the person-level change in annual wage and salary earnings (log points ×100) between the teaching year and the next, for teachers linked across consecutive supplements (rotation-group links, survey years 2011–2025; identity validated on sex and age). Navy: stayers (12,195 links; median +3). Red: leavers employed the following year (225 links; median +15). “Lose big”/“win big” denote changes beyond ±30 log points. The sample conditions on positive earnings in both years; 47 percent of all leavers report zero earnings the following year. Bandwidth 0.25. Source: author’s calculations from March CPS supplements.</a:t>
            </a:r>
            <a:endParaRPr lang="en-US" sz="1200" dirty="0"/>
          </a:p>
        </p:txBody>
      </p:sp>
      <p:sp>
        <p:nvSpPr>
          <p:cNvPr id="4" name="Rectangle 3">
            <a:extLst>
              <a:ext uri="{FF2B5EF4-FFF2-40B4-BE49-F238E27FC236}">
                <a16:creationId xmlns:a16="http://schemas.microsoft.com/office/drawing/2014/main" id="{BD4889E9-98D0-31D1-1761-7E69B910B175}"/>
              </a:ext>
            </a:extLst>
          </p:cNvPr>
          <p:cNvSpPr/>
          <p:nvPr/>
        </p:nvSpPr>
        <p:spPr>
          <a:xfrm>
            <a:off x="1915064" y="3446253"/>
            <a:ext cx="1621766" cy="6124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F9BE3BE-23B0-BB07-863B-D1F2762568AC}"/>
              </a:ext>
            </a:extLst>
          </p:cNvPr>
          <p:cNvSpPr/>
          <p:nvPr/>
        </p:nvSpPr>
        <p:spPr>
          <a:xfrm>
            <a:off x="8460558" y="3752491"/>
            <a:ext cx="1621766" cy="6124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figs_png/g5b_earnings_density.png"/>
          <p:cNvPicPr>
            <a:picLocks noChangeAspect="1"/>
          </p:cNvPicPr>
          <p:nvPr/>
        </p:nvPicPr>
        <p:blipFill>
          <a:blip r:embed="rId2"/>
          <a:stretch>
            <a:fillRect/>
          </a:stretch>
        </p:blipFill>
        <p:spPr>
          <a:xfrm>
            <a:off x="1994081" y="692054"/>
            <a:ext cx="8203838" cy="4950591"/>
          </a:xfrm>
          <a:prstGeom prst="rect">
            <a:avLst/>
          </a:prstGeom>
        </p:spPr>
      </p:pic>
      <p:sp>
        <p:nvSpPr>
          <p:cNvPr id="2" name="Text 0"/>
          <p:cNvSpPr/>
          <p:nvPr/>
        </p:nvSpPr>
        <p:spPr>
          <a:xfrm>
            <a:off x="301214" y="201168"/>
            <a:ext cx="11274552" cy="502920"/>
          </a:xfrm>
          <a:prstGeom prst="rect">
            <a:avLst/>
          </a:prstGeom>
          <a:noFill/>
          <a:ln/>
        </p:spPr>
        <p:txBody>
          <a:bodyPr wrap="square" lIns="0" tIns="0" rIns="0" bIns="0" rtlCol="0" anchor="ctr"/>
          <a:lstStyle/>
          <a:p>
            <a:pPr marL="0" indent="0" algn="ctr">
              <a:buNone/>
            </a:pPr>
            <a:r>
              <a:rPr lang="en-US" sz="2100" dirty="0">
                <a:solidFill>
                  <a:srgbClr val="1A2430"/>
                </a:solidFill>
                <a:latin typeface="Garamond" pitchFamily="34" charset="0"/>
                <a:ea typeface="Garamond" pitchFamily="34" charset="-122"/>
                <a:cs typeface="Garamond" pitchFamily="34" charset="-120"/>
              </a:rPr>
              <a:t>Figure 22. Pension Coverage and Leaving Teaching Across States</a:t>
            </a:r>
            <a:endParaRPr lang="en-US" sz="2100" dirty="0"/>
          </a:p>
        </p:txBody>
      </p:sp>
      <p:sp>
        <p:nvSpPr>
          <p:cNvPr id="5" name="Text 1"/>
          <p:cNvSpPr/>
          <p:nvPr/>
        </p:nvSpPr>
        <p:spPr>
          <a:xfrm>
            <a:off x="1439931" y="5760720"/>
            <a:ext cx="9834621" cy="1097280"/>
          </a:xfrm>
          <a:prstGeom prst="rect">
            <a:avLst/>
          </a:prstGeom>
          <a:noFill/>
          <a:ln/>
        </p:spPr>
        <p:txBody>
          <a:bodyPr wrap="square" lIns="0" tIns="0" rIns="0" bIns="0" rtlCol="0" anchor="t"/>
          <a:lstStyle/>
          <a:p>
            <a:pPr marL="0" indent="0" algn="just">
              <a:buNone/>
            </a:pPr>
            <a:r>
              <a:rPr lang="en-US" sz="1200" dirty="0">
                <a:solidFill>
                  <a:srgbClr val="5A6572"/>
                </a:solidFill>
                <a:latin typeface="Garamond" pitchFamily="34" charset="0"/>
                <a:ea typeface="Garamond" pitchFamily="34" charset="-122"/>
                <a:cs typeface="Garamond" pitchFamily="34" charset="-120"/>
              </a:rPr>
              <a:t>Notes: Each point is a state (plus DC), 1997–2024 means: horizontal axis, share of college-graduate teachers whose teaching-year job included a pension plan; vertical axis, annual leaving rate of teachers under 55, which strips most retirements. OLS fit: −0.21 pp per point of coverage, r = −0.47 (p &lt; 0.001). A cross-sectional correlation, not a causal estimate; coverage also proxies for public-sector share and contract quality. Source: author’s calculations from March CPS supplements.</a:t>
            </a:r>
            <a:endParaRPr lang="en-US" sz="12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_d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_cp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_sen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_d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_d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_d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_d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_d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_countri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8629</TotalTime>
  <Words>2550</Words>
  <Application>Microsoft Office PowerPoint</Application>
  <PresentationFormat>Widescreen</PresentationFormat>
  <Paragraphs>134</Paragraphs>
  <Slides>27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Arial</vt:lpstr>
      <vt:lpstr>Arial Narrow</vt:lpstr>
      <vt:lpstr>Calibri</vt:lpstr>
      <vt:lpstr>Garamond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DURÁN ROA José Elías, EDU/IMEP</cp:lastModifiedBy>
  <cp:revision>4</cp:revision>
  <dcterms:created xsi:type="dcterms:W3CDTF">2026-07-21T10:23:55Z</dcterms:created>
  <dcterms:modified xsi:type="dcterms:W3CDTF">2026-09-28T08:51:22Z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Unclassified - Non classifié</vt:lpwstr>
  </property>
  <property fmtid="{D5CDD505-2E9C-101B-9397-08002B2CF9AE}" pid="4" name="MSIP_Label_0b2d0c28-e13a-4801-bbf0-29bdaa81743b_Enabled">
    <vt:lpwstr>true</vt:lpwstr>
  </property>
  <property fmtid="{D5CDD505-2E9C-101B-9397-08002B2CF9AE}" pid="5" name="MSIP_Label_0b2d0c28-e13a-4801-bbf0-29bdaa81743b_SetDate">
    <vt:lpwstr>2026-09-22T08:56:21Z</vt:lpwstr>
  </property>
  <property fmtid="{D5CDD505-2E9C-101B-9397-08002B2CF9AE}" pid="6" name="MSIP_Label_0b2d0c28-e13a-4801-bbf0-29bdaa81743b_Method">
    <vt:lpwstr>Privileged</vt:lpwstr>
  </property>
  <property fmtid="{D5CDD505-2E9C-101B-9397-08002B2CF9AE}" pid="7" name="MSIP_Label_0b2d0c28-e13a-4801-bbf0-29bdaa81743b_Name">
    <vt:lpwstr>Unclassified</vt:lpwstr>
  </property>
  <property fmtid="{D5CDD505-2E9C-101B-9397-08002B2CF9AE}" pid="8" name="MSIP_Label_0b2d0c28-e13a-4801-bbf0-29bdaa81743b_SiteId">
    <vt:lpwstr>ac41c7d4-1f61-460d-b0f4-fc925a2b471c</vt:lpwstr>
  </property>
  <property fmtid="{D5CDD505-2E9C-101B-9397-08002B2CF9AE}" pid="9" name="MSIP_Label_0b2d0c28-e13a-4801-bbf0-29bdaa81743b_ActionId">
    <vt:lpwstr>4c6bc5a9-1163-462c-af5f-44b70f277276</vt:lpwstr>
  </property>
  <property fmtid="{D5CDD505-2E9C-101B-9397-08002B2CF9AE}" pid="10" name="MSIP_Label_0b2d0c28-e13a-4801-bbf0-29bdaa81743b_ContentBits">
    <vt:lpwstr>0</vt:lpwstr>
  </property>
</Properties>
</file>