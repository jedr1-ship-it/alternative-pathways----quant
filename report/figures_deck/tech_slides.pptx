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Who Counts as a Teacher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481328"/>
            <a:ext cx="10817352" cy="0"/>
          </a:xfrm>
          <a:prstGeom prst="line">
            <a:avLst/>
          </a:prstGeom>
          <a:noFill/>
          <a:ln w="17780">
            <a:solidFill>
              <a:srgbClr val="1A2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59105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Surveys 1998–2002</a:t>
            </a:r>
            <a:endParaRPr lang="en-US" sz="1400" dirty="0"/>
          </a:p>
          <a:p>
            <a:pPr algn="l" indent="0" marL="0">
              <a:buNone/>
            </a:pPr>
            <a:r>
              <a:rPr lang="en-US" sz="1050" i="1" dirty="0">
                <a:solidFill>
                  <a:srgbClr val="6B748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1990 Census classification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53712" y="159105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Surveys 2003–2019</a:t>
            </a:r>
            <a:endParaRPr lang="en-US" sz="1400" dirty="0"/>
          </a:p>
          <a:p>
            <a:pPr algn="l" indent="0" marL="0">
              <a:buNone/>
            </a:pPr>
            <a:r>
              <a:rPr lang="en-US" sz="1050" i="1" dirty="0">
                <a:solidFill>
                  <a:srgbClr val="6B748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2002/2010 Census classification (SOC)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21624" y="159105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Surveys 2020–2025</a:t>
            </a:r>
            <a:endParaRPr lang="en-US" sz="1400" dirty="0"/>
          </a:p>
          <a:p>
            <a:pPr algn="l" indent="0" marL="0">
              <a:buNone/>
            </a:pPr>
            <a:r>
              <a:rPr lang="en-US" sz="1050" i="1" dirty="0">
                <a:solidFill>
                  <a:srgbClr val="6B748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2018 Census classification (SOC 2018)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267712"/>
            <a:ext cx="10817352" cy="0"/>
          </a:xfrm>
          <a:prstGeom prst="line">
            <a:avLst/>
          </a:prstGeom>
          <a:noFill/>
          <a:ln w="9525">
            <a:solidFill>
              <a:srgbClr val="1A2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395728"/>
            <a:ext cx="38221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549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155   </a:t>
            </a:r>
            <a:pPr algn="l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Teachers, prekindergarten and kindergarten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00549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156   </a:t>
            </a:r>
            <a:pPr algn="l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Teachers, elementary school†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00549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157   </a:t>
            </a:r>
            <a:pPr algn="l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Teachers, secondary school†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00549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158   </a:t>
            </a:r>
            <a:pPr algn="l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Teachers, special education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00549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159   </a:t>
            </a:r>
            <a:pPr algn="l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Teachers, n.e.c. (not elsewhere classified)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53712" y="2395728"/>
            <a:ext cx="38221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549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2300   </a:t>
            </a:r>
            <a:pPr algn="l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Preschool and kindergarten teachers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00549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2310   </a:t>
            </a:r>
            <a:pPr algn="l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Elementary and middle school teachers†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00549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2320   </a:t>
            </a:r>
            <a:pPr algn="l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Secondary school teachers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00549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2330   </a:t>
            </a:r>
            <a:pPr algn="l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Special education teachers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00549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2340   </a:t>
            </a:r>
            <a:pPr algn="l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Other teachers and instructors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21624" y="2395728"/>
            <a:ext cx="38221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549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2300   </a:t>
            </a:r>
            <a:pPr algn="l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Preschool and kindergarten teachers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00549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2310   </a:t>
            </a:r>
            <a:pPr algn="l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Elementary and middle school teachers†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00549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2320   </a:t>
            </a:r>
            <a:pPr algn="l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Secondary school teachers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00549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2330   </a:t>
            </a:r>
            <a:pPr algn="l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Special education teachers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00549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2360   </a:t>
            </a:r>
            <a:pPr algn="l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Other teachers and instructors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4041648"/>
            <a:ext cx="10817352" cy="0"/>
          </a:xfrm>
          <a:prstGeom prst="line">
            <a:avLst/>
          </a:prstGeom>
          <a:noFill/>
          <a:ln w="17780">
            <a:solidFill>
              <a:srgbClr val="1A2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370832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Are the codes traceable across census years?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700016"/>
            <a:ext cx="108173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8A6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Yes  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as a block: the K–12 teaching group maps one-to-one across the three classifications — every figure uses the union of the codes, never a sub-code across regimes.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B5443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†  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sub-codes are not: middle-school teachers sit under elementary or secondary before 2003 and with elementary (2310) after; “other teachers” is renumbered 2340 → 2360 in 2020.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3A8A6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Yes  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within each survey: last year’s job (OCCUP) and the current job (PEIOOCC) share one classification, so no leaver/switch comparison straddles a code change (seams: 2003, 2020).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3A8A6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Yes  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for people, but only two years: the CPS links the same person across two consecutive March interviews (PERIDNUM), never longer.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How We Read the CPS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481328"/>
            <a:ext cx="10817352" cy="0"/>
          </a:xfrm>
          <a:prstGeom prst="line">
            <a:avLst/>
          </a:prstGeom>
          <a:noFill/>
          <a:ln w="17780">
            <a:solidFill>
              <a:srgbClr val="1A2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6276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549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Instrument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788920" y="1627632"/>
            <a:ext cx="8714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CPS March supplement (ASEC), 28 surveys pooled, 1998–2025 — 5,009,129 person-year records.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549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Teacher, year t–1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88920" y="2194560"/>
            <a:ext cx="8714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occupation of the longest job held last calendar year (OCCUP, the recall question) is a teaching code.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7614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549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Outcome, March 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88920" y="2761488"/>
            <a:ext cx="8714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read off the same record: still teaching (PEIOOCC), switched occupation, unemployed, or out of the labor force (A_LFSR).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332841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549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Why it works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88920" y="3328416"/>
            <a:ext cx="8714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recall question makes every March record a two-period panel on its own — the headline measure needs no matching at all.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38953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549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Sample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788920" y="3895344"/>
            <a:ext cx="8714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104,545 teacher-year observations; main sample (bachelor’s or higher, 18+): 85,497, with 6,931 observed exits.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44622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549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Extraction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788920" y="4462272"/>
            <a:ext cx="8714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1998–2010 fixed-width files read at the officially documented byte positions; 2011–2025 machine-readable files; ASEC supplement weights throughout.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4974336"/>
            <a:ext cx="10817352" cy="0"/>
          </a:xfrm>
          <a:prstGeom prst="line">
            <a:avLst/>
          </a:prstGeom>
          <a:noFill/>
          <a:ln w="17780">
            <a:solidFill>
              <a:srgbClr val="1A2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2578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One instrument for every flow:  </a:t>
            </a:r>
            <a:pPr algn="l" indent="0" marL="0">
              <a:buNone/>
            </a:pPr>
            <a:r>
              <a:rPr lang="en-US" sz="110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same design, run on the same files, yields the leaving rate of any profession, sector, state or demographic group — so every comparison in this deck is internally consistent.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Where Records Are Linked, and What It Costs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481328"/>
            <a:ext cx="10817352" cy="0"/>
          </a:xfrm>
          <a:prstGeom prst="line">
            <a:avLst/>
          </a:prstGeom>
          <a:noFill/>
          <a:ln w="17780">
            <a:solidFill>
              <a:srgbClr val="1A2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5910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Link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200400" y="159105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Keys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17920" y="15910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869680" y="1591056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Used for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1938528"/>
            <a:ext cx="10817352" cy="0"/>
          </a:xfrm>
          <a:prstGeom prst="line">
            <a:avLst/>
          </a:prstGeom>
          <a:noFill/>
          <a:ln w="9525">
            <a:solidFill>
              <a:srgbClr val="1A2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6654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549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None — the headline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2066544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recall and current status live in the same record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0" y="2066544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869680" y="2066544"/>
            <a:ext cx="2633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leaving rate, routes, destinations, every covariate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81635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549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March t → March t+1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281635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PERIDNUM; rotation 4-8-4: MIS 1–4 return next March as MIS 5–8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281635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sex, race, age advancing 0–2 years (Madrian–Lefgren)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69680" y="2816352"/>
            <a:ext cx="2633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earnings change at the destination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35661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549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Month t → t+12 (the experiment)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35661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HRHHID · HRHHID2 · PULINENO, on every basic monthly file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35661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same rule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69680" y="3566160"/>
            <a:ext cx="2633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linked monthly panel, 2005–2025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4224528"/>
            <a:ext cx="10817352" cy="0"/>
          </a:xfrm>
          <a:prstGeom prst="line">
            <a:avLst/>
          </a:prstGeom>
          <a:noFill/>
          <a:ln w="17780">
            <a:solidFill>
              <a:srgbClr val="1A24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517136"/>
            <a:ext cx="108173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price of linking:  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matched share at month t → t+12: teachers 80% · other college graduates 76% · all employed 72% · not employed 70% — the loss is non-random, and movers are exactly the people a study of leaving cares about.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calendar bound:  </a:t>
            </a:r>
            <a:pPr algn="l" indent="0" marL="0">
              <a:buNone/>
            </a:pPr>
            <a:r>
              <a:rPr lang="en-US" sz="110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household identifier HRHHID2 exists only from May 2004, so no linked monthly panel can start before 2005 — and none can reach back to 1997. The recall design can.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Every Month of the CPS vs the March Question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481328"/>
            <a:ext cx="10817352" cy="0"/>
          </a:xfrm>
          <a:prstGeom prst="line">
            <a:avLst/>
          </a:prstGeom>
          <a:noFill/>
          <a:ln w="17780">
            <a:solidFill>
              <a:srgbClr val="1A2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5910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Instrument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663440" y="159105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What counts as leaving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503920" y="15910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Years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829800" y="159105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Rate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1938528"/>
            <a:ext cx="10817352" cy="0"/>
          </a:xfrm>
          <a:prstGeom prst="line">
            <a:avLst/>
          </a:prstGeom>
          <a:noFill/>
          <a:ln w="9525">
            <a:solidFill>
              <a:srgbClr val="1A2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6654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Linked monthly panel — every month, the same person re-interviewed twelve months later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663440" y="2066544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not teaching at the interview one year 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503920" y="2066544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2005–2025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829800" y="2066544"/>
            <a:ext cx="1673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549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15.4%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00549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13.1% never return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293522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March recall question — the design behind this deck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63440" y="2935224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main job held last year is no longer the job held now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503920" y="2935224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1997–2024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829800" y="2935224"/>
            <a:ext cx="1673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549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7.7%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3694176"/>
            <a:ext cx="10817352" cy="0"/>
          </a:xfrm>
          <a:prstGeom prst="line">
            <a:avLst/>
          </a:prstGeom>
          <a:noFill/>
          <a:ln w="17780">
            <a:solidFill>
              <a:srgbClr val="1A24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005072"/>
            <a:ext cx="10817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level tracks the instrument, not the truth.  </a:t>
            </a:r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point-in-time re-interview counts summer detours, temporary absences and every misclassified month; the recall question counts durable exits from the main job. Published benchmarks sit on the recall side: retrospective CPS 7.6 (Aldeman–Yi 2025) · TFS roster follow-up 8.4 (2021–22) · Washington payroll 6–8.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3A8A6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Why we keep March — one reason only:  </a:t>
            </a:r>
            <a:pPr algn="l" indent="0" marL="0">
              <a:buNone/>
            </a:pPr>
            <a:r>
              <a:rPr lang="en-US" sz="1150" dirty="0">
                <a:solidFill>
                  <a:srgbClr val="1A243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it replicates the literature’s measure, so every published benchmark is directly comparable to every number in this deck.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2026-09-22T09:35:55Z</dcterms:created>
  <dcterms:modified xsi:type="dcterms:W3CDTF">2026-09-22T09:35:55Z</dcterms:modified>
</cp:coreProperties>
</file>