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Who Counts as a Teacher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481328"/>
            <a:ext cx="10817352" cy="0"/>
          </a:xfrm>
          <a:prstGeom prst="line">
            <a:avLst/>
          </a:prstGeom>
          <a:noFill/>
          <a:ln w="17780">
            <a:solidFill>
              <a:srgbClr val="1A24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59105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1998–2002</a:t>
            </a:r>
            <a:endParaRPr lang="en-US" sz="140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1990 Census classification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53712" y="159105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2003–2019</a:t>
            </a:r>
            <a:endParaRPr lang="en-US" sz="140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2002/2010 Census classification (SOC)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21624" y="159105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2020–2025</a:t>
            </a:r>
            <a:endParaRPr lang="en-US" sz="140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2018 Census classification (SOC 2018)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267712"/>
            <a:ext cx="10817352" cy="0"/>
          </a:xfrm>
          <a:prstGeom prst="line">
            <a:avLst/>
          </a:prstGeom>
          <a:noFill/>
          <a:ln w="9525">
            <a:solidFill>
              <a:srgbClr val="1A24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395728"/>
            <a:ext cx="38221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155   </a:t>
            </a:r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prekindergarten and kindergarten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156   </a:t>
            </a:r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elementary school†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157   </a:t>
            </a:r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secondary school†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158   </a:t>
            </a:r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special education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159   </a:t>
            </a:r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n.e.c. (not elsewhere classified)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53712" y="2395728"/>
            <a:ext cx="38221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2300   </a:t>
            </a:r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Preschool and kindergarten teachers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2310   </a:t>
            </a:r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 and middle school teachers†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2320   </a:t>
            </a:r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 school teachers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2330   </a:t>
            </a:r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 education teachers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2340   </a:t>
            </a:r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 teachers and instructors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421624" y="2395728"/>
            <a:ext cx="38221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2300   </a:t>
            </a:r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Preschool and kindergarten teachers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2310   </a:t>
            </a:r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 and middle school teachers†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2320   </a:t>
            </a:r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 school teachers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2330   </a:t>
            </a:r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 education teachers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549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2360   </a:t>
            </a:r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 teachers and instructors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85800" y="4041648"/>
            <a:ext cx="10817352" cy="0"/>
          </a:xfrm>
          <a:prstGeom prst="line">
            <a:avLst/>
          </a:prstGeom>
          <a:noFill/>
          <a:ln w="17780">
            <a:solidFill>
              <a:srgbClr val="1A24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4370832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Are the codes traceable across census years?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4700016"/>
            <a:ext cx="10817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Yes  </a:t>
            </a:r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as a block: the K–12 teaching group maps one-to-one across the three classifications — every figure uses the union of the codes, never a sub-code across regimes.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B5443C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†  </a:t>
            </a:r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sub-codes are not: middle-school teachers sit under elementary or secondary before 2003 and with elementary (2310) after; “other teachers” is renumbered 2340 → 2360 in 2020.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Yes  </a:t>
            </a:r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within each survey: last year’s job (OCCUP) and the current job (PEIOOCC) share one classification, so no leaver/switch comparison straddles a code change (seams: 2003, 2020).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3A8A6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Yes  </a:t>
            </a:r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for people, but only two years: the CPS links the same person across two consecutive March interviews (PERIDNUM), never longer.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2026-08-10T10:21:16Z</dcterms:created>
  <dcterms:modified xsi:type="dcterms:W3CDTF">2026-08-10T10:21:16Z</dcterms:modified>
</cp:coreProperties>
</file>