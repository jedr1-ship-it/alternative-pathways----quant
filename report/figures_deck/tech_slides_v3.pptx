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Who counts as a teacher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By the Census occupation code — the code the Census Bureau assigns to the occupation of the longest job held last year (CPS ASEC)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96596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1998–2002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96596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1990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4068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2003–2019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4068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2002/2010 (SOC)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1540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2020–2025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1540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2018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20040" y="192024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Pre-K &amp;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kindergarten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6596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CF6E8"/>
          </a:solidFill>
          <a:ln w="12700">
            <a:solidFill>
              <a:srgbClr val="C08A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7568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0720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prekindergarten and kindergarten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212080" y="2249424"/>
            <a:ext cx="228600" cy="0"/>
          </a:xfrm>
          <a:prstGeom prst="line">
            <a:avLst/>
          </a:prstGeom>
          <a:noFill/>
          <a:ln w="12700">
            <a:solidFill>
              <a:srgbClr val="C08A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4068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CF6E8"/>
          </a:solidFill>
          <a:ln w="12700">
            <a:solidFill>
              <a:srgbClr val="C08A1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5040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8192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686800" y="2249424"/>
            <a:ext cx="228600" cy="0"/>
          </a:xfrm>
          <a:prstGeom prst="line">
            <a:avLst/>
          </a:prstGeom>
          <a:noFill/>
          <a:ln w="12700">
            <a:solidFill>
              <a:srgbClr val="C08A1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1540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CF6E8"/>
          </a:solidFill>
          <a:ln w="12700">
            <a:solidFill>
              <a:srgbClr val="C08A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2512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75664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0040" y="2715768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&amp; middle †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96596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BF1F7"/>
          </a:solidFill>
          <a:ln w="12700">
            <a:solidFill>
              <a:srgbClr val="00549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568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80720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elementary school †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212080" y="3044952"/>
            <a:ext cx="228600" cy="0"/>
          </a:xfrm>
          <a:prstGeom prst="line">
            <a:avLst/>
          </a:prstGeom>
          <a:noFill/>
          <a:ln w="12700">
            <a:solidFill>
              <a:srgbClr val="00549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4068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BF1F7"/>
          </a:solidFill>
          <a:ln w="12700">
            <a:solidFill>
              <a:srgbClr val="00549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5040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28192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686800" y="3044952"/>
            <a:ext cx="228600" cy="0"/>
          </a:xfrm>
          <a:prstGeom prst="line">
            <a:avLst/>
          </a:prstGeom>
          <a:noFill/>
          <a:ln w="12700">
            <a:solidFill>
              <a:srgbClr val="00549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1540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BF1F7"/>
          </a:solidFill>
          <a:ln w="12700">
            <a:solidFill>
              <a:srgbClr val="00549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2512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75664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20040" y="3511296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96596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CF4F0"/>
          </a:solidFill>
          <a:ln w="12700">
            <a:solidFill>
              <a:srgbClr val="3A8A6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568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80720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secondary school †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12080" y="3840480"/>
            <a:ext cx="228600" cy="0"/>
          </a:xfrm>
          <a:prstGeom prst="line">
            <a:avLst/>
          </a:prstGeom>
          <a:noFill/>
          <a:ln w="12700">
            <a:solidFill>
              <a:srgbClr val="3A8A6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4068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CF4F0"/>
          </a:solidFill>
          <a:ln w="12700">
            <a:solidFill>
              <a:srgbClr val="3A8A6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5040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28192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686800" y="3840480"/>
            <a:ext cx="228600" cy="0"/>
          </a:xfrm>
          <a:prstGeom prst="line">
            <a:avLst/>
          </a:prstGeom>
          <a:noFill/>
          <a:ln w="12700">
            <a:solidFill>
              <a:srgbClr val="3A8A6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1540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CF4F0"/>
          </a:solidFill>
          <a:ln w="12700">
            <a:solidFill>
              <a:srgbClr val="3A8A6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2512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75664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320040" y="4306824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education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6596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EEED"/>
          </a:solidFill>
          <a:ln w="12700">
            <a:solidFill>
              <a:srgbClr val="B5443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7568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158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280720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special education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212080" y="4636008"/>
            <a:ext cx="228600" cy="0"/>
          </a:xfrm>
          <a:prstGeom prst="line">
            <a:avLst/>
          </a:prstGeom>
          <a:noFill/>
          <a:ln w="12700">
            <a:solidFill>
              <a:srgbClr val="B544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44068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EEED"/>
          </a:solidFill>
          <a:ln w="12700">
            <a:solidFill>
              <a:srgbClr val="B5443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5040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628192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8686800" y="4636008"/>
            <a:ext cx="228600" cy="0"/>
          </a:xfrm>
          <a:prstGeom prst="line">
            <a:avLst/>
          </a:prstGeom>
          <a:noFill/>
          <a:ln w="12700">
            <a:solidFill>
              <a:srgbClr val="B544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91540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EEED"/>
          </a:solidFill>
          <a:ln w="12700">
            <a:solidFill>
              <a:srgbClr val="B5443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02512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975664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320040" y="5102352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96596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FF0F2"/>
          </a:solidFill>
          <a:ln w="12700">
            <a:solidFill>
              <a:srgbClr val="5E667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07568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159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280720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n.e.c. (not elsewhere classified)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212080" y="5431536"/>
            <a:ext cx="228600" cy="0"/>
          </a:xfrm>
          <a:prstGeom prst="line">
            <a:avLst/>
          </a:prstGeom>
          <a:noFill/>
          <a:ln w="12700">
            <a:solidFill>
              <a:srgbClr val="5E667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4068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FF0F2"/>
          </a:solidFill>
          <a:ln w="12700">
            <a:solidFill>
              <a:srgbClr val="5E667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5040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2340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628192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8686800" y="5431536"/>
            <a:ext cx="228600" cy="0"/>
          </a:xfrm>
          <a:prstGeom prst="line">
            <a:avLst/>
          </a:prstGeom>
          <a:noFill/>
          <a:ln w="12700">
            <a:solidFill>
              <a:srgbClr val="5E667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91540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FF0F2"/>
          </a:solidFill>
          <a:ln w="12700">
            <a:solidFill>
              <a:srgbClr val="5E667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02512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2360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975664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326380" y="1298448"/>
            <a:ext cx="0" cy="4462272"/>
          </a:xfrm>
          <a:prstGeom prst="line">
            <a:avLst/>
          </a:prstGeom>
          <a:noFill/>
          <a:ln w="9525">
            <a:solidFill>
              <a:srgbClr val="B9C0C8"/>
            </a:solidFill>
            <a:prstDash val="dash"/>
          </a:ln>
        </p:spPr>
      </p:sp>
      <p:sp>
        <p:nvSpPr>
          <p:cNvPr id="71" name="Text 69"/>
          <p:cNvSpPr/>
          <p:nvPr/>
        </p:nvSpPr>
        <p:spPr>
          <a:xfrm>
            <a:off x="4503420" y="5779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2003 reclassification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801100" y="1298448"/>
            <a:ext cx="0" cy="4462272"/>
          </a:xfrm>
          <a:prstGeom prst="line">
            <a:avLst/>
          </a:prstGeom>
          <a:noFill/>
          <a:ln w="9525">
            <a:solidFill>
              <a:srgbClr val="B9C0C8"/>
            </a:solidFill>
            <a:prstDash val="dash"/>
          </a:ln>
        </p:spPr>
      </p:sp>
      <p:sp>
        <p:nvSpPr>
          <p:cNvPr id="73" name="Text 71"/>
          <p:cNvSpPr/>
          <p:nvPr/>
        </p:nvSpPr>
        <p:spPr>
          <a:xfrm>
            <a:off x="7978140" y="5779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2020 reclassification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02920" y="6071616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Traceable as a block: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K–12 teaching group maps one-to-one across the three classifications — every figure uses the union, never a sub-code across regimes.</a:t>
            </a:r>
            <a:endParaRPr lang="en-US" sz="1050" dirty="0"/>
          </a:p>
          <a:p>
            <a:pPr indent="0" marL="0">
              <a:buNone/>
            </a:pPr>
            <a:r>
              <a:rPr lang="en-US" sz="95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† </a:t>
            </a:r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middle-school teachers sit under elementary or secondary before 2003, with elementary (2310) after.      </a:t>
            </a:r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Never included: postsecondary (2200s) · tutors (2350) · teaching assistants (2540/2545) · childcare workers (4600) · administrators (0230).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2_ident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_e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b_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c_pai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4_twodef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5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6_whym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2026-09-22T15:50:59Z</dcterms:created>
  <dcterms:modified xsi:type="dcterms:W3CDTF">2026-09-22T15:50:59Z</dcterms:modified>
</cp:coreProperties>
</file>