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Who counts as a teacher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4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By the Census occupation code — the code the Census Bureau assigns to the occupation of the longest job held last year (CPS ASEC)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965960" y="12984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SURVEYS 1998–2002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65960" y="1554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4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Census occupation classification of 1990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40680" y="12984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SURVEYS 2003–2019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40680" y="1554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4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Census occupation classification of 2002/2010 (SOC)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15400" y="12984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SURVEYS 2020–2025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15400" y="1554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4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Census occupation classification of 2018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8A1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Pre-K &amp;</a:t>
            </a:r>
            <a:endParaRPr lang="en-US" sz="1100" dirty="0"/>
          </a:p>
          <a:p>
            <a:pPr algn="r" indent="0" marL="0">
              <a:buNone/>
            </a:pPr>
            <a:r>
              <a:rPr lang="en-US" sz="1100" b="1" dirty="0">
                <a:solidFill>
                  <a:srgbClr val="C08A1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kindergarten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5960" y="1920240"/>
            <a:ext cx="3246120" cy="658368"/>
          </a:xfrm>
          <a:prstGeom prst="roundRect">
            <a:avLst>
              <a:gd name="adj" fmla="val 9722"/>
            </a:avLst>
          </a:prstGeom>
          <a:solidFill>
            <a:srgbClr val="FCF6E8"/>
          </a:solidFill>
          <a:ln w="12700">
            <a:solidFill>
              <a:srgbClr val="C08A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1920240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A1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07208" y="19202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Teachers, prekindergarten and kindergarten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12080" y="2249424"/>
            <a:ext cx="228600" cy="0"/>
          </a:xfrm>
          <a:prstGeom prst="line">
            <a:avLst/>
          </a:prstGeom>
          <a:noFill/>
          <a:ln w="12700">
            <a:solidFill>
              <a:srgbClr val="C08A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0680" y="1920240"/>
            <a:ext cx="3246120" cy="658368"/>
          </a:xfrm>
          <a:prstGeom prst="roundRect">
            <a:avLst>
              <a:gd name="adj" fmla="val 9722"/>
            </a:avLst>
          </a:prstGeom>
          <a:solidFill>
            <a:srgbClr val="FCF6E8"/>
          </a:solidFill>
          <a:ln w="12700">
            <a:solidFill>
              <a:srgbClr val="C08A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0408" y="1920240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A1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81928" y="19202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Preschool and kindergarten teachers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86800" y="2249424"/>
            <a:ext cx="228600" cy="0"/>
          </a:xfrm>
          <a:prstGeom prst="line">
            <a:avLst/>
          </a:prstGeom>
          <a:noFill/>
          <a:ln w="12700">
            <a:solidFill>
              <a:srgbClr val="C08A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15400" y="1920240"/>
            <a:ext cx="3246120" cy="658368"/>
          </a:xfrm>
          <a:prstGeom prst="roundRect">
            <a:avLst>
              <a:gd name="adj" fmla="val 9722"/>
            </a:avLst>
          </a:prstGeom>
          <a:solidFill>
            <a:srgbClr val="FCF6E8"/>
          </a:solidFill>
          <a:ln w="12700">
            <a:solidFill>
              <a:srgbClr val="C08A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25128" y="1920240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A1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2300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756648" y="19202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Preschool and kindergarten teachers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27157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Elementary</a:t>
            </a:r>
            <a:endParaRPr lang="en-US" sz="1100" dirty="0"/>
          </a:p>
          <a:p>
            <a:pPr algn="r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&amp; middle †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65960" y="2715768"/>
            <a:ext cx="3246120" cy="658368"/>
          </a:xfrm>
          <a:prstGeom prst="roundRect">
            <a:avLst>
              <a:gd name="adj" fmla="val 9722"/>
            </a:avLst>
          </a:prstGeom>
          <a:solidFill>
            <a:srgbClr val="EBF1F7"/>
          </a:solidFill>
          <a:ln w="12700">
            <a:solidFill>
              <a:srgbClr val="0054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75688" y="2715768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807208" y="27157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Teachers, elementary school †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12080" y="3044952"/>
            <a:ext cx="228600" cy="0"/>
          </a:xfrm>
          <a:prstGeom prst="line">
            <a:avLst/>
          </a:prstGeom>
          <a:noFill/>
          <a:ln w="12700">
            <a:solidFill>
              <a:srgbClr val="00549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0680" y="2715768"/>
            <a:ext cx="3246120" cy="658368"/>
          </a:xfrm>
          <a:prstGeom prst="roundRect">
            <a:avLst>
              <a:gd name="adj" fmla="val 9722"/>
            </a:avLst>
          </a:prstGeom>
          <a:solidFill>
            <a:srgbClr val="EBF1F7"/>
          </a:solidFill>
          <a:ln w="12700">
            <a:solidFill>
              <a:srgbClr val="00549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0408" y="2715768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2310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81928" y="27157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Elementary and middle school teachers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686800" y="3044952"/>
            <a:ext cx="228600" cy="0"/>
          </a:xfrm>
          <a:prstGeom prst="line">
            <a:avLst/>
          </a:prstGeom>
          <a:noFill/>
          <a:ln w="12700">
            <a:solidFill>
              <a:srgbClr val="00549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15400" y="2715768"/>
            <a:ext cx="3246120" cy="658368"/>
          </a:xfrm>
          <a:prstGeom prst="roundRect">
            <a:avLst>
              <a:gd name="adj" fmla="val 9722"/>
            </a:avLst>
          </a:prstGeom>
          <a:solidFill>
            <a:srgbClr val="EBF1F7"/>
          </a:solidFill>
          <a:ln w="12700">
            <a:solidFill>
              <a:srgbClr val="00549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25128" y="2715768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56648" y="27157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Elementary and middle school teachers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" y="351129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8A6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65960" y="3511296"/>
            <a:ext cx="3246120" cy="658368"/>
          </a:xfrm>
          <a:prstGeom prst="roundRect">
            <a:avLst>
              <a:gd name="adj" fmla="val 9722"/>
            </a:avLst>
          </a:prstGeom>
          <a:solidFill>
            <a:srgbClr val="ECF4F0"/>
          </a:solidFill>
          <a:ln w="12700">
            <a:solidFill>
              <a:srgbClr val="3A8A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75688" y="3511296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8A6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807208" y="351129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Teachers, secondary school †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12080" y="3840480"/>
            <a:ext cx="228600" cy="0"/>
          </a:xfrm>
          <a:prstGeom prst="line">
            <a:avLst/>
          </a:prstGeom>
          <a:noFill/>
          <a:ln w="12700">
            <a:solidFill>
              <a:srgbClr val="3A8A6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40680" y="3511296"/>
            <a:ext cx="3246120" cy="658368"/>
          </a:xfrm>
          <a:prstGeom prst="roundRect">
            <a:avLst>
              <a:gd name="adj" fmla="val 9722"/>
            </a:avLst>
          </a:prstGeom>
          <a:solidFill>
            <a:srgbClr val="ECF4F0"/>
          </a:solidFill>
          <a:ln w="12700">
            <a:solidFill>
              <a:srgbClr val="3A8A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50408" y="3511296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8A6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2320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281928" y="351129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Secondary school teachers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686800" y="3840480"/>
            <a:ext cx="228600" cy="0"/>
          </a:xfrm>
          <a:prstGeom prst="line">
            <a:avLst/>
          </a:prstGeom>
          <a:noFill/>
          <a:ln w="12700">
            <a:solidFill>
              <a:srgbClr val="3A8A6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15400" y="3511296"/>
            <a:ext cx="3246120" cy="658368"/>
          </a:xfrm>
          <a:prstGeom prst="roundRect">
            <a:avLst>
              <a:gd name="adj" fmla="val 9722"/>
            </a:avLst>
          </a:prstGeom>
          <a:solidFill>
            <a:srgbClr val="ECF4F0"/>
          </a:solidFill>
          <a:ln w="12700">
            <a:solidFill>
              <a:srgbClr val="3A8A6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25128" y="3511296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8A6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2320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756648" y="351129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Secondary school teachers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20040" y="430682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5443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Special</a:t>
            </a:r>
            <a:endParaRPr lang="en-US" sz="1100" dirty="0"/>
          </a:p>
          <a:p>
            <a:pPr algn="r" indent="0" marL="0">
              <a:buNone/>
            </a:pPr>
            <a:r>
              <a:rPr lang="en-US" sz="1100" b="1" dirty="0">
                <a:solidFill>
                  <a:srgbClr val="B5443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965960" y="4306824"/>
            <a:ext cx="3246120" cy="658368"/>
          </a:xfrm>
          <a:prstGeom prst="roundRect">
            <a:avLst>
              <a:gd name="adj" fmla="val 9722"/>
            </a:avLst>
          </a:prstGeom>
          <a:solidFill>
            <a:srgbClr val="F8EEED"/>
          </a:solidFill>
          <a:ln w="12700">
            <a:solidFill>
              <a:srgbClr val="B544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75688" y="4306824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43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158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2807208" y="430682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Teachers, special education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212080" y="4636008"/>
            <a:ext cx="228600" cy="0"/>
          </a:xfrm>
          <a:prstGeom prst="line">
            <a:avLst/>
          </a:prstGeom>
          <a:noFill/>
          <a:ln w="12700">
            <a:solidFill>
              <a:srgbClr val="B5443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40680" y="4306824"/>
            <a:ext cx="3246120" cy="658368"/>
          </a:xfrm>
          <a:prstGeom prst="roundRect">
            <a:avLst>
              <a:gd name="adj" fmla="val 9722"/>
            </a:avLst>
          </a:prstGeom>
          <a:solidFill>
            <a:srgbClr val="F8EEED"/>
          </a:solidFill>
          <a:ln w="12700">
            <a:solidFill>
              <a:srgbClr val="B544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50408" y="4306824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43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2330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281928" y="430682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Special education teachers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686800" y="4636008"/>
            <a:ext cx="228600" cy="0"/>
          </a:xfrm>
          <a:prstGeom prst="line">
            <a:avLst/>
          </a:prstGeom>
          <a:noFill/>
          <a:ln w="12700">
            <a:solidFill>
              <a:srgbClr val="B5443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15400" y="4306824"/>
            <a:ext cx="3246120" cy="658368"/>
          </a:xfrm>
          <a:prstGeom prst="roundRect">
            <a:avLst>
              <a:gd name="adj" fmla="val 9722"/>
            </a:avLst>
          </a:prstGeom>
          <a:solidFill>
            <a:srgbClr val="F8EEED"/>
          </a:solidFill>
          <a:ln w="12700">
            <a:solidFill>
              <a:srgbClr val="B544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25128" y="4306824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43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2330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9756648" y="430682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Special education teachers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20040" y="510235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67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Other</a:t>
            </a:r>
            <a:endParaRPr lang="en-US" sz="1100" dirty="0"/>
          </a:p>
          <a:p>
            <a:pPr algn="r" indent="0" marL="0">
              <a:buNone/>
            </a:pPr>
            <a:r>
              <a:rPr lang="en-US" sz="1100" b="1" dirty="0">
                <a:solidFill>
                  <a:srgbClr val="5E667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teachers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965960" y="5102352"/>
            <a:ext cx="3246120" cy="658368"/>
          </a:xfrm>
          <a:prstGeom prst="roundRect">
            <a:avLst>
              <a:gd name="adj" fmla="val 9722"/>
            </a:avLst>
          </a:prstGeom>
          <a:solidFill>
            <a:srgbClr val="EFF0F2"/>
          </a:solidFill>
          <a:ln w="12700">
            <a:solidFill>
              <a:srgbClr val="5E667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75688" y="510235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667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159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2807208" y="51023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Teachers, n.e.c. (not elsewhere classified)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212080" y="5431536"/>
            <a:ext cx="228600" cy="0"/>
          </a:xfrm>
          <a:prstGeom prst="line">
            <a:avLst/>
          </a:prstGeom>
          <a:noFill/>
          <a:ln w="12700">
            <a:solidFill>
              <a:srgbClr val="5E667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40680" y="5102352"/>
            <a:ext cx="3246120" cy="658368"/>
          </a:xfrm>
          <a:prstGeom prst="roundRect">
            <a:avLst>
              <a:gd name="adj" fmla="val 9722"/>
            </a:avLst>
          </a:prstGeom>
          <a:solidFill>
            <a:srgbClr val="EFF0F2"/>
          </a:solidFill>
          <a:ln w="12700">
            <a:solidFill>
              <a:srgbClr val="5E667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50408" y="510235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667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2340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6281928" y="51023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Other teachers and instructors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686800" y="5431536"/>
            <a:ext cx="228600" cy="0"/>
          </a:xfrm>
          <a:prstGeom prst="line">
            <a:avLst/>
          </a:prstGeom>
          <a:noFill/>
          <a:ln w="12700">
            <a:solidFill>
              <a:srgbClr val="5E667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15400" y="5102352"/>
            <a:ext cx="3246120" cy="658368"/>
          </a:xfrm>
          <a:prstGeom prst="roundRect">
            <a:avLst>
              <a:gd name="adj" fmla="val 9722"/>
            </a:avLst>
          </a:prstGeom>
          <a:solidFill>
            <a:srgbClr val="EFF0F2"/>
          </a:solidFill>
          <a:ln w="12700">
            <a:solidFill>
              <a:srgbClr val="5E667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025128" y="510235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667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2360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9756648" y="51023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Other teachers and instructors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326380" y="1298448"/>
            <a:ext cx="0" cy="4462272"/>
          </a:xfrm>
          <a:prstGeom prst="line">
            <a:avLst/>
          </a:prstGeom>
          <a:noFill/>
          <a:ln w="9525">
            <a:solidFill>
              <a:srgbClr val="B9C0C8"/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4503420" y="57790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2003 reclassification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801100" y="1298448"/>
            <a:ext cx="0" cy="4462272"/>
          </a:xfrm>
          <a:prstGeom prst="line">
            <a:avLst/>
          </a:prstGeom>
          <a:noFill/>
          <a:ln w="9525">
            <a:solidFill>
              <a:srgbClr val="B9C0C8"/>
            </a:solidFill>
            <a:prstDash val="dash"/>
          </a:ln>
        </p:spPr>
      </p:sp>
      <p:sp>
        <p:nvSpPr>
          <p:cNvPr id="73" name="Text 71"/>
          <p:cNvSpPr/>
          <p:nvPr/>
        </p:nvSpPr>
        <p:spPr>
          <a:xfrm>
            <a:off x="7978140" y="57790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2020 reclassification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02920" y="607161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Traceable as a block: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K–12 teaching group maps one-to-one across the three classifications — every figure uses the union, never a sub-code across regimes.</a:t>
            </a:r>
            <a:endParaRPr lang="en-US" sz="1050" dirty="0"/>
          </a:p>
          <a:p>
            <a:pPr indent="0" marL="0">
              <a:buNone/>
            </a:pPr>
            <a:r>
              <a:rPr lang="en-US" sz="950" b="1" dirty="0">
                <a:solidFill>
                  <a:srgbClr val="B5443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† </a:t>
            </a:r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middle-school teachers sit under elementary or secondary before 2003, with elementary (2310) after.      </a:t>
            </a:r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Never included: postsecondary (2200s) · tutors (2350) · teaching assistants (2540/2545) · childcare workers (4600) · administrators (0230).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lternative-Pathways----Quant/37b5ad96-b2b0-50d1-9e4b-6301ff28b789/scratchpad/u2_ident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lternative-Pathways----Quant/37b5ad96-b2b0-50d1-9e4b-6301ff28b789/scratchpad/u3_e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lternative-Pathways----Quant/37b5ad96-b2b0-50d1-9e4b-6301ff28b789/scratchpad/u3b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lternative-Pathways----Quant/37b5ad96-b2b0-50d1-9e4b-6301ff28b789/scratchpad/u4_twodef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lternative-Pathways----Quant/37b5ad96-b2b0-50d1-9e4b-6301ff28b789/scratchpad/u5_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lternative-Pathways----Quant/37b5ad96-b2b0-50d1-9e4b-6301ff28b789/scratchpad/u6_whym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2026-09-22T14:59:02Z</dcterms:created>
  <dcterms:modified xsi:type="dcterms:W3CDTF">2026-09-22T14:59:02Z</dcterms:modified>
</cp:coreProperties>
</file>