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Who counts as a teacher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By the Census occupation code — the code the Census Bureau assigns to the occupation of the longest job held last year (CPS ASEC)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691640" y="1298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1998–2002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1990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193792" y="1298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2003–2019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193792" y="1554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2002/2010 (SOC)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95944" y="1298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2020–2025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95944" y="1554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2018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28600" y="1920240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Pre-K &amp;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kindergarten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691640" y="1920240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BFBF8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01368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532888" y="19202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prekindergarten and kindergarten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937760" y="2249424"/>
            <a:ext cx="256032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93792" y="1920240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BFBF8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0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2300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35040" y="19202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Preschool and kindergarten teachers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439912" y="2249424"/>
            <a:ext cx="256032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95944" y="1920240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BFBF8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05672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2300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537192" y="19202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Preschool and kindergarten teachers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28600" y="2715768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&amp; middle †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691640" y="2715768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FAFC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01368" y="2715768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532888" y="271576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elementary school †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937760" y="3044952"/>
            <a:ext cx="256032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93792" y="2715768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FAFC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0" y="2715768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2310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035040" y="271576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 and middle school teachers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439912" y="3044952"/>
            <a:ext cx="256032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95944" y="2715768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FAFC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805672" y="2715768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2310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537192" y="271576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 and middle school teachers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228600" y="3511296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691640" y="3511296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FBF9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801368" y="351129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157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532888" y="351129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secondary school †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937760" y="3840480"/>
            <a:ext cx="256032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193792" y="3511296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FBF9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03520" y="351129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2320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035040" y="351129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 school teachers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439912" y="3840480"/>
            <a:ext cx="256032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695944" y="3511296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FBF9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805672" y="351129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2320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537192" y="351129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 school teachers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228600" y="4306824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education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691640" y="4306824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BF8F8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01368" y="43068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158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2532888" y="430682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special education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937760" y="4636008"/>
            <a:ext cx="256032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193792" y="4306824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BF8F8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03520" y="43068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2330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6035040" y="430682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 education teachers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8439912" y="4636008"/>
            <a:ext cx="256032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695944" y="4306824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BF8F8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805672" y="43068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2330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9537192" y="430682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 education teachers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228600" y="5102352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691640" y="5102352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F9FA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801368" y="510235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159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2532888" y="5102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n.e.c. (not elsewhere classified)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4937760" y="5431536"/>
            <a:ext cx="256032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93792" y="5102352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F9FA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03520" y="510235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2340</a:t>
            </a:r>
            <a:endParaRPr lang="en-US" sz="1500" dirty="0"/>
          </a:p>
        </p:txBody>
      </p:sp>
      <p:sp>
        <p:nvSpPr>
          <p:cNvPr id="65" name="Text 63"/>
          <p:cNvSpPr/>
          <p:nvPr/>
        </p:nvSpPr>
        <p:spPr>
          <a:xfrm>
            <a:off x="6035040" y="5102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 teachers and instructors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8439912" y="5431536"/>
            <a:ext cx="256032" cy="0"/>
          </a:xfrm>
          <a:prstGeom prst="line">
            <a:avLst/>
          </a:prstGeom>
          <a:noFill/>
          <a:ln w="9525">
            <a:solidFill>
              <a:srgbClr val="C9CF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695944" y="5102352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F9FA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805672" y="510235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2360</a:t>
            </a:r>
            <a:endParaRPr lang="en-US" sz="1500" dirty="0"/>
          </a:p>
        </p:txBody>
      </p:sp>
      <p:sp>
        <p:nvSpPr>
          <p:cNvPr id="69" name="Text 67"/>
          <p:cNvSpPr/>
          <p:nvPr/>
        </p:nvSpPr>
        <p:spPr>
          <a:xfrm>
            <a:off x="9537192" y="5102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 teachers and instructors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065776" y="1298448"/>
            <a:ext cx="0" cy="4462272"/>
          </a:xfrm>
          <a:prstGeom prst="line">
            <a:avLst/>
          </a:prstGeom>
          <a:noFill/>
          <a:ln w="9525">
            <a:solidFill>
              <a:srgbClr val="B9C0C8"/>
            </a:solidFill>
            <a:prstDash val="dash"/>
          </a:ln>
        </p:spPr>
      </p:sp>
      <p:sp>
        <p:nvSpPr>
          <p:cNvPr id="71" name="Text 69"/>
          <p:cNvSpPr/>
          <p:nvPr/>
        </p:nvSpPr>
        <p:spPr>
          <a:xfrm>
            <a:off x="4242816" y="57790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2003 reclassification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567928" y="1298448"/>
            <a:ext cx="0" cy="4462272"/>
          </a:xfrm>
          <a:prstGeom prst="line">
            <a:avLst/>
          </a:prstGeom>
          <a:noFill/>
          <a:ln w="9525">
            <a:solidFill>
              <a:srgbClr val="B9C0C8"/>
            </a:solidFill>
            <a:prstDash val="dash"/>
          </a:ln>
        </p:spPr>
      </p:sp>
      <p:sp>
        <p:nvSpPr>
          <p:cNvPr id="73" name="Text 71"/>
          <p:cNvSpPr/>
          <p:nvPr/>
        </p:nvSpPr>
        <p:spPr>
          <a:xfrm>
            <a:off x="7744968" y="57790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2020 reclassification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02920" y="6071616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Traceable as a block: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K–12 teaching group maps one-to-one across the three classifications — every figure uses the union, never a sub-code across regimes.</a:t>
            </a:r>
            <a:endParaRPr lang="en-US" sz="1050" dirty="0"/>
          </a:p>
          <a:p>
            <a:pPr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† </a:t>
            </a:r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middle-school teachers sit under elementary or secondary before 2003, with elementary (2310) after.      </a:t>
            </a:r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Never included: postsecondary (2200s) · tutors (2350) · teaching assistants (2540/2545) · childcare workers (4600) · administrators (0230).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2_ident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3_e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3b_ex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4_twodef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2026-09-23T08:24:41Z</dcterms:created>
  <dcterms:modified xsi:type="dcterms:W3CDTF">2026-09-23T08:24:41Z</dcterms:modified>
</cp:coreProperties>
</file>