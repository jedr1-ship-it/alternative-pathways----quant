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Who counts as a teacher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82296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By the Census occupation code — the code the Census Bureau assigns to the occupation of the longest job held last year (CPS ASEC)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965960" y="129844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SURVEYS 1998–2002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965960" y="15544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Census occupation classification of 1990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40680" y="129844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SURVEYS 2003–2019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40680" y="15544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Census occupation classification of 2002/2010 (SOC)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15400" y="129844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SURVEYS 2020–2025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915400" y="15544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Census occupation classification of 2018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20040" y="1920240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08A1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Pre-K &amp;</a:t>
            </a:r>
            <a:endParaRPr lang="en-US" sz="1100" dirty="0"/>
          </a:p>
          <a:p>
            <a:pPr algn="r" indent="0" marL="0">
              <a:buNone/>
            </a:pPr>
            <a:r>
              <a:rPr lang="en-US" sz="1100" b="1" dirty="0">
                <a:solidFill>
                  <a:srgbClr val="C08A1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kindergarten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965960" y="1920240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CF6E8"/>
          </a:solidFill>
          <a:ln w="12700">
            <a:solidFill>
              <a:srgbClr val="C08A1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75688" y="1920240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8A1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155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807208" y="192024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prekindergarten and kindergarten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212080" y="2249424"/>
            <a:ext cx="228600" cy="0"/>
          </a:xfrm>
          <a:prstGeom prst="line">
            <a:avLst/>
          </a:prstGeom>
          <a:noFill/>
          <a:ln w="12700">
            <a:solidFill>
              <a:srgbClr val="C08A1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40680" y="1920240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CF6E8"/>
          </a:solidFill>
          <a:ln w="12700">
            <a:solidFill>
              <a:srgbClr val="C08A1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50408" y="1920240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8A1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2300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281928" y="192024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Preschool and kindergarten teachers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686800" y="2249424"/>
            <a:ext cx="228600" cy="0"/>
          </a:xfrm>
          <a:prstGeom prst="line">
            <a:avLst/>
          </a:prstGeom>
          <a:noFill/>
          <a:ln w="12700">
            <a:solidFill>
              <a:srgbClr val="C08A1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915400" y="1920240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CF6E8"/>
          </a:solidFill>
          <a:ln w="12700">
            <a:solidFill>
              <a:srgbClr val="C08A1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25128" y="1920240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8A1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2300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756648" y="192024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Preschool and kindergarten teachers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20040" y="2715768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Elementary</a:t>
            </a:r>
            <a:endParaRPr lang="en-US" sz="1100" dirty="0"/>
          </a:p>
          <a:p>
            <a:pPr algn="r" indent="0" marL="0">
              <a:buNone/>
            </a:pPr>
            <a:r>
              <a:rPr lang="en-US" sz="11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&amp; middle †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965960" y="2715768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EBF1F7"/>
          </a:solidFill>
          <a:ln w="12700">
            <a:solidFill>
              <a:srgbClr val="00549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5688" y="2715768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156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2807208" y="2715768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elementary school †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212080" y="3044952"/>
            <a:ext cx="228600" cy="0"/>
          </a:xfrm>
          <a:prstGeom prst="line">
            <a:avLst/>
          </a:prstGeom>
          <a:noFill/>
          <a:ln w="12700">
            <a:solidFill>
              <a:srgbClr val="00549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40680" y="2715768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EBF1F7"/>
          </a:solidFill>
          <a:ln w="12700">
            <a:solidFill>
              <a:srgbClr val="00549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50408" y="2715768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2310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281928" y="2715768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Elementary and middle school teachers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686800" y="3044952"/>
            <a:ext cx="228600" cy="0"/>
          </a:xfrm>
          <a:prstGeom prst="line">
            <a:avLst/>
          </a:prstGeom>
          <a:noFill/>
          <a:ln w="12700">
            <a:solidFill>
              <a:srgbClr val="00549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915400" y="2715768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EBF1F7"/>
          </a:solidFill>
          <a:ln w="12700">
            <a:solidFill>
              <a:srgbClr val="00549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025128" y="2715768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2310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756648" y="2715768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Elementary and middle school teachers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320040" y="3511296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8A6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Secondary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965960" y="3511296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ECF4F0"/>
          </a:solidFill>
          <a:ln w="12700">
            <a:solidFill>
              <a:srgbClr val="3A8A6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075688" y="3511296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8A6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157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2807208" y="351129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secondary school †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212080" y="3840480"/>
            <a:ext cx="228600" cy="0"/>
          </a:xfrm>
          <a:prstGeom prst="line">
            <a:avLst/>
          </a:prstGeom>
          <a:noFill/>
          <a:ln w="12700">
            <a:solidFill>
              <a:srgbClr val="3A8A6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40680" y="3511296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ECF4F0"/>
          </a:solidFill>
          <a:ln w="12700">
            <a:solidFill>
              <a:srgbClr val="3A8A6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50408" y="3511296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8A6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2320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6281928" y="351129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Secondary school teachers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8686800" y="3840480"/>
            <a:ext cx="228600" cy="0"/>
          </a:xfrm>
          <a:prstGeom prst="line">
            <a:avLst/>
          </a:prstGeom>
          <a:noFill/>
          <a:ln w="12700">
            <a:solidFill>
              <a:srgbClr val="3A8A6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915400" y="3511296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ECF4F0"/>
          </a:solidFill>
          <a:ln w="12700">
            <a:solidFill>
              <a:srgbClr val="3A8A6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025128" y="3511296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8A6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2320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9756648" y="351129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Secondary school teachers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320040" y="4306824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5443C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Special</a:t>
            </a:r>
            <a:endParaRPr lang="en-US" sz="1100" dirty="0"/>
          </a:p>
          <a:p>
            <a:pPr algn="r" indent="0" marL="0">
              <a:buNone/>
            </a:pPr>
            <a:r>
              <a:rPr lang="en-US" sz="1100" b="1" dirty="0">
                <a:solidFill>
                  <a:srgbClr val="B5443C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education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965960" y="4306824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8EEED"/>
          </a:solidFill>
          <a:ln w="12700">
            <a:solidFill>
              <a:srgbClr val="B5443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075688" y="4306824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43C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158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2807208" y="430682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special education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5212080" y="4636008"/>
            <a:ext cx="228600" cy="0"/>
          </a:xfrm>
          <a:prstGeom prst="line">
            <a:avLst/>
          </a:prstGeom>
          <a:noFill/>
          <a:ln w="12700">
            <a:solidFill>
              <a:srgbClr val="B5443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440680" y="4306824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8EEED"/>
          </a:solidFill>
          <a:ln w="12700">
            <a:solidFill>
              <a:srgbClr val="B5443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50408" y="4306824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43C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2330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6281928" y="430682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Special education teachers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8686800" y="4636008"/>
            <a:ext cx="228600" cy="0"/>
          </a:xfrm>
          <a:prstGeom prst="line">
            <a:avLst/>
          </a:prstGeom>
          <a:noFill/>
          <a:ln w="12700">
            <a:solidFill>
              <a:srgbClr val="B5443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915400" y="4306824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8EEED"/>
          </a:solidFill>
          <a:ln w="12700">
            <a:solidFill>
              <a:srgbClr val="B5443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025128" y="4306824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43C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2330</a:t>
            </a:r>
            <a:endParaRPr lang="en-US" sz="1500" dirty="0"/>
          </a:p>
        </p:txBody>
      </p:sp>
      <p:sp>
        <p:nvSpPr>
          <p:cNvPr id="57" name="Text 55"/>
          <p:cNvSpPr/>
          <p:nvPr/>
        </p:nvSpPr>
        <p:spPr>
          <a:xfrm>
            <a:off x="9756648" y="430682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Special education teachers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320040" y="5102352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E667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Other</a:t>
            </a:r>
            <a:endParaRPr lang="en-US" sz="1100" dirty="0"/>
          </a:p>
          <a:p>
            <a:pPr algn="r" indent="0" marL="0">
              <a:buNone/>
            </a:pPr>
            <a:r>
              <a:rPr lang="en-US" sz="1100" b="1" dirty="0">
                <a:solidFill>
                  <a:srgbClr val="5E667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1965960" y="5102352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EFF0F2"/>
          </a:solidFill>
          <a:ln w="12700">
            <a:solidFill>
              <a:srgbClr val="5E6672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075688" y="5102352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667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159</a:t>
            </a:r>
            <a:endParaRPr lang="en-US" sz="1500" dirty="0"/>
          </a:p>
        </p:txBody>
      </p:sp>
      <p:sp>
        <p:nvSpPr>
          <p:cNvPr id="61" name="Text 59"/>
          <p:cNvSpPr/>
          <p:nvPr/>
        </p:nvSpPr>
        <p:spPr>
          <a:xfrm>
            <a:off x="2807208" y="510235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n.e.c. (not elsewhere classified)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5212080" y="5431536"/>
            <a:ext cx="228600" cy="0"/>
          </a:xfrm>
          <a:prstGeom prst="line">
            <a:avLst/>
          </a:prstGeom>
          <a:noFill/>
          <a:ln w="12700">
            <a:solidFill>
              <a:srgbClr val="5E667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440680" y="5102352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EFF0F2"/>
          </a:solidFill>
          <a:ln w="12700">
            <a:solidFill>
              <a:srgbClr val="5E6672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50408" y="5102352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667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2340</a:t>
            </a:r>
            <a:endParaRPr lang="en-US" sz="1500" dirty="0"/>
          </a:p>
        </p:txBody>
      </p:sp>
      <p:sp>
        <p:nvSpPr>
          <p:cNvPr id="65" name="Text 63"/>
          <p:cNvSpPr/>
          <p:nvPr/>
        </p:nvSpPr>
        <p:spPr>
          <a:xfrm>
            <a:off x="6281928" y="510235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Other teachers and instructors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8686800" y="5431536"/>
            <a:ext cx="228600" cy="0"/>
          </a:xfrm>
          <a:prstGeom prst="line">
            <a:avLst/>
          </a:prstGeom>
          <a:noFill/>
          <a:ln w="12700">
            <a:solidFill>
              <a:srgbClr val="5E6672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915400" y="5102352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EFF0F2"/>
          </a:solidFill>
          <a:ln w="12700">
            <a:solidFill>
              <a:srgbClr val="5E6672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025128" y="5102352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667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2360</a:t>
            </a:r>
            <a:endParaRPr lang="en-US" sz="1500" dirty="0"/>
          </a:p>
        </p:txBody>
      </p:sp>
      <p:sp>
        <p:nvSpPr>
          <p:cNvPr id="69" name="Text 67"/>
          <p:cNvSpPr/>
          <p:nvPr/>
        </p:nvSpPr>
        <p:spPr>
          <a:xfrm>
            <a:off x="9756648" y="510235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Other teachers and instructors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5326380" y="1298448"/>
            <a:ext cx="0" cy="4462272"/>
          </a:xfrm>
          <a:prstGeom prst="line">
            <a:avLst/>
          </a:prstGeom>
          <a:noFill/>
          <a:ln w="9525">
            <a:solidFill>
              <a:srgbClr val="B9C0C8"/>
            </a:solidFill>
            <a:prstDash val="dash"/>
          </a:ln>
        </p:spPr>
      </p:sp>
      <p:sp>
        <p:nvSpPr>
          <p:cNvPr id="71" name="Text 69"/>
          <p:cNvSpPr/>
          <p:nvPr/>
        </p:nvSpPr>
        <p:spPr>
          <a:xfrm>
            <a:off x="4503420" y="577900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2003 reclassification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8801100" y="1298448"/>
            <a:ext cx="0" cy="4462272"/>
          </a:xfrm>
          <a:prstGeom prst="line">
            <a:avLst/>
          </a:prstGeom>
          <a:noFill/>
          <a:ln w="9525">
            <a:solidFill>
              <a:srgbClr val="B9C0C8"/>
            </a:solidFill>
            <a:prstDash val="dash"/>
          </a:ln>
        </p:spPr>
      </p:sp>
      <p:sp>
        <p:nvSpPr>
          <p:cNvPr id="73" name="Text 71"/>
          <p:cNvSpPr/>
          <p:nvPr/>
        </p:nvSpPr>
        <p:spPr>
          <a:xfrm>
            <a:off x="7978140" y="577900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2020 reclassification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502920" y="6071616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Traceable as a block: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K–12 teaching group maps one-to-one across the three classifications — every figure uses the union, never a sub-code across regimes.</a:t>
            </a:r>
            <a:endParaRPr lang="en-US" sz="1050" dirty="0"/>
          </a:p>
          <a:p>
            <a:pPr indent="0" marL="0">
              <a:buNone/>
            </a:pPr>
            <a:r>
              <a:rPr lang="en-US" sz="950" b="1" dirty="0">
                <a:solidFill>
                  <a:srgbClr val="B5443C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† </a:t>
            </a:r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middle-school teachers sit under elementary or secondary before 2003, with elementary (2310) after.      </a:t>
            </a:r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Never included: postsecondary (2200s) · tutors (2350) · teaching assistants (2540/2545) · childcare workers (4600) · administrators (0230).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2_ident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3_e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3b_examp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3c_pai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4_twodef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5_bri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6_whym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2026-09-23T08:11:51Z</dcterms:created>
  <dcterms:modified xsi:type="dcterms:W3CDTF">2026-09-23T08:11:52Z</dcterms:modified>
</cp:coreProperties>
</file>