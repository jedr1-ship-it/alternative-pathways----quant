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Who counts as a teacher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691640" y="10241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1998–2002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691640" y="12801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1990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193792" y="10241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2003–2019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193792" y="12801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2002/2010 (SOC)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95944" y="10241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Surveys 2020–2025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95944" y="12801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Census occupation classification of 2018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28600" y="166420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Pre-K &amp;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kindergarten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91640" y="1664208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EBF1F8"/>
          </a:solidFill>
          <a:ln w="15240">
            <a:solidFill>
              <a:srgbClr val="1F4E7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01368" y="166420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32888" y="166420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prekindergarten and kindergarten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937760" y="2007108"/>
            <a:ext cx="256032" cy="0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93792" y="1664208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EBF1F8"/>
          </a:solidFill>
          <a:ln w="15240">
            <a:solidFill>
              <a:srgbClr val="1F4E7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0" y="166420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166420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39912" y="2007108"/>
            <a:ext cx="256032" cy="0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95944" y="1664208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EBF1F8"/>
          </a:solidFill>
          <a:ln w="15240">
            <a:solidFill>
              <a:srgbClr val="1F4E7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05672" y="166420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537192" y="166420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Preschool and kindergarten teachers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8600" y="2505456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&amp; middle †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691640" y="2505456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EBF1F8"/>
          </a:solidFill>
          <a:ln w="15240">
            <a:solidFill>
              <a:srgbClr val="1F4E7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01368" y="250545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156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532888" y="2505456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elementary school †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2848356"/>
            <a:ext cx="256032" cy="0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93792" y="2505456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EBF1F8"/>
          </a:solidFill>
          <a:ln w="15240">
            <a:solidFill>
              <a:srgbClr val="1F4E7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0" y="250545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2505456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439912" y="2848356"/>
            <a:ext cx="256032" cy="0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695944" y="2505456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EBF1F8"/>
          </a:solidFill>
          <a:ln w="15240">
            <a:solidFill>
              <a:srgbClr val="1F4E7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05672" y="250545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2310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537192" y="2505456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Elementary and middle school teachers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8600" y="3346704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691640" y="3346704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EBF1F8"/>
          </a:solidFill>
          <a:ln w="15240">
            <a:solidFill>
              <a:srgbClr val="1F4E7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01368" y="334670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157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2532888" y="33467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secondary school †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937760" y="3689604"/>
            <a:ext cx="256032" cy="0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193792" y="3346704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EBF1F8"/>
          </a:solidFill>
          <a:ln w="15240">
            <a:solidFill>
              <a:srgbClr val="1F4E7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03520" y="334670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035040" y="33467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439912" y="3689604"/>
            <a:ext cx="256032" cy="0"/>
          </a:xfrm>
          <a:prstGeom prst="line">
            <a:avLst/>
          </a:prstGeom>
          <a:noFill/>
          <a:ln w="12700">
            <a:solidFill>
              <a:srgbClr val="1F4E7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95944" y="3346704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EBF1F8"/>
          </a:solidFill>
          <a:ln w="15240">
            <a:solidFill>
              <a:srgbClr val="1F4E7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05672" y="334670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2320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9537192" y="3346704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Secondary school teachers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28600" y="4187952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2F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7E2F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education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691640" y="4187952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F6EDEC"/>
          </a:solidFill>
          <a:ln w="15240">
            <a:solidFill>
              <a:srgbClr val="7E2F2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01368" y="418795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2F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158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2532888" y="418795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special education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937760" y="4530852"/>
            <a:ext cx="256032" cy="0"/>
          </a:xfrm>
          <a:prstGeom prst="line">
            <a:avLst/>
          </a:prstGeom>
          <a:noFill/>
          <a:ln w="12700">
            <a:solidFill>
              <a:srgbClr val="7E2F2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93792" y="4187952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F6EDEC"/>
          </a:solidFill>
          <a:ln w="15240">
            <a:solidFill>
              <a:srgbClr val="7E2F2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03520" y="418795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2F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035040" y="418795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439912" y="4530852"/>
            <a:ext cx="256032" cy="0"/>
          </a:xfrm>
          <a:prstGeom prst="line">
            <a:avLst/>
          </a:prstGeom>
          <a:noFill/>
          <a:ln w="12700">
            <a:solidFill>
              <a:srgbClr val="7E2F2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695944" y="4187952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F6EDEC"/>
          </a:solidFill>
          <a:ln w="15240">
            <a:solidFill>
              <a:srgbClr val="7E2F2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805672" y="418795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2F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2330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9537192" y="418795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Special education teachers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228600" y="5029200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2F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7E2F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1691640" y="5029200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F6EDEC"/>
          </a:solidFill>
          <a:ln w="15240">
            <a:solidFill>
              <a:srgbClr val="7E2F2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801368" y="5029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2F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159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2532888" y="5029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Teachers, n.e.c. (not elsewhere classified)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37760" y="5372100"/>
            <a:ext cx="256032" cy="0"/>
          </a:xfrm>
          <a:prstGeom prst="line">
            <a:avLst/>
          </a:prstGeom>
          <a:noFill/>
          <a:ln w="12700">
            <a:solidFill>
              <a:srgbClr val="7E2F2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93792" y="5029200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F6EDEC"/>
          </a:solidFill>
          <a:ln w="15240">
            <a:solidFill>
              <a:srgbClr val="7E2F2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03520" y="5029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2F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2340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035040" y="5029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8439912" y="5372100"/>
            <a:ext cx="256032" cy="0"/>
          </a:xfrm>
          <a:prstGeom prst="line">
            <a:avLst/>
          </a:prstGeom>
          <a:noFill/>
          <a:ln w="12700">
            <a:solidFill>
              <a:srgbClr val="7E2F2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95944" y="5029200"/>
            <a:ext cx="3246120" cy="685800"/>
          </a:xfrm>
          <a:prstGeom prst="roundRect">
            <a:avLst>
              <a:gd name="adj" fmla="val 9333"/>
            </a:avLst>
          </a:prstGeom>
          <a:solidFill>
            <a:srgbClr val="F6EDEC"/>
          </a:solidFill>
          <a:ln w="15240">
            <a:solidFill>
              <a:srgbClr val="7E2F2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805672" y="5029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2F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2360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9537192" y="5029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Other teachers and instructors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065776" y="1024128"/>
            <a:ext cx="0" cy="46908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0" name="Text 68"/>
          <p:cNvSpPr/>
          <p:nvPr/>
        </p:nvSpPr>
        <p:spPr>
          <a:xfrm>
            <a:off x="4242816" y="57332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2003 reclassification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8567928" y="1024128"/>
            <a:ext cx="0" cy="4690872"/>
          </a:xfrm>
          <a:prstGeom prst="line">
            <a:avLst/>
          </a:prstGeom>
          <a:noFill/>
          <a:ln w="9525">
            <a:solidFill>
              <a:srgbClr val="B9C0C8"/>
            </a:solidFill>
            <a:prstDash val="dash"/>
          </a:ln>
        </p:spPr>
      </p:sp>
      <p:sp>
        <p:nvSpPr>
          <p:cNvPr id="72" name="Text 70"/>
          <p:cNvSpPr/>
          <p:nvPr/>
        </p:nvSpPr>
        <p:spPr>
          <a:xfrm>
            <a:off x="7744968" y="57332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4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2020 reclassification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1691640" y="6099048"/>
            <a:ext cx="10250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Traceable as a block: </a:t>
            </a:r>
            <a:pPr algn="ctr"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A243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K–12 teaching group maps one-to-one across the three classifications — every figure uses the union, never a sub-code across regimes.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06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† middle-school teachers sit under elementary or secondary before 2003, with elementary (2310) after.  ·  Never included: postsecondary, tutors, teaching assistants, childcare workers, administrators.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2_ident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_e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3b_ex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lternative-Pathways----Quant/37b5ad96-b2b0-50d1-9e4b-6301ff28b789/scratchpad/u4_twode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2026-09-23T08:31:57Z</dcterms:created>
  <dcterms:modified xsi:type="dcterms:W3CDTF">2026-09-23T08:31:57Z</dcterms:modified>
</cp:coreProperties>
</file>