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Who counts as a teacher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By the Census occupation code — the code the Census Bureau assigns to the occupation of the longest job held last year (CPS ASEC)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96596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1998–2002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96596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1990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4068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2003–2019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4068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2002/2010 (SOC)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1540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2020–2025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1540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2018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0040" y="192024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Pre-K &amp;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kindergarten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568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0720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prekindergarten and kindergarten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212080" y="2249424"/>
            <a:ext cx="228600" cy="0"/>
          </a:xfrm>
          <a:prstGeom prst="line">
            <a:avLst/>
          </a:prstGeom>
          <a:noFill/>
          <a:ln w="12700">
            <a:solidFill>
              <a:srgbClr val="C08A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4068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040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8192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686800" y="2249424"/>
            <a:ext cx="228600" cy="0"/>
          </a:xfrm>
          <a:prstGeom prst="line">
            <a:avLst/>
          </a:prstGeom>
          <a:noFill/>
          <a:ln w="12700">
            <a:solidFill>
              <a:srgbClr val="C08A1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1540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512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75664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0040" y="2715768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&amp; middle 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96596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568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80720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elementary school †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212080" y="3044952"/>
            <a:ext cx="228600" cy="0"/>
          </a:xfrm>
          <a:prstGeom prst="line">
            <a:avLst/>
          </a:prstGeom>
          <a:noFill/>
          <a:ln w="12700">
            <a:solidFill>
              <a:srgbClr val="00549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4068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5040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28192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686800" y="3044952"/>
            <a:ext cx="228600" cy="0"/>
          </a:xfrm>
          <a:prstGeom prst="line">
            <a:avLst/>
          </a:prstGeom>
          <a:noFill/>
          <a:ln w="12700">
            <a:solidFill>
              <a:srgbClr val="00549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1540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2512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75664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20040" y="3511296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96596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568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80720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secondary school †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12080" y="3840480"/>
            <a:ext cx="228600" cy="0"/>
          </a:xfrm>
          <a:prstGeom prst="line">
            <a:avLst/>
          </a:prstGeom>
          <a:noFill/>
          <a:ln w="12700">
            <a:solidFill>
              <a:srgbClr val="3A8A6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4068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5040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28192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686800" y="3840480"/>
            <a:ext cx="228600" cy="0"/>
          </a:xfrm>
          <a:prstGeom prst="line">
            <a:avLst/>
          </a:prstGeom>
          <a:noFill/>
          <a:ln w="12700">
            <a:solidFill>
              <a:srgbClr val="3A8A6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1540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2512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75664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20040" y="4306824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6596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7568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158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280720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special education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212080" y="4636008"/>
            <a:ext cx="228600" cy="0"/>
          </a:xfrm>
          <a:prstGeom prst="line">
            <a:avLst/>
          </a:prstGeom>
          <a:noFill/>
          <a:ln w="12700">
            <a:solidFill>
              <a:srgbClr val="B544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4068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5040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628192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686800" y="4636008"/>
            <a:ext cx="228600" cy="0"/>
          </a:xfrm>
          <a:prstGeom prst="line">
            <a:avLst/>
          </a:prstGeom>
          <a:noFill/>
          <a:ln w="12700">
            <a:solidFill>
              <a:srgbClr val="B544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91540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02512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975664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20040" y="5102352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96596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07568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159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280720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n.e.c. (not elsewhere classified)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212080" y="5431536"/>
            <a:ext cx="228600" cy="0"/>
          </a:xfrm>
          <a:prstGeom prst="line">
            <a:avLst/>
          </a:prstGeom>
          <a:noFill/>
          <a:ln w="12700">
            <a:solidFill>
              <a:srgbClr val="5E667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4068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5040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2340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628192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686800" y="5431536"/>
            <a:ext cx="228600" cy="0"/>
          </a:xfrm>
          <a:prstGeom prst="line">
            <a:avLst/>
          </a:prstGeom>
          <a:noFill/>
          <a:ln w="12700">
            <a:solidFill>
              <a:srgbClr val="5E667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91540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02512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2360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975664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32638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1" name="Text 69"/>
          <p:cNvSpPr/>
          <p:nvPr/>
        </p:nvSpPr>
        <p:spPr>
          <a:xfrm>
            <a:off x="450342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2003 reclassification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80110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3" name="Text 71"/>
          <p:cNvSpPr/>
          <p:nvPr/>
        </p:nvSpPr>
        <p:spPr>
          <a:xfrm>
            <a:off x="797814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2020 reclassification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02920" y="6071616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Traceable as a block: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K–12 teaching group maps one-to-one across the three classifications — every figure uses the union, never a sub-code across regimes.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†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middle-school teachers sit under elementary or secondary before 2003, with elementary (2310) after.     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Never included: postsecondary (2200s) · tutors (2350) · teaching assistants (2540/2545) · childcare workers (4600) · administrators (0230).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2_ident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_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b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c_pai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4_twode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5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6_whym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2026-09-22T15:03:35Z</dcterms:created>
  <dcterms:modified xsi:type="dcterms:W3CDTF">2026-09-22T15:03:35Z</dcterms:modified>
</cp:coreProperties>
</file>