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57" r:id="rId4"/>
    <p:sldId id="256" r:id="rId5"/>
    <p:sldId id="297" r:id="rId43"/>
    <p:sldId id="298" r:id="rId44"/>
    <p:sldId id="299" r:id="rId45"/>
    <p:sldId id="300" r:id="rId46"/>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1"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March recall</c:v>
                </c:pt>
              </c:strCache>
            </c:strRef>
          </c:tx>
          <c:spPr>
            <a:ln w="34925">
              <a:solidFill>
                <a:srgbClr val="1F4E79"/>
              </a:solidFill>
            </a:ln>
          </c:spPr>
          <c:marker>
            <c:symbol val="none"/>
          </c:marker>
          <c:cat>
            <c:strRef>
              <c:f>Sheet1!$A$2:$A$38</c:f>
              <c:strCache>
                <c:ptCount val="37"/>
                <c:pt idx="0">
                  <c:v>1988</c:v>
                </c:pt>
                <c:pt idx="1">
                  <c:v>1989</c:v>
                </c:pt>
                <c:pt idx="2">
                  <c:v>1990</c:v>
                </c:pt>
                <c:pt idx="3">
                  <c:v>1991</c:v>
                </c:pt>
                <c:pt idx="4">
                  <c:v>1992</c:v>
                </c:pt>
                <c:pt idx="5">
                  <c:v>1993</c:v>
                </c:pt>
                <c:pt idx="6">
                  <c:v>1994</c:v>
                </c:pt>
                <c:pt idx="7">
                  <c:v>1995</c:v>
                </c:pt>
                <c:pt idx="8">
                  <c:v>1996</c:v>
                </c:pt>
                <c:pt idx="9">
                  <c:v>1997</c:v>
                </c:pt>
                <c:pt idx="10">
                  <c:v>1998</c:v>
                </c:pt>
                <c:pt idx="11">
                  <c:v>1999</c:v>
                </c:pt>
                <c:pt idx="12">
                  <c:v>2000</c:v>
                </c:pt>
                <c:pt idx="13">
                  <c:v>2001</c:v>
                </c:pt>
                <c:pt idx="14">
                  <c:v>2002</c:v>
                </c:pt>
                <c:pt idx="15">
                  <c:v>2003</c:v>
                </c:pt>
                <c:pt idx="16">
                  <c:v>2004</c:v>
                </c:pt>
                <c:pt idx="17">
                  <c:v>2005</c:v>
                </c:pt>
                <c:pt idx="18">
                  <c:v>2006</c:v>
                </c:pt>
                <c:pt idx="19">
                  <c:v>2007</c:v>
                </c:pt>
                <c:pt idx="20">
                  <c:v>2008</c:v>
                </c:pt>
                <c:pt idx="21">
                  <c:v>2009</c:v>
                </c:pt>
                <c:pt idx="22">
                  <c:v>2010</c:v>
                </c:pt>
                <c:pt idx="23">
                  <c:v>2011</c:v>
                </c:pt>
                <c:pt idx="24">
                  <c:v>2012</c:v>
                </c:pt>
                <c:pt idx="25">
                  <c:v>2013</c:v>
                </c:pt>
                <c:pt idx="26">
                  <c:v>2014</c:v>
                </c:pt>
                <c:pt idx="27">
                  <c:v>2015</c:v>
                </c:pt>
                <c:pt idx="28">
                  <c:v>2016</c:v>
                </c:pt>
                <c:pt idx="29">
                  <c:v>2017</c:v>
                </c:pt>
                <c:pt idx="30">
                  <c:v>2018</c:v>
                </c:pt>
                <c:pt idx="31">
                  <c:v>2019</c:v>
                </c:pt>
                <c:pt idx="32">
                  <c:v>2020</c:v>
                </c:pt>
                <c:pt idx="33">
                  <c:v>2021</c:v>
                </c:pt>
                <c:pt idx="34">
                  <c:v>2022</c:v>
                </c:pt>
                <c:pt idx="35">
                  <c:v>2023</c:v>
                </c:pt>
                <c:pt idx="36">
                  <c:v>2024</c:v>
                </c:pt>
              </c:strCache>
            </c:strRef>
          </c:cat>
          <c:val>
            <c:numRef>
              <c:f>Sheet1!$B$2:$B$38</c:f>
              <c:numCache>
                <c:formatCode>General</c:formatCode>
                <c:ptCount val="37"/>
                <c:pt idx="9">
                  <c:v>9.52</c:v>
                </c:pt>
                <c:pt idx="10">
                  <c:v>9.21</c:v>
                </c:pt>
                <c:pt idx="11">
                  <c:v>8.15</c:v>
                </c:pt>
                <c:pt idx="12">
                  <c:v>8.43</c:v>
                </c:pt>
                <c:pt idx="13">
                  <c:v>10.28</c:v>
                </c:pt>
                <c:pt idx="14">
                  <c:v>9.28</c:v>
                </c:pt>
                <c:pt idx="15">
                  <c:v>8.13</c:v>
                </c:pt>
                <c:pt idx="16">
                  <c:v>8.15</c:v>
                </c:pt>
                <c:pt idx="17">
                  <c:v>8.9</c:v>
                </c:pt>
                <c:pt idx="18">
                  <c:v>7.61</c:v>
                </c:pt>
                <c:pt idx="19">
                  <c:v>7.72</c:v>
                </c:pt>
                <c:pt idx="20">
                  <c:v>8.24</c:v>
                </c:pt>
                <c:pt idx="21">
                  <c:v>9.34</c:v>
                </c:pt>
                <c:pt idx="22">
                  <c:v>9.05</c:v>
                </c:pt>
                <c:pt idx="23">
                  <c:v>8.94</c:v>
                </c:pt>
                <c:pt idx="24">
                  <c:v>9.99</c:v>
                </c:pt>
                <c:pt idx="25">
                  <c:v>9.07</c:v>
                </c:pt>
                <c:pt idx="26">
                  <c:v>8.28</c:v>
                </c:pt>
                <c:pt idx="27">
                  <c:v>7.33</c:v>
                </c:pt>
                <c:pt idx="28">
                  <c:v>8.73</c:v>
                </c:pt>
                <c:pt idx="29">
                  <c:v>8.33</c:v>
                </c:pt>
                <c:pt idx="30">
                  <c:v>7.52</c:v>
                </c:pt>
                <c:pt idx="31">
                  <c:v>10.24</c:v>
                </c:pt>
                <c:pt idx="32">
                  <c:v>9.02</c:v>
                </c:pt>
                <c:pt idx="33">
                  <c:v>7.09</c:v>
                </c:pt>
                <c:pt idx="34">
                  <c:v>8.33</c:v>
                </c:pt>
                <c:pt idx="35">
                  <c:v>8.22</c:v>
                </c:pt>
                <c:pt idx="36">
                  <c:v>7.66</c:v>
                </c:pt>
              </c:numCache>
            </c:numRef>
          </c:val>
          <c:smooth val="0"/>
        </c:ser>
        <c:ser>
          <c:idx val="1"/>
          <c:order val="1"/>
          <c:tx>
            <c:strRef>
              <c:f>Sheet1!$C$1</c:f>
              <c:strCache>
                <c:ptCount val="1"/>
                <c:pt idx="0">
                  <c:v>Panel, one verdict per teacher</c:v>
                </c:pt>
              </c:strCache>
            </c:strRef>
          </c:tx>
          <c:spPr>
            <a:ln w="31750">
              <a:solidFill>
                <a:srgbClr val="B5443C"/>
              </a:solidFill>
            </a:ln>
          </c:spPr>
          <c:marker>
            <c:symbol val="none"/>
          </c:marker>
          <c:cat>
            <c:strRef>
              <c:f>Sheet1!$A$2:$A$38</c:f>
              <c:strCache>
                <c:ptCount val="37"/>
                <c:pt idx="0">
                  <c:v>1988</c:v>
                </c:pt>
                <c:pt idx="1">
                  <c:v>1989</c:v>
                </c:pt>
                <c:pt idx="2">
                  <c:v>1990</c:v>
                </c:pt>
                <c:pt idx="3">
                  <c:v>1991</c:v>
                </c:pt>
                <c:pt idx="4">
                  <c:v>1992</c:v>
                </c:pt>
                <c:pt idx="5">
                  <c:v>1993</c:v>
                </c:pt>
                <c:pt idx="6">
                  <c:v>1994</c:v>
                </c:pt>
                <c:pt idx="7">
                  <c:v>1995</c:v>
                </c:pt>
                <c:pt idx="8">
                  <c:v>1996</c:v>
                </c:pt>
                <c:pt idx="9">
                  <c:v>1997</c:v>
                </c:pt>
                <c:pt idx="10">
                  <c:v>1998</c:v>
                </c:pt>
                <c:pt idx="11">
                  <c:v>1999</c:v>
                </c:pt>
                <c:pt idx="12">
                  <c:v>2000</c:v>
                </c:pt>
                <c:pt idx="13">
                  <c:v>2001</c:v>
                </c:pt>
                <c:pt idx="14">
                  <c:v>2002</c:v>
                </c:pt>
                <c:pt idx="15">
                  <c:v>2003</c:v>
                </c:pt>
                <c:pt idx="16">
                  <c:v>2004</c:v>
                </c:pt>
                <c:pt idx="17">
                  <c:v>2005</c:v>
                </c:pt>
                <c:pt idx="18">
                  <c:v>2006</c:v>
                </c:pt>
                <c:pt idx="19">
                  <c:v>2007</c:v>
                </c:pt>
                <c:pt idx="20">
                  <c:v>2008</c:v>
                </c:pt>
                <c:pt idx="21">
                  <c:v>2009</c:v>
                </c:pt>
                <c:pt idx="22">
                  <c:v>2010</c:v>
                </c:pt>
                <c:pt idx="23">
                  <c:v>2011</c:v>
                </c:pt>
                <c:pt idx="24">
                  <c:v>2012</c:v>
                </c:pt>
                <c:pt idx="25">
                  <c:v>2013</c:v>
                </c:pt>
                <c:pt idx="26">
                  <c:v>2014</c:v>
                </c:pt>
                <c:pt idx="27">
                  <c:v>2015</c:v>
                </c:pt>
                <c:pt idx="28">
                  <c:v>2016</c:v>
                </c:pt>
                <c:pt idx="29">
                  <c:v>2017</c:v>
                </c:pt>
                <c:pt idx="30">
                  <c:v>2018</c:v>
                </c:pt>
                <c:pt idx="31">
                  <c:v>2019</c:v>
                </c:pt>
                <c:pt idx="32">
                  <c:v>2020</c:v>
                </c:pt>
                <c:pt idx="33">
                  <c:v>2021</c:v>
                </c:pt>
                <c:pt idx="34">
                  <c:v>2022</c:v>
                </c:pt>
                <c:pt idx="35">
                  <c:v>2023</c:v>
                </c:pt>
                <c:pt idx="36">
                  <c:v>2024</c:v>
                </c:pt>
              </c:strCache>
            </c:strRef>
          </c:cat>
          <c:val>
            <c:numRef>
              <c:f>Sheet1!$C$2:$C$38</c:f>
              <c:numCache>
                <c:formatCode>General</c:formatCode>
                <c:ptCount val="37"/>
                <c:pt idx="17">
                  <c:v>11.76</c:v>
                </c:pt>
                <c:pt idx="18">
                  <c:v>12.6</c:v>
                </c:pt>
                <c:pt idx="19">
                  <c:v>11.0</c:v>
                </c:pt>
                <c:pt idx="20">
                  <c:v>10.63</c:v>
                </c:pt>
                <c:pt idx="21">
                  <c:v>12.52</c:v>
                </c:pt>
                <c:pt idx="22">
                  <c:v>11.16</c:v>
                </c:pt>
                <c:pt idx="23">
                  <c:v>13.28</c:v>
                </c:pt>
                <c:pt idx="24">
                  <c:v>13.3</c:v>
                </c:pt>
                <c:pt idx="25">
                  <c:v>13.19</c:v>
                </c:pt>
                <c:pt idx="26">
                  <c:v>13.37</c:v>
                </c:pt>
                <c:pt idx="27">
                  <c:v>12.71</c:v>
                </c:pt>
                <c:pt idx="28">
                  <c:v>13.45</c:v>
                </c:pt>
                <c:pt idx="29">
                  <c:v>12.53</c:v>
                </c:pt>
                <c:pt idx="30">
                  <c:v>13.07</c:v>
                </c:pt>
                <c:pt idx="31">
                  <c:v>15.58</c:v>
                </c:pt>
                <c:pt idx="32">
                  <c:v>13.3</c:v>
                </c:pt>
                <c:pt idx="33">
                  <c:v>12.9</c:v>
                </c:pt>
                <c:pt idx="34">
                  <c:v>14.15</c:v>
                </c:pt>
                <c:pt idx="35">
                  <c:v>14.56</c:v>
                </c:pt>
                <c:pt idx="36">
                  <c:v>14.09</c:v>
                </c:pt>
              </c:numCache>
            </c:numRef>
          </c:val>
          <c:smooth val="0"/>
        </c:ser>
        <c:ser>
          <c:idx val="2"/>
          <c:order val="2"/>
          <c:tx>
            <c:strRef>
              <c:f>Sheet1!$D$1</c:f>
              <c:strCache>
                <c:ptCount val="1"/>
                <c:pt idx="0">
                  <c:v>Panel, month pairs</c:v>
                </c:pt>
              </c:strCache>
            </c:strRef>
          </c:tx>
          <c:spPr>
            <a:ln w="19050">
              <a:solidFill>
                <a:srgbClr val="C9726A"/>
              </a:solidFill>
              <a:prstDash val="dash"/>
            </a:ln>
          </c:spPr>
          <c:marker>
            <c:symbol val="none"/>
          </c:marker>
          <c:cat>
            <c:strRef>
              <c:f>Sheet1!$A$2:$A$38</c:f>
              <c:strCache>
                <c:ptCount val="37"/>
                <c:pt idx="0">
                  <c:v>1988</c:v>
                </c:pt>
                <c:pt idx="1">
                  <c:v>1989</c:v>
                </c:pt>
                <c:pt idx="2">
                  <c:v>1990</c:v>
                </c:pt>
                <c:pt idx="3">
                  <c:v>1991</c:v>
                </c:pt>
                <c:pt idx="4">
                  <c:v>1992</c:v>
                </c:pt>
                <c:pt idx="5">
                  <c:v>1993</c:v>
                </c:pt>
                <c:pt idx="6">
                  <c:v>1994</c:v>
                </c:pt>
                <c:pt idx="7">
                  <c:v>1995</c:v>
                </c:pt>
                <c:pt idx="8">
                  <c:v>1996</c:v>
                </c:pt>
                <c:pt idx="9">
                  <c:v>1997</c:v>
                </c:pt>
                <c:pt idx="10">
                  <c:v>1998</c:v>
                </c:pt>
                <c:pt idx="11">
                  <c:v>1999</c:v>
                </c:pt>
                <c:pt idx="12">
                  <c:v>2000</c:v>
                </c:pt>
                <c:pt idx="13">
                  <c:v>2001</c:v>
                </c:pt>
                <c:pt idx="14">
                  <c:v>2002</c:v>
                </c:pt>
                <c:pt idx="15">
                  <c:v>2003</c:v>
                </c:pt>
                <c:pt idx="16">
                  <c:v>2004</c:v>
                </c:pt>
                <c:pt idx="17">
                  <c:v>2005</c:v>
                </c:pt>
                <c:pt idx="18">
                  <c:v>2006</c:v>
                </c:pt>
                <c:pt idx="19">
                  <c:v>2007</c:v>
                </c:pt>
                <c:pt idx="20">
                  <c:v>2008</c:v>
                </c:pt>
                <c:pt idx="21">
                  <c:v>2009</c:v>
                </c:pt>
                <c:pt idx="22">
                  <c:v>2010</c:v>
                </c:pt>
                <c:pt idx="23">
                  <c:v>2011</c:v>
                </c:pt>
                <c:pt idx="24">
                  <c:v>2012</c:v>
                </c:pt>
                <c:pt idx="25">
                  <c:v>2013</c:v>
                </c:pt>
                <c:pt idx="26">
                  <c:v>2014</c:v>
                </c:pt>
                <c:pt idx="27">
                  <c:v>2015</c:v>
                </c:pt>
                <c:pt idx="28">
                  <c:v>2016</c:v>
                </c:pt>
                <c:pt idx="29">
                  <c:v>2017</c:v>
                </c:pt>
                <c:pt idx="30">
                  <c:v>2018</c:v>
                </c:pt>
                <c:pt idx="31">
                  <c:v>2019</c:v>
                </c:pt>
                <c:pt idx="32">
                  <c:v>2020</c:v>
                </c:pt>
                <c:pt idx="33">
                  <c:v>2021</c:v>
                </c:pt>
                <c:pt idx="34">
                  <c:v>2022</c:v>
                </c:pt>
                <c:pt idx="35">
                  <c:v>2023</c:v>
                </c:pt>
                <c:pt idx="36">
                  <c:v>2024</c:v>
                </c:pt>
              </c:strCache>
            </c:strRef>
          </c:cat>
          <c:val>
            <c:numRef>
              <c:f>Sheet1!$D$2:$D$38</c:f>
              <c:numCache>
                <c:formatCode>General</c:formatCode>
                <c:ptCount val="37"/>
                <c:pt idx="17">
                  <c:v>13.36</c:v>
                </c:pt>
                <c:pt idx="18">
                  <c:v>14.24</c:v>
                </c:pt>
                <c:pt idx="19">
                  <c:v>12.59</c:v>
                </c:pt>
                <c:pt idx="20">
                  <c:v>13.26</c:v>
                </c:pt>
                <c:pt idx="21">
                  <c:v>13.51</c:v>
                </c:pt>
                <c:pt idx="22">
                  <c:v>13.96</c:v>
                </c:pt>
                <c:pt idx="23">
                  <c:v>14.79</c:v>
                </c:pt>
                <c:pt idx="24">
                  <c:v>14.45</c:v>
                </c:pt>
                <c:pt idx="25">
                  <c:v>15.05</c:v>
                </c:pt>
                <c:pt idx="26">
                  <c:v>15.33</c:v>
                </c:pt>
                <c:pt idx="27">
                  <c:v>15.43</c:v>
                </c:pt>
                <c:pt idx="28">
                  <c:v>16.17</c:v>
                </c:pt>
                <c:pt idx="29">
                  <c:v>15.71</c:v>
                </c:pt>
                <c:pt idx="30">
                  <c:v>15.58</c:v>
                </c:pt>
                <c:pt idx="31">
                  <c:v>18.58</c:v>
                </c:pt>
                <c:pt idx="32">
                  <c:v>16.71</c:v>
                </c:pt>
                <c:pt idx="33">
                  <c:v>15.95</c:v>
                </c:pt>
                <c:pt idx="34">
                  <c:v>18.19</c:v>
                </c:pt>
                <c:pt idx="35">
                  <c:v>16.9</c:v>
                </c:pt>
                <c:pt idx="36">
                  <c:v>17.63</c:v>
                </c:pt>
              </c:numCache>
            </c:numRef>
          </c:val>
          <c:smooth val="0"/>
        </c:ser>
        <c:ser>
          <c:idx val="3"/>
          <c:order val="3"/>
          <c:tx>
            <c:strRef>
              <c:f>Sheet1!$E$1</c:f>
              <c:strCache>
                <c:ptCount val="1"/>
                <c:pt idx="0">
                  <c:v>Panel, any sighting</c:v>
                </c:pt>
              </c:strCache>
            </c:strRef>
          </c:tx>
          <c:spPr>
            <a:ln w="19050">
              <a:solidFill>
                <a:srgbClr val="D99A94"/>
              </a:solidFill>
            </a:ln>
          </c:spPr>
          <c:marker>
            <c:symbol val="none"/>
          </c:marker>
          <c:cat>
            <c:strRef>
              <c:f>Sheet1!$A$2:$A$38</c:f>
              <c:strCache>
                <c:ptCount val="37"/>
                <c:pt idx="0">
                  <c:v>1988</c:v>
                </c:pt>
                <c:pt idx="1">
                  <c:v>1989</c:v>
                </c:pt>
                <c:pt idx="2">
                  <c:v>1990</c:v>
                </c:pt>
                <c:pt idx="3">
                  <c:v>1991</c:v>
                </c:pt>
                <c:pt idx="4">
                  <c:v>1992</c:v>
                </c:pt>
                <c:pt idx="5">
                  <c:v>1993</c:v>
                </c:pt>
                <c:pt idx="6">
                  <c:v>1994</c:v>
                </c:pt>
                <c:pt idx="7">
                  <c:v>1995</c:v>
                </c:pt>
                <c:pt idx="8">
                  <c:v>1996</c:v>
                </c:pt>
                <c:pt idx="9">
                  <c:v>1997</c:v>
                </c:pt>
                <c:pt idx="10">
                  <c:v>1998</c:v>
                </c:pt>
                <c:pt idx="11">
                  <c:v>1999</c:v>
                </c:pt>
                <c:pt idx="12">
                  <c:v>2000</c:v>
                </c:pt>
                <c:pt idx="13">
                  <c:v>2001</c:v>
                </c:pt>
                <c:pt idx="14">
                  <c:v>2002</c:v>
                </c:pt>
                <c:pt idx="15">
                  <c:v>2003</c:v>
                </c:pt>
                <c:pt idx="16">
                  <c:v>2004</c:v>
                </c:pt>
                <c:pt idx="17">
                  <c:v>2005</c:v>
                </c:pt>
                <c:pt idx="18">
                  <c:v>2006</c:v>
                </c:pt>
                <c:pt idx="19">
                  <c:v>2007</c:v>
                </c:pt>
                <c:pt idx="20">
                  <c:v>2008</c:v>
                </c:pt>
                <c:pt idx="21">
                  <c:v>2009</c:v>
                </c:pt>
                <c:pt idx="22">
                  <c:v>2010</c:v>
                </c:pt>
                <c:pt idx="23">
                  <c:v>2011</c:v>
                </c:pt>
                <c:pt idx="24">
                  <c:v>2012</c:v>
                </c:pt>
                <c:pt idx="25">
                  <c:v>2013</c:v>
                </c:pt>
                <c:pt idx="26">
                  <c:v>2014</c:v>
                </c:pt>
                <c:pt idx="27">
                  <c:v>2015</c:v>
                </c:pt>
                <c:pt idx="28">
                  <c:v>2016</c:v>
                </c:pt>
                <c:pt idx="29">
                  <c:v>2017</c:v>
                </c:pt>
                <c:pt idx="30">
                  <c:v>2018</c:v>
                </c:pt>
                <c:pt idx="31">
                  <c:v>2019</c:v>
                </c:pt>
                <c:pt idx="32">
                  <c:v>2020</c:v>
                </c:pt>
                <c:pt idx="33">
                  <c:v>2021</c:v>
                </c:pt>
                <c:pt idx="34">
                  <c:v>2022</c:v>
                </c:pt>
                <c:pt idx="35">
                  <c:v>2023</c:v>
                </c:pt>
                <c:pt idx="36">
                  <c:v>2024</c:v>
                </c:pt>
              </c:strCache>
            </c:strRef>
          </c:cat>
          <c:val>
            <c:numRef>
              <c:f>Sheet1!$E$2:$E$38</c:f>
              <c:numCache>
                <c:formatCode>General</c:formatCode>
                <c:ptCount val="37"/>
                <c:pt idx="17">
                  <c:v>15.36</c:v>
                </c:pt>
                <c:pt idx="18">
                  <c:v>16.71</c:v>
                </c:pt>
                <c:pt idx="19">
                  <c:v>15.39</c:v>
                </c:pt>
                <c:pt idx="20">
                  <c:v>14.53</c:v>
                </c:pt>
                <c:pt idx="21">
                  <c:v>17.17</c:v>
                </c:pt>
                <c:pt idx="22">
                  <c:v>15.54</c:v>
                </c:pt>
                <c:pt idx="23">
                  <c:v>17.67</c:v>
                </c:pt>
                <c:pt idx="24">
                  <c:v>17.76</c:v>
                </c:pt>
                <c:pt idx="25">
                  <c:v>18.1</c:v>
                </c:pt>
                <c:pt idx="26">
                  <c:v>18.15</c:v>
                </c:pt>
                <c:pt idx="27">
                  <c:v>18.15</c:v>
                </c:pt>
                <c:pt idx="28">
                  <c:v>18.81</c:v>
                </c:pt>
                <c:pt idx="29">
                  <c:v>18.73</c:v>
                </c:pt>
                <c:pt idx="30">
                  <c:v>17.77</c:v>
                </c:pt>
                <c:pt idx="31">
                  <c:v>21.81</c:v>
                </c:pt>
                <c:pt idx="32">
                  <c:v>19.04</c:v>
                </c:pt>
                <c:pt idx="33">
                  <c:v>19.42</c:v>
                </c:pt>
                <c:pt idx="34">
                  <c:v>20.38</c:v>
                </c:pt>
                <c:pt idx="35">
                  <c:v>20.41</c:v>
                </c:pt>
                <c:pt idx="36">
                  <c:v>20.82</c:v>
                </c:pt>
              </c:numCache>
            </c:numRef>
          </c:val>
          <c:smooth val="0"/>
        </c:ser>
        <c:ser>
          <c:idx val="4"/>
          <c:order val="4"/>
          <c:tx>
            <c:strRef>
              <c:f>Sheet1!$F$1</c:f>
              <c:strCache>
                <c:ptCount val="1"/>
                <c:pt idx="0">
                  <c:v>NCES follow-up (public schools)</c:v>
                </c:pt>
              </c:strCache>
            </c:strRef>
          </c:tx>
          <c:spPr>
            <a:ln w="22225">
              <a:solidFill>
                <a:srgbClr val="1A2430"/>
              </a:solidFill>
              <a:prstDash val="dash"/>
            </a:ln>
          </c:spPr>
          <c:marker>
            <c:symbol val="circle"/>
            <c:size val="6"/>
          </c:marker>
          <c:marker>
            <c:symbol val="none"/>
          </c:marker>
          <c:cat>
            <c:strRef>
              <c:f>Sheet1!$A$2:$A$38</c:f>
              <c:strCache>
                <c:ptCount val="37"/>
                <c:pt idx="0">
                  <c:v>1988</c:v>
                </c:pt>
                <c:pt idx="1">
                  <c:v>1989</c:v>
                </c:pt>
                <c:pt idx="2">
                  <c:v>1990</c:v>
                </c:pt>
                <c:pt idx="3">
                  <c:v>1991</c:v>
                </c:pt>
                <c:pt idx="4">
                  <c:v>1992</c:v>
                </c:pt>
                <c:pt idx="5">
                  <c:v>1993</c:v>
                </c:pt>
                <c:pt idx="6">
                  <c:v>1994</c:v>
                </c:pt>
                <c:pt idx="7">
                  <c:v>1995</c:v>
                </c:pt>
                <c:pt idx="8">
                  <c:v>1996</c:v>
                </c:pt>
                <c:pt idx="9">
                  <c:v>1997</c:v>
                </c:pt>
                <c:pt idx="10">
                  <c:v>1998</c:v>
                </c:pt>
                <c:pt idx="11">
                  <c:v>1999</c:v>
                </c:pt>
                <c:pt idx="12">
                  <c:v>2000</c:v>
                </c:pt>
                <c:pt idx="13">
                  <c:v>2001</c:v>
                </c:pt>
                <c:pt idx="14">
                  <c:v>2002</c:v>
                </c:pt>
                <c:pt idx="15">
                  <c:v>2003</c:v>
                </c:pt>
                <c:pt idx="16">
                  <c:v>2004</c:v>
                </c:pt>
                <c:pt idx="17">
                  <c:v>2005</c:v>
                </c:pt>
                <c:pt idx="18">
                  <c:v>2006</c:v>
                </c:pt>
                <c:pt idx="19">
                  <c:v>2007</c:v>
                </c:pt>
                <c:pt idx="20">
                  <c:v>2008</c:v>
                </c:pt>
                <c:pt idx="21">
                  <c:v>2009</c:v>
                </c:pt>
                <c:pt idx="22">
                  <c:v>2010</c:v>
                </c:pt>
                <c:pt idx="23">
                  <c:v>2011</c:v>
                </c:pt>
                <c:pt idx="24">
                  <c:v>2012</c:v>
                </c:pt>
                <c:pt idx="25">
                  <c:v>2013</c:v>
                </c:pt>
                <c:pt idx="26">
                  <c:v>2014</c:v>
                </c:pt>
                <c:pt idx="27">
                  <c:v>2015</c:v>
                </c:pt>
                <c:pt idx="28">
                  <c:v>2016</c:v>
                </c:pt>
                <c:pt idx="29">
                  <c:v>2017</c:v>
                </c:pt>
                <c:pt idx="30">
                  <c:v>2018</c:v>
                </c:pt>
                <c:pt idx="31">
                  <c:v>2019</c:v>
                </c:pt>
                <c:pt idx="32">
                  <c:v>2020</c:v>
                </c:pt>
                <c:pt idx="33">
                  <c:v>2021</c:v>
                </c:pt>
                <c:pt idx="34">
                  <c:v>2022</c:v>
                </c:pt>
                <c:pt idx="35">
                  <c:v>2023</c:v>
                </c:pt>
                <c:pt idx="36">
                  <c:v>2024</c:v>
                </c:pt>
              </c:strCache>
            </c:strRef>
          </c:cat>
          <c:val>
            <c:numRef>
              <c:f>Sheet1!$F$2:$F$38</c:f>
              <c:numCache>
                <c:formatCode>General</c:formatCode>
                <c:ptCount val="37"/>
                <c:pt idx="0">
                  <c:v>5.6</c:v>
                </c:pt>
                <c:pt idx="3">
                  <c:v>5.1</c:v>
                </c:pt>
                <c:pt idx="6">
                  <c:v>6.6</c:v>
                </c:pt>
                <c:pt idx="12">
                  <c:v>7.4</c:v>
                </c:pt>
                <c:pt idx="16">
                  <c:v>8.4</c:v>
                </c:pt>
                <c:pt idx="20">
                  <c:v>8.0</c:v>
                </c:pt>
                <c:pt idx="24">
                  <c:v>7.7</c:v>
                </c:pt>
                <c:pt idx="33">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pPr>
          </a:p>
        </c:txPr>
        <c:crossAx val="2140495176"/>
        <c:crosses val="autoZero"/>
        <c:auto val="1"/>
        <c:lblAlgn val="ctr"/>
        <c:lblOffset val="100"/>
        <c:noMultiLvlLbl val="0"/>
      </c:catAx>
      <c:valAx>
        <c:axId val="2140495176"/>
        <c:scaling>
          <c:max val="22.0"/>
          <c:min val="0.0"/>
        </c:scaling>
        <c:delete val="0"/>
        <c:axPos val="l"/>
        <c:majorGridlines>
          <c:spPr>
            <a:ln>
              <a:solidFill>
                <a:srgbClr val="EFF1F3"/>
              </a:solidFill>
            </a:ln>
          </c:spPr>
        </c:majorGridlines>
        <c:majorTickMark val="out"/>
        <c:minorTickMark val="none"/>
        <c:tickLblPos val="nextTo"/>
        <c:crossAx val="2118791784"/>
        <c:crosses val="autoZero"/>
      </c:valAx>
    </c:plotArea>
    <c:legend>
      <c:legendPos val="b"/>
      <c:layout/>
      <c:overlay val="0"/>
    </c:legend>
    <c:plotVisOnly val="1"/>
    <c:dispBlanksAs val="gap"/>
    <c:showDLblsOverMax val="0"/>
    <c:dispBlanksAs val="span"/>
  </c:chart>
  <c:txPr>
    <a:bodyPr/>
    <a:lstStyle/>
    <a:p>
      <a:pPr>
        <a:defRPr sz="1100">
          <a:latin typeface="Garamo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636008" y="2788920"/>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636008" y="2971800"/>
            <a:ext cx="2926080" cy="365760"/>
          </a:xfrm>
          <a:prstGeom prst="rect">
            <a:avLst/>
          </a:prstGeom>
          <a:noFill/>
        </p:spPr>
        <p:txBody>
          <a:bodyPr wrap="square" lIns="0" rIns="0" tIns="0" bIns="0">
            <a:spAutoFit/>
          </a:bodyPr>
          <a:lstStyle/>
          <a:p>
            <a:pPr algn="ctr">
              <a:lnSpc>
                <a:spcPct val="100000"/>
              </a:lnSpc>
            </a:pPr>
            <a:r>
              <a:rPr sz="1400" b="0" i="0">
                <a:solidFill>
                  <a:srgbClr val="55606B"/>
                </a:solidFill>
                <a:latin typeface="Garamond"/>
              </a:rPr>
              <a:t>1</a:t>
            </a:r>
          </a:p>
        </p:txBody>
      </p:sp>
      <p:sp>
        <p:nvSpPr>
          <p:cNvPr id="4" name="TextBox 3"/>
          <p:cNvSpPr txBox="1"/>
          <p:nvPr/>
        </p:nvSpPr>
        <p:spPr>
          <a:xfrm>
            <a:off x="2807208" y="3310128"/>
            <a:ext cx="6583680" cy="548640"/>
          </a:xfrm>
          <a:prstGeom prst="rect">
            <a:avLst/>
          </a:prstGeom>
          <a:noFill/>
        </p:spPr>
        <p:txBody>
          <a:bodyPr wrap="square" lIns="0" rIns="0" tIns="0" bIns="0">
            <a:spAutoFit/>
          </a:bodyPr>
          <a:lstStyle/>
          <a:p>
            <a:pPr algn="ctr">
              <a:lnSpc>
                <a:spcPct val="100000"/>
              </a:lnSpc>
            </a:pPr>
            <a:r>
              <a:rPr sz="2600" b="0" i="0">
                <a:solidFill>
                  <a:srgbClr val="1A2430"/>
                </a:solidFill>
                <a:latin typeface="Garamond"/>
              </a:rPr>
              <a:t>Data and measurement</a:t>
            </a:r>
          </a:p>
        </p:txBody>
      </p:sp>
      <p:cxnSp>
        <p:nvCxnSpPr>
          <p:cNvPr id="5" name="Connector 4"/>
          <p:cNvCxnSpPr/>
          <p:nvPr/>
        </p:nvCxnSpPr>
        <p:spPr>
          <a:xfrm>
            <a:off x="4636008" y="4041648"/>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636008" y="2788920"/>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636008" y="2971800"/>
            <a:ext cx="2926080" cy="365760"/>
          </a:xfrm>
          <a:prstGeom prst="rect">
            <a:avLst/>
          </a:prstGeom>
          <a:noFill/>
        </p:spPr>
        <p:txBody>
          <a:bodyPr wrap="square" lIns="0" rIns="0" tIns="0" bIns="0">
            <a:spAutoFit/>
          </a:bodyPr>
          <a:lstStyle/>
          <a:p>
            <a:pPr algn="ctr">
              <a:lnSpc>
                <a:spcPct val="100000"/>
              </a:lnSpc>
            </a:pPr>
            <a:r>
              <a:rPr sz="1400" b="0" i="0">
                <a:solidFill>
                  <a:srgbClr val="55606B"/>
                </a:solidFill>
                <a:latin typeface="Garamond"/>
              </a:rPr>
              <a:t>2</a:t>
            </a:r>
          </a:p>
        </p:txBody>
      </p:sp>
      <p:sp>
        <p:nvSpPr>
          <p:cNvPr id="4" name="TextBox 3"/>
          <p:cNvSpPr txBox="1"/>
          <p:nvPr/>
        </p:nvSpPr>
        <p:spPr>
          <a:xfrm>
            <a:off x="2807208" y="3310128"/>
            <a:ext cx="6583680" cy="548640"/>
          </a:xfrm>
          <a:prstGeom prst="rect">
            <a:avLst/>
          </a:prstGeom>
          <a:noFill/>
        </p:spPr>
        <p:txBody>
          <a:bodyPr wrap="square" lIns="0" rIns="0" tIns="0" bIns="0">
            <a:spAutoFit/>
          </a:bodyPr>
          <a:lstStyle/>
          <a:p>
            <a:pPr algn="ctr">
              <a:lnSpc>
                <a:spcPct val="100000"/>
              </a:lnSpc>
            </a:pPr>
            <a:r>
              <a:rPr sz="2600" b="0" i="0">
                <a:solidFill>
                  <a:srgbClr val="1A2430"/>
                </a:solidFill>
                <a:latin typeface="Garamond"/>
              </a:rPr>
              <a:t>The leaving rate</a:t>
            </a:r>
          </a:p>
        </p:txBody>
      </p:sp>
      <p:cxnSp>
        <p:nvCxnSpPr>
          <p:cNvPr id="5" name="Connector 4"/>
          <p:cNvCxnSpPr/>
          <p:nvPr/>
        </p:nvCxnSpPr>
        <p:spPr>
          <a:xfrm>
            <a:off x="4636008" y="4041648"/>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636008" y="2788920"/>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636008" y="2971800"/>
            <a:ext cx="2926080" cy="365760"/>
          </a:xfrm>
          <a:prstGeom prst="rect">
            <a:avLst/>
          </a:prstGeom>
          <a:noFill/>
        </p:spPr>
        <p:txBody>
          <a:bodyPr wrap="square" lIns="0" rIns="0" tIns="0" bIns="0">
            <a:spAutoFit/>
          </a:bodyPr>
          <a:lstStyle/>
          <a:p>
            <a:pPr algn="ctr">
              <a:lnSpc>
                <a:spcPct val="100000"/>
              </a:lnSpc>
            </a:pPr>
            <a:r>
              <a:rPr sz="1400" b="0" i="0">
                <a:solidFill>
                  <a:srgbClr val="55606B"/>
                </a:solidFill>
                <a:latin typeface="Garamond"/>
              </a:rPr>
              <a:t>3</a:t>
            </a:r>
          </a:p>
        </p:txBody>
      </p:sp>
      <p:sp>
        <p:nvSpPr>
          <p:cNvPr id="4" name="TextBox 3"/>
          <p:cNvSpPr txBox="1"/>
          <p:nvPr/>
        </p:nvSpPr>
        <p:spPr>
          <a:xfrm>
            <a:off x="2807208" y="3310128"/>
            <a:ext cx="6583680" cy="548640"/>
          </a:xfrm>
          <a:prstGeom prst="rect">
            <a:avLst/>
          </a:prstGeom>
          <a:noFill/>
        </p:spPr>
        <p:txBody>
          <a:bodyPr wrap="square" lIns="0" rIns="0" tIns="0" bIns="0">
            <a:spAutoFit/>
          </a:bodyPr>
          <a:lstStyle/>
          <a:p>
            <a:pPr algn="ctr">
              <a:lnSpc>
                <a:spcPct val="100000"/>
              </a:lnSpc>
            </a:pPr>
            <a:r>
              <a:rPr sz="2600" b="0" i="0">
                <a:solidFill>
                  <a:srgbClr val="1A2430"/>
                </a:solidFill>
                <a:latin typeface="Garamond"/>
              </a:rPr>
              <a:t>Where they go</a:t>
            </a:r>
          </a:p>
        </p:txBody>
      </p:sp>
      <p:cxnSp>
        <p:nvCxnSpPr>
          <p:cNvPr id="5" name="Connector 4"/>
          <p:cNvCxnSpPr/>
          <p:nvPr/>
        </p:nvCxnSpPr>
        <p:spPr>
          <a:xfrm>
            <a:off x="4636008" y="4041648"/>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636008" y="2788920"/>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636008" y="2971800"/>
            <a:ext cx="2926080" cy="365760"/>
          </a:xfrm>
          <a:prstGeom prst="rect">
            <a:avLst/>
          </a:prstGeom>
          <a:noFill/>
        </p:spPr>
        <p:txBody>
          <a:bodyPr wrap="square" lIns="0" rIns="0" tIns="0" bIns="0">
            <a:spAutoFit/>
          </a:bodyPr>
          <a:lstStyle/>
          <a:p>
            <a:pPr algn="ctr">
              <a:lnSpc>
                <a:spcPct val="100000"/>
              </a:lnSpc>
            </a:pPr>
            <a:r>
              <a:rPr sz="1400" b="0" i="0">
                <a:solidFill>
                  <a:srgbClr val="55606B"/>
                </a:solidFill>
                <a:latin typeface="Garamond"/>
              </a:rPr>
              <a:t>4</a:t>
            </a:r>
          </a:p>
        </p:txBody>
      </p:sp>
      <p:sp>
        <p:nvSpPr>
          <p:cNvPr id="4" name="TextBox 3"/>
          <p:cNvSpPr txBox="1"/>
          <p:nvPr/>
        </p:nvSpPr>
        <p:spPr>
          <a:xfrm>
            <a:off x="2807208" y="3310128"/>
            <a:ext cx="6583680" cy="548640"/>
          </a:xfrm>
          <a:prstGeom prst="rect">
            <a:avLst/>
          </a:prstGeom>
          <a:noFill/>
        </p:spPr>
        <p:txBody>
          <a:bodyPr wrap="square" lIns="0" rIns="0" tIns="0" bIns="0">
            <a:spAutoFit/>
          </a:bodyPr>
          <a:lstStyle/>
          <a:p>
            <a:pPr algn="ctr">
              <a:lnSpc>
                <a:spcPct val="100000"/>
              </a:lnSpc>
            </a:pPr>
            <a:r>
              <a:rPr sz="2600" b="0" i="0">
                <a:solidFill>
                  <a:srgbClr val="1A2430"/>
                </a:solidFill>
                <a:latin typeface="Garamond"/>
              </a:rPr>
              <a:t>Who leaves, and why</a:t>
            </a:r>
          </a:p>
        </p:txBody>
      </p:sp>
      <p:cxnSp>
        <p:nvCxnSpPr>
          <p:cNvPr id="5" name="Connector 4"/>
          <p:cNvCxnSpPr/>
          <p:nvPr/>
        </p:nvCxnSpPr>
        <p:spPr>
          <a:xfrm>
            <a:off x="4636008" y="4041648"/>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636008" y="2788920"/>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636008" y="2971800"/>
            <a:ext cx="2926080" cy="365760"/>
          </a:xfrm>
          <a:prstGeom prst="rect">
            <a:avLst/>
          </a:prstGeom>
          <a:noFill/>
        </p:spPr>
        <p:txBody>
          <a:bodyPr wrap="square" lIns="0" rIns="0" tIns="0" bIns="0">
            <a:spAutoFit/>
          </a:bodyPr>
          <a:lstStyle/>
          <a:p>
            <a:pPr algn="ctr">
              <a:lnSpc>
                <a:spcPct val="100000"/>
              </a:lnSpc>
            </a:pPr>
            <a:r>
              <a:rPr sz="1400" b="0" i="0">
                <a:solidFill>
                  <a:srgbClr val="55606B"/>
                </a:solidFill>
                <a:latin typeface="Garamond"/>
              </a:rPr>
              <a:t>5</a:t>
            </a:r>
          </a:p>
        </p:txBody>
      </p:sp>
      <p:sp>
        <p:nvSpPr>
          <p:cNvPr id="4" name="TextBox 3"/>
          <p:cNvSpPr txBox="1"/>
          <p:nvPr/>
        </p:nvSpPr>
        <p:spPr>
          <a:xfrm>
            <a:off x="2807208" y="3310128"/>
            <a:ext cx="6583680" cy="548640"/>
          </a:xfrm>
          <a:prstGeom prst="rect">
            <a:avLst/>
          </a:prstGeom>
          <a:noFill/>
        </p:spPr>
        <p:txBody>
          <a:bodyPr wrap="square" lIns="0" rIns="0" tIns="0" bIns="0">
            <a:spAutoFit/>
          </a:bodyPr>
          <a:lstStyle/>
          <a:p>
            <a:pPr algn="ctr">
              <a:lnSpc>
                <a:spcPct val="100000"/>
              </a:lnSpc>
            </a:pPr>
            <a:r>
              <a:rPr sz="2600" b="0" i="0">
                <a:solidFill>
                  <a:srgbClr val="1A2430"/>
                </a:solidFill>
                <a:latin typeface="Garamond"/>
              </a:rPr>
              <a:t>The business cycle</a:t>
            </a:r>
          </a:p>
        </p:txBody>
      </p:sp>
      <p:cxnSp>
        <p:nvCxnSpPr>
          <p:cNvPr id="5" name="Connector 4"/>
          <p:cNvCxnSpPr/>
          <p:nvPr/>
        </p:nvCxnSpPr>
        <p:spPr>
          <a:xfrm>
            <a:off x="4636008" y="4041648"/>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636008" y="2788920"/>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636008" y="2971800"/>
            <a:ext cx="2926080" cy="365760"/>
          </a:xfrm>
          <a:prstGeom prst="rect">
            <a:avLst/>
          </a:prstGeom>
          <a:noFill/>
        </p:spPr>
        <p:txBody>
          <a:bodyPr wrap="square" lIns="0" rIns="0" tIns="0" bIns="0">
            <a:spAutoFit/>
          </a:bodyPr>
          <a:lstStyle/>
          <a:p>
            <a:pPr algn="ctr">
              <a:lnSpc>
                <a:spcPct val="100000"/>
              </a:lnSpc>
            </a:pPr>
            <a:r>
              <a:rPr sz="1400" b="0" i="0">
                <a:solidFill>
                  <a:srgbClr val="55606B"/>
                </a:solidFill>
                <a:latin typeface="Garamond"/>
              </a:rPr>
              <a:t>6</a:t>
            </a:r>
          </a:p>
        </p:txBody>
      </p:sp>
      <p:sp>
        <p:nvSpPr>
          <p:cNvPr id="4" name="TextBox 3"/>
          <p:cNvSpPr txBox="1"/>
          <p:nvPr/>
        </p:nvSpPr>
        <p:spPr>
          <a:xfrm>
            <a:off x="2807208" y="3310128"/>
            <a:ext cx="6583680" cy="548640"/>
          </a:xfrm>
          <a:prstGeom prst="rect">
            <a:avLst/>
          </a:prstGeom>
          <a:noFill/>
        </p:spPr>
        <p:txBody>
          <a:bodyPr wrap="square" lIns="0" rIns="0" tIns="0" bIns="0">
            <a:spAutoFit/>
          </a:bodyPr>
          <a:lstStyle/>
          <a:p>
            <a:pPr algn="ctr">
              <a:lnSpc>
                <a:spcPct val="100000"/>
              </a:lnSpc>
            </a:pPr>
            <a:r>
              <a:rPr sz="2600" b="0" i="0">
                <a:solidFill>
                  <a:srgbClr val="1A2430"/>
                </a:solidFill>
                <a:latin typeface="Garamond"/>
              </a:rPr>
              <a:t>Pay and pensions</a:t>
            </a:r>
          </a:p>
        </p:txBody>
      </p:sp>
      <p:cxnSp>
        <p:nvCxnSpPr>
          <p:cNvPr id="5" name="Connector 4"/>
          <p:cNvCxnSpPr/>
          <p:nvPr/>
        </p:nvCxnSpPr>
        <p:spPr>
          <a:xfrm>
            <a:off x="4636008" y="4041648"/>
            <a:ext cx="2926080" cy="0"/>
          </a:xfrm>
          <a:prstGeom prst="line">
            <a:avLst/>
          </a:prstGeom>
          <a:ln w="9525">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10515600" cy="548640"/>
          </a:xfrm>
          <a:prstGeom prst="rect">
            <a:avLst/>
          </a:prstGeom>
          <a:noFill/>
        </p:spPr>
        <p:txBody>
          <a:bodyPr wrap="square" lIns="0" rIns="0" tIns="0" bIns="0">
            <a:spAutoFit/>
          </a:bodyPr>
          <a:lstStyle/>
          <a:p>
            <a:pPr algn="l">
              <a:lnSpc>
                <a:spcPct val="100000"/>
              </a:lnSpc>
            </a:pPr>
            <a:r>
              <a:rPr sz="2600" b="1" i="0">
                <a:solidFill>
                  <a:srgbClr val="1A2430"/>
                </a:solidFill>
                <a:latin typeface="Garamond"/>
              </a:rPr>
              <a:t>The Current Population Survey</a:t>
            </a:r>
          </a:p>
        </p:txBody>
      </p:sp>
      <p:cxnSp>
        <p:nvCxnSpPr>
          <p:cNvPr id="3" name="Connector 2"/>
          <p:cNvCxnSpPr/>
          <p:nvPr/>
        </p:nvCxnSpPr>
        <p:spPr>
          <a:xfrm>
            <a:off x="822960" y="123444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1600200"/>
            <a:ext cx="10515600" cy="822960"/>
          </a:xfrm>
          <a:prstGeom prst="rect">
            <a:avLst/>
          </a:prstGeom>
          <a:noFill/>
        </p:spPr>
        <p:txBody>
          <a:bodyPr wrap="square" lIns="0" rIns="0" tIns="0" bIns="0">
            <a:spAutoFit/>
          </a:bodyPr>
          <a:lstStyle/>
          <a:p>
            <a:pPr algn="l">
              <a:lnSpc>
                <a:spcPct val="125000"/>
              </a:lnSpc>
            </a:pPr>
            <a:r>
              <a:rPr sz="1400" b="0" i="0">
                <a:solidFill>
                  <a:srgbClr val="1A2430"/>
                </a:solidFill>
                <a:latin typeface="Garamond"/>
              </a:rPr>
              <a:t>The CPS is the monthly household survey of the United States, run by the Census Bureau for the Bureau of Labor Statistics. The country’s official employment figures are computed from it.</a:t>
            </a:r>
          </a:p>
        </p:txBody>
      </p:sp>
      <p:sp>
        <p:nvSpPr>
          <p:cNvPr id="5" name="TextBox 4"/>
          <p:cNvSpPr txBox="1"/>
          <p:nvPr/>
        </p:nvSpPr>
        <p:spPr>
          <a:xfrm>
            <a:off x="822960" y="2587752"/>
            <a:ext cx="10515600" cy="822960"/>
          </a:xfrm>
          <a:prstGeom prst="rect">
            <a:avLst/>
          </a:prstGeom>
          <a:noFill/>
        </p:spPr>
        <p:txBody>
          <a:bodyPr wrap="square" lIns="0" rIns="0" tIns="0" bIns="0">
            <a:spAutoFit/>
          </a:bodyPr>
          <a:lstStyle/>
          <a:p>
            <a:pPr algn="l">
              <a:lnSpc>
                <a:spcPct val="125000"/>
              </a:lnSpc>
            </a:pPr>
            <a:r>
              <a:rPr sz="1400" b="0" i="0">
                <a:solidFill>
                  <a:srgbClr val="1A2430"/>
                </a:solidFill>
                <a:latin typeface="Garamond"/>
              </a:rPr>
              <a:t>Each March, its Annual Social and Economic Supplement asks every adult about the previous calendar year: the longest job held, weeks worked, earnings, and benefits.</a:t>
            </a:r>
          </a:p>
        </p:txBody>
      </p:sp>
      <p:sp>
        <p:nvSpPr>
          <p:cNvPr id="6" name="TextBox 5"/>
          <p:cNvSpPr txBox="1"/>
          <p:nvPr/>
        </p:nvSpPr>
        <p:spPr>
          <a:xfrm>
            <a:off x="822960" y="3575304"/>
            <a:ext cx="10515600" cy="822960"/>
          </a:xfrm>
          <a:prstGeom prst="rect">
            <a:avLst/>
          </a:prstGeom>
          <a:noFill/>
        </p:spPr>
        <p:txBody>
          <a:bodyPr wrap="square" lIns="0" rIns="0" tIns="0" bIns="0">
            <a:spAutoFit/>
          </a:bodyPr>
          <a:lstStyle/>
          <a:p>
            <a:pPr algn="l">
              <a:lnSpc>
                <a:spcPct val="125000"/>
              </a:lnSpc>
            </a:pPr>
            <a:r>
              <a:rPr sz="1400" b="0" i="0">
                <a:solidFill>
                  <a:srgbClr val="1A2430"/>
                </a:solidFill>
                <a:latin typeface="Garamond"/>
              </a:rPr>
              <a:t>That recall question is the measurement device of this paper. Whoever reports teaching as last year’s longest job, and no longer teaches at the March interview, has left the profession within the year.</a:t>
            </a:r>
          </a:p>
        </p:txBody>
      </p:sp>
      <p:sp>
        <p:nvSpPr>
          <p:cNvPr id="7" name="TextBox 6"/>
          <p:cNvSpPr txBox="1"/>
          <p:nvPr/>
        </p:nvSpPr>
        <p:spPr>
          <a:xfrm>
            <a:off x="822960" y="4562856"/>
            <a:ext cx="10515600" cy="822960"/>
          </a:xfrm>
          <a:prstGeom prst="rect">
            <a:avLst/>
          </a:prstGeom>
          <a:noFill/>
        </p:spPr>
        <p:txBody>
          <a:bodyPr wrap="square" lIns="0" rIns="0" tIns="0" bIns="0">
            <a:spAutoFit/>
          </a:bodyPr>
          <a:lstStyle/>
          <a:p>
            <a:pPr algn="l">
              <a:lnSpc>
                <a:spcPct val="125000"/>
              </a:lnSpc>
            </a:pPr>
            <a:r>
              <a:rPr sz="1400" b="0" i="0">
                <a:solidFill>
                  <a:srgbClr val="1A2430"/>
                </a:solidFill>
                <a:latin typeface="Garamond"/>
              </a:rPr>
              <a:t>Households are interviewed on a fixed rotation, four months in, eight out, four in, so the same person can also be found one year later. That is the basis of the panel measures discussed next.</a:t>
            </a:r>
          </a:p>
        </p:txBody>
      </p:sp>
      <p:sp>
        <p:nvSpPr>
          <p:cNvPr id="8" name="TextBox 7"/>
          <p:cNvSpPr txBox="1"/>
          <p:nvPr/>
        </p:nvSpPr>
        <p:spPr>
          <a:xfrm>
            <a:off x="822960" y="5687568"/>
            <a:ext cx="10515600" cy="457200"/>
          </a:xfrm>
          <a:prstGeom prst="rect">
            <a:avLst/>
          </a:prstGeom>
          <a:noFill/>
        </p:spPr>
        <p:txBody>
          <a:bodyPr wrap="square" lIns="0" rIns="0" tIns="0" bIns="0">
            <a:spAutoFit/>
          </a:bodyPr>
          <a:lstStyle/>
          <a:p>
            <a:pPr algn="l">
              <a:lnSpc>
                <a:spcPct val="100000"/>
              </a:lnSpc>
            </a:pPr>
            <a:r>
              <a:rPr sz="1400" b="1" i="0">
                <a:solidFill>
                  <a:srgbClr val="1F4E79"/>
                </a:solidFill>
                <a:latin typeface="Garamond"/>
              </a:rPr>
              <a:t>Pooled here: 28 consecutive supplements, five million records, 104,545 teachers.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10515600" cy="548640"/>
          </a:xfrm>
          <a:prstGeom prst="rect">
            <a:avLst/>
          </a:prstGeom>
          <a:noFill/>
        </p:spPr>
        <p:txBody>
          <a:bodyPr wrap="square" lIns="0" rIns="0" tIns="0" bIns="0">
            <a:spAutoFit/>
          </a:bodyPr>
          <a:lstStyle/>
          <a:p>
            <a:pPr algn="l">
              <a:lnSpc>
                <a:spcPct val="100000"/>
              </a:lnSpc>
            </a:pPr>
            <a:r>
              <a:rPr sz="2600" b="1" i="0">
                <a:solidFill>
                  <a:srgbClr val="1A2430"/>
                </a:solidFill>
                <a:latin typeface="Garamond"/>
              </a:rPr>
              <a:t>Two ways to measure leaving</a:t>
            </a:r>
          </a:p>
        </p:txBody>
      </p:sp>
      <p:cxnSp>
        <p:nvCxnSpPr>
          <p:cNvPr id="3" name="Connector 2"/>
          <p:cNvCxnSpPr/>
          <p:nvPr/>
        </p:nvCxnSpPr>
        <p:spPr>
          <a:xfrm>
            <a:off x="822960" y="123444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2103120"/>
            <a:ext cx="10058400" cy="914400"/>
          </a:xfrm>
          <a:prstGeom prst="rect">
            <a:avLst/>
          </a:prstGeom>
          <a:noFill/>
        </p:spPr>
        <p:txBody>
          <a:bodyPr wrap="square" lIns="0" rIns="0" tIns="0" bIns="0">
            <a:spAutoFit/>
          </a:bodyPr>
          <a:lstStyle/>
          <a:p>
            <a:pPr algn="l">
              <a:lnSpc>
                <a:spcPct val="120000"/>
              </a:lnSpc>
            </a:pPr>
            <a:r>
              <a:rPr sz="2000" b="0" i="0">
                <a:solidFill>
                  <a:srgbClr val="1A2430"/>
                </a:solidFill>
                <a:latin typeface="Garamond"/>
              </a:rPr>
              <a:t>Ask people what they did last year, and look at what they do today.</a:t>
            </a:r>
          </a:p>
        </p:txBody>
      </p:sp>
      <p:sp>
        <p:nvSpPr>
          <p:cNvPr id="5" name="TextBox 4"/>
          <p:cNvSpPr txBox="1"/>
          <p:nvPr/>
        </p:nvSpPr>
        <p:spPr>
          <a:xfrm>
            <a:off x="822960" y="2788920"/>
            <a:ext cx="10058400" cy="457200"/>
          </a:xfrm>
          <a:prstGeom prst="rect">
            <a:avLst/>
          </a:prstGeom>
          <a:noFill/>
        </p:spPr>
        <p:txBody>
          <a:bodyPr wrap="square" lIns="0" rIns="0" tIns="0" bIns="0">
            <a:spAutoFit/>
          </a:bodyPr>
          <a:lstStyle/>
          <a:p>
            <a:pPr algn="l">
              <a:lnSpc>
                <a:spcPct val="100000"/>
              </a:lnSpc>
            </a:pPr>
            <a:r>
              <a:rPr sz="1300" b="0" i="1">
                <a:solidFill>
                  <a:srgbClr val="55606B"/>
                </a:solidFill>
                <a:latin typeface="Garamond"/>
              </a:rPr>
              <a:t>One question, one record, no matching. This is the March measure.</a:t>
            </a:r>
          </a:p>
        </p:txBody>
      </p:sp>
      <p:sp>
        <p:nvSpPr>
          <p:cNvPr id="6" name="TextBox 5"/>
          <p:cNvSpPr txBox="1"/>
          <p:nvPr/>
        </p:nvSpPr>
        <p:spPr>
          <a:xfrm>
            <a:off x="822960" y="3749039"/>
            <a:ext cx="10058400" cy="914400"/>
          </a:xfrm>
          <a:prstGeom prst="rect">
            <a:avLst/>
          </a:prstGeom>
          <a:noFill/>
        </p:spPr>
        <p:txBody>
          <a:bodyPr wrap="square" lIns="0" rIns="0" tIns="0" bIns="0">
            <a:spAutoFit/>
          </a:bodyPr>
          <a:lstStyle/>
          <a:p>
            <a:pPr algn="l">
              <a:lnSpc>
                <a:spcPct val="120000"/>
              </a:lnSpc>
            </a:pPr>
            <a:r>
              <a:rPr sz="2000" b="0" i="0">
                <a:solidFill>
                  <a:srgbClr val="1A2430"/>
                </a:solidFill>
                <a:latin typeface="Garamond"/>
              </a:rPr>
              <a:t>Or find the same person twice, a year apart, and compare.</a:t>
            </a:r>
          </a:p>
        </p:txBody>
      </p:sp>
      <p:sp>
        <p:nvSpPr>
          <p:cNvPr id="7" name="TextBox 6"/>
          <p:cNvSpPr txBox="1"/>
          <p:nvPr/>
        </p:nvSpPr>
        <p:spPr>
          <a:xfrm>
            <a:off x="822960" y="4434840"/>
            <a:ext cx="10058400" cy="457200"/>
          </a:xfrm>
          <a:prstGeom prst="rect">
            <a:avLst/>
          </a:prstGeom>
          <a:noFill/>
        </p:spPr>
        <p:txBody>
          <a:bodyPr wrap="square" lIns="0" rIns="0" tIns="0" bIns="0">
            <a:spAutoFit/>
          </a:bodyPr>
          <a:lstStyle/>
          <a:p>
            <a:pPr algn="l">
              <a:lnSpc>
                <a:spcPct val="100000"/>
              </a:lnSpc>
            </a:pPr>
            <a:r>
              <a:rPr sz="1300" b="0" i="1">
                <a:solidFill>
                  <a:srgbClr val="55606B"/>
                </a:solidFill>
                <a:latin typeface="Garamond"/>
              </a:rPr>
              <a:t>No person identifier exists, so the second look has to be constructed from household records.</a:t>
            </a:r>
          </a:p>
        </p:txBody>
      </p:sp>
      <p:sp>
        <p:nvSpPr>
          <p:cNvPr id="8" name="TextBox 7"/>
          <p:cNvSpPr txBox="1"/>
          <p:nvPr/>
        </p:nvSpPr>
        <p:spPr>
          <a:xfrm>
            <a:off x="822960" y="5394960"/>
            <a:ext cx="10332720" cy="822960"/>
          </a:xfrm>
          <a:prstGeom prst="rect">
            <a:avLst/>
          </a:prstGeom>
          <a:noFill/>
        </p:spPr>
        <p:txBody>
          <a:bodyPr wrap="square" lIns="0" rIns="0" tIns="0" bIns="0">
            <a:spAutoFit/>
          </a:bodyPr>
          <a:lstStyle/>
          <a:p>
            <a:pPr algn="l">
              <a:lnSpc>
                <a:spcPct val="100000"/>
              </a:lnSpc>
            </a:pPr>
            <a:r>
              <a:rPr sz="1500" b="0" i="0">
                <a:solidFill>
                  <a:srgbClr val="1A2430"/>
                </a:solidFill>
                <a:latin typeface="Garamond"/>
              </a:rPr>
              <a:t>Every attrition rate in the literature is one of these two, plus a choice of who counts as a teacher and how long you keep looking.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48640"/>
          </a:xfrm>
          <a:prstGeom prst="rect">
            <a:avLst/>
          </a:prstGeom>
          <a:noFill/>
        </p:spPr>
        <p:txBody>
          <a:bodyPr wrap="square" lIns="0" rIns="0" tIns="0" bIns="0">
            <a:spAutoFit/>
          </a:bodyPr>
          <a:lstStyle/>
          <a:p>
            <a:pPr algn="l">
              <a:lnSpc>
                <a:spcPct val="100000"/>
              </a:lnSpc>
            </a:pPr>
            <a:r>
              <a:rPr sz="2600" b="1" i="0">
                <a:solidFill>
                  <a:srgbClr val="1A2430"/>
                </a:solidFill>
                <a:latin typeface="Garamond"/>
              </a:rPr>
              <a:t>Who is a stayer</a:t>
            </a:r>
          </a:p>
        </p:txBody>
      </p:sp>
      <p:sp>
        <p:nvSpPr>
          <p:cNvPr id="3" name="Rounded Rectangle 2"/>
          <p:cNvSpPr/>
          <p:nvPr/>
        </p:nvSpPr>
        <p:spPr>
          <a:xfrm>
            <a:off x="822960"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4" name="Rounded Rectangle 3"/>
          <p:cNvSpPr/>
          <p:nvPr/>
        </p:nvSpPr>
        <p:spPr>
          <a:xfrm>
            <a:off x="1481328"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5" name="Rounded Rectangle 4"/>
          <p:cNvSpPr/>
          <p:nvPr/>
        </p:nvSpPr>
        <p:spPr>
          <a:xfrm>
            <a:off x="2139696"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6" name="Rounded Rectangle 5"/>
          <p:cNvSpPr/>
          <p:nvPr/>
        </p:nvSpPr>
        <p:spPr>
          <a:xfrm>
            <a:off x="2798063"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7" name="Rounded Rectangle 6"/>
          <p:cNvSpPr/>
          <p:nvPr/>
        </p:nvSpPr>
        <p:spPr>
          <a:xfrm>
            <a:off x="4279392"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8" name="Rounded Rectangle 7"/>
          <p:cNvSpPr/>
          <p:nvPr/>
        </p:nvSpPr>
        <p:spPr>
          <a:xfrm>
            <a:off x="4937759"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9" name="Rounded Rectangle 8"/>
          <p:cNvSpPr/>
          <p:nvPr/>
        </p:nvSpPr>
        <p:spPr>
          <a:xfrm>
            <a:off x="5596127"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10" name="Rounded Rectangle 9"/>
          <p:cNvSpPr/>
          <p:nvPr/>
        </p:nvSpPr>
        <p:spPr>
          <a:xfrm>
            <a:off x="6254495" y="1554480"/>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11" name="Rounded Rectangle 10"/>
          <p:cNvSpPr/>
          <p:nvPr/>
        </p:nvSpPr>
        <p:spPr>
          <a:xfrm>
            <a:off x="7370063" y="1609344"/>
            <a:ext cx="2011680" cy="457200"/>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Garamond"/>
              </a:rPr>
              <a:t>stayer</a:t>
            </a:r>
          </a:p>
        </p:txBody>
      </p:sp>
      <p:sp>
        <p:nvSpPr>
          <p:cNvPr id="12" name="Rounded Rectangle 11"/>
          <p:cNvSpPr/>
          <p:nvPr/>
        </p:nvSpPr>
        <p:spPr>
          <a:xfrm>
            <a:off x="822960" y="260603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13" name="Rounded Rectangle 12"/>
          <p:cNvSpPr/>
          <p:nvPr/>
        </p:nvSpPr>
        <p:spPr>
          <a:xfrm>
            <a:off x="1481328" y="260603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14" name="Rounded Rectangle 13"/>
          <p:cNvSpPr/>
          <p:nvPr/>
        </p:nvSpPr>
        <p:spPr>
          <a:xfrm>
            <a:off x="2139696" y="260603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15" name="Rounded Rectangle 14"/>
          <p:cNvSpPr/>
          <p:nvPr/>
        </p:nvSpPr>
        <p:spPr>
          <a:xfrm>
            <a:off x="2798063" y="260603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16" name="Rounded Rectangle 15"/>
          <p:cNvSpPr/>
          <p:nvPr/>
        </p:nvSpPr>
        <p:spPr>
          <a:xfrm>
            <a:off x="4279392" y="260603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937759" y="260603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96127" y="260603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5" y="260603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20" name="Rounded Rectangle 19"/>
          <p:cNvSpPr/>
          <p:nvPr/>
        </p:nvSpPr>
        <p:spPr>
          <a:xfrm>
            <a:off x="7370063" y="2660903"/>
            <a:ext cx="2011680" cy="457200"/>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Garamond"/>
              </a:rPr>
              <a:t>stayer</a:t>
            </a:r>
          </a:p>
        </p:txBody>
      </p:sp>
      <p:sp>
        <p:nvSpPr>
          <p:cNvPr id="21" name="Rounded Rectangle 20"/>
          <p:cNvSpPr/>
          <p:nvPr/>
        </p:nvSpPr>
        <p:spPr>
          <a:xfrm>
            <a:off x="822960" y="365759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22" name="Rounded Rectangle 21"/>
          <p:cNvSpPr/>
          <p:nvPr/>
        </p:nvSpPr>
        <p:spPr>
          <a:xfrm>
            <a:off x="1481328" y="365759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23" name="Rounded Rectangle 22"/>
          <p:cNvSpPr/>
          <p:nvPr/>
        </p:nvSpPr>
        <p:spPr>
          <a:xfrm>
            <a:off x="2139696" y="365759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98063" y="365759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279392" y="365759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937759" y="365759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596127" y="365759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254495" y="365759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370063" y="3712463"/>
            <a:ext cx="2011680" cy="457200"/>
          </a:xfrm>
          <a:prstGeom prst="roundRect">
            <a:avLst>
              <a:gd name="adj" fmla="val 12000"/>
            </a:avLst>
          </a:prstGeom>
          <a:solidFill>
            <a:srgbClr val="B544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Garamond"/>
              </a:rPr>
              <a:t>leaver</a:t>
            </a:r>
          </a:p>
        </p:txBody>
      </p:sp>
      <p:sp>
        <p:nvSpPr>
          <p:cNvPr id="30" name="Rounded Rectangle 29"/>
          <p:cNvSpPr/>
          <p:nvPr/>
        </p:nvSpPr>
        <p:spPr>
          <a:xfrm>
            <a:off x="822960" y="4709159"/>
            <a:ext cx="566928" cy="566928"/>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Garamond"/>
              </a:rPr>
              <a:t>T</a:t>
            </a:r>
          </a:p>
        </p:txBody>
      </p:sp>
      <p:sp>
        <p:nvSpPr>
          <p:cNvPr id="31" name="Rounded Rectangle 30"/>
          <p:cNvSpPr/>
          <p:nvPr/>
        </p:nvSpPr>
        <p:spPr>
          <a:xfrm>
            <a:off x="1481328" y="470915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139696" y="470915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798063" y="470915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279392" y="470915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937759" y="470915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596127" y="470915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54495" y="4709159"/>
            <a:ext cx="566928" cy="566928"/>
          </a:xfrm>
          <a:prstGeom prst="roundRect">
            <a:avLst>
              <a:gd name="adj" fmla="val 12000"/>
            </a:avLst>
          </a:prstGeom>
          <a:solidFill>
            <a:srgbClr val="E3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370063" y="4764023"/>
            <a:ext cx="2011680" cy="457200"/>
          </a:xfrm>
          <a:prstGeom prst="roundRect">
            <a:avLst>
              <a:gd name="adj" fmla="val 12000"/>
            </a:avLst>
          </a:prstGeom>
          <a:solidFill>
            <a:srgbClr val="8A9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Garamond"/>
              </a:rPr>
              <a:t>not counted</a:t>
            </a:r>
          </a:p>
        </p:txBody>
      </p:sp>
      <p:sp>
        <p:nvSpPr>
          <p:cNvPr id="39" name="TextBox 38"/>
          <p:cNvSpPr txBox="1"/>
          <p:nvPr/>
        </p:nvSpPr>
        <p:spPr>
          <a:xfrm>
            <a:off x="822960" y="5852159"/>
            <a:ext cx="4572000" cy="365760"/>
          </a:xfrm>
          <a:prstGeom prst="rect">
            <a:avLst/>
          </a:prstGeom>
          <a:noFill/>
        </p:spPr>
        <p:txBody>
          <a:bodyPr wrap="square" lIns="0" rIns="0" tIns="0" bIns="0">
            <a:spAutoFit/>
          </a:bodyPr>
          <a:lstStyle/>
          <a:p>
            <a:pPr algn="l">
              <a:lnSpc>
                <a:spcPct val="100000"/>
              </a:lnSpc>
            </a:pPr>
            <a:r>
              <a:rPr sz="1200" b="0" i="0">
                <a:solidFill>
                  <a:srgbClr val="55606B"/>
                </a:solidFill>
                <a:latin typeface="Garamond"/>
              </a:rPr>
              <a:t>year one</a:t>
            </a:r>
          </a:p>
        </p:txBody>
      </p:sp>
      <p:sp>
        <p:nvSpPr>
          <p:cNvPr id="40" name="TextBox 39"/>
          <p:cNvSpPr txBox="1"/>
          <p:nvPr/>
        </p:nvSpPr>
        <p:spPr>
          <a:xfrm>
            <a:off x="5852160" y="5852159"/>
            <a:ext cx="4572000" cy="365760"/>
          </a:xfrm>
          <a:prstGeom prst="rect">
            <a:avLst/>
          </a:prstGeom>
          <a:noFill/>
        </p:spPr>
        <p:txBody>
          <a:bodyPr wrap="square" lIns="0" rIns="0" tIns="0" bIns="0">
            <a:spAutoFit/>
          </a:bodyPr>
          <a:lstStyle/>
          <a:p>
            <a:pPr algn="l">
              <a:lnSpc>
                <a:spcPct val="100000"/>
              </a:lnSpc>
            </a:pPr>
            <a:r>
              <a:rPr sz="1200" b="0" i="0">
                <a:solidFill>
                  <a:srgbClr val="55606B"/>
                </a:solidFill>
                <a:latin typeface="Garamond"/>
              </a:rPr>
              <a:t>one year later</a:t>
            </a:r>
          </a:p>
        </p:txBody>
      </p:sp>
      <p:sp>
        <p:nvSpPr>
          <p:cNvPr id="41" name="TextBox 40"/>
          <p:cNvSpPr txBox="1"/>
          <p:nvPr/>
        </p:nvSpPr>
        <p:spPr>
          <a:xfrm>
            <a:off x="822960" y="6327647"/>
            <a:ext cx="10515600" cy="365760"/>
          </a:xfrm>
          <a:prstGeom prst="rect">
            <a:avLst/>
          </a:prstGeom>
          <a:noFill/>
        </p:spPr>
        <p:txBody>
          <a:bodyPr wrap="square" lIns="0" rIns="0" tIns="0" bIns="0">
            <a:spAutoFit/>
          </a:bodyPr>
          <a:lstStyle/>
          <a:p>
            <a:pPr algn="l">
              <a:lnSpc>
                <a:spcPct val="100000"/>
              </a:lnSpc>
            </a:pPr>
            <a:r>
              <a:rPr sz="1100" b="0" i="1">
                <a:solidFill>
                  <a:srgbClr val="55606B"/>
                </a:solidFill>
                <a:latin typeface="Garamond"/>
              </a:rPr>
              <a:t>Filled: seen teaching.  Light: interviewed, not teaching.  A single sighting does not make a teacher.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10515600" cy="548640"/>
          </a:xfrm>
          <a:prstGeom prst="rect">
            <a:avLst/>
          </a:prstGeom>
          <a:noFill/>
        </p:spPr>
        <p:txBody>
          <a:bodyPr wrap="square" lIns="0" rIns="0" tIns="0" bIns="0">
            <a:spAutoFit/>
          </a:bodyPr>
          <a:lstStyle/>
          <a:p>
            <a:pPr algn="l">
              <a:lnSpc>
                <a:spcPct val="100000"/>
              </a:lnSpc>
            </a:pPr>
            <a:r>
              <a:rPr sz="2600" b="1" i="0">
                <a:solidFill>
                  <a:srgbClr val="1A2430"/>
                </a:solidFill>
                <a:latin typeface="Garamond"/>
              </a:rPr>
              <a:t>Five ways to count, one file</a:t>
            </a:r>
          </a:p>
        </p:txBody>
      </p:sp>
      <p:cxnSp>
        <p:nvCxnSpPr>
          <p:cNvPr id="3" name="Connector 2"/>
          <p:cNvCxnSpPr/>
          <p:nvPr/>
        </p:nvCxnSpPr>
        <p:spPr>
          <a:xfrm>
            <a:off x="822960" y="1298448"/>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1417320"/>
            <a:ext cx="3017520" cy="365760"/>
          </a:xfrm>
          <a:prstGeom prst="rect">
            <a:avLst/>
          </a:prstGeom>
          <a:noFill/>
        </p:spPr>
        <p:txBody>
          <a:bodyPr wrap="square" lIns="0" rIns="0" tIns="0" bIns="0">
            <a:spAutoFit/>
          </a:bodyPr>
          <a:lstStyle/>
          <a:p>
            <a:pPr algn="l">
              <a:lnSpc>
                <a:spcPct val="100000"/>
              </a:lnSpc>
            </a:pPr>
            <a:r>
              <a:rPr sz="1250" b="1" i="0">
                <a:solidFill>
                  <a:srgbClr val="1A2430"/>
                </a:solidFill>
                <a:latin typeface="Garamond"/>
              </a:rPr>
              <a:t>Measure</a:t>
            </a:r>
          </a:p>
        </p:txBody>
      </p:sp>
      <p:sp>
        <p:nvSpPr>
          <p:cNvPr id="5" name="TextBox 4"/>
          <p:cNvSpPr txBox="1"/>
          <p:nvPr/>
        </p:nvSpPr>
        <p:spPr>
          <a:xfrm>
            <a:off x="3931920" y="1417320"/>
            <a:ext cx="5852160" cy="365760"/>
          </a:xfrm>
          <a:prstGeom prst="rect">
            <a:avLst/>
          </a:prstGeom>
          <a:noFill/>
        </p:spPr>
        <p:txBody>
          <a:bodyPr wrap="square" lIns="0" rIns="0" tIns="0" bIns="0">
            <a:spAutoFit/>
          </a:bodyPr>
          <a:lstStyle/>
          <a:p>
            <a:pPr algn="l">
              <a:lnSpc>
                <a:spcPct val="100000"/>
              </a:lnSpc>
            </a:pPr>
            <a:r>
              <a:rPr sz="1250" b="1" i="0">
                <a:solidFill>
                  <a:srgbClr val="1A2430"/>
                </a:solidFill>
                <a:latin typeface="Garamond"/>
              </a:rPr>
              <a:t>In words</a:t>
            </a:r>
          </a:p>
        </p:txBody>
      </p:sp>
      <p:sp>
        <p:nvSpPr>
          <p:cNvPr id="6" name="TextBox 5"/>
          <p:cNvSpPr txBox="1"/>
          <p:nvPr/>
        </p:nvSpPr>
        <p:spPr>
          <a:xfrm>
            <a:off x="9966960" y="1417320"/>
            <a:ext cx="1371600" cy="365760"/>
          </a:xfrm>
          <a:prstGeom prst="rect">
            <a:avLst/>
          </a:prstGeom>
          <a:noFill/>
        </p:spPr>
        <p:txBody>
          <a:bodyPr wrap="square" lIns="0" rIns="0" tIns="0" bIns="0">
            <a:spAutoFit/>
          </a:bodyPr>
          <a:lstStyle/>
          <a:p>
            <a:pPr algn="l">
              <a:lnSpc>
                <a:spcPct val="100000"/>
              </a:lnSpc>
            </a:pPr>
            <a:r>
              <a:rPr sz="1250" b="1" i="0">
                <a:solidFill>
                  <a:srgbClr val="1A2430"/>
                </a:solidFill>
                <a:latin typeface="Garamond"/>
              </a:rPr>
              <a:t>Rate</a:t>
            </a:r>
          </a:p>
        </p:txBody>
      </p:sp>
      <p:cxnSp>
        <p:nvCxnSpPr>
          <p:cNvPr id="7" name="Connector 6"/>
          <p:cNvCxnSpPr/>
          <p:nvPr/>
        </p:nvCxnSpPr>
        <p:spPr>
          <a:xfrm>
            <a:off x="822960" y="178308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1993392"/>
            <a:ext cx="3017520" cy="640080"/>
          </a:xfrm>
          <a:prstGeom prst="rect">
            <a:avLst/>
          </a:prstGeom>
          <a:noFill/>
        </p:spPr>
        <p:txBody>
          <a:bodyPr wrap="square" lIns="0" rIns="0" tIns="0" bIns="0">
            <a:spAutoFit/>
          </a:bodyPr>
          <a:lstStyle/>
          <a:p>
            <a:pPr algn="l">
              <a:lnSpc>
                <a:spcPct val="100000"/>
              </a:lnSpc>
            </a:pPr>
            <a:r>
              <a:rPr sz="1250" b="1" i="0">
                <a:solidFill>
                  <a:srgbClr val="1F4E79"/>
                </a:solidFill>
                <a:latin typeface="Garamond"/>
              </a:rPr>
              <a:t>March recall  (this paper)</a:t>
            </a:r>
          </a:p>
        </p:txBody>
      </p:sp>
      <p:sp>
        <p:nvSpPr>
          <p:cNvPr id="9" name="TextBox 8"/>
          <p:cNvSpPr txBox="1"/>
          <p:nvPr/>
        </p:nvSpPr>
        <p:spPr>
          <a:xfrm>
            <a:off x="3931920" y="1993392"/>
            <a:ext cx="5852160" cy="640080"/>
          </a:xfrm>
          <a:prstGeom prst="rect">
            <a:avLst/>
          </a:prstGeom>
          <a:noFill/>
        </p:spPr>
        <p:txBody>
          <a:bodyPr wrap="square" lIns="0" rIns="0" tIns="0" bIns="0">
            <a:spAutoFit/>
          </a:bodyPr>
          <a:lstStyle/>
          <a:p>
            <a:pPr algn="l">
              <a:lnSpc>
                <a:spcPct val="100000"/>
              </a:lnSpc>
            </a:pPr>
            <a:r>
              <a:rPr sz="1250" b="0" i="0">
                <a:solidFill>
                  <a:srgbClr val="1A2430"/>
                </a:solidFill>
                <a:latin typeface="Garamond"/>
              </a:rPr>
              <a:t>the main job of last year was teaching, and it is gone by March</a:t>
            </a:r>
          </a:p>
        </p:txBody>
      </p:sp>
      <p:sp>
        <p:nvSpPr>
          <p:cNvPr id="10" name="TextBox 9"/>
          <p:cNvSpPr txBox="1"/>
          <p:nvPr/>
        </p:nvSpPr>
        <p:spPr>
          <a:xfrm>
            <a:off x="9966960" y="1993392"/>
            <a:ext cx="1371600" cy="640080"/>
          </a:xfrm>
          <a:prstGeom prst="rect">
            <a:avLst/>
          </a:prstGeom>
          <a:noFill/>
        </p:spPr>
        <p:txBody>
          <a:bodyPr wrap="square" lIns="0" rIns="0" tIns="0" bIns="0">
            <a:spAutoFit/>
          </a:bodyPr>
          <a:lstStyle/>
          <a:p>
            <a:pPr algn="l">
              <a:lnSpc>
                <a:spcPct val="100000"/>
              </a:lnSpc>
            </a:pPr>
            <a:r>
              <a:rPr sz="1250" b="1" i="0">
                <a:solidFill>
                  <a:srgbClr val="1F4E79"/>
                </a:solidFill>
                <a:latin typeface="Garamond"/>
              </a:rPr>
              <a:t>8.6</a:t>
            </a:r>
          </a:p>
        </p:txBody>
      </p:sp>
      <p:sp>
        <p:nvSpPr>
          <p:cNvPr id="11" name="TextBox 10"/>
          <p:cNvSpPr txBox="1"/>
          <p:nvPr/>
        </p:nvSpPr>
        <p:spPr>
          <a:xfrm>
            <a:off x="822960" y="2651760"/>
            <a:ext cx="3017520" cy="640080"/>
          </a:xfrm>
          <a:prstGeom prst="rect">
            <a:avLst/>
          </a:prstGeom>
          <a:noFill/>
        </p:spPr>
        <p:txBody>
          <a:bodyPr wrap="square" lIns="0" rIns="0" tIns="0" bIns="0">
            <a:spAutoFit/>
          </a:bodyPr>
          <a:lstStyle/>
          <a:p>
            <a:pPr algn="l">
              <a:lnSpc>
                <a:spcPct val="100000"/>
              </a:lnSpc>
            </a:pPr>
            <a:r>
              <a:rPr sz="1250" b="1" i="0">
                <a:solidFill>
                  <a:srgbClr val="1F4E79"/>
                </a:solidFill>
                <a:latin typeface="Garamond"/>
              </a:rPr>
              <a:t>Pure occupation pair</a:t>
            </a:r>
          </a:p>
        </p:txBody>
      </p:sp>
      <p:sp>
        <p:nvSpPr>
          <p:cNvPr id="12" name="TextBox 11"/>
          <p:cNvSpPr txBox="1"/>
          <p:nvPr/>
        </p:nvSpPr>
        <p:spPr>
          <a:xfrm>
            <a:off x="3931920" y="2651760"/>
            <a:ext cx="5852160" cy="640080"/>
          </a:xfrm>
          <a:prstGeom prst="rect">
            <a:avLst/>
          </a:prstGeom>
          <a:noFill/>
        </p:spPr>
        <p:txBody>
          <a:bodyPr wrap="square" lIns="0" rIns="0" tIns="0" bIns="0">
            <a:spAutoFit/>
          </a:bodyPr>
          <a:lstStyle/>
          <a:p>
            <a:pPr algn="l">
              <a:lnSpc>
                <a:spcPct val="100000"/>
              </a:lnSpc>
            </a:pPr>
            <a:r>
              <a:rPr sz="1250" b="0" i="0">
                <a:solidFill>
                  <a:srgbClr val="1A2430"/>
                </a:solidFill>
                <a:latin typeface="Garamond"/>
              </a:rPr>
              <a:t>last year’s and today’s occupation compared directly, nothing else</a:t>
            </a:r>
          </a:p>
        </p:txBody>
      </p:sp>
      <p:sp>
        <p:nvSpPr>
          <p:cNvPr id="13" name="TextBox 12"/>
          <p:cNvSpPr txBox="1"/>
          <p:nvPr/>
        </p:nvSpPr>
        <p:spPr>
          <a:xfrm>
            <a:off x="9966960" y="2651760"/>
            <a:ext cx="1371600" cy="640080"/>
          </a:xfrm>
          <a:prstGeom prst="rect">
            <a:avLst/>
          </a:prstGeom>
          <a:noFill/>
        </p:spPr>
        <p:txBody>
          <a:bodyPr wrap="square" lIns="0" rIns="0" tIns="0" bIns="0">
            <a:spAutoFit/>
          </a:bodyPr>
          <a:lstStyle/>
          <a:p>
            <a:pPr algn="l">
              <a:lnSpc>
                <a:spcPct val="100000"/>
              </a:lnSpc>
            </a:pPr>
            <a:r>
              <a:rPr sz="1250" b="1" i="0">
                <a:solidFill>
                  <a:srgbClr val="1F4E79"/>
                </a:solidFill>
                <a:latin typeface="Garamond"/>
              </a:rPr>
              <a:t>5.8</a:t>
            </a:r>
          </a:p>
        </p:txBody>
      </p:sp>
      <p:sp>
        <p:nvSpPr>
          <p:cNvPr id="14" name="TextBox 13"/>
          <p:cNvSpPr txBox="1"/>
          <p:nvPr/>
        </p:nvSpPr>
        <p:spPr>
          <a:xfrm>
            <a:off x="822960" y="3310128"/>
            <a:ext cx="3017520" cy="640080"/>
          </a:xfrm>
          <a:prstGeom prst="rect">
            <a:avLst/>
          </a:prstGeom>
          <a:noFill/>
        </p:spPr>
        <p:txBody>
          <a:bodyPr wrap="square" lIns="0" rIns="0" tIns="0" bIns="0">
            <a:spAutoFit/>
          </a:bodyPr>
          <a:lstStyle/>
          <a:p>
            <a:pPr algn="l">
              <a:lnSpc>
                <a:spcPct val="100000"/>
              </a:lnSpc>
            </a:pPr>
            <a:r>
              <a:rPr sz="1250" b="1" i="0">
                <a:solidFill>
                  <a:srgbClr val="B5443C"/>
                </a:solidFill>
                <a:latin typeface="Garamond"/>
              </a:rPr>
              <a:t>Panel, one verdict per teacher</a:t>
            </a:r>
          </a:p>
        </p:txBody>
      </p:sp>
      <p:sp>
        <p:nvSpPr>
          <p:cNvPr id="15" name="TextBox 14"/>
          <p:cNvSpPr txBox="1"/>
          <p:nvPr/>
        </p:nvSpPr>
        <p:spPr>
          <a:xfrm>
            <a:off x="3931920" y="3310128"/>
            <a:ext cx="5852160" cy="640080"/>
          </a:xfrm>
          <a:prstGeom prst="rect">
            <a:avLst/>
          </a:prstGeom>
          <a:noFill/>
        </p:spPr>
        <p:txBody>
          <a:bodyPr wrap="square" lIns="0" rIns="0" tIns="0" bIns="0">
            <a:spAutoFit/>
          </a:bodyPr>
          <a:lstStyle/>
          <a:p>
            <a:pPr algn="l">
              <a:lnSpc>
                <a:spcPct val="100000"/>
              </a:lnSpc>
            </a:pPr>
            <a:r>
              <a:rPr sz="1250" b="0" i="0">
                <a:solidFill>
                  <a:srgbClr val="1A2430"/>
                </a:solidFill>
                <a:latin typeface="Garamond"/>
              </a:rPr>
              <a:t>seen teaching twice; never seen teaching again a year later</a:t>
            </a:r>
          </a:p>
        </p:txBody>
      </p:sp>
      <p:sp>
        <p:nvSpPr>
          <p:cNvPr id="16" name="TextBox 15"/>
          <p:cNvSpPr txBox="1"/>
          <p:nvPr/>
        </p:nvSpPr>
        <p:spPr>
          <a:xfrm>
            <a:off x="9966960" y="3310128"/>
            <a:ext cx="1371600" cy="640080"/>
          </a:xfrm>
          <a:prstGeom prst="rect">
            <a:avLst/>
          </a:prstGeom>
          <a:noFill/>
        </p:spPr>
        <p:txBody>
          <a:bodyPr wrap="square" lIns="0" rIns="0" tIns="0" bIns="0">
            <a:spAutoFit/>
          </a:bodyPr>
          <a:lstStyle/>
          <a:p>
            <a:pPr algn="l">
              <a:lnSpc>
                <a:spcPct val="100000"/>
              </a:lnSpc>
            </a:pPr>
            <a:r>
              <a:rPr sz="1250" b="1" i="0">
                <a:solidFill>
                  <a:srgbClr val="B5443C"/>
                </a:solidFill>
                <a:latin typeface="Garamond"/>
              </a:rPr>
              <a:t>13.0</a:t>
            </a:r>
          </a:p>
        </p:txBody>
      </p:sp>
      <p:sp>
        <p:nvSpPr>
          <p:cNvPr id="17" name="TextBox 16"/>
          <p:cNvSpPr txBox="1"/>
          <p:nvPr/>
        </p:nvSpPr>
        <p:spPr>
          <a:xfrm>
            <a:off x="822960" y="3968496"/>
            <a:ext cx="3017520" cy="640080"/>
          </a:xfrm>
          <a:prstGeom prst="rect">
            <a:avLst/>
          </a:prstGeom>
          <a:noFill/>
        </p:spPr>
        <p:txBody>
          <a:bodyPr wrap="square" lIns="0" rIns="0" tIns="0" bIns="0">
            <a:spAutoFit/>
          </a:bodyPr>
          <a:lstStyle/>
          <a:p>
            <a:pPr algn="l">
              <a:lnSpc>
                <a:spcPct val="100000"/>
              </a:lnSpc>
            </a:pPr>
            <a:r>
              <a:rPr sz="1250" b="1" i="0">
                <a:solidFill>
                  <a:srgbClr val="B5443C"/>
                </a:solidFill>
                <a:latin typeface="Garamond"/>
              </a:rPr>
              <a:t>Panel, month pairs</a:t>
            </a:r>
          </a:p>
        </p:txBody>
      </p:sp>
      <p:sp>
        <p:nvSpPr>
          <p:cNvPr id="18" name="TextBox 17"/>
          <p:cNvSpPr txBox="1"/>
          <p:nvPr/>
        </p:nvSpPr>
        <p:spPr>
          <a:xfrm>
            <a:off x="3931920" y="3968496"/>
            <a:ext cx="5852160" cy="640080"/>
          </a:xfrm>
          <a:prstGeom prst="rect">
            <a:avLst/>
          </a:prstGeom>
          <a:noFill/>
        </p:spPr>
        <p:txBody>
          <a:bodyPr wrap="square" lIns="0" rIns="0" tIns="0" bIns="0">
            <a:spAutoFit/>
          </a:bodyPr>
          <a:lstStyle/>
          <a:p>
            <a:pPr algn="l">
              <a:lnSpc>
                <a:spcPct val="100000"/>
              </a:lnSpc>
            </a:pPr>
            <a:r>
              <a:rPr sz="1250" b="0" i="0">
                <a:solidFill>
                  <a:srgbClr val="1A2430"/>
                </a:solidFill>
                <a:latin typeface="Garamond"/>
              </a:rPr>
              <a:t>every teaching month checked exactly twelve months later</a:t>
            </a:r>
          </a:p>
        </p:txBody>
      </p:sp>
      <p:sp>
        <p:nvSpPr>
          <p:cNvPr id="19" name="TextBox 18"/>
          <p:cNvSpPr txBox="1"/>
          <p:nvPr/>
        </p:nvSpPr>
        <p:spPr>
          <a:xfrm>
            <a:off x="9966960" y="3968496"/>
            <a:ext cx="1371600" cy="640080"/>
          </a:xfrm>
          <a:prstGeom prst="rect">
            <a:avLst/>
          </a:prstGeom>
          <a:noFill/>
        </p:spPr>
        <p:txBody>
          <a:bodyPr wrap="square" lIns="0" rIns="0" tIns="0" bIns="0">
            <a:spAutoFit/>
          </a:bodyPr>
          <a:lstStyle/>
          <a:p>
            <a:pPr algn="l">
              <a:lnSpc>
                <a:spcPct val="100000"/>
              </a:lnSpc>
            </a:pPr>
            <a:r>
              <a:rPr sz="1250" b="1" i="0">
                <a:solidFill>
                  <a:srgbClr val="B5443C"/>
                </a:solidFill>
                <a:latin typeface="Garamond"/>
              </a:rPr>
              <a:t>15.4</a:t>
            </a:r>
          </a:p>
        </p:txBody>
      </p:sp>
      <p:sp>
        <p:nvSpPr>
          <p:cNvPr id="20" name="TextBox 19"/>
          <p:cNvSpPr txBox="1"/>
          <p:nvPr/>
        </p:nvSpPr>
        <p:spPr>
          <a:xfrm>
            <a:off x="822960" y="4626864"/>
            <a:ext cx="3017520" cy="640080"/>
          </a:xfrm>
          <a:prstGeom prst="rect">
            <a:avLst/>
          </a:prstGeom>
          <a:noFill/>
        </p:spPr>
        <p:txBody>
          <a:bodyPr wrap="square" lIns="0" rIns="0" tIns="0" bIns="0">
            <a:spAutoFit/>
          </a:bodyPr>
          <a:lstStyle/>
          <a:p>
            <a:pPr algn="l">
              <a:lnSpc>
                <a:spcPct val="100000"/>
              </a:lnSpc>
            </a:pPr>
            <a:r>
              <a:rPr sz="1250" b="1" i="0">
                <a:solidFill>
                  <a:srgbClr val="B5443C"/>
                </a:solidFill>
                <a:latin typeface="Garamond"/>
              </a:rPr>
              <a:t>Panel, any sighting</a:t>
            </a:r>
          </a:p>
        </p:txBody>
      </p:sp>
      <p:sp>
        <p:nvSpPr>
          <p:cNvPr id="21" name="TextBox 20"/>
          <p:cNvSpPr txBox="1"/>
          <p:nvPr/>
        </p:nvSpPr>
        <p:spPr>
          <a:xfrm>
            <a:off x="3931920" y="4626864"/>
            <a:ext cx="5852160" cy="640080"/>
          </a:xfrm>
          <a:prstGeom prst="rect">
            <a:avLst/>
          </a:prstGeom>
          <a:noFill/>
        </p:spPr>
        <p:txBody>
          <a:bodyPr wrap="square" lIns="0" rIns="0" tIns="0" bIns="0">
            <a:spAutoFit/>
          </a:bodyPr>
          <a:lstStyle/>
          <a:p>
            <a:pPr algn="l">
              <a:lnSpc>
                <a:spcPct val="100000"/>
              </a:lnSpc>
            </a:pPr>
            <a:r>
              <a:rPr sz="1250" b="0" i="0">
                <a:solidFill>
                  <a:srgbClr val="1A2430"/>
                </a:solidFill>
                <a:latin typeface="Garamond"/>
              </a:rPr>
              <a:t>one teaching month is enough to enter the count</a:t>
            </a:r>
          </a:p>
        </p:txBody>
      </p:sp>
      <p:sp>
        <p:nvSpPr>
          <p:cNvPr id="22" name="TextBox 21"/>
          <p:cNvSpPr txBox="1"/>
          <p:nvPr/>
        </p:nvSpPr>
        <p:spPr>
          <a:xfrm>
            <a:off x="9966960" y="4626864"/>
            <a:ext cx="1371600" cy="640080"/>
          </a:xfrm>
          <a:prstGeom prst="rect">
            <a:avLst/>
          </a:prstGeom>
          <a:noFill/>
        </p:spPr>
        <p:txBody>
          <a:bodyPr wrap="square" lIns="0" rIns="0" tIns="0" bIns="0">
            <a:spAutoFit/>
          </a:bodyPr>
          <a:lstStyle/>
          <a:p>
            <a:pPr algn="l">
              <a:lnSpc>
                <a:spcPct val="100000"/>
              </a:lnSpc>
            </a:pPr>
            <a:r>
              <a:rPr sz="1250" b="1" i="0">
                <a:solidFill>
                  <a:srgbClr val="B5443C"/>
                </a:solidFill>
                <a:latin typeface="Garamond"/>
              </a:rPr>
              <a:t>18.2</a:t>
            </a:r>
          </a:p>
        </p:txBody>
      </p:sp>
      <p:sp>
        <p:nvSpPr>
          <p:cNvPr id="23" name="TextBox 22"/>
          <p:cNvSpPr txBox="1"/>
          <p:nvPr/>
        </p:nvSpPr>
        <p:spPr>
          <a:xfrm>
            <a:off x="822960" y="5285231"/>
            <a:ext cx="3017520" cy="640080"/>
          </a:xfrm>
          <a:prstGeom prst="rect">
            <a:avLst/>
          </a:prstGeom>
          <a:noFill/>
        </p:spPr>
        <p:txBody>
          <a:bodyPr wrap="square" lIns="0" rIns="0" tIns="0" bIns="0">
            <a:spAutoFit/>
          </a:bodyPr>
          <a:lstStyle/>
          <a:p>
            <a:pPr algn="l">
              <a:lnSpc>
                <a:spcPct val="100000"/>
              </a:lnSpc>
            </a:pPr>
            <a:r>
              <a:rPr sz="1250" b="1" i="0">
                <a:solidFill>
                  <a:srgbClr val="55606B"/>
                </a:solidFill>
                <a:latin typeface="Garamond"/>
              </a:rPr>
              <a:t>NCES follow-up survey</a:t>
            </a:r>
          </a:p>
        </p:txBody>
      </p:sp>
      <p:sp>
        <p:nvSpPr>
          <p:cNvPr id="24" name="TextBox 23"/>
          <p:cNvSpPr txBox="1"/>
          <p:nvPr/>
        </p:nvSpPr>
        <p:spPr>
          <a:xfrm>
            <a:off x="3931920" y="5285231"/>
            <a:ext cx="5852160" cy="640080"/>
          </a:xfrm>
          <a:prstGeom prst="rect">
            <a:avLst/>
          </a:prstGeom>
          <a:noFill/>
        </p:spPr>
        <p:txBody>
          <a:bodyPr wrap="square" lIns="0" rIns="0" tIns="0" bIns="0">
            <a:spAutoFit/>
          </a:bodyPr>
          <a:lstStyle/>
          <a:p>
            <a:pPr algn="l">
              <a:lnSpc>
                <a:spcPct val="100000"/>
              </a:lnSpc>
            </a:pPr>
            <a:r>
              <a:rPr sz="1250" b="0" i="0">
                <a:solidFill>
                  <a:srgbClr val="1A2430"/>
                </a:solidFill>
                <a:latin typeface="Garamond"/>
              </a:rPr>
              <a:t>school rosters re-surveyed the following fall; every four to five years</a:t>
            </a:r>
          </a:p>
        </p:txBody>
      </p:sp>
      <p:sp>
        <p:nvSpPr>
          <p:cNvPr id="25" name="TextBox 24"/>
          <p:cNvSpPr txBox="1"/>
          <p:nvPr/>
        </p:nvSpPr>
        <p:spPr>
          <a:xfrm>
            <a:off x="9966960" y="5285231"/>
            <a:ext cx="1371600" cy="640080"/>
          </a:xfrm>
          <a:prstGeom prst="rect">
            <a:avLst/>
          </a:prstGeom>
          <a:noFill/>
        </p:spPr>
        <p:txBody>
          <a:bodyPr wrap="square" lIns="0" rIns="0" tIns="0" bIns="0">
            <a:spAutoFit/>
          </a:bodyPr>
          <a:lstStyle/>
          <a:p>
            <a:pPr algn="l">
              <a:lnSpc>
                <a:spcPct val="100000"/>
              </a:lnSpc>
            </a:pPr>
            <a:r>
              <a:rPr sz="1250" b="1" i="0">
                <a:solidFill>
                  <a:srgbClr val="55606B"/>
                </a:solidFill>
                <a:latin typeface="Garamond"/>
              </a:rPr>
              <a:t>5.1 – 8.4</a:t>
            </a:r>
          </a:p>
        </p:txBody>
      </p:sp>
      <p:cxnSp>
        <p:nvCxnSpPr>
          <p:cNvPr id="26" name="Connector 25"/>
          <p:cNvCxnSpPr/>
          <p:nvPr/>
        </p:nvCxnSpPr>
        <p:spPr>
          <a:xfrm>
            <a:off x="822960" y="598931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22960" y="6217919"/>
            <a:ext cx="10515600" cy="457200"/>
          </a:xfrm>
          <a:prstGeom prst="rect">
            <a:avLst/>
          </a:prstGeom>
          <a:noFill/>
        </p:spPr>
        <p:txBody>
          <a:bodyPr wrap="square" lIns="0" rIns="0" tIns="0" bIns="0">
            <a:spAutoFit/>
          </a:bodyPr>
          <a:lstStyle/>
          <a:p>
            <a:pPr algn="l">
              <a:lnSpc>
                <a:spcPct val="100000"/>
              </a:lnSpc>
            </a:pPr>
            <a:r>
              <a:rPr sz="1100" b="0" i="1">
                <a:solidFill>
                  <a:srgbClr val="55606B"/>
                </a:solidFill>
                <a:latin typeface="Garamond"/>
              </a:rPr>
              <a:t>Same records throughout; only the definition changes. Annual average, percent of teachers.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365760"/>
            <a:ext cx="10515600" cy="548640"/>
          </a:xfrm>
          <a:prstGeom prst="rect">
            <a:avLst/>
          </a:prstGeom>
          <a:noFill/>
        </p:spPr>
        <p:txBody>
          <a:bodyPr wrap="square" lIns="0" rIns="0" tIns="0" bIns="0">
            <a:spAutoFit/>
          </a:bodyPr>
          <a:lstStyle/>
          <a:p>
            <a:pPr algn="l">
              <a:lnSpc>
                <a:spcPct val="100000"/>
              </a:lnSpc>
            </a:pPr>
            <a:r>
              <a:rPr sz="2600" b="1" i="0">
                <a:solidFill>
                  <a:srgbClr val="1A2430"/>
                </a:solidFill>
                <a:latin typeface="Garamond"/>
              </a:rPr>
              <a:t>All the series, one axis</a:t>
            </a:r>
          </a:p>
        </p:txBody>
      </p:sp>
      <p:graphicFrame>
        <p:nvGraphicFramePr>
          <p:cNvPr id="3" name="Chart 2"/>
          <p:cNvGraphicFramePr>
            <a:graphicFrameLocks noGrp="1"/>
          </p:cNvGraphicFramePr>
          <p:nvPr/>
        </p:nvGraphicFramePr>
        <p:xfrm>
          <a:off x="640080" y="1051560"/>
          <a:ext cx="10972800" cy="5212080"/>
        </p:xfrm>
        <a:graphic>
          <a:graphicData uri="http://schemas.openxmlformats.org/drawingml/2006/chart">
            <c:chart xmlns:c="http://schemas.openxmlformats.org/drawingml/2006/chart" r:id="rId2"/>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48640"/>
          </a:xfrm>
          <a:prstGeom prst="rect">
            <a:avLst/>
          </a:prstGeom>
          <a:noFill/>
        </p:spPr>
        <p:txBody>
          <a:bodyPr wrap="square" lIns="0" rIns="0" tIns="0" bIns="0">
            <a:spAutoFit/>
          </a:bodyPr>
          <a:lstStyle/>
          <a:p>
            <a:pPr algn="l">
              <a:lnSpc>
                <a:spcPct val="100000"/>
              </a:lnSpc>
            </a:pPr>
            <a:r>
              <a:rPr sz="2600" b="1" i="0">
                <a:solidFill>
                  <a:srgbClr val="1A2430"/>
                </a:solidFill>
                <a:latin typeface="Garamond"/>
              </a:rPr>
              <a:t>Where this could be done next</a:t>
            </a:r>
          </a:p>
        </p:txBody>
      </p:sp>
      <p:sp>
        <p:nvSpPr>
          <p:cNvPr id="3" name="TextBox 2"/>
          <p:cNvSpPr txBox="1"/>
          <p:nvPr/>
        </p:nvSpPr>
        <p:spPr>
          <a:xfrm>
            <a:off x="822960" y="1024128"/>
            <a:ext cx="10515600" cy="365760"/>
          </a:xfrm>
          <a:prstGeom prst="rect">
            <a:avLst/>
          </a:prstGeom>
          <a:noFill/>
        </p:spPr>
        <p:txBody>
          <a:bodyPr wrap="square" lIns="0" rIns="0" tIns="0" bIns="0">
            <a:spAutoFit/>
          </a:bodyPr>
          <a:lstStyle/>
          <a:p>
            <a:pPr algn="l">
              <a:lnSpc>
                <a:spcPct val="100000"/>
              </a:lnSpc>
            </a:pPr>
            <a:r>
              <a:rPr sz="1250" b="0" i="1">
                <a:solidFill>
                  <a:srgbClr val="55606B"/>
                </a:solidFill>
                <a:latin typeface="Garamond"/>
              </a:rPr>
              <a:t>Labour force surveys with the sample, the access, and a design that sees the same person twelve months apart</a:t>
            </a:r>
          </a:p>
        </p:txBody>
      </p:sp>
      <p:cxnSp>
        <p:nvCxnSpPr>
          <p:cNvPr id="4" name="Connector 3"/>
          <p:cNvCxnSpPr/>
          <p:nvPr/>
        </p:nvCxnSpPr>
        <p:spPr>
          <a:xfrm>
            <a:off x="822960" y="1572768"/>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8"/>
            <a:ext cx="2468880" cy="320040"/>
          </a:xfrm>
          <a:prstGeom prst="rect">
            <a:avLst/>
          </a:prstGeom>
          <a:noFill/>
        </p:spPr>
        <p:txBody>
          <a:bodyPr wrap="square" lIns="0" rIns="0" tIns="0" bIns="0">
            <a:spAutoFit/>
          </a:bodyPr>
          <a:lstStyle/>
          <a:p>
            <a:pPr algn="l">
              <a:lnSpc>
                <a:spcPct val="100000"/>
              </a:lnSpc>
            </a:pPr>
            <a:r>
              <a:rPr sz="1150" b="1" i="0">
                <a:solidFill>
                  <a:srgbClr val="1A2430"/>
                </a:solidFill>
                <a:latin typeface="Garamond"/>
              </a:rPr>
              <a:t/>
            </a:r>
          </a:p>
        </p:txBody>
      </p:sp>
      <p:sp>
        <p:nvSpPr>
          <p:cNvPr id="6" name="TextBox 5"/>
          <p:cNvSpPr txBox="1"/>
          <p:nvPr/>
        </p:nvSpPr>
        <p:spPr>
          <a:xfrm>
            <a:off x="2468880" y="1664208"/>
            <a:ext cx="2468880" cy="320040"/>
          </a:xfrm>
          <a:prstGeom prst="rect">
            <a:avLst/>
          </a:prstGeom>
          <a:noFill/>
        </p:spPr>
        <p:txBody>
          <a:bodyPr wrap="square" lIns="0" rIns="0" tIns="0" bIns="0">
            <a:spAutoFit/>
          </a:bodyPr>
          <a:lstStyle/>
          <a:p>
            <a:pPr algn="l">
              <a:lnSpc>
                <a:spcPct val="100000"/>
              </a:lnSpc>
            </a:pPr>
            <a:r>
              <a:rPr sz="1150" b="1" i="0">
                <a:solidFill>
                  <a:srgbClr val="1A2430"/>
                </a:solidFill>
                <a:latin typeface="Garamond"/>
              </a:rPr>
              <a:t>Instrument</a:t>
            </a:r>
          </a:p>
        </p:txBody>
      </p:sp>
      <p:sp>
        <p:nvSpPr>
          <p:cNvPr id="7" name="TextBox 6"/>
          <p:cNvSpPr txBox="1"/>
          <p:nvPr/>
        </p:nvSpPr>
        <p:spPr>
          <a:xfrm>
            <a:off x="6035040" y="1664208"/>
            <a:ext cx="2468880" cy="320040"/>
          </a:xfrm>
          <a:prstGeom prst="rect">
            <a:avLst/>
          </a:prstGeom>
          <a:noFill/>
        </p:spPr>
        <p:txBody>
          <a:bodyPr wrap="square" lIns="0" rIns="0" tIns="0" bIns="0">
            <a:spAutoFit/>
          </a:bodyPr>
          <a:lstStyle/>
          <a:p>
            <a:pPr algn="l">
              <a:lnSpc>
                <a:spcPct val="100000"/>
              </a:lnSpc>
            </a:pPr>
            <a:r>
              <a:rPr sz="1150" b="1" i="0">
                <a:solidFill>
                  <a:srgbClr val="1A2430"/>
                </a:solidFill>
                <a:latin typeface="Garamond"/>
              </a:rPr>
              <a:t>Twelve-month design</a:t>
            </a:r>
          </a:p>
        </p:txBody>
      </p:sp>
      <p:sp>
        <p:nvSpPr>
          <p:cNvPr id="8" name="TextBox 7"/>
          <p:cNvSpPr txBox="1"/>
          <p:nvPr/>
        </p:nvSpPr>
        <p:spPr>
          <a:xfrm>
            <a:off x="8595360" y="1664208"/>
            <a:ext cx="2468880" cy="320040"/>
          </a:xfrm>
          <a:prstGeom prst="rect">
            <a:avLst/>
          </a:prstGeom>
          <a:noFill/>
        </p:spPr>
        <p:txBody>
          <a:bodyPr wrap="square" lIns="0" rIns="0" tIns="0" bIns="0">
            <a:spAutoFit/>
          </a:bodyPr>
          <a:lstStyle/>
          <a:p>
            <a:pPr algn="l">
              <a:lnSpc>
                <a:spcPct val="100000"/>
              </a:lnSpc>
            </a:pPr>
            <a:r>
              <a:rPr sz="1150" b="1" i="0">
                <a:solidFill>
                  <a:srgbClr val="1A2430"/>
                </a:solidFill>
                <a:latin typeface="Garamond"/>
              </a:rPr>
              <a:t>Sample and access</a:t>
            </a:r>
          </a:p>
        </p:txBody>
      </p:sp>
      <p:cxnSp>
        <p:nvCxnSpPr>
          <p:cNvPr id="9" name="Connector 8"/>
          <p:cNvCxnSpPr/>
          <p:nvPr/>
        </p:nvCxnSpPr>
        <p:spPr>
          <a:xfrm>
            <a:off x="822960" y="2029968"/>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212848"/>
            <a:ext cx="1600200" cy="457200"/>
          </a:xfrm>
          <a:prstGeom prst="rect">
            <a:avLst/>
          </a:prstGeom>
          <a:noFill/>
        </p:spPr>
        <p:txBody>
          <a:bodyPr wrap="square" lIns="0" rIns="0" tIns="0" bIns="0">
            <a:spAutoFit/>
          </a:bodyPr>
          <a:lstStyle/>
          <a:p>
            <a:pPr algn="l">
              <a:lnSpc>
                <a:spcPct val="100000"/>
              </a:lnSpc>
            </a:pPr>
            <a:r>
              <a:rPr sz="1150" b="1" i="0">
                <a:solidFill>
                  <a:srgbClr val="1F4E79"/>
                </a:solidFill>
                <a:latin typeface="Garamond"/>
              </a:rPr>
              <a:t>Italy</a:t>
            </a:r>
          </a:p>
        </p:txBody>
      </p:sp>
      <p:sp>
        <p:nvSpPr>
          <p:cNvPr id="11" name="TextBox 10"/>
          <p:cNvSpPr txBox="1"/>
          <p:nvPr/>
        </p:nvSpPr>
        <p:spPr>
          <a:xfrm>
            <a:off x="2468880" y="2212848"/>
            <a:ext cx="347472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Rilevazione sulle Forze di Lavoro (Istat)</a:t>
            </a:r>
          </a:p>
        </p:txBody>
      </p:sp>
      <p:sp>
        <p:nvSpPr>
          <p:cNvPr id="12" name="TextBox 11"/>
          <p:cNvSpPr txBox="1"/>
          <p:nvPr/>
        </p:nvSpPr>
        <p:spPr>
          <a:xfrm>
            <a:off x="6035040" y="2212848"/>
            <a:ext cx="246888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official 12-month longitudinal files</a:t>
            </a:r>
          </a:p>
        </p:txBody>
      </p:sp>
      <p:sp>
        <p:nvSpPr>
          <p:cNvPr id="13" name="TextBox 12"/>
          <p:cNvSpPr txBox="1"/>
          <p:nvPr/>
        </p:nvSpPr>
        <p:spPr>
          <a:xfrm>
            <a:off x="8595360" y="2212848"/>
            <a:ext cx="274320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research files, quarterly since 2004</a:t>
            </a:r>
          </a:p>
        </p:txBody>
      </p:sp>
      <p:sp>
        <p:nvSpPr>
          <p:cNvPr id="14" name="TextBox 13"/>
          <p:cNvSpPr txBox="1"/>
          <p:nvPr/>
        </p:nvSpPr>
        <p:spPr>
          <a:xfrm>
            <a:off x="822960" y="2688336"/>
            <a:ext cx="1600200" cy="457200"/>
          </a:xfrm>
          <a:prstGeom prst="rect">
            <a:avLst/>
          </a:prstGeom>
          <a:noFill/>
        </p:spPr>
        <p:txBody>
          <a:bodyPr wrap="square" lIns="0" rIns="0" tIns="0" bIns="0">
            <a:spAutoFit/>
          </a:bodyPr>
          <a:lstStyle/>
          <a:p>
            <a:pPr algn="l">
              <a:lnSpc>
                <a:spcPct val="100000"/>
              </a:lnSpc>
            </a:pPr>
            <a:r>
              <a:rPr sz="1150" b="1" i="0">
                <a:solidFill>
                  <a:srgbClr val="1F4E79"/>
                </a:solidFill>
                <a:latin typeface="Garamond"/>
              </a:rPr>
              <a:t>Germany</a:t>
            </a:r>
          </a:p>
        </p:txBody>
      </p:sp>
      <p:sp>
        <p:nvSpPr>
          <p:cNvPr id="15" name="TextBox 14"/>
          <p:cNvSpPr txBox="1"/>
          <p:nvPr/>
        </p:nvSpPr>
        <p:spPr>
          <a:xfrm>
            <a:off x="2468880" y="2688336"/>
            <a:ext cx="347472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Mikrozensus (Destatis)</a:t>
            </a:r>
          </a:p>
        </p:txBody>
      </p:sp>
      <p:sp>
        <p:nvSpPr>
          <p:cNvPr id="16" name="TextBox 15"/>
          <p:cNvSpPr txBox="1"/>
          <p:nvPr/>
        </p:nvSpPr>
        <p:spPr>
          <a:xfrm>
            <a:off x="6035040" y="2688336"/>
            <a:ext cx="246888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2-(2)-2 scheme since 2020</a:t>
            </a:r>
          </a:p>
        </p:txBody>
      </p:sp>
      <p:sp>
        <p:nvSpPr>
          <p:cNvPr id="17" name="TextBox 16"/>
          <p:cNvSpPr txBox="1"/>
          <p:nvPr/>
        </p:nvSpPr>
        <p:spPr>
          <a:xfrm>
            <a:off x="8595360" y="2688336"/>
            <a:ext cx="274320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810,000 persons a year; RDC files</a:t>
            </a:r>
          </a:p>
        </p:txBody>
      </p:sp>
      <p:sp>
        <p:nvSpPr>
          <p:cNvPr id="18" name="TextBox 17"/>
          <p:cNvSpPr txBox="1"/>
          <p:nvPr/>
        </p:nvSpPr>
        <p:spPr>
          <a:xfrm>
            <a:off x="822960" y="3163824"/>
            <a:ext cx="1600200" cy="457200"/>
          </a:xfrm>
          <a:prstGeom prst="rect">
            <a:avLst/>
          </a:prstGeom>
          <a:noFill/>
        </p:spPr>
        <p:txBody>
          <a:bodyPr wrap="square" lIns="0" rIns="0" tIns="0" bIns="0">
            <a:spAutoFit/>
          </a:bodyPr>
          <a:lstStyle/>
          <a:p>
            <a:pPr algn="l">
              <a:lnSpc>
                <a:spcPct val="100000"/>
              </a:lnSpc>
            </a:pPr>
            <a:r>
              <a:rPr sz="1150" b="1" i="0">
                <a:solidFill>
                  <a:srgbClr val="1F4E79"/>
                </a:solidFill>
                <a:latin typeface="Garamond"/>
              </a:rPr>
              <a:t>United Kingdom</a:t>
            </a:r>
          </a:p>
        </p:txBody>
      </p:sp>
      <p:sp>
        <p:nvSpPr>
          <p:cNvPr id="19" name="TextBox 18"/>
          <p:cNvSpPr txBox="1"/>
          <p:nvPr/>
        </p:nvSpPr>
        <p:spPr>
          <a:xfrm>
            <a:off x="2468880" y="3163824"/>
            <a:ext cx="347472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Labour Force Survey (ONS)</a:t>
            </a:r>
          </a:p>
        </p:txBody>
      </p:sp>
      <p:sp>
        <p:nvSpPr>
          <p:cNvPr id="20" name="TextBox 19"/>
          <p:cNvSpPr txBox="1"/>
          <p:nvPr/>
        </p:nvSpPr>
        <p:spPr>
          <a:xfrm>
            <a:off x="6035040" y="3163824"/>
            <a:ext cx="246888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five waves; first and fifth a year apart</a:t>
            </a:r>
          </a:p>
        </p:txBody>
      </p:sp>
      <p:sp>
        <p:nvSpPr>
          <p:cNvPr id="21" name="TextBox 20"/>
          <p:cNvSpPr txBox="1"/>
          <p:nvPr/>
        </p:nvSpPr>
        <p:spPr>
          <a:xfrm>
            <a:off x="8595360" y="3163824"/>
            <a:ext cx="274320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100,000 persons a quarter; UK Data Service</a:t>
            </a:r>
          </a:p>
        </p:txBody>
      </p:sp>
      <p:sp>
        <p:nvSpPr>
          <p:cNvPr id="22" name="TextBox 21"/>
          <p:cNvSpPr txBox="1"/>
          <p:nvPr/>
        </p:nvSpPr>
        <p:spPr>
          <a:xfrm>
            <a:off x="822960" y="3639312"/>
            <a:ext cx="1600200" cy="457200"/>
          </a:xfrm>
          <a:prstGeom prst="rect">
            <a:avLst/>
          </a:prstGeom>
          <a:noFill/>
        </p:spPr>
        <p:txBody>
          <a:bodyPr wrap="square" lIns="0" rIns="0" tIns="0" bIns="0">
            <a:spAutoFit/>
          </a:bodyPr>
          <a:lstStyle/>
          <a:p>
            <a:pPr algn="l">
              <a:lnSpc>
                <a:spcPct val="100000"/>
              </a:lnSpc>
            </a:pPr>
            <a:r>
              <a:rPr sz="1150" b="1" i="0">
                <a:solidFill>
                  <a:srgbClr val="1F4E79"/>
                </a:solidFill>
                <a:latin typeface="Garamond"/>
              </a:rPr>
              <a:t>France</a:t>
            </a:r>
          </a:p>
        </p:txBody>
      </p:sp>
      <p:sp>
        <p:nvSpPr>
          <p:cNvPr id="23" name="TextBox 22"/>
          <p:cNvSpPr txBox="1"/>
          <p:nvPr/>
        </p:nvSpPr>
        <p:spPr>
          <a:xfrm>
            <a:off x="2468880" y="3639312"/>
            <a:ext cx="347472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Enquête emploi en continu (INSEE)</a:t>
            </a:r>
          </a:p>
        </p:txBody>
      </p:sp>
      <p:sp>
        <p:nvSpPr>
          <p:cNvPr id="24" name="TextBox 23"/>
          <p:cNvSpPr txBox="1"/>
          <p:nvPr/>
        </p:nvSpPr>
        <p:spPr>
          <a:xfrm>
            <a:off x="6035040" y="3639312"/>
            <a:ext cx="246888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six consecutive quarters</a:t>
            </a:r>
          </a:p>
        </p:txBody>
      </p:sp>
      <p:sp>
        <p:nvSpPr>
          <p:cNvPr id="25" name="TextBox 24"/>
          <p:cNvSpPr txBox="1"/>
          <p:nvPr/>
        </p:nvSpPr>
        <p:spPr>
          <a:xfrm>
            <a:off x="8595360" y="3639312"/>
            <a:ext cx="274320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80,000 dwellings a quarter; Progedo, CASD</a:t>
            </a:r>
          </a:p>
        </p:txBody>
      </p:sp>
      <p:sp>
        <p:nvSpPr>
          <p:cNvPr id="26" name="TextBox 25"/>
          <p:cNvSpPr txBox="1"/>
          <p:nvPr/>
        </p:nvSpPr>
        <p:spPr>
          <a:xfrm>
            <a:off x="822960" y="4114800"/>
            <a:ext cx="1600200" cy="457200"/>
          </a:xfrm>
          <a:prstGeom prst="rect">
            <a:avLst/>
          </a:prstGeom>
          <a:noFill/>
        </p:spPr>
        <p:txBody>
          <a:bodyPr wrap="square" lIns="0" rIns="0" tIns="0" bIns="0">
            <a:spAutoFit/>
          </a:bodyPr>
          <a:lstStyle/>
          <a:p>
            <a:pPr algn="l">
              <a:lnSpc>
                <a:spcPct val="100000"/>
              </a:lnSpc>
            </a:pPr>
            <a:r>
              <a:rPr sz="1150" b="1" i="0">
                <a:solidFill>
                  <a:srgbClr val="1F4E79"/>
                </a:solidFill>
                <a:latin typeface="Garamond"/>
              </a:rPr>
              <a:t>Spain</a:t>
            </a:r>
          </a:p>
        </p:txBody>
      </p:sp>
      <p:sp>
        <p:nvSpPr>
          <p:cNvPr id="27" name="TextBox 26"/>
          <p:cNvSpPr txBox="1"/>
          <p:nvPr/>
        </p:nvSpPr>
        <p:spPr>
          <a:xfrm>
            <a:off x="2468880" y="4114800"/>
            <a:ext cx="347472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Encuesta de Población Activa (INE)</a:t>
            </a:r>
          </a:p>
        </p:txBody>
      </p:sp>
      <p:sp>
        <p:nvSpPr>
          <p:cNvPr id="28" name="TextBox 27"/>
          <p:cNvSpPr txBox="1"/>
          <p:nvPr/>
        </p:nvSpPr>
        <p:spPr>
          <a:xfrm>
            <a:off x="6035040" y="4114800"/>
            <a:ext cx="246888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six-quarter rotation; public flow files</a:t>
            </a:r>
          </a:p>
        </p:txBody>
      </p:sp>
      <p:sp>
        <p:nvSpPr>
          <p:cNvPr id="29" name="TextBox 28"/>
          <p:cNvSpPr txBox="1"/>
          <p:nvPr/>
        </p:nvSpPr>
        <p:spPr>
          <a:xfrm>
            <a:off x="8595360" y="4114800"/>
            <a:ext cx="274320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60,000 dwellings a quarter; free download</a:t>
            </a:r>
          </a:p>
        </p:txBody>
      </p:sp>
      <p:sp>
        <p:nvSpPr>
          <p:cNvPr id="30" name="TextBox 29"/>
          <p:cNvSpPr txBox="1"/>
          <p:nvPr/>
        </p:nvSpPr>
        <p:spPr>
          <a:xfrm>
            <a:off x="822960" y="4590288"/>
            <a:ext cx="1600200" cy="457200"/>
          </a:xfrm>
          <a:prstGeom prst="rect">
            <a:avLst/>
          </a:prstGeom>
          <a:noFill/>
        </p:spPr>
        <p:txBody>
          <a:bodyPr wrap="square" lIns="0" rIns="0" tIns="0" bIns="0">
            <a:spAutoFit/>
          </a:bodyPr>
          <a:lstStyle/>
          <a:p>
            <a:pPr algn="l">
              <a:lnSpc>
                <a:spcPct val="100000"/>
              </a:lnSpc>
            </a:pPr>
            <a:r>
              <a:rPr sz="1150" b="1" i="0">
                <a:solidFill>
                  <a:srgbClr val="1F4E79"/>
                </a:solidFill>
                <a:latin typeface="Garamond"/>
              </a:rPr>
              <a:t>Brazil</a:t>
            </a:r>
          </a:p>
        </p:txBody>
      </p:sp>
      <p:sp>
        <p:nvSpPr>
          <p:cNvPr id="31" name="TextBox 30"/>
          <p:cNvSpPr txBox="1"/>
          <p:nvPr/>
        </p:nvSpPr>
        <p:spPr>
          <a:xfrm>
            <a:off x="2468880" y="4590288"/>
            <a:ext cx="347472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PNAD Contínua (IBGE)</a:t>
            </a:r>
          </a:p>
        </p:txBody>
      </p:sp>
      <p:sp>
        <p:nvSpPr>
          <p:cNvPr id="32" name="TextBox 31"/>
          <p:cNvSpPr txBox="1"/>
          <p:nvPr/>
        </p:nvSpPr>
        <p:spPr>
          <a:xfrm>
            <a:off x="6035040" y="4590288"/>
            <a:ext cx="246888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five quarterly visits</a:t>
            </a:r>
          </a:p>
        </p:txBody>
      </p:sp>
      <p:sp>
        <p:nvSpPr>
          <p:cNvPr id="33" name="TextBox 32"/>
          <p:cNvSpPr txBox="1"/>
          <p:nvPr/>
        </p:nvSpPr>
        <p:spPr>
          <a:xfrm>
            <a:off x="8595360" y="4590288"/>
            <a:ext cx="274320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210,000 households a quarter; fully public</a:t>
            </a:r>
          </a:p>
        </p:txBody>
      </p:sp>
      <p:sp>
        <p:nvSpPr>
          <p:cNvPr id="34" name="TextBox 33"/>
          <p:cNvSpPr txBox="1"/>
          <p:nvPr/>
        </p:nvSpPr>
        <p:spPr>
          <a:xfrm>
            <a:off x="822960" y="5065775"/>
            <a:ext cx="1600200" cy="457200"/>
          </a:xfrm>
          <a:prstGeom prst="rect">
            <a:avLst/>
          </a:prstGeom>
          <a:noFill/>
        </p:spPr>
        <p:txBody>
          <a:bodyPr wrap="square" lIns="0" rIns="0" tIns="0" bIns="0">
            <a:spAutoFit/>
          </a:bodyPr>
          <a:lstStyle/>
          <a:p>
            <a:pPr algn="l">
              <a:lnSpc>
                <a:spcPct val="100000"/>
              </a:lnSpc>
            </a:pPr>
            <a:r>
              <a:rPr sz="1150" b="1" i="0">
                <a:solidFill>
                  <a:srgbClr val="1F4E79"/>
                </a:solidFill>
                <a:latin typeface="Garamond"/>
              </a:rPr>
              <a:t>Mexico</a:t>
            </a:r>
          </a:p>
        </p:txBody>
      </p:sp>
      <p:sp>
        <p:nvSpPr>
          <p:cNvPr id="35" name="TextBox 34"/>
          <p:cNvSpPr txBox="1"/>
          <p:nvPr/>
        </p:nvSpPr>
        <p:spPr>
          <a:xfrm>
            <a:off x="2468880" y="5065775"/>
            <a:ext cx="347472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ENOE (INEGI)</a:t>
            </a:r>
          </a:p>
        </p:txBody>
      </p:sp>
      <p:sp>
        <p:nvSpPr>
          <p:cNvPr id="36" name="TextBox 35"/>
          <p:cNvSpPr txBox="1"/>
          <p:nvPr/>
        </p:nvSpPr>
        <p:spPr>
          <a:xfrm>
            <a:off x="6035040" y="5065775"/>
            <a:ext cx="246888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five-quarter rotation</a:t>
            </a:r>
          </a:p>
        </p:txBody>
      </p:sp>
      <p:sp>
        <p:nvSpPr>
          <p:cNvPr id="37" name="TextBox 36"/>
          <p:cNvSpPr txBox="1"/>
          <p:nvPr/>
        </p:nvSpPr>
        <p:spPr>
          <a:xfrm>
            <a:off x="8595360" y="5065775"/>
            <a:ext cx="2743200" cy="45720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150,000 dwellings a quarter; fully public</a:t>
            </a:r>
          </a:p>
        </p:txBody>
      </p:sp>
      <p:cxnSp>
        <p:nvCxnSpPr>
          <p:cNvPr id="38" name="Connector 37"/>
          <p:cNvCxnSpPr/>
          <p:nvPr/>
        </p:nvCxnSpPr>
        <p:spPr>
          <a:xfrm>
            <a:off x="822960" y="5614415"/>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5797295"/>
            <a:ext cx="10515600" cy="365760"/>
          </a:xfrm>
          <a:prstGeom prst="rect">
            <a:avLst/>
          </a:prstGeom>
          <a:noFill/>
        </p:spPr>
        <p:txBody>
          <a:bodyPr wrap="square" lIns="0" rIns="0" tIns="0" bIns="0">
            <a:spAutoFit/>
          </a:bodyPr>
          <a:lstStyle/>
          <a:p>
            <a:pPr algn="l">
              <a:lnSpc>
                <a:spcPct val="100000"/>
              </a:lnSpc>
            </a:pPr>
            <a:r>
              <a:rPr sz="1150" b="0" i="0">
                <a:solidFill>
                  <a:srgbClr val="1A2430"/>
                </a:solidFill>
                <a:latin typeface="Garamond"/>
              </a:rPr>
              <a:t>At two to four percent of employment, each yields at least as many teacher observations per year as the CPS does here.</a:t>
            </a:r>
          </a:p>
        </p:txBody>
      </p:sp>
      <p:sp>
        <p:nvSpPr>
          <p:cNvPr id="40" name="TextBox 39"/>
          <p:cNvSpPr txBox="1"/>
          <p:nvPr/>
        </p:nvSpPr>
        <p:spPr>
          <a:xfrm>
            <a:off x="822960" y="6163055"/>
            <a:ext cx="10515600" cy="365760"/>
          </a:xfrm>
          <a:prstGeom prst="rect">
            <a:avLst/>
          </a:prstGeom>
          <a:noFill/>
        </p:spPr>
        <p:txBody>
          <a:bodyPr wrap="square" lIns="0" rIns="0" tIns="0" bIns="0">
            <a:spAutoFit/>
          </a:bodyPr>
          <a:lstStyle/>
          <a:p>
            <a:pPr algn="l">
              <a:lnSpc>
                <a:spcPct val="100000"/>
              </a:lnSpc>
            </a:pPr>
            <a:r>
              <a:rPr sz="1050" b="0" i="1">
                <a:solidFill>
                  <a:srgbClr val="55606B"/>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