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7" r:id="rId43"/>
    <p:sldId id="298" r:id="rId44"/>
    <p:sldId id="256" r:id="rId5"/>
    <p:sldId id="299" r:id="rId45"/>
    <p:sldId id="300" r:id="rId46"/>
    <p:sldId id="301" r:id="rId47"/>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2"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Data and measurement</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leaving rate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Where they go</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Who leaves, and why</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business cycle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Pay and pensions</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Current Population Survey</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monthly household survey behind the official employment statistics: about 60,000 households, the civilian non-institutional population.</a:t>
            </a:r>
          </a:p>
        </p:txBody>
      </p:sp>
      <p:cxnSp>
        <p:nvCxnSpPr>
          <p:cNvPr id="5" name="Connector 4"/>
          <p:cNvCxnSpPr/>
          <p:nvPr/>
        </p:nvCxnSpPr>
        <p:spPr>
          <a:xfrm>
            <a:off x="822960" y="269748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92240" y="2816352"/>
            <a:ext cx="1828800" cy="365760"/>
          </a:xfrm>
          <a:prstGeom prst="rect">
            <a:avLst/>
          </a:prstGeom>
          <a:noFill/>
        </p:spPr>
        <p:txBody>
          <a:bodyPr wrap="square" lIns="0" rIns="0" tIns="0" bIns="0">
            <a:spAutoFit/>
          </a:bodyPr>
          <a:lstStyle/>
          <a:p>
            <a:pPr algn="r">
              <a:lnSpc>
                <a:spcPts val="1950"/>
              </a:lnSpc>
              <a:spcAft>
                <a:spcPts val="0"/>
              </a:spcAft>
            </a:pPr>
            <a:r>
              <a:rPr sz="1300" b="1" i="0">
                <a:solidFill>
                  <a:srgbClr val="26456E"/>
                </a:solidFill>
                <a:latin typeface="Garamond"/>
              </a:rPr>
              <a:t>Teachers</a:t>
            </a:r>
          </a:p>
        </p:txBody>
      </p:sp>
      <p:sp>
        <p:nvSpPr>
          <p:cNvPr id="7" name="TextBox 6"/>
          <p:cNvSpPr txBox="1"/>
          <p:nvPr/>
        </p:nvSpPr>
        <p:spPr>
          <a:xfrm>
            <a:off x="8732520" y="2816352"/>
            <a:ext cx="2331720" cy="365760"/>
          </a:xfrm>
          <a:prstGeom prst="rect">
            <a:avLst/>
          </a:prstGeom>
          <a:noFill/>
        </p:spPr>
        <p:txBody>
          <a:bodyPr wrap="square" lIns="0" rIns="0" tIns="0" bIns="0">
            <a:spAutoFit/>
          </a:bodyPr>
          <a:lstStyle/>
          <a:p>
            <a:pPr algn="r">
              <a:lnSpc>
                <a:spcPts val="1950"/>
              </a:lnSpc>
              <a:spcAft>
                <a:spcPts val="0"/>
              </a:spcAft>
            </a:pPr>
            <a:r>
              <a:rPr sz="1300" b="1" i="0">
                <a:solidFill>
                  <a:srgbClr val="26456E"/>
                </a:solidFill>
                <a:latin typeface="Garamond"/>
              </a:rPr>
              <a:t>Other graduates</a:t>
            </a:r>
          </a:p>
        </p:txBody>
      </p:sp>
      <p:cxnSp>
        <p:nvCxnSpPr>
          <p:cNvPr id="8" name="Connector 7"/>
          <p:cNvCxnSpPr/>
          <p:nvPr/>
        </p:nvCxnSpPr>
        <p:spPr>
          <a:xfrm>
            <a:off x="822960" y="320040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332841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Observations, 1998–2025</a:t>
            </a:r>
          </a:p>
        </p:txBody>
      </p:sp>
      <p:sp>
        <p:nvSpPr>
          <p:cNvPr id="10" name="TextBox 9"/>
          <p:cNvSpPr txBox="1"/>
          <p:nvPr/>
        </p:nvSpPr>
        <p:spPr>
          <a:xfrm>
            <a:off x="6492240" y="332841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85,497</a:t>
            </a:r>
          </a:p>
        </p:txBody>
      </p:sp>
      <p:sp>
        <p:nvSpPr>
          <p:cNvPr id="11" name="TextBox 10"/>
          <p:cNvSpPr txBox="1"/>
          <p:nvPr/>
        </p:nvSpPr>
        <p:spPr>
          <a:xfrm>
            <a:off x="8732520" y="332841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726,618</a:t>
            </a:r>
          </a:p>
        </p:txBody>
      </p:sp>
      <p:sp>
        <p:nvSpPr>
          <p:cNvPr id="12" name="TextBox 11"/>
          <p:cNvSpPr txBox="1"/>
          <p:nvPr/>
        </p:nvSpPr>
        <p:spPr>
          <a:xfrm>
            <a:off x="960120" y="369417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Age</a:t>
            </a:r>
          </a:p>
        </p:txBody>
      </p:sp>
      <p:sp>
        <p:nvSpPr>
          <p:cNvPr id="13" name="TextBox 12"/>
          <p:cNvSpPr txBox="1"/>
          <p:nvPr/>
        </p:nvSpPr>
        <p:spPr>
          <a:xfrm>
            <a:off x="6492240" y="369417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43.7</a:t>
            </a:r>
          </a:p>
        </p:txBody>
      </p:sp>
      <p:sp>
        <p:nvSpPr>
          <p:cNvPr id="14" name="TextBox 13"/>
          <p:cNvSpPr txBox="1"/>
          <p:nvPr/>
        </p:nvSpPr>
        <p:spPr>
          <a:xfrm>
            <a:off x="8732520" y="369417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43.6</a:t>
            </a:r>
          </a:p>
        </p:txBody>
      </p:sp>
      <p:sp>
        <p:nvSpPr>
          <p:cNvPr id="15" name="TextBox 14"/>
          <p:cNvSpPr txBox="1"/>
          <p:nvPr/>
        </p:nvSpPr>
        <p:spPr>
          <a:xfrm>
            <a:off x="960120" y="405993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Female, percent</a:t>
            </a:r>
          </a:p>
        </p:txBody>
      </p:sp>
      <p:sp>
        <p:nvSpPr>
          <p:cNvPr id="16" name="TextBox 15"/>
          <p:cNvSpPr txBox="1"/>
          <p:nvPr/>
        </p:nvSpPr>
        <p:spPr>
          <a:xfrm>
            <a:off x="6492240" y="405993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75.9</a:t>
            </a:r>
          </a:p>
        </p:txBody>
      </p:sp>
      <p:sp>
        <p:nvSpPr>
          <p:cNvPr id="17" name="TextBox 16"/>
          <p:cNvSpPr txBox="1"/>
          <p:nvPr/>
        </p:nvSpPr>
        <p:spPr>
          <a:xfrm>
            <a:off x="8732520" y="405993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46.5</a:t>
            </a:r>
          </a:p>
        </p:txBody>
      </p:sp>
      <p:sp>
        <p:nvSpPr>
          <p:cNvPr id="18" name="TextBox 17"/>
          <p:cNvSpPr txBox="1"/>
          <p:nvPr/>
        </p:nvSpPr>
        <p:spPr>
          <a:xfrm>
            <a:off x="960120" y="442569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Master’s degree or higher, percent</a:t>
            </a:r>
          </a:p>
        </p:txBody>
      </p:sp>
      <p:sp>
        <p:nvSpPr>
          <p:cNvPr id="19" name="TextBox 18"/>
          <p:cNvSpPr txBox="1"/>
          <p:nvPr/>
        </p:nvSpPr>
        <p:spPr>
          <a:xfrm>
            <a:off x="6492240" y="442569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48.3</a:t>
            </a:r>
          </a:p>
        </p:txBody>
      </p:sp>
      <p:sp>
        <p:nvSpPr>
          <p:cNvPr id="20" name="TextBox 19"/>
          <p:cNvSpPr txBox="1"/>
          <p:nvPr/>
        </p:nvSpPr>
        <p:spPr>
          <a:xfrm>
            <a:off x="8732520" y="442569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33.8</a:t>
            </a:r>
          </a:p>
        </p:txBody>
      </p:sp>
      <p:sp>
        <p:nvSpPr>
          <p:cNvPr id="21" name="TextBox 20"/>
          <p:cNvSpPr txBox="1"/>
          <p:nvPr/>
        </p:nvSpPr>
        <p:spPr>
          <a:xfrm>
            <a:off x="960120" y="479145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Public sector, percent</a:t>
            </a:r>
          </a:p>
        </p:txBody>
      </p:sp>
      <p:sp>
        <p:nvSpPr>
          <p:cNvPr id="22" name="TextBox 21"/>
          <p:cNvSpPr txBox="1"/>
          <p:nvPr/>
        </p:nvSpPr>
        <p:spPr>
          <a:xfrm>
            <a:off x="6492240" y="479145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72.9</a:t>
            </a:r>
          </a:p>
        </p:txBody>
      </p:sp>
      <p:sp>
        <p:nvSpPr>
          <p:cNvPr id="23" name="TextBox 22"/>
          <p:cNvSpPr txBox="1"/>
          <p:nvPr/>
        </p:nvSpPr>
        <p:spPr>
          <a:xfrm>
            <a:off x="8732520" y="479145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16.2</a:t>
            </a:r>
          </a:p>
        </p:txBody>
      </p:sp>
      <p:sp>
        <p:nvSpPr>
          <p:cNvPr id="24" name="TextBox 23"/>
          <p:cNvSpPr txBox="1"/>
          <p:nvPr/>
        </p:nvSpPr>
        <p:spPr>
          <a:xfrm>
            <a:off x="960120" y="515721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Weeks worked in the year</a:t>
            </a:r>
          </a:p>
        </p:txBody>
      </p:sp>
      <p:sp>
        <p:nvSpPr>
          <p:cNvPr id="25" name="TextBox 24"/>
          <p:cNvSpPr txBox="1"/>
          <p:nvPr/>
        </p:nvSpPr>
        <p:spPr>
          <a:xfrm>
            <a:off x="6492240" y="515721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46.1</a:t>
            </a:r>
          </a:p>
        </p:txBody>
      </p:sp>
      <p:sp>
        <p:nvSpPr>
          <p:cNvPr id="26" name="TextBox 25"/>
          <p:cNvSpPr txBox="1"/>
          <p:nvPr/>
        </p:nvSpPr>
        <p:spPr>
          <a:xfrm>
            <a:off x="8732520" y="515721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48.6</a:t>
            </a:r>
          </a:p>
        </p:txBody>
      </p:sp>
      <p:sp>
        <p:nvSpPr>
          <p:cNvPr id="27" name="TextBox 26"/>
          <p:cNvSpPr txBox="1"/>
          <p:nvPr/>
        </p:nvSpPr>
        <p:spPr>
          <a:xfrm>
            <a:off x="960120" y="552297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Median annual wage, 2021–2025</a:t>
            </a:r>
          </a:p>
        </p:txBody>
      </p:sp>
      <p:sp>
        <p:nvSpPr>
          <p:cNvPr id="28" name="TextBox 27"/>
          <p:cNvSpPr txBox="1"/>
          <p:nvPr/>
        </p:nvSpPr>
        <p:spPr>
          <a:xfrm>
            <a:off x="6492240" y="552297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$56,000</a:t>
            </a:r>
          </a:p>
        </p:txBody>
      </p:sp>
      <p:sp>
        <p:nvSpPr>
          <p:cNvPr id="29" name="TextBox 28"/>
          <p:cNvSpPr txBox="1"/>
          <p:nvPr/>
        </p:nvSpPr>
        <p:spPr>
          <a:xfrm>
            <a:off x="8732520" y="552297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$75,000</a:t>
            </a:r>
          </a:p>
        </p:txBody>
      </p:sp>
      <p:sp>
        <p:nvSpPr>
          <p:cNvPr id="30" name="TextBox 29"/>
          <p:cNvSpPr txBox="1"/>
          <p:nvPr/>
        </p:nvSpPr>
        <p:spPr>
          <a:xfrm>
            <a:off x="960120" y="588873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Left teaching within the year, percent</a:t>
            </a:r>
          </a:p>
        </p:txBody>
      </p:sp>
      <p:sp>
        <p:nvSpPr>
          <p:cNvPr id="31" name="TextBox 30"/>
          <p:cNvSpPr txBox="1"/>
          <p:nvPr/>
        </p:nvSpPr>
        <p:spPr>
          <a:xfrm>
            <a:off x="6492240" y="588873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8.6</a:t>
            </a:r>
          </a:p>
        </p:txBody>
      </p:sp>
      <p:sp>
        <p:nvSpPr>
          <p:cNvPr id="32" name="TextBox 31"/>
          <p:cNvSpPr txBox="1"/>
          <p:nvPr/>
        </p:nvSpPr>
        <p:spPr>
          <a:xfrm>
            <a:off x="8732520" y="588873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a:t>
            </a:r>
          </a:p>
        </p:txBody>
      </p:sp>
      <p:cxnSp>
        <p:nvCxnSpPr>
          <p:cNvPr id="33" name="Connector 32"/>
          <p:cNvCxnSpPr/>
          <p:nvPr/>
        </p:nvCxnSpPr>
        <p:spPr>
          <a:xfrm>
            <a:off x="822960" y="627278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22960" y="6437376"/>
            <a:ext cx="10543032" cy="36576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March supplements 1998–2025, weighted; individuals holding a bachelor’s degree or more.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Supplements, and why March</a:t>
            </a:r>
          </a:p>
        </p:txBody>
      </p:sp>
      <p:sp>
        <p:nvSpPr>
          <p:cNvPr id="4" name="TextBox 3"/>
          <p:cNvSpPr txBox="1"/>
          <p:nvPr/>
        </p:nvSpPr>
        <p:spPr>
          <a:xfrm>
            <a:off x="777240" y="1691640"/>
            <a:ext cx="10698480" cy="365760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The basic monthly interview measures current activity only. Most months add a supplement on a rotating topic.</a:t>
            </a:r>
          </a:p>
          <a:p>
            <a:pPr algn="just">
              <a:lnSpc>
                <a:spcPts val="2550"/>
              </a:lnSpc>
              <a:spcAft>
                <a:spcPts val="1600"/>
              </a:spcAft>
            </a:pPr>
            <a:r>
              <a:rPr sz="1700" b="0" i="0">
                <a:solidFill>
                  <a:srgbClr val="1A2430"/>
                </a:solidFill>
                <a:latin typeface="Garamond"/>
              </a:rPr>
              <a:t>The March supplement expands the sample to roughly 90,000 households and asks every adult about the entire previous calendar year: longest job held, weeks worked, earnings.</a:t>
            </a:r>
          </a:p>
          <a:p>
            <a:pPr algn="just">
              <a:lnSpc>
                <a:spcPts val="2550"/>
              </a:lnSpc>
              <a:spcAft>
                <a:spcPts val="0"/>
              </a:spcAft>
            </a:pPr>
            <a:r>
              <a:rPr sz="1700" b="0" i="0">
                <a:solidFill>
                  <a:srgbClr val="1A2430"/>
                </a:solidFill>
                <a:latin typeface="Garamond"/>
              </a:rPr>
              <a:t>An annual leaving rate can therefore be measured in March, and in no other month.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From the CPS to a teacher dataset</a:t>
            </a:r>
          </a:p>
        </p:txBody>
      </p:sp>
      <p:sp>
        <p:nvSpPr>
          <p:cNvPr id="4" name="TextBox 3"/>
          <p:cNvSpPr txBox="1"/>
          <p:nvPr/>
        </p:nvSpPr>
        <p:spPr>
          <a:xfrm>
            <a:off x="777240" y="1691640"/>
            <a:ext cx="10698480" cy="292608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I pool every March supplement from 1998 to 2025: five million records, 104,545 of them teachers.</a:t>
            </a:r>
          </a:p>
          <a:p>
            <a:pPr algn="just">
              <a:lnSpc>
                <a:spcPts val="2550"/>
              </a:lnSpc>
              <a:spcAft>
                <a:spcPts val="0"/>
              </a:spcAft>
            </a:pPr>
            <a:r>
              <a:rPr sz="1700" b="0" i="0">
                <a:solidFill>
                  <a:srgbClr val="1A2430"/>
                </a:solidFill>
                <a:latin typeface="Garamond"/>
              </a:rPr>
              <a:t>Whoever taught as last year’s longest job, and no longer teaches at the March interview, has left the profession within the year.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Linking individuals across waves</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carries no individual identifier: records are linked on household identifiers and validated on demographics (Madrian and Lefgren, 1999).</a:t>
            </a:r>
          </a:p>
        </p:txBody>
      </p:sp>
      <p:cxnSp>
        <p:nvCxnSpPr>
          <p:cNvPr id="5" name="Connector 4"/>
          <p:cNvCxnSpPr/>
          <p:nvPr/>
        </p:nvCxnSpPr>
        <p:spPr>
          <a:xfrm>
            <a:off x="822960" y="27889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971800"/>
            <a:ext cx="420624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Linkage keys (exact match)</a:t>
            </a:r>
          </a:p>
        </p:txBody>
      </p:sp>
      <p:sp>
        <p:nvSpPr>
          <p:cNvPr id="7" name="TextBox 6"/>
          <p:cNvSpPr txBox="1"/>
          <p:nvPr/>
        </p:nvSpPr>
        <p:spPr>
          <a:xfrm>
            <a:off x="6035040" y="2971800"/>
            <a:ext cx="493776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Validation</a:t>
            </a:r>
          </a:p>
        </p:txBody>
      </p:sp>
      <p:sp>
        <p:nvSpPr>
          <p:cNvPr id="8" name="TextBox 7"/>
          <p:cNvSpPr txBox="1"/>
          <p:nvPr/>
        </p:nvSpPr>
        <p:spPr>
          <a:xfrm>
            <a:off x="1005840" y="345643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a:t>
            </a:r>
          </a:p>
        </p:txBody>
      </p:sp>
      <p:sp>
        <p:nvSpPr>
          <p:cNvPr id="9" name="TextBox 8"/>
          <p:cNvSpPr txBox="1"/>
          <p:nvPr/>
        </p:nvSpPr>
        <p:spPr>
          <a:xfrm>
            <a:off x="6035040" y="345643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a:t>
            </a:r>
          </a:p>
          <a:p>
            <a:pPr algn="l">
              <a:lnSpc>
                <a:spcPts val="1950"/>
              </a:lnSpc>
              <a:spcAft>
                <a:spcPts val="800"/>
              </a:spcAft>
            </a:pPr>
            <a:r>
              <a:rPr sz="1300" b="0" i="0">
                <a:solidFill>
                  <a:srgbClr val="1A2430"/>
                </a:solidFill>
                <a:latin typeface="Garamond"/>
              </a:rPr>
              <a:t>Race, identical</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029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5303520"/>
            <a:ext cx="10698480" cy="54864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78 percent of teacher observations.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Rectangle 22"/>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4" name="Rectangle 23"/>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5" name="Rectangle 24"/>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6" name="Rectangle 25"/>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7" name="Rectangle 26"/>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8" name="TextBox 27"/>
          <p:cNvSpPr txBox="1"/>
          <p:nvPr/>
        </p:nvSpPr>
        <p:spPr>
          <a:xfrm>
            <a:off x="3733037" y="1773936"/>
            <a:ext cx="4722876" cy="420624"/>
          </a:xfrm>
          <a:prstGeom prst="rect">
            <a:avLst/>
          </a:prstGeom>
          <a:noFill/>
        </p:spPr>
        <p:txBody>
          <a:bodyPr wrap="square" lIns="0" rIns="0" tIns="0" bIns="0" anchor="ctr">
            <a:spAutoFit/>
          </a:bodyPr>
          <a:lstStyle/>
          <a:p>
            <a:pPr algn="ctr">
              <a:lnSpc>
                <a:spcPts val="2250"/>
              </a:lnSpc>
              <a:spcAft>
                <a:spcPts val="0"/>
              </a:spcAft>
            </a:pPr>
            <a:r>
              <a:rPr sz="1500" b="1" i="0">
                <a:solidFill>
                  <a:srgbClr val="1F3864"/>
                </a:solidFill>
                <a:latin typeface="Garamond"/>
              </a:rPr>
              <a:t>stayer</a:t>
            </a:r>
          </a:p>
        </p:txBody>
      </p:sp>
      <p:sp>
        <p:nvSpPr>
          <p:cNvPr id="29" name="Rectangle 28"/>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0" name="Rectangle 29"/>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1" name="TextBox 30"/>
          <p:cNvSpPr txBox="1"/>
          <p:nvPr/>
        </p:nvSpPr>
        <p:spPr>
          <a:xfrm>
            <a:off x="3733037" y="1773936"/>
            <a:ext cx="4722876" cy="420624"/>
          </a:xfrm>
          <a:prstGeom prst="rect">
            <a:avLst/>
          </a:prstGeom>
          <a:noFill/>
        </p:spPr>
        <p:txBody>
          <a:bodyPr wrap="square" lIns="0" rIns="0" tIns="0" bIns="0" anchor="ctr">
            <a:spAutoFit/>
          </a:bodyPr>
          <a:lstStyle/>
          <a:p>
            <a:pPr algn="ctr">
              <a:lnSpc>
                <a:spcPts val="2250"/>
              </a:lnSpc>
              <a:spcAft>
                <a:spcPts val="0"/>
              </a:spcAft>
            </a:pPr>
            <a:r>
              <a:rPr sz="1500" b="1" i="0">
                <a:solidFill>
                  <a:srgbClr val="7B2530"/>
                </a:solidFill>
                <a:latin typeface="Garamond"/>
              </a:rPr>
              <a:t>leaver</a:t>
            </a:r>
          </a:p>
        </p:txBody>
      </p:sp>
      <p:sp>
        <p:nvSpPr>
          <p:cNvPr id="32" name="Rectangle 31"/>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3" name="TextBox 32"/>
          <p:cNvSpPr txBox="1"/>
          <p:nvPr/>
        </p:nvSpPr>
        <p:spPr>
          <a:xfrm>
            <a:off x="3733037" y="1773936"/>
            <a:ext cx="4722876" cy="420624"/>
          </a:xfrm>
          <a:prstGeom prst="rect">
            <a:avLst/>
          </a:prstGeom>
          <a:noFill/>
        </p:spPr>
        <p:txBody>
          <a:bodyPr wrap="square" lIns="0" rIns="0" tIns="0" bIns="0" anchor="ctr">
            <a:spAutoFit/>
          </a:bodyPr>
          <a:lstStyle/>
          <a:p>
            <a:pPr algn="ctr">
              <a:lnSpc>
                <a:spcPts val="2250"/>
              </a:lnSpc>
              <a:spcAft>
                <a:spcPts val="0"/>
              </a:spcAft>
            </a:pPr>
            <a:r>
              <a:rPr sz="1500" b="1" i="0">
                <a:solidFill>
                  <a:srgbClr val="6B7480"/>
                </a:solidFill>
                <a:latin typeface="Garamond"/>
              </a:rPr>
              <a:t>not a teacher</a:t>
            </a:r>
          </a:p>
        </p:txBody>
      </p:sp>
      <p:sp>
        <p:nvSpPr>
          <p:cNvPr id="49" name="TextBox 48"/>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50" name="Connector 49"/>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52" name="TextBox 51"/>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53" name="TextBox 52"/>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54" name="TextBox 53"/>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55" name="TextBox 54"/>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56" name="TextBox 55"/>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57" name="Connector 56"/>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59" name="TextBox 58"/>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60" name="Connector 59"/>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a:t>
            </a:r>
          </a:p>
        </p:txBody>
      </p:sp>
      <p:sp>
        <p:nvSpPr>
          <p:cNvPr id="62" name="TextBox 61"/>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63" name="TextBox 62"/>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Annual recall</a:t>
            </a:r>
          </a:p>
        </p:txBody>
      </p:sp>
      <p:sp>
        <p:nvSpPr>
          <p:cNvPr id="64" name="TextBox 63"/>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65" name="TextBox 64"/>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 pair</a:t>
            </a:r>
          </a:p>
        </p:txBody>
      </p:sp>
      <p:sp>
        <p:nvSpPr>
          <p:cNvPr id="66" name="TextBox 65"/>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67" name="TextBox 66"/>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 pairs</a:t>
            </a:r>
          </a:p>
        </p:txBody>
      </p:sp>
      <p:sp>
        <p:nvSpPr>
          <p:cNvPr id="68" name="TextBox 67"/>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69" name="TextBox 68"/>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 sighting</a:t>
            </a:r>
          </a:p>
        </p:txBody>
      </p:sp>
      <p:sp>
        <p:nvSpPr>
          <p:cNvPr id="70" name="TextBox 69"/>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71" name="TextBox 70"/>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follow-up survey</a:t>
            </a:r>
          </a:p>
        </p:txBody>
      </p:sp>
      <p:sp>
        <p:nvSpPr>
          <p:cNvPr id="72" name="TextBox 71"/>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73" name="Connector 72"/>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3"/>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hidden"/>
                                      </p:to>
                                    </p:set>
                                  </p:childTnLst>
                                </p:cTn>
                              </p:par>
                              <p:par>
                                <p:cTn id="23" presetID="1" presetClass="exit"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hidden"/>
                                      </p:to>
                                    </p:set>
                                  </p:childTnLst>
                                </p:cTn>
                              </p:par>
                              <p:par>
                                <p:cTn id="25" presetID="1" presetClass="exit"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37" presetID="1" presetClass="exit" presetSubtype="0" fill="hold" grpId="0" nodeType="clickEffect">
                                  <p:stCondLst>
                                    <p:cond delay="0"/>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7" grpId="0"/>
      <p:bldP spid="28" grpId="0"/>
      <p:bldP spid="29" grpId="0"/>
      <p:bldP spid="30" grpId="0"/>
      <p:bldP spid="31" grpId="0"/>
      <p:bldP spid="32" grpId="0"/>
      <p:bldP spid="33"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All the series, one axis</a:t>
            </a:r>
          </a:p>
        </p:txBody>
      </p:sp>
      <p:pic>
        <p:nvPicPr>
          <p:cNvPr id="4" name="Picture 3" descr="v_allseries.png"/>
          <p:cNvPicPr>
            <a:picLocks noChangeAspect="1"/>
          </p:cNvPicPr>
          <p:nvPr/>
        </p:nvPicPr>
        <p:blipFill>
          <a:blip r:embed="rId2"/>
          <a:stretch>
            <a:fillRect/>
          </a:stretch>
        </p:blipFill>
        <p:spPr>
          <a:xfrm>
            <a:off x="594360" y="1481328"/>
            <a:ext cx="11018520" cy="5418944"/>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Where this could be done next</a:t>
            </a:r>
          </a:p>
        </p:txBody>
      </p:sp>
      <p:sp>
        <p:nvSpPr>
          <p:cNvPr id="4" name="TextBox 3"/>
          <p:cNvSpPr txBox="1"/>
          <p:nvPr/>
        </p:nvSpPr>
        <p:spPr>
          <a:xfrm>
            <a:off x="777240" y="1481328"/>
            <a:ext cx="10698480"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20116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20116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20116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20116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3774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146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5146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5146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5146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9900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9900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9900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9900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4655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4655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4655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4655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9410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9410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9410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9410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4165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4165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4165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4165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8920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8920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8920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8920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3675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3675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3675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3675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8978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60624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