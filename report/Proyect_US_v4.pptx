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98" r:id="rId44"/>
    <p:sldId id="256" r:id="rId5"/>
    <p:sldId id="299" r:id="rId45"/>
    <p:sldId id="301" r:id="rId47"/>
    <p:sldId id="300" r:id="rId46"/>
    <p:sldId id="302" r:id="rId48"/>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3"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monthly household survey behind the official employment statistics: about 60,000 households, the civilian non-institutional population.</a:t>
            </a:r>
          </a:p>
        </p:txBody>
      </p:sp>
      <p:cxnSp>
        <p:nvCxnSpPr>
          <p:cNvPr id="5" name="Connector 4"/>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60120" y="2871216"/>
            <a:ext cx="640080" cy="365760"/>
          </a:xfrm>
          <a:prstGeom prst="rect">
            <a:avLst/>
          </a:prstGeom>
          <a:noFill/>
        </p:spPr>
        <p:txBody>
          <a:bodyPr wrap="square" lIns="0" rIns="0" tIns="0" bIns="0">
            <a:spAutoFit/>
          </a:bodyPr>
          <a:lstStyle/>
          <a:p>
            <a:pPr algn="l">
              <a:lnSpc>
                <a:spcPts val="1950"/>
              </a:lnSpc>
              <a:spcAft>
                <a:spcPts val="0"/>
              </a:spcAft>
            </a:pPr>
            <a:r>
              <a:rPr sz="1300" b="1" i="0">
                <a:solidFill>
                  <a:srgbClr val="26456E"/>
                </a:solidFill>
                <a:latin typeface="Garamond"/>
              </a:rPr>
              <a:t>Age</a:t>
            </a:r>
          </a:p>
        </p:txBody>
      </p:sp>
      <p:sp>
        <p:nvSpPr>
          <p:cNvPr id="7" name="TextBox 6"/>
          <p:cNvSpPr txBox="1"/>
          <p:nvPr/>
        </p:nvSpPr>
        <p:spPr>
          <a:xfrm>
            <a:off x="1737360" y="2871216"/>
            <a:ext cx="3017520" cy="365760"/>
          </a:xfrm>
          <a:prstGeom prst="rect">
            <a:avLst/>
          </a:prstGeom>
          <a:noFill/>
        </p:spPr>
        <p:txBody>
          <a:bodyPr wrap="square" lIns="0" rIns="0" tIns="0" bIns="0">
            <a:spAutoFit/>
          </a:bodyPr>
          <a:lstStyle/>
          <a:p>
            <a:pPr algn="l">
              <a:lnSpc>
                <a:spcPts val="1950"/>
              </a:lnSpc>
              <a:spcAft>
                <a:spcPts val="0"/>
              </a:spcAft>
            </a:pPr>
            <a:r>
              <a:rPr sz="1300" b="1" i="0">
                <a:solidFill>
                  <a:srgbClr val="26456E"/>
                </a:solidFill>
                <a:latin typeface="Garamond"/>
              </a:rPr>
              <a:t>Longest job last year</a:t>
            </a:r>
          </a:p>
        </p:txBody>
      </p:sp>
      <p:sp>
        <p:nvSpPr>
          <p:cNvPr id="8" name="TextBox 7"/>
          <p:cNvSpPr txBox="1"/>
          <p:nvPr/>
        </p:nvSpPr>
        <p:spPr>
          <a:xfrm>
            <a:off x="4892040" y="2871216"/>
            <a:ext cx="777240" cy="365760"/>
          </a:xfrm>
          <a:prstGeom prst="rect">
            <a:avLst/>
          </a:prstGeom>
          <a:noFill/>
        </p:spPr>
        <p:txBody>
          <a:bodyPr wrap="square" lIns="0" rIns="0" tIns="0" bIns="0">
            <a:spAutoFit/>
          </a:bodyPr>
          <a:lstStyle/>
          <a:p>
            <a:pPr algn="l">
              <a:lnSpc>
                <a:spcPts val="1950"/>
              </a:lnSpc>
              <a:spcAft>
                <a:spcPts val="0"/>
              </a:spcAft>
            </a:pPr>
            <a:r>
              <a:rPr sz="1300" b="1" i="0">
                <a:solidFill>
                  <a:srgbClr val="26456E"/>
                </a:solidFill>
                <a:latin typeface="Garamond"/>
              </a:rPr>
              <a:t>Weeks</a:t>
            </a:r>
          </a:p>
        </p:txBody>
      </p:sp>
      <p:sp>
        <p:nvSpPr>
          <p:cNvPr id="9" name="TextBox 8"/>
          <p:cNvSpPr txBox="1"/>
          <p:nvPr/>
        </p:nvSpPr>
        <p:spPr>
          <a:xfrm>
            <a:off x="5806440" y="2871216"/>
            <a:ext cx="1097280" cy="365760"/>
          </a:xfrm>
          <a:prstGeom prst="rect">
            <a:avLst/>
          </a:prstGeom>
          <a:noFill/>
        </p:spPr>
        <p:txBody>
          <a:bodyPr wrap="square" lIns="0" rIns="0" tIns="0" bIns="0">
            <a:spAutoFit/>
          </a:bodyPr>
          <a:lstStyle/>
          <a:p>
            <a:pPr algn="l">
              <a:lnSpc>
                <a:spcPts val="1950"/>
              </a:lnSpc>
              <a:spcAft>
                <a:spcPts val="0"/>
              </a:spcAft>
            </a:pPr>
            <a:r>
              <a:rPr sz="1300" b="1" i="0">
                <a:solidFill>
                  <a:srgbClr val="26456E"/>
                </a:solidFill>
                <a:latin typeface="Garamond"/>
              </a:rPr>
              <a:t>Wage</a:t>
            </a:r>
          </a:p>
        </p:txBody>
      </p:sp>
      <p:sp>
        <p:nvSpPr>
          <p:cNvPr id="10" name="TextBox 9"/>
          <p:cNvSpPr txBox="1"/>
          <p:nvPr/>
        </p:nvSpPr>
        <p:spPr>
          <a:xfrm>
            <a:off x="7040880" y="2871216"/>
            <a:ext cx="3017520" cy="365760"/>
          </a:xfrm>
          <a:prstGeom prst="rect">
            <a:avLst/>
          </a:prstGeom>
          <a:noFill/>
        </p:spPr>
        <p:txBody>
          <a:bodyPr wrap="square" lIns="0" rIns="0" tIns="0" bIns="0">
            <a:spAutoFit/>
          </a:bodyPr>
          <a:lstStyle/>
          <a:p>
            <a:pPr algn="l">
              <a:lnSpc>
                <a:spcPts val="1950"/>
              </a:lnSpc>
              <a:spcAft>
                <a:spcPts val="0"/>
              </a:spcAft>
            </a:pPr>
            <a:r>
              <a:rPr sz="1300" b="1" i="0">
                <a:solidFill>
                  <a:srgbClr val="26456E"/>
                </a:solidFill>
                <a:latin typeface="Garamond"/>
              </a:rPr>
              <a:t>Occupation this March</a:t>
            </a:r>
          </a:p>
        </p:txBody>
      </p:sp>
      <p:cxnSp>
        <p:nvCxnSpPr>
          <p:cNvPr id="11" name="Connector 10"/>
          <p:cNvCxnSpPr/>
          <p:nvPr/>
        </p:nvCxnSpPr>
        <p:spPr>
          <a:xfrm>
            <a:off x="822960" y="3255264"/>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60120" y="3401568"/>
            <a:ext cx="6400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58</a:t>
            </a:r>
          </a:p>
        </p:txBody>
      </p:sp>
      <p:sp>
        <p:nvSpPr>
          <p:cNvPr id="13" name="TextBox 12"/>
          <p:cNvSpPr txBox="1"/>
          <p:nvPr/>
        </p:nvSpPr>
        <p:spPr>
          <a:xfrm>
            <a:off x="1737360" y="3401568"/>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Elementary and middle school teachers</a:t>
            </a:r>
          </a:p>
        </p:txBody>
      </p:sp>
      <p:sp>
        <p:nvSpPr>
          <p:cNvPr id="14" name="TextBox 13"/>
          <p:cNvSpPr txBox="1"/>
          <p:nvPr/>
        </p:nvSpPr>
        <p:spPr>
          <a:xfrm>
            <a:off x="4892040" y="3401568"/>
            <a:ext cx="77724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52</a:t>
            </a:r>
          </a:p>
        </p:txBody>
      </p:sp>
      <p:sp>
        <p:nvSpPr>
          <p:cNvPr id="15" name="TextBox 14"/>
          <p:cNvSpPr txBox="1"/>
          <p:nvPr/>
        </p:nvSpPr>
        <p:spPr>
          <a:xfrm>
            <a:off x="5806440" y="3401568"/>
            <a:ext cx="10972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$76,375</a:t>
            </a:r>
          </a:p>
        </p:txBody>
      </p:sp>
      <p:sp>
        <p:nvSpPr>
          <p:cNvPr id="16" name="TextBox 15"/>
          <p:cNvSpPr txBox="1"/>
          <p:nvPr/>
        </p:nvSpPr>
        <p:spPr>
          <a:xfrm>
            <a:off x="7040880" y="3401568"/>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Elementary and middle school teachers</a:t>
            </a:r>
          </a:p>
        </p:txBody>
      </p:sp>
      <p:sp>
        <p:nvSpPr>
          <p:cNvPr id="17" name="TextBox 16"/>
          <p:cNvSpPr txBox="1"/>
          <p:nvPr/>
        </p:nvSpPr>
        <p:spPr>
          <a:xfrm>
            <a:off x="10195560" y="3401568"/>
            <a:ext cx="1143000" cy="384048"/>
          </a:xfrm>
          <a:prstGeom prst="rect">
            <a:avLst/>
          </a:prstGeom>
          <a:noFill/>
        </p:spPr>
        <p:txBody>
          <a:bodyPr wrap="square" lIns="0" rIns="0" tIns="0" bIns="0">
            <a:spAutoFit/>
          </a:bodyPr>
          <a:lstStyle/>
          <a:p>
            <a:pPr algn="l">
              <a:lnSpc>
                <a:spcPts val="1875"/>
              </a:lnSpc>
              <a:spcAft>
                <a:spcPts val="0"/>
              </a:spcAft>
            </a:pPr>
            <a:r>
              <a:rPr sz="1250" b="1" i="0">
                <a:solidFill>
                  <a:srgbClr val="1F3864"/>
                </a:solidFill>
                <a:latin typeface="Garamond"/>
              </a:rPr>
              <a:t>stayer</a:t>
            </a:r>
          </a:p>
        </p:txBody>
      </p:sp>
      <p:sp>
        <p:nvSpPr>
          <p:cNvPr id="18" name="TextBox 17"/>
          <p:cNvSpPr txBox="1"/>
          <p:nvPr/>
        </p:nvSpPr>
        <p:spPr>
          <a:xfrm>
            <a:off x="960120" y="3877056"/>
            <a:ext cx="6400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28</a:t>
            </a:r>
          </a:p>
        </p:txBody>
      </p:sp>
      <p:sp>
        <p:nvSpPr>
          <p:cNvPr id="19" name="TextBox 18"/>
          <p:cNvSpPr txBox="1"/>
          <p:nvPr/>
        </p:nvSpPr>
        <p:spPr>
          <a:xfrm>
            <a:off x="1737360" y="3877056"/>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Elementary and middle school teachers</a:t>
            </a:r>
          </a:p>
        </p:txBody>
      </p:sp>
      <p:sp>
        <p:nvSpPr>
          <p:cNvPr id="20" name="TextBox 19"/>
          <p:cNvSpPr txBox="1"/>
          <p:nvPr/>
        </p:nvSpPr>
        <p:spPr>
          <a:xfrm>
            <a:off x="4892040" y="3877056"/>
            <a:ext cx="77724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52</a:t>
            </a:r>
          </a:p>
        </p:txBody>
      </p:sp>
      <p:sp>
        <p:nvSpPr>
          <p:cNvPr id="21" name="TextBox 20"/>
          <p:cNvSpPr txBox="1"/>
          <p:nvPr/>
        </p:nvSpPr>
        <p:spPr>
          <a:xfrm>
            <a:off x="5806440" y="3877056"/>
            <a:ext cx="10972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$57,000</a:t>
            </a:r>
          </a:p>
        </p:txBody>
      </p:sp>
      <p:sp>
        <p:nvSpPr>
          <p:cNvPr id="22" name="TextBox 21"/>
          <p:cNvSpPr txBox="1"/>
          <p:nvPr/>
        </p:nvSpPr>
        <p:spPr>
          <a:xfrm>
            <a:off x="7040880" y="3877056"/>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Secretary and administrative assistant</a:t>
            </a:r>
          </a:p>
        </p:txBody>
      </p:sp>
      <p:sp>
        <p:nvSpPr>
          <p:cNvPr id="23" name="TextBox 22"/>
          <p:cNvSpPr txBox="1"/>
          <p:nvPr/>
        </p:nvSpPr>
        <p:spPr>
          <a:xfrm>
            <a:off x="10195560" y="3877056"/>
            <a:ext cx="1143000" cy="384048"/>
          </a:xfrm>
          <a:prstGeom prst="rect">
            <a:avLst/>
          </a:prstGeom>
          <a:noFill/>
        </p:spPr>
        <p:txBody>
          <a:bodyPr wrap="square" lIns="0" rIns="0" tIns="0" bIns="0">
            <a:spAutoFit/>
          </a:bodyPr>
          <a:lstStyle/>
          <a:p>
            <a:pPr algn="l">
              <a:lnSpc>
                <a:spcPts val="1875"/>
              </a:lnSpc>
              <a:spcAft>
                <a:spcPts val="0"/>
              </a:spcAft>
            </a:pPr>
            <a:r>
              <a:rPr sz="1250" b="1" i="0">
                <a:solidFill>
                  <a:srgbClr val="7B2530"/>
                </a:solidFill>
                <a:latin typeface="Garamond"/>
              </a:rPr>
              <a:t>leaver</a:t>
            </a:r>
          </a:p>
        </p:txBody>
      </p:sp>
      <p:sp>
        <p:nvSpPr>
          <p:cNvPr id="24" name="TextBox 23"/>
          <p:cNvSpPr txBox="1"/>
          <p:nvPr/>
        </p:nvSpPr>
        <p:spPr>
          <a:xfrm>
            <a:off x="960120" y="4352544"/>
            <a:ext cx="6400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24</a:t>
            </a:r>
          </a:p>
        </p:txBody>
      </p:sp>
      <p:sp>
        <p:nvSpPr>
          <p:cNvPr id="25" name="TextBox 24"/>
          <p:cNvSpPr txBox="1"/>
          <p:nvPr/>
        </p:nvSpPr>
        <p:spPr>
          <a:xfrm>
            <a:off x="1737360" y="4352544"/>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Elementary and middle school teachers</a:t>
            </a:r>
          </a:p>
        </p:txBody>
      </p:sp>
      <p:sp>
        <p:nvSpPr>
          <p:cNvPr id="26" name="TextBox 25"/>
          <p:cNvSpPr txBox="1"/>
          <p:nvPr/>
        </p:nvSpPr>
        <p:spPr>
          <a:xfrm>
            <a:off x="4892040" y="4352544"/>
            <a:ext cx="77724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40</a:t>
            </a:r>
          </a:p>
        </p:txBody>
      </p:sp>
      <p:sp>
        <p:nvSpPr>
          <p:cNvPr id="27" name="TextBox 26"/>
          <p:cNvSpPr txBox="1"/>
          <p:nvPr/>
        </p:nvSpPr>
        <p:spPr>
          <a:xfrm>
            <a:off x="5806440" y="4352544"/>
            <a:ext cx="10972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$81,500</a:t>
            </a:r>
          </a:p>
        </p:txBody>
      </p:sp>
      <p:sp>
        <p:nvSpPr>
          <p:cNvPr id="28" name="TextBox 27"/>
          <p:cNvSpPr txBox="1"/>
          <p:nvPr/>
        </p:nvSpPr>
        <p:spPr>
          <a:xfrm>
            <a:off x="7040880" y="4352544"/>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Teaching assistant</a:t>
            </a:r>
          </a:p>
        </p:txBody>
      </p:sp>
      <p:sp>
        <p:nvSpPr>
          <p:cNvPr id="29" name="TextBox 28"/>
          <p:cNvSpPr txBox="1"/>
          <p:nvPr/>
        </p:nvSpPr>
        <p:spPr>
          <a:xfrm>
            <a:off x="10195560" y="4352544"/>
            <a:ext cx="1143000" cy="384048"/>
          </a:xfrm>
          <a:prstGeom prst="rect">
            <a:avLst/>
          </a:prstGeom>
          <a:noFill/>
        </p:spPr>
        <p:txBody>
          <a:bodyPr wrap="square" lIns="0" rIns="0" tIns="0" bIns="0">
            <a:spAutoFit/>
          </a:bodyPr>
          <a:lstStyle/>
          <a:p>
            <a:pPr algn="l">
              <a:lnSpc>
                <a:spcPts val="1875"/>
              </a:lnSpc>
              <a:spcAft>
                <a:spcPts val="0"/>
              </a:spcAft>
            </a:pPr>
            <a:r>
              <a:rPr sz="1250" b="1" i="0">
                <a:solidFill>
                  <a:srgbClr val="7B2530"/>
                </a:solidFill>
                <a:latin typeface="Garamond"/>
              </a:rPr>
              <a:t>leaver</a:t>
            </a:r>
          </a:p>
        </p:txBody>
      </p:sp>
      <p:sp>
        <p:nvSpPr>
          <p:cNvPr id="30" name="TextBox 29"/>
          <p:cNvSpPr txBox="1"/>
          <p:nvPr/>
        </p:nvSpPr>
        <p:spPr>
          <a:xfrm>
            <a:off x="960120" y="4828031"/>
            <a:ext cx="6400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62</a:t>
            </a:r>
          </a:p>
        </p:txBody>
      </p:sp>
      <p:sp>
        <p:nvSpPr>
          <p:cNvPr id="31" name="TextBox 30"/>
          <p:cNvSpPr txBox="1"/>
          <p:nvPr/>
        </p:nvSpPr>
        <p:spPr>
          <a:xfrm>
            <a:off x="1737360" y="4828031"/>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Elementary and middle school teachers</a:t>
            </a:r>
          </a:p>
        </p:txBody>
      </p:sp>
      <p:sp>
        <p:nvSpPr>
          <p:cNvPr id="32" name="TextBox 31"/>
          <p:cNvSpPr txBox="1"/>
          <p:nvPr/>
        </p:nvSpPr>
        <p:spPr>
          <a:xfrm>
            <a:off x="4892040" y="4828031"/>
            <a:ext cx="77724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26</a:t>
            </a:r>
          </a:p>
        </p:txBody>
      </p:sp>
      <p:sp>
        <p:nvSpPr>
          <p:cNvPr id="33" name="TextBox 32"/>
          <p:cNvSpPr txBox="1"/>
          <p:nvPr/>
        </p:nvSpPr>
        <p:spPr>
          <a:xfrm>
            <a:off x="5806440" y="4828031"/>
            <a:ext cx="109728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$62,000</a:t>
            </a:r>
          </a:p>
        </p:txBody>
      </p:sp>
      <p:sp>
        <p:nvSpPr>
          <p:cNvPr id="34" name="TextBox 33"/>
          <p:cNvSpPr txBox="1"/>
          <p:nvPr/>
        </p:nvSpPr>
        <p:spPr>
          <a:xfrm>
            <a:off x="7040880" y="4828031"/>
            <a:ext cx="3017520" cy="384048"/>
          </a:xfrm>
          <a:prstGeom prst="rect">
            <a:avLst/>
          </a:prstGeom>
          <a:noFill/>
        </p:spPr>
        <p:txBody>
          <a:bodyPr wrap="square" lIns="0" rIns="0" tIns="0" bIns="0">
            <a:spAutoFit/>
          </a:bodyPr>
          <a:lstStyle/>
          <a:p>
            <a:pPr algn="l">
              <a:lnSpc>
                <a:spcPts val="1875"/>
              </a:lnSpc>
              <a:spcAft>
                <a:spcPts val="0"/>
              </a:spcAft>
            </a:pPr>
            <a:r>
              <a:rPr sz="1250" b="0" i="0">
                <a:solidFill>
                  <a:srgbClr val="1A2430"/>
                </a:solidFill>
                <a:latin typeface="Garamond"/>
              </a:rPr>
              <a:t>Not employed in March</a:t>
            </a:r>
          </a:p>
        </p:txBody>
      </p:sp>
      <p:sp>
        <p:nvSpPr>
          <p:cNvPr id="35" name="TextBox 34"/>
          <p:cNvSpPr txBox="1"/>
          <p:nvPr/>
        </p:nvSpPr>
        <p:spPr>
          <a:xfrm>
            <a:off x="10195560" y="4828031"/>
            <a:ext cx="1143000" cy="384048"/>
          </a:xfrm>
          <a:prstGeom prst="rect">
            <a:avLst/>
          </a:prstGeom>
          <a:noFill/>
        </p:spPr>
        <p:txBody>
          <a:bodyPr wrap="square" lIns="0" rIns="0" tIns="0" bIns="0">
            <a:spAutoFit/>
          </a:bodyPr>
          <a:lstStyle/>
          <a:p>
            <a:pPr algn="l">
              <a:lnSpc>
                <a:spcPts val="1875"/>
              </a:lnSpc>
              <a:spcAft>
                <a:spcPts val="0"/>
              </a:spcAft>
            </a:pPr>
            <a:r>
              <a:rPr sz="1250" b="1" i="0">
                <a:solidFill>
                  <a:srgbClr val="7B2530"/>
                </a:solidFill>
                <a:latin typeface="Garamond"/>
              </a:rPr>
              <a:t>leaver</a:t>
            </a:r>
          </a:p>
        </p:txBody>
      </p:sp>
      <p:cxnSp>
        <p:nvCxnSpPr>
          <p:cNvPr id="36" name="Connector 35"/>
          <p:cNvCxnSpPr/>
          <p:nvPr/>
        </p:nvCxnSpPr>
        <p:spPr>
          <a:xfrm>
            <a:off x="822960" y="5321807"/>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22960" y="5522975"/>
            <a:ext cx="10543032"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Four records from the March 2025 supplement, as they enter the dataset.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Supplements, and why March</a:t>
            </a:r>
          </a:p>
        </p:txBody>
      </p:sp>
      <p:sp>
        <p:nvSpPr>
          <p:cNvPr id="4" name="TextBox 3"/>
          <p:cNvSpPr txBox="1"/>
          <p:nvPr/>
        </p:nvSpPr>
        <p:spPr>
          <a:xfrm>
            <a:off x="777240" y="1691640"/>
            <a:ext cx="10698480" cy="365760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The basic monthly interview measures current activity only. Most months add a supplement on a rotating topic.</a:t>
            </a:r>
          </a:p>
          <a:p>
            <a:pPr algn="just">
              <a:lnSpc>
                <a:spcPts val="2550"/>
              </a:lnSpc>
              <a:spcAft>
                <a:spcPts val="1600"/>
              </a:spcAft>
            </a:pPr>
            <a:r>
              <a:rPr sz="1700" b="0" i="0">
                <a:solidFill>
                  <a:srgbClr val="1A2430"/>
                </a:solidFill>
                <a:latin typeface="Garamond"/>
              </a:rPr>
              <a:t>The March supplement expands the sample to roughly 90,000 households and asks every adult about the entire previous calendar year: longest job held, weeks worked, earnings.</a:t>
            </a:r>
          </a:p>
          <a:p>
            <a:pPr algn="just">
              <a:lnSpc>
                <a:spcPts val="2550"/>
              </a:lnSpc>
              <a:spcAft>
                <a:spcPts val="0"/>
              </a:spcAft>
            </a:pPr>
            <a:r>
              <a:rPr sz="1700" b="0" i="0">
                <a:solidFill>
                  <a:srgbClr val="1A2430"/>
                </a:solidFill>
                <a:latin typeface="Garamond"/>
              </a:rPr>
              <a:t>An annual leaving rate can therefore be measured in March, and in no other month.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From the CPS to a teacher dataset</a:t>
            </a:r>
          </a:p>
        </p:txBody>
      </p:sp>
      <p:sp>
        <p:nvSpPr>
          <p:cNvPr id="4" name="TextBox 3"/>
          <p:cNvSpPr txBox="1"/>
          <p:nvPr/>
        </p:nvSpPr>
        <p:spPr>
          <a:xfrm>
            <a:off x="777240" y="1691640"/>
            <a:ext cx="10698480" cy="292608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I pool every March supplement from 1998 to 2025: five million records, 104,545 of them teachers.</a:t>
            </a:r>
          </a:p>
          <a:p>
            <a:pPr algn="just">
              <a:lnSpc>
                <a:spcPts val="2550"/>
              </a:lnSpc>
              <a:spcAft>
                <a:spcPts val="0"/>
              </a:spcAft>
            </a:pPr>
            <a:r>
              <a:rPr sz="1700" b="0" i="0">
                <a:solidFill>
                  <a:srgbClr val="1A2430"/>
                </a:solidFill>
                <a:latin typeface="Garamond"/>
              </a:rPr>
              <a:t>Whoever taught as last year’s longest job, and no longer teaches at the March interview, has left the profession within the year.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records are linked on household identifiers and validated on demographics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a:t>
            </a:r>
          </a:p>
          <a:p>
            <a:pPr algn="l">
              <a:lnSpc>
                <a:spcPts val="1950"/>
              </a:lnSpc>
              <a:spcAft>
                <a:spcPts val="800"/>
              </a:spcAft>
            </a:pPr>
            <a:r>
              <a:rPr sz="1300" b="0" i="0">
                <a:solidFill>
                  <a:srgbClr val="1A2430"/>
                </a:solidFill>
                <a:latin typeface="Garamond"/>
              </a:rPr>
              <a:t>Race, identical</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303520"/>
            <a:ext cx="10698480" cy="54864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78 percent of teacher observations.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Definition 1: illustrative cases</a:t>
            </a:r>
          </a:p>
        </p:txBody>
      </p:sp>
      <p:sp>
        <p:nvSpPr>
          <p:cNvPr id="4" name="Rectangle 3"/>
          <p:cNvSpPr/>
          <p:nvPr/>
        </p:nvSpPr>
        <p:spPr>
          <a:xfrm>
            <a:off x="822960"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5" name="Rectangle 4"/>
          <p:cNvSpPr/>
          <p:nvPr/>
        </p:nvSpPr>
        <p:spPr>
          <a:xfrm>
            <a:off x="1426464"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6" name="Rectangle 5"/>
          <p:cNvSpPr/>
          <p:nvPr/>
        </p:nvSpPr>
        <p:spPr>
          <a:xfrm>
            <a:off x="2029967"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7" name="Rectangle 6"/>
          <p:cNvSpPr/>
          <p:nvPr/>
        </p:nvSpPr>
        <p:spPr>
          <a:xfrm>
            <a:off x="2633472" y="1874519"/>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8" name="Rectangle 7"/>
          <p:cNvSpPr/>
          <p:nvPr/>
        </p:nvSpPr>
        <p:spPr>
          <a:xfrm>
            <a:off x="4014215" y="1874519"/>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17720" y="1874519"/>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21224" y="1874519"/>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824728" y="1874519"/>
            <a:ext cx="548640" cy="54864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2" name="TextBox 11"/>
          <p:cNvSpPr txBox="1"/>
          <p:nvPr/>
        </p:nvSpPr>
        <p:spPr>
          <a:xfrm>
            <a:off x="6748272" y="1984248"/>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1F3864"/>
                </a:solidFill>
                <a:latin typeface="Garamond"/>
              </a:rPr>
              <a:t>stayer</a:t>
            </a:r>
          </a:p>
        </p:txBody>
      </p:sp>
      <p:sp>
        <p:nvSpPr>
          <p:cNvPr id="13" name="Rectangle 12"/>
          <p:cNvSpPr/>
          <p:nvPr/>
        </p:nvSpPr>
        <p:spPr>
          <a:xfrm>
            <a:off x="822960"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4" name="Rectangle 13"/>
          <p:cNvSpPr/>
          <p:nvPr/>
        </p:nvSpPr>
        <p:spPr>
          <a:xfrm>
            <a:off x="1426464" y="2807208"/>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15" name="Rectangle 14"/>
          <p:cNvSpPr/>
          <p:nvPr/>
        </p:nvSpPr>
        <p:spPr>
          <a:xfrm>
            <a:off x="2029967"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33472"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14215"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17720"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221224"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24728" y="2807208"/>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2916936"/>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7B2530"/>
                </a:solidFill>
                <a:latin typeface="Garamond"/>
              </a:rPr>
              <a:t>leaver</a:t>
            </a:r>
          </a:p>
        </p:txBody>
      </p:sp>
      <p:sp>
        <p:nvSpPr>
          <p:cNvPr id="22" name="Rectangle 21"/>
          <p:cNvSpPr/>
          <p:nvPr/>
        </p:nvSpPr>
        <p:spPr>
          <a:xfrm>
            <a:off x="822960" y="3739896"/>
            <a:ext cx="548640" cy="54864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3" name="Rectangle 22"/>
          <p:cNvSpPr/>
          <p:nvPr/>
        </p:nvSpPr>
        <p:spPr>
          <a:xfrm>
            <a:off x="1426464"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29967"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33472"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014215"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21224"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24728" y="3739896"/>
            <a:ext cx="548640" cy="54864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48272" y="3849624"/>
            <a:ext cx="4572000" cy="411480"/>
          </a:xfrm>
          <a:prstGeom prst="rect">
            <a:avLst/>
          </a:prstGeom>
          <a:noFill/>
        </p:spPr>
        <p:txBody>
          <a:bodyPr wrap="square" lIns="0" rIns="0" tIns="0" bIns="0">
            <a:spAutoFit/>
          </a:bodyPr>
          <a:lstStyle/>
          <a:p>
            <a:pPr algn="l">
              <a:lnSpc>
                <a:spcPts val="2100"/>
              </a:lnSpc>
              <a:spcAft>
                <a:spcPts val="0"/>
              </a:spcAft>
            </a:pPr>
            <a:r>
              <a:rPr sz="1400" b="1" i="0">
                <a:solidFill>
                  <a:srgbClr val="6B7480"/>
                </a:solidFill>
                <a:latin typeface="Garamond"/>
              </a:rPr>
              <a:t>excluded</a:t>
            </a:r>
          </a:p>
        </p:txBody>
      </p:sp>
      <p:sp>
        <p:nvSpPr>
          <p:cNvPr id="31" name="TextBox 30"/>
          <p:cNvSpPr txBox="1"/>
          <p:nvPr/>
        </p:nvSpPr>
        <p:spPr>
          <a:xfrm>
            <a:off x="822960" y="4745736"/>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1</a:t>
            </a:r>
          </a:p>
        </p:txBody>
      </p:sp>
      <p:sp>
        <p:nvSpPr>
          <p:cNvPr id="32" name="TextBox 31"/>
          <p:cNvSpPr txBox="1"/>
          <p:nvPr/>
        </p:nvSpPr>
        <p:spPr>
          <a:xfrm>
            <a:off x="5806440" y="4745736"/>
            <a:ext cx="4572000" cy="32004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Year 2</a:t>
            </a:r>
          </a:p>
        </p:txBody>
      </p:sp>
      <p:sp>
        <p:nvSpPr>
          <p:cNvPr id="33" name="TextBox 32"/>
          <p:cNvSpPr txBox="1"/>
          <p:nvPr/>
        </p:nvSpPr>
        <p:spPr>
          <a:xfrm>
            <a:off x="822960" y="5148071"/>
            <a:ext cx="10515600"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Filled cells: observed teaching.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TextBox 22"/>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24" name="Connector 23"/>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26" name="TextBox 25"/>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27" name="TextBox 26"/>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28" name="TextBox 27"/>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29" name="TextBox 28"/>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30" name="TextBox 29"/>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31" name="Connector 30"/>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33" name="TextBox 32"/>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34" name="Connector 33"/>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 as above</a:t>
            </a:r>
          </a:p>
        </p:txBody>
      </p:sp>
      <p:sp>
        <p:nvSpPr>
          <p:cNvPr id="36" name="TextBox 35"/>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37" name="TextBox 36"/>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Retrospective annual measure</a:t>
            </a:r>
          </a:p>
        </p:txBody>
      </p:sp>
      <p:sp>
        <p:nvSpPr>
          <p:cNvPr id="38" name="TextBox 37"/>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39" name="TextBox 38"/>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Occupation-pair measure</a:t>
            </a:r>
          </a:p>
        </p:txBody>
      </p:sp>
      <p:sp>
        <p:nvSpPr>
          <p:cNvPr id="40" name="TextBox 39"/>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41" name="TextBox 40"/>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Month-pair measure</a:t>
            </a:r>
          </a:p>
        </p:txBody>
      </p:sp>
      <p:sp>
        <p:nvSpPr>
          <p:cNvPr id="42" name="TextBox 41"/>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43" name="TextBox 42"/>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Any-sighting measure</a:t>
            </a:r>
          </a:p>
        </p:txBody>
      </p:sp>
      <p:sp>
        <p:nvSpPr>
          <p:cNvPr id="44" name="TextBox 43"/>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45" name="TextBox 44"/>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Teacher Follow-up Survey</a:t>
            </a:r>
          </a:p>
        </p:txBody>
      </p:sp>
      <p:sp>
        <p:nvSpPr>
          <p:cNvPr id="46" name="TextBox 45"/>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47" name="Connector 46"/>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