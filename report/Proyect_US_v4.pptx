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56" r:id="rId5"/>
    <p:sldId id="298" r:id="rId44"/>
    <p:sldId id="299" r:id="rId45"/>
    <p:sldId id="300" r:id="rId46"/>
    <p:sldId id="301" r:id="rId47"/>
    <p:sldId id="302" r:id="rId48"/>
    <p:sldId id="303" r:id="rId49"/>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4" r:id="rId5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monthly household survey behind the official employment statistics: about 60,000 households, the civilian non-institutional population.</a:t>
            </a:r>
          </a:p>
        </p:txBody>
      </p:sp>
      <p:cxnSp>
        <p:nvCxnSpPr>
          <p:cNvPr id="5" name="Connector 4"/>
          <p:cNvCxnSpPr/>
          <p:nvPr/>
        </p:nvCxnSpPr>
        <p:spPr>
          <a:xfrm>
            <a:off x="822960" y="2697480"/>
            <a:ext cx="10543032" cy="0"/>
          </a:xfrm>
          <a:prstGeom prst="line">
            <a:avLst/>
          </a:prstGeom>
          <a:ln w="2032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92240" y="2816352"/>
            <a:ext cx="1828800" cy="365760"/>
          </a:xfrm>
          <a:prstGeom prst="rect">
            <a:avLst/>
          </a:prstGeom>
          <a:noFill/>
        </p:spPr>
        <p:txBody>
          <a:bodyPr wrap="square" lIns="0" rIns="0" tIns="0" bIns="0">
            <a:spAutoFit/>
          </a:bodyPr>
          <a:lstStyle/>
          <a:p>
            <a:pPr algn="r">
              <a:lnSpc>
                <a:spcPts val="1950"/>
              </a:lnSpc>
              <a:spcAft>
                <a:spcPts val="0"/>
              </a:spcAft>
            </a:pPr>
            <a:r>
              <a:rPr sz="1300" b="1" i="0">
                <a:solidFill>
                  <a:srgbClr val="1A2430"/>
                </a:solidFill>
                <a:latin typeface="Garamond"/>
              </a:rPr>
              <a:t>Teachers</a:t>
            </a:r>
          </a:p>
        </p:txBody>
      </p:sp>
      <p:sp>
        <p:nvSpPr>
          <p:cNvPr id="7" name="TextBox 6"/>
          <p:cNvSpPr txBox="1"/>
          <p:nvPr/>
        </p:nvSpPr>
        <p:spPr>
          <a:xfrm>
            <a:off x="8732520" y="2816352"/>
            <a:ext cx="2331720" cy="365760"/>
          </a:xfrm>
          <a:prstGeom prst="rect">
            <a:avLst/>
          </a:prstGeom>
          <a:noFill/>
        </p:spPr>
        <p:txBody>
          <a:bodyPr wrap="square" lIns="0" rIns="0" tIns="0" bIns="0">
            <a:spAutoFit/>
          </a:bodyPr>
          <a:lstStyle/>
          <a:p>
            <a:pPr algn="r">
              <a:lnSpc>
                <a:spcPts val="1950"/>
              </a:lnSpc>
              <a:spcAft>
                <a:spcPts val="0"/>
              </a:spcAft>
            </a:pPr>
            <a:r>
              <a:rPr sz="1300" b="1" i="0">
                <a:solidFill>
                  <a:srgbClr val="1A2430"/>
                </a:solidFill>
                <a:latin typeface="Garamond"/>
              </a:rPr>
              <a:t>Other graduates</a:t>
            </a:r>
          </a:p>
        </p:txBody>
      </p:sp>
      <p:cxnSp>
        <p:nvCxnSpPr>
          <p:cNvPr id="8" name="Connector 7"/>
          <p:cNvCxnSpPr/>
          <p:nvPr/>
        </p:nvCxnSpPr>
        <p:spPr>
          <a:xfrm>
            <a:off x="822960" y="3200400"/>
            <a:ext cx="10543032" cy="0"/>
          </a:xfrm>
          <a:prstGeom prst="line">
            <a:avLst/>
          </a:prstGeom>
          <a:ln w="10160">
            <a:solidFill>
              <a:srgbClr val="1A243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331012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Age (years)</a:t>
            </a:r>
          </a:p>
        </p:txBody>
      </p:sp>
      <p:sp>
        <p:nvSpPr>
          <p:cNvPr id="10" name="TextBox 9"/>
          <p:cNvSpPr txBox="1"/>
          <p:nvPr/>
        </p:nvSpPr>
        <p:spPr>
          <a:xfrm>
            <a:off x="6492240" y="331012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43.7</a:t>
            </a:r>
          </a:p>
        </p:txBody>
      </p:sp>
      <p:sp>
        <p:nvSpPr>
          <p:cNvPr id="11" name="TextBox 10"/>
          <p:cNvSpPr txBox="1"/>
          <p:nvPr/>
        </p:nvSpPr>
        <p:spPr>
          <a:xfrm>
            <a:off x="8732520" y="331012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43.6</a:t>
            </a:r>
          </a:p>
        </p:txBody>
      </p:sp>
      <p:sp>
        <p:nvSpPr>
          <p:cNvPr id="12" name="TextBox 11"/>
          <p:cNvSpPr txBox="1"/>
          <p:nvPr/>
        </p:nvSpPr>
        <p:spPr>
          <a:xfrm>
            <a:off x="960120" y="367588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Female (%)</a:t>
            </a:r>
          </a:p>
        </p:txBody>
      </p:sp>
      <p:sp>
        <p:nvSpPr>
          <p:cNvPr id="13" name="TextBox 12"/>
          <p:cNvSpPr txBox="1"/>
          <p:nvPr/>
        </p:nvSpPr>
        <p:spPr>
          <a:xfrm>
            <a:off x="6492240" y="367588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75.9</a:t>
            </a:r>
          </a:p>
        </p:txBody>
      </p:sp>
      <p:sp>
        <p:nvSpPr>
          <p:cNvPr id="14" name="TextBox 13"/>
          <p:cNvSpPr txBox="1"/>
          <p:nvPr/>
        </p:nvSpPr>
        <p:spPr>
          <a:xfrm>
            <a:off x="8732520" y="367588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46.5</a:t>
            </a:r>
          </a:p>
        </p:txBody>
      </p:sp>
      <p:sp>
        <p:nvSpPr>
          <p:cNvPr id="15" name="TextBox 14"/>
          <p:cNvSpPr txBox="1"/>
          <p:nvPr/>
        </p:nvSpPr>
        <p:spPr>
          <a:xfrm>
            <a:off x="960120" y="404164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Master’s degree or higher (%)</a:t>
            </a:r>
          </a:p>
        </p:txBody>
      </p:sp>
      <p:sp>
        <p:nvSpPr>
          <p:cNvPr id="16" name="TextBox 15"/>
          <p:cNvSpPr txBox="1"/>
          <p:nvPr/>
        </p:nvSpPr>
        <p:spPr>
          <a:xfrm>
            <a:off x="6492240" y="404164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48.3</a:t>
            </a:r>
          </a:p>
        </p:txBody>
      </p:sp>
      <p:sp>
        <p:nvSpPr>
          <p:cNvPr id="17" name="TextBox 16"/>
          <p:cNvSpPr txBox="1"/>
          <p:nvPr/>
        </p:nvSpPr>
        <p:spPr>
          <a:xfrm>
            <a:off x="8732520" y="404164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33.8</a:t>
            </a:r>
          </a:p>
        </p:txBody>
      </p:sp>
      <p:sp>
        <p:nvSpPr>
          <p:cNvPr id="18" name="TextBox 17"/>
          <p:cNvSpPr txBox="1"/>
          <p:nvPr/>
        </p:nvSpPr>
        <p:spPr>
          <a:xfrm>
            <a:off x="960120" y="440740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Public sector (%)</a:t>
            </a:r>
          </a:p>
        </p:txBody>
      </p:sp>
      <p:sp>
        <p:nvSpPr>
          <p:cNvPr id="19" name="TextBox 18"/>
          <p:cNvSpPr txBox="1"/>
          <p:nvPr/>
        </p:nvSpPr>
        <p:spPr>
          <a:xfrm>
            <a:off x="6492240" y="440740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72.9</a:t>
            </a:r>
          </a:p>
        </p:txBody>
      </p:sp>
      <p:sp>
        <p:nvSpPr>
          <p:cNvPr id="20" name="TextBox 19"/>
          <p:cNvSpPr txBox="1"/>
          <p:nvPr/>
        </p:nvSpPr>
        <p:spPr>
          <a:xfrm>
            <a:off x="8732520" y="440740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16.2</a:t>
            </a:r>
          </a:p>
        </p:txBody>
      </p:sp>
      <p:sp>
        <p:nvSpPr>
          <p:cNvPr id="21" name="TextBox 20"/>
          <p:cNvSpPr txBox="1"/>
          <p:nvPr/>
        </p:nvSpPr>
        <p:spPr>
          <a:xfrm>
            <a:off x="960120" y="477316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Weeks worked</a:t>
            </a:r>
          </a:p>
        </p:txBody>
      </p:sp>
      <p:sp>
        <p:nvSpPr>
          <p:cNvPr id="22" name="TextBox 21"/>
          <p:cNvSpPr txBox="1"/>
          <p:nvPr/>
        </p:nvSpPr>
        <p:spPr>
          <a:xfrm>
            <a:off x="6492240" y="477316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46.1</a:t>
            </a:r>
          </a:p>
        </p:txBody>
      </p:sp>
      <p:sp>
        <p:nvSpPr>
          <p:cNvPr id="23" name="TextBox 22"/>
          <p:cNvSpPr txBox="1"/>
          <p:nvPr/>
        </p:nvSpPr>
        <p:spPr>
          <a:xfrm>
            <a:off x="8732520" y="477316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48.6</a:t>
            </a:r>
          </a:p>
        </p:txBody>
      </p:sp>
      <p:sp>
        <p:nvSpPr>
          <p:cNvPr id="24" name="TextBox 23"/>
          <p:cNvSpPr txBox="1"/>
          <p:nvPr/>
        </p:nvSpPr>
        <p:spPr>
          <a:xfrm>
            <a:off x="960120" y="513892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Median annual wage ($)</a:t>
            </a:r>
          </a:p>
        </p:txBody>
      </p:sp>
      <p:sp>
        <p:nvSpPr>
          <p:cNvPr id="25" name="TextBox 24"/>
          <p:cNvSpPr txBox="1"/>
          <p:nvPr/>
        </p:nvSpPr>
        <p:spPr>
          <a:xfrm>
            <a:off x="6492240" y="513892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56,000</a:t>
            </a:r>
          </a:p>
        </p:txBody>
      </p:sp>
      <p:sp>
        <p:nvSpPr>
          <p:cNvPr id="26" name="TextBox 25"/>
          <p:cNvSpPr txBox="1"/>
          <p:nvPr/>
        </p:nvSpPr>
        <p:spPr>
          <a:xfrm>
            <a:off x="8732520" y="513892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75,000</a:t>
            </a:r>
          </a:p>
        </p:txBody>
      </p:sp>
      <p:sp>
        <p:nvSpPr>
          <p:cNvPr id="27" name="TextBox 26"/>
          <p:cNvSpPr txBox="1"/>
          <p:nvPr/>
        </p:nvSpPr>
        <p:spPr>
          <a:xfrm>
            <a:off x="960120" y="5504688"/>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Annual leaving rate (%)</a:t>
            </a:r>
          </a:p>
        </p:txBody>
      </p:sp>
      <p:sp>
        <p:nvSpPr>
          <p:cNvPr id="28" name="TextBox 27"/>
          <p:cNvSpPr txBox="1"/>
          <p:nvPr/>
        </p:nvSpPr>
        <p:spPr>
          <a:xfrm>
            <a:off x="6492240" y="5504688"/>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8.6</a:t>
            </a:r>
          </a:p>
        </p:txBody>
      </p:sp>
      <p:sp>
        <p:nvSpPr>
          <p:cNvPr id="29" name="TextBox 28"/>
          <p:cNvSpPr txBox="1"/>
          <p:nvPr/>
        </p:nvSpPr>
        <p:spPr>
          <a:xfrm>
            <a:off x="8732520" y="5504688"/>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a:t>
            </a:r>
          </a:p>
        </p:txBody>
      </p:sp>
      <p:cxnSp>
        <p:nvCxnSpPr>
          <p:cNvPr id="30" name="Connector 29"/>
          <p:cNvCxnSpPr/>
          <p:nvPr/>
        </p:nvCxnSpPr>
        <p:spPr>
          <a:xfrm>
            <a:off x="822960" y="5888736"/>
            <a:ext cx="10543032" cy="0"/>
          </a:xfrm>
          <a:prstGeom prst="line">
            <a:avLst/>
          </a:prstGeom>
          <a:ln w="10160">
            <a:solidFill>
              <a:srgbClr val="1A24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598017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Observations</a:t>
            </a:r>
          </a:p>
        </p:txBody>
      </p:sp>
      <p:sp>
        <p:nvSpPr>
          <p:cNvPr id="32" name="TextBox 31"/>
          <p:cNvSpPr txBox="1"/>
          <p:nvPr/>
        </p:nvSpPr>
        <p:spPr>
          <a:xfrm>
            <a:off x="6492240" y="598017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85,497</a:t>
            </a:r>
          </a:p>
        </p:txBody>
      </p:sp>
      <p:sp>
        <p:nvSpPr>
          <p:cNvPr id="33" name="TextBox 32"/>
          <p:cNvSpPr txBox="1"/>
          <p:nvPr/>
        </p:nvSpPr>
        <p:spPr>
          <a:xfrm>
            <a:off x="8732520" y="598017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726,618</a:t>
            </a:r>
          </a:p>
        </p:txBody>
      </p:sp>
      <p:cxnSp>
        <p:nvCxnSpPr>
          <p:cNvPr id="34" name="Connector 33"/>
          <p:cNvCxnSpPr/>
          <p:nvPr/>
        </p:nvCxnSpPr>
        <p:spPr>
          <a:xfrm>
            <a:off x="822960" y="6382512"/>
            <a:ext cx="10543032" cy="0"/>
          </a:xfrm>
          <a:prstGeom prst="line">
            <a:avLst/>
          </a:prstGeom>
          <a:ln w="203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2960" y="6473952"/>
            <a:ext cx="10543032" cy="32004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March supplements 1998–2025, weighted; bachelor’s degree or higher. Wages from the 2021–2025 supplements.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March supplement</a:t>
            </a:r>
          </a:p>
        </p:txBody>
      </p:sp>
      <p:sp>
        <p:nvSpPr>
          <p:cNvPr id="4" name="TextBox 3"/>
          <p:cNvSpPr txBox="1"/>
          <p:nvPr/>
        </p:nvSpPr>
        <p:spPr>
          <a:xfrm>
            <a:off x="777240" y="1691640"/>
            <a:ext cx="10698480" cy="457200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The basic monthly interview measures current activity only. Most months add a supplement on a rotating topic.</a:t>
            </a:r>
          </a:p>
          <a:p>
            <a:pPr algn="just">
              <a:lnSpc>
                <a:spcPts val="2550"/>
              </a:lnSpc>
              <a:spcAft>
                <a:spcPts val="1600"/>
              </a:spcAft>
            </a:pPr>
            <a:r>
              <a:rPr sz="1700" b="0" i="0">
                <a:solidFill>
                  <a:srgbClr val="1A2430"/>
                </a:solidFill>
                <a:latin typeface="Garamond"/>
              </a:rPr>
              <a:t>The March supplement expands the sample to roughly 90,000 households and asks every adult about the entire previous calendar year: longest job held, weeks worked, earnings.</a:t>
            </a:r>
          </a:p>
          <a:p>
            <a:pPr algn="just">
              <a:lnSpc>
                <a:spcPts val="2550"/>
              </a:lnSpc>
              <a:spcAft>
                <a:spcPts val="1600"/>
              </a:spcAft>
            </a:pPr>
            <a:r>
              <a:rPr sz="1700" b="0" i="0">
                <a:solidFill>
                  <a:srgbClr val="1A2430"/>
                </a:solidFill>
                <a:latin typeface="Garamond"/>
              </a:rPr>
              <a:t>I pool every March supplement from 1998 to 2025: five million records, 104,545 of them teachers.</a:t>
            </a:r>
          </a:p>
          <a:p>
            <a:pPr algn="just">
              <a:lnSpc>
                <a:spcPts val="2550"/>
              </a:lnSpc>
              <a:spcAft>
                <a:spcPts val="0"/>
              </a:spcAft>
            </a:pPr>
            <a:r>
              <a:rPr sz="1700" b="0" i="0">
                <a:solidFill>
                  <a:srgbClr val="1A2430"/>
                </a:solidFill>
                <a:latin typeface="Garamond"/>
              </a:rPr>
              <a:t>Whoever taught as last year’s longest job, and no longer teaches at the March interview, has left the profession within the year.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records are linked on household identifiers and validated on demographics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a:t>
            </a:r>
          </a:p>
          <a:p>
            <a:pPr algn="l">
              <a:lnSpc>
                <a:spcPts val="1950"/>
              </a:lnSpc>
              <a:spcAft>
                <a:spcPts val="800"/>
              </a:spcAft>
            </a:pPr>
            <a:r>
              <a:rPr sz="1300" b="0" i="0">
                <a:solidFill>
                  <a:srgbClr val="1A2430"/>
                </a:solidFill>
                <a:latin typeface="Garamond"/>
              </a:rPr>
              <a:t>Race, identical</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303520"/>
            <a:ext cx="10698480" cy="54864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78 percent of teacher observations.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1F3864"/>
                </a:solidFill>
                <a:latin typeface="Garamond"/>
              </a:rPr>
              <a:t>stayer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7B2530"/>
                </a:solidFill>
                <a:latin typeface="Garamond"/>
              </a:rPr>
              <a:t>leaver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2100"/>
              </a:lnSpc>
              <a:spcAft>
                <a:spcPts val="0"/>
              </a:spcAft>
            </a:pPr>
            <a:r>
              <a:rPr sz="1400" b="1" i="0">
                <a:solidFill>
                  <a:srgbClr val="6B7480"/>
                </a:solidFill>
                <a:latin typeface="Garamond"/>
              </a:rPr>
              <a:t>not a teacher</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