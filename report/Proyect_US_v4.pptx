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73" r:id="rId2"/>
    <p:sldId id="272" r:id="rId3"/>
    <p:sldId id="290" r:id="rId36"/>
    <p:sldId id="296" r:id="rId42"/>
    <p:sldId id="299" r:id="rId45"/>
    <p:sldId id="297" r:id="rId43"/>
    <p:sldId id="256" r:id="rId5"/>
    <p:sldId id="298" r:id="rId44"/>
    <p:sldId id="300" r:id="rId46"/>
    <p:sldId id="301" r:id="rId47"/>
    <p:sldId id="302" r:id="rId48"/>
    <p:sldId id="303" r:id="rId49"/>
    <p:sldId id="304" r:id="rId50"/>
    <p:sldId id="291" r:id="rId37"/>
    <p:sldId id="258" r:id="rId6"/>
    <p:sldId id="259" r:id="rId7"/>
    <p:sldId id="280" r:id="rId8"/>
    <p:sldId id="275" r:id="rId9"/>
    <p:sldId id="276" r:id="rId10"/>
    <p:sldId id="277" r:id="rId11"/>
    <p:sldId id="292" r:id="rId38"/>
    <p:sldId id="260" r:id="rId12"/>
    <p:sldId id="278" r:id="rId13"/>
    <p:sldId id="288" r:id="rId14"/>
    <p:sldId id="279" r:id="rId15"/>
    <p:sldId id="293" r:id="rId39"/>
    <p:sldId id="261" r:id="rId16"/>
    <p:sldId id="282" r:id="rId17"/>
    <p:sldId id="269" r:id="rId18"/>
    <p:sldId id="289" r:id="rId19"/>
    <p:sldId id="263" r:id="rId20"/>
    <p:sldId id="294" r:id="rId40"/>
    <p:sldId id="265" r:id="rId21"/>
    <p:sldId id="274" r:id="rId22"/>
    <p:sldId id="295" r:id="rId41"/>
    <p:sldId id="268" r:id="rId23"/>
    <p:sldId id="284" r:id="rId24"/>
    <p:sldId id="283" r:id="rId25"/>
    <p:sldId id="285" r:id="rId26"/>
    <p:sldId id="267" r:id="rId27"/>
    <p:sldId id="287" r:id="rId28"/>
    <p:sldId id="305" r:id="rId5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CBCFD4-F07F-4C26-A185-37CE9D7E7788}" v="36" dt="2026-09-28T08:51:07.0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404" autoAdjust="0"/>
  </p:normalViewPr>
  <p:slideViewPr>
    <p:cSldViewPr snapToGrid="0" snapToObjects="1">
      <p:cViewPr varScale="1">
        <p:scale>
          <a:sx n="111" d="100"/>
          <a:sy n="111" d="100"/>
        </p:scale>
        <p:origin x="55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ÁN ROA José Elías, EDU/IMEP" userId="143a056d-beac-4d27-9201-e13b90a5b16d" providerId="ADAL" clId="{2092A00E-CDA0-46B1-B356-89CA31F35643}"/>
    <pc:docChg chg="undo redo custSel addSld delSld modSld sldOrd">
      <pc:chgData name="DURÁN ROA José Elías, EDU/IMEP" userId="143a056d-beac-4d27-9201-e13b90a5b16d" providerId="ADAL" clId="{2092A00E-CDA0-46B1-B356-89CA31F35643}" dt="2026-09-28T08:51:18.239" v="2956" actId="14100"/>
      <pc:docMkLst>
        <pc:docMk/>
      </pc:docMkLst>
      <pc:sldChg chg="modSp add mod">
        <pc:chgData name="DURÁN ROA José Elías, EDU/IMEP" userId="143a056d-beac-4d27-9201-e13b90a5b16d" providerId="ADAL" clId="{2092A00E-CDA0-46B1-B356-89CA31F35643}" dt="2026-09-24T13:20:27.325" v="2917" actId="1076"/>
        <pc:sldMkLst>
          <pc:docMk/>
          <pc:sldMk cId="0" sldId="256"/>
        </pc:sldMkLst>
        <pc:spChg chg="mod">
          <ac:chgData name="DURÁN ROA José Elías, EDU/IMEP" userId="143a056d-beac-4d27-9201-e13b90a5b16d" providerId="ADAL" clId="{2092A00E-CDA0-46B1-B356-89CA31F35643}" dt="2026-09-24T13:20:23.630" v="2916" actId="1076"/>
          <ac:spMkLst>
            <pc:docMk/>
            <pc:sldMk cId="0" sldId="256"/>
            <ac:spMk id="2" creationId="{00000000-0000-0000-0000-000000000000}"/>
          </ac:spMkLst>
        </pc:spChg>
        <pc:grpChg chg="mod">
          <ac:chgData name="DURÁN ROA José Elías, EDU/IMEP" userId="143a056d-beac-4d27-9201-e13b90a5b16d" providerId="ADAL" clId="{2092A00E-CDA0-46B1-B356-89CA31F35643}" dt="2026-09-24T13:20:27.325" v="2917" actId="1076"/>
          <ac:grpSpMkLst>
            <pc:docMk/>
            <pc:sldMk cId="0" sldId="256"/>
            <ac:grpSpMk id="75" creationId="{51F17309-771B-D3FF-3939-29E28FC2362D}"/>
          </ac:grpSpMkLst>
        </pc:grpChg>
      </pc:sldChg>
      <pc:sldChg chg="modSp mod">
        <pc:chgData name="DURÁN ROA José Elías, EDU/IMEP" userId="143a056d-beac-4d27-9201-e13b90a5b16d" providerId="ADAL" clId="{2092A00E-CDA0-46B1-B356-89CA31F35643}" dt="2026-09-24T13:30:49.867" v="2918" actId="1076"/>
        <pc:sldMkLst>
          <pc:docMk/>
          <pc:sldMk cId="0" sldId="267"/>
        </pc:sldMkLst>
        <pc:picChg chg="mod">
          <ac:chgData name="DURÁN ROA José Elías, EDU/IMEP" userId="143a056d-beac-4d27-9201-e13b90a5b16d" providerId="ADAL" clId="{2092A00E-CDA0-46B1-B356-89CA31F35643}" dt="2026-09-24T13:30:49.867" v="2918" actId="1076"/>
          <ac:picMkLst>
            <pc:docMk/>
            <pc:sldMk cId="0" sldId="267"/>
            <ac:picMk id="3" creationId="{00000000-0000-0000-0000-000000000000}"/>
          </ac:picMkLst>
        </pc:picChg>
      </pc:sldChg>
      <pc:sldChg chg="modSp mod">
        <pc:chgData name="DURÁN ROA José Elías, EDU/IMEP" userId="143a056d-beac-4d27-9201-e13b90a5b16d" providerId="ADAL" clId="{2092A00E-CDA0-46B1-B356-89CA31F35643}" dt="2026-09-28T08:51:18.239" v="2956" actId="14100"/>
        <pc:sldMkLst>
          <pc:docMk/>
          <pc:sldMk cId="0" sldId="272"/>
        </pc:sldMkLst>
        <pc:spChg chg="mod">
          <ac:chgData name="DURÁN ROA José Elías, EDU/IMEP" userId="143a056d-beac-4d27-9201-e13b90a5b16d" providerId="ADAL" clId="{2092A00E-CDA0-46B1-B356-89CA31F35643}" dt="2026-09-28T08:51:18.239" v="2956" actId="14100"/>
          <ac:spMkLst>
            <pc:docMk/>
            <pc:sldMk cId="0" sldId="272"/>
            <ac:spMk id="3" creationId="{00000000-0000-0000-0000-000000000000}"/>
          </ac:spMkLst>
        </pc:spChg>
        <pc:spChg chg="mod">
          <ac:chgData name="DURÁN ROA José Elías, EDU/IMEP" userId="143a056d-beac-4d27-9201-e13b90a5b16d" providerId="ADAL" clId="{2092A00E-CDA0-46B1-B356-89CA31F35643}" dt="2026-09-28T08:51:11.663" v="2955" actId="14100"/>
          <ac:spMkLst>
            <pc:docMk/>
            <pc:sldMk cId="0" sldId="272"/>
            <ac:spMk id="24" creationId="{80E520F7-2B73-E152-9BA8-476910128798}"/>
          </ac:spMkLst>
        </pc:spChg>
      </pc:sldChg>
      <pc:sldChg chg="modSp mod modNotesTx">
        <pc:chgData name="DURÁN ROA José Elías, EDU/IMEP" userId="143a056d-beac-4d27-9201-e13b90a5b16d" providerId="ADAL" clId="{2092A00E-CDA0-46B1-B356-89CA31F35643}" dt="2026-09-18T09:29:49.405" v="2913" actId="1076"/>
        <pc:sldMkLst>
          <pc:docMk/>
          <pc:sldMk cId="0" sldId="273"/>
        </pc:sldMkLst>
        <pc:picChg chg="mod">
          <ac:chgData name="DURÁN ROA José Elías, EDU/IMEP" userId="143a056d-beac-4d27-9201-e13b90a5b16d" providerId="ADAL" clId="{2092A00E-CDA0-46B1-B356-89CA31F35643}" dt="2026-09-18T09:29:49.405" v="2913" actId="1076"/>
          <ac:picMkLst>
            <pc:docMk/>
            <pc:sldMk cId="0" sldId="273"/>
            <ac:picMk id="2"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074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63685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01083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825753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071151-F904-FD32-00D7-2AD927C0801A}"/>
              </a:ext>
            </a:extLst>
          </p:cNvPr>
          <p:cNvSpPr txBox="1"/>
          <p:nvPr>
            <p:extLst>
              <p:ext uri="{1162E1C5-73C7-4A58-AE30-91384D911F3F}">
                <p184:classification xmlns:p184="http://schemas.microsoft.com/office/powerpoint/2018/4/main" val="ftr"/>
              </p:ext>
            </p:extLst>
          </p:nvPr>
        </p:nvSpPr>
        <p:spPr>
          <a:xfrm>
            <a:off x="5475288" y="6642100"/>
            <a:ext cx="1270000" cy="152400"/>
          </a:xfrm>
          <a:prstGeom prst="rect">
            <a:avLst/>
          </a:prstGeom>
        </p:spPr>
        <p:txBody>
          <a:bodyPr horzOverflow="overflow" lIns="0" tIns="0" rIns="0" bIns="0">
            <a:spAutoFit/>
          </a:bodyPr>
          <a:lstStyle/>
          <a:p>
            <a:pPr algn="l"/>
            <a:r>
              <a:rPr lang="en-US" sz="1000">
                <a:solidFill>
                  <a:srgbClr val="0000FF">
                    <a:alpha val="50000"/>
                  </a:srgbClr>
                </a:solidFill>
                <a:latin typeface="Arial Narrow" panose="020B0606020202030204" pitchFamily="34" charset="0"/>
              </a:rPr>
              <a:t>Unclassified - Non classifié</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oecd_logo.png"/>
          <p:cNvPicPr>
            <a:picLocks noChangeAspect="1"/>
          </p:cNvPicPr>
          <p:nvPr/>
        </p:nvPicPr>
        <p:blipFill>
          <a:blip r:embed="rId3"/>
          <a:stretch>
            <a:fillRect/>
          </a:stretch>
        </p:blipFill>
        <p:spPr>
          <a:xfrm>
            <a:off x="640080" y="429768"/>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marL="0" indent="0" algn="l">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marL="0" indent="0" algn="l">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marL="0" indent="0" algn="l">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marL="0" indent="0" algn="l">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53796" y="4434840"/>
            <a:ext cx="10881360" cy="770339"/>
          </a:xfrm>
          <a:prstGeom prst="rect">
            <a:avLst/>
          </a:prstGeom>
          <a:noFill/>
          <a:ln/>
        </p:spPr>
        <p:txBody>
          <a:bodyPr wrap="square" lIns="0" tIns="0" rIns="0" bIns="0" rtlCol="0" anchor="ctr"/>
          <a:lstStyle/>
          <a:p>
            <a:pPr marL="0" indent="0" algn="l">
              <a:buNone/>
            </a:pPr>
            <a:r>
              <a:rPr lang="en-US" sz="1250" dirty="0">
                <a:solidFill>
                  <a:srgbClr val="5A6572"/>
                </a:solidFill>
                <a:latin typeface="Garamond" pitchFamily="34" charset="0"/>
                <a:ea typeface="Garamond" pitchFamily="34" charset="-122"/>
                <a:cs typeface="Garamond" pitchFamily="34" charset="-120"/>
              </a:rPr>
              <a:t>University of Alicante / OECD </a:t>
            </a:r>
          </a:p>
          <a:p>
            <a:pPr marL="0" indent="0" algn="l">
              <a:buNone/>
            </a:pPr>
            <a:r>
              <a:rPr lang="en-US" sz="1250" dirty="0">
                <a:solidFill>
                  <a:srgbClr val="5A6572"/>
                </a:solidFill>
                <a:latin typeface="Garamond" pitchFamily="34" charset="0"/>
                <a:ea typeface="Garamond" pitchFamily="34" charset="-122"/>
                <a:cs typeface="Garamond" pitchFamily="34" charset="-120"/>
              </a:rPr>
              <a:t>July 2026</a:t>
            </a:r>
            <a:endParaRPr lang="en-US" sz="1250" dirty="0"/>
          </a:p>
        </p:txBody>
      </p:sp>
      <p:sp>
        <p:nvSpPr>
          <p:cNvPr id="8" name="Shape 5"/>
          <p:cNvSpPr/>
          <p:nvPr/>
        </p:nvSpPr>
        <p:spPr>
          <a:xfrm>
            <a:off x="0" y="6263640"/>
            <a:ext cx="12188952" cy="594360"/>
          </a:xfrm>
          <a:prstGeom prst="rect">
            <a:avLst/>
          </a:prstGeom>
          <a:solidFill>
            <a:srgbClr val="00549F"/>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02213"/>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750499" y="1913330"/>
            <a:ext cx="10795326" cy="3173612"/>
          </a:xfrm>
          <a:prstGeom prst="rect">
            <a:avLst/>
          </a:prstGeom>
          <a:noFill/>
          <a:ln/>
        </p:spPr>
        <p:txBody>
          <a:bodyPr wrap="square" lIns="0" tIns="0" rIns="0" bIns="0" rtlCol="0" anchor="t"/>
          <a:lstStyle/>
          <a:p>
            <a:pPr marL="0" indent="0" algn="just">
              <a:lnSpc>
                <a:spcPts val="2200"/>
              </a:lnSpc>
              <a:buNone/>
            </a:pPr>
            <a:r>
              <a:rPr lang="en-US" sz="19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p>
          <a:p>
            <a:pPr algn="just">
              <a:lnSpc>
                <a:spcPts val="2200"/>
              </a:lnSpc>
            </a:pPr>
            <a:endParaRPr lang="en-US" sz="1900" dirty="0">
              <a:solidFill>
                <a:srgbClr val="1A2430"/>
              </a:solidFill>
              <a:latin typeface="Garamond" pitchFamily="34" charset="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Researchers found an alternative measure, the CPS, the largest longitudinal survey in the US. Harris &amp; Adams (2007) and </a:t>
            </a:r>
            <a:r>
              <a:rPr lang="en-US" sz="1900" dirty="0" err="1">
                <a:solidFill>
                  <a:srgbClr val="1A2430"/>
                </a:solidFill>
                <a:latin typeface="Garamond" pitchFamily="34" charset="0"/>
                <a:ea typeface="Garamond" pitchFamily="34" charset="-122"/>
                <a:cs typeface="Garamond" pitchFamily="34" charset="-120"/>
              </a:rPr>
              <a:t>Aldeman</a:t>
            </a:r>
            <a:r>
              <a:rPr lang="en-US" sz="1900" dirty="0">
                <a:solidFill>
                  <a:srgbClr val="1A2430"/>
                </a:solidFill>
                <a:latin typeface="Garamond" pitchFamily="34" charset="0"/>
                <a:ea typeface="Garamond" pitchFamily="34" charset="-122"/>
                <a:cs typeface="Garamond" pitchFamily="34" charset="-120"/>
              </a:rPr>
              <a:t> &amp; Yi (2025) used it to show that teacher attrition is similar to that of comparable professions.</a:t>
            </a:r>
            <a:endParaRPr lang="en-US" sz="1900" dirty="0"/>
          </a:p>
          <a:p>
            <a:pPr algn="just">
              <a:lnSpc>
                <a:spcPts val="2200"/>
              </a:lnSpc>
            </a:pPr>
            <a:endParaRPr lang="en-US" sz="1900" dirty="0"/>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marL="0" indent="0" algn="just">
              <a:lnSpc>
                <a:spcPts val="2200"/>
              </a:lnSpc>
              <a:buNone/>
            </a:pPr>
            <a:endParaRPr lang="en-US" sz="1900" dirty="0">
              <a:solidFill>
                <a:srgbClr val="1A2430"/>
              </a:solidFill>
              <a:latin typeface="Garamond" pitchFamily="34" charset="0"/>
            </a:endParaRPr>
          </a:p>
          <a:p>
            <a:pPr algn="just">
              <a:lnSpc>
                <a:spcPts val="2200"/>
              </a:lnSpc>
            </a:pPr>
            <a:endParaRPr lang="en-US" sz="1900" dirty="0"/>
          </a:p>
        </p:txBody>
      </p:sp>
      <p:sp>
        <p:nvSpPr>
          <p:cNvPr id="22" name="Text 0">
            <a:extLst>
              <a:ext uri="{FF2B5EF4-FFF2-40B4-BE49-F238E27FC236}">
                <a16:creationId xmlns:a16="http://schemas.microsoft.com/office/drawing/2014/main" id="{EFC749EB-CBE6-5D06-B1A7-39A821369918}"/>
              </a:ext>
            </a:extLst>
          </p:cNvPr>
          <p:cNvSpPr/>
          <p:nvPr/>
        </p:nvSpPr>
        <p:spPr>
          <a:xfrm>
            <a:off x="685800" y="4286348"/>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rPr>
              <a:t>Contribution</a:t>
            </a:r>
            <a:endParaRPr lang="en-US" sz="2400" dirty="0"/>
          </a:p>
        </p:txBody>
      </p:sp>
      <p:sp>
        <p:nvSpPr>
          <p:cNvPr id="24" name="TextBox 23">
            <a:extLst>
              <a:ext uri="{FF2B5EF4-FFF2-40B4-BE49-F238E27FC236}">
                <a16:creationId xmlns:a16="http://schemas.microsoft.com/office/drawing/2014/main" id="{80E520F7-2B73-E152-9BA8-476910128798}"/>
              </a:ext>
            </a:extLst>
          </p:cNvPr>
          <p:cNvSpPr txBox="1"/>
          <p:nvPr/>
        </p:nvSpPr>
        <p:spPr>
          <a:xfrm>
            <a:off x="646177" y="4987754"/>
            <a:ext cx="11292394" cy="923330"/>
          </a:xfrm>
          <a:prstGeom prst="rect">
            <a:avLst/>
          </a:prstGeom>
          <a:noFill/>
        </p:spPr>
        <p:txBody>
          <a:bodyPr wrap="square">
            <a:spAutoFit/>
          </a:bodyPr>
          <a:lstStyle/>
          <a:p>
            <a:r>
              <a:rPr lang="en-US" dirty="0">
                <a:latin typeface="Garamond" panose="02020404030301010803" pitchFamily="18" charset="0"/>
              </a:rPr>
              <a:t>I build the longest continuous measurement of teacher attrition in the US, twenty-eight consecutive years (1998 – 2025) from a single instrument, and characterize who leaves, where they go, what leaving pays, who returns, and what moves the rate.</a:t>
            </a:r>
          </a:p>
          <a:p>
            <a:endParaRPr lang="en-US" dirty="0"/>
          </a:p>
        </p:txBody>
      </p:sp>
      <p:sp>
        <p:nvSpPr>
          <p:cNvPr id="26" name="Shape 5">
            <a:extLst>
              <a:ext uri="{FF2B5EF4-FFF2-40B4-BE49-F238E27FC236}">
                <a16:creationId xmlns:a16="http://schemas.microsoft.com/office/drawing/2014/main" id="{9B9D95AD-643E-E682-F4D6-C0A9098EA1C3}"/>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2" grpId="0" animBg="1"/>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4984" y="1098168"/>
            <a:ext cx="9875520" cy="548640"/>
          </a:xfrm>
          <a:prstGeom prst="rect">
            <a:avLst/>
          </a:prstGeom>
          <a:noFill/>
          <a:ln/>
        </p:spPr>
        <p:txBody>
          <a:bodyPr wrap="square" lIns="0" tIns="0" rIns="0" bIns="0" rtlCol="0" anchor="ctr"/>
          <a:lstStyle/>
          <a:p>
            <a:pPr marL="0" indent="0" algn="l">
              <a:buNone/>
            </a:pPr>
            <a:r>
              <a:rPr lang="en-US" sz="2800" b="1" dirty="0">
                <a:solidFill>
                  <a:srgbClr val="1F3B66"/>
                </a:solidFill>
                <a:latin typeface="Garamond" pitchFamily="34" charset="0"/>
                <a:ea typeface="Garamond" pitchFamily="34" charset="-122"/>
                <a:cs typeface="Garamond" pitchFamily="34" charset="-120"/>
              </a:rPr>
              <a:t>Data</a:t>
            </a:r>
            <a:endParaRPr lang="en-US" sz="3600" dirty="0"/>
          </a:p>
        </p:txBody>
      </p:sp>
      <p:sp>
        <p:nvSpPr>
          <p:cNvPr id="3" name="Text 1"/>
          <p:cNvSpPr/>
          <p:nvPr/>
        </p:nvSpPr>
        <p:spPr>
          <a:xfrm>
            <a:off x="1175262" y="2104988"/>
            <a:ext cx="10222475" cy="4268379"/>
          </a:xfrm>
          <a:prstGeom prst="rect">
            <a:avLst/>
          </a:prstGeom>
          <a:noFill/>
          <a:ln/>
        </p:spPr>
        <p:txBody>
          <a:bodyPr wrap="square" lIns="0" tIns="0" rIns="0" bIns="0" rtlCol="0" anchor="t"/>
          <a:lstStyle/>
          <a:p>
            <a:pPr marL="0" indent="0" algn="l">
              <a:lnSpc>
                <a:spcPts val="2200"/>
              </a:lnSpc>
              <a:spcBef>
                <a:spcPts val="600"/>
              </a:spcBef>
              <a:buNone/>
            </a:pPr>
            <a:r>
              <a:rPr lang="en-US" sz="1900" dirty="0">
                <a:solidFill>
                  <a:srgbClr val="1A2430"/>
                </a:solidFill>
                <a:latin typeface="Garamond" pitchFamily="34" charset="0"/>
                <a:ea typeface="Garamond" pitchFamily="34" charset="-122"/>
                <a:cs typeface="Garamond" pitchFamily="34" charset="-120"/>
              </a:rPr>
              <a:t>The Current Population Survey (CPS) is the main household survey in US, used to compute the country’s official employment statistics. </a:t>
            </a:r>
          </a:p>
          <a:p>
            <a:pPr marL="0" indent="0" algn="l">
              <a:lnSpc>
                <a:spcPts val="2200"/>
              </a:lnSpc>
              <a:spcBef>
                <a:spcPts val="600"/>
              </a:spcBef>
              <a:buNone/>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I pool all its rounds from 1998 to 2025 into a single file and turn it into a tool for following teachers</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Each March, respondents report the longest job held last calendar year and their occupation today. Whoever taught last year and no longer teaches has left the profession within the year.</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My final dataset holds 5 million individual records, with 104,545 teachers, around </a:t>
            </a:r>
            <a:r>
              <a:rPr lang="en-US" sz="1900" dirty="0">
                <a:solidFill>
                  <a:srgbClr val="1A2430"/>
                </a:solidFill>
                <a:latin typeface="Garamond" panose="02020404030301010803" pitchFamily="18" charset="0"/>
              </a:rPr>
              <a:t>3,700 </a:t>
            </a:r>
            <a:r>
              <a:rPr lang="en-US" sz="1900" dirty="0">
                <a:latin typeface="Garamond" panose="02020404030301010803" pitchFamily="18" charset="0"/>
              </a:rPr>
              <a:t>per year.</a:t>
            </a:r>
          </a:p>
          <a:p>
            <a:pPr>
              <a:lnSpc>
                <a:spcPts val="2200"/>
              </a:lnSpc>
            </a:pPr>
            <a:endParaRPr lang="en-US" sz="1900" dirty="0">
              <a:solidFill>
                <a:srgbClr val="1A2430"/>
              </a:solidFill>
              <a:latin typeface="Garamond" pitchFamily="34" charset="0"/>
            </a:endParaRPr>
          </a:p>
          <a:p>
            <a:pPr>
              <a:lnSpc>
                <a:spcPts val="2200"/>
              </a:lnSpc>
            </a:pPr>
            <a:endParaRPr lang="en-US" sz="1900" dirty="0">
              <a:solidFill>
                <a:srgbClr val="1A2430"/>
              </a:solidFill>
              <a:latin typeface="Garamond" pitchFamily="34" charset="0"/>
            </a:endParaRPr>
          </a:p>
          <a:p>
            <a:pPr marL="0" indent="0" algn="l">
              <a:lnSpc>
                <a:spcPts val="2200"/>
              </a:lnSpc>
              <a:buNone/>
            </a:pPr>
            <a:endParaRPr lang="en-US" sz="1900" dirty="0"/>
          </a:p>
        </p:txBody>
      </p:sp>
      <p:sp>
        <p:nvSpPr>
          <p:cNvPr id="4" name="Text 2"/>
          <p:cNvSpPr/>
          <p:nvPr/>
        </p:nvSpPr>
        <p:spPr>
          <a:xfrm>
            <a:off x="1178311" y="3652142"/>
            <a:ext cx="9838427" cy="868680"/>
          </a:xfrm>
          <a:prstGeom prst="rect">
            <a:avLst/>
          </a:prstGeom>
          <a:noFill/>
          <a:ln/>
        </p:spPr>
        <p:txBody>
          <a:bodyPr wrap="square" lIns="0" tIns="0" rIns="0" bIns="0" rtlCol="0" anchor="t"/>
          <a:lstStyle/>
          <a:p>
            <a:pPr>
              <a:lnSpc>
                <a:spcPts val="2200"/>
              </a:lnSpc>
            </a:pPr>
            <a:endParaRPr lang="en-US" sz="1900" dirty="0">
              <a:solidFill>
                <a:srgbClr val="1A2430"/>
              </a:solidFill>
              <a:latin typeface="Garamond" pitchFamily="34" charset="0"/>
            </a:endParaRPr>
          </a:p>
        </p:txBody>
      </p:sp>
      <p:sp>
        <p:nvSpPr>
          <p:cNvPr id="6" name="Text 4"/>
          <p:cNvSpPr/>
          <p:nvPr/>
        </p:nvSpPr>
        <p:spPr>
          <a:xfrm>
            <a:off x="1175262" y="4582264"/>
            <a:ext cx="9902952" cy="868680"/>
          </a:xfrm>
          <a:prstGeom prst="rect">
            <a:avLst/>
          </a:prstGeom>
          <a:noFill/>
          <a:ln/>
        </p:spPr>
        <p:txBody>
          <a:bodyPr wrap="square" lIns="0" tIns="0" rIns="0" bIns="0" rtlCol="0" anchor="t"/>
          <a:lstStyle/>
          <a:p>
            <a:pPr marL="0" indent="0" algn="l">
              <a:lnSpc>
                <a:spcPts val="2200"/>
              </a:lnSpc>
              <a:buNone/>
            </a:pPr>
            <a:endParaRPr lang="en-US" sz="2000" dirty="0"/>
          </a:p>
        </p:txBody>
      </p:sp>
      <p:sp>
        <p:nvSpPr>
          <p:cNvPr id="12" name="Shape 5">
            <a:extLst>
              <a:ext uri="{FF2B5EF4-FFF2-40B4-BE49-F238E27FC236}">
                <a16:creationId xmlns:a16="http://schemas.microsoft.com/office/drawing/2014/main" id="{518B18F2-09F6-C779-08D2-8908297B6DAF}"/>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84048" y="200391"/>
            <a:ext cx="11155680" cy="502920"/>
          </a:xfrm>
          <a:prstGeom prst="rect">
            <a:avLst/>
          </a:prstGeom>
          <a:noFill/>
          <a:ln/>
        </p:spPr>
        <p:txBody>
          <a:bodyPr wrap="square" lIns="0" tIns="0" rIns="0" bIns="0" rtlCol="0" anchor="ctr"/>
          <a:lstStyle/>
          <a:p>
            <a:pPr marR="0" lvl="0" fontAlgn="auto">
              <a:lnSpc>
                <a:spcPct val="100000"/>
              </a:lnSpc>
              <a:spcBef>
                <a:spcPts val="0"/>
              </a:spcBef>
              <a:spcAft>
                <a:spcPts val="0"/>
              </a:spcAft>
              <a:buClrTx/>
              <a:buSzTx/>
              <a:tabLst/>
              <a:defRPr/>
            </a:pPr>
            <a:r>
              <a:rPr lang="en-US" sz="2800" b="1" dirty="0">
                <a:solidFill>
                  <a:srgbClr val="1F3B66"/>
                </a:solidFill>
                <a:latin typeface="Garamond" pitchFamily="34" charset="0"/>
              </a:rPr>
              <a:t>Who counts as a teacher</a:t>
            </a:r>
          </a:p>
        </p:txBody>
      </p:sp>
      <p:grpSp>
        <p:nvGrpSpPr>
          <p:cNvPr id="75" name="Group 74">
            <a:extLst>
              <a:ext uri="{FF2B5EF4-FFF2-40B4-BE49-F238E27FC236}">
                <a16:creationId xmlns:a16="http://schemas.microsoft.com/office/drawing/2014/main" id="{51F17309-771B-D3FF-3939-29E28FC2362D}"/>
              </a:ext>
            </a:extLst>
          </p:cNvPr>
          <p:cNvGrpSpPr/>
          <p:nvPr/>
        </p:nvGrpSpPr>
        <p:grpSpPr>
          <a:xfrm>
            <a:off x="-105156" y="948776"/>
            <a:ext cx="11713464" cy="4934352"/>
            <a:chOff x="228600" y="1018392"/>
            <a:chExt cx="11713464" cy="4934352"/>
          </a:xfrm>
        </p:grpSpPr>
        <p:sp>
          <p:nvSpPr>
            <p:cNvPr id="9" name="Text 7"/>
            <p:cNvSpPr/>
            <p:nvPr/>
          </p:nvSpPr>
          <p:spPr>
            <a:xfrm>
              <a:off x="228600" y="1664208"/>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Pre-K &amp;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kindergarten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28600" y="2505456"/>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Elementary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&amp; middle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28600" y="3346704"/>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Secondary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228600" y="4187952"/>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Special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education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228600" y="5029200"/>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Other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teachers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4" name="Group 73">
              <a:extLst>
                <a:ext uri="{FF2B5EF4-FFF2-40B4-BE49-F238E27FC236}">
                  <a16:creationId xmlns:a16="http://schemas.microsoft.com/office/drawing/2014/main" id="{E3450633-D153-B820-0022-F15911D44518}"/>
                </a:ext>
              </a:extLst>
            </p:cNvPr>
            <p:cNvGrpSpPr/>
            <p:nvPr/>
          </p:nvGrpSpPr>
          <p:grpSpPr>
            <a:xfrm>
              <a:off x="1687068" y="1018392"/>
              <a:ext cx="10254996" cy="4934352"/>
              <a:chOff x="1687068" y="1018392"/>
              <a:chExt cx="10254996" cy="4934352"/>
            </a:xfrm>
          </p:grpSpPr>
          <p:sp>
            <p:nvSpPr>
              <p:cNvPr id="3" name="Text 1"/>
              <p:cNvSpPr/>
              <p:nvPr/>
            </p:nvSpPr>
            <p:spPr>
              <a:xfrm>
                <a:off x="1687068" y="1266187"/>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1998–2002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824228" y="1035558"/>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1990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257800" y="1280160"/>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2003–2019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912614" y="1025508"/>
                <a:ext cx="3813049"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2002/2010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8691372" y="1283524"/>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2020–2025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691372" y="1018392"/>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2018</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691640"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801368"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155</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2532888"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prekindergarten and kindergarten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937760"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193792"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303520"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035040"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39912"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695944"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805672"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537192"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691640"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801368"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156</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2532888"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elementary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937760"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5193792"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303520"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035040"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8439912"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8695944"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8805672"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537192"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691640"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801368"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157</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2532888"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secondary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937760"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6"/>
              <p:cNvSpPr/>
              <p:nvPr/>
            </p:nvSpPr>
            <p:spPr>
              <a:xfrm>
                <a:off x="5193792"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5303520"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035040"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8439912"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40"/>
              <p:cNvSpPr/>
              <p:nvPr/>
            </p:nvSpPr>
            <p:spPr>
              <a:xfrm>
                <a:off x="8695944"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8805672"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9537192"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1691640"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1801368"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158</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2532888"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special education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937760"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193792"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303520"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6035040"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8439912"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2"/>
              <p:cNvSpPr/>
              <p:nvPr/>
            </p:nvSpPr>
            <p:spPr>
              <a:xfrm>
                <a:off x="8695944"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8805672"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9537192"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1691640"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1801368"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159</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2532888"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n.e.c. (not elsewhere classified)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4937760"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5193792"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5303520"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2340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6035040"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439912"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8695944"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8805672"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2360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9537192"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065776"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4242816"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2003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67928"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7744968"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2020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73" name="Text 71"/>
          <p:cNvSpPr/>
          <p:nvPr/>
        </p:nvSpPr>
        <p:spPr>
          <a:xfrm>
            <a:off x="2605178" y="6188177"/>
            <a:ext cx="7366958" cy="7772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Traceable as a block: </a:t>
            </a:r>
            <a:r>
              <a:rPr kumimoji="0" lang="en-US" sz="1100" b="0"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the K–12 teaching group maps one-to-one across the three classifications — every figure uses the union, never a sub-code across regimes.† middle-school teachers sit under elementary or secondary before 2003, with elementary (2310) after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icPr>
            <a:picLocks noChangeAspect="1"/>
          </p:cNvPicPr>
          <p:nvPr/>
        </p:nvPicPr>
        <p:blipFill>
          <a:blip r:embed="rId3"/>
          <a:stretch>
            <a:fillRect/>
          </a:stretch>
        </p:blipFill>
        <p:spPr>
          <a:xfrm>
            <a:off x="1133040" y="804672"/>
            <a:ext cx="9922873" cy="4709160"/>
          </a:xfrm>
          <a:prstGeom prst="rect">
            <a:avLst/>
          </a:prstGeom>
        </p:spPr>
      </p:pic>
      <p:sp>
        <p:nvSpPr>
          <p:cNvPr id="5" name="Text 1"/>
          <p:cNvSpPr/>
          <p:nvPr/>
        </p:nvSpPr>
        <p:spPr>
          <a:xfrm>
            <a:off x="1455195" y="5760720"/>
            <a:ext cx="992287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icPr>
            <a:picLocks noChangeAspect="1"/>
          </p:cNvPicPr>
          <p:nvPr/>
        </p:nvPicPr>
        <p:blipFill>
          <a:blip r:embed="rId3"/>
          <a:stretch>
            <a:fillRect/>
          </a:stretch>
        </p:blipFill>
        <p:spPr>
          <a:xfrm>
            <a:off x="1385316" y="804672"/>
            <a:ext cx="9418320" cy="4709160"/>
          </a:xfrm>
          <a:prstGeom prst="rect">
            <a:avLst/>
          </a:prstGeom>
        </p:spPr>
      </p:pic>
      <p:sp>
        <p:nvSpPr>
          <p:cNvPr id="5" name="Text 1"/>
          <p:cNvSpPr/>
          <p:nvPr/>
        </p:nvSpPr>
        <p:spPr>
          <a:xfrm>
            <a:off x="2075380" y="5650992"/>
            <a:ext cx="8621376"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3. Leaving Teaching by School Sector, 1997-2024</a:t>
            </a:r>
            <a:endParaRPr lang="en-US" sz="2100" dirty="0"/>
          </a:p>
        </p:txBody>
      </p:sp>
      <p:pic>
        <p:nvPicPr>
          <p:cNvPr id="3" name="Image 0" descr="figs_png/n5b_states_trio.png"/>
          <p:cNvPicPr>
            <a:picLocks noChangeAspect="1"/>
          </p:cNvPicPr>
          <p:nvPr/>
        </p:nvPicPr>
        <p:blipFill>
          <a:blip r:embed="rId2"/>
          <a:stretch>
            <a:fillRect/>
          </a:stretch>
        </p:blipFill>
        <p:spPr>
          <a:xfrm>
            <a:off x="1342143" y="804672"/>
            <a:ext cx="9504666" cy="4842000"/>
          </a:xfrm>
          <a:prstGeom prst="rect">
            <a:avLst/>
          </a:prstGeom>
        </p:spPr>
      </p:pic>
      <p:sp>
        <p:nvSpPr>
          <p:cNvPr id="5" name="Text 1"/>
          <p:cNvSpPr/>
          <p:nvPr/>
        </p:nvSpPr>
        <p:spPr>
          <a:xfrm>
            <a:off x="1826077" y="5777154"/>
            <a:ext cx="937275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share of college-graduate teachers leaving the profession by the following March, by sector of the teaching-year job (class of worker: government vs. private), ASEC weights. Shaded bands: 95 percent confidence intervals with a design factor of 1.5; dotted lines: the 1997-2024 sector means. The gray band marks the Covid supplements. Source: author’s calculations from March CPS supplements, survey years 1998-2025.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4. Rates of Leaving the Occupation,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804672"/>
            <a:ext cx="9684000" cy="4842000"/>
          </a:xfrm>
          <a:prstGeom prst="rect">
            <a:avLst/>
          </a:prstGeom>
        </p:spPr>
      </p:pic>
      <p:sp>
        <p:nvSpPr>
          <p:cNvPr id="5" name="Text 1"/>
          <p:cNvSpPr/>
          <p:nvPr/>
        </p:nvSpPr>
        <p:spPr>
          <a:xfrm>
            <a:off x="1674688" y="5747256"/>
            <a:ext cx="94300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 graduates aged 18 and over whose longest job last year was in each occupation and who are no longer in it at the following March interview, by any route; centered 3-year pooled windows with shaded 95 percent confidence bands; occupation codes harmonized across the 1990, 2002, 2010 and 2018 Census classifications. Source: Author’s calculations from March CPS supplements, 1998–2025.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5. Labor Force Exit of Women,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704088"/>
            <a:ext cx="9684000" cy="4842000"/>
          </a:xfrm>
          <a:prstGeom prst="rect">
            <a:avLst/>
          </a:prstGeom>
        </p:spPr>
      </p:pic>
      <p:sp>
        <p:nvSpPr>
          <p:cNvPr id="5" name="Text 1"/>
          <p:cNvSpPr/>
          <p:nvPr/>
        </p:nvSpPr>
        <p:spPr>
          <a:xfrm>
            <a:off x="1523453" y="5766880"/>
            <a:ext cx="9684000"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college-graduate women in each occupation who are out of the labor force at the following March interview; centered 3-year pooled windows, additionally smoothed with a 3-year moving average; shaded 95 percent confidence bands. Source: Author’s calculations from March CPS supplements, 1998–2025.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6. Teachers Leaving per Year Across Countries</a:t>
            </a:r>
            <a:endParaRPr lang="en-US" sz="2100" dirty="0"/>
          </a:p>
        </p:txBody>
      </p:sp>
      <p:pic>
        <p:nvPicPr>
          <p:cNvPr id="3" name="Image 0" descr="figs_png/n5b_states_trio.png"/>
          <p:cNvPicPr>
            <a:picLocks noChangeAspect="1"/>
          </p:cNvPicPr>
          <p:nvPr/>
        </p:nvPicPr>
        <p:blipFill>
          <a:blip r:embed="rId2"/>
          <a:stretch>
            <a:fillRect/>
          </a:stretch>
        </p:blipFill>
        <p:spPr>
          <a:xfrm>
            <a:off x="2775285" y="804672"/>
            <a:ext cx="6638382" cy="4842000"/>
          </a:xfrm>
          <a:prstGeom prst="rect">
            <a:avLst/>
          </a:prstGeom>
        </p:spPr>
      </p:pic>
      <p:sp>
        <p:nvSpPr>
          <p:cNvPr id="5" name="Text 1"/>
          <p:cNvSpPr/>
          <p:nvPr/>
        </p:nvSpPr>
        <p:spPr>
          <a:xfrm>
            <a:off x="1095555" y="5647196"/>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Most recent year available, 2021 or later; every bar is an annual flow over the teacher stock with retirements included; the counted object is printed under each name. Sources: Hong Kong EDB via LegCo; DfE School Workforce Census 2025; OECD Education at a Glance 2025 Table D8.4 (Flanders, France, Ireland); author’s CPS estimate (United States); NZ Ministry of Education; OCW/DUO (Netherlands, primary); Welsh Government SWAC; Israel CBS; e61 Institute tax records (Australia); Destatis flow tables via FiBS (Germany, excl. BY, NI, NRW); MEXT (Japan).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7. Destinations of Teachers Who Leave the Profession, 2024</a:t>
            </a:r>
            <a:endParaRPr lang="en-US" sz="2100" dirty="0"/>
          </a:p>
        </p:txBody>
      </p:sp>
      <p:pic>
        <p:nvPicPr>
          <p:cNvPr id="3" name="Image 0" descr="figs_png/g3_flow100.png"/>
          <p:cNvPicPr>
            <a:picLocks noChangeAspect="1"/>
          </p:cNvPicPr>
          <p:nvPr/>
        </p:nvPicPr>
        <p:blipFill>
          <a:blip r:embed="rId3"/>
          <a:stretch>
            <a:fillRect/>
          </a:stretch>
        </p:blipFill>
        <p:spPr>
          <a:xfrm>
            <a:off x="1016668" y="941832"/>
            <a:ext cx="9827812" cy="4709160"/>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of teaching year 2024, observed in March 2025 (178 leavers, ASEC weights). Top bar: labor force status at the March 2025 interview, per 100 leavers; “out of the labor force” is split at age 55. Bottom bar: the occupational destination of the 33 employed leavers, rescaled to sum to their total. Single-year estimates; the pooled 2015–2024 version is in the paper. Source: author’s calculations from the March 2025 CPS supplement.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8724" y="946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8. Where the Employed Leavers Go: Every Occupation, 2019–2024</a:t>
            </a:r>
            <a:endParaRPr lang="en-US" sz="2100" dirty="0"/>
          </a:p>
        </p:txBody>
      </p:sp>
      <p:pic>
        <p:nvPicPr>
          <p:cNvPr id="3" name="Image 0" descr="occ_all_slide.png"/>
          <p:cNvPicPr>
            <a:picLocks noChangeAspect="1"/>
          </p:cNvPicPr>
          <p:nvPr/>
        </p:nvPicPr>
        <p:blipFill>
          <a:blip r:embed="rId2"/>
          <a:stretch>
            <a:fillRect/>
          </a:stretch>
        </p:blipFill>
        <p:spPr>
          <a:xfrm>
            <a:off x="277271" y="709404"/>
            <a:ext cx="11637455" cy="5115324"/>
          </a:xfrm>
          <a:prstGeom prst="rect">
            <a:avLst/>
          </a:prstGeom>
        </p:spPr>
      </p:pic>
      <p:sp>
        <p:nvSpPr>
          <p:cNvPr id="5" name="Text 1"/>
          <p:cNvSpPr/>
          <p:nvPr/>
        </p:nvSpPr>
        <p:spPr>
          <a:xfrm>
            <a:off x="458723" y="5824728"/>
            <a:ext cx="112745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Every destination occupation of the college-graduate leavers employed the March after the teaching year, in percent of employed leavers, pooled over teaching years 2019–2024 (2018 Census occupation codes); groups and colors as in Figure 7, with group totals in the headers. Shares below roughly 1 percent rest on one to three sample cases and are indicative only. Source: author’s calculations from March CPS supplements, survey years 2020–2025.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9. Who Leaves the Labor Force Before 55, 2015–2024</a:t>
            </a:r>
            <a:endParaRPr lang="en-US" sz="2100" dirty="0"/>
          </a:p>
        </p:txBody>
      </p:sp>
      <p:pic>
        <p:nvPicPr>
          <p:cNvPr id="3" name="Image 0" descr="yellow_flow2.png"/>
          <p:cNvPicPr>
            <a:picLocks noChangeAspect="1"/>
          </p:cNvPicPr>
          <p:nvPr/>
        </p:nvPicPr>
        <p:blipFill>
          <a:blip r:embed="rId3"/>
          <a:stretch>
            <a:fillRect/>
          </a:stretch>
        </p:blipFill>
        <p:spPr>
          <a:xfrm>
            <a:off x="1335500" y="944668"/>
            <a:ext cx="9521000" cy="4562008"/>
          </a:xfrm>
          <a:prstGeom prst="rect">
            <a:avLst/>
          </a:prstGeom>
        </p:spPr>
      </p:pic>
      <p:sp>
        <p:nvSpPr>
          <p:cNvPr id="5" name="Text 1"/>
          <p:cNvSpPr/>
          <p:nvPr/>
        </p:nvSpPr>
        <p:spPr>
          <a:xfrm>
            <a:off x="1751162" y="5506676"/>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pooled over teaching years 2015–2024, ASEC weights. Top bar: labor force status at the March interview after the teaching year, per 100 leavers; “out of the labor force” is split at age 55. Bottom bar: the 24 who leave the labor force before 55, rescaled to sum to their total. Mothers are women with an own child in the household, split by the age of the youngest; “baby born that year” is an own child aged 0. Source: author’s calculations from March CPS supplements.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10. The Routes out of Teaching, 2002-2024</a:t>
            </a:r>
            <a:endParaRPr lang="en-US" sz="2100" dirty="0"/>
          </a:p>
        </p:txBody>
      </p:sp>
      <p:pic>
        <p:nvPicPr>
          <p:cNvPr id="3" name="Image 0" descr="figs_png/g3_flow100.png"/>
          <p:cNvPicPr>
            <a:picLocks noChangeAspect="1"/>
          </p:cNvPicPr>
          <p:nvPr/>
        </p:nvPicPr>
        <p:blipFill>
          <a:blip r:embed="rId2"/>
          <a:stretch>
            <a:fillRect/>
          </a:stretch>
        </p:blipFill>
        <p:spPr>
          <a:xfrm>
            <a:off x="899307" y="944668"/>
            <a:ext cx="10390339" cy="4562008"/>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Labor force status of college-graduate leavers at the March interview after the teaching year, per 100 leavers (each bar sums to 100), pooled over the teaching years shown; “out of the labor force” is split at age 55. Source: author’s calculations from March CPS supplements.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11. Leaving Teaching by Age and Route</a:t>
            </a:r>
            <a:endParaRPr lang="en-US" sz="2100" dirty="0"/>
          </a:p>
        </p:txBody>
      </p:sp>
      <p:pic>
        <p:nvPicPr>
          <p:cNvPr id="3" name="Image 0" descr="figs_png/g4_routes_age.png"/>
          <p:cNvPicPr>
            <a:picLocks noChangeAspect="1"/>
          </p:cNvPicPr>
          <p:nvPr/>
        </p:nvPicPr>
        <p:blipFill>
          <a:blip r:embed="rId3"/>
          <a:stretch>
            <a:fillRect/>
          </a:stretch>
        </p:blipFill>
        <p:spPr>
          <a:xfrm>
            <a:off x="1497439" y="804672"/>
            <a:ext cx="9194074" cy="4709160"/>
          </a:xfrm>
          <a:prstGeom prst="rect">
            <a:avLst/>
          </a:prstGeom>
        </p:spPr>
      </p:pic>
      <p:sp>
        <p:nvSpPr>
          <p:cNvPr id="5" name="Text 1"/>
          <p:cNvSpPr/>
          <p:nvPr/>
        </p:nvSpPr>
        <p:spPr>
          <a:xfrm>
            <a:off x="1915064" y="5614416"/>
            <a:ext cx="885070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2"/>
          <a:srcRect b="21859"/>
          <a:stretch>
            <a:fillRect/>
          </a:stretch>
        </p:blipFill>
        <p:spPr>
          <a:xfrm>
            <a:off x="900830" y="1970017"/>
            <a:ext cx="10390339" cy="2751971"/>
          </a:xfrm>
          <a:prstGeom prst="rect">
            <a:avLst/>
          </a:prstGeom>
        </p:spPr>
      </p:pic>
      <p:sp>
        <p:nvSpPr>
          <p:cNvPr id="2" name="Text 0"/>
          <p:cNvSpPr/>
          <p:nvPr/>
        </p:nvSpPr>
        <p:spPr>
          <a:xfrm>
            <a:off x="1316782" y="1330190"/>
            <a:ext cx="8766637" cy="502920"/>
          </a:xfrm>
          <a:prstGeom prst="rect">
            <a:avLst/>
          </a:prstGeom>
          <a:noFill/>
          <a:ln/>
        </p:spPr>
        <p:txBody>
          <a:bodyPr wrap="square" lIns="0" tIns="0" rIns="0" bIns="0" rtlCol="0" anchor="ctr"/>
          <a:lstStyle/>
          <a:p>
            <a:r>
              <a:rPr lang="en-US" sz="1900" dirty="0">
                <a:solidFill>
                  <a:srgbClr val="1A2430"/>
                </a:solidFill>
                <a:latin typeface="Garamond" pitchFamily="34" charset="0"/>
                <a:ea typeface="Garamond" pitchFamily="34" charset="-122"/>
                <a:cs typeface="Garamond" pitchFamily="34" charset="-120"/>
              </a:rPr>
              <a:t>I estimate the probability of leaving given the observed characteristics using a probit :</a:t>
            </a:r>
            <a:endParaRPr lang="en-US" sz="1900" dirty="0"/>
          </a:p>
        </p:txBody>
      </p:sp>
      <p:sp>
        <p:nvSpPr>
          <p:cNvPr id="5" name="Text 1"/>
          <p:cNvSpPr/>
          <p:nvPr/>
        </p:nvSpPr>
        <p:spPr>
          <a:xfrm>
            <a:off x="2452460" y="6063077"/>
            <a:ext cx="8151963" cy="1097280"/>
          </a:xfrm>
          <a:prstGeom prst="rect">
            <a:avLst/>
          </a:prstGeom>
          <a:noFill/>
          <a:ln/>
        </p:spPr>
        <p:txBody>
          <a:bodyPr wrap="square" lIns="0" tIns="0" rIns="0" bIns="0" rtlCol="0" anchor="t"/>
          <a:lstStyle/>
          <a:p>
            <a:pPr marL="0" indent="0" algn="just">
              <a:buNone/>
            </a:pP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3"/>
          <a:stretch>
            <a:fillRect/>
          </a:stretch>
        </p:blipFill>
        <p:spPr>
          <a:xfrm>
            <a:off x="2614345" y="631906"/>
            <a:ext cx="6963309" cy="4961357"/>
          </a:xfrm>
          <a:prstGeom prst="rect">
            <a:avLst/>
          </a:prstGeom>
        </p:spPr>
      </p:pic>
      <p:sp>
        <p:nvSpPr>
          <p:cNvPr id="2" name="Text 0"/>
          <p:cNvSpPr/>
          <p:nvPr/>
        </p:nvSpPr>
        <p:spPr>
          <a:xfrm>
            <a:off x="458724" y="128986"/>
            <a:ext cx="11274552" cy="502920"/>
          </a:xfrm>
          <a:prstGeom prst="rect">
            <a:avLst/>
          </a:prstGeom>
          <a:noFill/>
          <a:ln/>
        </p:spPr>
        <p:txBody>
          <a:bodyPr wrap="square" lIns="0" tIns="0" rIns="0" bIns="0" rtlCol="0" anchor="ctr"/>
          <a:lstStyle/>
          <a:p>
            <a:pPr marL="0" indent="0" algn="ctr">
              <a:buNone/>
            </a:pPr>
            <a:r>
              <a:rPr lang="en-US" sz="20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000" dirty="0"/>
          </a:p>
        </p:txBody>
      </p:sp>
      <p:sp>
        <p:nvSpPr>
          <p:cNvPr id="5" name="Text 1"/>
          <p:cNvSpPr/>
          <p:nvPr/>
        </p:nvSpPr>
        <p:spPr>
          <a:xfrm>
            <a:off x="2336846" y="5736858"/>
            <a:ext cx="8151963" cy="1097280"/>
          </a:xfrm>
          <a:prstGeom prst="rect">
            <a:avLst/>
          </a:prstGeom>
          <a:noFill/>
          <a:ln/>
        </p:spPr>
        <p:txBody>
          <a:bodyPr wrap="square" lIns="0" tIns="0" rIns="0" bIns="0" rtlCol="0" anchor="t"/>
          <a:lstStyle/>
          <a:p>
            <a:pPr marL="0" indent="0" algn="just">
              <a:buNone/>
            </a:pPr>
            <a:r>
              <a:rPr lang="en-US" sz="110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Age enters the model as a quadratic and its profile is shown in the next figure. “Worked full year” is 50+ weeks at the last-year job; “part-time” is under 35 weekly hours. n = 28,900. Source: author’s calculations from March CPS supplements. The regression have an n= 28,932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59357"/>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13. The Age Profile of Leaving Teaching</a:t>
            </a:r>
            <a:endParaRPr lang="en-US" sz="2100" dirty="0"/>
          </a:p>
        </p:txBody>
      </p:sp>
      <p:pic>
        <p:nvPicPr>
          <p:cNvPr id="3" name="Image 0" descr="figs_png/n5b_states_trio.png"/>
          <p:cNvPicPr>
            <a:picLocks noChangeAspect="1"/>
          </p:cNvPicPr>
          <p:nvPr/>
        </p:nvPicPr>
        <p:blipFill>
          <a:blip r:embed="rId3"/>
          <a:stretch>
            <a:fillRect/>
          </a:stretch>
        </p:blipFill>
        <p:spPr>
          <a:xfrm>
            <a:off x="899306" y="1350000"/>
            <a:ext cx="10390339" cy="3463446"/>
          </a:xfrm>
          <a:prstGeom prst="rect">
            <a:avLst/>
          </a:prstGeom>
        </p:spPr>
      </p:pic>
      <p:sp>
        <p:nvSpPr>
          <p:cNvPr id="5" name="Text 1"/>
          <p:cNvSpPr/>
          <p:nvPr/>
        </p:nvSpPr>
        <p:spPr>
          <a:xfrm>
            <a:off x="1095555" y="5179841"/>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panel is the predicted probability by age from a separate probit on college-graduate teachers pooled over calendar 2015–2024 (age entered as a quadratic, other covariates at sample means, year effects). Left: leaving teaching by any route; center: moving to another occupation; right: leaving the labor force. Exits to unemployment are the residual route and are not shown, so the two right panels do not sum exactly to the left one. Shaded bands: 95 percent confidence intervals by the delta method. Source: author’s calculations from March CPS supplements.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5457" y="233605"/>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14. The Effect of a New Baby on Leaving, by Profession</a:t>
            </a:r>
            <a:endParaRPr lang="en-US" sz="2100" dirty="0"/>
          </a:p>
        </p:txBody>
      </p:sp>
      <p:pic>
        <p:nvPicPr>
          <p:cNvPr id="3" name="Image 0" descr="figs_png/g8_newbaby.png"/>
          <p:cNvPicPr>
            <a:picLocks noChangeAspect="1"/>
          </p:cNvPicPr>
          <p:nvPr/>
        </p:nvPicPr>
        <p:blipFill>
          <a:blip r:embed="rId3"/>
          <a:stretch>
            <a:fillRect/>
          </a:stretch>
        </p:blipFill>
        <p:spPr>
          <a:xfrm>
            <a:off x="2024799" y="920353"/>
            <a:ext cx="8335868" cy="4822856"/>
          </a:xfrm>
          <a:prstGeom prst="rect">
            <a:avLst/>
          </a:prstGeom>
        </p:spPr>
      </p:pic>
      <p:sp>
        <p:nvSpPr>
          <p:cNvPr id="5" name="Text 1"/>
          <p:cNvSpPr/>
          <p:nvPr/>
        </p:nvSpPr>
        <p:spPr>
          <a:xfrm>
            <a:off x="2320505" y="5823520"/>
            <a:ext cx="863504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0916" y="367486"/>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15. Leaving Teaching and the Unemployment Rate, 1997–2024</a:t>
            </a:r>
            <a:endParaRPr lang="en-US" sz="2100" dirty="0"/>
          </a:p>
        </p:txBody>
      </p:sp>
      <p:pic>
        <p:nvPicPr>
          <p:cNvPr id="3" name="Image 0" descr="figs_png/n5_cyclicality.png"/>
          <p:cNvPicPr>
            <a:picLocks noChangeAspect="1"/>
          </p:cNvPicPr>
          <p:nvPr/>
        </p:nvPicPr>
        <p:blipFill>
          <a:blip r:embed="rId3"/>
          <a:stretch>
            <a:fillRect/>
          </a:stretch>
        </p:blipFill>
        <p:spPr>
          <a:xfrm>
            <a:off x="470916" y="1072233"/>
            <a:ext cx="11247120" cy="4174039"/>
          </a:xfrm>
          <a:prstGeom prst="rect">
            <a:avLst/>
          </a:prstGeom>
        </p:spPr>
      </p:pic>
      <p:sp>
        <p:nvSpPr>
          <p:cNvPr id="5" name="Text 1"/>
          <p:cNvSpPr/>
          <p:nvPr/>
        </p:nvSpPr>
        <p:spPr>
          <a:xfrm>
            <a:off x="854015" y="5448099"/>
            <a:ext cx="106448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16. State-Level Cyclicality of Leaving Across the States</a:t>
            </a:r>
            <a:endParaRPr lang="en-US" sz="2100" dirty="0"/>
          </a:p>
        </p:txBody>
      </p:sp>
      <p:pic>
        <p:nvPicPr>
          <p:cNvPr id="3" name="Image 0" descr="figs_png/n5b_states_trio.png"/>
          <p:cNvPicPr>
            <a:picLocks noChangeAspect="1"/>
          </p:cNvPicPr>
          <p:nvPr/>
        </p:nvPicPr>
        <p:blipFill>
          <a:blip r:embed="rId2"/>
          <a:stretch>
            <a:fillRect/>
          </a:stretch>
        </p:blipFill>
        <p:spPr>
          <a:xfrm>
            <a:off x="899307" y="879466"/>
            <a:ext cx="10390339" cy="4692411"/>
          </a:xfrm>
          <a:prstGeom prst="rect">
            <a:avLst/>
          </a:prstGeom>
        </p:spPr>
      </p:pic>
      <p:sp>
        <p:nvSpPr>
          <p:cNvPr id="5" name="Text 1"/>
          <p:cNvSpPr/>
          <p:nvPr/>
        </p:nvSpPr>
        <p:spPr>
          <a:xfrm>
            <a:off x="1417833" y="5643605"/>
            <a:ext cx="972797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Slope of a weighted linear probability model of leaving on the state unemployment rate in the survey month, estimated separately by state on all years 1997–2024; whiskers are 95 percent intervals, heteroskedasticity-robust; bold and colored: significant at 5 percent. States with fewer than 400 teacher observations are excluded (North Dakota). Source: Author’s calculations from March CPS supplements and BLS LAUS.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8698"/>
            <a:ext cx="11274552" cy="502920"/>
          </a:xfrm>
          <a:prstGeom prst="rect">
            <a:avLst/>
          </a:prstGeom>
          <a:noFill/>
          <a:ln/>
        </p:spPr>
        <p:txBody>
          <a:bodyPr wrap="square" lIns="0" tIns="0" rIns="0" bIns="0" rtlCol="0" anchor="ctr"/>
          <a:lstStyle/>
          <a:p>
            <a:pPr algn="ctr"/>
            <a:r>
              <a:rPr lang="en-US" sz="2100" dirty="0">
                <a:solidFill>
                  <a:srgbClr val="1A2430"/>
                </a:solidFill>
                <a:latin typeface="Garamond" pitchFamily="34" charset="0"/>
                <a:ea typeface="Garamond" pitchFamily="34" charset="-122"/>
                <a:cs typeface="Garamond" pitchFamily="34" charset="-120"/>
              </a:rPr>
              <a:t>Figure 17. Real Earnings Growth by Profession since 1997</a:t>
            </a:r>
            <a:endParaRPr lang="en-US" sz="2100" dirty="0"/>
          </a:p>
        </p:txBody>
      </p:sp>
      <p:sp>
        <p:nvSpPr>
          <p:cNvPr id="5" name="Text 1"/>
          <p:cNvSpPr/>
          <p:nvPr/>
        </p:nvSpPr>
        <p:spPr>
          <a:xfrm>
            <a:off x="1089062" y="5502536"/>
            <a:ext cx="959638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1200" dirty="0"/>
          </a:p>
        </p:txBody>
      </p:sp>
      <p:pic>
        <p:nvPicPr>
          <p:cNvPr id="13" name="Image 0" descr="figs_png/n6b_pay_windows.png">
            <a:extLst>
              <a:ext uri="{FF2B5EF4-FFF2-40B4-BE49-F238E27FC236}">
                <a16:creationId xmlns:a16="http://schemas.microsoft.com/office/drawing/2014/main" id="{63918AC2-E7FC-4BD2-1BEE-2726C075B09E}"/>
              </a:ext>
            </a:extLst>
          </p:cNvPr>
          <p:cNvPicPr>
            <a:picLocks noChangeAspect="1"/>
          </p:cNvPicPr>
          <p:nvPr/>
        </p:nvPicPr>
        <p:blipFill>
          <a:blip r:embed="rId3"/>
          <a:stretch>
            <a:fillRect/>
          </a:stretch>
        </p:blipFill>
        <p:spPr>
          <a:xfrm>
            <a:off x="695383" y="806823"/>
            <a:ext cx="10801234" cy="44531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18. Pay Compression: Teachers and Comparable Professions</a:t>
            </a:r>
            <a:endParaRPr lang="en-US" sz="2100" dirty="0"/>
          </a:p>
        </p:txBody>
      </p:sp>
      <p:sp>
        <p:nvSpPr>
          <p:cNvPr id="5" name="Text 1"/>
          <p:cNvSpPr/>
          <p:nvPr/>
        </p:nvSpPr>
        <p:spPr>
          <a:xfrm>
            <a:off x="2233342" y="5614725"/>
            <a:ext cx="82090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10th percentile, median and 90th percentile of annual wage and salary earnings, full-time full-year workers with positive earnings, pooled over 2015–2024, in $1,000 of 2024 (CPI-U), ASEC weights. Registered nurses matched across the 2010 and 2018 occupation classifications. Source: author’s calculations from March CPS supplements.</a:t>
            </a:r>
            <a:endParaRPr lang="en-US" sz="1200" dirty="0"/>
          </a:p>
        </p:txBody>
      </p:sp>
      <p:pic>
        <p:nvPicPr>
          <p:cNvPr id="6" name="Picture 5">
            <a:extLst>
              <a:ext uri="{FF2B5EF4-FFF2-40B4-BE49-F238E27FC236}">
                <a16:creationId xmlns:a16="http://schemas.microsoft.com/office/drawing/2014/main" id="{D5F9119C-C7FE-D7BA-BF69-64788E8B0B82}"/>
              </a:ext>
            </a:extLst>
          </p:cNvPr>
          <p:cNvPicPr>
            <a:picLocks noChangeAspect="1"/>
          </p:cNvPicPr>
          <p:nvPr/>
        </p:nvPicPr>
        <p:blipFill>
          <a:blip r:embed="rId2"/>
          <a:stretch>
            <a:fillRect/>
          </a:stretch>
        </p:blipFill>
        <p:spPr>
          <a:xfrm>
            <a:off x="1453692" y="981777"/>
            <a:ext cx="9284616" cy="4431294"/>
          </a:xfrm>
          <a:prstGeom prst="rect">
            <a:avLst/>
          </a:prstGeom>
        </p:spPr>
      </p:pic>
      <p:pic>
        <p:nvPicPr>
          <p:cNvPr id="8" name="Image 0" descr="figs_png/g5b_earnings_density.png">
            <a:extLst>
              <a:ext uri="{FF2B5EF4-FFF2-40B4-BE49-F238E27FC236}">
                <a16:creationId xmlns:a16="http://schemas.microsoft.com/office/drawing/2014/main" id="{03C890BE-8626-7D30-C84A-ECD16D7811BF}"/>
              </a:ext>
            </a:extLst>
          </p:cNvPr>
          <p:cNvPicPr>
            <a:picLocks noChangeAspect="1"/>
          </p:cNvPicPr>
          <p:nvPr/>
        </p:nvPicPr>
        <p:blipFill>
          <a:blip r:embed="rId3"/>
          <a:stretch>
            <a:fillRect/>
          </a:stretch>
        </p:blipFill>
        <p:spPr>
          <a:xfrm>
            <a:off x="1565917" y="704088"/>
            <a:ext cx="8876477" cy="494258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30695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19. Who Leaves: the Leaving Rate by Position in the Teacher Pay Distribution</a:t>
            </a:r>
            <a:endParaRPr lang="en-US" sz="2100" dirty="0"/>
          </a:p>
        </p:txBody>
      </p:sp>
      <p:sp>
        <p:nvSpPr>
          <p:cNvPr id="5" name="Text 1"/>
          <p:cNvSpPr/>
          <p:nvPr/>
        </p:nvSpPr>
        <p:spPr>
          <a:xfrm>
            <a:off x="923026" y="5760720"/>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leaving rate by within-year decile of annual wage and salary earnings among college-graduate teachers with positive earnings, pooled over teaching years 2015–2024, ASEC weights. The lowest deciles are dominated by part-year and part-time teaching jobs, so the gradient reflects job attachment as well as pay. Source: author’s calculations from March CPS supplements.</a:t>
            </a:r>
            <a:endParaRPr lang="en-US" sz="1200" dirty="0"/>
          </a:p>
        </p:txBody>
      </p:sp>
      <p:pic>
        <p:nvPicPr>
          <p:cNvPr id="6" name="Image 0" descr="figs_png/g5b_earnings_density.png">
            <a:extLst>
              <a:ext uri="{FF2B5EF4-FFF2-40B4-BE49-F238E27FC236}">
                <a16:creationId xmlns:a16="http://schemas.microsoft.com/office/drawing/2014/main" id="{83B6E2DD-8BCC-3384-F81E-EDC96D1C2238}"/>
              </a:ext>
            </a:extLst>
          </p:cNvPr>
          <p:cNvPicPr>
            <a:picLocks noChangeAspect="1"/>
          </p:cNvPicPr>
          <p:nvPr/>
        </p:nvPicPr>
        <p:blipFill>
          <a:blip r:embed="rId2"/>
          <a:stretch>
            <a:fillRect/>
          </a:stretch>
        </p:blipFill>
        <p:spPr>
          <a:xfrm>
            <a:off x="1105905" y="915128"/>
            <a:ext cx="9684000" cy="4842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252476" y="804672"/>
            <a:ext cx="9684000" cy="4842000"/>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20. The Earnings Change of Leaving, by Destination</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Median change in log annual earnings (×100) between the teaching year and the next, for teachers linked across consecutive March supplements (2011–2025) with consistent sex and age; positive earnings required in both years, so exits to nonemployment are excluded. Destination groups as in Figure 9. Source: author’s calculations from March CPS supplements.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3"/>
          <a:stretch>
            <a:fillRect/>
          </a:stretch>
        </p:blipFill>
        <p:spPr>
          <a:xfrm>
            <a:off x="848265" y="187538"/>
            <a:ext cx="10181181" cy="5321981"/>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21. The Distribution of Earnings Changes: Stayers and Leavers</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1200" dirty="0"/>
          </a:p>
        </p:txBody>
      </p:sp>
      <p:sp>
        <p:nvSpPr>
          <p:cNvPr id="4" name="Rectangle 3">
            <a:extLst>
              <a:ext uri="{FF2B5EF4-FFF2-40B4-BE49-F238E27FC236}">
                <a16:creationId xmlns:a16="http://schemas.microsoft.com/office/drawing/2014/main" id="{BD4889E9-98D0-31D1-1761-7E69B910B175}"/>
              </a:ext>
            </a:extLst>
          </p:cNvPr>
          <p:cNvSpPr/>
          <p:nvPr/>
        </p:nvSpPr>
        <p:spPr>
          <a:xfrm>
            <a:off x="1915064" y="3446253"/>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F9BE3BE-23B0-BB07-863B-D1F2762568AC}"/>
              </a:ext>
            </a:extLst>
          </p:cNvPr>
          <p:cNvSpPr/>
          <p:nvPr/>
        </p:nvSpPr>
        <p:spPr>
          <a:xfrm>
            <a:off x="8460558" y="3752491"/>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994081" y="692054"/>
            <a:ext cx="8203838" cy="4950591"/>
          </a:xfrm>
          <a:prstGeom prst="rect">
            <a:avLst/>
          </a:prstGeom>
        </p:spPr>
      </p:pic>
      <p:sp>
        <p:nvSpPr>
          <p:cNvPr id="2" name="Text 0"/>
          <p:cNvSpPr/>
          <p:nvPr/>
        </p:nvSpPr>
        <p:spPr>
          <a:xfrm>
            <a:off x="30121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22. Pension Coverage and Leaving Teaching Across States</a:t>
            </a:r>
            <a:endParaRPr lang="en-US" sz="2100" dirty="0"/>
          </a:p>
        </p:txBody>
      </p:sp>
      <p:sp>
        <p:nvSpPr>
          <p:cNvPr id="5" name="Text 1"/>
          <p:cNvSpPr/>
          <p:nvPr/>
        </p:nvSpPr>
        <p:spPr>
          <a:xfrm>
            <a:off x="1439931" y="5760720"/>
            <a:ext cx="983462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point is a state (plus DC), 1997–2024 means: horizontal axis, share of college-graduate teachers whose teaching-year job included a pension plan; vertical axis, annual leaving rate of teachers under 55, which strips most retirements. OLS fit: −0.21 pp per point of coverage, r = −0.47 (p &lt; 0.001). A cross-sectional correlation, not a causal estimate; coverage also proxies for public-sector share and contract quality. Source: author’s calculations from March CPS supplements.</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1</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Data and measurement</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2</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leaving rate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3</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Where they go</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4</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Who leaves, and why</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5</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business cycle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6</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Pay and pensions</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The Current Population Survey</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400"/>
              </a:lnSpc>
              <a:spcAft>
                <a:spcPts val="0"/>
              </a:spcAft>
            </a:pPr>
            <a:r>
              <a:rPr sz="1600" b="0" i="0">
                <a:solidFill>
                  <a:srgbClr val="1A2430"/>
                </a:solidFill>
                <a:latin typeface="Garamond"/>
              </a:rPr>
              <a:t>The monthly household survey behind the official employment statistics: some 110,000 persons each month. Every March, a supplement asks about the previous calendar year.</a:t>
            </a:r>
          </a:p>
        </p:txBody>
      </p:sp>
      <p:cxnSp>
        <p:nvCxnSpPr>
          <p:cNvPr id="5" name="Connector 4"/>
          <p:cNvCxnSpPr/>
          <p:nvPr/>
        </p:nvCxnSpPr>
        <p:spPr>
          <a:xfrm>
            <a:off x="822960" y="2395728"/>
            <a:ext cx="10543032" cy="0"/>
          </a:xfrm>
          <a:prstGeom prst="line">
            <a:avLst/>
          </a:prstGeom>
          <a:ln w="2032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60120" y="2487168"/>
            <a:ext cx="1645920" cy="27432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Supplement</a:t>
            </a:r>
          </a:p>
        </p:txBody>
      </p:sp>
      <p:sp>
        <p:nvSpPr>
          <p:cNvPr id="7" name="TextBox 6"/>
          <p:cNvSpPr txBox="1"/>
          <p:nvPr/>
        </p:nvSpPr>
        <p:spPr>
          <a:xfrm>
            <a:off x="1783080" y="2487168"/>
            <a:ext cx="1600200" cy="274320"/>
          </a:xfrm>
          <a:prstGeom prst="rect">
            <a:avLst/>
          </a:prstGeom>
          <a:noFill/>
        </p:spPr>
        <p:txBody>
          <a:bodyPr wrap="square" lIns="0" rIns="0" tIns="0" bIns="0">
            <a:spAutoFit/>
          </a:bodyPr>
          <a:lstStyle/>
          <a:p>
            <a:pPr algn="r">
              <a:lnSpc>
                <a:spcPts val="1800"/>
              </a:lnSpc>
              <a:spcAft>
                <a:spcPts val="0"/>
              </a:spcAft>
            </a:pPr>
            <a:r>
              <a:rPr sz="1200" b="1" i="0">
                <a:solidFill>
                  <a:srgbClr val="1A2430"/>
                </a:solidFill>
                <a:latin typeface="Garamond"/>
              </a:rPr>
              <a:t>Persons</a:t>
            </a:r>
          </a:p>
        </p:txBody>
      </p:sp>
      <p:sp>
        <p:nvSpPr>
          <p:cNvPr id="8" name="TextBox 7"/>
          <p:cNvSpPr txBox="1"/>
          <p:nvPr/>
        </p:nvSpPr>
        <p:spPr>
          <a:xfrm>
            <a:off x="3474720" y="2487168"/>
            <a:ext cx="1463040" cy="274320"/>
          </a:xfrm>
          <a:prstGeom prst="rect">
            <a:avLst/>
          </a:prstGeom>
          <a:noFill/>
        </p:spPr>
        <p:txBody>
          <a:bodyPr wrap="square" lIns="0" rIns="0" tIns="0" bIns="0">
            <a:spAutoFit/>
          </a:bodyPr>
          <a:lstStyle/>
          <a:p>
            <a:pPr algn="r">
              <a:lnSpc>
                <a:spcPts val="1800"/>
              </a:lnSpc>
              <a:spcAft>
                <a:spcPts val="0"/>
              </a:spcAft>
            </a:pPr>
            <a:r>
              <a:rPr sz="1200" b="1" i="0">
                <a:solidFill>
                  <a:srgbClr val="1A2430"/>
                </a:solidFill>
                <a:latin typeface="Garamond"/>
              </a:rPr>
              <a:t>Teachers</a:t>
            </a:r>
          </a:p>
        </p:txBody>
      </p:sp>
      <p:sp>
        <p:nvSpPr>
          <p:cNvPr id="9" name="TextBox 8"/>
          <p:cNvSpPr txBox="1"/>
          <p:nvPr/>
        </p:nvSpPr>
        <p:spPr>
          <a:xfrm>
            <a:off x="6400800" y="2487168"/>
            <a:ext cx="1645920" cy="27432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Supplement</a:t>
            </a:r>
          </a:p>
        </p:txBody>
      </p:sp>
      <p:sp>
        <p:nvSpPr>
          <p:cNvPr id="10" name="TextBox 9"/>
          <p:cNvSpPr txBox="1"/>
          <p:nvPr/>
        </p:nvSpPr>
        <p:spPr>
          <a:xfrm>
            <a:off x="7223760" y="2487168"/>
            <a:ext cx="1600200" cy="274320"/>
          </a:xfrm>
          <a:prstGeom prst="rect">
            <a:avLst/>
          </a:prstGeom>
          <a:noFill/>
        </p:spPr>
        <p:txBody>
          <a:bodyPr wrap="square" lIns="0" rIns="0" tIns="0" bIns="0">
            <a:spAutoFit/>
          </a:bodyPr>
          <a:lstStyle/>
          <a:p>
            <a:pPr algn="r">
              <a:lnSpc>
                <a:spcPts val="1800"/>
              </a:lnSpc>
              <a:spcAft>
                <a:spcPts val="0"/>
              </a:spcAft>
            </a:pPr>
            <a:r>
              <a:rPr sz="1200" b="1" i="0">
                <a:solidFill>
                  <a:srgbClr val="1A2430"/>
                </a:solidFill>
                <a:latin typeface="Garamond"/>
              </a:rPr>
              <a:t>Persons</a:t>
            </a:r>
          </a:p>
        </p:txBody>
      </p:sp>
      <p:sp>
        <p:nvSpPr>
          <p:cNvPr id="11" name="TextBox 10"/>
          <p:cNvSpPr txBox="1"/>
          <p:nvPr/>
        </p:nvSpPr>
        <p:spPr>
          <a:xfrm>
            <a:off x="8915400" y="2487168"/>
            <a:ext cx="1463040" cy="274320"/>
          </a:xfrm>
          <a:prstGeom prst="rect">
            <a:avLst/>
          </a:prstGeom>
          <a:noFill/>
        </p:spPr>
        <p:txBody>
          <a:bodyPr wrap="square" lIns="0" rIns="0" tIns="0" bIns="0">
            <a:spAutoFit/>
          </a:bodyPr>
          <a:lstStyle/>
          <a:p>
            <a:pPr algn="r">
              <a:lnSpc>
                <a:spcPts val="1800"/>
              </a:lnSpc>
              <a:spcAft>
                <a:spcPts val="0"/>
              </a:spcAft>
            </a:pPr>
            <a:r>
              <a:rPr sz="1200" b="1" i="0">
                <a:solidFill>
                  <a:srgbClr val="1A2430"/>
                </a:solidFill>
                <a:latin typeface="Garamond"/>
              </a:rPr>
              <a:t>Teachers</a:t>
            </a:r>
          </a:p>
        </p:txBody>
      </p:sp>
      <p:cxnSp>
        <p:nvCxnSpPr>
          <p:cNvPr id="12" name="Connector 11"/>
          <p:cNvCxnSpPr/>
          <p:nvPr/>
        </p:nvCxnSpPr>
        <p:spPr>
          <a:xfrm>
            <a:off x="822960" y="2816352"/>
            <a:ext cx="10543032" cy="0"/>
          </a:xfrm>
          <a:prstGeom prst="line">
            <a:avLst/>
          </a:prstGeom>
          <a:ln w="10160">
            <a:solidFill>
              <a:srgbClr val="1A243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60120" y="2907792"/>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1998</a:t>
            </a:r>
          </a:p>
        </p:txBody>
      </p:sp>
      <p:sp>
        <p:nvSpPr>
          <p:cNvPr id="14" name="TextBox 13"/>
          <p:cNvSpPr txBox="1"/>
          <p:nvPr/>
        </p:nvSpPr>
        <p:spPr>
          <a:xfrm>
            <a:off x="1783080" y="2907792"/>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131,617</a:t>
            </a:r>
          </a:p>
        </p:txBody>
      </p:sp>
      <p:sp>
        <p:nvSpPr>
          <p:cNvPr id="15" name="TextBox 14"/>
          <p:cNvSpPr txBox="1"/>
          <p:nvPr/>
        </p:nvSpPr>
        <p:spPr>
          <a:xfrm>
            <a:off x="3474720" y="2907792"/>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2,620</a:t>
            </a:r>
          </a:p>
        </p:txBody>
      </p:sp>
      <p:sp>
        <p:nvSpPr>
          <p:cNvPr id="16" name="TextBox 15"/>
          <p:cNvSpPr txBox="1"/>
          <p:nvPr/>
        </p:nvSpPr>
        <p:spPr>
          <a:xfrm>
            <a:off x="960120" y="3145536"/>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1999</a:t>
            </a:r>
          </a:p>
        </p:txBody>
      </p:sp>
      <p:sp>
        <p:nvSpPr>
          <p:cNvPr id="17" name="TextBox 16"/>
          <p:cNvSpPr txBox="1"/>
          <p:nvPr/>
        </p:nvSpPr>
        <p:spPr>
          <a:xfrm>
            <a:off x="1783080" y="3145536"/>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132,324</a:t>
            </a:r>
          </a:p>
        </p:txBody>
      </p:sp>
      <p:sp>
        <p:nvSpPr>
          <p:cNvPr id="18" name="TextBox 17"/>
          <p:cNvSpPr txBox="1"/>
          <p:nvPr/>
        </p:nvSpPr>
        <p:spPr>
          <a:xfrm>
            <a:off x="3474720" y="3145536"/>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2,719</a:t>
            </a:r>
          </a:p>
        </p:txBody>
      </p:sp>
      <p:sp>
        <p:nvSpPr>
          <p:cNvPr id="19" name="TextBox 18"/>
          <p:cNvSpPr txBox="1"/>
          <p:nvPr/>
        </p:nvSpPr>
        <p:spPr>
          <a:xfrm>
            <a:off x="960120" y="3383280"/>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2000</a:t>
            </a:r>
          </a:p>
        </p:txBody>
      </p:sp>
      <p:sp>
        <p:nvSpPr>
          <p:cNvPr id="20" name="TextBox 19"/>
          <p:cNvSpPr txBox="1"/>
          <p:nvPr/>
        </p:nvSpPr>
        <p:spPr>
          <a:xfrm>
            <a:off x="1783080" y="3383280"/>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133,710</a:t>
            </a:r>
          </a:p>
        </p:txBody>
      </p:sp>
      <p:sp>
        <p:nvSpPr>
          <p:cNvPr id="21" name="TextBox 20"/>
          <p:cNvSpPr txBox="1"/>
          <p:nvPr/>
        </p:nvSpPr>
        <p:spPr>
          <a:xfrm>
            <a:off x="3474720" y="3383280"/>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2,743</a:t>
            </a:r>
          </a:p>
        </p:txBody>
      </p:sp>
      <p:sp>
        <p:nvSpPr>
          <p:cNvPr id="22" name="TextBox 21"/>
          <p:cNvSpPr txBox="1"/>
          <p:nvPr/>
        </p:nvSpPr>
        <p:spPr>
          <a:xfrm>
            <a:off x="960120" y="3621024"/>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2001</a:t>
            </a:r>
          </a:p>
        </p:txBody>
      </p:sp>
      <p:sp>
        <p:nvSpPr>
          <p:cNvPr id="23" name="TextBox 22"/>
          <p:cNvSpPr txBox="1"/>
          <p:nvPr/>
        </p:nvSpPr>
        <p:spPr>
          <a:xfrm>
            <a:off x="1783080" y="3621024"/>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128,821</a:t>
            </a:r>
          </a:p>
        </p:txBody>
      </p:sp>
      <p:sp>
        <p:nvSpPr>
          <p:cNvPr id="24" name="TextBox 23"/>
          <p:cNvSpPr txBox="1"/>
          <p:nvPr/>
        </p:nvSpPr>
        <p:spPr>
          <a:xfrm>
            <a:off x="3474720" y="3621024"/>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2,646</a:t>
            </a:r>
          </a:p>
        </p:txBody>
      </p:sp>
      <p:sp>
        <p:nvSpPr>
          <p:cNvPr id="25" name="TextBox 24"/>
          <p:cNvSpPr txBox="1"/>
          <p:nvPr/>
        </p:nvSpPr>
        <p:spPr>
          <a:xfrm>
            <a:off x="960120" y="3858768"/>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2002</a:t>
            </a:r>
          </a:p>
        </p:txBody>
      </p:sp>
      <p:sp>
        <p:nvSpPr>
          <p:cNvPr id="26" name="TextBox 25"/>
          <p:cNvSpPr txBox="1"/>
          <p:nvPr/>
        </p:nvSpPr>
        <p:spPr>
          <a:xfrm>
            <a:off x="1783080" y="3858768"/>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217,219</a:t>
            </a:r>
          </a:p>
        </p:txBody>
      </p:sp>
      <p:sp>
        <p:nvSpPr>
          <p:cNvPr id="27" name="TextBox 26"/>
          <p:cNvSpPr txBox="1"/>
          <p:nvPr/>
        </p:nvSpPr>
        <p:spPr>
          <a:xfrm>
            <a:off x="3474720" y="3858768"/>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4,632</a:t>
            </a:r>
          </a:p>
        </p:txBody>
      </p:sp>
      <p:sp>
        <p:nvSpPr>
          <p:cNvPr id="28" name="TextBox 27"/>
          <p:cNvSpPr txBox="1"/>
          <p:nvPr/>
        </p:nvSpPr>
        <p:spPr>
          <a:xfrm>
            <a:off x="960120" y="4096512"/>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2003</a:t>
            </a:r>
          </a:p>
        </p:txBody>
      </p:sp>
      <p:sp>
        <p:nvSpPr>
          <p:cNvPr id="29" name="TextBox 28"/>
          <p:cNvSpPr txBox="1"/>
          <p:nvPr/>
        </p:nvSpPr>
        <p:spPr>
          <a:xfrm>
            <a:off x="1783080" y="4096512"/>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216,424</a:t>
            </a:r>
          </a:p>
        </p:txBody>
      </p:sp>
      <p:sp>
        <p:nvSpPr>
          <p:cNvPr id="30" name="TextBox 29"/>
          <p:cNvSpPr txBox="1"/>
          <p:nvPr/>
        </p:nvSpPr>
        <p:spPr>
          <a:xfrm>
            <a:off x="3474720" y="4096512"/>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4,201</a:t>
            </a:r>
          </a:p>
        </p:txBody>
      </p:sp>
      <p:sp>
        <p:nvSpPr>
          <p:cNvPr id="31" name="TextBox 30"/>
          <p:cNvSpPr txBox="1"/>
          <p:nvPr/>
        </p:nvSpPr>
        <p:spPr>
          <a:xfrm>
            <a:off x="960120" y="4334256"/>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2004</a:t>
            </a:r>
          </a:p>
        </p:txBody>
      </p:sp>
      <p:sp>
        <p:nvSpPr>
          <p:cNvPr id="32" name="TextBox 31"/>
          <p:cNvSpPr txBox="1"/>
          <p:nvPr/>
        </p:nvSpPr>
        <p:spPr>
          <a:xfrm>
            <a:off x="1783080" y="4334256"/>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213,241</a:t>
            </a:r>
          </a:p>
        </p:txBody>
      </p:sp>
      <p:sp>
        <p:nvSpPr>
          <p:cNvPr id="33" name="TextBox 32"/>
          <p:cNvSpPr txBox="1"/>
          <p:nvPr/>
        </p:nvSpPr>
        <p:spPr>
          <a:xfrm>
            <a:off x="3474720" y="4334256"/>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4,344</a:t>
            </a:r>
          </a:p>
        </p:txBody>
      </p:sp>
      <p:sp>
        <p:nvSpPr>
          <p:cNvPr id="34" name="TextBox 33"/>
          <p:cNvSpPr txBox="1"/>
          <p:nvPr/>
        </p:nvSpPr>
        <p:spPr>
          <a:xfrm>
            <a:off x="960120" y="4572000"/>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2005</a:t>
            </a:r>
          </a:p>
        </p:txBody>
      </p:sp>
      <p:sp>
        <p:nvSpPr>
          <p:cNvPr id="35" name="TextBox 34"/>
          <p:cNvSpPr txBox="1"/>
          <p:nvPr/>
        </p:nvSpPr>
        <p:spPr>
          <a:xfrm>
            <a:off x="1783080" y="4572000"/>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210,648</a:t>
            </a:r>
          </a:p>
        </p:txBody>
      </p:sp>
      <p:sp>
        <p:nvSpPr>
          <p:cNvPr id="36" name="TextBox 35"/>
          <p:cNvSpPr txBox="1"/>
          <p:nvPr/>
        </p:nvSpPr>
        <p:spPr>
          <a:xfrm>
            <a:off x="3474720" y="4572000"/>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4,361</a:t>
            </a:r>
          </a:p>
        </p:txBody>
      </p:sp>
      <p:sp>
        <p:nvSpPr>
          <p:cNvPr id="37" name="TextBox 36"/>
          <p:cNvSpPr txBox="1"/>
          <p:nvPr/>
        </p:nvSpPr>
        <p:spPr>
          <a:xfrm>
            <a:off x="960120" y="4809744"/>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2006</a:t>
            </a:r>
          </a:p>
        </p:txBody>
      </p:sp>
      <p:sp>
        <p:nvSpPr>
          <p:cNvPr id="38" name="TextBox 37"/>
          <p:cNvSpPr txBox="1"/>
          <p:nvPr/>
        </p:nvSpPr>
        <p:spPr>
          <a:xfrm>
            <a:off x="1783080" y="4809744"/>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208,562</a:t>
            </a:r>
          </a:p>
        </p:txBody>
      </p:sp>
      <p:sp>
        <p:nvSpPr>
          <p:cNvPr id="39" name="TextBox 38"/>
          <p:cNvSpPr txBox="1"/>
          <p:nvPr/>
        </p:nvSpPr>
        <p:spPr>
          <a:xfrm>
            <a:off x="3474720" y="4809744"/>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4,161</a:t>
            </a:r>
          </a:p>
        </p:txBody>
      </p:sp>
      <p:sp>
        <p:nvSpPr>
          <p:cNvPr id="40" name="TextBox 39"/>
          <p:cNvSpPr txBox="1"/>
          <p:nvPr/>
        </p:nvSpPr>
        <p:spPr>
          <a:xfrm>
            <a:off x="960120" y="5047488"/>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2007</a:t>
            </a:r>
          </a:p>
        </p:txBody>
      </p:sp>
      <p:sp>
        <p:nvSpPr>
          <p:cNvPr id="41" name="TextBox 40"/>
          <p:cNvSpPr txBox="1"/>
          <p:nvPr/>
        </p:nvSpPr>
        <p:spPr>
          <a:xfrm>
            <a:off x="1783080" y="5047488"/>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206,639</a:t>
            </a:r>
          </a:p>
        </p:txBody>
      </p:sp>
      <p:sp>
        <p:nvSpPr>
          <p:cNvPr id="42" name="TextBox 41"/>
          <p:cNvSpPr txBox="1"/>
          <p:nvPr/>
        </p:nvSpPr>
        <p:spPr>
          <a:xfrm>
            <a:off x="3474720" y="5047488"/>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4,336</a:t>
            </a:r>
          </a:p>
        </p:txBody>
      </p:sp>
      <p:sp>
        <p:nvSpPr>
          <p:cNvPr id="43" name="TextBox 42"/>
          <p:cNvSpPr txBox="1"/>
          <p:nvPr/>
        </p:nvSpPr>
        <p:spPr>
          <a:xfrm>
            <a:off x="960120" y="5285232"/>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2008</a:t>
            </a:r>
          </a:p>
        </p:txBody>
      </p:sp>
      <p:sp>
        <p:nvSpPr>
          <p:cNvPr id="44" name="TextBox 43"/>
          <p:cNvSpPr txBox="1"/>
          <p:nvPr/>
        </p:nvSpPr>
        <p:spPr>
          <a:xfrm>
            <a:off x="1783080" y="5285232"/>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206,404</a:t>
            </a:r>
          </a:p>
        </p:txBody>
      </p:sp>
      <p:sp>
        <p:nvSpPr>
          <p:cNvPr id="45" name="TextBox 44"/>
          <p:cNvSpPr txBox="1"/>
          <p:nvPr/>
        </p:nvSpPr>
        <p:spPr>
          <a:xfrm>
            <a:off x="3474720" y="5285232"/>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4,357</a:t>
            </a:r>
          </a:p>
        </p:txBody>
      </p:sp>
      <p:sp>
        <p:nvSpPr>
          <p:cNvPr id="46" name="TextBox 45"/>
          <p:cNvSpPr txBox="1"/>
          <p:nvPr/>
        </p:nvSpPr>
        <p:spPr>
          <a:xfrm>
            <a:off x="960120" y="5522976"/>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2009</a:t>
            </a:r>
          </a:p>
        </p:txBody>
      </p:sp>
      <p:sp>
        <p:nvSpPr>
          <p:cNvPr id="47" name="TextBox 46"/>
          <p:cNvSpPr txBox="1"/>
          <p:nvPr/>
        </p:nvSpPr>
        <p:spPr>
          <a:xfrm>
            <a:off x="1783080" y="5522976"/>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207,921</a:t>
            </a:r>
          </a:p>
        </p:txBody>
      </p:sp>
      <p:sp>
        <p:nvSpPr>
          <p:cNvPr id="48" name="TextBox 47"/>
          <p:cNvSpPr txBox="1"/>
          <p:nvPr/>
        </p:nvSpPr>
        <p:spPr>
          <a:xfrm>
            <a:off x="3474720" y="5522976"/>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4,448</a:t>
            </a:r>
          </a:p>
        </p:txBody>
      </p:sp>
      <p:sp>
        <p:nvSpPr>
          <p:cNvPr id="49" name="TextBox 48"/>
          <p:cNvSpPr txBox="1"/>
          <p:nvPr/>
        </p:nvSpPr>
        <p:spPr>
          <a:xfrm>
            <a:off x="960120" y="5760720"/>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2010</a:t>
            </a:r>
          </a:p>
        </p:txBody>
      </p:sp>
      <p:sp>
        <p:nvSpPr>
          <p:cNvPr id="50" name="TextBox 49"/>
          <p:cNvSpPr txBox="1"/>
          <p:nvPr/>
        </p:nvSpPr>
        <p:spPr>
          <a:xfrm>
            <a:off x="1783080" y="5760720"/>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209,802</a:t>
            </a:r>
          </a:p>
        </p:txBody>
      </p:sp>
      <p:sp>
        <p:nvSpPr>
          <p:cNvPr id="51" name="TextBox 50"/>
          <p:cNvSpPr txBox="1"/>
          <p:nvPr/>
        </p:nvSpPr>
        <p:spPr>
          <a:xfrm>
            <a:off x="3474720" y="5760720"/>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4,357</a:t>
            </a:r>
          </a:p>
        </p:txBody>
      </p:sp>
      <p:sp>
        <p:nvSpPr>
          <p:cNvPr id="52" name="TextBox 51"/>
          <p:cNvSpPr txBox="1"/>
          <p:nvPr/>
        </p:nvSpPr>
        <p:spPr>
          <a:xfrm>
            <a:off x="960120" y="5998464"/>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2011</a:t>
            </a:r>
          </a:p>
        </p:txBody>
      </p:sp>
      <p:sp>
        <p:nvSpPr>
          <p:cNvPr id="53" name="TextBox 52"/>
          <p:cNvSpPr txBox="1"/>
          <p:nvPr/>
        </p:nvSpPr>
        <p:spPr>
          <a:xfrm>
            <a:off x="1783080" y="5998464"/>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204,983</a:t>
            </a:r>
          </a:p>
        </p:txBody>
      </p:sp>
      <p:sp>
        <p:nvSpPr>
          <p:cNvPr id="54" name="TextBox 53"/>
          <p:cNvSpPr txBox="1"/>
          <p:nvPr/>
        </p:nvSpPr>
        <p:spPr>
          <a:xfrm>
            <a:off x="3474720" y="5998464"/>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4,301</a:t>
            </a:r>
          </a:p>
        </p:txBody>
      </p:sp>
      <p:sp>
        <p:nvSpPr>
          <p:cNvPr id="55" name="TextBox 54"/>
          <p:cNvSpPr txBox="1"/>
          <p:nvPr/>
        </p:nvSpPr>
        <p:spPr>
          <a:xfrm>
            <a:off x="6400800" y="2907792"/>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2012</a:t>
            </a:r>
          </a:p>
        </p:txBody>
      </p:sp>
      <p:sp>
        <p:nvSpPr>
          <p:cNvPr id="56" name="TextBox 55"/>
          <p:cNvSpPr txBox="1"/>
          <p:nvPr/>
        </p:nvSpPr>
        <p:spPr>
          <a:xfrm>
            <a:off x="7223760" y="2907792"/>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201,398</a:t>
            </a:r>
          </a:p>
        </p:txBody>
      </p:sp>
      <p:sp>
        <p:nvSpPr>
          <p:cNvPr id="57" name="TextBox 56"/>
          <p:cNvSpPr txBox="1"/>
          <p:nvPr/>
        </p:nvSpPr>
        <p:spPr>
          <a:xfrm>
            <a:off x="8915400" y="2907792"/>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4,184</a:t>
            </a:r>
          </a:p>
        </p:txBody>
      </p:sp>
      <p:sp>
        <p:nvSpPr>
          <p:cNvPr id="58" name="TextBox 57"/>
          <p:cNvSpPr txBox="1"/>
          <p:nvPr/>
        </p:nvSpPr>
        <p:spPr>
          <a:xfrm>
            <a:off x="6400800" y="3145536"/>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2013</a:t>
            </a:r>
          </a:p>
        </p:txBody>
      </p:sp>
      <p:sp>
        <p:nvSpPr>
          <p:cNvPr id="59" name="TextBox 58"/>
          <p:cNvSpPr txBox="1"/>
          <p:nvPr/>
        </p:nvSpPr>
        <p:spPr>
          <a:xfrm>
            <a:off x="7223760" y="3145536"/>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202,634</a:t>
            </a:r>
          </a:p>
        </p:txBody>
      </p:sp>
      <p:sp>
        <p:nvSpPr>
          <p:cNvPr id="60" name="TextBox 59"/>
          <p:cNvSpPr txBox="1"/>
          <p:nvPr/>
        </p:nvSpPr>
        <p:spPr>
          <a:xfrm>
            <a:off x="8915400" y="3145536"/>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4,192</a:t>
            </a:r>
          </a:p>
        </p:txBody>
      </p:sp>
      <p:sp>
        <p:nvSpPr>
          <p:cNvPr id="61" name="TextBox 60"/>
          <p:cNvSpPr txBox="1"/>
          <p:nvPr/>
        </p:nvSpPr>
        <p:spPr>
          <a:xfrm>
            <a:off x="6400800" y="3383280"/>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2014</a:t>
            </a:r>
          </a:p>
        </p:txBody>
      </p:sp>
      <p:sp>
        <p:nvSpPr>
          <p:cNvPr id="62" name="TextBox 61"/>
          <p:cNvSpPr txBox="1"/>
          <p:nvPr/>
        </p:nvSpPr>
        <p:spPr>
          <a:xfrm>
            <a:off x="7223760" y="3383280"/>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139,415</a:t>
            </a:r>
          </a:p>
        </p:txBody>
      </p:sp>
      <p:sp>
        <p:nvSpPr>
          <p:cNvPr id="63" name="TextBox 62"/>
          <p:cNvSpPr txBox="1"/>
          <p:nvPr/>
        </p:nvSpPr>
        <p:spPr>
          <a:xfrm>
            <a:off x="8915400" y="3383280"/>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2,896</a:t>
            </a:r>
          </a:p>
        </p:txBody>
      </p:sp>
      <p:sp>
        <p:nvSpPr>
          <p:cNvPr id="64" name="TextBox 63"/>
          <p:cNvSpPr txBox="1"/>
          <p:nvPr/>
        </p:nvSpPr>
        <p:spPr>
          <a:xfrm>
            <a:off x="6400800" y="3621024"/>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2015</a:t>
            </a:r>
          </a:p>
        </p:txBody>
      </p:sp>
      <p:sp>
        <p:nvSpPr>
          <p:cNvPr id="65" name="TextBox 64"/>
          <p:cNvSpPr txBox="1"/>
          <p:nvPr/>
        </p:nvSpPr>
        <p:spPr>
          <a:xfrm>
            <a:off x="7223760" y="3621024"/>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199,024</a:t>
            </a:r>
          </a:p>
        </p:txBody>
      </p:sp>
      <p:sp>
        <p:nvSpPr>
          <p:cNvPr id="66" name="TextBox 65"/>
          <p:cNvSpPr txBox="1"/>
          <p:nvPr/>
        </p:nvSpPr>
        <p:spPr>
          <a:xfrm>
            <a:off x="8915400" y="3621024"/>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4,333</a:t>
            </a:r>
          </a:p>
        </p:txBody>
      </p:sp>
      <p:sp>
        <p:nvSpPr>
          <p:cNvPr id="67" name="TextBox 66"/>
          <p:cNvSpPr txBox="1"/>
          <p:nvPr/>
        </p:nvSpPr>
        <p:spPr>
          <a:xfrm>
            <a:off x="6400800" y="3858768"/>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2016</a:t>
            </a:r>
          </a:p>
        </p:txBody>
      </p:sp>
      <p:sp>
        <p:nvSpPr>
          <p:cNvPr id="68" name="TextBox 67"/>
          <p:cNvSpPr txBox="1"/>
          <p:nvPr/>
        </p:nvSpPr>
        <p:spPr>
          <a:xfrm>
            <a:off x="7223760" y="3858768"/>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185,487</a:t>
            </a:r>
          </a:p>
        </p:txBody>
      </p:sp>
      <p:sp>
        <p:nvSpPr>
          <p:cNvPr id="69" name="TextBox 68"/>
          <p:cNvSpPr txBox="1"/>
          <p:nvPr/>
        </p:nvSpPr>
        <p:spPr>
          <a:xfrm>
            <a:off x="8915400" y="3858768"/>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3,972</a:t>
            </a:r>
          </a:p>
        </p:txBody>
      </p:sp>
      <p:sp>
        <p:nvSpPr>
          <p:cNvPr id="70" name="TextBox 69"/>
          <p:cNvSpPr txBox="1"/>
          <p:nvPr/>
        </p:nvSpPr>
        <p:spPr>
          <a:xfrm>
            <a:off x="6400800" y="4096512"/>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2017</a:t>
            </a:r>
          </a:p>
        </p:txBody>
      </p:sp>
      <p:sp>
        <p:nvSpPr>
          <p:cNvPr id="71" name="TextBox 70"/>
          <p:cNvSpPr txBox="1"/>
          <p:nvPr/>
        </p:nvSpPr>
        <p:spPr>
          <a:xfrm>
            <a:off x="7223760" y="4096512"/>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185,914</a:t>
            </a:r>
          </a:p>
        </p:txBody>
      </p:sp>
      <p:sp>
        <p:nvSpPr>
          <p:cNvPr id="72" name="TextBox 71"/>
          <p:cNvSpPr txBox="1"/>
          <p:nvPr/>
        </p:nvSpPr>
        <p:spPr>
          <a:xfrm>
            <a:off x="8915400" y="4096512"/>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4,045</a:t>
            </a:r>
          </a:p>
        </p:txBody>
      </p:sp>
      <p:sp>
        <p:nvSpPr>
          <p:cNvPr id="73" name="TextBox 72"/>
          <p:cNvSpPr txBox="1"/>
          <p:nvPr/>
        </p:nvSpPr>
        <p:spPr>
          <a:xfrm>
            <a:off x="6400800" y="4334256"/>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2018</a:t>
            </a:r>
          </a:p>
        </p:txBody>
      </p:sp>
      <p:sp>
        <p:nvSpPr>
          <p:cNvPr id="74" name="TextBox 73"/>
          <p:cNvSpPr txBox="1"/>
          <p:nvPr/>
        </p:nvSpPr>
        <p:spPr>
          <a:xfrm>
            <a:off x="7223760" y="4334256"/>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180,084</a:t>
            </a:r>
          </a:p>
        </p:txBody>
      </p:sp>
      <p:sp>
        <p:nvSpPr>
          <p:cNvPr id="75" name="TextBox 74"/>
          <p:cNvSpPr txBox="1"/>
          <p:nvPr/>
        </p:nvSpPr>
        <p:spPr>
          <a:xfrm>
            <a:off x="8915400" y="4334256"/>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4,053</a:t>
            </a:r>
          </a:p>
        </p:txBody>
      </p:sp>
      <p:sp>
        <p:nvSpPr>
          <p:cNvPr id="76" name="TextBox 75"/>
          <p:cNvSpPr txBox="1"/>
          <p:nvPr/>
        </p:nvSpPr>
        <p:spPr>
          <a:xfrm>
            <a:off x="6400800" y="4572000"/>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2019</a:t>
            </a:r>
          </a:p>
        </p:txBody>
      </p:sp>
      <p:sp>
        <p:nvSpPr>
          <p:cNvPr id="77" name="TextBox 76"/>
          <p:cNvSpPr txBox="1"/>
          <p:nvPr/>
        </p:nvSpPr>
        <p:spPr>
          <a:xfrm>
            <a:off x="7223760" y="4572000"/>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180,101</a:t>
            </a:r>
          </a:p>
        </p:txBody>
      </p:sp>
      <p:sp>
        <p:nvSpPr>
          <p:cNvPr id="78" name="TextBox 77"/>
          <p:cNvSpPr txBox="1"/>
          <p:nvPr/>
        </p:nvSpPr>
        <p:spPr>
          <a:xfrm>
            <a:off x="8915400" y="4572000"/>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3,986</a:t>
            </a:r>
          </a:p>
        </p:txBody>
      </p:sp>
      <p:sp>
        <p:nvSpPr>
          <p:cNvPr id="79" name="TextBox 78"/>
          <p:cNvSpPr txBox="1"/>
          <p:nvPr/>
        </p:nvSpPr>
        <p:spPr>
          <a:xfrm>
            <a:off x="6400800" y="4809744"/>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2020</a:t>
            </a:r>
          </a:p>
        </p:txBody>
      </p:sp>
      <p:sp>
        <p:nvSpPr>
          <p:cNvPr id="80" name="TextBox 79"/>
          <p:cNvSpPr txBox="1"/>
          <p:nvPr/>
        </p:nvSpPr>
        <p:spPr>
          <a:xfrm>
            <a:off x="7223760" y="4809744"/>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157,959</a:t>
            </a:r>
          </a:p>
        </p:txBody>
      </p:sp>
      <p:sp>
        <p:nvSpPr>
          <p:cNvPr id="81" name="TextBox 80"/>
          <p:cNvSpPr txBox="1"/>
          <p:nvPr/>
        </p:nvSpPr>
        <p:spPr>
          <a:xfrm>
            <a:off x="8915400" y="4809744"/>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3,321</a:t>
            </a:r>
          </a:p>
        </p:txBody>
      </p:sp>
      <p:sp>
        <p:nvSpPr>
          <p:cNvPr id="82" name="TextBox 81"/>
          <p:cNvSpPr txBox="1"/>
          <p:nvPr/>
        </p:nvSpPr>
        <p:spPr>
          <a:xfrm>
            <a:off x="6400800" y="5047488"/>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2021</a:t>
            </a:r>
          </a:p>
        </p:txBody>
      </p:sp>
      <p:sp>
        <p:nvSpPr>
          <p:cNvPr id="83" name="TextBox 82"/>
          <p:cNvSpPr txBox="1"/>
          <p:nvPr/>
        </p:nvSpPr>
        <p:spPr>
          <a:xfrm>
            <a:off x="7223760" y="5047488"/>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163,543</a:t>
            </a:r>
          </a:p>
        </p:txBody>
      </p:sp>
      <p:sp>
        <p:nvSpPr>
          <p:cNvPr id="84" name="TextBox 83"/>
          <p:cNvSpPr txBox="1"/>
          <p:nvPr/>
        </p:nvSpPr>
        <p:spPr>
          <a:xfrm>
            <a:off x="8915400" y="5047488"/>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3,232</a:t>
            </a:r>
          </a:p>
        </p:txBody>
      </p:sp>
      <p:sp>
        <p:nvSpPr>
          <p:cNvPr id="85" name="TextBox 84"/>
          <p:cNvSpPr txBox="1"/>
          <p:nvPr/>
        </p:nvSpPr>
        <p:spPr>
          <a:xfrm>
            <a:off x="6400800" y="5285232"/>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2022</a:t>
            </a:r>
          </a:p>
        </p:txBody>
      </p:sp>
      <p:sp>
        <p:nvSpPr>
          <p:cNvPr id="86" name="TextBox 85"/>
          <p:cNvSpPr txBox="1"/>
          <p:nvPr/>
        </p:nvSpPr>
        <p:spPr>
          <a:xfrm>
            <a:off x="7223760" y="5285232"/>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152,732</a:t>
            </a:r>
          </a:p>
        </p:txBody>
      </p:sp>
      <p:sp>
        <p:nvSpPr>
          <p:cNvPr id="87" name="TextBox 86"/>
          <p:cNvSpPr txBox="1"/>
          <p:nvPr/>
        </p:nvSpPr>
        <p:spPr>
          <a:xfrm>
            <a:off x="8915400" y="5285232"/>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3,040</a:t>
            </a:r>
          </a:p>
        </p:txBody>
      </p:sp>
      <p:sp>
        <p:nvSpPr>
          <p:cNvPr id="88" name="TextBox 87"/>
          <p:cNvSpPr txBox="1"/>
          <p:nvPr/>
        </p:nvSpPr>
        <p:spPr>
          <a:xfrm>
            <a:off x="6400800" y="5522976"/>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2023</a:t>
            </a:r>
          </a:p>
        </p:txBody>
      </p:sp>
      <p:sp>
        <p:nvSpPr>
          <p:cNvPr id="89" name="TextBox 88"/>
          <p:cNvSpPr txBox="1"/>
          <p:nvPr/>
        </p:nvSpPr>
        <p:spPr>
          <a:xfrm>
            <a:off x="7223760" y="5522976"/>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146,133</a:t>
            </a:r>
          </a:p>
        </p:txBody>
      </p:sp>
      <p:sp>
        <p:nvSpPr>
          <p:cNvPr id="90" name="TextBox 89"/>
          <p:cNvSpPr txBox="1"/>
          <p:nvPr/>
        </p:nvSpPr>
        <p:spPr>
          <a:xfrm>
            <a:off x="8915400" y="5522976"/>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3,141</a:t>
            </a:r>
          </a:p>
        </p:txBody>
      </p:sp>
      <p:sp>
        <p:nvSpPr>
          <p:cNvPr id="91" name="TextBox 90"/>
          <p:cNvSpPr txBox="1"/>
          <p:nvPr/>
        </p:nvSpPr>
        <p:spPr>
          <a:xfrm>
            <a:off x="6400800" y="5760720"/>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2024</a:t>
            </a:r>
          </a:p>
        </p:txBody>
      </p:sp>
      <p:sp>
        <p:nvSpPr>
          <p:cNvPr id="92" name="TextBox 91"/>
          <p:cNvSpPr txBox="1"/>
          <p:nvPr/>
        </p:nvSpPr>
        <p:spPr>
          <a:xfrm>
            <a:off x="7223760" y="5760720"/>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144,265</a:t>
            </a:r>
          </a:p>
        </p:txBody>
      </p:sp>
      <p:sp>
        <p:nvSpPr>
          <p:cNvPr id="93" name="TextBox 92"/>
          <p:cNvSpPr txBox="1"/>
          <p:nvPr/>
        </p:nvSpPr>
        <p:spPr>
          <a:xfrm>
            <a:off x="8915400" y="5760720"/>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3,006</a:t>
            </a:r>
          </a:p>
        </p:txBody>
      </p:sp>
      <p:sp>
        <p:nvSpPr>
          <p:cNvPr id="94" name="TextBox 93"/>
          <p:cNvSpPr txBox="1"/>
          <p:nvPr/>
        </p:nvSpPr>
        <p:spPr>
          <a:xfrm>
            <a:off x="6400800" y="5998464"/>
            <a:ext cx="822960" cy="274320"/>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2025</a:t>
            </a:r>
          </a:p>
        </p:txBody>
      </p:sp>
      <p:sp>
        <p:nvSpPr>
          <p:cNvPr id="95" name="TextBox 94"/>
          <p:cNvSpPr txBox="1"/>
          <p:nvPr/>
        </p:nvSpPr>
        <p:spPr>
          <a:xfrm>
            <a:off x="7223760" y="5998464"/>
            <a:ext cx="160020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142,125</a:t>
            </a:r>
          </a:p>
        </p:txBody>
      </p:sp>
      <p:sp>
        <p:nvSpPr>
          <p:cNvPr id="96" name="TextBox 95"/>
          <p:cNvSpPr txBox="1"/>
          <p:nvPr/>
        </p:nvSpPr>
        <p:spPr>
          <a:xfrm>
            <a:off x="8915400" y="5998464"/>
            <a:ext cx="1463040" cy="274320"/>
          </a:xfrm>
          <a:prstGeom prst="rect">
            <a:avLst/>
          </a:prstGeom>
          <a:noFill/>
        </p:spPr>
        <p:txBody>
          <a:bodyPr wrap="square" lIns="0" rIns="0" tIns="0" bIns="0">
            <a:spAutoFit/>
          </a:bodyPr>
          <a:lstStyle/>
          <a:p>
            <a:pPr algn="r">
              <a:lnSpc>
                <a:spcPts val="1725"/>
              </a:lnSpc>
              <a:spcAft>
                <a:spcPts val="0"/>
              </a:spcAft>
            </a:pPr>
            <a:r>
              <a:rPr sz="1150" b="0" i="0">
                <a:solidFill>
                  <a:srgbClr val="1A2430"/>
                </a:solidFill>
                <a:latin typeface="Garamond"/>
              </a:rPr>
              <a:t>2,918</a:t>
            </a:r>
          </a:p>
        </p:txBody>
      </p:sp>
      <p:cxnSp>
        <p:nvCxnSpPr>
          <p:cNvPr id="97" name="Connector 96"/>
          <p:cNvCxnSpPr/>
          <p:nvPr/>
        </p:nvCxnSpPr>
        <p:spPr>
          <a:xfrm>
            <a:off x="822960" y="6254496"/>
            <a:ext cx="10543032" cy="0"/>
          </a:xfrm>
          <a:prstGeom prst="line">
            <a:avLst/>
          </a:prstGeom>
          <a:ln w="10160">
            <a:solidFill>
              <a:srgbClr val="1A2430"/>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960120" y="6327648"/>
            <a:ext cx="4114800" cy="27432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All supplements, 1998–2025</a:t>
            </a:r>
          </a:p>
        </p:txBody>
      </p:sp>
      <p:sp>
        <p:nvSpPr>
          <p:cNvPr id="99" name="TextBox 98"/>
          <p:cNvSpPr txBox="1"/>
          <p:nvPr/>
        </p:nvSpPr>
        <p:spPr>
          <a:xfrm>
            <a:off x="6400800" y="6327648"/>
            <a:ext cx="822960" cy="27432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
            </a:r>
          </a:p>
        </p:txBody>
      </p:sp>
      <p:sp>
        <p:nvSpPr>
          <p:cNvPr id="100" name="TextBox 99"/>
          <p:cNvSpPr txBox="1"/>
          <p:nvPr/>
        </p:nvSpPr>
        <p:spPr>
          <a:xfrm>
            <a:off x="7223760" y="6327648"/>
            <a:ext cx="1600200" cy="274320"/>
          </a:xfrm>
          <a:prstGeom prst="rect">
            <a:avLst/>
          </a:prstGeom>
          <a:noFill/>
        </p:spPr>
        <p:txBody>
          <a:bodyPr wrap="square" lIns="0" rIns="0" tIns="0" bIns="0">
            <a:spAutoFit/>
          </a:bodyPr>
          <a:lstStyle/>
          <a:p>
            <a:pPr algn="r">
              <a:lnSpc>
                <a:spcPts val="1800"/>
              </a:lnSpc>
              <a:spcAft>
                <a:spcPts val="0"/>
              </a:spcAft>
            </a:pPr>
            <a:r>
              <a:rPr sz="1200" b="1" i="0">
                <a:solidFill>
                  <a:srgbClr val="1A2430"/>
                </a:solidFill>
                <a:latin typeface="Garamond"/>
              </a:rPr>
              <a:t>5,009,129</a:t>
            </a:r>
          </a:p>
        </p:txBody>
      </p:sp>
      <p:sp>
        <p:nvSpPr>
          <p:cNvPr id="101" name="TextBox 100"/>
          <p:cNvSpPr txBox="1"/>
          <p:nvPr/>
        </p:nvSpPr>
        <p:spPr>
          <a:xfrm>
            <a:off x="8915400" y="6327648"/>
            <a:ext cx="1463040" cy="274320"/>
          </a:xfrm>
          <a:prstGeom prst="rect">
            <a:avLst/>
          </a:prstGeom>
          <a:noFill/>
        </p:spPr>
        <p:txBody>
          <a:bodyPr wrap="square" lIns="0" rIns="0" tIns="0" bIns="0">
            <a:spAutoFit/>
          </a:bodyPr>
          <a:lstStyle/>
          <a:p>
            <a:pPr algn="r">
              <a:lnSpc>
                <a:spcPts val="1800"/>
              </a:lnSpc>
              <a:spcAft>
                <a:spcPts val="0"/>
              </a:spcAft>
            </a:pPr>
            <a:r>
              <a:rPr sz="1200" b="1" i="0">
                <a:solidFill>
                  <a:srgbClr val="1A2430"/>
                </a:solidFill>
                <a:latin typeface="Garamond"/>
              </a:rPr>
              <a:t>104,545</a:t>
            </a:r>
          </a:p>
        </p:txBody>
      </p:sp>
      <p:cxnSp>
        <p:nvCxnSpPr>
          <p:cNvPr id="102" name="Connector 101"/>
          <p:cNvCxnSpPr/>
          <p:nvPr/>
        </p:nvCxnSpPr>
        <p:spPr>
          <a:xfrm>
            <a:off x="822960" y="6638544"/>
            <a:ext cx="10543032" cy="0"/>
          </a:xfrm>
          <a:prstGeom prst="line">
            <a:avLst/>
          </a:prstGeom>
          <a:ln w="2032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The March supplement</a:t>
            </a:r>
          </a:p>
        </p:txBody>
      </p:sp>
      <p:sp>
        <p:nvSpPr>
          <p:cNvPr id="4" name="TextBox 3"/>
          <p:cNvSpPr txBox="1"/>
          <p:nvPr/>
        </p:nvSpPr>
        <p:spPr>
          <a:xfrm>
            <a:off x="777240" y="1691640"/>
            <a:ext cx="10698480" cy="4572000"/>
          </a:xfrm>
          <a:prstGeom prst="rect">
            <a:avLst/>
          </a:prstGeom>
          <a:noFill/>
        </p:spPr>
        <p:txBody>
          <a:bodyPr wrap="square" lIns="0" rIns="0" tIns="0" bIns="0">
            <a:spAutoFit/>
          </a:bodyPr>
          <a:lstStyle/>
          <a:p>
            <a:pPr algn="just">
              <a:lnSpc>
                <a:spcPts val="2550"/>
              </a:lnSpc>
              <a:spcAft>
                <a:spcPts val="1600"/>
              </a:spcAft>
            </a:pPr>
            <a:r>
              <a:rPr sz="1700" b="0" i="0">
                <a:solidFill>
                  <a:srgbClr val="1A2430"/>
                </a:solidFill>
                <a:latin typeface="Garamond"/>
              </a:rPr>
              <a:t>The basic monthly interview measures current activity only. Most months add a supplement on a rotating topic.</a:t>
            </a:r>
          </a:p>
          <a:p>
            <a:pPr algn="just">
              <a:lnSpc>
                <a:spcPts val="2550"/>
              </a:lnSpc>
              <a:spcAft>
                <a:spcPts val="1600"/>
              </a:spcAft>
            </a:pPr>
            <a:r>
              <a:rPr sz="1700" b="0" i="0">
                <a:solidFill>
                  <a:srgbClr val="1A2430"/>
                </a:solidFill>
                <a:latin typeface="Garamond"/>
              </a:rPr>
              <a:t>The March supplement expands the sample to roughly 90,000 households and asks every adult about the entire previous calendar year: longest job held, weeks worked, earnings.</a:t>
            </a:r>
          </a:p>
          <a:p>
            <a:pPr algn="just">
              <a:lnSpc>
                <a:spcPts val="2550"/>
              </a:lnSpc>
              <a:spcAft>
                <a:spcPts val="1600"/>
              </a:spcAft>
            </a:pPr>
            <a:r>
              <a:rPr sz="1700" b="0" i="0">
                <a:solidFill>
                  <a:srgbClr val="1A2430"/>
                </a:solidFill>
                <a:latin typeface="Garamond"/>
              </a:rPr>
              <a:t>I pool every March supplement from 1998 to 2025: five million records, 104,545 of them teachers.</a:t>
            </a:r>
          </a:p>
          <a:p>
            <a:pPr algn="just">
              <a:lnSpc>
                <a:spcPts val="2550"/>
              </a:lnSpc>
              <a:spcAft>
                <a:spcPts val="0"/>
              </a:spcAft>
            </a:pPr>
            <a:r>
              <a:rPr sz="1700" b="0" i="0">
                <a:solidFill>
                  <a:srgbClr val="1A2430"/>
                </a:solidFill>
                <a:latin typeface="Garamond"/>
              </a:rPr>
              <a:t>Whoever taught as last year’s longest job, and no longer teaches at the March interview, has left the profession within the year.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Linking individuals across waves</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CPS carries no individual identifier: records are linked on household identifiers and validated on demographics (Madrian and Lefgren, 1999).</a:t>
            </a:r>
          </a:p>
        </p:txBody>
      </p:sp>
      <p:cxnSp>
        <p:nvCxnSpPr>
          <p:cNvPr id="5" name="Connector 4"/>
          <p:cNvCxnSpPr/>
          <p:nvPr/>
        </p:nvCxnSpPr>
        <p:spPr>
          <a:xfrm>
            <a:off x="822960" y="278892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2971800"/>
            <a:ext cx="420624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Linkage keys (exact match)</a:t>
            </a:r>
          </a:p>
        </p:txBody>
      </p:sp>
      <p:sp>
        <p:nvSpPr>
          <p:cNvPr id="7" name="TextBox 6"/>
          <p:cNvSpPr txBox="1"/>
          <p:nvPr/>
        </p:nvSpPr>
        <p:spPr>
          <a:xfrm>
            <a:off x="6035040" y="2971800"/>
            <a:ext cx="493776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Validation</a:t>
            </a:r>
          </a:p>
        </p:txBody>
      </p:sp>
      <p:sp>
        <p:nvSpPr>
          <p:cNvPr id="8" name="TextBox 7"/>
          <p:cNvSpPr txBox="1"/>
          <p:nvPr/>
        </p:nvSpPr>
        <p:spPr>
          <a:xfrm>
            <a:off x="1005840" y="3456432"/>
            <a:ext cx="420624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Household identifier</a:t>
            </a:r>
          </a:p>
          <a:p>
            <a:pPr algn="l">
              <a:lnSpc>
                <a:spcPts val="1950"/>
              </a:lnSpc>
              <a:spcAft>
                <a:spcPts val="800"/>
              </a:spcAft>
            </a:pPr>
            <a:r>
              <a:rPr sz="1300" b="0" i="0">
                <a:solidFill>
                  <a:srgbClr val="1A2430"/>
                </a:solidFill>
                <a:latin typeface="Garamond"/>
              </a:rPr>
              <a:t>Dwelling identifier</a:t>
            </a:r>
          </a:p>
          <a:p>
            <a:pPr algn="l">
              <a:lnSpc>
                <a:spcPts val="1950"/>
              </a:lnSpc>
              <a:spcAft>
                <a:spcPts val="0"/>
              </a:spcAft>
            </a:pPr>
            <a:r>
              <a:rPr sz="1300" b="0" i="0">
                <a:solidFill>
                  <a:srgbClr val="1A2430"/>
                </a:solidFill>
                <a:latin typeface="Garamond"/>
              </a:rPr>
              <a:t>Person line number</a:t>
            </a:r>
          </a:p>
        </p:txBody>
      </p:sp>
      <p:sp>
        <p:nvSpPr>
          <p:cNvPr id="9" name="TextBox 8"/>
          <p:cNvSpPr txBox="1"/>
          <p:nvPr/>
        </p:nvSpPr>
        <p:spPr>
          <a:xfrm>
            <a:off x="6035040" y="3456432"/>
            <a:ext cx="493776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Sex, identical</a:t>
            </a:r>
          </a:p>
          <a:p>
            <a:pPr algn="l">
              <a:lnSpc>
                <a:spcPts val="1950"/>
              </a:lnSpc>
              <a:spcAft>
                <a:spcPts val="800"/>
              </a:spcAft>
            </a:pPr>
            <a:r>
              <a:rPr sz="1300" b="0" i="0">
                <a:solidFill>
                  <a:srgbClr val="1A2430"/>
                </a:solidFill>
                <a:latin typeface="Garamond"/>
              </a:rPr>
              <a:t>Race, identical</a:t>
            </a:r>
          </a:p>
          <a:p>
            <a:pPr algn="l">
              <a:lnSpc>
                <a:spcPts val="1950"/>
              </a:lnSpc>
              <a:spcAft>
                <a:spcPts val="0"/>
              </a:spcAft>
            </a:pPr>
            <a:r>
              <a:rPr sz="1300" b="0" i="0">
                <a:solidFill>
                  <a:srgbClr val="1A2430"/>
                </a:solidFill>
                <a:latin typeface="Garamond"/>
              </a:rPr>
              <a:t>Age, increasing by zero to two years</a:t>
            </a:r>
          </a:p>
        </p:txBody>
      </p:sp>
      <p:cxnSp>
        <p:nvCxnSpPr>
          <p:cNvPr id="10" name="Connector 9"/>
          <p:cNvCxnSpPr/>
          <p:nvPr/>
        </p:nvCxnSpPr>
        <p:spPr>
          <a:xfrm>
            <a:off x="822960" y="5029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5303520"/>
            <a:ext cx="10698480" cy="548640"/>
          </a:xfrm>
          <a:prstGeom prst="rect">
            <a:avLst/>
          </a:prstGeom>
          <a:noFill/>
        </p:spPr>
        <p:txBody>
          <a:bodyPr wrap="square" lIns="0" rIns="0" tIns="0" bIns="0">
            <a:spAutoFit/>
          </a:bodyPr>
          <a:lstStyle/>
          <a:p>
            <a:pPr algn="just">
              <a:lnSpc>
                <a:spcPts val="2025"/>
              </a:lnSpc>
              <a:spcAft>
                <a:spcPts val="0"/>
              </a:spcAft>
            </a:pPr>
            <a:r>
              <a:rPr sz="1350" b="0" i="0">
                <a:solidFill>
                  <a:srgbClr val="1A2430"/>
                </a:solidFill>
                <a:latin typeface="Garamond"/>
              </a:rPr>
              <a:t>Validated links: 78 percent of teacher observations.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How the CPS follows a household</a:t>
            </a:r>
          </a:p>
        </p:txBody>
      </p:sp>
      <p:sp>
        <p:nvSpPr>
          <p:cNvPr id="4" name="TextBox 3"/>
          <p:cNvSpPr txBox="1"/>
          <p:nvPr/>
        </p:nvSpPr>
        <p:spPr>
          <a:xfrm>
            <a:off x="777240" y="1691640"/>
            <a:ext cx="10698480" cy="100584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Households enter the survey on a fixed rotation: interviewed in four consecutive months, out for eight, back for four more. Eight interviews over sixteen months.</a:t>
            </a:r>
          </a:p>
        </p:txBody>
      </p:sp>
      <p:sp>
        <p:nvSpPr>
          <p:cNvPr id="5" name="TextBox 4"/>
          <p:cNvSpPr txBox="1"/>
          <p:nvPr/>
        </p:nvSpPr>
        <p:spPr>
          <a:xfrm>
            <a:off x="822960" y="3017520"/>
            <a:ext cx="3200400" cy="320040"/>
          </a:xfrm>
          <a:prstGeom prst="rect">
            <a:avLst/>
          </a:prstGeom>
          <a:noFill/>
        </p:spPr>
        <p:txBody>
          <a:bodyPr wrap="square" lIns="0" rIns="0" tIns="0" bIns="0">
            <a:spAutoFit/>
          </a:bodyPr>
          <a:lstStyle/>
          <a:p>
            <a:pPr algn="l">
              <a:lnSpc>
                <a:spcPts val="2100"/>
              </a:lnSpc>
              <a:spcAft>
                <a:spcPts val="0"/>
              </a:spcAft>
            </a:pPr>
            <a:r>
              <a:rPr sz="1400" b="1" i="0">
                <a:solidFill>
                  <a:srgbClr val="1F3864"/>
                </a:solidFill>
                <a:latin typeface="Garamond"/>
              </a:rPr>
              <a:t>Year 1: interviews 1–4</a:t>
            </a:r>
          </a:p>
        </p:txBody>
      </p:sp>
      <p:sp>
        <p:nvSpPr>
          <p:cNvPr id="6" name="TextBox 5"/>
          <p:cNvSpPr txBox="1"/>
          <p:nvPr/>
        </p:nvSpPr>
        <p:spPr>
          <a:xfrm>
            <a:off x="4480560" y="3017520"/>
            <a:ext cx="3291840" cy="320040"/>
          </a:xfrm>
          <a:prstGeom prst="rect">
            <a:avLst/>
          </a:prstGeom>
          <a:noFill/>
        </p:spPr>
        <p:txBody>
          <a:bodyPr wrap="square" lIns="0" rIns="0" tIns="0" bIns="0">
            <a:spAutoFit/>
          </a:bodyPr>
          <a:lstStyle/>
          <a:p>
            <a:pPr algn="ctr">
              <a:lnSpc>
                <a:spcPts val="1950"/>
              </a:lnSpc>
              <a:spcAft>
                <a:spcPts val="0"/>
              </a:spcAft>
            </a:pPr>
            <a:r>
              <a:rPr sz="1300" b="0" i="1">
                <a:solidFill>
                  <a:srgbClr val="6B7480"/>
                </a:solidFill>
                <a:latin typeface="Garamond"/>
              </a:rPr>
              <a:t>8 months out of the sample</a:t>
            </a:r>
          </a:p>
        </p:txBody>
      </p:sp>
      <p:sp>
        <p:nvSpPr>
          <p:cNvPr id="7" name="TextBox 6"/>
          <p:cNvSpPr txBox="1"/>
          <p:nvPr/>
        </p:nvSpPr>
        <p:spPr>
          <a:xfrm>
            <a:off x="8229600" y="3017520"/>
            <a:ext cx="3200400" cy="320040"/>
          </a:xfrm>
          <a:prstGeom prst="rect">
            <a:avLst/>
          </a:prstGeom>
          <a:noFill/>
        </p:spPr>
        <p:txBody>
          <a:bodyPr wrap="square" lIns="0" rIns="0" tIns="0" bIns="0">
            <a:spAutoFit/>
          </a:bodyPr>
          <a:lstStyle/>
          <a:p>
            <a:pPr algn="r">
              <a:lnSpc>
                <a:spcPts val="2100"/>
              </a:lnSpc>
              <a:spcAft>
                <a:spcPts val="0"/>
              </a:spcAft>
            </a:pPr>
            <a:r>
              <a:rPr sz="1400" b="1" i="0">
                <a:solidFill>
                  <a:srgbClr val="7B2530"/>
                </a:solidFill>
                <a:latin typeface="Garamond"/>
              </a:rPr>
              <a:t>Year 2: interviews 5–8</a:t>
            </a:r>
          </a:p>
        </p:txBody>
      </p:sp>
      <p:sp>
        <p:nvSpPr>
          <p:cNvPr id="8" name="Rectangle 7"/>
          <p:cNvSpPr/>
          <p:nvPr/>
        </p:nvSpPr>
        <p:spPr>
          <a:xfrm>
            <a:off x="822960" y="3401568"/>
            <a:ext cx="658939"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a:t>
            </a:r>
          </a:p>
        </p:txBody>
      </p:sp>
      <p:sp>
        <p:nvSpPr>
          <p:cNvPr id="9" name="Rectangle 8"/>
          <p:cNvSpPr/>
          <p:nvPr/>
        </p:nvSpPr>
        <p:spPr>
          <a:xfrm>
            <a:off x="1481899" y="3401568"/>
            <a:ext cx="658939"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10" name="Rectangle 9"/>
          <p:cNvSpPr/>
          <p:nvPr/>
        </p:nvSpPr>
        <p:spPr>
          <a:xfrm>
            <a:off x="2140839" y="3401568"/>
            <a:ext cx="658939"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1" name="Rectangle 10"/>
          <p:cNvSpPr/>
          <p:nvPr/>
        </p:nvSpPr>
        <p:spPr>
          <a:xfrm>
            <a:off x="2799778" y="3401568"/>
            <a:ext cx="658939"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2" name="Rectangle 11"/>
          <p:cNvSpPr/>
          <p:nvPr/>
        </p:nvSpPr>
        <p:spPr>
          <a:xfrm>
            <a:off x="3458718" y="3401568"/>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3" name="Rectangle 12"/>
          <p:cNvSpPr/>
          <p:nvPr/>
        </p:nvSpPr>
        <p:spPr>
          <a:xfrm>
            <a:off x="4117657" y="3401568"/>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4" name="Rectangle 13"/>
          <p:cNvSpPr/>
          <p:nvPr/>
        </p:nvSpPr>
        <p:spPr>
          <a:xfrm>
            <a:off x="4776597" y="3401568"/>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5" name="Rectangle 14"/>
          <p:cNvSpPr/>
          <p:nvPr/>
        </p:nvSpPr>
        <p:spPr>
          <a:xfrm>
            <a:off x="5435536" y="3401568"/>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6" name="Rectangle 15"/>
          <p:cNvSpPr/>
          <p:nvPr/>
        </p:nvSpPr>
        <p:spPr>
          <a:xfrm>
            <a:off x="6094476" y="3401568"/>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7" name="Rectangle 16"/>
          <p:cNvSpPr/>
          <p:nvPr/>
        </p:nvSpPr>
        <p:spPr>
          <a:xfrm>
            <a:off x="6753415" y="3401568"/>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8" name="Rectangle 17"/>
          <p:cNvSpPr/>
          <p:nvPr/>
        </p:nvSpPr>
        <p:spPr>
          <a:xfrm>
            <a:off x="7412354" y="3401568"/>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9" name="Rectangle 18"/>
          <p:cNvSpPr/>
          <p:nvPr/>
        </p:nvSpPr>
        <p:spPr>
          <a:xfrm>
            <a:off x="8071294" y="3401568"/>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20" name="Rectangle 19"/>
          <p:cNvSpPr/>
          <p:nvPr/>
        </p:nvSpPr>
        <p:spPr>
          <a:xfrm>
            <a:off x="8730234" y="3401568"/>
            <a:ext cx="658939" cy="566928"/>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1" name="Rectangle 20"/>
          <p:cNvSpPr/>
          <p:nvPr/>
        </p:nvSpPr>
        <p:spPr>
          <a:xfrm>
            <a:off x="9389173" y="3401568"/>
            <a:ext cx="658939" cy="566928"/>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2" name="Rectangle 21"/>
          <p:cNvSpPr/>
          <p:nvPr/>
        </p:nvSpPr>
        <p:spPr>
          <a:xfrm>
            <a:off x="10048113" y="3401568"/>
            <a:ext cx="658939" cy="566928"/>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3" name="Rectangle 22"/>
          <p:cNvSpPr/>
          <p:nvPr/>
        </p:nvSpPr>
        <p:spPr>
          <a:xfrm>
            <a:off x="10707052" y="3401568"/>
            <a:ext cx="658939" cy="566928"/>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4" name="TextBox 23"/>
          <p:cNvSpPr txBox="1"/>
          <p:nvPr/>
        </p:nvSpPr>
        <p:spPr>
          <a:xfrm>
            <a:off x="777240" y="4480560"/>
            <a:ext cx="10698480" cy="109728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Interviews 1–4 and 5–8 fall exactly twelve months apart: whoever is observed in year 1 can be observed again one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1875"/>
              </a:lnSpc>
              <a:spcAft>
                <a:spcPts val="0"/>
              </a:spcAft>
            </a:pPr>
            <a:r>
              <a:rPr sz="1250" b="0" i="1">
                <a:solidFill>
                  <a:srgbClr val="6B7480"/>
                </a:solidFill>
                <a:latin typeface="Garamond"/>
              </a:rPr>
              <a:t>8 months out of the sample</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340864"/>
            <a:ext cx="45720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The panel measure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Panel measure</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2100"/>
              </a:lnSpc>
              <a:spcAft>
                <a:spcPts val="0"/>
              </a:spcAft>
            </a:pPr>
            <a:r>
              <a:rPr sz="1400" b="1" i="0">
                <a:solidFill>
                  <a:srgbClr val="1F3864"/>
                </a:solidFill>
                <a:latin typeface="Garamond"/>
              </a:rPr>
              <a:t>stayer</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3" name="TextBox 22"/>
          <p:cNvSpPr txBox="1"/>
          <p:nvPr/>
        </p:nvSpPr>
        <p:spPr>
          <a:xfrm>
            <a:off x="822960" y="2340864"/>
            <a:ext cx="45720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The panel measure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Panel measure</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2100"/>
              </a:lnSpc>
              <a:spcAft>
                <a:spcPts val="0"/>
              </a:spcAft>
            </a:pPr>
            <a:r>
              <a:rPr sz="1400" b="1" i="0">
                <a:solidFill>
                  <a:srgbClr val="7B2530"/>
                </a:solidFill>
                <a:latin typeface="Garamond"/>
              </a:rPr>
              <a:t>leaver</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340864"/>
            <a:ext cx="45720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The panel measure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Panel measure</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2100"/>
              </a:lnSpc>
              <a:spcAft>
                <a:spcPts val="0"/>
              </a:spcAft>
            </a:pPr>
            <a:r>
              <a:rPr sz="1400" b="1" i="0">
                <a:solidFill>
                  <a:srgbClr val="6B7480"/>
                </a:solidFill>
                <a:latin typeface="Garamond"/>
              </a:rPr>
              <a:t>not a teacher</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340864"/>
            <a:ext cx="45720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The panel measure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Panel measure</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All the series, one axis</a:t>
            </a:r>
          </a:p>
        </p:txBody>
      </p:sp>
      <p:pic>
        <p:nvPicPr>
          <p:cNvPr id="4" name="Picture 3" descr="v_allseries.png"/>
          <p:cNvPicPr>
            <a:picLocks noChangeAspect="1"/>
          </p:cNvPicPr>
          <p:nvPr/>
        </p:nvPicPr>
        <p:blipFill>
          <a:blip r:embed="rId2"/>
          <a:stretch>
            <a:fillRect/>
          </a:stretch>
        </p:blipFill>
        <p:spPr>
          <a:xfrm>
            <a:off x="594360" y="1481328"/>
            <a:ext cx="11018520" cy="5418944"/>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Where this could be done next</a:t>
            </a:r>
          </a:p>
        </p:txBody>
      </p:sp>
      <p:sp>
        <p:nvSpPr>
          <p:cNvPr id="4" name="TextBox 3"/>
          <p:cNvSpPr txBox="1"/>
          <p:nvPr/>
        </p:nvSpPr>
        <p:spPr>
          <a:xfrm>
            <a:off x="777240" y="1481328"/>
            <a:ext cx="10698480" cy="365760"/>
          </a:xfrm>
          <a:prstGeom prst="rect">
            <a:avLst/>
          </a:prstGeom>
          <a:noFill/>
        </p:spPr>
        <p:txBody>
          <a:bodyPr wrap="square" lIns="0" rIns="0" tIns="0" bIns="0">
            <a:spAutoFit/>
          </a:bodyPr>
          <a:lstStyle/>
          <a:p>
            <a:pPr algn="l">
              <a:lnSpc>
                <a:spcPts val="1950"/>
              </a:lnSpc>
              <a:spcAft>
                <a:spcPts val="0"/>
              </a:spcAft>
            </a:pPr>
            <a:r>
              <a:rPr sz="1300" b="0" i="1">
                <a:solidFill>
                  <a:srgbClr val="6B7480"/>
                </a:solidFill>
                <a:latin typeface="Garamond"/>
              </a:rPr>
              <a:t>Labour force surveys with the sample, the access, and a design that sees the same person twelve months apart</a:t>
            </a:r>
          </a:p>
        </p:txBody>
      </p:sp>
      <p:sp>
        <p:nvSpPr>
          <p:cNvPr id="5" name="TextBox 4"/>
          <p:cNvSpPr txBox="1"/>
          <p:nvPr/>
        </p:nvSpPr>
        <p:spPr>
          <a:xfrm>
            <a:off x="822960" y="2011680"/>
            <a:ext cx="15544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
            </a:r>
          </a:p>
        </p:txBody>
      </p:sp>
      <p:sp>
        <p:nvSpPr>
          <p:cNvPr id="6" name="TextBox 5"/>
          <p:cNvSpPr txBox="1"/>
          <p:nvPr/>
        </p:nvSpPr>
        <p:spPr>
          <a:xfrm>
            <a:off x="2468880" y="2011680"/>
            <a:ext cx="347472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Instrument</a:t>
            </a:r>
          </a:p>
        </p:txBody>
      </p:sp>
      <p:sp>
        <p:nvSpPr>
          <p:cNvPr id="7" name="TextBox 6"/>
          <p:cNvSpPr txBox="1"/>
          <p:nvPr/>
        </p:nvSpPr>
        <p:spPr>
          <a:xfrm>
            <a:off x="6035040" y="2011680"/>
            <a:ext cx="24688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Twelve-month design</a:t>
            </a:r>
          </a:p>
        </p:txBody>
      </p:sp>
      <p:sp>
        <p:nvSpPr>
          <p:cNvPr id="8" name="TextBox 7"/>
          <p:cNvSpPr txBox="1"/>
          <p:nvPr/>
        </p:nvSpPr>
        <p:spPr>
          <a:xfrm>
            <a:off x="8595360" y="2011680"/>
            <a:ext cx="274320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Sample and access</a:t>
            </a:r>
          </a:p>
        </p:txBody>
      </p:sp>
      <p:cxnSp>
        <p:nvCxnSpPr>
          <p:cNvPr id="9" name="Connector 8"/>
          <p:cNvCxnSpPr/>
          <p:nvPr/>
        </p:nvCxnSpPr>
        <p:spPr>
          <a:xfrm>
            <a:off x="822960" y="237744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51460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Italy</a:t>
            </a:r>
          </a:p>
        </p:txBody>
      </p:sp>
      <p:sp>
        <p:nvSpPr>
          <p:cNvPr id="11" name="TextBox 10"/>
          <p:cNvSpPr txBox="1"/>
          <p:nvPr/>
        </p:nvSpPr>
        <p:spPr>
          <a:xfrm>
            <a:off x="2468880" y="251460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Rilevazione sulle Forze di Lavoro (Istat)</a:t>
            </a:r>
          </a:p>
        </p:txBody>
      </p:sp>
      <p:sp>
        <p:nvSpPr>
          <p:cNvPr id="12" name="TextBox 11"/>
          <p:cNvSpPr txBox="1"/>
          <p:nvPr/>
        </p:nvSpPr>
        <p:spPr>
          <a:xfrm>
            <a:off x="6035040" y="251460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official 12-month longitudinal files</a:t>
            </a:r>
          </a:p>
        </p:txBody>
      </p:sp>
      <p:sp>
        <p:nvSpPr>
          <p:cNvPr id="13" name="TextBox 12"/>
          <p:cNvSpPr txBox="1"/>
          <p:nvPr/>
        </p:nvSpPr>
        <p:spPr>
          <a:xfrm>
            <a:off x="8595360" y="251460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research files, quarterly since 2004</a:t>
            </a:r>
          </a:p>
        </p:txBody>
      </p:sp>
      <p:sp>
        <p:nvSpPr>
          <p:cNvPr id="14" name="TextBox 13"/>
          <p:cNvSpPr txBox="1"/>
          <p:nvPr/>
        </p:nvSpPr>
        <p:spPr>
          <a:xfrm>
            <a:off x="822960" y="2990088"/>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Germany</a:t>
            </a:r>
          </a:p>
        </p:txBody>
      </p:sp>
      <p:sp>
        <p:nvSpPr>
          <p:cNvPr id="15" name="TextBox 14"/>
          <p:cNvSpPr txBox="1"/>
          <p:nvPr/>
        </p:nvSpPr>
        <p:spPr>
          <a:xfrm>
            <a:off x="2468880" y="2990088"/>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Mikrozensus (Destatis)</a:t>
            </a:r>
          </a:p>
        </p:txBody>
      </p:sp>
      <p:sp>
        <p:nvSpPr>
          <p:cNvPr id="16" name="TextBox 15"/>
          <p:cNvSpPr txBox="1"/>
          <p:nvPr/>
        </p:nvSpPr>
        <p:spPr>
          <a:xfrm>
            <a:off x="6035040" y="2990088"/>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2-(2)-2 scheme since 2020</a:t>
            </a:r>
          </a:p>
        </p:txBody>
      </p:sp>
      <p:sp>
        <p:nvSpPr>
          <p:cNvPr id="17" name="TextBox 16"/>
          <p:cNvSpPr txBox="1"/>
          <p:nvPr/>
        </p:nvSpPr>
        <p:spPr>
          <a:xfrm>
            <a:off x="8595360" y="2990088"/>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810,000 persons a year; RDC files</a:t>
            </a:r>
          </a:p>
        </p:txBody>
      </p:sp>
      <p:sp>
        <p:nvSpPr>
          <p:cNvPr id="18" name="TextBox 17"/>
          <p:cNvSpPr txBox="1"/>
          <p:nvPr/>
        </p:nvSpPr>
        <p:spPr>
          <a:xfrm>
            <a:off x="822960" y="3465576"/>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United Kingdom</a:t>
            </a:r>
          </a:p>
        </p:txBody>
      </p:sp>
      <p:sp>
        <p:nvSpPr>
          <p:cNvPr id="19" name="TextBox 18"/>
          <p:cNvSpPr txBox="1"/>
          <p:nvPr/>
        </p:nvSpPr>
        <p:spPr>
          <a:xfrm>
            <a:off x="2468880" y="3465576"/>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Labour Force Survey (ONS)</a:t>
            </a:r>
          </a:p>
        </p:txBody>
      </p:sp>
      <p:sp>
        <p:nvSpPr>
          <p:cNvPr id="20" name="TextBox 19"/>
          <p:cNvSpPr txBox="1"/>
          <p:nvPr/>
        </p:nvSpPr>
        <p:spPr>
          <a:xfrm>
            <a:off x="6035040" y="3465576"/>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waves; first and fifth a year apart</a:t>
            </a:r>
          </a:p>
        </p:txBody>
      </p:sp>
      <p:sp>
        <p:nvSpPr>
          <p:cNvPr id="21" name="TextBox 20"/>
          <p:cNvSpPr txBox="1"/>
          <p:nvPr/>
        </p:nvSpPr>
        <p:spPr>
          <a:xfrm>
            <a:off x="8595360" y="3465576"/>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100,000 persons a quarter; UK Data Service</a:t>
            </a:r>
          </a:p>
        </p:txBody>
      </p:sp>
      <p:sp>
        <p:nvSpPr>
          <p:cNvPr id="22" name="TextBox 21"/>
          <p:cNvSpPr txBox="1"/>
          <p:nvPr/>
        </p:nvSpPr>
        <p:spPr>
          <a:xfrm>
            <a:off x="822960" y="3941064"/>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France</a:t>
            </a:r>
          </a:p>
        </p:txBody>
      </p:sp>
      <p:sp>
        <p:nvSpPr>
          <p:cNvPr id="23" name="TextBox 22"/>
          <p:cNvSpPr txBox="1"/>
          <p:nvPr/>
        </p:nvSpPr>
        <p:spPr>
          <a:xfrm>
            <a:off x="2468880" y="3941064"/>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Enquête emploi en continu (INSEE)</a:t>
            </a:r>
          </a:p>
        </p:txBody>
      </p:sp>
      <p:sp>
        <p:nvSpPr>
          <p:cNvPr id="24" name="TextBox 23"/>
          <p:cNvSpPr txBox="1"/>
          <p:nvPr/>
        </p:nvSpPr>
        <p:spPr>
          <a:xfrm>
            <a:off x="6035040" y="3941064"/>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 consecutive quarters</a:t>
            </a:r>
          </a:p>
        </p:txBody>
      </p:sp>
      <p:sp>
        <p:nvSpPr>
          <p:cNvPr id="25" name="TextBox 24"/>
          <p:cNvSpPr txBox="1"/>
          <p:nvPr/>
        </p:nvSpPr>
        <p:spPr>
          <a:xfrm>
            <a:off x="8595360" y="3941064"/>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80,000 dwellings a quarter; Progedo, CASD</a:t>
            </a:r>
          </a:p>
        </p:txBody>
      </p:sp>
      <p:sp>
        <p:nvSpPr>
          <p:cNvPr id="26" name="TextBox 25"/>
          <p:cNvSpPr txBox="1"/>
          <p:nvPr/>
        </p:nvSpPr>
        <p:spPr>
          <a:xfrm>
            <a:off x="822960" y="4416552"/>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Spain</a:t>
            </a:r>
          </a:p>
        </p:txBody>
      </p:sp>
      <p:sp>
        <p:nvSpPr>
          <p:cNvPr id="27" name="TextBox 26"/>
          <p:cNvSpPr txBox="1"/>
          <p:nvPr/>
        </p:nvSpPr>
        <p:spPr>
          <a:xfrm>
            <a:off x="2468880" y="4416552"/>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Encuesta de Población Activa (INE)</a:t>
            </a:r>
          </a:p>
        </p:txBody>
      </p:sp>
      <p:sp>
        <p:nvSpPr>
          <p:cNvPr id="28" name="TextBox 27"/>
          <p:cNvSpPr txBox="1"/>
          <p:nvPr/>
        </p:nvSpPr>
        <p:spPr>
          <a:xfrm>
            <a:off x="6035040" y="4416552"/>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six-quarter rotation; public flow files</a:t>
            </a:r>
          </a:p>
        </p:txBody>
      </p:sp>
      <p:sp>
        <p:nvSpPr>
          <p:cNvPr id="29" name="TextBox 28"/>
          <p:cNvSpPr txBox="1"/>
          <p:nvPr/>
        </p:nvSpPr>
        <p:spPr>
          <a:xfrm>
            <a:off x="8595360" y="4416552"/>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60,000 dwellings a quarter; free download</a:t>
            </a:r>
          </a:p>
        </p:txBody>
      </p:sp>
      <p:sp>
        <p:nvSpPr>
          <p:cNvPr id="30" name="TextBox 29"/>
          <p:cNvSpPr txBox="1"/>
          <p:nvPr/>
        </p:nvSpPr>
        <p:spPr>
          <a:xfrm>
            <a:off x="822960" y="489204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Brazil</a:t>
            </a:r>
          </a:p>
        </p:txBody>
      </p:sp>
      <p:sp>
        <p:nvSpPr>
          <p:cNvPr id="31" name="TextBox 30"/>
          <p:cNvSpPr txBox="1"/>
          <p:nvPr/>
        </p:nvSpPr>
        <p:spPr>
          <a:xfrm>
            <a:off x="2468880" y="489204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PNAD Contínua (IBGE)</a:t>
            </a:r>
          </a:p>
        </p:txBody>
      </p:sp>
      <p:sp>
        <p:nvSpPr>
          <p:cNvPr id="32" name="TextBox 31"/>
          <p:cNvSpPr txBox="1"/>
          <p:nvPr/>
        </p:nvSpPr>
        <p:spPr>
          <a:xfrm>
            <a:off x="6035040" y="489204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quarterly visits</a:t>
            </a:r>
          </a:p>
        </p:txBody>
      </p:sp>
      <p:sp>
        <p:nvSpPr>
          <p:cNvPr id="33" name="TextBox 32"/>
          <p:cNvSpPr txBox="1"/>
          <p:nvPr/>
        </p:nvSpPr>
        <p:spPr>
          <a:xfrm>
            <a:off x="8595360" y="489204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210,000 households a quarter; fully public</a:t>
            </a:r>
          </a:p>
        </p:txBody>
      </p:sp>
      <p:sp>
        <p:nvSpPr>
          <p:cNvPr id="34" name="TextBox 33"/>
          <p:cNvSpPr txBox="1"/>
          <p:nvPr/>
        </p:nvSpPr>
        <p:spPr>
          <a:xfrm>
            <a:off x="822960" y="5367527"/>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Mexico</a:t>
            </a:r>
          </a:p>
        </p:txBody>
      </p:sp>
      <p:sp>
        <p:nvSpPr>
          <p:cNvPr id="35" name="TextBox 34"/>
          <p:cNvSpPr txBox="1"/>
          <p:nvPr/>
        </p:nvSpPr>
        <p:spPr>
          <a:xfrm>
            <a:off x="2468880" y="5367527"/>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ENOE (INEGI)</a:t>
            </a:r>
          </a:p>
        </p:txBody>
      </p:sp>
      <p:sp>
        <p:nvSpPr>
          <p:cNvPr id="36" name="TextBox 35"/>
          <p:cNvSpPr txBox="1"/>
          <p:nvPr/>
        </p:nvSpPr>
        <p:spPr>
          <a:xfrm>
            <a:off x="6035040" y="5367527"/>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five-quarter rotation</a:t>
            </a:r>
          </a:p>
        </p:txBody>
      </p:sp>
      <p:sp>
        <p:nvSpPr>
          <p:cNvPr id="37" name="TextBox 36"/>
          <p:cNvSpPr txBox="1"/>
          <p:nvPr/>
        </p:nvSpPr>
        <p:spPr>
          <a:xfrm>
            <a:off x="8595360" y="5367527"/>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150,000 dwellings a quarter; fully public</a:t>
            </a:r>
          </a:p>
        </p:txBody>
      </p:sp>
      <p:cxnSp>
        <p:nvCxnSpPr>
          <p:cNvPr id="38" name="Connector 37"/>
          <p:cNvCxnSpPr/>
          <p:nvPr/>
        </p:nvCxnSpPr>
        <p:spPr>
          <a:xfrm>
            <a:off x="822960" y="5897879"/>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2960" y="6062471"/>
            <a:ext cx="10515600" cy="365760"/>
          </a:xfrm>
          <a:prstGeom prst="rect">
            <a:avLst/>
          </a:prstGeom>
          <a:noFill/>
        </p:spPr>
        <p:txBody>
          <a:bodyPr wrap="square" lIns="0" rIns="0" tIns="0" bIns="0">
            <a:spAutoFit/>
          </a:bodyPr>
          <a:lstStyle/>
          <a:p>
            <a:pPr algn="l">
              <a:lnSpc>
                <a:spcPts val="1650"/>
              </a:lnSpc>
              <a:spcAft>
                <a:spcPts val="0"/>
              </a:spcAft>
            </a:pPr>
            <a:r>
              <a:rPr sz="1100" b="0" i="1">
                <a:solidFill>
                  <a:srgbClr val="6B7480"/>
                </a:solidFill>
                <a:latin typeface="Garamond"/>
              </a:rPr>
              <a:t>Australia and Canada cannot: eight and six months in sample never show the same person twelve months apart.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8629</TotalTime>
  <Words>2550</Words>
  <Application>Microsoft Office PowerPoint</Application>
  <PresentationFormat>Widescreen</PresentationFormat>
  <Paragraphs>134</Paragraphs>
  <Slides>27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Arial Narrow</vt:lpstr>
      <vt:lpstr>Calibri</vt:lpstr>
      <vt:lpstr>Garamond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DURÁN ROA José Elías, EDU/IMEP</cp:lastModifiedBy>
  <cp:revision>4</cp:revision>
  <dcterms:created xsi:type="dcterms:W3CDTF">2026-07-21T10:23:55Z</dcterms:created>
  <dcterms:modified xsi:type="dcterms:W3CDTF">2026-09-28T08:51:22Z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Unclassified - Non classifié</vt:lpwstr>
  </property>
  <property fmtid="{D5CDD505-2E9C-101B-9397-08002B2CF9AE}" pid="4" name="MSIP_Label_0b2d0c28-e13a-4801-bbf0-29bdaa81743b_Enabled">
    <vt:lpwstr>true</vt:lpwstr>
  </property>
  <property fmtid="{D5CDD505-2E9C-101B-9397-08002B2CF9AE}" pid="5" name="MSIP_Label_0b2d0c28-e13a-4801-bbf0-29bdaa81743b_SetDate">
    <vt:lpwstr>2026-09-22T08:56:21Z</vt:lpwstr>
  </property>
  <property fmtid="{D5CDD505-2E9C-101B-9397-08002B2CF9AE}" pid="6" name="MSIP_Label_0b2d0c28-e13a-4801-bbf0-29bdaa81743b_Method">
    <vt:lpwstr>Privileged</vt:lpwstr>
  </property>
  <property fmtid="{D5CDD505-2E9C-101B-9397-08002B2CF9AE}" pid="7" name="MSIP_Label_0b2d0c28-e13a-4801-bbf0-29bdaa81743b_Name">
    <vt:lpwstr>Unclassified</vt:lpwstr>
  </property>
  <property fmtid="{D5CDD505-2E9C-101B-9397-08002B2CF9AE}" pid="8" name="MSIP_Label_0b2d0c28-e13a-4801-bbf0-29bdaa81743b_SiteId">
    <vt:lpwstr>ac41c7d4-1f61-460d-b0f4-fc925a2b471c</vt:lpwstr>
  </property>
  <property fmtid="{D5CDD505-2E9C-101B-9397-08002B2CF9AE}" pid="9" name="MSIP_Label_0b2d0c28-e13a-4801-bbf0-29bdaa81743b_ActionId">
    <vt:lpwstr>4c6bc5a9-1163-462c-af5f-44b70f277276</vt:lpwstr>
  </property>
  <property fmtid="{D5CDD505-2E9C-101B-9397-08002B2CF9AE}" pid="10" name="MSIP_Label_0b2d0c28-e13a-4801-bbf0-29bdaa81743b_ContentBits">
    <vt:lpwstr>0</vt:lpwstr>
  </property>
</Properties>
</file>