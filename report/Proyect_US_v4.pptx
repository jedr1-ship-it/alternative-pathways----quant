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9"/>
  </p:notesMasterIdLst>
  <p:sldIdLst>
    <p:sldId id="273" r:id="rId2"/>
    <p:sldId id="272" r:id="rId3"/>
    <p:sldId id="290" r:id="rId36"/>
    <p:sldId id="296" r:id="rId42"/>
    <p:sldId id="297" r:id="rId43"/>
    <p:sldId id="298" r:id="rId44"/>
    <p:sldId id="256" r:id="rId5"/>
    <p:sldId id="299" r:id="rId45"/>
    <p:sldId id="301" r:id="rId47"/>
    <p:sldId id="300" r:id="rId46"/>
    <p:sldId id="302" r:id="rId48"/>
    <p:sldId id="291" r:id="rId37"/>
    <p:sldId id="258" r:id="rId6"/>
    <p:sldId id="259" r:id="rId7"/>
    <p:sldId id="280" r:id="rId8"/>
    <p:sldId id="275" r:id="rId9"/>
    <p:sldId id="276" r:id="rId10"/>
    <p:sldId id="277" r:id="rId11"/>
    <p:sldId id="292" r:id="rId38"/>
    <p:sldId id="260" r:id="rId12"/>
    <p:sldId id="278" r:id="rId13"/>
    <p:sldId id="288" r:id="rId14"/>
    <p:sldId id="279" r:id="rId15"/>
    <p:sldId id="293" r:id="rId39"/>
    <p:sldId id="261" r:id="rId16"/>
    <p:sldId id="282" r:id="rId17"/>
    <p:sldId id="269" r:id="rId18"/>
    <p:sldId id="289" r:id="rId19"/>
    <p:sldId id="263" r:id="rId20"/>
    <p:sldId id="294" r:id="rId40"/>
    <p:sldId id="265" r:id="rId21"/>
    <p:sldId id="274" r:id="rId22"/>
    <p:sldId id="295" r:id="rId41"/>
    <p:sldId id="268" r:id="rId23"/>
    <p:sldId id="284" r:id="rId24"/>
    <p:sldId id="283" r:id="rId25"/>
    <p:sldId id="285" r:id="rId26"/>
    <p:sldId id="267" r:id="rId27"/>
    <p:sldId id="287" r:id="rId28"/>
    <p:sldId id="303" r:id="rId4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ACBCFD4-F07F-4C26-A185-37CE9D7E7788}" v="36" dt="2026-09-28T08:51:07.07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404" autoAdjust="0"/>
  </p:normalViewPr>
  <p:slideViewPr>
    <p:cSldViewPr snapToGrid="0" snapToObjects="1">
      <p:cViewPr varScale="1">
        <p:scale>
          <a:sx n="111" d="100"/>
          <a:sy n="111" d="100"/>
        </p:scale>
        <p:origin x="558" y="1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 Id="rId34" Type="http://schemas.microsoft.com/office/2016/11/relationships/changesInfo" Target="changesInfos/changesInfo1.xml"/><Relationship Id="rId35" Type="http://schemas.microsoft.com/office/2015/10/relationships/revisionInfo" Target="revisionInfo.xml"/><Relationship Id="rId36" Type="http://schemas.openxmlformats.org/officeDocument/2006/relationships/slide" Target="slides/slide28.xml"/><Relationship Id="rId37" Type="http://schemas.openxmlformats.org/officeDocument/2006/relationships/slide" Target="slides/slide29.xml"/><Relationship Id="rId38" Type="http://schemas.openxmlformats.org/officeDocument/2006/relationships/slide" Target="slides/slide30.xml"/><Relationship Id="rId39" Type="http://schemas.openxmlformats.org/officeDocument/2006/relationships/slide" Target="slides/slide31.xml"/><Relationship Id="rId40" Type="http://schemas.openxmlformats.org/officeDocument/2006/relationships/slide" Target="slides/slide32.xml"/><Relationship Id="rId41" Type="http://schemas.openxmlformats.org/officeDocument/2006/relationships/slide" Target="slides/slide33.xml"/><Relationship Id="rId42" Type="http://schemas.openxmlformats.org/officeDocument/2006/relationships/slide" Target="slides/slide34.xml"/><Relationship Id="rId43" Type="http://schemas.openxmlformats.org/officeDocument/2006/relationships/slide" Target="slides/slide35.xml"/><Relationship Id="rId44" Type="http://schemas.openxmlformats.org/officeDocument/2006/relationships/slide" Target="slides/slide36.xml"/><Relationship Id="rId45" Type="http://schemas.openxmlformats.org/officeDocument/2006/relationships/slide" Target="slides/slide37.xml"/><Relationship Id="rId46" Type="http://schemas.openxmlformats.org/officeDocument/2006/relationships/slide" Target="slides/slide38.xml"/><Relationship Id="rId47" Type="http://schemas.openxmlformats.org/officeDocument/2006/relationships/slide" Target="slides/slide39.xml"/><Relationship Id="rId48" Type="http://schemas.openxmlformats.org/officeDocument/2006/relationships/slide" Target="slides/slide40.xml"/><Relationship Id="rId49" Type="http://schemas.openxmlformats.org/officeDocument/2006/relationships/slide" Target="slides/slide4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URÁN ROA José Elías, EDU/IMEP" userId="143a056d-beac-4d27-9201-e13b90a5b16d" providerId="ADAL" clId="{2092A00E-CDA0-46B1-B356-89CA31F35643}"/>
    <pc:docChg chg="undo redo custSel addSld delSld modSld sldOrd">
      <pc:chgData name="DURÁN ROA José Elías, EDU/IMEP" userId="143a056d-beac-4d27-9201-e13b90a5b16d" providerId="ADAL" clId="{2092A00E-CDA0-46B1-B356-89CA31F35643}" dt="2026-09-28T08:51:18.239" v="2956" actId="14100"/>
      <pc:docMkLst>
        <pc:docMk/>
      </pc:docMkLst>
      <pc:sldChg chg="modSp add mod">
        <pc:chgData name="DURÁN ROA José Elías, EDU/IMEP" userId="143a056d-beac-4d27-9201-e13b90a5b16d" providerId="ADAL" clId="{2092A00E-CDA0-46B1-B356-89CA31F35643}" dt="2026-09-24T13:20:27.325" v="2917" actId="1076"/>
        <pc:sldMkLst>
          <pc:docMk/>
          <pc:sldMk cId="0" sldId="256"/>
        </pc:sldMkLst>
        <pc:spChg chg="mod">
          <ac:chgData name="DURÁN ROA José Elías, EDU/IMEP" userId="143a056d-beac-4d27-9201-e13b90a5b16d" providerId="ADAL" clId="{2092A00E-CDA0-46B1-B356-89CA31F35643}" dt="2026-09-24T13:20:23.630" v="2916" actId="1076"/>
          <ac:spMkLst>
            <pc:docMk/>
            <pc:sldMk cId="0" sldId="256"/>
            <ac:spMk id="2" creationId="{00000000-0000-0000-0000-000000000000}"/>
          </ac:spMkLst>
        </pc:spChg>
        <pc:grpChg chg="mod">
          <ac:chgData name="DURÁN ROA José Elías, EDU/IMEP" userId="143a056d-beac-4d27-9201-e13b90a5b16d" providerId="ADAL" clId="{2092A00E-CDA0-46B1-B356-89CA31F35643}" dt="2026-09-24T13:20:27.325" v="2917" actId="1076"/>
          <ac:grpSpMkLst>
            <pc:docMk/>
            <pc:sldMk cId="0" sldId="256"/>
            <ac:grpSpMk id="75" creationId="{51F17309-771B-D3FF-3939-29E28FC2362D}"/>
          </ac:grpSpMkLst>
        </pc:grpChg>
      </pc:sldChg>
      <pc:sldChg chg="modSp mod">
        <pc:chgData name="DURÁN ROA José Elías, EDU/IMEP" userId="143a056d-beac-4d27-9201-e13b90a5b16d" providerId="ADAL" clId="{2092A00E-CDA0-46B1-B356-89CA31F35643}" dt="2026-09-24T13:30:49.867" v="2918" actId="1076"/>
        <pc:sldMkLst>
          <pc:docMk/>
          <pc:sldMk cId="0" sldId="267"/>
        </pc:sldMkLst>
        <pc:picChg chg="mod">
          <ac:chgData name="DURÁN ROA José Elías, EDU/IMEP" userId="143a056d-beac-4d27-9201-e13b90a5b16d" providerId="ADAL" clId="{2092A00E-CDA0-46B1-B356-89CA31F35643}" dt="2026-09-24T13:30:49.867" v="2918" actId="1076"/>
          <ac:picMkLst>
            <pc:docMk/>
            <pc:sldMk cId="0" sldId="267"/>
            <ac:picMk id="3" creationId="{00000000-0000-0000-0000-000000000000}"/>
          </ac:picMkLst>
        </pc:picChg>
      </pc:sldChg>
      <pc:sldChg chg="modSp mod">
        <pc:chgData name="DURÁN ROA José Elías, EDU/IMEP" userId="143a056d-beac-4d27-9201-e13b90a5b16d" providerId="ADAL" clId="{2092A00E-CDA0-46B1-B356-89CA31F35643}" dt="2026-09-28T08:51:18.239" v="2956" actId="14100"/>
        <pc:sldMkLst>
          <pc:docMk/>
          <pc:sldMk cId="0" sldId="272"/>
        </pc:sldMkLst>
        <pc:spChg chg="mod">
          <ac:chgData name="DURÁN ROA José Elías, EDU/IMEP" userId="143a056d-beac-4d27-9201-e13b90a5b16d" providerId="ADAL" clId="{2092A00E-CDA0-46B1-B356-89CA31F35643}" dt="2026-09-28T08:51:18.239" v="2956" actId="14100"/>
          <ac:spMkLst>
            <pc:docMk/>
            <pc:sldMk cId="0" sldId="272"/>
            <ac:spMk id="3" creationId="{00000000-0000-0000-0000-000000000000}"/>
          </ac:spMkLst>
        </pc:spChg>
        <pc:spChg chg="mod">
          <ac:chgData name="DURÁN ROA José Elías, EDU/IMEP" userId="143a056d-beac-4d27-9201-e13b90a5b16d" providerId="ADAL" clId="{2092A00E-CDA0-46B1-B356-89CA31F35643}" dt="2026-09-28T08:51:11.663" v="2955" actId="14100"/>
          <ac:spMkLst>
            <pc:docMk/>
            <pc:sldMk cId="0" sldId="272"/>
            <ac:spMk id="24" creationId="{80E520F7-2B73-E152-9BA8-476910128798}"/>
          </ac:spMkLst>
        </pc:spChg>
      </pc:sldChg>
      <pc:sldChg chg="modSp mod modNotesTx">
        <pc:chgData name="DURÁN ROA José Elías, EDU/IMEP" userId="143a056d-beac-4d27-9201-e13b90a5b16d" providerId="ADAL" clId="{2092A00E-CDA0-46B1-B356-89CA31F35643}" dt="2026-09-18T09:29:49.405" v="2913" actId="1076"/>
        <pc:sldMkLst>
          <pc:docMk/>
          <pc:sldMk cId="0" sldId="273"/>
        </pc:sldMkLst>
        <pc:picChg chg="mod">
          <ac:chgData name="DURÁN ROA José Elías, EDU/IMEP" userId="143a056d-beac-4d27-9201-e13b90a5b16d" providerId="ADAL" clId="{2092A00E-CDA0-46B1-B356-89CA31F35643}" dt="2026-09-18T09:29:49.405" v="2913" actId="1076"/>
          <ac:picMkLst>
            <pc:docMk/>
            <pc:sldMk cId="0" sldId="273"/>
            <ac:picMk id="2" creationId="{00000000-0000-0000-0000-000000000000}"/>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940748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Twenty-eight years, no trend. The two worst years are 2001 and 2019, a generation apart. Any exodus narrative starts from a fact this series does not contain.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US" dirty="0"/>
          </a:p>
        </p:txBody>
      </p:sp>
    </p:spTree>
    <p:extLst>
      <p:ext uri="{BB962C8B-B14F-4D97-AF65-F5344CB8AC3E}">
        <p14:creationId xmlns:p14="http://schemas.microsoft.com/office/powerpoint/2010/main" val="163685441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US" dirty="0"/>
          </a:p>
        </p:txBody>
      </p:sp>
    </p:spTree>
    <p:extLst>
      <p:ext uri="{BB962C8B-B14F-4D97-AF65-F5344CB8AC3E}">
        <p14:creationId xmlns:p14="http://schemas.microsoft.com/office/powerpoint/2010/main" val="410108378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US" dirty="0"/>
          </a:p>
        </p:txBody>
      </p:sp>
    </p:spTree>
    <p:extLst>
      <p:ext uri="{BB962C8B-B14F-4D97-AF65-F5344CB8AC3E}">
        <p14:creationId xmlns:p14="http://schemas.microsoft.com/office/powerpoint/2010/main" val="182575301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s-E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1071151-F904-FD32-00D7-2AD927C0801A}"/>
              </a:ext>
            </a:extLst>
          </p:cNvPr>
          <p:cNvSpPr txBox="1"/>
          <p:nvPr>
            <p:extLst>
              <p:ext uri="{1162E1C5-73C7-4A58-AE30-91384D911F3F}">
                <p184:classification xmlns:p184="http://schemas.microsoft.com/office/powerpoint/2018/4/main" val="ftr"/>
              </p:ext>
            </p:extLst>
          </p:nvPr>
        </p:nvSpPr>
        <p:spPr>
          <a:xfrm>
            <a:off x="5475288" y="6642100"/>
            <a:ext cx="1270000" cy="152400"/>
          </a:xfrm>
          <a:prstGeom prst="rect">
            <a:avLst/>
          </a:prstGeom>
        </p:spPr>
        <p:txBody>
          <a:bodyPr horzOverflow="overflow" lIns="0" tIns="0" rIns="0" bIns="0">
            <a:spAutoFit/>
          </a:bodyPr>
          <a:lstStyle/>
          <a:p>
            <a:pPr algn="l"/>
            <a:r>
              <a:rPr lang="en-US" sz="1000">
                <a:solidFill>
                  <a:srgbClr val="0000FF">
                    <a:alpha val="50000"/>
                  </a:srgbClr>
                </a:solidFill>
                <a:latin typeface="Arial Narrow" panose="020B0606020202030204" pitchFamily="34" charset="0"/>
              </a:rPr>
              <a:t>Unclassified - Non classifié</a:t>
            </a:r>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2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oecd_logo.png"/>
          <p:cNvPicPr>
            <a:picLocks noChangeAspect="1"/>
          </p:cNvPicPr>
          <p:nvPr/>
        </p:nvPicPr>
        <p:blipFill>
          <a:blip r:embed="rId3"/>
          <a:stretch>
            <a:fillRect/>
          </a:stretch>
        </p:blipFill>
        <p:spPr>
          <a:xfrm>
            <a:off x="640080" y="429768"/>
            <a:ext cx="1828800" cy="466344"/>
          </a:xfrm>
          <a:prstGeom prst="rect">
            <a:avLst/>
          </a:prstGeom>
        </p:spPr>
      </p:pic>
      <p:sp>
        <p:nvSpPr>
          <p:cNvPr id="3" name="Text 0"/>
          <p:cNvSpPr/>
          <p:nvPr/>
        </p:nvSpPr>
        <p:spPr>
          <a:xfrm>
            <a:off x="640080" y="896112"/>
            <a:ext cx="5486400" cy="292608"/>
          </a:xfrm>
          <a:prstGeom prst="rect">
            <a:avLst/>
          </a:prstGeom>
          <a:noFill/>
          <a:ln/>
        </p:spPr>
        <p:txBody>
          <a:bodyPr wrap="square" lIns="0" tIns="0" rIns="0" bIns="0" rtlCol="0" anchor="ctr"/>
          <a:lstStyle/>
          <a:p>
            <a:pPr marL="0" indent="0" algn="l">
              <a:buNone/>
            </a:pPr>
            <a:r>
              <a:rPr lang="en-US" sz="1200" dirty="0">
                <a:solidFill>
                  <a:srgbClr val="5A6572"/>
                </a:solidFill>
                <a:latin typeface="Garamond" pitchFamily="34" charset="0"/>
                <a:ea typeface="Garamond" pitchFamily="34" charset="-122"/>
                <a:cs typeface="Garamond" pitchFamily="34" charset="-120"/>
              </a:rPr>
              <a:t>Directorate for Education and Skills</a:t>
            </a:r>
            <a:endParaRPr lang="en-US" sz="1200" dirty="0"/>
          </a:p>
        </p:txBody>
      </p:sp>
      <p:sp>
        <p:nvSpPr>
          <p:cNvPr id="4" name="Text 1"/>
          <p:cNvSpPr/>
          <p:nvPr/>
        </p:nvSpPr>
        <p:spPr>
          <a:xfrm>
            <a:off x="640080" y="2377440"/>
            <a:ext cx="10881360" cy="868680"/>
          </a:xfrm>
          <a:prstGeom prst="rect">
            <a:avLst/>
          </a:prstGeom>
          <a:noFill/>
          <a:ln/>
        </p:spPr>
        <p:txBody>
          <a:bodyPr wrap="square" lIns="0" tIns="0" rIns="0" bIns="0" rtlCol="0" anchor="ctr"/>
          <a:lstStyle/>
          <a:p>
            <a:pPr marL="0" indent="0" algn="l">
              <a:buNone/>
            </a:pPr>
            <a:r>
              <a:rPr lang="en-US" sz="3400" b="1" dirty="0">
                <a:solidFill>
                  <a:srgbClr val="00549F"/>
                </a:solidFill>
                <a:latin typeface="Garamond" pitchFamily="34" charset="0"/>
                <a:ea typeface="Garamond" pitchFamily="34" charset="-122"/>
                <a:cs typeface="Garamond" pitchFamily="34" charset="-120"/>
              </a:rPr>
              <a:t>Who Leaves Teaching, and Why?</a:t>
            </a:r>
            <a:endParaRPr lang="en-US" sz="3400" dirty="0"/>
          </a:p>
        </p:txBody>
      </p:sp>
      <p:sp>
        <p:nvSpPr>
          <p:cNvPr id="5" name="Text 2"/>
          <p:cNvSpPr/>
          <p:nvPr/>
        </p:nvSpPr>
        <p:spPr>
          <a:xfrm>
            <a:off x="640080" y="3246120"/>
            <a:ext cx="10881360" cy="457200"/>
          </a:xfrm>
          <a:prstGeom prst="rect">
            <a:avLst/>
          </a:prstGeom>
          <a:noFill/>
          <a:ln/>
        </p:spPr>
        <p:txBody>
          <a:bodyPr wrap="square" lIns="0" tIns="0" rIns="0" bIns="0" rtlCol="0" anchor="ctr"/>
          <a:lstStyle/>
          <a:p>
            <a:pPr marL="0" indent="0" algn="l">
              <a:buNone/>
            </a:pPr>
            <a:r>
              <a:rPr lang="en-US" sz="1800" dirty="0">
                <a:solidFill>
                  <a:srgbClr val="1A2430"/>
                </a:solidFill>
                <a:latin typeface="Garamond" pitchFamily="34" charset="0"/>
                <a:ea typeface="Garamond" pitchFamily="34" charset="-122"/>
                <a:cs typeface="Garamond" pitchFamily="34" charset="-120"/>
              </a:rPr>
              <a:t>The Anatomy of Teacher Attrition in the United States, 1997–2024</a:t>
            </a:r>
            <a:endParaRPr lang="en-US" sz="1800" dirty="0"/>
          </a:p>
        </p:txBody>
      </p:sp>
      <p:sp>
        <p:nvSpPr>
          <p:cNvPr id="6" name="Text 3"/>
          <p:cNvSpPr/>
          <p:nvPr/>
        </p:nvSpPr>
        <p:spPr>
          <a:xfrm>
            <a:off x="640080" y="4160520"/>
            <a:ext cx="10881360" cy="365760"/>
          </a:xfrm>
          <a:prstGeom prst="rect">
            <a:avLst/>
          </a:prstGeom>
          <a:noFill/>
          <a:ln/>
        </p:spPr>
        <p:txBody>
          <a:bodyPr wrap="square" lIns="0" tIns="0" rIns="0" bIns="0" rtlCol="0" anchor="ctr"/>
          <a:lstStyle/>
          <a:p>
            <a:pPr marL="0" indent="0" algn="l">
              <a:buNone/>
            </a:pPr>
            <a:r>
              <a:rPr lang="en-US" sz="1500" dirty="0">
                <a:solidFill>
                  <a:srgbClr val="1A2430"/>
                </a:solidFill>
                <a:latin typeface="Garamond" pitchFamily="34" charset="0"/>
                <a:ea typeface="Garamond" pitchFamily="34" charset="-122"/>
                <a:cs typeface="Garamond" pitchFamily="34" charset="-120"/>
              </a:rPr>
              <a:t>José Elías Durán Roa</a:t>
            </a:r>
            <a:endParaRPr lang="en-US" sz="1500" dirty="0"/>
          </a:p>
        </p:txBody>
      </p:sp>
      <p:sp>
        <p:nvSpPr>
          <p:cNvPr id="7" name="Text 4"/>
          <p:cNvSpPr/>
          <p:nvPr/>
        </p:nvSpPr>
        <p:spPr>
          <a:xfrm>
            <a:off x="653796" y="4434840"/>
            <a:ext cx="10881360" cy="770339"/>
          </a:xfrm>
          <a:prstGeom prst="rect">
            <a:avLst/>
          </a:prstGeom>
          <a:noFill/>
          <a:ln/>
        </p:spPr>
        <p:txBody>
          <a:bodyPr wrap="square" lIns="0" tIns="0" rIns="0" bIns="0" rtlCol="0" anchor="ctr"/>
          <a:lstStyle/>
          <a:p>
            <a:pPr marL="0" indent="0" algn="l">
              <a:buNone/>
            </a:pPr>
            <a:r>
              <a:rPr lang="en-US" sz="1250" dirty="0">
                <a:solidFill>
                  <a:srgbClr val="5A6572"/>
                </a:solidFill>
                <a:latin typeface="Garamond" pitchFamily="34" charset="0"/>
                <a:ea typeface="Garamond" pitchFamily="34" charset="-122"/>
                <a:cs typeface="Garamond" pitchFamily="34" charset="-120"/>
              </a:rPr>
              <a:t>University of Alicante / OECD </a:t>
            </a:r>
          </a:p>
          <a:p>
            <a:pPr marL="0" indent="0" algn="l">
              <a:buNone/>
            </a:pPr>
            <a:r>
              <a:rPr lang="en-US" sz="1250" dirty="0">
                <a:solidFill>
                  <a:srgbClr val="5A6572"/>
                </a:solidFill>
                <a:latin typeface="Garamond" pitchFamily="34" charset="0"/>
                <a:ea typeface="Garamond" pitchFamily="34" charset="-122"/>
                <a:cs typeface="Garamond" pitchFamily="34" charset="-120"/>
              </a:rPr>
              <a:t>July 2026</a:t>
            </a:r>
            <a:endParaRPr lang="en-US" sz="1250" dirty="0"/>
          </a:p>
        </p:txBody>
      </p:sp>
      <p:sp>
        <p:nvSpPr>
          <p:cNvPr id="8" name="Shape 5"/>
          <p:cNvSpPr/>
          <p:nvPr/>
        </p:nvSpPr>
        <p:spPr>
          <a:xfrm>
            <a:off x="0" y="6263640"/>
            <a:ext cx="12188952" cy="594360"/>
          </a:xfrm>
          <a:prstGeom prst="rect">
            <a:avLst/>
          </a:prstGeom>
          <a:solidFill>
            <a:srgbClr val="00549F"/>
          </a:solidFill>
          <a:ln/>
        </p:spPr>
        <p:txBody>
          <a:bodyPr/>
          <a:lstStyle/>
          <a:p>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85800" y="1002213"/>
            <a:ext cx="9875520" cy="548640"/>
          </a:xfrm>
          <a:prstGeom prst="rect">
            <a:avLst/>
          </a:prstGeom>
          <a:noFill/>
          <a:ln/>
        </p:spPr>
        <p:txBody>
          <a:bodyPr wrap="square" lIns="0" tIns="0" rIns="0" bIns="0" rtlCol="0" anchor="ctr"/>
          <a:lstStyle/>
          <a:p>
            <a:pPr marL="0" indent="0" algn="l">
              <a:buNone/>
            </a:pPr>
            <a:r>
              <a:rPr lang="en-US" sz="2800" b="1" dirty="0">
                <a:solidFill>
                  <a:srgbClr val="26456E"/>
                </a:solidFill>
                <a:latin typeface="Garamond" pitchFamily="34" charset="0"/>
                <a:ea typeface="Garamond" pitchFamily="34" charset="-122"/>
                <a:cs typeface="Garamond" pitchFamily="34" charset="-120"/>
              </a:rPr>
              <a:t>Motivation</a:t>
            </a:r>
            <a:endParaRPr lang="en-US" sz="2400" dirty="0"/>
          </a:p>
        </p:txBody>
      </p:sp>
      <p:sp>
        <p:nvSpPr>
          <p:cNvPr id="3" name="Text 1"/>
          <p:cNvSpPr/>
          <p:nvPr/>
        </p:nvSpPr>
        <p:spPr>
          <a:xfrm>
            <a:off x="750499" y="1913330"/>
            <a:ext cx="10795326" cy="3173612"/>
          </a:xfrm>
          <a:prstGeom prst="rect">
            <a:avLst/>
          </a:prstGeom>
          <a:noFill/>
          <a:ln/>
        </p:spPr>
        <p:txBody>
          <a:bodyPr wrap="square" lIns="0" tIns="0" rIns="0" bIns="0" rtlCol="0" anchor="t"/>
          <a:lstStyle/>
          <a:p>
            <a:pPr marL="0" indent="0" algn="just">
              <a:lnSpc>
                <a:spcPts val="2200"/>
              </a:lnSpc>
              <a:buNone/>
            </a:pPr>
            <a:r>
              <a:rPr lang="en-US" sz="1900" dirty="0">
                <a:solidFill>
                  <a:srgbClr val="1A2430"/>
                </a:solidFill>
                <a:latin typeface="Garamond" pitchFamily="34" charset="0"/>
                <a:ea typeface="Garamond" pitchFamily="34" charset="-122"/>
                <a:cs typeface="Garamond" pitchFamily="34" charset="-120"/>
              </a:rPr>
              <a:t>Measuring teacher attrition is hard as it requires following the same teachers over time.</a:t>
            </a:r>
          </a:p>
          <a:p>
            <a:pPr marL="0" indent="0" algn="just">
              <a:lnSpc>
                <a:spcPts val="2200"/>
              </a:lnSpc>
              <a:buNone/>
            </a:pPr>
            <a:endParaRPr lang="en-US" sz="1900" dirty="0">
              <a:solidFill>
                <a:srgbClr val="1A2430"/>
              </a:solidFill>
              <a:latin typeface="Garamond" pitchFamily="34" charset="0"/>
              <a:ea typeface="Garamond" pitchFamily="34" charset="-122"/>
              <a:cs typeface="Garamond" pitchFamily="34" charset="-120"/>
            </a:endParaRPr>
          </a:p>
          <a:p>
            <a:pPr algn="just">
              <a:lnSpc>
                <a:spcPts val="2200"/>
              </a:lnSpc>
            </a:pPr>
            <a:r>
              <a:rPr lang="en-US" sz="1900" dirty="0">
                <a:solidFill>
                  <a:srgbClr val="1A2430"/>
                </a:solidFill>
                <a:latin typeface="Garamond" pitchFamily="34" charset="0"/>
                <a:ea typeface="Garamond" pitchFamily="34" charset="-122"/>
                <a:cs typeface="Garamond" pitchFamily="34" charset="-120"/>
              </a:rPr>
              <a:t>In the US, the official source is the NCES Teacher Follow-up Survey. It runs every four to five years, on small samples, and its microdata are not public.</a:t>
            </a:r>
          </a:p>
          <a:p>
            <a:pPr algn="just">
              <a:lnSpc>
                <a:spcPts val="2200"/>
              </a:lnSpc>
            </a:pPr>
            <a:endParaRPr lang="en-US" sz="1900" dirty="0">
              <a:solidFill>
                <a:srgbClr val="1A2430"/>
              </a:solidFill>
              <a:latin typeface="Garamond" pitchFamily="34" charset="0"/>
            </a:endParaRPr>
          </a:p>
          <a:p>
            <a:pPr algn="just">
              <a:lnSpc>
                <a:spcPts val="2200"/>
              </a:lnSpc>
            </a:pPr>
            <a:r>
              <a:rPr lang="en-US" sz="1900" dirty="0">
                <a:solidFill>
                  <a:srgbClr val="1A2430"/>
                </a:solidFill>
                <a:latin typeface="Garamond" pitchFamily="34" charset="0"/>
                <a:ea typeface="Garamond" pitchFamily="34" charset="-122"/>
                <a:cs typeface="Garamond" pitchFamily="34" charset="-120"/>
              </a:rPr>
              <a:t>Researchers found an alternative measure, the CPS, the largest longitudinal survey in the US. Harris &amp; Adams (2007) and </a:t>
            </a:r>
            <a:r>
              <a:rPr lang="en-US" sz="1900" dirty="0" err="1">
                <a:solidFill>
                  <a:srgbClr val="1A2430"/>
                </a:solidFill>
                <a:latin typeface="Garamond" pitchFamily="34" charset="0"/>
                <a:ea typeface="Garamond" pitchFamily="34" charset="-122"/>
                <a:cs typeface="Garamond" pitchFamily="34" charset="-120"/>
              </a:rPr>
              <a:t>Aldeman</a:t>
            </a:r>
            <a:r>
              <a:rPr lang="en-US" sz="1900" dirty="0">
                <a:solidFill>
                  <a:srgbClr val="1A2430"/>
                </a:solidFill>
                <a:latin typeface="Garamond" pitchFamily="34" charset="0"/>
                <a:ea typeface="Garamond" pitchFamily="34" charset="-122"/>
                <a:cs typeface="Garamond" pitchFamily="34" charset="-120"/>
              </a:rPr>
              <a:t> &amp; Yi (2025) used it to show that teacher attrition is similar to that of comparable professions.</a:t>
            </a:r>
            <a:endParaRPr lang="en-US" sz="1900" dirty="0"/>
          </a:p>
          <a:p>
            <a:pPr algn="just">
              <a:lnSpc>
                <a:spcPts val="2200"/>
              </a:lnSpc>
            </a:pPr>
            <a:endParaRPr lang="en-US" sz="1900" dirty="0"/>
          </a:p>
          <a:p>
            <a:pPr marL="0" indent="0" algn="just">
              <a:lnSpc>
                <a:spcPts val="2200"/>
              </a:lnSpc>
              <a:buNone/>
            </a:pPr>
            <a:endParaRPr lang="en-US" sz="1900" dirty="0">
              <a:solidFill>
                <a:srgbClr val="1A2430"/>
              </a:solidFill>
              <a:latin typeface="Garamond" pitchFamily="34" charset="0"/>
              <a:ea typeface="Garamond" pitchFamily="34" charset="-122"/>
              <a:cs typeface="Garamond" pitchFamily="34" charset="-120"/>
            </a:endParaRPr>
          </a:p>
          <a:p>
            <a:pPr marL="0" indent="0" algn="just">
              <a:lnSpc>
                <a:spcPts val="2200"/>
              </a:lnSpc>
              <a:buNone/>
            </a:pPr>
            <a:endParaRPr lang="en-US" sz="1900" dirty="0">
              <a:solidFill>
                <a:srgbClr val="1A2430"/>
              </a:solidFill>
              <a:latin typeface="Garamond" pitchFamily="34" charset="0"/>
            </a:endParaRPr>
          </a:p>
          <a:p>
            <a:pPr algn="just">
              <a:lnSpc>
                <a:spcPts val="2200"/>
              </a:lnSpc>
            </a:pPr>
            <a:endParaRPr lang="en-US" sz="1900" dirty="0"/>
          </a:p>
        </p:txBody>
      </p:sp>
      <p:sp>
        <p:nvSpPr>
          <p:cNvPr id="22" name="Text 0">
            <a:extLst>
              <a:ext uri="{FF2B5EF4-FFF2-40B4-BE49-F238E27FC236}">
                <a16:creationId xmlns:a16="http://schemas.microsoft.com/office/drawing/2014/main" id="{EFC749EB-CBE6-5D06-B1A7-39A821369918}"/>
              </a:ext>
            </a:extLst>
          </p:cNvPr>
          <p:cNvSpPr/>
          <p:nvPr/>
        </p:nvSpPr>
        <p:spPr>
          <a:xfrm>
            <a:off x="685800" y="4286348"/>
            <a:ext cx="9875520" cy="548640"/>
          </a:xfrm>
          <a:prstGeom prst="rect">
            <a:avLst/>
          </a:prstGeom>
          <a:noFill/>
          <a:ln/>
        </p:spPr>
        <p:txBody>
          <a:bodyPr wrap="square" lIns="0" tIns="0" rIns="0" bIns="0" rtlCol="0" anchor="ctr"/>
          <a:lstStyle/>
          <a:p>
            <a:pPr marL="0" indent="0" algn="l">
              <a:buNone/>
            </a:pPr>
            <a:r>
              <a:rPr lang="en-US" sz="2800" b="1" dirty="0">
                <a:solidFill>
                  <a:srgbClr val="26456E"/>
                </a:solidFill>
                <a:latin typeface="Garamond" pitchFamily="34" charset="0"/>
              </a:rPr>
              <a:t>Contribution</a:t>
            </a:r>
            <a:endParaRPr lang="en-US" sz="2400" dirty="0"/>
          </a:p>
        </p:txBody>
      </p:sp>
      <p:sp>
        <p:nvSpPr>
          <p:cNvPr id="24" name="TextBox 23">
            <a:extLst>
              <a:ext uri="{FF2B5EF4-FFF2-40B4-BE49-F238E27FC236}">
                <a16:creationId xmlns:a16="http://schemas.microsoft.com/office/drawing/2014/main" id="{80E520F7-2B73-E152-9BA8-476910128798}"/>
              </a:ext>
            </a:extLst>
          </p:cNvPr>
          <p:cNvSpPr txBox="1"/>
          <p:nvPr/>
        </p:nvSpPr>
        <p:spPr>
          <a:xfrm>
            <a:off x="646177" y="4987754"/>
            <a:ext cx="11292394" cy="923330"/>
          </a:xfrm>
          <a:prstGeom prst="rect">
            <a:avLst/>
          </a:prstGeom>
          <a:noFill/>
        </p:spPr>
        <p:txBody>
          <a:bodyPr wrap="square">
            <a:spAutoFit/>
          </a:bodyPr>
          <a:lstStyle/>
          <a:p>
            <a:r>
              <a:rPr lang="en-US" dirty="0">
                <a:latin typeface="Garamond" panose="02020404030301010803" pitchFamily="18" charset="0"/>
              </a:rPr>
              <a:t>I build the longest continuous measurement of teacher attrition in the US, twenty-eight consecutive years (1998 – 2025) from a single instrument, and characterize who leaves, where they go, what leaving pays, who returns, and what moves the rate.</a:t>
            </a:r>
          </a:p>
          <a:p>
            <a:endParaRPr lang="en-US" dirty="0"/>
          </a:p>
        </p:txBody>
      </p:sp>
      <p:sp>
        <p:nvSpPr>
          <p:cNvPr id="26" name="Shape 5">
            <a:extLst>
              <a:ext uri="{FF2B5EF4-FFF2-40B4-BE49-F238E27FC236}">
                <a16:creationId xmlns:a16="http://schemas.microsoft.com/office/drawing/2014/main" id="{9B9D95AD-643E-E682-F4D6-C0A9098EA1C3}"/>
              </a:ext>
            </a:extLst>
          </p:cNvPr>
          <p:cNvSpPr/>
          <p:nvPr/>
        </p:nvSpPr>
        <p:spPr>
          <a:xfrm>
            <a:off x="3048" y="-30309"/>
            <a:ext cx="12188952" cy="594360"/>
          </a:xfrm>
          <a:prstGeom prst="rect">
            <a:avLst/>
          </a:prstGeom>
          <a:solidFill>
            <a:srgbClr val="00549F"/>
          </a:solidFill>
          <a:ln/>
        </p:spPr>
        <p:txBody>
          <a:bodyPr/>
          <a:lstStyle/>
          <a:p>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2" grpId="0" animBg="1"/>
      <p:bldP spid="24" grpId="0"/>
    </p:bldLst>
  </p:timing>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1014984" y="1098168"/>
            <a:ext cx="9875520" cy="548640"/>
          </a:xfrm>
          <a:prstGeom prst="rect">
            <a:avLst/>
          </a:prstGeom>
          <a:noFill/>
          <a:ln/>
        </p:spPr>
        <p:txBody>
          <a:bodyPr wrap="square" lIns="0" tIns="0" rIns="0" bIns="0" rtlCol="0" anchor="ctr"/>
          <a:lstStyle/>
          <a:p>
            <a:pPr marL="0" indent="0" algn="l">
              <a:buNone/>
            </a:pPr>
            <a:r>
              <a:rPr lang="en-US" sz="2800" b="1" dirty="0">
                <a:solidFill>
                  <a:srgbClr val="1F3B66"/>
                </a:solidFill>
                <a:latin typeface="Garamond" pitchFamily="34" charset="0"/>
                <a:ea typeface="Garamond" pitchFamily="34" charset="-122"/>
                <a:cs typeface="Garamond" pitchFamily="34" charset="-120"/>
              </a:rPr>
              <a:t>Data</a:t>
            </a:r>
            <a:endParaRPr lang="en-US" sz="3600" dirty="0"/>
          </a:p>
        </p:txBody>
      </p:sp>
      <p:sp>
        <p:nvSpPr>
          <p:cNvPr id="3" name="Text 1"/>
          <p:cNvSpPr/>
          <p:nvPr/>
        </p:nvSpPr>
        <p:spPr>
          <a:xfrm>
            <a:off x="1175262" y="2104988"/>
            <a:ext cx="10222475" cy="4268379"/>
          </a:xfrm>
          <a:prstGeom prst="rect">
            <a:avLst/>
          </a:prstGeom>
          <a:noFill/>
          <a:ln/>
        </p:spPr>
        <p:txBody>
          <a:bodyPr wrap="square" lIns="0" tIns="0" rIns="0" bIns="0" rtlCol="0" anchor="t"/>
          <a:lstStyle/>
          <a:p>
            <a:pPr marL="0" indent="0" algn="l">
              <a:lnSpc>
                <a:spcPts val="2200"/>
              </a:lnSpc>
              <a:spcBef>
                <a:spcPts val="600"/>
              </a:spcBef>
              <a:buNone/>
            </a:pPr>
            <a:r>
              <a:rPr lang="en-US" sz="1900" dirty="0">
                <a:solidFill>
                  <a:srgbClr val="1A2430"/>
                </a:solidFill>
                <a:latin typeface="Garamond" pitchFamily="34" charset="0"/>
                <a:ea typeface="Garamond" pitchFamily="34" charset="-122"/>
                <a:cs typeface="Garamond" pitchFamily="34" charset="-120"/>
              </a:rPr>
              <a:t>The Current Population Survey (CPS) is the main household survey in US, used to compute the country’s official employment statistics. </a:t>
            </a:r>
          </a:p>
          <a:p>
            <a:pPr marL="0" indent="0" algn="l">
              <a:lnSpc>
                <a:spcPts val="2200"/>
              </a:lnSpc>
              <a:spcBef>
                <a:spcPts val="600"/>
              </a:spcBef>
              <a:buNone/>
            </a:pPr>
            <a:endParaRPr lang="en-US" sz="1900" dirty="0">
              <a:solidFill>
                <a:srgbClr val="1A2430"/>
              </a:solidFill>
              <a:latin typeface="Garamond" pitchFamily="34" charset="0"/>
            </a:endParaRPr>
          </a:p>
          <a:p>
            <a:pPr>
              <a:lnSpc>
                <a:spcPts val="2200"/>
              </a:lnSpc>
              <a:spcBef>
                <a:spcPts val="600"/>
              </a:spcBef>
            </a:pPr>
            <a:r>
              <a:rPr lang="en-US" sz="1900" dirty="0">
                <a:solidFill>
                  <a:srgbClr val="1A2430"/>
                </a:solidFill>
                <a:latin typeface="Garamond" pitchFamily="34" charset="0"/>
              </a:rPr>
              <a:t>I pool all its rounds from 1998 to 2025 into a single file and turn it into a tool for following teachers</a:t>
            </a:r>
          </a:p>
          <a:p>
            <a:pPr>
              <a:lnSpc>
                <a:spcPts val="2200"/>
              </a:lnSpc>
              <a:spcBef>
                <a:spcPts val="600"/>
              </a:spcBef>
            </a:pPr>
            <a:endParaRPr lang="en-US" sz="1900" dirty="0">
              <a:solidFill>
                <a:srgbClr val="1A2430"/>
              </a:solidFill>
              <a:latin typeface="Garamond" pitchFamily="34" charset="0"/>
            </a:endParaRPr>
          </a:p>
          <a:p>
            <a:pPr>
              <a:lnSpc>
                <a:spcPts val="2200"/>
              </a:lnSpc>
              <a:spcBef>
                <a:spcPts val="600"/>
              </a:spcBef>
            </a:pPr>
            <a:r>
              <a:rPr lang="en-US" sz="1900" dirty="0">
                <a:solidFill>
                  <a:srgbClr val="1A2430"/>
                </a:solidFill>
                <a:latin typeface="Garamond" pitchFamily="34" charset="0"/>
              </a:rPr>
              <a:t>Each March, respondents report the longest job held last calendar year and their occupation today. Whoever taught last year and no longer teaches has left the profession within the year.</a:t>
            </a:r>
          </a:p>
          <a:p>
            <a:pPr>
              <a:lnSpc>
                <a:spcPts val="2200"/>
              </a:lnSpc>
              <a:spcBef>
                <a:spcPts val="600"/>
              </a:spcBef>
            </a:pPr>
            <a:endParaRPr lang="en-US" sz="1900" dirty="0">
              <a:solidFill>
                <a:srgbClr val="1A2430"/>
              </a:solidFill>
              <a:latin typeface="Garamond" pitchFamily="34" charset="0"/>
            </a:endParaRPr>
          </a:p>
          <a:p>
            <a:pPr>
              <a:lnSpc>
                <a:spcPts val="2200"/>
              </a:lnSpc>
              <a:spcBef>
                <a:spcPts val="600"/>
              </a:spcBef>
            </a:pPr>
            <a:r>
              <a:rPr lang="en-US" sz="1900" dirty="0">
                <a:solidFill>
                  <a:srgbClr val="1A2430"/>
                </a:solidFill>
                <a:latin typeface="Garamond" pitchFamily="34" charset="0"/>
              </a:rPr>
              <a:t>My final dataset holds 5 million individual records, with 104,545 teachers, around </a:t>
            </a:r>
            <a:r>
              <a:rPr lang="en-US" sz="1900" dirty="0">
                <a:solidFill>
                  <a:srgbClr val="1A2430"/>
                </a:solidFill>
                <a:latin typeface="Garamond" panose="02020404030301010803" pitchFamily="18" charset="0"/>
              </a:rPr>
              <a:t>3,700 </a:t>
            </a:r>
            <a:r>
              <a:rPr lang="en-US" sz="1900" dirty="0">
                <a:latin typeface="Garamond" panose="02020404030301010803" pitchFamily="18" charset="0"/>
              </a:rPr>
              <a:t>per year.</a:t>
            </a:r>
          </a:p>
          <a:p>
            <a:pPr>
              <a:lnSpc>
                <a:spcPts val="2200"/>
              </a:lnSpc>
            </a:pPr>
            <a:endParaRPr lang="en-US" sz="1900" dirty="0">
              <a:solidFill>
                <a:srgbClr val="1A2430"/>
              </a:solidFill>
              <a:latin typeface="Garamond" pitchFamily="34" charset="0"/>
            </a:endParaRPr>
          </a:p>
          <a:p>
            <a:pPr>
              <a:lnSpc>
                <a:spcPts val="2200"/>
              </a:lnSpc>
            </a:pPr>
            <a:endParaRPr lang="en-US" sz="1900" dirty="0">
              <a:solidFill>
                <a:srgbClr val="1A2430"/>
              </a:solidFill>
              <a:latin typeface="Garamond" pitchFamily="34" charset="0"/>
            </a:endParaRPr>
          </a:p>
          <a:p>
            <a:pPr marL="0" indent="0" algn="l">
              <a:lnSpc>
                <a:spcPts val="2200"/>
              </a:lnSpc>
              <a:buNone/>
            </a:pPr>
            <a:endParaRPr lang="en-US" sz="1900" dirty="0"/>
          </a:p>
        </p:txBody>
      </p:sp>
      <p:sp>
        <p:nvSpPr>
          <p:cNvPr id="4" name="Text 2"/>
          <p:cNvSpPr/>
          <p:nvPr/>
        </p:nvSpPr>
        <p:spPr>
          <a:xfrm>
            <a:off x="1178311" y="3652142"/>
            <a:ext cx="9838427" cy="868680"/>
          </a:xfrm>
          <a:prstGeom prst="rect">
            <a:avLst/>
          </a:prstGeom>
          <a:noFill/>
          <a:ln/>
        </p:spPr>
        <p:txBody>
          <a:bodyPr wrap="square" lIns="0" tIns="0" rIns="0" bIns="0" rtlCol="0" anchor="t"/>
          <a:lstStyle/>
          <a:p>
            <a:pPr>
              <a:lnSpc>
                <a:spcPts val="2200"/>
              </a:lnSpc>
            </a:pPr>
            <a:endParaRPr lang="en-US" sz="1900" dirty="0">
              <a:solidFill>
                <a:srgbClr val="1A2430"/>
              </a:solidFill>
              <a:latin typeface="Garamond" pitchFamily="34" charset="0"/>
            </a:endParaRPr>
          </a:p>
        </p:txBody>
      </p:sp>
      <p:sp>
        <p:nvSpPr>
          <p:cNvPr id="6" name="Text 4"/>
          <p:cNvSpPr/>
          <p:nvPr/>
        </p:nvSpPr>
        <p:spPr>
          <a:xfrm>
            <a:off x="1175262" y="4582264"/>
            <a:ext cx="9902952" cy="868680"/>
          </a:xfrm>
          <a:prstGeom prst="rect">
            <a:avLst/>
          </a:prstGeom>
          <a:noFill/>
          <a:ln/>
        </p:spPr>
        <p:txBody>
          <a:bodyPr wrap="square" lIns="0" tIns="0" rIns="0" bIns="0" rtlCol="0" anchor="t"/>
          <a:lstStyle/>
          <a:p>
            <a:pPr marL="0" indent="0" algn="l">
              <a:lnSpc>
                <a:spcPts val="2200"/>
              </a:lnSpc>
              <a:buNone/>
            </a:pPr>
            <a:endParaRPr lang="en-US" sz="2000" dirty="0"/>
          </a:p>
        </p:txBody>
      </p:sp>
      <p:sp>
        <p:nvSpPr>
          <p:cNvPr id="12" name="Shape 5">
            <a:extLst>
              <a:ext uri="{FF2B5EF4-FFF2-40B4-BE49-F238E27FC236}">
                <a16:creationId xmlns:a16="http://schemas.microsoft.com/office/drawing/2014/main" id="{518B18F2-09F6-C779-08D2-8908297B6DAF}"/>
              </a:ext>
            </a:extLst>
          </p:cNvPr>
          <p:cNvSpPr/>
          <p:nvPr/>
        </p:nvSpPr>
        <p:spPr>
          <a:xfrm>
            <a:off x="3048" y="-30309"/>
            <a:ext cx="12188952" cy="594360"/>
          </a:xfrm>
          <a:prstGeom prst="rect">
            <a:avLst/>
          </a:prstGeom>
          <a:solidFill>
            <a:srgbClr val="00549F"/>
          </a:solidFill>
          <a:ln/>
        </p:spPr>
        <p:txBody>
          <a:bodyPr/>
          <a:lstStyle/>
          <a:p>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84048" y="200391"/>
            <a:ext cx="11155680" cy="502920"/>
          </a:xfrm>
          <a:prstGeom prst="rect">
            <a:avLst/>
          </a:prstGeom>
          <a:noFill/>
          <a:ln/>
        </p:spPr>
        <p:txBody>
          <a:bodyPr wrap="square" lIns="0" tIns="0" rIns="0" bIns="0" rtlCol="0" anchor="ctr"/>
          <a:lstStyle/>
          <a:p>
            <a:pPr marR="0" lvl="0" fontAlgn="auto">
              <a:lnSpc>
                <a:spcPct val="100000"/>
              </a:lnSpc>
              <a:spcBef>
                <a:spcPts val="0"/>
              </a:spcBef>
              <a:spcAft>
                <a:spcPts val="0"/>
              </a:spcAft>
              <a:buClrTx/>
              <a:buSzTx/>
              <a:tabLst/>
              <a:defRPr/>
            </a:pPr>
            <a:r>
              <a:rPr lang="en-US" sz="2800" b="1" dirty="0">
                <a:solidFill>
                  <a:srgbClr val="1F3B66"/>
                </a:solidFill>
                <a:latin typeface="Garamond" pitchFamily="34" charset="0"/>
              </a:rPr>
              <a:t>Who counts as a teacher</a:t>
            </a:r>
          </a:p>
        </p:txBody>
      </p:sp>
      <p:grpSp>
        <p:nvGrpSpPr>
          <p:cNvPr id="75" name="Group 74">
            <a:extLst>
              <a:ext uri="{FF2B5EF4-FFF2-40B4-BE49-F238E27FC236}">
                <a16:creationId xmlns:a16="http://schemas.microsoft.com/office/drawing/2014/main" id="{51F17309-771B-D3FF-3939-29E28FC2362D}"/>
              </a:ext>
            </a:extLst>
          </p:cNvPr>
          <p:cNvGrpSpPr/>
          <p:nvPr/>
        </p:nvGrpSpPr>
        <p:grpSpPr>
          <a:xfrm>
            <a:off x="-105156" y="948776"/>
            <a:ext cx="11713464" cy="4934352"/>
            <a:chOff x="228600" y="1018392"/>
            <a:chExt cx="11713464" cy="4934352"/>
          </a:xfrm>
        </p:grpSpPr>
        <p:sp>
          <p:nvSpPr>
            <p:cNvPr id="9" name="Text 7"/>
            <p:cNvSpPr/>
            <p:nvPr/>
          </p:nvSpPr>
          <p:spPr>
            <a:xfrm>
              <a:off x="228600" y="1664208"/>
              <a:ext cx="1325880" cy="68580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1F4E79"/>
                  </a:solidFill>
                  <a:effectLst/>
                  <a:uLnTx/>
                  <a:uFillTx/>
                  <a:latin typeface="Garamond" pitchFamily="34" charset="0"/>
                  <a:ea typeface="Garamond" pitchFamily="34" charset="-122"/>
                  <a:cs typeface="Garamond" pitchFamily="34" charset="-120"/>
                </a:rPr>
                <a:t>Pre-K &amp;</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1F4E79"/>
                  </a:solidFill>
                  <a:effectLst/>
                  <a:uLnTx/>
                  <a:uFillTx/>
                  <a:latin typeface="Garamond" pitchFamily="34" charset="0"/>
                  <a:ea typeface="Garamond" pitchFamily="34" charset="-122"/>
                  <a:cs typeface="Garamond" pitchFamily="34" charset="-120"/>
                </a:rPr>
                <a:t>kindergarten</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Text 19"/>
            <p:cNvSpPr/>
            <p:nvPr/>
          </p:nvSpPr>
          <p:spPr>
            <a:xfrm>
              <a:off x="228600" y="2505456"/>
              <a:ext cx="1325880" cy="68580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1F4E79"/>
                  </a:solidFill>
                  <a:effectLst/>
                  <a:uLnTx/>
                  <a:uFillTx/>
                  <a:latin typeface="Garamond" pitchFamily="34" charset="0"/>
                  <a:ea typeface="Garamond" pitchFamily="34" charset="-122"/>
                  <a:cs typeface="Garamond" pitchFamily="34" charset="-120"/>
                </a:rPr>
                <a:t>Elementary</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1F4E79"/>
                  </a:solidFill>
                  <a:effectLst/>
                  <a:uLnTx/>
                  <a:uFillTx/>
                  <a:latin typeface="Garamond" pitchFamily="34" charset="0"/>
                  <a:ea typeface="Garamond" pitchFamily="34" charset="-122"/>
                  <a:cs typeface="Garamond" pitchFamily="34" charset="-120"/>
                </a:rPr>
                <a:t>&amp; middle †</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 name="Text 31"/>
            <p:cNvSpPr/>
            <p:nvPr/>
          </p:nvSpPr>
          <p:spPr>
            <a:xfrm>
              <a:off x="228600" y="3346704"/>
              <a:ext cx="1325880" cy="68580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1F4E79"/>
                  </a:solidFill>
                  <a:effectLst/>
                  <a:uLnTx/>
                  <a:uFillTx/>
                  <a:latin typeface="Garamond" pitchFamily="34" charset="0"/>
                  <a:ea typeface="Garamond" pitchFamily="34" charset="-122"/>
                  <a:cs typeface="Garamond" pitchFamily="34" charset="-120"/>
                </a:rPr>
                <a:t>Secondary</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5" name="Text 43"/>
            <p:cNvSpPr/>
            <p:nvPr/>
          </p:nvSpPr>
          <p:spPr>
            <a:xfrm>
              <a:off x="228600" y="4187952"/>
              <a:ext cx="1325880" cy="68580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7E2F2A"/>
                  </a:solidFill>
                  <a:effectLst/>
                  <a:uLnTx/>
                  <a:uFillTx/>
                  <a:latin typeface="Garamond" pitchFamily="34" charset="0"/>
                  <a:ea typeface="Garamond" pitchFamily="34" charset="-122"/>
                  <a:cs typeface="Garamond" pitchFamily="34" charset="-120"/>
                </a:rPr>
                <a:t>Special</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7E2F2A"/>
                  </a:solidFill>
                  <a:effectLst/>
                  <a:uLnTx/>
                  <a:uFillTx/>
                  <a:latin typeface="Garamond" pitchFamily="34" charset="0"/>
                  <a:ea typeface="Garamond" pitchFamily="34" charset="-122"/>
                  <a:cs typeface="Garamond" pitchFamily="34" charset="-120"/>
                </a:rPr>
                <a:t>education</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7" name="Text 55"/>
            <p:cNvSpPr/>
            <p:nvPr/>
          </p:nvSpPr>
          <p:spPr>
            <a:xfrm>
              <a:off x="228600" y="5029200"/>
              <a:ext cx="1325880" cy="68580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7E2F2A"/>
                  </a:solidFill>
                  <a:effectLst/>
                  <a:uLnTx/>
                  <a:uFillTx/>
                  <a:latin typeface="Garamond" pitchFamily="34" charset="0"/>
                  <a:ea typeface="Garamond" pitchFamily="34" charset="-122"/>
                  <a:cs typeface="Garamond" pitchFamily="34" charset="-120"/>
                </a:rPr>
                <a:t>Other</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7E2F2A"/>
                  </a:solidFill>
                  <a:effectLst/>
                  <a:uLnTx/>
                  <a:uFillTx/>
                  <a:latin typeface="Garamond" pitchFamily="34" charset="0"/>
                  <a:ea typeface="Garamond" pitchFamily="34" charset="-122"/>
                  <a:cs typeface="Garamond" pitchFamily="34" charset="-120"/>
                </a:rPr>
                <a:t>teachers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nvGrpSpPr>
            <p:cNvPr id="74" name="Group 73">
              <a:extLst>
                <a:ext uri="{FF2B5EF4-FFF2-40B4-BE49-F238E27FC236}">
                  <a16:creationId xmlns:a16="http://schemas.microsoft.com/office/drawing/2014/main" id="{E3450633-D153-B820-0022-F15911D44518}"/>
                </a:ext>
              </a:extLst>
            </p:cNvPr>
            <p:cNvGrpSpPr/>
            <p:nvPr/>
          </p:nvGrpSpPr>
          <p:grpSpPr>
            <a:xfrm>
              <a:off x="1687068" y="1018392"/>
              <a:ext cx="10254996" cy="4934352"/>
              <a:chOff x="1687068" y="1018392"/>
              <a:chExt cx="10254996" cy="4934352"/>
            </a:xfrm>
          </p:grpSpPr>
          <p:sp>
            <p:nvSpPr>
              <p:cNvPr id="3" name="Text 1"/>
              <p:cNvSpPr/>
              <p:nvPr/>
            </p:nvSpPr>
            <p:spPr>
              <a:xfrm>
                <a:off x="1687068" y="1266187"/>
                <a:ext cx="3246120" cy="2743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Surveys 1998–2002</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Text 2"/>
              <p:cNvSpPr/>
              <p:nvPr/>
            </p:nvSpPr>
            <p:spPr>
              <a:xfrm>
                <a:off x="1824228" y="1035558"/>
                <a:ext cx="3246120" cy="2743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prstClr val="black"/>
                    </a:solidFill>
                    <a:effectLst/>
                    <a:uLnTx/>
                    <a:uFillTx/>
                    <a:latin typeface="Garamond" pitchFamily="34" charset="0"/>
                    <a:ea typeface="Garamond" pitchFamily="34" charset="-122"/>
                    <a:cs typeface="Garamond" pitchFamily="34" charset="-120"/>
                  </a:rPr>
                  <a:t>Census occupation classification of 1990</a:t>
                </a:r>
                <a:endParaRPr kumimoji="0" lang="en-US" sz="1200" b="1"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Text 3"/>
              <p:cNvSpPr/>
              <p:nvPr/>
            </p:nvSpPr>
            <p:spPr>
              <a:xfrm>
                <a:off x="5257800" y="1280160"/>
                <a:ext cx="3246120" cy="2743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Surveys 2003–2019</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Text 4"/>
              <p:cNvSpPr/>
              <p:nvPr/>
            </p:nvSpPr>
            <p:spPr>
              <a:xfrm>
                <a:off x="4912614" y="1025508"/>
                <a:ext cx="3813049" cy="2743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prstClr val="black"/>
                    </a:solidFill>
                    <a:effectLst/>
                    <a:uLnTx/>
                    <a:uFillTx/>
                    <a:latin typeface="Garamond" pitchFamily="34" charset="0"/>
                    <a:ea typeface="Garamond" pitchFamily="34" charset="-122"/>
                    <a:cs typeface="Garamond" pitchFamily="34" charset="-120"/>
                  </a:rPr>
                  <a:t>Census occupation classification of 2002/2010</a:t>
                </a:r>
                <a:endParaRPr kumimoji="0" lang="en-US" sz="1200" b="1"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Text 5"/>
              <p:cNvSpPr/>
              <p:nvPr/>
            </p:nvSpPr>
            <p:spPr>
              <a:xfrm>
                <a:off x="8691372" y="1283524"/>
                <a:ext cx="3246120" cy="2743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Surveys 2020–2025</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Text 6"/>
              <p:cNvSpPr/>
              <p:nvPr/>
            </p:nvSpPr>
            <p:spPr>
              <a:xfrm>
                <a:off x="8691372" y="1018392"/>
                <a:ext cx="3246120" cy="2743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prstClr val="black"/>
                    </a:solidFill>
                    <a:effectLst/>
                    <a:uLnTx/>
                    <a:uFillTx/>
                    <a:latin typeface="Garamond" pitchFamily="34" charset="0"/>
                    <a:ea typeface="Garamond" pitchFamily="34" charset="-122"/>
                    <a:cs typeface="Garamond" pitchFamily="34" charset="-120"/>
                  </a:rPr>
                  <a:t>Census occupation classification of 2018</a:t>
                </a:r>
                <a:endParaRPr kumimoji="0" lang="en-US" sz="1200" b="1"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Shape 8"/>
              <p:cNvSpPr/>
              <p:nvPr/>
            </p:nvSpPr>
            <p:spPr>
              <a:xfrm>
                <a:off x="1691640" y="1664208"/>
                <a:ext cx="3246120" cy="685800"/>
              </a:xfrm>
              <a:prstGeom prst="roundRect">
                <a:avLst>
                  <a:gd name="adj" fmla="val 9333"/>
                </a:avLst>
              </a:prstGeom>
              <a:solidFill>
                <a:srgbClr val="EBF1F8"/>
              </a:solidFill>
              <a:ln w="1524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 name="Text 9"/>
              <p:cNvSpPr/>
              <p:nvPr/>
            </p:nvSpPr>
            <p:spPr>
              <a:xfrm>
                <a:off x="1801368" y="1664208"/>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4E79"/>
                    </a:solidFill>
                    <a:effectLst/>
                    <a:uLnTx/>
                    <a:uFillTx/>
                    <a:latin typeface="Garamond" pitchFamily="34" charset="0"/>
                    <a:ea typeface="Garamond" pitchFamily="34" charset="-122"/>
                    <a:cs typeface="Garamond" pitchFamily="34" charset="-120"/>
                  </a:rPr>
                  <a:t>155</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Text 10"/>
              <p:cNvSpPr/>
              <p:nvPr/>
            </p:nvSpPr>
            <p:spPr>
              <a:xfrm>
                <a:off x="2532888" y="1664208"/>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Teachers, prekindergarten and kindergarten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Shape 11"/>
              <p:cNvSpPr/>
              <p:nvPr/>
            </p:nvSpPr>
            <p:spPr>
              <a:xfrm>
                <a:off x="4937760" y="2007108"/>
                <a:ext cx="256032" cy="0"/>
              </a:xfrm>
              <a:prstGeom prst="line">
                <a:avLst/>
              </a:prstGeom>
              <a:noFill/>
              <a:ln w="1270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Shape 12"/>
              <p:cNvSpPr/>
              <p:nvPr/>
            </p:nvSpPr>
            <p:spPr>
              <a:xfrm>
                <a:off x="5193792" y="1664208"/>
                <a:ext cx="3246120" cy="685800"/>
              </a:xfrm>
              <a:prstGeom prst="roundRect">
                <a:avLst>
                  <a:gd name="adj" fmla="val 9333"/>
                </a:avLst>
              </a:prstGeom>
              <a:solidFill>
                <a:srgbClr val="EBF1F8"/>
              </a:solidFill>
              <a:ln w="1524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 name="Text 13"/>
              <p:cNvSpPr/>
              <p:nvPr/>
            </p:nvSpPr>
            <p:spPr>
              <a:xfrm>
                <a:off x="5303520" y="1664208"/>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4E79"/>
                    </a:solidFill>
                    <a:effectLst/>
                    <a:uLnTx/>
                    <a:uFillTx/>
                    <a:latin typeface="Garamond" pitchFamily="34" charset="0"/>
                    <a:ea typeface="Garamond" pitchFamily="34" charset="-122"/>
                    <a:cs typeface="Garamond" pitchFamily="34" charset="-120"/>
                  </a:rPr>
                  <a:t>2300</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Text 14"/>
              <p:cNvSpPr/>
              <p:nvPr/>
            </p:nvSpPr>
            <p:spPr>
              <a:xfrm>
                <a:off x="6035040" y="1664208"/>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Preschool and kindergarten teachers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Shape 15"/>
              <p:cNvSpPr/>
              <p:nvPr/>
            </p:nvSpPr>
            <p:spPr>
              <a:xfrm>
                <a:off x="8439912" y="2007108"/>
                <a:ext cx="256032" cy="0"/>
              </a:xfrm>
              <a:prstGeom prst="line">
                <a:avLst/>
              </a:prstGeom>
              <a:noFill/>
              <a:ln w="1270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 name="Shape 16"/>
              <p:cNvSpPr/>
              <p:nvPr/>
            </p:nvSpPr>
            <p:spPr>
              <a:xfrm>
                <a:off x="8695944" y="1664208"/>
                <a:ext cx="3246120" cy="685800"/>
              </a:xfrm>
              <a:prstGeom prst="roundRect">
                <a:avLst>
                  <a:gd name="adj" fmla="val 9333"/>
                </a:avLst>
              </a:prstGeom>
              <a:solidFill>
                <a:srgbClr val="EBF1F8"/>
              </a:solidFill>
              <a:ln w="1524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 name="Text 17"/>
              <p:cNvSpPr/>
              <p:nvPr/>
            </p:nvSpPr>
            <p:spPr>
              <a:xfrm>
                <a:off x="8805672" y="1664208"/>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4E79"/>
                    </a:solidFill>
                    <a:effectLst/>
                    <a:uLnTx/>
                    <a:uFillTx/>
                    <a:latin typeface="Garamond" pitchFamily="34" charset="0"/>
                    <a:ea typeface="Garamond" pitchFamily="34" charset="-122"/>
                    <a:cs typeface="Garamond" pitchFamily="34" charset="-120"/>
                  </a:rPr>
                  <a:t>2300</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Text 18"/>
              <p:cNvSpPr/>
              <p:nvPr/>
            </p:nvSpPr>
            <p:spPr>
              <a:xfrm>
                <a:off x="9537192" y="1664208"/>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Preschool and kindergarten teachers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2" name="Shape 20"/>
              <p:cNvSpPr/>
              <p:nvPr/>
            </p:nvSpPr>
            <p:spPr>
              <a:xfrm>
                <a:off x="1691640" y="2505456"/>
                <a:ext cx="3246120" cy="685800"/>
              </a:xfrm>
              <a:prstGeom prst="roundRect">
                <a:avLst>
                  <a:gd name="adj" fmla="val 9333"/>
                </a:avLst>
              </a:prstGeom>
              <a:solidFill>
                <a:srgbClr val="EBF1F8"/>
              </a:solidFill>
              <a:ln w="1524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 name="Text 21"/>
              <p:cNvSpPr/>
              <p:nvPr/>
            </p:nvSpPr>
            <p:spPr>
              <a:xfrm>
                <a:off x="1801368" y="2505456"/>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4E79"/>
                    </a:solidFill>
                    <a:effectLst/>
                    <a:uLnTx/>
                    <a:uFillTx/>
                    <a:latin typeface="Garamond" pitchFamily="34" charset="0"/>
                    <a:ea typeface="Garamond" pitchFamily="34" charset="-122"/>
                    <a:cs typeface="Garamond" pitchFamily="34" charset="-120"/>
                  </a:rPr>
                  <a:t>156</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Text 22"/>
              <p:cNvSpPr/>
              <p:nvPr/>
            </p:nvSpPr>
            <p:spPr>
              <a:xfrm>
                <a:off x="2532888" y="2505456"/>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Teachers, elementary school †</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 name="Shape 23"/>
              <p:cNvSpPr/>
              <p:nvPr/>
            </p:nvSpPr>
            <p:spPr>
              <a:xfrm>
                <a:off x="4937760" y="2848356"/>
                <a:ext cx="256032" cy="0"/>
              </a:xfrm>
              <a:prstGeom prst="line">
                <a:avLst/>
              </a:prstGeom>
              <a:noFill/>
              <a:ln w="1270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6" name="Shape 24"/>
              <p:cNvSpPr/>
              <p:nvPr/>
            </p:nvSpPr>
            <p:spPr>
              <a:xfrm>
                <a:off x="5193792" y="2505456"/>
                <a:ext cx="3246120" cy="685800"/>
              </a:xfrm>
              <a:prstGeom prst="roundRect">
                <a:avLst>
                  <a:gd name="adj" fmla="val 9333"/>
                </a:avLst>
              </a:prstGeom>
              <a:solidFill>
                <a:srgbClr val="EBF1F8"/>
              </a:solidFill>
              <a:ln w="1524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 name="Text 25"/>
              <p:cNvSpPr/>
              <p:nvPr/>
            </p:nvSpPr>
            <p:spPr>
              <a:xfrm>
                <a:off x="5303520" y="2505456"/>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4E79"/>
                    </a:solidFill>
                    <a:effectLst/>
                    <a:uLnTx/>
                    <a:uFillTx/>
                    <a:latin typeface="Garamond" pitchFamily="34" charset="0"/>
                    <a:ea typeface="Garamond" pitchFamily="34" charset="-122"/>
                    <a:cs typeface="Garamond" pitchFamily="34" charset="-120"/>
                  </a:rPr>
                  <a:t>2310</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 name="Text 26"/>
              <p:cNvSpPr/>
              <p:nvPr/>
            </p:nvSpPr>
            <p:spPr>
              <a:xfrm>
                <a:off x="6035040" y="2505456"/>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Elementary and middle school teachers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Shape 27"/>
              <p:cNvSpPr/>
              <p:nvPr/>
            </p:nvSpPr>
            <p:spPr>
              <a:xfrm>
                <a:off x="8439912" y="2848356"/>
                <a:ext cx="256032" cy="0"/>
              </a:xfrm>
              <a:prstGeom prst="line">
                <a:avLst/>
              </a:prstGeom>
              <a:noFill/>
              <a:ln w="1270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 name="Shape 28"/>
              <p:cNvSpPr/>
              <p:nvPr/>
            </p:nvSpPr>
            <p:spPr>
              <a:xfrm>
                <a:off x="8695944" y="2505456"/>
                <a:ext cx="3246120" cy="685800"/>
              </a:xfrm>
              <a:prstGeom prst="roundRect">
                <a:avLst>
                  <a:gd name="adj" fmla="val 9333"/>
                </a:avLst>
              </a:prstGeom>
              <a:solidFill>
                <a:srgbClr val="EBF1F8"/>
              </a:solidFill>
              <a:ln w="1524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1" name="Text 29"/>
              <p:cNvSpPr/>
              <p:nvPr/>
            </p:nvSpPr>
            <p:spPr>
              <a:xfrm>
                <a:off x="8805672" y="2505456"/>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4E79"/>
                    </a:solidFill>
                    <a:effectLst/>
                    <a:uLnTx/>
                    <a:uFillTx/>
                    <a:latin typeface="Garamond" pitchFamily="34" charset="0"/>
                    <a:ea typeface="Garamond" pitchFamily="34" charset="-122"/>
                    <a:cs typeface="Garamond" pitchFamily="34" charset="-120"/>
                  </a:rPr>
                  <a:t>2310</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2" name="Text 30"/>
              <p:cNvSpPr/>
              <p:nvPr/>
            </p:nvSpPr>
            <p:spPr>
              <a:xfrm>
                <a:off x="9537192" y="2505456"/>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Elementary and middle school teachers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4" name="Shape 32"/>
              <p:cNvSpPr/>
              <p:nvPr/>
            </p:nvSpPr>
            <p:spPr>
              <a:xfrm>
                <a:off x="1691640" y="3346704"/>
                <a:ext cx="3246120" cy="685800"/>
              </a:xfrm>
              <a:prstGeom prst="roundRect">
                <a:avLst>
                  <a:gd name="adj" fmla="val 9333"/>
                </a:avLst>
              </a:prstGeom>
              <a:solidFill>
                <a:srgbClr val="EBF1F8"/>
              </a:solidFill>
              <a:ln w="1524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5" name="Text 33"/>
              <p:cNvSpPr/>
              <p:nvPr/>
            </p:nvSpPr>
            <p:spPr>
              <a:xfrm>
                <a:off x="1801368" y="3346704"/>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4E79"/>
                    </a:solidFill>
                    <a:effectLst/>
                    <a:uLnTx/>
                    <a:uFillTx/>
                    <a:latin typeface="Garamond" pitchFamily="34" charset="0"/>
                    <a:ea typeface="Garamond" pitchFamily="34" charset="-122"/>
                    <a:cs typeface="Garamond" pitchFamily="34" charset="-120"/>
                  </a:rPr>
                  <a:t>157</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6" name="Text 34"/>
              <p:cNvSpPr/>
              <p:nvPr/>
            </p:nvSpPr>
            <p:spPr>
              <a:xfrm>
                <a:off x="2532888" y="3346704"/>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Teachers, secondary school †</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7" name="Shape 35"/>
              <p:cNvSpPr/>
              <p:nvPr/>
            </p:nvSpPr>
            <p:spPr>
              <a:xfrm>
                <a:off x="4937760" y="3689604"/>
                <a:ext cx="256032" cy="0"/>
              </a:xfrm>
              <a:prstGeom prst="line">
                <a:avLst/>
              </a:prstGeom>
              <a:noFill/>
              <a:ln w="1270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8" name="Shape 36"/>
              <p:cNvSpPr/>
              <p:nvPr/>
            </p:nvSpPr>
            <p:spPr>
              <a:xfrm>
                <a:off x="5193792" y="3346704"/>
                <a:ext cx="3246120" cy="685800"/>
              </a:xfrm>
              <a:prstGeom prst="roundRect">
                <a:avLst>
                  <a:gd name="adj" fmla="val 9333"/>
                </a:avLst>
              </a:prstGeom>
              <a:solidFill>
                <a:srgbClr val="EBF1F8"/>
              </a:solidFill>
              <a:ln w="1524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9" name="Text 37"/>
              <p:cNvSpPr/>
              <p:nvPr/>
            </p:nvSpPr>
            <p:spPr>
              <a:xfrm>
                <a:off x="5303520" y="3346704"/>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4E79"/>
                    </a:solidFill>
                    <a:effectLst/>
                    <a:uLnTx/>
                    <a:uFillTx/>
                    <a:latin typeface="Garamond" pitchFamily="34" charset="0"/>
                    <a:ea typeface="Garamond" pitchFamily="34" charset="-122"/>
                    <a:cs typeface="Garamond" pitchFamily="34" charset="-120"/>
                  </a:rPr>
                  <a:t>2320</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0" name="Text 38"/>
              <p:cNvSpPr/>
              <p:nvPr/>
            </p:nvSpPr>
            <p:spPr>
              <a:xfrm>
                <a:off x="6035040" y="3346704"/>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Secondary school teachers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1" name="Shape 39"/>
              <p:cNvSpPr/>
              <p:nvPr/>
            </p:nvSpPr>
            <p:spPr>
              <a:xfrm>
                <a:off x="8439912" y="3689604"/>
                <a:ext cx="256032" cy="0"/>
              </a:xfrm>
              <a:prstGeom prst="line">
                <a:avLst/>
              </a:prstGeom>
              <a:noFill/>
              <a:ln w="1270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2" name="Shape 40"/>
              <p:cNvSpPr/>
              <p:nvPr/>
            </p:nvSpPr>
            <p:spPr>
              <a:xfrm>
                <a:off x="8695944" y="3346704"/>
                <a:ext cx="3246120" cy="685800"/>
              </a:xfrm>
              <a:prstGeom prst="roundRect">
                <a:avLst>
                  <a:gd name="adj" fmla="val 9333"/>
                </a:avLst>
              </a:prstGeom>
              <a:solidFill>
                <a:srgbClr val="EBF1F8"/>
              </a:solidFill>
              <a:ln w="1524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3" name="Text 41"/>
              <p:cNvSpPr/>
              <p:nvPr/>
            </p:nvSpPr>
            <p:spPr>
              <a:xfrm>
                <a:off x="8805672" y="3346704"/>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4E79"/>
                    </a:solidFill>
                    <a:effectLst/>
                    <a:uLnTx/>
                    <a:uFillTx/>
                    <a:latin typeface="Garamond" pitchFamily="34" charset="0"/>
                    <a:ea typeface="Garamond" pitchFamily="34" charset="-122"/>
                    <a:cs typeface="Garamond" pitchFamily="34" charset="-120"/>
                  </a:rPr>
                  <a:t>2320</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4" name="Text 42"/>
              <p:cNvSpPr/>
              <p:nvPr/>
            </p:nvSpPr>
            <p:spPr>
              <a:xfrm>
                <a:off x="9537192" y="3346704"/>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Secondary school teachers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6" name="Shape 44"/>
              <p:cNvSpPr/>
              <p:nvPr/>
            </p:nvSpPr>
            <p:spPr>
              <a:xfrm>
                <a:off x="1691640" y="4187952"/>
                <a:ext cx="3246120" cy="685800"/>
              </a:xfrm>
              <a:prstGeom prst="roundRect">
                <a:avLst>
                  <a:gd name="adj" fmla="val 9333"/>
                </a:avLst>
              </a:prstGeom>
              <a:solidFill>
                <a:srgbClr val="F6EDEC"/>
              </a:solidFill>
              <a:ln w="15240">
                <a:solidFill>
                  <a:srgbClr val="7E2F2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7" name="Text 45"/>
              <p:cNvSpPr/>
              <p:nvPr/>
            </p:nvSpPr>
            <p:spPr>
              <a:xfrm>
                <a:off x="1801368" y="4187952"/>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7E2F2A"/>
                    </a:solidFill>
                    <a:effectLst/>
                    <a:uLnTx/>
                    <a:uFillTx/>
                    <a:latin typeface="Garamond" pitchFamily="34" charset="0"/>
                    <a:ea typeface="Garamond" pitchFamily="34" charset="-122"/>
                    <a:cs typeface="Garamond" pitchFamily="34" charset="-120"/>
                  </a:rPr>
                  <a:t>158</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8" name="Text 46"/>
              <p:cNvSpPr/>
              <p:nvPr/>
            </p:nvSpPr>
            <p:spPr>
              <a:xfrm>
                <a:off x="2532888" y="4187952"/>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Teachers, special education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9" name="Shape 47"/>
              <p:cNvSpPr/>
              <p:nvPr/>
            </p:nvSpPr>
            <p:spPr>
              <a:xfrm>
                <a:off x="4937760" y="4530852"/>
                <a:ext cx="256032" cy="0"/>
              </a:xfrm>
              <a:prstGeom prst="line">
                <a:avLst/>
              </a:prstGeom>
              <a:noFill/>
              <a:ln w="12700">
                <a:solidFill>
                  <a:srgbClr val="7E2F2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0" name="Shape 48"/>
              <p:cNvSpPr/>
              <p:nvPr/>
            </p:nvSpPr>
            <p:spPr>
              <a:xfrm>
                <a:off x="5193792" y="4187952"/>
                <a:ext cx="3246120" cy="685800"/>
              </a:xfrm>
              <a:prstGeom prst="roundRect">
                <a:avLst>
                  <a:gd name="adj" fmla="val 9333"/>
                </a:avLst>
              </a:prstGeom>
              <a:solidFill>
                <a:srgbClr val="F6EDEC"/>
              </a:solidFill>
              <a:ln w="15240">
                <a:solidFill>
                  <a:srgbClr val="7E2F2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1" name="Text 49"/>
              <p:cNvSpPr/>
              <p:nvPr/>
            </p:nvSpPr>
            <p:spPr>
              <a:xfrm>
                <a:off x="5303520" y="4187952"/>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7E2F2A"/>
                    </a:solidFill>
                    <a:effectLst/>
                    <a:uLnTx/>
                    <a:uFillTx/>
                    <a:latin typeface="Garamond" pitchFamily="34" charset="0"/>
                    <a:ea typeface="Garamond" pitchFamily="34" charset="-122"/>
                    <a:cs typeface="Garamond" pitchFamily="34" charset="-120"/>
                  </a:rPr>
                  <a:t>2330</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2" name="Text 50"/>
              <p:cNvSpPr/>
              <p:nvPr/>
            </p:nvSpPr>
            <p:spPr>
              <a:xfrm>
                <a:off x="6035040" y="4187952"/>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Special education teachers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3" name="Shape 51"/>
              <p:cNvSpPr/>
              <p:nvPr/>
            </p:nvSpPr>
            <p:spPr>
              <a:xfrm>
                <a:off x="8439912" y="4530852"/>
                <a:ext cx="256032" cy="0"/>
              </a:xfrm>
              <a:prstGeom prst="line">
                <a:avLst/>
              </a:prstGeom>
              <a:noFill/>
              <a:ln w="12700">
                <a:solidFill>
                  <a:srgbClr val="7E2F2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4" name="Shape 52"/>
              <p:cNvSpPr/>
              <p:nvPr/>
            </p:nvSpPr>
            <p:spPr>
              <a:xfrm>
                <a:off x="8695944" y="4187952"/>
                <a:ext cx="3246120" cy="685800"/>
              </a:xfrm>
              <a:prstGeom prst="roundRect">
                <a:avLst>
                  <a:gd name="adj" fmla="val 9333"/>
                </a:avLst>
              </a:prstGeom>
              <a:solidFill>
                <a:srgbClr val="F6EDEC"/>
              </a:solidFill>
              <a:ln w="15240">
                <a:solidFill>
                  <a:srgbClr val="7E2F2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5" name="Text 53"/>
              <p:cNvSpPr/>
              <p:nvPr/>
            </p:nvSpPr>
            <p:spPr>
              <a:xfrm>
                <a:off x="8805672" y="4187952"/>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7E2F2A"/>
                    </a:solidFill>
                    <a:effectLst/>
                    <a:uLnTx/>
                    <a:uFillTx/>
                    <a:latin typeface="Garamond" pitchFamily="34" charset="0"/>
                    <a:ea typeface="Garamond" pitchFamily="34" charset="-122"/>
                    <a:cs typeface="Garamond" pitchFamily="34" charset="-120"/>
                  </a:rPr>
                  <a:t>2330</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6" name="Text 54"/>
              <p:cNvSpPr/>
              <p:nvPr/>
            </p:nvSpPr>
            <p:spPr>
              <a:xfrm>
                <a:off x="9537192" y="4187952"/>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Special education teachers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8" name="Shape 56"/>
              <p:cNvSpPr/>
              <p:nvPr/>
            </p:nvSpPr>
            <p:spPr>
              <a:xfrm>
                <a:off x="1691640" y="5029200"/>
                <a:ext cx="3246120" cy="685800"/>
              </a:xfrm>
              <a:prstGeom prst="roundRect">
                <a:avLst>
                  <a:gd name="adj" fmla="val 9333"/>
                </a:avLst>
              </a:prstGeom>
              <a:solidFill>
                <a:srgbClr val="F6EDEC"/>
              </a:solidFill>
              <a:ln w="15240">
                <a:solidFill>
                  <a:srgbClr val="7E2F2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9" name="Text 57"/>
              <p:cNvSpPr/>
              <p:nvPr/>
            </p:nvSpPr>
            <p:spPr>
              <a:xfrm>
                <a:off x="1801368" y="5029200"/>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7E2F2A"/>
                    </a:solidFill>
                    <a:effectLst/>
                    <a:uLnTx/>
                    <a:uFillTx/>
                    <a:latin typeface="Garamond" pitchFamily="34" charset="0"/>
                    <a:ea typeface="Garamond" pitchFamily="34" charset="-122"/>
                    <a:cs typeface="Garamond" pitchFamily="34" charset="-120"/>
                  </a:rPr>
                  <a:t>159</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0" name="Text 58"/>
              <p:cNvSpPr/>
              <p:nvPr/>
            </p:nvSpPr>
            <p:spPr>
              <a:xfrm>
                <a:off x="2532888" y="5029200"/>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Teachers, n.e.c. (not elsewhere classified)</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1" name="Shape 59"/>
              <p:cNvSpPr/>
              <p:nvPr/>
            </p:nvSpPr>
            <p:spPr>
              <a:xfrm>
                <a:off x="4937760" y="5372100"/>
                <a:ext cx="256032" cy="0"/>
              </a:xfrm>
              <a:prstGeom prst="line">
                <a:avLst/>
              </a:prstGeom>
              <a:noFill/>
              <a:ln w="12700">
                <a:solidFill>
                  <a:srgbClr val="7E2F2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2" name="Shape 60"/>
              <p:cNvSpPr/>
              <p:nvPr/>
            </p:nvSpPr>
            <p:spPr>
              <a:xfrm>
                <a:off x="5193792" y="5029200"/>
                <a:ext cx="3246120" cy="685800"/>
              </a:xfrm>
              <a:prstGeom prst="roundRect">
                <a:avLst>
                  <a:gd name="adj" fmla="val 9333"/>
                </a:avLst>
              </a:prstGeom>
              <a:solidFill>
                <a:srgbClr val="F6EDEC"/>
              </a:solidFill>
              <a:ln w="15240">
                <a:solidFill>
                  <a:srgbClr val="7E2F2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3" name="Text 61"/>
              <p:cNvSpPr/>
              <p:nvPr/>
            </p:nvSpPr>
            <p:spPr>
              <a:xfrm>
                <a:off x="5303520" y="5029200"/>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7E2F2A"/>
                    </a:solidFill>
                    <a:effectLst/>
                    <a:uLnTx/>
                    <a:uFillTx/>
                    <a:latin typeface="Garamond" pitchFamily="34" charset="0"/>
                    <a:ea typeface="Garamond" pitchFamily="34" charset="-122"/>
                    <a:cs typeface="Garamond" pitchFamily="34" charset="-120"/>
                  </a:rPr>
                  <a:t>2340</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4" name="Text 62"/>
              <p:cNvSpPr/>
              <p:nvPr/>
            </p:nvSpPr>
            <p:spPr>
              <a:xfrm>
                <a:off x="6035040" y="5029200"/>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Other teachers and instructors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5" name="Shape 63"/>
              <p:cNvSpPr/>
              <p:nvPr/>
            </p:nvSpPr>
            <p:spPr>
              <a:xfrm>
                <a:off x="8439912" y="5372100"/>
                <a:ext cx="256032" cy="0"/>
              </a:xfrm>
              <a:prstGeom prst="line">
                <a:avLst/>
              </a:prstGeom>
              <a:noFill/>
              <a:ln w="12700">
                <a:solidFill>
                  <a:srgbClr val="7E2F2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6" name="Shape 64"/>
              <p:cNvSpPr/>
              <p:nvPr/>
            </p:nvSpPr>
            <p:spPr>
              <a:xfrm>
                <a:off x="8695944" y="5029200"/>
                <a:ext cx="3246120" cy="685800"/>
              </a:xfrm>
              <a:prstGeom prst="roundRect">
                <a:avLst>
                  <a:gd name="adj" fmla="val 9333"/>
                </a:avLst>
              </a:prstGeom>
              <a:solidFill>
                <a:srgbClr val="F6EDEC"/>
              </a:solidFill>
              <a:ln w="15240">
                <a:solidFill>
                  <a:srgbClr val="7E2F2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7" name="Text 65"/>
              <p:cNvSpPr/>
              <p:nvPr/>
            </p:nvSpPr>
            <p:spPr>
              <a:xfrm>
                <a:off x="8805672" y="5029200"/>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7E2F2A"/>
                    </a:solidFill>
                    <a:effectLst/>
                    <a:uLnTx/>
                    <a:uFillTx/>
                    <a:latin typeface="Garamond" pitchFamily="34" charset="0"/>
                    <a:ea typeface="Garamond" pitchFamily="34" charset="-122"/>
                    <a:cs typeface="Garamond" pitchFamily="34" charset="-120"/>
                  </a:rPr>
                  <a:t>2360</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8" name="Text 66"/>
              <p:cNvSpPr/>
              <p:nvPr/>
            </p:nvSpPr>
            <p:spPr>
              <a:xfrm>
                <a:off x="9537192" y="5029200"/>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Other teachers and instructors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9" name="Shape 67"/>
              <p:cNvSpPr/>
              <p:nvPr/>
            </p:nvSpPr>
            <p:spPr>
              <a:xfrm>
                <a:off x="5065776" y="1024128"/>
                <a:ext cx="0" cy="4690872"/>
              </a:xfrm>
              <a:prstGeom prst="line">
                <a:avLst/>
              </a:prstGeom>
              <a:noFill/>
              <a:ln w="9525">
                <a:solidFill>
                  <a:srgbClr val="B9C0C8"/>
                </a:solidFill>
                <a:prstDash val="dash"/>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 name="Text 68"/>
              <p:cNvSpPr/>
              <p:nvPr/>
            </p:nvSpPr>
            <p:spPr>
              <a:xfrm>
                <a:off x="4242816" y="5733288"/>
                <a:ext cx="1645920" cy="21945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prstClr val="black"/>
                    </a:solidFill>
                    <a:effectLst/>
                    <a:uLnTx/>
                    <a:uFillTx/>
                    <a:latin typeface="Garamond" pitchFamily="34" charset="0"/>
                    <a:ea typeface="Garamond" pitchFamily="34" charset="-122"/>
                    <a:cs typeface="Garamond" pitchFamily="34" charset="-120"/>
                  </a:rPr>
                  <a:t>2003 reclassification</a:t>
                </a:r>
                <a:endParaRPr kumimoji="0" lang="en-US" sz="900" b="1"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1" name="Shape 69"/>
              <p:cNvSpPr/>
              <p:nvPr/>
            </p:nvSpPr>
            <p:spPr>
              <a:xfrm>
                <a:off x="8567928" y="1024128"/>
                <a:ext cx="0" cy="4690872"/>
              </a:xfrm>
              <a:prstGeom prst="line">
                <a:avLst/>
              </a:prstGeom>
              <a:noFill/>
              <a:ln w="9525">
                <a:solidFill>
                  <a:srgbClr val="B9C0C8"/>
                </a:solidFill>
                <a:prstDash val="dash"/>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2" name="Text 70"/>
              <p:cNvSpPr/>
              <p:nvPr/>
            </p:nvSpPr>
            <p:spPr>
              <a:xfrm>
                <a:off x="7744968" y="5733288"/>
                <a:ext cx="1645920" cy="21945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prstClr val="black"/>
                    </a:solidFill>
                    <a:effectLst/>
                    <a:uLnTx/>
                    <a:uFillTx/>
                    <a:latin typeface="Garamond" pitchFamily="34" charset="0"/>
                    <a:ea typeface="Garamond" pitchFamily="34" charset="-122"/>
                    <a:cs typeface="Garamond" pitchFamily="34" charset="-120"/>
                  </a:rPr>
                  <a:t>2020 reclassification</a:t>
                </a:r>
                <a:endParaRPr kumimoji="0" lang="en-US" sz="900" b="1"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grpSp>
      <p:sp>
        <p:nvSpPr>
          <p:cNvPr id="73" name="Text 71"/>
          <p:cNvSpPr/>
          <p:nvPr/>
        </p:nvSpPr>
        <p:spPr>
          <a:xfrm>
            <a:off x="2605178" y="6188177"/>
            <a:ext cx="7366958" cy="77724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prstClr val="black"/>
                </a:solidFill>
                <a:effectLst/>
                <a:uLnTx/>
                <a:uFillTx/>
                <a:latin typeface="Garamond" pitchFamily="34" charset="0"/>
                <a:ea typeface="Garamond" pitchFamily="34" charset="-122"/>
                <a:cs typeface="Garamond" pitchFamily="34" charset="-120"/>
              </a:rPr>
              <a:t>Traceable as a block: </a:t>
            </a:r>
            <a:r>
              <a:rPr kumimoji="0" lang="en-US" sz="1100" b="0" i="0" u="none" strike="noStrike" kern="1200" cap="none" spc="0" normalizeH="0" baseline="0" noProof="0" dirty="0">
                <a:ln>
                  <a:noFill/>
                </a:ln>
                <a:solidFill>
                  <a:prstClr val="black"/>
                </a:solidFill>
                <a:effectLst/>
                <a:uLnTx/>
                <a:uFillTx/>
                <a:latin typeface="Garamond" pitchFamily="34" charset="0"/>
                <a:ea typeface="Garamond" pitchFamily="34" charset="-122"/>
                <a:cs typeface="Garamond" pitchFamily="34" charset="-120"/>
              </a:rPr>
              <a:t>the K–12 teaching group maps one-to-one across the three classifications — every figure uses the union, never a sub-code across regimes.† middle-school teachers sit under elementary or secondary before 2003, with elementary (2310) after</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1. Composition of the Teaching Workforce, 2005–2024</a:t>
            </a:r>
            <a:endParaRPr lang="en-US" sz="2100" dirty="0"/>
          </a:p>
        </p:txBody>
      </p:sp>
      <p:pic>
        <p:nvPicPr>
          <p:cNvPr id="3" name="Image 0" descr="figs_png/g1_workforce.png"/>
          <p:cNvPicPr>
            <a:picLocks noChangeAspect="1"/>
          </p:cNvPicPr>
          <p:nvPr/>
        </p:nvPicPr>
        <p:blipFill>
          <a:blip r:embed="rId3"/>
          <a:stretch>
            <a:fillRect/>
          </a:stretch>
        </p:blipFill>
        <p:spPr>
          <a:xfrm>
            <a:off x="1133040" y="804672"/>
            <a:ext cx="9922873" cy="4709160"/>
          </a:xfrm>
          <a:prstGeom prst="rect">
            <a:avLst/>
          </a:prstGeom>
        </p:spPr>
      </p:pic>
      <p:sp>
        <p:nvSpPr>
          <p:cNvPr id="5" name="Text 1"/>
          <p:cNvSpPr/>
          <p:nvPr/>
        </p:nvSpPr>
        <p:spPr>
          <a:xfrm>
            <a:off x="1455195" y="5760720"/>
            <a:ext cx="9922873"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College-graduate teachers aged 18+ whose longest job last year was K–12 teaching; ASEC supplement weights. Thin gray lines are annual values; blue lines are centered 3-year averages, with endpoint values printed. “Public school,” “part-time,” and “pension plan” refer to the longest job held last year; the open circle marks 2013, a year with a reduced sample due to the ASEC redesign. Source: author’s calculations from March CPS supplements, survey years 2006–2025.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2. Leaving Teaching, 1997–2024</a:t>
            </a:r>
            <a:endParaRPr lang="en-US" sz="2100" dirty="0"/>
          </a:p>
        </p:txBody>
      </p:sp>
      <p:pic>
        <p:nvPicPr>
          <p:cNvPr id="3" name="Image 0" descr="figs_png/g2_evolution.png"/>
          <p:cNvPicPr>
            <a:picLocks noChangeAspect="1"/>
          </p:cNvPicPr>
          <p:nvPr/>
        </p:nvPicPr>
        <p:blipFill>
          <a:blip r:embed="rId3"/>
          <a:stretch>
            <a:fillRect/>
          </a:stretch>
        </p:blipFill>
        <p:spPr>
          <a:xfrm>
            <a:off x="1385316" y="804672"/>
            <a:ext cx="9418320" cy="4709160"/>
          </a:xfrm>
          <a:prstGeom prst="rect">
            <a:avLst/>
          </a:prstGeom>
        </p:spPr>
      </p:pic>
      <p:sp>
        <p:nvSpPr>
          <p:cNvPr id="5" name="Text 1"/>
          <p:cNvSpPr/>
          <p:nvPr/>
        </p:nvSpPr>
        <p:spPr>
          <a:xfrm>
            <a:off x="2075380" y="5650992"/>
            <a:ext cx="8621376"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Share of college-graduate teachers (longest job last calendar year) not employed in a teaching occupation the following March; ASEC weights. Shaded band: 95 percent confidence interval using a design factor of 1.5. Dotted line: the 1997–2024 mean (8.6). The gray band marks the Covid supplements. Source: author’s calculations from March CPS supplements, survey years 1998–2025.</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3. Leaving Teaching by School Sector, 1997-2024</a:t>
            </a:r>
            <a:endParaRPr lang="en-US" sz="2100" dirty="0"/>
          </a:p>
        </p:txBody>
      </p:sp>
      <p:pic>
        <p:nvPicPr>
          <p:cNvPr id="3" name="Image 0" descr="figs_png/n5b_states_trio.png"/>
          <p:cNvPicPr>
            <a:picLocks noChangeAspect="1"/>
          </p:cNvPicPr>
          <p:nvPr/>
        </p:nvPicPr>
        <p:blipFill>
          <a:blip r:embed="rId2"/>
          <a:stretch>
            <a:fillRect/>
          </a:stretch>
        </p:blipFill>
        <p:spPr>
          <a:xfrm>
            <a:off x="1342143" y="804672"/>
            <a:ext cx="9504666" cy="4842000"/>
          </a:xfrm>
          <a:prstGeom prst="rect">
            <a:avLst/>
          </a:prstGeom>
        </p:spPr>
      </p:pic>
      <p:sp>
        <p:nvSpPr>
          <p:cNvPr id="5" name="Text 1"/>
          <p:cNvSpPr/>
          <p:nvPr/>
        </p:nvSpPr>
        <p:spPr>
          <a:xfrm>
            <a:off x="1826077" y="5777154"/>
            <a:ext cx="9372754"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Annual share of college-graduate teachers leaving the profession by the following March, by sector of the teaching-year job (class of worker: government vs. private), ASEC weights. Shaded bands: 95 percent confidence intervals with a design factor of 1.5; dotted lines: the 1997-2024 sector means. The gray band marks the Covid supplements. Source: author’s calculations from March CPS supplements, survey years 1998-2025.</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4. Rates of Leaving the Occupation, Teachers and Comparable Professions</a:t>
            </a:r>
            <a:endParaRPr lang="en-US" sz="2100" dirty="0"/>
          </a:p>
        </p:txBody>
      </p:sp>
      <p:pic>
        <p:nvPicPr>
          <p:cNvPr id="3" name="Image 0" descr="figs_png/n5b_states_trio.png"/>
          <p:cNvPicPr>
            <a:picLocks noChangeAspect="1"/>
          </p:cNvPicPr>
          <p:nvPr/>
        </p:nvPicPr>
        <p:blipFill>
          <a:blip r:embed="rId3"/>
          <a:stretch>
            <a:fillRect/>
          </a:stretch>
        </p:blipFill>
        <p:spPr>
          <a:xfrm>
            <a:off x="1252476" y="804672"/>
            <a:ext cx="9684000" cy="4842000"/>
          </a:xfrm>
          <a:prstGeom prst="rect">
            <a:avLst/>
          </a:prstGeom>
        </p:spPr>
      </p:pic>
      <p:sp>
        <p:nvSpPr>
          <p:cNvPr id="5" name="Text 1"/>
          <p:cNvSpPr/>
          <p:nvPr/>
        </p:nvSpPr>
        <p:spPr>
          <a:xfrm>
            <a:off x="1674688" y="5747256"/>
            <a:ext cx="9430024"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Percent of college graduates aged 18 and over whose longest job last year was in each occupation and who are no longer in it at the following March interview, by any route; centered 3-year pooled windows with shaded 95 percent confidence bands; occupation codes harmonized across the 1990, 2002, 2010 and 2018 Census classifications. Source: Author’s calculations from March CPS supplements, 1998–2025.</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5. Labor Force Exit of Women, Teachers and Comparable Professions</a:t>
            </a:r>
            <a:endParaRPr lang="en-US" sz="2100" dirty="0"/>
          </a:p>
        </p:txBody>
      </p:sp>
      <p:pic>
        <p:nvPicPr>
          <p:cNvPr id="3" name="Image 0" descr="figs_png/n5b_states_trio.png"/>
          <p:cNvPicPr>
            <a:picLocks noChangeAspect="1"/>
          </p:cNvPicPr>
          <p:nvPr/>
        </p:nvPicPr>
        <p:blipFill>
          <a:blip r:embed="rId3"/>
          <a:stretch>
            <a:fillRect/>
          </a:stretch>
        </p:blipFill>
        <p:spPr>
          <a:xfrm>
            <a:off x="1252476" y="704088"/>
            <a:ext cx="9684000" cy="4842000"/>
          </a:xfrm>
          <a:prstGeom prst="rect">
            <a:avLst/>
          </a:prstGeom>
        </p:spPr>
      </p:pic>
      <p:sp>
        <p:nvSpPr>
          <p:cNvPr id="5" name="Text 1"/>
          <p:cNvSpPr/>
          <p:nvPr/>
        </p:nvSpPr>
        <p:spPr>
          <a:xfrm>
            <a:off x="1523453" y="5766880"/>
            <a:ext cx="9684000"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Percent of college-graduate women in each occupation who are out of the labor force at the following March interview; centered 3-year pooled windows, additionally smoothed with a 3-year moving average; shaded 95 percent confidence bands. Source: Author’s calculations from March CPS supplements, 1998–2025.</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6. Teachers Leaving per Year Across Countries</a:t>
            </a:r>
            <a:endParaRPr lang="en-US" sz="2100" dirty="0"/>
          </a:p>
        </p:txBody>
      </p:sp>
      <p:pic>
        <p:nvPicPr>
          <p:cNvPr id="3" name="Image 0" descr="figs_png/n5b_states_trio.png"/>
          <p:cNvPicPr>
            <a:picLocks noChangeAspect="1"/>
          </p:cNvPicPr>
          <p:nvPr/>
        </p:nvPicPr>
        <p:blipFill>
          <a:blip r:embed="rId2"/>
          <a:stretch>
            <a:fillRect/>
          </a:stretch>
        </p:blipFill>
        <p:spPr>
          <a:xfrm>
            <a:off x="2775285" y="804672"/>
            <a:ext cx="6638382" cy="4842000"/>
          </a:xfrm>
          <a:prstGeom prst="rect">
            <a:avLst/>
          </a:prstGeom>
        </p:spPr>
      </p:pic>
      <p:sp>
        <p:nvSpPr>
          <p:cNvPr id="5" name="Text 1"/>
          <p:cNvSpPr/>
          <p:nvPr/>
        </p:nvSpPr>
        <p:spPr>
          <a:xfrm>
            <a:off x="1095555" y="5647196"/>
            <a:ext cx="10194091"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Most recent year available, 2021 or later; every bar is an annual flow over the teacher stock with retirements included; the counted object is printed under each name. Sources: Hong Kong EDB via LegCo; DfE School Workforce Census 2025; OECD Education at a Glance 2025 Table D8.4 (Flanders, France, Ireland); author’s CPS estimate (United States); NZ Ministry of Education; OCW/DUO (Netherlands, primary); Welsh Government SWAC; Israel CBS; e61 Institute tax records (Australia); Destatis flow tables via FiBS (Germany, excl. BY, NI, NRW); MEXT (Japan).</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438912"/>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7. Destinations of Teachers Who Leave the Profession, 2024</a:t>
            </a:r>
            <a:endParaRPr lang="en-US" sz="2100" dirty="0"/>
          </a:p>
        </p:txBody>
      </p:sp>
      <p:pic>
        <p:nvPicPr>
          <p:cNvPr id="3" name="Image 0" descr="figs_png/g3_flow100.png"/>
          <p:cNvPicPr>
            <a:picLocks noChangeAspect="1"/>
          </p:cNvPicPr>
          <p:nvPr/>
        </p:nvPicPr>
        <p:blipFill>
          <a:blip r:embed="rId3"/>
          <a:stretch>
            <a:fillRect/>
          </a:stretch>
        </p:blipFill>
        <p:spPr>
          <a:xfrm>
            <a:off x="1016668" y="941832"/>
            <a:ext cx="9827812" cy="4709160"/>
          </a:xfrm>
          <a:prstGeom prst="rect">
            <a:avLst/>
          </a:prstGeom>
        </p:spPr>
      </p:pic>
      <p:sp>
        <p:nvSpPr>
          <p:cNvPr id="5" name="Text 1"/>
          <p:cNvSpPr/>
          <p:nvPr/>
        </p:nvSpPr>
        <p:spPr>
          <a:xfrm>
            <a:off x="1751162" y="5824728"/>
            <a:ext cx="9161253"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College-graduate leavers of teaching year 2024, observed in March 2025 (178 leavers, ASEC weights). Top bar: labor force status at the March 2025 interview, per 100 leavers; “out of the labor force” is split at age 55. Bottom bar: the occupational destination of the 33 employed leavers, rescaled to sum to their total. Single-year estimates; the pooled 2015–2024 version is in the paper. Source: author’s calculations from the March 2025 CPS supplement.</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8724" y="94668"/>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8. Where the Employed Leavers Go: Every Occupation, 2019–2024</a:t>
            </a:r>
            <a:endParaRPr lang="en-US" sz="2100" dirty="0"/>
          </a:p>
        </p:txBody>
      </p:sp>
      <p:pic>
        <p:nvPicPr>
          <p:cNvPr id="3" name="Image 0" descr="occ_all_slide.png"/>
          <p:cNvPicPr>
            <a:picLocks noChangeAspect="1"/>
          </p:cNvPicPr>
          <p:nvPr/>
        </p:nvPicPr>
        <p:blipFill>
          <a:blip r:embed="rId2"/>
          <a:stretch>
            <a:fillRect/>
          </a:stretch>
        </p:blipFill>
        <p:spPr>
          <a:xfrm>
            <a:off x="277271" y="709404"/>
            <a:ext cx="11637455" cy="5115324"/>
          </a:xfrm>
          <a:prstGeom prst="rect">
            <a:avLst/>
          </a:prstGeom>
        </p:spPr>
      </p:pic>
      <p:sp>
        <p:nvSpPr>
          <p:cNvPr id="5" name="Text 1"/>
          <p:cNvSpPr/>
          <p:nvPr/>
        </p:nvSpPr>
        <p:spPr>
          <a:xfrm>
            <a:off x="458723" y="5824728"/>
            <a:ext cx="11274552"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Every destination occupation of the college-graduate leavers employed the March after the teaching year, in percent of employed leavers, pooled over teaching years 2019–2024 (2018 Census occupation codes); groups and colors as in Figure 7, with group totals in the headers. Shares below roughly 1 percent rest on one to three sample cases and are indicative only. Source: author’s calculations from March CPS supplements, survey years 2020–2025.</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438912"/>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9. Who Leaves the Labor Force Before 55, 2015–2024</a:t>
            </a:r>
            <a:endParaRPr lang="en-US" sz="2100" dirty="0"/>
          </a:p>
        </p:txBody>
      </p:sp>
      <p:pic>
        <p:nvPicPr>
          <p:cNvPr id="3" name="Image 0" descr="yellow_flow2.png"/>
          <p:cNvPicPr>
            <a:picLocks noChangeAspect="1"/>
          </p:cNvPicPr>
          <p:nvPr/>
        </p:nvPicPr>
        <p:blipFill>
          <a:blip r:embed="rId3"/>
          <a:stretch>
            <a:fillRect/>
          </a:stretch>
        </p:blipFill>
        <p:spPr>
          <a:xfrm>
            <a:off x="1335500" y="944668"/>
            <a:ext cx="9521000" cy="4562008"/>
          </a:xfrm>
          <a:prstGeom prst="rect">
            <a:avLst/>
          </a:prstGeom>
        </p:spPr>
      </p:pic>
      <p:sp>
        <p:nvSpPr>
          <p:cNvPr id="5" name="Text 1"/>
          <p:cNvSpPr/>
          <p:nvPr/>
        </p:nvSpPr>
        <p:spPr>
          <a:xfrm>
            <a:off x="1751162" y="5506676"/>
            <a:ext cx="9161253"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College-graduate leavers pooled over teaching years 2015–2024, ASEC weights. Top bar: labor force status at the March interview after the teaching year, per 100 leavers; “out of the labor force” is split at age 55. Bottom bar: the 24 who leave the labor force before 55, rescaled to sum to their total. Mothers are women with an own child in the household, split by the age of the youngest; “baby born that year” is an own child aged 0. Source: author’s calculations from March CPS supplements.</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438912"/>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10. The Routes out of Teaching, 2002-2024</a:t>
            </a:r>
            <a:endParaRPr lang="en-US" sz="2100" dirty="0"/>
          </a:p>
        </p:txBody>
      </p:sp>
      <p:pic>
        <p:nvPicPr>
          <p:cNvPr id="3" name="Image 0" descr="figs_png/g3_flow100.png"/>
          <p:cNvPicPr>
            <a:picLocks noChangeAspect="1"/>
          </p:cNvPicPr>
          <p:nvPr/>
        </p:nvPicPr>
        <p:blipFill>
          <a:blip r:embed="rId2"/>
          <a:stretch>
            <a:fillRect/>
          </a:stretch>
        </p:blipFill>
        <p:spPr>
          <a:xfrm>
            <a:off x="899307" y="944668"/>
            <a:ext cx="10390339" cy="4562008"/>
          </a:xfrm>
          <a:prstGeom prst="rect">
            <a:avLst/>
          </a:prstGeom>
        </p:spPr>
      </p:pic>
      <p:sp>
        <p:nvSpPr>
          <p:cNvPr id="5" name="Text 1"/>
          <p:cNvSpPr/>
          <p:nvPr/>
        </p:nvSpPr>
        <p:spPr>
          <a:xfrm>
            <a:off x="1751162" y="5824728"/>
            <a:ext cx="9161253"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Labor force status of college-graduate leavers at the March interview after the teaching year, per 100 leavers (each bar sums to 100), pooled over the teaching years shown; “out of the labor force” is split at age 55. Source: author’s calculations from March CPS supplements.</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11. Leaving Teaching by Age and Route</a:t>
            </a:r>
            <a:endParaRPr lang="en-US" sz="2100" dirty="0"/>
          </a:p>
        </p:txBody>
      </p:sp>
      <p:pic>
        <p:nvPicPr>
          <p:cNvPr id="3" name="Image 0" descr="figs_png/g4_routes_age.png"/>
          <p:cNvPicPr>
            <a:picLocks noChangeAspect="1"/>
          </p:cNvPicPr>
          <p:nvPr/>
        </p:nvPicPr>
        <p:blipFill>
          <a:blip r:embed="rId3"/>
          <a:stretch>
            <a:fillRect/>
          </a:stretch>
        </p:blipFill>
        <p:spPr>
          <a:xfrm>
            <a:off x="1497439" y="804672"/>
            <a:ext cx="9194074" cy="4709160"/>
          </a:xfrm>
          <a:prstGeom prst="rect">
            <a:avLst/>
          </a:prstGeom>
        </p:spPr>
      </p:pic>
      <p:sp>
        <p:nvSpPr>
          <p:cNvPr id="5" name="Text 1"/>
          <p:cNvSpPr/>
          <p:nvPr/>
        </p:nvSpPr>
        <p:spPr>
          <a:xfrm>
            <a:off x="1915064" y="5614416"/>
            <a:ext cx="8850702"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College-graduate teachers pooled over calendar 2015–2024, ASEC weights; ten age groups. The black line is the total leaving rate; stacked areas decompose it into exits to another job, unemployment, and out of the labor force. Source: author’s calculations from March CPS supplements.</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pic>
        <p:nvPicPr>
          <p:cNvPr id="3" name="Image 0" descr="figs_png/g6_ame.png"/>
          <p:cNvPicPr>
            <a:picLocks noChangeAspect="1"/>
          </p:cNvPicPr>
          <p:nvPr/>
        </p:nvPicPr>
        <p:blipFill>
          <a:blip r:embed="rId2"/>
          <a:srcRect b="21859"/>
          <a:stretch>
            <a:fillRect/>
          </a:stretch>
        </p:blipFill>
        <p:spPr>
          <a:xfrm>
            <a:off x="900830" y="1970017"/>
            <a:ext cx="10390339" cy="2751971"/>
          </a:xfrm>
          <a:prstGeom prst="rect">
            <a:avLst/>
          </a:prstGeom>
        </p:spPr>
      </p:pic>
      <p:sp>
        <p:nvSpPr>
          <p:cNvPr id="2" name="Text 0"/>
          <p:cNvSpPr/>
          <p:nvPr/>
        </p:nvSpPr>
        <p:spPr>
          <a:xfrm>
            <a:off x="1316782" y="1330190"/>
            <a:ext cx="8766637" cy="502920"/>
          </a:xfrm>
          <a:prstGeom prst="rect">
            <a:avLst/>
          </a:prstGeom>
          <a:noFill/>
          <a:ln/>
        </p:spPr>
        <p:txBody>
          <a:bodyPr wrap="square" lIns="0" tIns="0" rIns="0" bIns="0" rtlCol="0" anchor="ctr"/>
          <a:lstStyle/>
          <a:p>
            <a:r>
              <a:rPr lang="en-US" sz="1900" dirty="0">
                <a:solidFill>
                  <a:srgbClr val="1A2430"/>
                </a:solidFill>
                <a:latin typeface="Garamond" pitchFamily="34" charset="0"/>
                <a:ea typeface="Garamond" pitchFamily="34" charset="-122"/>
                <a:cs typeface="Garamond" pitchFamily="34" charset="-120"/>
              </a:rPr>
              <a:t>I estimate the probability of leaving given the observed characteristics using a probit :</a:t>
            </a:r>
            <a:endParaRPr lang="en-US" sz="1900" dirty="0"/>
          </a:p>
        </p:txBody>
      </p:sp>
      <p:sp>
        <p:nvSpPr>
          <p:cNvPr id="5" name="Text 1"/>
          <p:cNvSpPr/>
          <p:nvPr/>
        </p:nvSpPr>
        <p:spPr>
          <a:xfrm>
            <a:off x="2452460" y="6063077"/>
            <a:ext cx="8151963" cy="1097280"/>
          </a:xfrm>
          <a:prstGeom prst="rect">
            <a:avLst/>
          </a:prstGeom>
          <a:noFill/>
          <a:ln/>
        </p:spPr>
        <p:txBody>
          <a:bodyPr wrap="square" lIns="0" tIns="0" rIns="0" bIns="0" rtlCol="0" anchor="t"/>
          <a:lstStyle/>
          <a:p>
            <a:pPr marL="0" indent="0" algn="just">
              <a:buNone/>
            </a:pP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pic>
        <p:nvPicPr>
          <p:cNvPr id="3" name="Image 0" descr="figs_png/g6_ame.png"/>
          <p:cNvPicPr>
            <a:picLocks noChangeAspect="1"/>
          </p:cNvPicPr>
          <p:nvPr/>
        </p:nvPicPr>
        <p:blipFill>
          <a:blip r:embed="rId3"/>
          <a:stretch>
            <a:fillRect/>
          </a:stretch>
        </p:blipFill>
        <p:spPr>
          <a:xfrm>
            <a:off x="2614345" y="631906"/>
            <a:ext cx="6963309" cy="4961357"/>
          </a:xfrm>
          <a:prstGeom prst="rect">
            <a:avLst/>
          </a:prstGeom>
        </p:spPr>
      </p:pic>
      <p:sp>
        <p:nvSpPr>
          <p:cNvPr id="2" name="Text 0"/>
          <p:cNvSpPr/>
          <p:nvPr/>
        </p:nvSpPr>
        <p:spPr>
          <a:xfrm>
            <a:off x="458724" y="128986"/>
            <a:ext cx="11274552" cy="502920"/>
          </a:xfrm>
          <a:prstGeom prst="rect">
            <a:avLst/>
          </a:prstGeom>
          <a:noFill/>
          <a:ln/>
        </p:spPr>
        <p:txBody>
          <a:bodyPr wrap="square" lIns="0" tIns="0" rIns="0" bIns="0" rtlCol="0" anchor="ctr"/>
          <a:lstStyle/>
          <a:p>
            <a:pPr marL="0" indent="0" algn="ctr">
              <a:buNone/>
            </a:pPr>
            <a:r>
              <a:rPr lang="en-US" sz="2000" dirty="0">
                <a:solidFill>
                  <a:srgbClr val="1A2430"/>
                </a:solidFill>
                <a:latin typeface="Garamond" pitchFamily="34" charset="0"/>
                <a:ea typeface="Garamond" pitchFamily="34" charset="-122"/>
                <a:cs typeface="Garamond" pitchFamily="34" charset="-120"/>
              </a:rPr>
              <a:t>Figure 12. Average Marginal Effects on the Probability of Leaving Teaching</a:t>
            </a:r>
            <a:endParaRPr lang="en-US" sz="2000" dirty="0"/>
          </a:p>
        </p:txBody>
      </p:sp>
      <p:sp>
        <p:nvSpPr>
          <p:cNvPr id="5" name="Text 1"/>
          <p:cNvSpPr/>
          <p:nvPr/>
        </p:nvSpPr>
        <p:spPr>
          <a:xfrm>
            <a:off x="2336846" y="5736858"/>
            <a:ext cx="8151963" cy="1097280"/>
          </a:xfrm>
          <a:prstGeom prst="rect">
            <a:avLst/>
          </a:prstGeom>
          <a:noFill/>
          <a:ln/>
        </p:spPr>
        <p:txBody>
          <a:bodyPr wrap="square" lIns="0" tIns="0" rIns="0" bIns="0" rtlCol="0" anchor="t"/>
          <a:lstStyle/>
          <a:p>
            <a:pPr marL="0" indent="0" algn="just">
              <a:buNone/>
            </a:pPr>
            <a:r>
              <a:rPr lang="en-US" sz="1100" dirty="0">
                <a:solidFill>
                  <a:srgbClr val="5A6572"/>
                </a:solidFill>
                <a:latin typeface="Garamond" pitchFamily="34" charset="0"/>
                <a:ea typeface="Garamond" pitchFamily="34" charset="-122"/>
                <a:cs typeface="Garamond" pitchFamily="34" charset="-120"/>
              </a:rPr>
              <a:t>Notes: Average marginal effects (percentage points) on the probability of leaving teaching, from a probit on college-graduate teachers pooled over calendar 2015–2024 with year effects; whiskers are 95 percent confidence intervals; filled markers are significant at 5 percent. Age enters the model as a quadratic and its profile is shown in the next figure. “Worked full year” is 50+ weeks at the last-year job; “part-time” is under 35 weekly hours. n = 28,900. Source: author’s calculations from March CPS supplements. The regression have an n= 28,932</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459357"/>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13. The Age Profile of Leaving Teaching</a:t>
            </a:r>
            <a:endParaRPr lang="en-US" sz="2100" dirty="0"/>
          </a:p>
        </p:txBody>
      </p:sp>
      <p:pic>
        <p:nvPicPr>
          <p:cNvPr id="3" name="Image 0" descr="figs_png/n5b_states_trio.png"/>
          <p:cNvPicPr>
            <a:picLocks noChangeAspect="1"/>
          </p:cNvPicPr>
          <p:nvPr/>
        </p:nvPicPr>
        <p:blipFill>
          <a:blip r:embed="rId3"/>
          <a:stretch>
            <a:fillRect/>
          </a:stretch>
        </p:blipFill>
        <p:spPr>
          <a:xfrm>
            <a:off x="899306" y="1350000"/>
            <a:ext cx="10390339" cy="3463446"/>
          </a:xfrm>
          <a:prstGeom prst="rect">
            <a:avLst/>
          </a:prstGeom>
        </p:spPr>
      </p:pic>
      <p:sp>
        <p:nvSpPr>
          <p:cNvPr id="5" name="Text 1"/>
          <p:cNvSpPr/>
          <p:nvPr/>
        </p:nvSpPr>
        <p:spPr>
          <a:xfrm>
            <a:off x="1095555" y="5179841"/>
            <a:ext cx="10194091"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Each panel is the predicted probability by age from a separate probit on college-graduate teachers pooled over calendar 2015–2024 (age entered as a quadratic, other covariates at sample means, year effects). Left: leaving teaching by any route; center: moving to another occupation; right: leaving the labor force. Exits to unemployment are the residual route and are not shown, so the two right panels do not sum exactly to the left one. Shaded bands: 95 percent confidence intervals by the delta method. Source: author’s calculations from March CPS supplements.</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55457" y="233605"/>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14. The Effect of a New Baby on Leaving, by Profession</a:t>
            </a:r>
            <a:endParaRPr lang="en-US" sz="2100" dirty="0"/>
          </a:p>
        </p:txBody>
      </p:sp>
      <p:pic>
        <p:nvPicPr>
          <p:cNvPr id="3" name="Image 0" descr="figs_png/g8_newbaby.png"/>
          <p:cNvPicPr>
            <a:picLocks noChangeAspect="1"/>
          </p:cNvPicPr>
          <p:nvPr/>
        </p:nvPicPr>
        <p:blipFill>
          <a:blip r:embed="rId3"/>
          <a:stretch>
            <a:fillRect/>
          </a:stretch>
        </p:blipFill>
        <p:spPr>
          <a:xfrm>
            <a:off x="2024799" y="920353"/>
            <a:ext cx="8335868" cy="4822856"/>
          </a:xfrm>
          <a:prstGeom prst="rect">
            <a:avLst/>
          </a:prstGeom>
        </p:spPr>
      </p:pic>
      <p:sp>
        <p:nvSpPr>
          <p:cNvPr id="5" name="Text 1"/>
          <p:cNvSpPr/>
          <p:nvPr/>
        </p:nvSpPr>
        <p:spPr>
          <a:xfrm>
            <a:off x="2320505" y="5823520"/>
            <a:ext cx="8635042"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Average marginal effect of a new baby (own child aged 0 in the household) on the probability that a woman leaves each profession, from profession-specific probits with age, age squared, marital status, education, and year effects; whiskers are 95 percent confidence intervals. Solid bars are significant at 5 percent; light bars are not. Samples pool 2010–2024. Source: author’s calculations from March CPS supplements.</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70916" y="367486"/>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15. Leaving Teaching and the Unemployment Rate, 1997–2024</a:t>
            </a:r>
            <a:endParaRPr lang="en-US" sz="2100" dirty="0"/>
          </a:p>
        </p:txBody>
      </p:sp>
      <p:pic>
        <p:nvPicPr>
          <p:cNvPr id="3" name="Image 0" descr="figs_png/n5_cyclicality.png"/>
          <p:cNvPicPr>
            <a:picLocks noChangeAspect="1"/>
          </p:cNvPicPr>
          <p:nvPr/>
        </p:nvPicPr>
        <p:blipFill>
          <a:blip r:embed="rId3"/>
          <a:stretch>
            <a:fillRect/>
          </a:stretch>
        </p:blipFill>
        <p:spPr>
          <a:xfrm>
            <a:off x="470916" y="1072233"/>
            <a:ext cx="11247120" cy="4174039"/>
          </a:xfrm>
          <a:prstGeom prst="rect">
            <a:avLst/>
          </a:prstGeom>
        </p:spPr>
      </p:pic>
      <p:sp>
        <p:nvSpPr>
          <p:cNvPr id="5" name="Text 1"/>
          <p:cNvSpPr/>
          <p:nvPr/>
        </p:nvSpPr>
        <p:spPr>
          <a:xfrm>
            <a:off x="854015" y="5448099"/>
            <a:ext cx="10644824"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Left: the leaving series (annual, from calendar 2000) against the BLS national unemployment rate (annual average). Right: binned scatter (deciles of the unemployment rate in the survey month, March of t+1, when the exit is observed) of the two labor-market routes, with OLS fits on the underlying annual data; correlations are −0.16 (to another job) and +0.29 (out of the labor force). Unemployment: BLS via FRED (UNRATE). Source: author’s calculations from March CPS supplements.</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16. State-Level Cyclicality of Leaving Across the States</a:t>
            </a:r>
            <a:endParaRPr lang="en-US" sz="2100" dirty="0"/>
          </a:p>
        </p:txBody>
      </p:sp>
      <p:pic>
        <p:nvPicPr>
          <p:cNvPr id="3" name="Image 0" descr="figs_png/n5b_states_trio.png"/>
          <p:cNvPicPr>
            <a:picLocks noChangeAspect="1"/>
          </p:cNvPicPr>
          <p:nvPr/>
        </p:nvPicPr>
        <p:blipFill>
          <a:blip r:embed="rId2"/>
          <a:stretch>
            <a:fillRect/>
          </a:stretch>
        </p:blipFill>
        <p:spPr>
          <a:xfrm>
            <a:off x="899307" y="879466"/>
            <a:ext cx="10390339" cy="4692411"/>
          </a:xfrm>
          <a:prstGeom prst="rect">
            <a:avLst/>
          </a:prstGeom>
        </p:spPr>
      </p:pic>
      <p:sp>
        <p:nvSpPr>
          <p:cNvPr id="5" name="Text 1"/>
          <p:cNvSpPr/>
          <p:nvPr/>
        </p:nvSpPr>
        <p:spPr>
          <a:xfrm>
            <a:off x="1417833" y="5643605"/>
            <a:ext cx="9727974"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Slope of a weighted linear probability model of leaving on the state unemployment rate in the survey month, estimated separately by state on all years 1997–2024; whiskers are 95 percent intervals, heteroskedasticity-robust; bold and colored: significant at 5 percent. States with fewer than 400 teacher observations are excluded (North Dakota). Source: Author’s calculations from March CPS supplements and BLS LAUS.</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08698"/>
            <a:ext cx="11274552" cy="502920"/>
          </a:xfrm>
          <a:prstGeom prst="rect">
            <a:avLst/>
          </a:prstGeom>
          <a:noFill/>
          <a:ln/>
        </p:spPr>
        <p:txBody>
          <a:bodyPr wrap="square" lIns="0" tIns="0" rIns="0" bIns="0" rtlCol="0" anchor="ctr"/>
          <a:lstStyle/>
          <a:p>
            <a:pPr algn="ctr"/>
            <a:r>
              <a:rPr lang="en-US" sz="2100" dirty="0">
                <a:solidFill>
                  <a:srgbClr val="1A2430"/>
                </a:solidFill>
                <a:latin typeface="Garamond" pitchFamily="34" charset="0"/>
                <a:ea typeface="Garamond" pitchFamily="34" charset="-122"/>
                <a:cs typeface="Garamond" pitchFamily="34" charset="-120"/>
              </a:rPr>
              <a:t>Figure 17. Real Earnings Growth by Profession since 1997</a:t>
            </a:r>
            <a:endParaRPr lang="en-US" sz="2100" dirty="0"/>
          </a:p>
        </p:txBody>
      </p:sp>
      <p:sp>
        <p:nvSpPr>
          <p:cNvPr id="5" name="Text 1"/>
          <p:cNvSpPr/>
          <p:nvPr/>
        </p:nvSpPr>
        <p:spPr>
          <a:xfrm>
            <a:off x="1089062" y="5502536"/>
            <a:ext cx="9596384"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Weighted median annual wage and salary earnings of full-time, full-year college graduates aged 25–60, in each profession and overall, deflated to 2024 dollars with the CPI-U; the two windows pool survey years 2004–2014 and 2015–2025. Filled dots (with values): recent window. Source: author’s calculations from March CPS supplements; CPI: BLS via FRED.</a:t>
            </a:r>
            <a:endParaRPr lang="en-US" sz="1200" dirty="0"/>
          </a:p>
        </p:txBody>
      </p:sp>
      <p:pic>
        <p:nvPicPr>
          <p:cNvPr id="13" name="Image 0" descr="figs_png/n6b_pay_windows.png">
            <a:extLst>
              <a:ext uri="{FF2B5EF4-FFF2-40B4-BE49-F238E27FC236}">
                <a16:creationId xmlns:a16="http://schemas.microsoft.com/office/drawing/2014/main" id="{63918AC2-E7FC-4BD2-1BEE-2726C075B09E}"/>
              </a:ext>
            </a:extLst>
          </p:cNvPr>
          <p:cNvPicPr>
            <a:picLocks noChangeAspect="1"/>
          </p:cNvPicPr>
          <p:nvPr/>
        </p:nvPicPr>
        <p:blipFill>
          <a:blip r:embed="rId3"/>
          <a:stretch>
            <a:fillRect/>
          </a:stretch>
        </p:blipFill>
        <p:spPr>
          <a:xfrm>
            <a:off x="695383" y="806823"/>
            <a:ext cx="10801234" cy="445314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8724" y="201168"/>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18. Pay Compression: Teachers and Comparable Professions</a:t>
            </a:r>
            <a:endParaRPr lang="en-US" sz="2100" dirty="0"/>
          </a:p>
        </p:txBody>
      </p:sp>
      <p:sp>
        <p:nvSpPr>
          <p:cNvPr id="5" name="Text 1"/>
          <p:cNvSpPr/>
          <p:nvPr/>
        </p:nvSpPr>
        <p:spPr>
          <a:xfrm>
            <a:off x="2233342" y="5614725"/>
            <a:ext cx="8209052"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10th percentile, median and 90th percentile of annual wage and salary earnings, full-time full-year workers with positive earnings, pooled over 2015–2024, in $1,000 of 2024 (CPI-U), ASEC weights. Registered nurses matched across the 2010 and 2018 occupation classifications. Source: author’s calculations from March CPS supplements.</a:t>
            </a:r>
            <a:endParaRPr lang="en-US" sz="1200" dirty="0"/>
          </a:p>
        </p:txBody>
      </p:sp>
      <p:pic>
        <p:nvPicPr>
          <p:cNvPr id="6" name="Picture 5">
            <a:extLst>
              <a:ext uri="{FF2B5EF4-FFF2-40B4-BE49-F238E27FC236}">
                <a16:creationId xmlns:a16="http://schemas.microsoft.com/office/drawing/2014/main" id="{D5F9119C-C7FE-D7BA-BF69-64788E8B0B82}"/>
              </a:ext>
            </a:extLst>
          </p:cNvPr>
          <p:cNvPicPr>
            <a:picLocks noChangeAspect="1"/>
          </p:cNvPicPr>
          <p:nvPr/>
        </p:nvPicPr>
        <p:blipFill>
          <a:blip r:embed="rId2"/>
          <a:stretch>
            <a:fillRect/>
          </a:stretch>
        </p:blipFill>
        <p:spPr>
          <a:xfrm>
            <a:off x="1453692" y="981777"/>
            <a:ext cx="9284616" cy="4431294"/>
          </a:xfrm>
          <a:prstGeom prst="rect">
            <a:avLst/>
          </a:prstGeom>
        </p:spPr>
      </p:pic>
      <p:pic>
        <p:nvPicPr>
          <p:cNvPr id="8" name="Image 0" descr="figs_png/g5b_earnings_density.png">
            <a:extLst>
              <a:ext uri="{FF2B5EF4-FFF2-40B4-BE49-F238E27FC236}">
                <a16:creationId xmlns:a16="http://schemas.microsoft.com/office/drawing/2014/main" id="{03C890BE-8626-7D30-C84A-ECD16D7811BF}"/>
              </a:ext>
            </a:extLst>
          </p:cNvPr>
          <p:cNvPicPr>
            <a:picLocks noChangeAspect="1"/>
          </p:cNvPicPr>
          <p:nvPr/>
        </p:nvPicPr>
        <p:blipFill>
          <a:blip r:embed="rId3"/>
          <a:stretch>
            <a:fillRect/>
          </a:stretch>
        </p:blipFill>
        <p:spPr>
          <a:xfrm>
            <a:off x="1565917" y="704088"/>
            <a:ext cx="8876477" cy="4942583"/>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8724" y="306958"/>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19. Who Leaves: the Leaving Rate by Position in the Teacher Pay Distribution</a:t>
            </a:r>
            <a:endParaRPr lang="en-US" sz="2100" dirty="0"/>
          </a:p>
        </p:txBody>
      </p:sp>
      <p:sp>
        <p:nvSpPr>
          <p:cNvPr id="5" name="Text 1"/>
          <p:cNvSpPr/>
          <p:nvPr/>
        </p:nvSpPr>
        <p:spPr>
          <a:xfrm>
            <a:off x="923026" y="5760720"/>
            <a:ext cx="10498347"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Annual leaving rate by within-year decile of annual wage and salary earnings among college-graduate teachers with positive earnings, pooled over teaching years 2015–2024, ASEC weights. The lowest deciles are dominated by part-year and part-time teaching jobs, so the gradient reflects job attachment as well as pay. Source: author’s calculations from March CPS supplements.</a:t>
            </a:r>
            <a:endParaRPr lang="en-US" sz="1200" dirty="0"/>
          </a:p>
        </p:txBody>
      </p:sp>
      <p:pic>
        <p:nvPicPr>
          <p:cNvPr id="6" name="Image 0" descr="figs_png/g5b_earnings_density.png">
            <a:extLst>
              <a:ext uri="{FF2B5EF4-FFF2-40B4-BE49-F238E27FC236}">
                <a16:creationId xmlns:a16="http://schemas.microsoft.com/office/drawing/2014/main" id="{83B6E2DD-8BCC-3384-F81E-EDC96D1C2238}"/>
              </a:ext>
            </a:extLst>
          </p:cNvPr>
          <p:cNvPicPr>
            <a:picLocks noChangeAspect="1"/>
          </p:cNvPicPr>
          <p:nvPr/>
        </p:nvPicPr>
        <p:blipFill>
          <a:blip r:embed="rId2"/>
          <a:stretch>
            <a:fillRect/>
          </a:stretch>
        </p:blipFill>
        <p:spPr>
          <a:xfrm>
            <a:off x="1105905" y="915128"/>
            <a:ext cx="9684000" cy="484200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pic>
        <p:nvPicPr>
          <p:cNvPr id="3" name="Image 0" descr="figs_png/g5b_earnings_density.png"/>
          <p:cNvPicPr>
            <a:picLocks noChangeAspect="1"/>
          </p:cNvPicPr>
          <p:nvPr/>
        </p:nvPicPr>
        <p:blipFill>
          <a:blip r:embed="rId2"/>
          <a:stretch>
            <a:fillRect/>
          </a:stretch>
        </p:blipFill>
        <p:spPr>
          <a:xfrm>
            <a:off x="1252476" y="804672"/>
            <a:ext cx="9684000" cy="4842000"/>
          </a:xfrm>
          <a:prstGeom prst="rect">
            <a:avLst/>
          </a:prstGeom>
        </p:spPr>
      </p:pic>
      <p:sp>
        <p:nvSpPr>
          <p:cNvPr id="2" name="Text 0"/>
          <p:cNvSpPr/>
          <p:nvPr/>
        </p:nvSpPr>
        <p:spPr>
          <a:xfrm>
            <a:off x="0" y="201168"/>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20. The Earnings Change of Leaving, by Destination</a:t>
            </a:r>
            <a:endParaRPr lang="en-US" sz="2100" dirty="0"/>
          </a:p>
        </p:txBody>
      </p:sp>
      <p:sp>
        <p:nvSpPr>
          <p:cNvPr id="5" name="Text 1"/>
          <p:cNvSpPr/>
          <p:nvPr/>
        </p:nvSpPr>
        <p:spPr>
          <a:xfrm>
            <a:off x="923026" y="5568869"/>
            <a:ext cx="10498347"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Median change in log annual earnings (×100) between the teaching year and the next, for teachers linked across consecutive March supplements (2011–2025) with consistent sex and age; positive earnings required in both years, so exits to nonemployment are excluded. Destination groups as in Figure 9. Source: author’s calculations from March CPS supplements.</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pic>
        <p:nvPicPr>
          <p:cNvPr id="3" name="Image 0" descr="figs_png/g5b_earnings_density.png"/>
          <p:cNvPicPr>
            <a:picLocks noChangeAspect="1"/>
          </p:cNvPicPr>
          <p:nvPr/>
        </p:nvPicPr>
        <p:blipFill>
          <a:blip r:embed="rId3"/>
          <a:stretch>
            <a:fillRect/>
          </a:stretch>
        </p:blipFill>
        <p:spPr>
          <a:xfrm>
            <a:off x="848265" y="187538"/>
            <a:ext cx="10181181" cy="5321981"/>
          </a:xfrm>
          <a:prstGeom prst="rect">
            <a:avLst/>
          </a:prstGeom>
        </p:spPr>
      </p:pic>
      <p:sp>
        <p:nvSpPr>
          <p:cNvPr id="2" name="Text 0"/>
          <p:cNvSpPr/>
          <p:nvPr/>
        </p:nvSpPr>
        <p:spPr>
          <a:xfrm>
            <a:off x="0" y="201168"/>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21. The Distribution of Earnings Changes: Stayers and Leavers</a:t>
            </a:r>
            <a:endParaRPr lang="en-US" sz="2100" dirty="0"/>
          </a:p>
        </p:txBody>
      </p:sp>
      <p:sp>
        <p:nvSpPr>
          <p:cNvPr id="5" name="Text 1"/>
          <p:cNvSpPr/>
          <p:nvPr/>
        </p:nvSpPr>
        <p:spPr>
          <a:xfrm>
            <a:off x="923026" y="5568869"/>
            <a:ext cx="10498347"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Kernel densities of the person-level change in annual wage and salary earnings (log points ×100) between the teaching year and the next, for teachers linked across consecutive supplements (rotation-group links, survey years 2011–2025; identity validated on sex and age). Navy: stayers (12,195 links; median +3). Red: leavers employed the following year (225 links; median +15). “Lose big”/“win big” denote changes beyond ±30 log points. The sample conditions on positive earnings in both years; 47 percent of all leavers report zero earnings the following year. Bandwidth 0.25. Source: author’s calculations from March CPS supplements.</a:t>
            </a:r>
            <a:endParaRPr lang="en-US" sz="1200" dirty="0"/>
          </a:p>
        </p:txBody>
      </p:sp>
      <p:sp>
        <p:nvSpPr>
          <p:cNvPr id="4" name="Rectangle 3">
            <a:extLst>
              <a:ext uri="{FF2B5EF4-FFF2-40B4-BE49-F238E27FC236}">
                <a16:creationId xmlns:a16="http://schemas.microsoft.com/office/drawing/2014/main" id="{BD4889E9-98D0-31D1-1761-7E69B910B175}"/>
              </a:ext>
            </a:extLst>
          </p:cNvPr>
          <p:cNvSpPr/>
          <p:nvPr/>
        </p:nvSpPr>
        <p:spPr>
          <a:xfrm>
            <a:off x="1915064" y="3446253"/>
            <a:ext cx="1621766" cy="61247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F9BE3BE-23B0-BB07-863B-D1F2762568AC}"/>
              </a:ext>
            </a:extLst>
          </p:cNvPr>
          <p:cNvSpPr/>
          <p:nvPr/>
        </p:nvSpPr>
        <p:spPr>
          <a:xfrm>
            <a:off x="8460558" y="3752491"/>
            <a:ext cx="1621766" cy="61247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 0" descr="figs_png/g5b_earnings_density.png"/>
          <p:cNvPicPr>
            <a:picLocks noChangeAspect="1"/>
          </p:cNvPicPr>
          <p:nvPr/>
        </p:nvPicPr>
        <p:blipFill>
          <a:blip r:embed="rId2"/>
          <a:stretch>
            <a:fillRect/>
          </a:stretch>
        </p:blipFill>
        <p:spPr>
          <a:xfrm>
            <a:off x="1994081" y="692054"/>
            <a:ext cx="8203838" cy="4950591"/>
          </a:xfrm>
          <a:prstGeom prst="rect">
            <a:avLst/>
          </a:prstGeom>
        </p:spPr>
      </p:pic>
      <p:sp>
        <p:nvSpPr>
          <p:cNvPr id="2" name="Text 0"/>
          <p:cNvSpPr/>
          <p:nvPr/>
        </p:nvSpPr>
        <p:spPr>
          <a:xfrm>
            <a:off x="301214" y="201168"/>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22. Pension Coverage and Leaving Teaching Across States</a:t>
            </a:r>
            <a:endParaRPr lang="en-US" sz="2100" dirty="0"/>
          </a:p>
        </p:txBody>
      </p:sp>
      <p:sp>
        <p:nvSpPr>
          <p:cNvPr id="5" name="Text 1"/>
          <p:cNvSpPr/>
          <p:nvPr/>
        </p:nvSpPr>
        <p:spPr>
          <a:xfrm>
            <a:off x="1439931" y="5760720"/>
            <a:ext cx="9834621"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Each point is a state (plus DC), 1997–2024 means: horizontal axis, share of college-graduate teachers whose teaching-year job included a pension plan; vertical axis, annual leaving rate of teachers under 55, which strips most retirements. OLS fit: −0.21 pp per point of coverage, r = −0.47 (p &lt; 0.001). A cross-sectional correlation, not a causal estimate; coverage also proxies for public-sector share and contract quality. Source: author’s calculations from March CPS supplements.</a:t>
            </a:r>
            <a:endParaRPr lang="en-US" sz="12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7432"/>
            <a:ext cx="12198096" cy="594360"/>
          </a:xfrm>
          <a:prstGeom prst="rect">
            <a:avLst/>
          </a:prstGeom>
          <a:solidFill>
            <a:srgbClr val="0054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737360" y="868680"/>
            <a:ext cx="8714232" cy="2926080"/>
          </a:xfrm>
          <a:prstGeom prst="rect">
            <a:avLst/>
          </a:prstGeom>
          <a:noFill/>
        </p:spPr>
        <p:txBody>
          <a:bodyPr wrap="square" lIns="0" rIns="0" tIns="0" bIns="0">
            <a:spAutoFit/>
          </a:bodyPr>
          <a:lstStyle/>
          <a:p>
            <a:pPr algn="ctr">
              <a:lnSpc>
                <a:spcPts val="25500"/>
              </a:lnSpc>
              <a:spcAft>
                <a:spcPts val="0"/>
              </a:spcAft>
            </a:pPr>
            <a:r>
              <a:rPr sz="17000" b="1" i="0">
                <a:solidFill>
                  <a:srgbClr val="ECF0F4"/>
                </a:solidFill>
                <a:latin typeface="Garamond"/>
              </a:rPr>
              <a:t>1</a:t>
            </a:r>
          </a:p>
        </p:txBody>
      </p:sp>
      <p:sp>
        <p:nvSpPr>
          <p:cNvPr id="4" name="TextBox 3"/>
          <p:cNvSpPr txBox="1"/>
          <p:nvPr/>
        </p:nvSpPr>
        <p:spPr>
          <a:xfrm>
            <a:off x="1737360" y="3886200"/>
            <a:ext cx="8714232" cy="685800"/>
          </a:xfrm>
          <a:prstGeom prst="rect">
            <a:avLst/>
          </a:prstGeom>
          <a:noFill/>
        </p:spPr>
        <p:txBody>
          <a:bodyPr wrap="square" lIns="0" rIns="0" tIns="0" bIns="0">
            <a:spAutoFit/>
          </a:bodyPr>
          <a:lstStyle/>
          <a:p>
            <a:pPr algn="ctr">
              <a:lnSpc>
                <a:spcPts val="4500"/>
              </a:lnSpc>
              <a:spcAft>
                <a:spcPts val="0"/>
              </a:spcAft>
            </a:pPr>
            <a:r>
              <a:rPr sz="3000" b="1" i="0">
                <a:solidFill>
                  <a:srgbClr val="26456E"/>
                </a:solidFill>
                <a:latin typeface="Garamond"/>
              </a:rPr>
              <a:t>Data and measurement</a:t>
            </a:r>
          </a:p>
        </p:txBody>
      </p:sp>
      <p:cxnSp>
        <p:nvCxnSpPr>
          <p:cNvPr id="5" name="Connector 4"/>
          <p:cNvCxnSpPr/>
          <p:nvPr/>
        </p:nvCxnSpPr>
        <p:spPr>
          <a:xfrm>
            <a:off x="5367528" y="4800600"/>
            <a:ext cx="1463040" cy="0"/>
          </a:xfrm>
          <a:prstGeom prst="line">
            <a:avLst/>
          </a:prstGeom>
          <a:ln w="20320">
            <a:solidFill>
              <a:srgbClr val="00549F"/>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7432"/>
            <a:ext cx="12198096" cy="594360"/>
          </a:xfrm>
          <a:prstGeom prst="rect">
            <a:avLst/>
          </a:prstGeom>
          <a:solidFill>
            <a:srgbClr val="0054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737360" y="868680"/>
            <a:ext cx="8714232" cy="2926080"/>
          </a:xfrm>
          <a:prstGeom prst="rect">
            <a:avLst/>
          </a:prstGeom>
          <a:noFill/>
        </p:spPr>
        <p:txBody>
          <a:bodyPr wrap="square" lIns="0" rIns="0" tIns="0" bIns="0">
            <a:spAutoFit/>
          </a:bodyPr>
          <a:lstStyle/>
          <a:p>
            <a:pPr algn="ctr">
              <a:lnSpc>
                <a:spcPts val="25500"/>
              </a:lnSpc>
              <a:spcAft>
                <a:spcPts val="0"/>
              </a:spcAft>
            </a:pPr>
            <a:r>
              <a:rPr sz="17000" b="1" i="0">
                <a:solidFill>
                  <a:srgbClr val="ECF0F4"/>
                </a:solidFill>
                <a:latin typeface="Garamond"/>
              </a:rPr>
              <a:t>2</a:t>
            </a:r>
          </a:p>
        </p:txBody>
      </p:sp>
      <p:sp>
        <p:nvSpPr>
          <p:cNvPr id="4" name="TextBox 3"/>
          <p:cNvSpPr txBox="1"/>
          <p:nvPr/>
        </p:nvSpPr>
        <p:spPr>
          <a:xfrm>
            <a:off x="1737360" y="3886200"/>
            <a:ext cx="8714232" cy="685800"/>
          </a:xfrm>
          <a:prstGeom prst="rect">
            <a:avLst/>
          </a:prstGeom>
          <a:noFill/>
        </p:spPr>
        <p:txBody>
          <a:bodyPr wrap="square" lIns="0" rIns="0" tIns="0" bIns="0">
            <a:spAutoFit/>
          </a:bodyPr>
          <a:lstStyle/>
          <a:p>
            <a:pPr algn="ctr">
              <a:lnSpc>
                <a:spcPts val="4500"/>
              </a:lnSpc>
              <a:spcAft>
                <a:spcPts val="0"/>
              </a:spcAft>
            </a:pPr>
            <a:r>
              <a:rPr sz="3000" b="1" i="0">
                <a:solidFill>
                  <a:srgbClr val="26456E"/>
                </a:solidFill>
                <a:latin typeface="Garamond"/>
              </a:rPr>
              <a:t>The leaving rate</a:t>
            </a:r>
          </a:p>
        </p:txBody>
      </p:sp>
      <p:cxnSp>
        <p:nvCxnSpPr>
          <p:cNvPr id="5" name="Connector 4"/>
          <p:cNvCxnSpPr/>
          <p:nvPr/>
        </p:nvCxnSpPr>
        <p:spPr>
          <a:xfrm>
            <a:off x="5367528" y="4800600"/>
            <a:ext cx="1463040" cy="0"/>
          </a:xfrm>
          <a:prstGeom prst="line">
            <a:avLst/>
          </a:prstGeom>
          <a:ln w="20320">
            <a:solidFill>
              <a:srgbClr val="00549F"/>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7432"/>
            <a:ext cx="12198096" cy="594360"/>
          </a:xfrm>
          <a:prstGeom prst="rect">
            <a:avLst/>
          </a:prstGeom>
          <a:solidFill>
            <a:srgbClr val="0054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737360" y="868680"/>
            <a:ext cx="8714232" cy="2926080"/>
          </a:xfrm>
          <a:prstGeom prst="rect">
            <a:avLst/>
          </a:prstGeom>
          <a:noFill/>
        </p:spPr>
        <p:txBody>
          <a:bodyPr wrap="square" lIns="0" rIns="0" tIns="0" bIns="0">
            <a:spAutoFit/>
          </a:bodyPr>
          <a:lstStyle/>
          <a:p>
            <a:pPr algn="ctr">
              <a:lnSpc>
                <a:spcPts val="25500"/>
              </a:lnSpc>
              <a:spcAft>
                <a:spcPts val="0"/>
              </a:spcAft>
            </a:pPr>
            <a:r>
              <a:rPr sz="17000" b="1" i="0">
                <a:solidFill>
                  <a:srgbClr val="ECF0F4"/>
                </a:solidFill>
                <a:latin typeface="Garamond"/>
              </a:rPr>
              <a:t>3</a:t>
            </a:r>
          </a:p>
        </p:txBody>
      </p:sp>
      <p:sp>
        <p:nvSpPr>
          <p:cNvPr id="4" name="TextBox 3"/>
          <p:cNvSpPr txBox="1"/>
          <p:nvPr/>
        </p:nvSpPr>
        <p:spPr>
          <a:xfrm>
            <a:off x="1737360" y="3886200"/>
            <a:ext cx="8714232" cy="685800"/>
          </a:xfrm>
          <a:prstGeom prst="rect">
            <a:avLst/>
          </a:prstGeom>
          <a:noFill/>
        </p:spPr>
        <p:txBody>
          <a:bodyPr wrap="square" lIns="0" rIns="0" tIns="0" bIns="0">
            <a:spAutoFit/>
          </a:bodyPr>
          <a:lstStyle/>
          <a:p>
            <a:pPr algn="ctr">
              <a:lnSpc>
                <a:spcPts val="4500"/>
              </a:lnSpc>
              <a:spcAft>
                <a:spcPts val="0"/>
              </a:spcAft>
            </a:pPr>
            <a:r>
              <a:rPr sz="3000" b="1" i="0">
                <a:solidFill>
                  <a:srgbClr val="26456E"/>
                </a:solidFill>
                <a:latin typeface="Garamond"/>
              </a:rPr>
              <a:t>Where they go</a:t>
            </a:r>
          </a:p>
        </p:txBody>
      </p:sp>
      <p:cxnSp>
        <p:nvCxnSpPr>
          <p:cNvPr id="5" name="Connector 4"/>
          <p:cNvCxnSpPr/>
          <p:nvPr/>
        </p:nvCxnSpPr>
        <p:spPr>
          <a:xfrm>
            <a:off x="5367528" y="4800600"/>
            <a:ext cx="1463040" cy="0"/>
          </a:xfrm>
          <a:prstGeom prst="line">
            <a:avLst/>
          </a:prstGeom>
          <a:ln w="20320">
            <a:solidFill>
              <a:srgbClr val="00549F"/>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7432"/>
            <a:ext cx="12198096" cy="594360"/>
          </a:xfrm>
          <a:prstGeom prst="rect">
            <a:avLst/>
          </a:prstGeom>
          <a:solidFill>
            <a:srgbClr val="0054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737360" y="868680"/>
            <a:ext cx="8714232" cy="2926080"/>
          </a:xfrm>
          <a:prstGeom prst="rect">
            <a:avLst/>
          </a:prstGeom>
          <a:noFill/>
        </p:spPr>
        <p:txBody>
          <a:bodyPr wrap="square" lIns="0" rIns="0" tIns="0" bIns="0">
            <a:spAutoFit/>
          </a:bodyPr>
          <a:lstStyle/>
          <a:p>
            <a:pPr algn="ctr">
              <a:lnSpc>
                <a:spcPts val="25500"/>
              </a:lnSpc>
              <a:spcAft>
                <a:spcPts val="0"/>
              </a:spcAft>
            </a:pPr>
            <a:r>
              <a:rPr sz="17000" b="1" i="0">
                <a:solidFill>
                  <a:srgbClr val="ECF0F4"/>
                </a:solidFill>
                <a:latin typeface="Garamond"/>
              </a:rPr>
              <a:t>4</a:t>
            </a:r>
          </a:p>
        </p:txBody>
      </p:sp>
      <p:sp>
        <p:nvSpPr>
          <p:cNvPr id="4" name="TextBox 3"/>
          <p:cNvSpPr txBox="1"/>
          <p:nvPr/>
        </p:nvSpPr>
        <p:spPr>
          <a:xfrm>
            <a:off x="1737360" y="3886200"/>
            <a:ext cx="8714232" cy="685800"/>
          </a:xfrm>
          <a:prstGeom prst="rect">
            <a:avLst/>
          </a:prstGeom>
          <a:noFill/>
        </p:spPr>
        <p:txBody>
          <a:bodyPr wrap="square" lIns="0" rIns="0" tIns="0" bIns="0">
            <a:spAutoFit/>
          </a:bodyPr>
          <a:lstStyle/>
          <a:p>
            <a:pPr algn="ctr">
              <a:lnSpc>
                <a:spcPts val="4500"/>
              </a:lnSpc>
              <a:spcAft>
                <a:spcPts val="0"/>
              </a:spcAft>
            </a:pPr>
            <a:r>
              <a:rPr sz="3000" b="1" i="0">
                <a:solidFill>
                  <a:srgbClr val="26456E"/>
                </a:solidFill>
                <a:latin typeface="Garamond"/>
              </a:rPr>
              <a:t>Who leaves, and why</a:t>
            </a:r>
          </a:p>
        </p:txBody>
      </p:sp>
      <p:cxnSp>
        <p:nvCxnSpPr>
          <p:cNvPr id="5" name="Connector 4"/>
          <p:cNvCxnSpPr/>
          <p:nvPr/>
        </p:nvCxnSpPr>
        <p:spPr>
          <a:xfrm>
            <a:off x="5367528" y="4800600"/>
            <a:ext cx="1463040" cy="0"/>
          </a:xfrm>
          <a:prstGeom prst="line">
            <a:avLst/>
          </a:prstGeom>
          <a:ln w="20320">
            <a:solidFill>
              <a:srgbClr val="00549F"/>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7432"/>
            <a:ext cx="12198096" cy="594360"/>
          </a:xfrm>
          <a:prstGeom prst="rect">
            <a:avLst/>
          </a:prstGeom>
          <a:solidFill>
            <a:srgbClr val="0054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737360" y="868680"/>
            <a:ext cx="8714232" cy="2926080"/>
          </a:xfrm>
          <a:prstGeom prst="rect">
            <a:avLst/>
          </a:prstGeom>
          <a:noFill/>
        </p:spPr>
        <p:txBody>
          <a:bodyPr wrap="square" lIns="0" rIns="0" tIns="0" bIns="0">
            <a:spAutoFit/>
          </a:bodyPr>
          <a:lstStyle/>
          <a:p>
            <a:pPr algn="ctr">
              <a:lnSpc>
                <a:spcPts val="25500"/>
              </a:lnSpc>
              <a:spcAft>
                <a:spcPts val="0"/>
              </a:spcAft>
            </a:pPr>
            <a:r>
              <a:rPr sz="17000" b="1" i="0">
                <a:solidFill>
                  <a:srgbClr val="ECF0F4"/>
                </a:solidFill>
                <a:latin typeface="Garamond"/>
              </a:rPr>
              <a:t>5</a:t>
            </a:r>
          </a:p>
        </p:txBody>
      </p:sp>
      <p:sp>
        <p:nvSpPr>
          <p:cNvPr id="4" name="TextBox 3"/>
          <p:cNvSpPr txBox="1"/>
          <p:nvPr/>
        </p:nvSpPr>
        <p:spPr>
          <a:xfrm>
            <a:off x="1737360" y="3886200"/>
            <a:ext cx="8714232" cy="685800"/>
          </a:xfrm>
          <a:prstGeom prst="rect">
            <a:avLst/>
          </a:prstGeom>
          <a:noFill/>
        </p:spPr>
        <p:txBody>
          <a:bodyPr wrap="square" lIns="0" rIns="0" tIns="0" bIns="0">
            <a:spAutoFit/>
          </a:bodyPr>
          <a:lstStyle/>
          <a:p>
            <a:pPr algn="ctr">
              <a:lnSpc>
                <a:spcPts val="4500"/>
              </a:lnSpc>
              <a:spcAft>
                <a:spcPts val="0"/>
              </a:spcAft>
            </a:pPr>
            <a:r>
              <a:rPr sz="3000" b="1" i="0">
                <a:solidFill>
                  <a:srgbClr val="26456E"/>
                </a:solidFill>
                <a:latin typeface="Garamond"/>
              </a:rPr>
              <a:t>The business cycle</a:t>
            </a:r>
          </a:p>
        </p:txBody>
      </p:sp>
      <p:cxnSp>
        <p:nvCxnSpPr>
          <p:cNvPr id="5" name="Connector 4"/>
          <p:cNvCxnSpPr/>
          <p:nvPr/>
        </p:nvCxnSpPr>
        <p:spPr>
          <a:xfrm>
            <a:off x="5367528" y="4800600"/>
            <a:ext cx="1463040" cy="0"/>
          </a:xfrm>
          <a:prstGeom prst="line">
            <a:avLst/>
          </a:prstGeom>
          <a:ln w="20320">
            <a:solidFill>
              <a:srgbClr val="00549F"/>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7432"/>
            <a:ext cx="12198096" cy="594360"/>
          </a:xfrm>
          <a:prstGeom prst="rect">
            <a:avLst/>
          </a:prstGeom>
          <a:solidFill>
            <a:srgbClr val="0054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737360" y="868680"/>
            <a:ext cx="8714232" cy="2926080"/>
          </a:xfrm>
          <a:prstGeom prst="rect">
            <a:avLst/>
          </a:prstGeom>
          <a:noFill/>
        </p:spPr>
        <p:txBody>
          <a:bodyPr wrap="square" lIns="0" rIns="0" tIns="0" bIns="0">
            <a:spAutoFit/>
          </a:bodyPr>
          <a:lstStyle/>
          <a:p>
            <a:pPr algn="ctr">
              <a:lnSpc>
                <a:spcPts val="25500"/>
              </a:lnSpc>
              <a:spcAft>
                <a:spcPts val="0"/>
              </a:spcAft>
            </a:pPr>
            <a:r>
              <a:rPr sz="17000" b="1" i="0">
                <a:solidFill>
                  <a:srgbClr val="ECF0F4"/>
                </a:solidFill>
                <a:latin typeface="Garamond"/>
              </a:rPr>
              <a:t>6</a:t>
            </a:r>
          </a:p>
        </p:txBody>
      </p:sp>
      <p:sp>
        <p:nvSpPr>
          <p:cNvPr id="4" name="TextBox 3"/>
          <p:cNvSpPr txBox="1"/>
          <p:nvPr/>
        </p:nvSpPr>
        <p:spPr>
          <a:xfrm>
            <a:off x="1737360" y="3886200"/>
            <a:ext cx="8714232" cy="685800"/>
          </a:xfrm>
          <a:prstGeom prst="rect">
            <a:avLst/>
          </a:prstGeom>
          <a:noFill/>
        </p:spPr>
        <p:txBody>
          <a:bodyPr wrap="square" lIns="0" rIns="0" tIns="0" bIns="0">
            <a:spAutoFit/>
          </a:bodyPr>
          <a:lstStyle/>
          <a:p>
            <a:pPr algn="ctr">
              <a:lnSpc>
                <a:spcPts val="4500"/>
              </a:lnSpc>
              <a:spcAft>
                <a:spcPts val="0"/>
              </a:spcAft>
            </a:pPr>
            <a:r>
              <a:rPr sz="3000" b="1" i="0">
                <a:solidFill>
                  <a:srgbClr val="26456E"/>
                </a:solidFill>
                <a:latin typeface="Garamond"/>
              </a:rPr>
              <a:t>Pay and pensions</a:t>
            </a:r>
          </a:p>
        </p:txBody>
      </p:sp>
      <p:cxnSp>
        <p:nvCxnSpPr>
          <p:cNvPr id="5" name="Connector 4"/>
          <p:cNvCxnSpPr/>
          <p:nvPr/>
        </p:nvCxnSpPr>
        <p:spPr>
          <a:xfrm>
            <a:off x="5367528" y="4800600"/>
            <a:ext cx="1463040" cy="0"/>
          </a:xfrm>
          <a:prstGeom prst="line">
            <a:avLst/>
          </a:prstGeom>
          <a:ln w="20320">
            <a:solidFill>
              <a:srgbClr val="00549F"/>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7432"/>
            <a:ext cx="12198096" cy="594360"/>
          </a:xfrm>
          <a:prstGeom prst="rect">
            <a:avLst/>
          </a:prstGeom>
          <a:solidFill>
            <a:srgbClr val="0054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868680"/>
            <a:ext cx="9875520" cy="548640"/>
          </a:xfrm>
          <a:prstGeom prst="rect">
            <a:avLst/>
          </a:prstGeom>
          <a:noFill/>
        </p:spPr>
        <p:txBody>
          <a:bodyPr wrap="square" lIns="0" rIns="0" tIns="0" bIns="0"/>
          <a:lstStyle/>
          <a:p>
            <a:pPr algn="l"/>
            <a:r>
              <a:rPr sz="2800" b="1">
                <a:solidFill>
                  <a:srgbClr val="26456E"/>
                </a:solidFill>
                <a:latin typeface="Garamond"/>
              </a:rPr>
              <a:t>The Current Population Survey</a:t>
            </a:r>
          </a:p>
        </p:txBody>
      </p:sp>
      <p:sp>
        <p:nvSpPr>
          <p:cNvPr id="4" name="TextBox 3"/>
          <p:cNvSpPr txBox="1"/>
          <p:nvPr/>
        </p:nvSpPr>
        <p:spPr>
          <a:xfrm>
            <a:off x="777240" y="1691640"/>
            <a:ext cx="10698480" cy="1188720"/>
          </a:xfrm>
          <a:prstGeom prst="rect">
            <a:avLst/>
          </a:prstGeom>
          <a:noFill/>
        </p:spPr>
        <p:txBody>
          <a:bodyPr wrap="square" lIns="0" rIns="0" tIns="0" bIns="0">
            <a:spAutoFit/>
          </a:bodyPr>
          <a:lstStyle/>
          <a:p>
            <a:pPr algn="just">
              <a:lnSpc>
                <a:spcPts val="2550"/>
              </a:lnSpc>
              <a:spcAft>
                <a:spcPts val="0"/>
              </a:spcAft>
            </a:pPr>
            <a:r>
              <a:rPr sz="1700" b="0" i="0">
                <a:solidFill>
                  <a:srgbClr val="1A2430"/>
                </a:solidFill>
                <a:latin typeface="Garamond"/>
              </a:rPr>
              <a:t>The CPS is the household survey from which the official employment and unemployment statistics of the United States are computed. It has been conducted by the Census Bureau for the Bureau of Labor Statistics since 1940.</a:t>
            </a:r>
          </a:p>
        </p:txBody>
      </p:sp>
      <p:cxnSp>
        <p:nvCxnSpPr>
          <p:cNvPr id="5" name="Connector 4"/>
          <p:cNvCxnSpPr/>
          <p:nvPr/>
        </p:nvCxnSpPr>
        <p:spPr>
          <a:xfrm>
            <a:off x="822960" y="3017520"/>
            <a:ext cx="10543032" cy="0"/>
          </a:xfrm>
          <a:prstGeom prst="line">
            <a:avLst/>
          </a:prstGeom>
          <a:ln w="12700">
            <a:solidFill>
              <a:srgbClr val="1A243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1005840" y="3200400"/>
            <a:ext cx="1554480" cy="384048"/>
          </a:xfrm>
          <a:prstGeom prst="rect">
            <a:avLst/>
          </a:prstGeom>
          <a:noFill/>
        </p:spPr>
        <p:txBody>
          <a:bodyPr wrap="square" lIns="0" rIns="0" tIns="0" bIns="0">
            <a:spAutoFit/>
          </a:bodyPr>
          <a:lstStyle/>
          <a:p>
            <a:pPr algn="l">
              <a:lnSpc>
                <a:spcPts val="2100"/>
              </a:lnSpc>
              <a:spcAft>
                <a:spcPts val="0"/>
              </a:spcAft>
            </a:pPr>
            <a:r>
              <a:rPr sz="1400" b="1" i="0">
                <a:solidFill>
                  <a:srgbClr val="26456E"/>
                </a:solidFill>
                <a:latin typeface="Garamond"/>
              </a:rPr>
              <a:t>Scope</a:t>
            </a:r>
          </a:p>
        </p:txBody>
      </p:sp>
      <p:sp>
        <p:nvSpPr>
          <p:cNvPr id="7" name="TextBox 6"/>
          <p:cNvSpPr txBox="1"/>
          <p:nvPr/>
        </p:nvSpPr>
        <p:spPr>
          <a:xfrm>
            <a:off x="2697480" y="3200400"/>
            <a:ext cx="8503920" cy="384048"/>
          </a:xfrm>
          <a:prstGeom prst="rect">
            <a:avLst/>
          </a:prstGeom>
          <a:noFill/>
        </p:spPr>
        <p:txBody>
          <a:bodyPr wrap="square" lIns="0" rIns="0" tIns="0" bIns="0">
            <a:spAutoFit/>
          </a:bodyPr>
          <a:lstStyle/>
          <a:p>
            <a:pPr algn="l">
              <a:lnSpc>
                <a:spcPts val="2100"/>
              </a:lnSpc>
              <a:spcAft>
                <a:spcPts val="0"/>
              </a:spcAft>
            </a:pPr>
            <a:r>
              <a:rPr sz="1400" b="0" i="0">
                <a:solidFill>
                  <a:srgbClr val="1A2430"/>
                </a:solidFill>
                <a:latin typeface="Garamond"/>
              </a:rPr>
              <a:t>the civilian non-institutional population of the fifty states and the District of Columbia</a:t>
            </a:r>
          </a:p>
        </p:txBody>
      </p:sp>
      <p:sp>
        <p:nvSpPr>
          <p:cNvPr id="8" name="TextBox 7"/>
          <p:cNvSpPr txBox="1"/>
          <p:nvPr/>
        </p:nvSpPr>
        <p:spPr>
          <a:xfrm>
            <a:off x="1005840" y="3675887"/>
            <a:ext cx="1554480" cy="384048"/>
          </a:xfrm>
          <a:prstGeom prst="rect">
            <a:avLst/>
          </a:prstGeom>
          <a:noFill/>
        </p:spPr>
        <p:txBody>
          <a:bodyPr wrap="square" lIns="0" rIns="0" tIns="0" bIns="0">
            <a:spAutoFit/>
          </a:bodyPr>
          <a:lstStyle/>
          <a:p>
            <a:pPr algn="l">
              <a:lnSpc>
                <a:spcPts val="2100"/>
              </a:lnSpc>
              <a:spcAft>
                <a:spcPts val="0"/>
              </a:spcAft>
            </a:pPr>
            <a:r>
              <a:rPr sz="1400" b="1" i="0">
                <a:solidFill>
                  <a:srgbClr val="26456E"/>
                </a:solidFill>
                <a:latin typeface="Garamond"/>
              </a:rPr>
              <a:t>Frequency</a:t>
            </a:r>
          </a:p>
        </p:txBody>
      </p:sp>
      <p:sp>
        <p:nvSpPr>
          <p:cNvPr id="9" name="TextBox 8"/>
          <p:cNvSpPr txBox="1"/>
          <p:nvPr/>
        </p:nvSpPr>
        <p:spPr>
          <a:xfrm>
            <a:off x="2697480" y="3675887"/>
            <a:ext cx="8503920" cy="384048"/>
          </a:xfrm>
          <a:prstGeom prst="rect">
            <a:avLst/>
          </a:prstGeom>
          <a:noFill/>
        </p:spPr>
        <p:txBody>
          <a:bodyPr wrap="square" lIns="0" rIns="0" tIns="0" bIns="0">
            <a:spAutoFit/>
          </a:bodyPr>
          <a:lstStyle/>
          <a:p>
            <a:pPr algn="l">
              <a:lnSpc>
                <a:spcPts val="2100"/>
              </a:lnSpc>
              <a:spcAft>
                <a:spcPts val="0"/>
              </a:spcAft>
            </a:pPr>
            <a:r>
              <a:rPr sz="1400" b="0" i="0">
                <a:solidFill>
                  <a:srgbClr val="1A2430"/>
                </a:solidFill>
                <a:latin typeface="Garamond"/>
              </a:rPr>
              <a:t>monthly, with a single reference week in every month</a:t>
            </a:r>
          </a:p>
        </p:txBody>
      </p:sp>
      <p:sp>
        <p:nvSpPr>
          <p:cNvPr id="10" name="TextBox 9"/>
          <p:cNvSpPr txBox="1"/>
          <p:nvPr/>
        </p:nvSpPr>
        <p:spPr>
          <a:xfrm>
            <a:off x="1005840" y="4151375"/>
            <a:ext cx="1554480" cy="384048"/>
          </a:xfrm>
          <a:prstGeom prst="rect">
            <a:avLst/>
          </a:prstGeom>
          <a:noFill/>
        </p:spPr>
        <p:txBody>
          <a:bodyPr wrap="square" lIns="0" rIns="0" tIns="0" bIns="0">
            <a:spAutoFit/>
          </a:bodyPr>
          <a:lstStyle/>
          <a:p>
            <a:pPr algn="l">
              <a:lnSpc>
                <a:spcPts val="2100"/>
              </a:lnSpc>
              <a:spcAft>
                <a:spcPts val="0"/>
              </a:spcAft>
            </a:pPr>
            <a:r>
              <a:rPr sz="1400" b="1" i="0">
                <a:solidFill>
                  <a:srgbClr val="26456E"/>
                </a:solidFill>
                <a:latin typeface="Garamond"/>
              </a:rPr>
              <a:t>Sample</a:t>
            </a:r>
          </a:p>
        </p:txBody>
      </p:sp>
      <p:sp>
        <p:nvSpPr>
          <p:cNvPr id="11" name="TextBox 10"/>
          <p:cNvSpPr txBox="1"/>
          <p:nvPr/>
        </p:nvSpPr>
        <p:spPr>
          <a:xfrm>
            <a:off x="2697480" y="4151375"/>
            <a:ext cx="8503920" cy="384048"/>
          </a:xfrm>
          <a:prstGeom prst="rect">
            <a:avLst/>
          </a:prstGeom>
          <a:noFill/>
        </p:spPr>
        <p:txBody>
          <a:bodyPr wrap="square" lIns="0" rIns="0" tIns="0" bIns="0">
            <a:spAutoFit/>
          </a:bodyPr>
          <a:lstStyle/>
          <a:p>
            <a:pPr algn="l">
              <a:lnSpc>
                <a:spcPts val="2100"/>
              </a:lnSpc>
              <a:spcAft>
                <a:spcPts val="0"/>
              </a:spcAft>
            </a:pPr>
            <a:r>
              <a:rPr sz="1400" b="0" i="0">
                <a:solidFill>
                  <a:srgbClr val="1A2430"/>
                </a:solidFill>
                <a:latin typeface="Garamond"/>
              </a:rPr>
              <a:t>about 60,000 households, some 110,000 individuals, in each monthly round</a:t>
            </a:r>
          </a:p>
        </p:txBody>
      </p:sp>
      <p:sp>
        <p:nvSpPr>
          <p:cNvPr id="12" name="TextBox 11"/>
          <p:cNvSpPr txBox="1"/>
          <p:nvPr/>
        </p:nvSpPr>
        <p:spPr>
          <a:xfrm>
            <a:off x="1005840" y="4626863"/>
            <a:ext cx="1554480" cy="384048"/>
          </a:xfrm>
          <a:prstGeom prst="rect">
            <a:avLst/>
          </a:prstGeom>
          <a:noFill/>
        </p:spPr>
        <p:txBody>
          <a:bodyPr wrap="square" lIns="0" rIns="0" tIns="0" bIns="0">
            <a:spAutoFit/>
          </a:bodyPr>
          <a:lstStyle/>
          <a:p>
            <a:pPr algn="l">
              <a:lnSpc>
                <a:spcPts val="2100"/>
              </a:lnSpc>
              <a:spcAft>
                <a:spcPts val="0"/>
              </a:spcAft>
            </a:pPr>
            <a:r>
              <a:rPr sz="1400" b="1" i="0">
                <a:solidFill>
                  <a:srgbClr val="26456E"/>
                </a:solidFill>
                <a:latin typeface="Garamond"/>
              </a:rPr>
              <a:t>Rotation</a:t>
            </a:r>
          </a:p>
        </p:txBody>
      </p:sp>
      <p:sp>
        <p:nvSpPr>
          <p:cNvPr id="13" name="TextBox 12"/>
          <p:cNvSpPr txBox="1"/>
          <p:nvPr/>
        </p:nvSpPr>
        <p:spPr>
          <a:xfrm>
            <a:off x="2697480" y="4626863"/>
            <a:ext cx="8503920" cy="384048"/>
          </a:xfrm>
          <a:prstGeom prst="rect">
            <a:avLst/>
          </a:prstGeom>
          <a:noFill/>
        </p:spPr>
        <p:txBody>
          <a:bodyPr wrap="square" lIns="0" rIns="0" tIns="0" bIns="0">
            <a:spAutoFit/>
          </a:bodyPr>
          <a:lstStyle/>
          <a:p>
            <a:pPr algn="l">
              <a:lnSpc>
                <a:spcPts val="2100"/>
              </a:lnSpc>
              <a:spcAft>
                <a:spcPts val="0"/>
              </a:spcAft>
            </a:pPr>
            <a:r>
              <a:rPr sz="1400" b="0" i="0">
                <a:solidFill>
                  <a:srgbClr val="1A2430"/>
                </a:solidFill>
                <a:latin typeface="Garamond"/>
              </a:rPr>
              <a:t>four monthly interviews, eight months out, four more: eight interviews over sixteen months</a:t>
            </a:r>
          </a:p>
        </p:txBody>
      </p:sp>
      <p:cxnSp>
        <p:nvCxnSpPr>
          <p:cNvPr id="14" name="Connector 13"/>
          <p:cNvCxnSpPr/>
          <p:nvPr/>
        </p:nvCxnSpPr>
        <p:spPr>
          <a:xfrm>
            <a:off x="822960" y="5148071"/>
            <a:ext cx="10543032" cy="0"/>
          </a:xfrm>
          <a:prstGeom prst="line">
            <a:avLst/>
          </a:prstGeom>
          <a:ln w="12700">
            <a:solidFill>
              <a:srgbClr val="1A243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777240" y="5422391"/>
            <a:ext cx="10698480" cy="914400"/>
          </a:xfrm>
          <a:prstGeom prst="rect">
            <a:avLst/>
          </a:prstGeom>
          <a:noFill/>
        </p:spPr>
        <p:txBody>
          <a:bodyPr wrap="square" lIns="0" rIns="0" tIns="0" bIns="0">
            <a:spAutoFit/>
          </a:bodyPr>
          <a:lstStyle/>
          <a:p>
            <a:pPr algn="just">
              <a:lnSpc>
                <a:spcPts val="2250"/>
              </a:lnSpc>
              <a:spcAft>
                <a:spcPts val="0"/>
              </a:spcAft>
            </a:pPr>
            <a:r>
              <a:rPr sz="1500" b="0" i="0">
                <a:solidFill>
                  <a:srgbClr val="1A2430"/>
                </a:solidFill>
                <a:latin typeface="Garamond"/>
              </a:rPr>
              <a:t>The rotation is the property this paper exploits: because a household returns to the sample exactly one year after its first interviews, the same individual can be observed twelve months apart.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7432"/>
            <a:ext cx="12198096" cy="594360"/>
          </a:xfrm>
          <a:prstGeom prst="rect">
            <a:avLst/>
          </a:prstGeom>
          <a:solidFill>
            <a:srgbClr val="0054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868680"/>
            <a:ext cx="9875520" cy="548640"/>
          </a:xfrm>
          <a:prstGeom prst="rect">
            <a:avLst/>
          </a:prstGeom>
          <a:noFill/>
        </p:spPr>
        <p:txBody>
          <a:bodyPr wrap="square" lIns="0" rIns="0" tIns="0" bIns="0"/>
          <a:lstStyle/>
          <a:p>
            <a:pPr algn="l"/>
            <a:r>
              <a:rPr sz="2800" b="1">
                <a:solidFill>
                  <a:srgbClr val="26456E"/>
                </a:solidFill>
                <a:latin typeface="Garamond"/>
              </a:rPr>
              <a:t>Supplements, and why March</a:t>
            </a:r>
          </a:p>
        </p:txBody>
      </p:sp>
      <p:sp>
        <p:nvSpPr>
          <p:cNvPr id="4" name="TextBox 3"/>
          <p:cNvSpPr txBox="1"/>
          <p:nvPr/>
        </p:nvSpPr>
        <p:spPr>
          <a:xfrm>
            <a:off x="777240" y="1691640"/>
            <a:ext cx="10698480" cy="4754880"/>
          </a:xfrm>
          <a:prstGeom prst="rect">
            <a:avLst/>
          </a:prstGeom>
          <a:noFill/>
        </p:spPr>
        <p:txBody>
          <a:bodyPr wrap="square" lIns="0" rIns="0" tIns="0" bIns="0">
            <a:spAutoFit/>
          </a:bodyPr>
          <a:lstStyle/>
          <a:p>
            <a:pPr algn="just">
              <a:lnSpc>
                <a:spcPts val="2550"/>
              </a:lnSpc>
              <a:spcAft>
                <a:spcPts val="1400"/>
              </a:spcAft>
            </a:pPr>
            <a:r>
              <a:rPr sz="1700" b="0" i="0">
                <a:solidFill>
                  <a:srgbClr val="1A2430"/>
                </a:solidFill>
                <a:latin typeface="Garamond"/>
              </a:rPr>
              <a:t>The basic monthly interview measures current activity only: labor force status in the reference week and the occupation of the current job. It asks nothing about the past.</a:t>
            </a:r>
          </a:p>
          <a:p>
            <a:pPr algn="just">
              <a:lnSpc>
                <a:spcPts val="2550"/>
              </a:lnSpc>
              <a:spcAft>
                <a:spcPts val="1400"/>
              </a:spcAft>
            </a:pPr>
            <a:r>
              <a:rPr sz="1700" b="0" i="0">
                <a:solidFill>
                  <a:srgbClr val="1A2430"/>
                </a:solidFill>
                <a:latin typeface="Garamond"/>
              </a:rPr>
              <a:t>In most months a supplement is appended to the basic interview, a module on a rotating topic: school enrollment in October, voting in November, fertility, tobacco use.</a:t>
            </a:r>
          </a:p>
          <a:p>
            <a:pPr algn="just">
              <a:lnSpc>
                <a:spcPts val="2550"/>
              </a:lnSpc>
              <a:spcAft>
                <a:spcPts val="1400"/>
              </a:spcAft>
            </a:pPr>
            <a:r>
              <a:rPr sz="1700" b="0" i="0">
                <a:solidFill>
                  <a:srgbClr val="1A2430"/>
                </a:solidFill>
                <a:latin typeface="Garamond"/>
              </a:rPr>
              <a:t>The March supplement, the Annual Social and Economic Supplement, is the largest and oldest. The sample is expanded to roughly 90,000 households, and every adult is asked about the entire previous calendar year: the longest job held, weeks worked, earnings, income, and benefits.</a:t>
            </a:r>
          </a:p>
          <a:p>
            <a:pPr algn="just">
              <a:lnSpc>
                <a:spcPts val="2550"/>
              </a:lnSpc>
              <a:spcAft>
                <a:spcPts val="0"/>
              </a:spcAft>
            </a:pPr>
            <a:r>
              <a:rPr sz="1700" b="0" i="0">
                <a:solidFill>
                  <a:srgbClr val="1A2430"/>
                </a:solidFill>
                <a:latin typeface="Garamond"/>
              </a:rPr>
              <a:t>The basic interview sees one month; only the March interview sees the whole preceding year. An annual leaving rate can therefore be measured in March, and in no other month.</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7432"/>
            <a:ext cx="12198096" cy="594360"/>
          </a:xfrm>
          <a:prstGeom prst="rect">
            <a:avLst/>
          </a:prstGeom>
          <a:solidFill>
            <a:srgbClr val="0054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868680"/>
            <a:ext cx="9875520" cy="548640"/>
          </a:xfrm>
          <a:prstGeom prst="rect">
            <a:avLst/>
          </a:prstGeom>
          <a:noFill/>
        </p:spPr>
        <p:txBody>
          <a:bodyPr wrap="square" lIns="0" rIns="0" tIns="0" bIns="0"/>
          <a:lstStyle/>
          <a:p>
            <a:pPr algn="l"/>
            <a:r>
              <a:rPr sz="2800" b="1">
                <a:solidFill>
                  <a:srgbClr val="26456E"/>
                </a:solidFill>
                <a:latin typeface="Garamond"/>
              </a:rPr>
              <a:t>From the CPS to a teacher dataset</a:t>
            </a:r>
          </a:p>
        </p:txBody>
      </p:sp>
      <p:sp>
        <p:nvSpPr>
          <p:cNvPr id="4" name="TextBox 3"/>
          <p:cNvSpPr txBox="1"/>
          <p:nvPr/>
        </p:nvSpPr>
        <p:spPr>
          <a:xfrm>
            <a:off x="777240" y="1691640"/>
            <a:ext cx="10698480" cy="4389120"/>
          </a:xfrm>
          <a:prstGeom prst="rect">
            <a:avLst/>
          </a:prstGeom>
          <a:noFill/>
        </p:spPr>
        <p:txBody>
          <a:bodyPr wrap="square" lIns="0" rIns="0" tIns="0" bIns="0">
            <a:spAutoFit/>
          </a:bodyPr>
          <a:lstStyle/>
          <a:p>
            <a:pPr algn="just">
              <a:lnSpc>
                <a:spcPts val="2550"/>
              </a:lnSpc>
              <a:spcAft>
                <a:spcPts val="1400"/>
              </a:spcAft>
            </a:pPr>
            <a:r>
              <a:rPr sz="1700" b="0" i="0">
                <a:solidFill>
                  <a:srgbClr val="1A2430"/>
                </a:solidFill>
                <a:latin typeface="Garamond"/>
              </a:rPr>
              <a:t>I pool every March supplement from 1998 to 2025 into a single file: five million individual records, 104,545 of them teachers, around 3,700 per year.</a:t>
            </a:r>
          </a:p>
          <a:p>
            <a:pPr algn="just">
              <a:lnSpc>
                <a:spcPts val="2550"/>
              </a:lnSpc>
              <a:spcAft>
                <a:spcPts val="1400"/>
              </a:spcAft>
            </a:pPr>
            <a:r>
              <a:rPr sz="1700" b="0" i="0">
                <a:solidFill>
                  <a:srgbClr val="1A2430"/>
                </a:solidFill>
                <a:latin typeface="Garamond"/>
              </a:rPr>
              <a:t>Whoever taught as last year’s longest job, and no longer teaches at the March interview, has left the profession within the year.</a:t>
            </a:r>
          </a:p>
          <a:p>
            <a:pPr algn="just">
              <a:lnSpc>
                <a:spcPts val="2550"/>
              </a:lnSpc>
              <a:spcAft>
                <a:spcPts val="0"/>
              </a:spcAft>
            </a:pPr>
            <a:r>
              <a:rPr sz="1700" b="0" i="0">
                <a:solidFill>
                  <a:srgbClr val="1A2430"/>
                </a:solidFill>
                <a:latin typeface="Garamond"/>
              </a:rPr>
              <a:t>Each record carries age, family structure, earnings, school sector, state, and pension coverage, so leaving can be related to what we observe about the teacher.</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7432"/>
            <a:ext cx="12198096" cy="594360"/>
          </a:xfrm>
          <a:prstGeom prst="rect">
            <a:avLst/>
          </a:prstGeom>
          <a:solidFill>
            <a:srgbClr val="0054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868680"/>
            <a:ext cx="9875520" cy="548640"/>
          </a:xfrm>
          <a:prstGeom prst="rect">
            <a:avLst/>
          </a:prstGeom>
          <a:noFill/>
        </p:spPr>
        <p:txBody>
          <a:bodyPr wrap="square" lIns="0" rIns="0" tIns="0" bIns="0"/>
          <a:lstStyle/>
          <a:p>
            <a:pPr algn="l"/>
            <a:r>
              <a:rPr sz="2800" b="1">
                <a:solidFill>
                  <a:srgbClr val="26456E"/>
                </a:solidFill>
                <a:latin typeface="Garamond"/>
              </a:rPr>
              <a:t>Linking individuals across waves</a:t>
            </a:r>
          </a:p>
        </p:txBody>
      </p:sp>
      <p:sp>
        <p:nvSpPr>
          <p:cNvPr id="4" name="TextBox 3"/>
          <p:cNvSpPr txBox="1"/>
          <p:nvPr/>
        </p:nvSpPr>
        <p:spPr>
          <a:xfrm>
            <a:off x="777240" y="1691640"/>
            <a:ext cx="10698480" cy="1463040"/>
          </a:xfrm>
          <a:prstGeom prst="rect">
            <a:avLst/>
          </a:prstGeom>
          <a:noFill/>
        </p:spPr>
        <p:txBody>
          <a:bodyPr wrap="square" lIns="0" rIns="0" tIns="0" bIns="0">
            <a:spAutoFit/>
          </a:bodyPr>
          <a:lstStyle/>
          <a:p>
            <a:pPr algn="just">
              <a:lnSpc>
                <a:spcPts val="2550"/>
              </a:lnSpc>
              <a:spcAft>
                <a:spcPts val="0"/>
              </a:spcAft>
            </a:pPr>
            <a:r>
              <a:rPr sz="1700" b="0" i="0">
                <a:solidFill>
                  <a:srgbClr val="1A2430"/>
                </a:solidFill>
                <a:latin typeface="Garamond"/>
              </a:rPr>
              <a:t>The CPS carries no individual identifier across interviews: sampling follows addresses, not persons. Records are therefore linked across waves on household-level identifiers, and each candidate link is validated on demographic consistency, following Madrian and Lefgren (1999).</a:t>
            </a:r>
          </a:p>
        </p:txBody>
      </p:sp>
      <p:cxnSp>
        <p:nvCxnSpPr>
          <p:cNvPr id="5" name="Connector 4"/>
          <p:cNvCxnSpPr/>
          <p:nvPr/>
        </p:nvCxnSpPr>
        <p:spPr>
          <a:xfrm>
            <a:off x="822960" y="3063240"/>
            <a:ext cx="10543032" cy="0"/>
          </a:xfrm>
          <a:prstGeom prst="line">
            <a:avLst/>
          </a:prstGeom>
          <a:ln w="12700">
            <a:solidFill>
              <a:srgbClr val="1A243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1005840" y="3246120"/>
            <a:ext cx="4206240" cy="365760"/>
          </a:xfrm>
          <a:prstGeom prst="rect">
            <a:avLst/>
          </a:prstGeom>
          <a:noFill/>
        </p:spPr>
        <p:txBody>
          <a:bodyPr wrap="square" lIns="0" rIns="0" tIns="0" bIns="0">
            <a:spAutoFit/>
          </a:bodyPr>
          <a:lstStyle/>
          <a:p>
            <a:pPr algn="l">
              <a:lnSpc>
                <a:spcPts val="2100"/>
              </a:lnSpc>
              <a:spcAft>
                <a:spcPts val="0"/>
              </a:spcAft>
            </a:pPr>
            <a:r>
              <a:rPr sz="1400" b="1" i="0">
                <a:solidFill>
                  <a:srgbClr val="26456E"/>
                </a:solidFill>
                <a:latin typeface="Garamond"/>
              </a:rPr>
              <a:t>Linkage keys (exact match)</a:t>
            </a:r>
          </a:p>
        </p:txBody>
      </p:sp>
      <p:sp>
        <p:nvSpPr>
          <p:cNvPr id="7" name="TextBox 6"/>
          <p:cNvSpPr txBox="1"/>
          <p:nvPr/>
        </p:nvSpPr>
        <p:spPr>
          <a:xfrm>
            <a:off x="6035040" y="3246120"/>
            <a:ext cx="4937760" cy="365760"/>
          </a:xfrm>
          <a:prstGeom prst="rect">
            <a:avLst/>
          </a:prstGeom>
          <a:noFill/>
        </p:spPr>
        <p:txBody>
          <a:bodyPr wrap="square" lIns="0" rIns="0" tIns="0" bIns="0">
            <a:spAutoFit/>
          </a:bodyPr>
          <a:lstStyle/>
          <a:p>
            <a:pPr algn="l">
              <a:lnSpc>
                <a:spcPts val="2100"/>
              </a:lnSpc>
              <a:spcAft>
                <a:spcPts val="0"/>
              </a:spcAft>
            </a:pPr>
            <a:r>
              <a:rPr sz="1400" b="1" i="0">
                <a:solidFill>
                  <a:srgbClr val="26456E"/>
                </a:solidFill>
                <a:latin typeface="Garamond"/>
              </a:rPr>
              <a:t>Validation (demographic consistency)</a:t>
            </a:r>
          </a:p>
        </p:txBody>
      </p:sp>
      <p:sp>
        <p:nvSpPr>
          <p:cNvPr id="8" name="TextBox 7"/>
          <p:cNvSpPr txBox="1"/>
          <p:nvPr/>
        </p:nvSpPr>
        <p:spPr>
          <a:xfrm>
            <a:off x="1005840" y="3730752"/>
            <a:ext cx="4206240" cy="1463040"/>
          </a:xfrm>
          <a:prstGeom prst="rect">
            <a:avLst/>
          </a:prstGeom>
          <a:noFill/>
        </p:spPr>
        <p:txBody>
          <a:bodyPr wrap="square" lIns="0" rIns="0" tIns="0" bIns="0">
            <a:spAutoFit/>
          </a:bodyPr>
          <a:lstStyle/>
          <a:p>
            <a:pPr algn="l">
              <a:lnSpc>
                <a:spcPts val="1950"/>
              </a:lnSpc>
              <a:spcAft>
                <a:spcPts val="800"/>
              </a:spcAft>
            </a:pPr>
            <a:r>
              <a:rPr sz="1300" b="0" i="0">
                <a:solidFill>
                  <a:srgbClr val="1A2430"/>
                </a:solidFill>
                <a:latin typeface="Garamond"/>
              </a:rPr>
              <a:t>Household identifier</a:t>
            </a:r>
          </a:p>
          <a:p>
            <a:pPr algn="l">
              <a:lnSpc>
                <a:spcPts val="1950"/>
              </a:lnSpc>
              <a:spcAft>
                <a:spcPts val="800"/>
              </a:spcAft>
            </a:pPr>
            <a:r>
              <a:rPr sz="1300" b="0" i="0">
                <a:solidFill>
                  <a:srgbClr val="1A2430"/>
                </a:solidFill>
                <a:latin typeface="Garamond"/>
              </a:rPr>
              <a:t>Dwelling identifier</a:t>
            </a:r>
          </a:p>
          <a:p>
            <a:pPr algn="l">
              <a:lnSpc>
                <a:spcPts val="1950"/>
              </a:lnSpc>
              <a:spcAft>
                <a:spcPts val="0"/>
              </a:spcAft>
            </a:pPr>
            <a:r>
              <a:rPr sz="1300" b="0" i="0">
                <a:solidFill>
                  <a:srgbClr val="1A2430"/>
                </a:solidFill>
                <a:latin typeface="Garamond"/>
              </a:rPr>
              <a:t>Person line number within the household</a:t>
            </a:r>
          </a:p>
        </p:txBody>
      </p:sp>
      <p:sp>
        <p:nvSpPr>
          <p:cNvPr id="9" name="TextBox 8"/>
          <p:cNvSpPr txBox="1"/>
          <p:nvPr/>
        </p:nvSpPr>
        <p:spPr>
          <a:xfrm>
            <a:off x="6035040" y="3730752"/>
            <a:ext cx="4937760" cy="1463040"/>
          </a:xfrm>
          <a:prstGeom prst="rect">
            <a:avLst/>
          </a:prstGeom>
          <a:noFill/>
        </p:spPr>
        <p:txBody>
          <a:bodyPr wrap="square" lIns="0" rIns="0" tIns="0" bIns="0">
            <a:spAutoFit/>
          </a:bodyPr>
          <a:lstStyle/>
          <a:p>
            <a:pPr algn="l">
              <a:lnSpc>
                <a:spcPts val="1950"/>
              </a:lnSpc>
              <a:spcAft>
                <a:spcPts val="800"/>
              </a:spcAft>
            </a:pPr>
            <a:r>
              <a:rPr sz="1300" b="0" i="0">
                <a:solidFill>
                  <a:srgbClr val="1A2430"/>
                </a:solidFill>
                <a:latin typeface="Garamond"/>
              </a:rPr>
              <a:t>Sex, identical across interviews</a:t>
            </a:r>
          </a:p>
          <a:p>
            <a:pPr algn="l">
              <a:lnSpc>
                <a:spcPts val="1950"/>
              </a:lnSpc>
              <a:spcAft>
                <a:spcPts val="800"/>
              </a:spcAft>
            </a:pPr>
            <a:r>
              <a:rPr sz="1300" b="0" i="0">
                <a:solidFill>
                  <a:srgbClr val="1A2430"/>
                </a:solidFill>
                <a:latin typeface="Garamond"/>
              </a:rPr>
              <a:t>Race, identical across interviews</a:t>
            </a:r>
          </a:p>
          <a:p>
            <a:pPr algn="l">
              <a:lnSpc>
                <a:spcPts val="1950"/>
              </a:lnSpc>
              <a:spcAft>
                <a:spcPts val="0"/>
              </a:spcAft>
            </a:pPr>
            <a:r>
              <a:rPr sz="1300" b="0" i="0">
                <a:solidFill>
                  <a:srgbClr val="1A2430"/>
                </a:solidFill>
                <a:latin typeface="Garamond"/>
              </a:rPr>
              <a:t>Age, increasing by zero to two years</a:t>
            </a:r>
          </a:p>
        </p:txBody>
      </p:sp>
      <p:cxnSp>
        <p:nvCxnSpPr>
          <p:cNvPr id="10" name="Connector 9"/>
          <p:cNvCxnSpPr/>
          <p:nvPr/>
        </p:nvCxnSpPr>
        <p:spPr>
          <a:xfrm>
            <a:off x="822960" y="5303520"/>
            <a:ext cx="10543032" cy="0"/>
          </a:xfrm>
          <a:prstGeom prst="line">
            <a:avLst/>
          </a:prstGeom>
          <a:ln w="12700">
            <a:solidFill>
              <a:srgbClr val="1A243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777240" y="5577840"/>
            <a:ext cx="10698480" cy="1097280"/>
          </a:xfrm>
          <a:prstGeom prst="rect">
            <a:avLst/>
          </a:prstGeom>
          <a:noFill/>
        </p:spPr>
        <p:txBody>
          <a:bodyPr wrap="square" lIns="0" rIns="0" tIns="0" bIns="0">
            <a:spAutoFit/>
          </a:bodyPr>
          <a:lstStyle/>
          <a:p>
            <a:pPr algn="just">
              <a:lnSpc>
                <a:spcPts val="2025"/>
              </a:lnSpc>
              <a:spcAft>
                <a:spcPts val="0"/>
              </a:spcAft>
            </a:pPr>
            <a:r>
              <a:rPr sz="1350" b="0" i="0">
                <a:solidFill>
                  <a:srgbClr val="1A2430"/>
                </a:solidFill>
                <a:latin typeface="Garamond"/>
              </a:rPr>
              <a:t>Validated links are obtained for 78 percent of teacher observations (74 percent of other college graduates). The loss is concentrated among movers, whose exit propensity exceeds that of non-movers; panel-based estimates are therefore lower bounds on mobility-related exit.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7432"/>
            <a:ext cx="12198096" cy="594360"/>
          </a:xfrm>
          <a:prstGeom prst="rect">
            <a:avLst/>
          </a:prstGeom>
          <a:solidFill>
            <a:srgbClr val="0054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868680"/>
            <a:ext cx="9875520" cy="548640"/>
          </a:xfrm>
          <a:prstGeom prst="rect">
            <a:avLst/>
          </a:prstGeom>
          <a:noFill/>
        </p:spPr>
        <p:txBody>
          <a:bodyPr wrap="square" lIns="0" rIns="0" tIns="0" bIns="0"/>
          <a:lstStyle/>
          <a:p>
            <a:pPr algn="l"/>
            <a:r>
              <a:rPr sz="2800" b="1">
                <a:solidFill>
                  <a:srgbClr val="26456E"/>
                </a:solidFill>
                <a:latin typeface="Garamond"/>
              </a:rPr>
              <a:t>Definition 1: illustrative cases</a:t>
            </a:r>
          </a:p>
        </p:txBody>
      </p:sp>
      <p:sp>
        <p:nvSpPr>
          <p:cNvPr id="4" name="Rectangle 3"/>
          <p:cNvSpPr/>
          <p:nvPr/>
        </p:nvSpPr>
        <p:spPr>
          <a:xfrm>
            <a:off x="822960" y="1874519"/>
            <a:ext cx="548640" cy="54864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T</a:t>
            </a:r>
          </a:p>
        </p:txBody>
      </p:sp>
      <p:sp>
        <p:nvSpPr>
          <p:cNvPr id="5" name="Rectangle 4"/>
          <p:cNvSpPr/>
          <p:nvPr/>
        </p:nvSpPr>
        <p:spPr>
          <a:xfrm>
            <a:off x="1426464" y="1874519"/>
            <a:ext cx="548640" cy="54864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T</a:t>
            </a:r>
          </a:p>
        </p:txBody>
      </p:sp>
      <p:sp>
        <p:nvSpPr>
          <p:cNvPr id="6" name="Rectangle 5"/>
          <p:cNvSpPr/>
          <p:nvPr/>
        </p:nvSpPr>
        <p:spPr>
          <a:xfrm>
            <a:off x="2029967" y="1874519"/>
            <a:ext cx="548640" cy="54864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T</a:t>
            </a:r>
          </a:p>
        </p:txBody>
      </p:sp>
      <p:sp>
        <p:nvSpPr>
          <p:cNvPr id="7" name="Rectangle 6"/>
          <p:cNvSpPr/>
          <p:nvPr/>
        </p:nvSpPr>
        <p:spPr>
          <a:xfrm>
            <a:off x="2633472" y="1874519"/>
            <a:ext cx="548640" cy="54864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T</a:t>
            </a:r>
          </a:p>
        </p:txBody>
      </p:sp>
      <p:sp>
        <p:nvSpPr>
          <p:cNvPr id="8" name="Rectangle 7"/>
          <p:cNvSpPr/>
          <p:nvPr/>
        </p:nvSpPr>
        <p:spPr>
          <a:xfrm>
            <a:off x="4014215" y="1874519"/>
            <a:ext cx="548640" cy="548640"/>
          </a:xfrm>
          <a:prstGeom prst="rect">
            <a:avLst/>
          </a:prstGeom>
          <a:solidFill>
            <a:srgbClr val="7B2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T</a:t>
            </a:r>
          </a:p>
        </p:txBody>
      </p:sp>
      <p:sp>
        <p:nvSpPr>
          <p:cNvPr id="9" name="Rectangle 8"/>
          <p:cNvSpPr/>
          <p:nvPr/>
        </p:nvSpPr>
        <p:spPr>
          <a:xfrm>
            <a:off x="4617720" y="1874519"/>
            <a:ext cx="548640" cy="548640"/>
          </a:xfrm>
          <a:prstGeom prst="rect">
            <a:avLst/>
          </a:prstGeom>
          <a:solidFill>
            <a:srgbClr val="7B2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T</a:t>
            </a:r>
          </a:p>
        </p:txBody>
      </p:sp>
      <p:sp>
        <p:nvSpPr>
          <p:cNvPr id="10" name="Rectangle 9"/>
          <p:cNvSpPr/>
          <p:nvPr/>
        </p:nvSpPr>
        <p:spPr>
          <a:xfrm>
            <a:off x="5221224" y="1874519"/>
            <a:ext cx="548640" cy="548640"/>
          </a:xfrm>
          <a:prstGeom prst="rect">
            <a:avLst/>
          </a:prstGeom>
          <a:solidFill>
            <a:srgbClr val="7B2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T</a:t>
            </a:r>
          </a:p>
        </p:txBody>
      </p:sp>
      <p:sp>
        <p:nvSpPr>
          <p:cNvPr id="11" name="Rectangle 10"/>
          <p:cNvSpPr/>
          <p:nvPr/>
        </p:nvSpPr>
        <p:spPr>
          <a:xfrm>
            <a:off x="5824728" y="1874519"/>
            <a:ext cx="548640" cy="548640"/>
          </a:xfrm>
          <a:prstGeom prst="rect">
            <a:avLst/>
          </a:prstGeom>
          <a:solidFill>
            <a:srgbClr val="7B2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T</a:t>
            </a:r>
          </a:p>
        </p:txBody>
      </p:sp>
      <p:sp>
        <p:nvSpPr>
          <p:cNvPr id="12" name="TextBox 11"/>
          <p:cNvSpPr txBox="1"/>
          <p:nvPr/>
        </p:nvSpPr>
        <p:spPr>
          <a:xfrm>
            <a:off x="6748272" y="1984248"/>
            <a:ext cx="4572000" cy="411480"/>
          </a:xfrm>
          <a:prstGeom prst="rect">
            <a:avLst/>
          </a:prstGeom>
          <a:noFill/>
        </p:spPr>
        <p:txBody>
          <a:bodyPr wrap="square" lIns="0" rIns="0" tIns="0" bIns="0">
            <a:spAutoFit/>
          </a:bodyPr>
          <a:lstStyle/>
          <a:p>
            <a:pPr algn="l">
              <a:lnSpc>
                <a:spcPts val="2100"/>
              </a:lnSpc>
              <a:spcAft>
                <a:spcPts val="0"/>
              </a:spcAft>
            </a:pPr>
            <a:r>
              <a:rPr sz="1400" b="1" i="0">
                <a:solidFill>
                  <a:srgbClr val="1F3864"/>
                </a:solidFill>
                <a:latin typeface="Garamond"/>
              </a:rPr>
              <a:t>stayer</a:t>
            </a:r>
          </a:p>
        </p:txBody>
      </p:sp>
      <p:sp>
        <p:nvSpPr>
          <p:cNvPr id="13" name="Rectangle 12"/>
          <p:cNvSpPr/>
          <p:nvPr/>
        </p:nvSpPr>
        <p:spPr>
          <a:xfrm>
            <a:off x="822960" y="2807208"/>
            <a:ext cx="548640" cy="54864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T</a:t>
            </a:r>
          </a:p>
        </p:txBody>
      </p:sp>
      <p:sp>
        <p:nvSpPr>
          <p:cNvPr id="14" name="Rectangle 13"/>
          <p:cNvSpPr/>
          <p:nvPr/>
        </p:nvSpPr>
        <p:spPr>
          <a:xfrm>
            <a:off x="1426464" y="2807208"/>
            <a:ext cx="548640" cy="54864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T</a:t>
            </a:r>
          </a:p>
        </p:txBody>
      </p:sp>
      <p:sp>
        <p:nvSpPr>
          <p:cNvPr id="15" name="Rectangle 14"/>
          <p:cNvSpPr/>
          <p:nvPr/>
        </p:nvSpPr>
        <p:spPr>
          <a:xfrm>
            <a:off x="2029967" y="2807208"/>
            <a:ext cx="548640" cy="54864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T</a:t>
            </a:r>
          </a:p>
        </p:txBody>
      </p:sp>
      <p:sp>
        <p:nvSpPr>
          <p:cNvPr id="16" name="Rectangle 15"/>
          <p:cNvSpPr/>
          <p:nvPr/>
        </p:nvSpPr>
        <p:spPr>
          <a:xfrm>
            <a:off x="2633472" y="2807208"/>
            <a:ext cx="548640" cy="54864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T</a:t>
            </a:r>
          </a:p>
        </p:txBody>
      </p:sp>
      <p:sp>
        <p:nvSpPr>
          <p:cNvPr id="17" name="Rectangle 16"/>
          <p:cNvSpPr/>
          <p:nvPr/>
        </p:nvSpPr>
        <p:spPr>
          <a:xfrm>
            <a:off x="4014215" y="2807208"/>
            <a:ext cx="548640" cy="54864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617720" y="2807208"/>
            <a:ext cx="548640" cy="54864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221224" y="2807208"/>
            <a:ext cx="548640" cy="54864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824728" y="2807208"/>
            <a:ext cx="548640" cy="548640"/>
          </a:xfrm>
          <a:prstGeom prst="rect">
            <a:avLst/>
          </a:prstGeom>
          <a:solidFill>
            <a:srgbClr val="7B2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T</a:t>
            </a:r>
          </a:p>
        </p:txBody>
      </p:sp>
      <p:sp>
        <p:nvSpPr>
          <p:cNvPr id="21" name="TextBox 20"/>
          <p:cNvSpPr txBox="1"/>
          <p:nvPr/>
        </p:nvSpPr>
        <p:spPr>
          <a:xfrm>
            <a:off x="6748272" y="2916936"/>
            <a:ext cx="4572000" cy="411480"/>
          </a:xfrm>
          <a:prstGeom prst="rect">
            <a:avLst/>
          </a:prstGeom>
          <a:noFill/>
        </p:spPr>
        <p:txBody>
          <a:bodyPr wrap="square" lIns="0" rIns="0" tIns="0" bIns="0">
            <a:spAutoFit/>
          </a:bodyPr>
          <a:lstStyle/>
          <a:p>
            <a:pPr algn="l">
              <a:lnSpc>
                <a:spcPts val="2100"/>
              </a:lnSpc>
              <a:spcAft>
                <a:spcPts val="0"/>
              </a:spcAft>
            </a:pPr>
            <a:r>
              <a:rPr sz="1400" b="1" i="0">
                <a:solidFill>
                  <a:srgbClr val="1F3864"/>
                </a:solidFill>
                <a:latin typeface="Garamond"/>
              </a:rPr>
              <a:t>stayer</a:t>
            </a:r>
          </a:p>
        </p:txBody>
      </p:sp>
      <p:sp>
        <p:nvSpPr>
          <p:cNvPr id="22" name="Rectangle 21"/>
          <p:cNvSpPr/>
          <p:nvPr/>
        </p:nvSpPr>
        <p:spPr>
          <a:xfrm>
            <a:off x="822960" y="3739896"/>
            <a:ext cx="548640" cy="54864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T</a:t>
            </a:r>
          </a:p>
        </p:txBody>
      </p:sp>
      <p:sp>
        <p:nvSpPr>
          <p:cNvPr id="23" name="Rectangle 22"/>
          <p:cNvSpPr/>
          <p:nvPr/>
        </p:nvSpPr>
        <p:spPr>
          <a:xfrm>
            <a:off x="1426464" y="3739896"/>
            <a:ext cx="548640" cy="54864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T</a:t>
            </a:r>
          </a:p>
        </p:txBody>
      </p:sp>
      <p:sp>
        <p:nvSpPr>
          <p:cNvPr id="24" name="Rectangle 23"/>
          <p:cNvSpPr/>
          <p:nvPr/>
        </p:nvSpPr>
        <p:spPr>
          <a:xfrm>
            <a:off x="2029967" y="3739896"/>
            <a:ext cx="548640" cy="54864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633472" y="3739896"/>
            <a:ext cx="548640" cy="54864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014215" y="3739896"/>
            <a:ext cx="548640" cy="54864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617720" y="3739896"/>
            <a:ext cx="548640" cy="54864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221224" y="3739896"/>
            <a:ext cx="548640" cy="54864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824728" y="3739896"/>
            <a:ext cx="548640" cy="54864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748272" y="3849624"/>
            <a:ext cx="4572000" cy="411480"/>
          </a:xfrm>
          <a:prstGeom prst="rect">
            <a:avLst/>
          </a:prstGeom>
          <a:noFill/>
        </p:spPr>
        <p:txBody>
          <a:bodyPr wrap="square" lIns="0" rIns="0" tIns="0" bIns="0">
            <a:spAutoFit/>
          </a:bodyPr>
          <a:lstStyle/>
          <a:p>
            <a:pPr algn="l">
              <a:lnSpc>
                <a:spcPts val="2100"/>
              </a:lnSpc>
              <a:spcAft>
                <a:spcPts val="0"/>
              </a:spcAft>
            </a:pPr>
            <a:r>
              <a:rPr sz="1400" b="1" i="0">
                <a:solidFill>
                  <a:srgbClr val="7B2530"/>
                </a:solidFill>
                <a:latin typeface="Garamond"/>
              </a:rPr>
              <a:t>leaver</a:t>
            </a:r>
          </a:p>
        </p:txBody>
      </p:sp>
      <p:sp>
        <p:nvSpPr>
          <p:cNvPr id="31" name="Rectangle 30"/>
          <p:cNvSpPr/>
          <p:nvPr/>
        </p:nvSpPr>
        <p:spPr>
          <a:xfrm>
            <a:off x="822960" y="4672583"/>
            <a:ext cx="548640" cy="54864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T</a:t>
            </a:r>
          </a:p>
        </p:txBody>
      </p:sp>
      <p:sp>
        <p:nvSpPr>
          <p:cNvPr id="32" name="Rectangle 31"/>
          <p:cNvSpPr/>
          <p:nvPr/>
        </p:nvSpPr>
        <p:spPr>
          <a:xfrm>
            <a:off x="1426464" y="4672583"/>
            <a:ext cx="548640" cy="54864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2029967" y="4672583"/>
            <a:ext cx="548640" cy="54864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2633472" y="4672583"/>
            <a:ext cx="548640" cy="54864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014215" y="4672583"/>
            <a:ext cx="548640" cy="54864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617720" y="4672583"/>
            <a:ext cx="548640" cy="54864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221224" y="4672583"/>
            <a:ext cx="548640" cy="54864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824728" y="4672583"/>
            <a:ext cx="548640" cy="54864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748272" y="4782312"/>
            <a:ext cx="4572000" cy="411480"/>
          </a:xfrm>
          <a:prstGeom prst="rect">
            <a:avLst/>
          </a:prstGeom>
          <a:noFill/>
        </p:spPr>
        <p:txBody>
          <a:bodyPr wrap="square" lIns="0" rIns="0" tIns="0" bIns="0">
            <a:spAutoFit/>
          </a:bodyPr>
          <a:lstStyle/>
          <a:p>
            <a:pPr algn="l">
              <a:lnSpc>
                <a:spcPts val="2100"/>
              </a:lnSpc>
              <a:spcAft>
                <a:spcPts val="0"/>
              </a:spcAft>
            </a:pPr>
            <a:r>
              <a:rPr sz="1400" b="1" i="0">
                <a:solidFill>
                  <a:srgbClr val="6B7480"/>
                </a:solidFill>
                <a:latin typeface="Garamond"/>
              </a:rPr>
              <a:t>excluded: a single year-1 observation</a:t>
            </a:r>
          </a:p>
        </p:txBody>
      </p:sp>
      <p:sp>
        <p:nvSpPr>
          <p:cNvPr id="40" name="TextBox 39"/>
          <p:cNvSpPr txBox="1"/>
          <p:nvPr/>
        </p:nvSpPr>
        <p:spPr>
          <a:xfrm>
            <a:off x="822960" y="5678423"/>
            <a:ext cx="4572000" cy="320040"/>
          </a:xfrm>
          <a:prstGeom prst="rect">
            <a:avLst/>
          </a:prstGeom>
          <a:noFill/>
        </p:spPr>
        <p:txBody>
          <a:bodyPr wrap="square" lIns="0" rIns="0" tIns="0" bIns="0">
            <a:spAutoFit/>
          </a:bodyPr>
          <a:lstStyle/>
          <a:p>
            <a:pPr algn="l">
              <a:lnSpc>
                <a:spcPts val="1800"/>
              </a:lnSpc>
              <a:spcAft>
                <a:spcPts val="0"/>
              </a:spcAft>
            </a:pPr>
            <a:r>
              <a:rPr sz="1200" b="0" i="1">
                <a:solidFill>
                  <a:srgbClr val="6B7480"/>
                </a:solidFill>
                <a:latin typeface="Garamond"/>
              </a:rPr>
              <a:t>Year 1</a:t>
            </a:r>
          </a:p>
        </p:txBody>
      </p:sp>
      <p:sp>
        <p:nvSpPr>
          <p:cNvPr id="41" name="TextBox 40"/>
          <p:cNvSpPr txBox="1"/>
          <p:nvPr/>
        </p:nvSpPr>
        <p:spPr>
          <a:xfrm>
            <a:off x="5806440" y="5678423"/>
            <a:ext cx="4572000" cy="320040"/>
          </a:xfrm>
          <a:prstGeom prst="rect">
            <a:avLst/>
          </a:prstGeom>
          <a:noFill/>
        </p:spPr>
        <p:txBody>
          <a:bodyPr wrap="square" lIns="0" rIns="0" tIns="0" bIns="0">
            <a:spAutoFit/>
          </a:bodyPr>
          <a:lstStyle/>
          <a:p>
            <a:pPr algn="l">
              <a:lnSpc>
                <a:spcPts val="1800"/>
              </a:lnSpc>
              <a:spcAft>
                <a:spcPts val="0"/>
              </a:spcAft>
            </a:pPr>
            <a:r>
              <a:rPr sz="1200" b="0" i="1">
                <a:solidFill>
                  <a:srgbClr val="6B7480"/>
                </a:solidFill>
                <a:latin typeface="Garamond"/>
              </a:rPr>
              <a:t>Year 2</a:t>
            </a:r>
          </a:p>
        </p:txBody>
      </p:sp>
      <p:sp>
        <p:nvSpPr>
          <p:cNvPr id="42" name="TextBox 41"/>
          <p:cNvSpPr txBox="1"/>
          <p:nvPr/>
        </p:nvSpPr>
        <p:spPr>
          <a:xfrm>
            <a:off x="822960" y="6080759"/>
            <a:ext cx="10515600" cy="365760"/>
          </a:xfrm>
          <a:prstGeom prst="rect">
            <a:avLst/>
          </a:prstGeom>
          <a:noFill/>
        </p:spPr>
        <p:txBody>
          <a:bodyPr wrap="square" lIns="0" rIns="0" tIns="0" bIns="0">
            <a:spAutoFit/>
          </a:bodyPr>
          <a:lstStyle/>
          <a:p>
            <a:pPr algn="l">
              <a:lnSpc>
                <a:spcPts val="1800"/>
              </a:lnSpc>
              <a:spcAft>
                <a:spcPts val="0"/>
              </a:spcAft>
            </a:pPr>
            <a:r>
              <a:rPr sz="1200" b="0" i="1">
                <a:solidFill>
                  <a:srgbClr val="6B7480"/>
                </a:solidFill>
                <a:latin typeface="Garamond"/>
              </a:rPr>
              <a:t>Filled cells denote interviews in which the individual is observed teaching; bordered cells, interviews without teaching.</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7432"/>
            <a:ext cx="12198096" cy="594360"/>
          </a:xfrm>
          <a:prstGeom prst="rect">
            <a:avLst/>
          </a:prstGeom>
          <a:solidFill>
            <a:srgbClr val="0054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868680"/>
            <a:ext cx="9875520" cy="548640"/>
          </a:xfrm>
          <a:prstGeom prst="rect">
            <a:avLst/>
          </a:prstGeom>
          <a:noFill/>
        </p:spPr>
        <p:txBody>
          <a:bodyPr wrap="square" lIns="0" rIns="0" tIns="0" bIns="0"/>
          <a:lstStyle/>
          <a:p>
            <a:pPr algn="l"/>
            <a:r>
              <a:rPr sz="2800" b="1">
                <a:solidFill>
                  <a:srgbClr val="26456E"/>
                </a:solidFill>
                <a:latin typeface="Garamond"/>
              </a:rPr>
              <a:t>Measuring attrition: definitions</a:t>
            </a:r>
          </a:p>
        </p:txBody>
      </p:sp>
      <p:sp>
        <p:nvSpPr>
          <p:cNvPr id="4" name="TextBox 3"/>
          <p:cNvSpPr txBox="1"/>
          <p:nvPr/>
        </p:nvSpPr>
        <p:spPr>
          <a:xfrm>
            <a:off x="822960" y="1417320"/>
            <a:ext cx="3200400" cy="320040"/>
          </a:xfrm>
          <a:prstGeom prst="rect">
            <a:avLst/>
          </a:prstGeom>
          <a:noFill/>
        </p:spPr>
        <p:txBody>
          <a:bodyPr wrap="square" lIns="0" rIns="0" tIns="0" bIns="0">
            <a:spAutoFit/>
          </a:bodyPr>
          <a:lstStyle/>
          <a:p>
            <a:pPr algn="l">
              <a:lnSpc>
                <a:spcPts val="1950"/>
              </a:lnSpc>
              <a:spcAft>
                <a:spcPts val="0"/>
              </a:spcAft>
            </a:pPr>
            <a:r>
              <a:rPr sz="1300" b="1" i="0">
                <a:solidFill>
                  <a:srgbClr val="1F3864"/>
                </a:solidFill>
                <a:latin typeface="Garamond"/>
              </a:rPr>
              <a:t>Year 1: interviews 1–4</a:t>
            </a:r>
          </a:p>
        </p:txBody>
      </p:sp>
      <p:sp>
        <p:nvSpPr>
          <p:cNvPr id="5" name="TextBox 4"/>
          <p:cNvSpPr txBox="1"/>
          <p:nvPr/>
        </p:nvSpPr>
        <p:spPr>
          <a:xfrm>
            <a:off x="4480560" y="1417320"/>
            <a:ext cx="3291840" cy="320040"/>
          </a:xfrm>
          <a:prstGeom prst="rect">
            <a:avLst/>
          </a:prstGeom>
          <a:noFill/>
        </p:spPr>
        <p:txBody>
          <a:bodyPr wrap="square" lIns="0" rIns="0" tIns="0" bIns="0">
            <a:spAutoFit/>
          </a:bodyPr>
          <a:lstStyle/>
          <a:p>
            <a:pPr algn="ctr">
              <a:lnSpc>
                <a:spcPts val="1875"/>
              </a:lnSpc>
              <a:spcAft>
                <a:spcPts val="0"/>
              </a:spcAft>
            </a:pPr>
            <a:r>
              <a:rPr sz="1250" b="0" i="1">
                <a:solidFill>
                  <a:srgbClr val="6B7480"/>
                </a:solidFill>
                <a:latin typeface="Garamond"/>
              </a:rPr>
              <a:t>8 months out of the sample</a:t>
            </a:r>
          </a:p>
        </p:txBody>
      </p:sp>
      <p:sp>
        <p:nvSpPr>
          <p:cNvPr id="6" name="TextBox 5"/>
          <p:cNvSpPr txBox="1"/>
          <p:nvPr/>
        </p:nvSpPr>
        <p:spPr>
          <a:xfrm>
            <a:off x="8229600" y="1417320"/>
            <a:ext cx="3200400" cy="320040"/>
          </a:xfrm>
          <a:prstGeom prst="rect">
            <a:avLst/>
          </a:prstGeom>
          <a:noFill/>
        </p:spPr>
        <p:txBody>
          <a:bodyPr wrap="square" lIns="0" rIns="0" tIns="0" bIns="0">
            <a:spAutoFit/>
          </a:bodyPr>
          <a:lstStyle/>
          <a:p>
            <a:pPr algn="r">
              <a:lnSpc>
                <a:spcPts val="1950"/>
              </a:lnSpc>
              <a:spcAft>
                <a:spcPts val="0"/>
              </a:spcAft>
            </a:pPr>
            <a:r>
              <a:rPr sz="1300" b="1" i="0">
                <a:solidFill>
                  <a:srgbClr val="7B2530"/>
                </a:solidFill>
                <a:latin typeface="Garamond"/>
              </a:rPr>
              <a:t>Year 2: interviews 5–8</a:t>
            </a:r>
          </a:p>
        </p:txBody>
      </p:sp>
      <p:sp>
        <p:nvSpPr>
          <p:cNvPr id="7" name="Rectangle 6"/>
          <p:cNvSpPr/>
          <p:nvPr/>
        </p:nvSpPr>
        <p:spPr>
          <a:xfrm>
            <a:off x="822960" y="1755648"/>
            <a:ext cx="658939" cy="4572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1</a:t>
            </a:r>
          </a:p>
        </p:txBody>
      </p:sp>
      <p:sp>
        <p:nvSpPr>
          <p:cNvPr id="8" name="Rectangle 7"/>
          <p:cNvSpPr/>
          <p:nvPr/>
        </p:nvSpPr>
        <p:spPr>
          <a:xfrm>
            <a:off x="1481899" y="1755648"/>
            <a:ext cx="658939" cy="4572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2</a:t>
            </a:r>
          </a:p>
        </p:txBody>
      </p:sp>
      <p:sp>
        <p:nvSpPr>
          <p:cNvPr id="9" name="Rectangle 8"/>
          <p:cNvSpPr/>
          <p:nvPr/>
        </p:nvSpPr>
        <p:spPr>
          <a:xfrm>
            <a:off x="2140839" y="1755648"/>
            <a:ext cx="658939" cy="4572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3</a:t>
            </a:r>
          </a:p>
        </p:txBody>
      </p:sp>
      <p:sp>
        <p:nvSpPr>
          <p:cNvPr id="10" name="Rectangle 9"/>
          <p:cNvSpPr/>
          <p:nvPr/>
        </p:nvSpPr>
        <p:spPr>
          <a:xfrm>
            <a:off x="2799778" y="1755648"/>
            <a:ext cx="658939" cy="4572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4</a:t>
            </a:r>
          </a:p>
        </p:txBody>
      </p:sp>
      <p:sp>
        <p:nvSpPr>
          <p:cNvPr id="11" name="Rectangle 10"/>
          <p:cNvSpPr/>
          <p:nvPr/>
        </p:nvSpPr>
        <p:spPr>
          <a:xfrm>
            <a:off x="3458718" y="1755648"/>
            <a:ext cx="658939" cy="45720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6B7480"/>
                </a:solidFill>
                <a:latin typeface="Garamond"/>
              </a:rPr>
              <a:t>5</a:t>
            </a:r>
          </a:p>
        </p:txBody>
      </p:sp>
      <p:sp>
        <p:nvSpPr>
          <p:cNvPr id="12" name="Rectangle 11"/>
          <p:cNvSpPr/>
          <p:nvPr/>
        </p:nvSpPr>
        <p:spPr>
          <a:xfrm>
            <a:off x="4117657" y="1755648"/>
            <a:ext cx="658939" cy="45720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6B7480"/>
                </a:solidFill>
                <a:latin typeface="Garamond"/>
              </a:rPr>
              <a:t>6</a:t>
            </a:r>
          </a:p>
        </p:txBody>
      </p:sp>
      <p:sp>
        <p:nvSpPr>
          <p:cNvPr id="13" name="Rectangle 12"/>
          <p:cNvSpPr/>
          <p:nvPr/>
        </p:nvSpPr>
        <p:spPr>
          <a:xfrm>
            <a:off x="4776597" y="1755648"/>
            <a:ext cx="658939" cy="45720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6B7480"/>
                </a:solidFill>
                <a:latin typeface="Garamond"/>
              </a:rPr>
              <a:t>7</a:t>
            </a:r>
          </a:p>
        </p:txBody>
      </p:sp>
      <p:sp>
        <p:nvSpPr>
          <p:cNvPr id="14" name="Rectangle 13"/>
          <p:cNvSpPr/>
          <p:nvPr/>
        </p:nvSpPr>
        <p:spPr>
          <a:xfrm>
            <a:off x="5435536" y="1755648"/>
            <a:ext cx="658939" cy="45720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6B7480"/>
                </a:solidFill>
                <a:latin typeface="Garamond"/>
              </a:rPr>
              <a:t>8</a:t>
            </a:r>
          </a:p>
        </p:txBody>
      </p:sp>
      <p:sp>
        <p:nvSpPr>
          <p:cNvPr id="15" name="Rectangle 14"/>
          <p:cNvSpPr/>
          <p:nvPr/>
        </p:nvSpPr>
        <p:spPr>
          <a:xfrm>
            <a:off x="6094476" y="1755648"/>
            <a:ext cx="658939" cy="45720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6B7480"/>
                </a:solidFill>
                <a:latin typeface="Garamond"/>
              </a:rPr>
              <a:t>9</a:t>
            </a:r>
          </a:p>
        </p:txBody>
      </p:sp>
      <p:sp>
        <p:nvSpPr>
          <p:cNvPr id="16" name="Rectangle 15"/>
          <p:cNvSpPr/>
          <p:nvPr/>
        </p:nvSpPr>
        <p:spPr>
          <a:xfrm>
            <a:off x="6753415" y="1755648"/>
            <a:ext cx="658939" cy="45720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6B7480"/>
                </a:solidFill>
                <a:latin typeface="Garamond"/>
              </a:rPr>
              <a:t>10</a:t>
            </a:r>
          </a:p>
        </p:txBody>
      </p:sp>
      <p:sp>
        <p:nvSpPr>
          <p:cNvPr id="17" name="Rectangle 16"/>
          <p:cNvSpPr/>
          <p:nvPr/>
        </p:nvSpPr>
        <p:spPr>
          <a:xfrm>
            <a:off x="7412354" y="1755648"/>
            <a:ext cx="658939" cy="45720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6B7480"/>
                </a:solidFill>
                <a:latin typeface="Garamond"/>
              </a:rPr>
              <a:t>11</a:t>
            </a:r>
          </a:p>
        </p:txBody>
      </p:sp>
      <p:sp>
        <p:nvSpPr>
          <p:cNvPr id="18" name="Rectangle 17"/>
          <p:cNvSpPr/>
          <p:nvPr/>
        </p:nvSpPr>
        <p:spPr>
          <a:xfrm>
            <a:off x="8071294" y="1755648"/>
            <a:ext cx="658939" cy="45720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6B7480"/>
                </a:solidFill>
                <a:latin typeface="Garamond"/>
              </a:rPr>
              <a:t>12</a:t>
            </a:r>
          </a:p>
        </p:txBody>
      </p:sp>
      <p:sp>
        <p:nvSpPr>
          <p:cNvPr id="19" name="Rectangle 18"/>
          <p:cNvSpPr/>
          <p:nvPr/>
        </p:nvSpPr>
        <p:spPr>
          <a:xfrm>
            <a:off x="8730234" y="1755648"/>
            <a:ext cx="658939" cy="457200"/>
          </a:xfrm>
          <a:prstGeom prst="rect">
            <a:avLst/>
          </a:prstGeom>
          <a:solidFill>
            <a:srgbClr val="7B2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13</a:t>
            </a:r>
          </a:p>
        </p:txBody>
      </p:sp>
      <p:sp>
        <p:nvSpPr>
          <p:cNvPr id="20" name="Rectangle 19"/>
          <p:cNvSpPr/>
          <p:nvPr/>
        </p:nvSpPr>
        <p:spPr>
          <a:xfrm>
            <a:off x="9389173" y="1755648"/>
            <a:ext cx="658939" cy="457200"/>
          </a:xfrm>
          <a:prstGeom prst="rect">
            <a:avLst/>
          </a:prstGeom>
          <a:solidFill>
            <a:srgbClr val="7B2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14</a:t>
            </a:r>
          </a:p>
        </p:txBody>
      </p:sp>
      <p:sp>
        <p:nvSpPr>
          <p:cNvPr id="21" name="Rectangle 20"/>
          <p:cNvSpPr/>
          <p:nvPr/>
        </p:nvSpPr>
        <p:spPr>
          <a:xfrm>
            <a:off x="10048113" y="1755648"/>
            <a:ext cx="658939" cy="457200"/>
          </a:xfrm>
          <a:prstGeom prst="rect">
            <a:avLst/>
          </a:prstGeom>
          <a:solidFill>
            <a:srgbClr val="7B2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15</a:t>
            </a:r>
          </a:p>
        </p:txBody>
      </p:sp>
      <p:sp>
        <p:nvSpPr>
          <p:cNvPr id="22" name="Rectangle 21"/>
          <p:cNvSpPr/>
          <p:nvPr/>
        </p:nvSpPr>
        <p:spPr>
          <a:xfrm>
            <a:off x="10707052" y="1755648"/>
            <a:ext cx="658939" cy="457200"/>
          </a:xfrm>
          <a:prstGeom prst="rect">
            <a:avLst/>
          </a:prstGeom>
          <a:solidFill>
            <a:srgbClr val="7B2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16</a:t>
            </a:r>
          </a:p>
        </p:txBody>
      </p:sp>
      <p:sp>
        <p:nvSpPr>
          <p:cNvPr id="23" name="TextBox 22"/>
          <p:cNvSpPr txBox="1"/>
          <p:nvPr/>
        </p:nvSpPr>
        <p:spPr>
          <a:xfrm>
            <a:off x="822960" y="2340864"/>
            <a:ext cx="3657600" cy="365760"/>
          </a:xfrm>
          <a:prstGeom prst="rect">
            <a:avLst/>
          </a:prstGeom>
          <a:noFill/>
        </p:spPr>
        <p:txBody>
          <a:bodyPr wrap="square" lIns="0" rIns="0" tIns="0" bIns="0">
            <a:spAutoFit/>
          </a:bodyPr>
          <a:lstStyle/>
          <a:p>
            <a:pPr algn="l">
              <a:lnSpc>
                <a:spcPts val="2250"/>
              </a:lnSpc>
              <a:spcAft>
                <a:spcPts val="0"/>
              </a:spcAft>
            </a:pPr>
            <a:r>
              <a:rPr sz="1500" b="1" i="0">
                <a:solidFill>
                  <a:srgbClr val="26456E"/>
                </a:solidFill>
                <a:latin typeface="Garamond"/>
              </a:rPr>
              <a:t>Definition 1  (benchmark)</a:t>
            </a:r>
          </a:p>
        </p:txBody>
      </p:sp>
      <p:cxnSp>
        <p:nvCxnSpPr>
          <p:cNvPr id="24" name="Connector 23"/>
          <p:cNvCxnSpPr/>
          <p:nvPr/>
        </p:nvCxnSpPr>
        <p:spPr>
          <a:xfrm>
            <a:off x="822960" y="2743200"/>
            <a:ext cx="10543032" cy="0"/>
          </a:xfrm>
          <a:prstGeom prst="line">
            <a:avLst/>
          </a:prstGeom>
          <a:ln w="12700">
            <a:solidFill>
              <a:srgbClr val="1A243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1005840" y="2871216"/>
            <a:ext cx="1463040" cy="384048"/>
          </a:xfrm>
          <a:prstGeom prst="rect">
            <a:avLst/>
          </a:prstGeom>
          <a:noFill/>
        </p:spPr>
        <p:txBody>
          <a:bodyPr wrap="square" lIns="0" rIns="0" tIns="0" bIns="0">
            <a:spAutoFit/>
          </a:bodyPr>
          <a:lstStyle/>
          <a:p>
            <a:pPr algn="l">
              <a:lnSpc>
                <a:spcPts val="1950"/>
              </a:lnSpc>
              <a:spcAft>
                <a:spcPts val="0"/>
              </a:spcAft>
            </a:pPr>
            <a:r>
              <a:rPr sz="1300" b="1" i="0">
                <a:solidFill>
                  <a:srgbClr val="1F3864"/>
                </a:solidFill>
                <a:latin typeface="Garamond"/>
              </a:rPr>
              <a:t>Teacher</a:t>
            </a:r>
          </a:p>
        </p:txBody>
      </p:sp>
      <p:sp>
        <p:nvSpPr>
          <p:cNvPr id="26" name="TextBox 25"/>
          <p:cNvSpPr txBox="1"/>
          <p:nvPr/>
        </p:nvSpPr>
        <p:spPr>
          <a:xfrm>
            <a:off x="2651760" y="2871216"/>
            <a:ext cx="8503920" cy="384048"/>
          </a:xfrm>
          <a:prstGeom prst="rect">
            <a:avLst/>
          </a:prstGeom>
          <a:noFill/>
        </p:spPr>
        <p:txBody>
          <a:bodyPr wrap="square" lIns="0" rIns="0" tIns="0" bIns="0">
            <a:spAutoFit/>
          </a:bodyPr>
          <a:lstStyle/>
          <a:p>
            <a:pPr algn="l">
              <a:lnSpc>
                <a:spcPts val="1950"/>
              </a:lnSpc>
              <a:spcAft>
                <a:spcPts val="0"/>
              </a:spcAft>
            </a:pPr>
            <a:r>
              <a:rPr sz="1300" b="0" i="0">
                <a:solidFill>
                  <a:srgbClr val="1A2430"/>
                </a:solidFill>
                <a:latin typeface="Garamond"/>
              </a:rPr>
              <a:t>employed with a teaching occupation, holding a bachelor’s degree, in at least two year-1 interviews</a:t>
            </a:r>
          </a:p>
        </p:txBody>
      </p:sp>
      <p:sp>
        <p:nvSpPr>
          <p:cNvPr id="27" name="TextBox 26"/>
          <p:cNvSpPr txBox="1"/>
          <p:nvPr/>
        </p:nvSpPr>
        <p:spPr>
          <a:xfrm>
            <a:off x="1005840" y="3273552"/>
            <a:ext cx="1463040" cy="384048"/>
          </a:xfrm>
          <a:prstGeom prst="rect">
            <a:avLst/>
          </a:prstGeom>
          <a:noFill/>
        </p:spPr>
        <p:txBody>
          <a:bodyPr wrap="square" lIns="0" rIns="0" tIns="0" bIns="0">
            <a:spAutoFit/>
          </a:bodyPr>
          <a:lstStyle/>
          <a:p>
            <a:pPr algn="l">
              <a:lnSpc>
                <a:spcPts val="1950"/>
              </a:lnSpc>
              <a:spcAft>
                <a:spcPts val="0"/>
              </a:spcAft>
            </a:pPr>
            <a:r>
              <a:rPr sz="1300" b="1" i="0">
                <a:solidFill>
                  <a:srgbClr val="1F3864"/>
                </a:solidFill>
                <a:latin typeface="Garamond"/>
              </a:rPr>
              <a:t>Stayer</a:t>
            </a:r>
          </a:p>
        </p:txBody>
      </p:sp>
      <p:sp>
        <p:nvSpPr>
          <p:cNvPr id="28" name="TextBox 27"/>
          <p:cNvSpPr txBox="1"/>
          <p:nvPr/>
        </p:nvSpPr>
        <p:spPr>
          <a:xfrm>
            <a:off x="2651760" y="3273552"/>
            <a:ext cx="8503920" cy="384048"/>
          </a:xfrm>
          <a:prstGeom prst="rect">
            <a:avLst/>
          </a:prstGeom>
          <a:noFill/>
        </p:spPr>
        <p:txBody>
          <a:bodyPr wrap="square" lIns="0" rIns="0" tIns="0" bIns="0">
            <a:spAutoFit/>
          </a:bodyPr>
          <a:lstStyle/>
          <a:p>
            <a:pPr algn="l">
              <a:lnSpc>
                <a:spcPts val="1950"/>
              </a:lnSpc>
              <a:spcAft>
                <a:spcPts val="0"/>
              </a:spcAft>
            </a:pPr>
            <a:r>
              <a:rPr sz="1300" b="0" i="0">
                <a:solidFill>
                  <a:srgbClr val="1A2430"/>
                </a:solidFill>
                <a:latin typeface="Garamond"/>
              </a:rPr>
              <a:t>observed teaching in at least one year-2 interview</a:t>
            </a:r>
          </a:p>
        </p:txBody>
      </p:sp>
      <p:sp>
        <p:nvSpPr>
          <p:cNvPr id="29" name="TextBox 28"/>
          <p:cNvSpPr txBox="1"/>
          <p:nvPr/>
        </p:nvSpPr>
        <p:spPr>
          <a:xfrm>
            <a:off x="1005840" y="3675888"/>
            <a:ext cx="1463040" cy="384048"/>
          </a:xfrm>
          <a:prstGeom prst="rect">
            <a:avLst/>
          </a:prstGeom>
          <a:noFill/>
        </p:spPr>
        <p:txBody>
          <a:bodyPr wrap="square" lIns="0" rIns="0" tIns="0" bIns="0">
            <a:spAutoFit/>
          </a:bodyPr>
          <a:lstStyle/>
          <a:p>
            <a:pPr algn="l">
              <a:lnSpc>
                <a:spcPts val="1950"/>
              </a:lnSpc>
              <a:spcAft>
                <a:spcPts val="0"/>
              </a:spcAft>
            </a:pPr>
            <a:r>
              <a:rPr sz="1300" b="1" i="0">
                <a:solidFill>
                  <a:srgbClr val="7B2530"/>
                </a:solidFill>
                <a:latin typeface="Garamond"/>
              </a:rPr>
              <a:t>Leaver</a:t>
            </a:r>
          </a:p>
        </p:txBody>
      </p:sp>
      <p:sp>
        <p:nvSpPr>
          <p:cNvPr id="30" name="TextBox 29"/>
          <p:cNvSpPr txBox="1"/>
          <p:nvPr/>
        </p:nvSpPr>
        <p:spPr>
          <a:xfrm>
            <a:off x="2651760" y="3675888"/>
            <a:ext cx="8503920" cy="384048"/>
          </a:xfrm>
          <a:prstGeom prst="rect">
            <a:avLst/>
          </a:prstGeom>
          <a:noFill/>
        </p:spPr>
        <p:txBody>
          <a:bodyPr wrap="square" lIns="0" rIns="0" tIns="0" bIns="0">
            <a:spAutoFit/>
          </a:bodyPr>
          <a:lstStyle/>
          <a:p>
            <a:pPr algn="l">
              <a:lnSpc>
                <a:spcPts val="1950"/>
              </a:lnSpc>
              <a:spcAft>
                <a:spcPts val="0"/>
              </a:spcAft>
            </a:pPr>
            <a:r>
              <a:rPr sz="1300" b="0" i="0">
                <a:solidFill>
                  <a:srgbClr val="1A2430"/>
                </a:solidFill>
                <a:latin typeface="Garamond"/>
              </a:rPr>
              <a:t>never observed teaching in year 2, given two or more year-2 interviews, one outside June–August</a:t>
            </a:r>
          </a:p>
        </p:txBody>
      </p:sp>
      <p:cxnSp>
        <p:nvCxnSpPr>
          <p:cNvPr id="31" name="Connector 30"/>
          <p:cNvCxnSpPr/>
          <p:nvPr/>
        </p:nvCxnSpPr>
        <p:spPr>
          <a:xfrm>
            <a:off x="822960" y="4123944"/>
            <a:ext cx="10543032" cy="0"/>
          </a:xfrm>
          <a:prstGeom prst="line">
            <a:avLst/>
          </a:prstGeom>
          <a:ln w="12700">
            <a:solidFill>
              <a:srgbClr val="1A2430"/>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822960" y="4169664"/>
            <a:ext cx="5486400" cy="365760"/>
          </a:xfrm>
          <a:prstGeom prst="rect">
            <a:avLst/>
          </a:prstGeom>
          <a:noFill/>
        </p:spPr>
        <p:txBody>
          <a:bodyPr wrap="square" lIns="0" rIns="0" tIns="0" bIns="0">
            <a:spAutoFit/>
          </a:bodyPr>
          <a:lstStyle/>
          <a:p>
            <a:pPr algn="l">
              <a:lnSpc>
                <a:spcPts val="2250"/>
              </a:lnSpc>
              <a:spcAft>
                <a:spcPts val="0"/>
              </a:spcAft>
            </a:pPr>
            <a:r>
              <a:rPr sz="1500" b="1" i="0">
                <a:solidFill>
                  <a:srgbClr val="26456E"/>
                </a:solidFill>
                <a:latin typeface="Garamond"/>
              </a:rPr>
              <a:t>Alternative measures</a:t>
            </a:r>
          </a:p>
        </p:txBody>
      </p:sp>
      <p:sp>
        <p:nvSpPr>
          <p:cNvPr id="33" name="TextBox 32"/>
          <p:cNvSpPr txBox="1"/>
          <p:nvPr/>
        </p:nvSpPr>
        <p:spPr>
          <a:xfrm>
            <a:off x="10058400" y="4169664"/>
            <a:ext cx="1280160" cy="365760"/>
          </a:xfrm>
          <a:prstGeom prst="rect">
            <a:avLst/>
          </a:prstGeom>
          <a:noFill/>
        </p:spPr>
        <p:txBody>
          <a:bodyPr wrap="square" lIns="0" rIns="0" tIns="0" bIns="0">
            <a:spAutoFit/>
          </a:bodyPr>
          <a:lstStyle/>
          <a:p>
            <a:pPr algn="l">
              <a:lnSpc>
                <a:spcPts val="1950"/>
              </a:lnSpc>
              <a:spcAft>
                <a:spcPts val="0"/>
              </a:spcAft>
            </a:pPr>
            <a:r>
              <a:rPr sz="1300" b="1" i="0">
                <a:solidFill>
                  <a:srgbClr val="1A2430"/>
                </a:solidFill>
                <a:latin typeface="Garamond"/>
              </a:rPr>
              <a:t>2021</a:t>
            </a:r>
          </a:p>
        </p:txBody>
      </p:sp>
      <p:cxnSp>
        <p:nvCxnSpPr>
          <p:cNvPr id="34" name="Connector 33"/>
          <p:cNvCxnSpPr/>
          <p:nvPr/>
        </p:nvCxnSpPr>
        <p:spPr>
          <a:xfrm>
            <a:off x="822960" y="4553712"/>
            <a:ext cx="10543032" cy="0"/>
          </a:xfrm>
          <a:prstGeom prst="line">
            <a:avLst/>
          </a:prstGeom>
          <a:ln w="7620">
            <a:solidFill>
              <a:srgbClr val="1A243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1005840" y="4663440"/>
            <a:ext cx="2834640" cy="329184"/>
          </a:xfrm>
          <a:prstGeom prst="rect">
            <a:avLst/>
          </a:prstGeom>
          <a:noFill/>
        </p:spPr>
        <p:txBody>
          <a:bodyPr wrap="square" lIns="0" rIns="0" tIns="0" bIns="0">
            <a:spAutoFit/>
          </a:bodyPr>
          <a:lstStyle/>
          <a:p>
            <a:pPr algn="l">
              <a:lnSpc>
                <a:spcPts val="1725"/>
              </a:lnSpc>
              <a:spcAft>
                <a:spcPts val="0"/>
              </a:spcAft>
            </a:pPr>
            <a:r>
              <a:rPr sz="1150" b="1" i="0">
                <a:solidFill>
                  <a:srgbClr val="1A2430"/>
                </a:solidFill>
                <a:latin typeface="Garamond"/>
              </a:rPr>
              <a:t>Definition 1, as above</a:t>
            </a:r>
          </a:p>
        </p:txBody>
      </p:sp>
      <p:sp>
        <p:nvSpPr>
          <p:cNvPr id="36" name="TextBox 35"/>
          <p:cNvSpPr txBox="1"/>
          <p:nvPr/>
        </p:nvSpPr>
        <p:spPr>
          <a:xfrm>
            <a:off x="3977639" y="4663440"/>
            <a:ext cx="5852160" cy="329184"/>
          </a:xfrm>
          <a:prstGeom prst="rect">
            <a:avLst/>
          </a:prstGeom>
          <a:noFill/>
        </p:spPr>
        <p:txBody>
          <a:bodyPr wrap="square" lIns="0" rIns="0" tIns="0" bIns="0">
            <a:spAutoFit/>
          </a:bodyPr>
          <a:lstStyle/>
          <a:p>
            <a:pPr algn="l">
              <a:lnSpc>
                <a:spcPts val="1725"/>
              </a:lnSpc>
              <a:spcAft>
                <a:spcPts val="0"/>
              </a:spcAft>
            </a:pPr>
            <a:r>
              <a:rPr sz="1150" b="0" i="0">
                <a:solidFill>
                  <a:srgbClr val="1A2430"/>
                </a:solidFill>
                <a:latin typeface="Garamond"/>
              </a:rPr>
              <a:t>one classification per individual</a:t>
            </a:r>
          </a:p>
        </p:txBody>
      </p:sp>
      <p:sp>
        <p:nvSpPr>
          <p:cNvPr id="37" name="TextBox 36"/>
          <p:cNvSpPr txBox="1"/>
          <p:nvPr/>
        </p:nvSpPr>
        <p:spPr>
          <a:xfrm>
            <a:off x="10058400" y="4663440"/>
            <a:ext cx="1097280" cy="329184"/>
          </a:xfrm>
          <a:prstGeom prst="rect">
            <a:avLst/>
          </a:prstGeom>
          <a:noFill/>
        </p:spPr>
        <p:txBody>
          <a:bodyPr wrap="square" lIns="0" rIns="0" tIns="0" bIns="0">
            <a:spAutoFit/>
          </a:bodyPr>
          <a:lstStyle/>
          <a:p>
            <a:pPr algn="l">
              <a:lnSpc>
                <a:spcPts val="1725"/>
              </a:lnSpc>
              <a:spcAft>
                <a:spcPts val="0"/>
              </a:spcAft>
            </a:pPr>
            <a:r>
              <a:rPr sz="1150" b="1" i="0">
                <a:solidFill>
                  <a:srgbClr val="1A2430"/>
                </a:solidFill>
                <a:latin typeface="Garamond"/>
              </a:rPr>
              <a:t>12.9</a:t>
            </a:r>
          </a:p>
        </p:txBody>
      </p:sp>
      <p:sp>
        <p:nvSpPr>
          <p:cNvPr id="38" name="TextBox 37"/>
          <p:cNvSpPr txBox="1"/>
          <p:nvPr/>
        </p:nvSpPr>
        <p:spPr>
          <a:xfrm>
            <a:off x="1005840" y="4992624"/>
            <a:ext cx="2834640" cy="329184"/>
          </a:xfrm>
          <a:prstGeom prst="rect">
            <a:avLst/>
          </a:prstGeom>
          <a:noFill/>
        </p:spPr>
        <p:txBody>
          <a:bodyPr wrap="square" lIns="0" rIns="0" tIns="0" bIns="0">
            <a:spAutoFit/>
          </a:bodyPr>
          <a:lstStyle/>
          <a:p>
            <a:pPr algn="l">
              <a:lnSpc>
                <a:spcPts val="1725"/>
              </a:lnSpc>
              <a:spcAft>
                <a:spcPts val="0"/>
              </a:spcAft>
            </a:pPr>
            <a:r>
              <a:rPr sz="1150" b="1" i="0">
                <a:solidFill>
                  <a:srgbClr val="1A2430"/>
                </a:solidFill>
                <a:latin typeface="Garamond"/>
              </a:rPr>
              <a:t>Retrospective annual measure</a:t>
            </a:r>
          </a:p>
        </p:txBody>
      </p:sp>
      <p:sp>
        <p:nvSpPr>
          <p:cNvPr id="39" name="TextBox 38"/>
          <p:cNvSpPr txBox="1"/>
          <p:nvPr/>
        </p:nvSpPr>
        <p:spPr>
          <a:xfrm>
            <a:off x="3977639" y="4992624"/>
            <a:ext cx="5852160" cy="329184"/>
          </a:xfrm>
          <a:prstGeom prst="rect">
            <a:avLst/>
          </a:prstGeom>
          <a:noFill/>
        </p:spPr>
        <p:txBody>
          <a:bodyPr wrap="square" lIns="0" rIns="0" tIns="0" bIns="0">
            <a:spAutoFit/>
          </a:bodyPr>
          <a:lstStyle/>
          <a:p>
            <a:pPr algn="l">
              <a:lnSpc>
                <a:spcPts val="1725"/>
              </a:lnSpc>
              <a:spcAft>
                <a:spcPts val="0"/>
              </a:spcAft>
            </a:pPr>
            <a:r>
              <a:rPr sz="1150" b="0" i="0">
                <a:solidFill>
                  <a:srgbClr val="1A2430"/>
                </a:solidFill>
                <a:latin typeface="Garamond"/>
              </a:rPr>
              <a:t>longest job of the previous year no longer held at the March interview</a:t>
            </a:r>
          </a:p>
        </p:txBody>
      </p:sp>
      <p:sp>
        <p:nvSpPr>
          <p:cNvPr id="40" name="TextBox 39"/>
          <p:cNvSpPr txBox="1"/>
          <p:nvPr/>
        </p:nvSpPr>
        <p:spPr>
          <a:xfrm>
            <a:off x="10058400" y="4992624"/>
            <a:ext cx="1097280" cy="329184"/>
          </a:xfrm>
          <a:prstGeom prst="rect">
            <a:avLst/>
          </a:prstGeom>
          <a:noFill/>
        </p:spPr>
        <p:txBody>
          <a:bodyPr wrap="square" lIns="0" rIns="0" tIns="0" bIns="0">
            <a:spAutoFit/>
          </a:bodyPr>
          <a:lstStyle/>
          <a:p>
            <a:pPr algn="l">
              <a:lnSpc>
                <a:spcPts val="1725"/>
              </a:lnSpc>
              <a:spcAft>
                <a:spcPts val="0"/>
              </a:spcAft>
            </a:pPr>
            <a:r>
              <a:rPr sz="1150" b="1" i="0">
                <a:solidFill>
                  <a:srgbClr val="1A2430"/>
                </a:solidFill>
                <a:latin typeface="Garamond"/>
              </a:rPr>
              <a:t>7.1</a:t>
            </a:r>
          </a:p>
        </p:txBody>
      </p:sp>
      <p:sp>
        <p:nvSpPr>
          <p:cNvPr id="41" name="TextBox 40"/>
          <p:cNvSpPr txBox="1"/>
          <p:nvPr/>
        </p:nvSpPr>
        <p:spPr>
          <a:xfrm>
            <a:off x="1005840" y="5321808"/>
            <a:ext cx="2834640" cy="329184"/>
          </a:xfrm>
          <a:prstGeom prst="rect">
            <a:avLst/>
          </a:prstGeom>
          <a:noFill/>
        </p:spPr>
        <p:txBody>
          <a:bodyPr wrap="square" lIns="0" rIns="0" tIns="0" bIns="0">
            <a:spAutoFit/>
          </a:bodyPr>
          <a:lstStyle/>
          <a:p>
            <a:pPr algn="l">
              <a:lnSpc>
                <a:spcPts val="1725"/>
              </a:lnSpc>
              <a:spcAft>
                <a:spcPts val="0"/>
              </a:spcAft>
            </a:pPr>
            <a:r>
              <a:rPr sz="1150" b="1" i="0">
                <a:solidFill>
                  <a:srgbClr val="1A2430"/>
                </a:solidFill>
                <a:latin typeface="Garamond"/>
              </a:rPr>
              <a:t>Occupation-pair measure</a:t>
            </a:r>
          </a:p>
        </p:txBody>
      </p:sp>
      <p:sp>
        <p:nvSpPr>
          <p:cNvPr id="42" name="TextBox 41"/>
          <p:cNvSpPr txBox="1"/>
          <p:nvPr/>
        </p:nvSpPr>
        <p:spPr>
          <a:xfrm>
            <a:off x="3977639" y="5321808"/>
            <a:ext cx="5852160" cy="329184"/>
          </a:xfrm>
          <a:prstGeom prst="rect">
            <a:avLst/>
          </a:prstGeom>
          <a:noFill/>
        </p:spPr>
        <p:txBody>
          <a:bodyPr wrap="square" lIns="0" rIns="0" tIns="0" bIns="0">
            <a:spAutoFit/>
          </a:bodyPr>
          <a:lstStyle/>
          <a:p>
            <a:pPr algn="l">
              <a:lnSpc>
                <a:spcPts val="1725"/>
              </a:lnSpc>
              <a:spcAft>
                <a:spcPts val="0"/>
              </a:spcAft>
            </a:pPr>
            <a:r>
              <a:rPr sz="1150" b="0" i="0">
                <a:solidFill>
                  <a:srgbClr val="1A2430"/>
                </a:solidFill>
                <a:latin typeface="Garamond"/>
              </a:rPr>
              <a:t>previous-year and current occupation codes compared directly</a:t>
            </a:r>
          </a:p>
        </p:txBody>
      </p:sp>
      <p:sp>
        <p:nvSpPr>
          <p:cNvPr id="43" name="TextBox 42"/>
          <p:cNvSpPr txBox="1"/>
          <p:nvPr/>
        </p:nvSpPr>
        <p:spPr>
          <a:xfrm>
            <a:off x="10058400" y="5321808"/>
            <a:ext cx="1097280" cy="329184"/>
          </a:xfrm>
          <a:prstGeom prst="rect">
            <a:avLst/>
          </a:prstGeom>
          <a:noFill/>
        </p:spPr>
        <p:txBody>
          <a:bodyPr wrap="square" lIns="0" rIns="0" tIns="0" bIns="0">
            <a:spAutoFit/>
          </a:bodyPr>
          <a:lstStyle/>
          <a:p>
            <a:pPr algn="l">
              <a:lnSpc>
                <a:spcPts val="1725"/>
              </a:lnSpc>
              <a:spcAft>
                <a:spcPts val="0"/>
              </a:spcAft>
            </a:pPr>
            <a:r>
              <a:rPr sz="1150" b="1" i="0">
                <a:solidFill>
                  <a:srgbClr val="1A2430"/>
                </a:solidFill>
                <a:latin typeface="Garamond"/>
              </a:rPr>
              <a:t>5.0</a:t>
            </a:r>
          </a:p>
        </p:txBody>
      </p:sp>
      <p:sp>
        <p:nvSpPr>
          <p:cNvPr id="44" name="TextBox 43"/>
          <p:cNvSpPr txBox="1"/>
          <p:nvPr/>
        </p:nvSpPr>
        <p:spPr>
          <a:xfrm>
            <a:off x="1005840" y="5650992"/>
            <a:ext cx="2834640" cy="329184"/>
          </a:xfrm>
          <a:prstGeom prst="rect">
            <a:avLst/>
          </a:prstGeom>
          <a:noFill/>
        </p:spPr>
        <p:txBody>
          <a:bodyPr wrap="square" lIns="0" rIns="0" tIns="0" bIns="0">
            <a:spAutoFit/>
          </a:bodyPr>
          <a:lstStyle/>
          <a:p>
            <a:pPr algn="l">
              <a:lnSpc>
                <a:spcPts val="1725"/>
              </a:lnSpc>
              <a:spcAft>
                <a:spcPts val="0"/>
              </a:spcAft>
            </a:pPr>
            <a:r>
              <a:rPr sz="1150" b="1" i="0">
                <a:solidFill>
                  <a:srgbClr val="1A2430"/>
                </a:solidFill>
                <a:latin typeface="Garamond"/>
              </a:rPr>
              <a:t>Month-pair measure</a:t>
            </a:r>
          </a:p>
        </p:txBody>
      </p:sp>
      <p:sp>
        <p:nvSpPr>
          <p:cNvPr id="45" name="TextBox 44"/>
          <p:cNvSpPr txBox="1"/>
          <p:nvPr/>
        </p:nvSpPr>
        <p:spPr>
          <a:xfrm>
            <a:off x="3977639" y="5650992"/>
            <a:ext cx="5852160" cy="329184"/>
          </a:xfrm>
          <a:prstGeom prst="rect">
            <a:avLst/>
          </a:prstGeom>
          <a:noFill/>
        </p:spPr>
        <p:txBody>
          <a:bodyPr wrap="square" lIns="0" rIns="0" tIns="0" bIns="0">
            <a:spAutoFit/>
          </a:bodyPr>
          <a:lstStyle/>
          <a:p>
            <a:pPr algn="l">
              <a:lnSpc>
                <a:spcPts val="1725"/>
              </a:lnSpc>
              <a:spcAft>
                <a:spcPts val="0"/>
              </a:spcAft>
            </a:pPr>
            <a:r>
              <a:rPr sz="1150" b="0" i="0">
                <a:solidFill>
                  <a:srgbClr val="1A2430"/>
                </a:solidFill>
                <a:latin typeface="Garamond"/>
              </a:rPr>
              <a:t>each teaching month matched to its interview twelve months ahead</a:t>
            </a:r>
          </a:p>
        </p:txBody>
      </p:sp>
      <p:sp>
        <p:nvSpPr>
          <p:cNvPr id="46" name="TextBox 45"/>
          <p:cNvSpPr txBox="1"/>
          <p:nvPr/>
        </p:nvSpPr>
        <p:spPr>
          <a:xfrm>
            <a:off x="10058400" y="5650992"/>
            <a:ext cx="1097280" cy="329184"/>
          </a:xfrm>
          <a:prstGeom prst="rect">
            <a:avLst/>
          </a:prstGeom>
          <a:noFill/>
        </p:spPr>
        <p:txBody>
          <a:bodyPr wrap="square" lIns="0" rIns="0" tIns="0" bIns="0">
            <a:spAutoFit/>
          </a:bodyPr>
          <a:lstStyle/>
          <a:p>
            <a:pPr algn="l">
              <a:lnSpc>
                <a:spcPts val="1725"/>
              </a:lnSpc>
              <a:spcAft>
                <a:spcPts val="0"/>
              </a:spcAft>
            </a:pPr>
            <a:r>
              <a:rPr sz="1150" b="1" i="0">
                <a:solidFill>
                  <a:srgbClr val="1A2430"/>
                </a:solidFill>
                <a:latin typeface="Garamond"/>
              </a:rPr>
              <a:t>16.0</a:t>
            </a:r>
          </a:p>
        </p:txBody>
      </p:sp>
      <p:sp>
        <p:nvSpPr>
          <p:cNvPr id="47" name="TextBox 46"/>
          <p:cNvSpPr txBox="1"/>
          <p:nvPr/>
        </p:nvSpPr>
        <p:spPr>
          <a:xfrm>
            <a:off x="1005840" y="5980176"/>
            <a:ext cx="2834640" cy="329184"/>
          </a:xfrm>
          <a:prstGeom prst="rect">
            <a:avLst/>
          </a:prstGeom>
          <a:noFill/>
        </p:spPr>
        <p:txBody>
          <a:bodyPr wrap="square" lIns="0" rIns="0" tIns="0" bIns="0">
            <a:spAutoFit/>
          </a:bodyPr>
          <a:lstStyle/>
          <a:p>
            <a:pPr algn="l">
              <a:lnSpc>
                <a:spcPts val="1725"/>
              </a:lnSpc>
              <a:spcAft>
                <a:spcPts val="0"/>
              </a:spcAft>
            </a:pPr>
            <a:r>
              <a:rPr sz="1150" b="1" i="0">
                <a:solidFill>
                  <a:srgbClr val="1A2430"/>
                </a:solidFill>
                <a:latin typeface="Garamond"/>
              </a:rPr>
              <a:t>Any-sighting measure</a:t>
            </a:r>
          </a:p>
        </p:txBody>
      </p:sp>
      <p:sp>
        <p:nvSpPr>
          <p:cNvPr id="48" name="TextBox 47"/>
          <p:cNvSpPr txBox="1"/>
          <p:nvPr/>
        </p:nvSpPr>
        <p:spPr>
          <a:xfrm>
            <a:off x="3977639" y="5980176"/>
            <a:ext cx="5852160" cy="329184"/>
          </a:xfrm>
          <a:prstGeom prst="rect">
            <a:avLst/>
          </a:prstGeom>
          <a:noFill/>
        </p:spPr>
        <p:txBody>
          <a:bodyPr wrap="square" lIns="0" rIns="0" tIns="0" bIns="0">
            <a:spAutoFit/>
          </a:bodyPr>
          <a:lstStyle/>
          <a:p>
            <a:pPr algn="l">
              <a:lnSpc>
                <a:spcPts val="1725"/>
              </a:lnSpc>
              <a:spcAft>
                <a:spcPts val="0"/>
              </a:spcAft>
            </a:pPr>
            <a:r>
              <a:rPr sz="1150" b="0" i="0">
                <a:solidFill>
                  <a:srgbClr val="1A2430"/>
                </a:solidFill>
                <a:latin typeface="Garamond"/>
              </a:rPr>
              <a:t>any individual observed teaching once in year 1 enters the denominator</a:t>
            </a:r>
          </a:p>
        </p:txBody>
      </p:sp>
      <p:sp>
        <p:nvSpPr>
          <p:cNvPr id="49" name="TextBox 48"/>
          <p:cNvSpPr txBox="1"/>
          <p:nvPr/>
        </p:nvSpPr>
        <p:spPr>
          <a:xfrm>
            <a:off x="10058400" y="5980176"/>
            <a:ext cx="1097280" cy="329184"/>
          </a:xfrm>
          <a:prstGeom prst="rect">
            <a:avLst/>
          </a:prstGeom>
          <a:noFill/>
        </p:spPr>
        <p:txBody>
          <a:bodyPr wrap="square" lIns="0" rIns="0" tIns="0" bIns="0">
            <a:spAutoFit/>
          </a:bodyPr>
          <a:lstStyle/>
          <a:p>
            <a:pPr algn="l">
              <a:lnSpc>
                <a:spcPts val="1725"/>
              </a:lnSpc>
              <a:spcAft>
                <a:spcPts val="0"/>
              </a:spcAft>
            </a:pPr>
            <a:r>
              <a:rPr sz="1150" b="1" i="0">
                <a:solidFill>
                  <a:srgbClr val="1A2430"/>
                </a:solidFill>
                <a:latin typeface="Garamond"/>
              </a:rPr>
              <a:t>19.4</a:t>
            </a:r>
          </a:p>
        </p:txBody>
      </p:sp>
      <p:sp>
        <p:nvSpPr>
          <p:cNvPr id="50" name="TextBox 49"/>
          <p:cNvSpPr txBox="1"/>
          <p:nvPr/>
        </p:nvSpPr>
        <p:spPr>
          <a:xfrm>
            <a:off x="1005840" y="6309360"/>
            <a:ext cx="2834640" cy="329184"/>
          </a:xfrm>
          <a:prstGeom prst="rect">
            <a:avLst/>
          </a:prstGeom>
          <a:noFill/>
        </p:spPr>
        <p:txBody>
          <a:bodyPr wrap="square" lIns="0" rIns="0" tIns="0" bIns="0">
            <a:spAutoFit/>
          </a:bodyPr>
          <a:lstStyle/>
          <a:p>
            <a:pPr algn="l">
              <a:lnSpc>
                <a:spcPts val="1725"/>
              </a:lnSpc>
              <a:spcAft>
                <a:spcPts val="0"/>
              </a:spcAft>
            </a:pPr>
            <a:r>
              <a:rPr sz="1150" b="1" i="0">
                <a:solidFill>
                  <a:srgbClr val="1A2430"/>
                </a:solidFill>
                <a:latin typeface="Garamond"/>
              </a:rPr>
              <a:t>NCES Teacher Follow-up Survey</a:t>
            </a:r>
          </a:p>
        </p:txBody>
      </p:sp>
      <p:sp>
        <p:nvSpPr>
          <p:cNvPr id="51" name="TextBox 50"/>
          <p:cNvSpPr txBox="1"/>
          <p:nvPr/>
        </p:nvSpPr>
        <p:spPr>
          <a:xfrm>
            <a:off x="3977639" y="6309360"/>
            <a:ext cx="5852160" cy="329184"/>
          </a:xfrm>
          <a:prstGeom prst="rect">
            <a:avLst/>
          </a:prstGeom>
          <a:noFill/>
        </p:spPr>
        <p:txBody>
          <a:bodyPr wrap="square" lIns="0" rIns="0" tIns="0" bIns="0">
            <a:spAutoFit/>
          </a:bodyPr>
          <a:lstStyle/>
          <a:p>
            <a:pPr algn="l">
              <a:lnSpc>
                <a:spcPts val="1725"/>
              </a:lnSpc>
              <a:spcAft>
                <a:spcPts val="0"/>
              </a:spcAft>
            </a:pPr>
            <a:r>
              <a:rPr sz="1150" b="0" i="0">
                <a:solidFill>
                  <a:srgbClr val="1A2430"/>
                </a:solidFill>
                <a:latin typeface="Garamond"/>
              </a:rPr>
              <a:t>roster-based re-survey of a teacher sample; wave 2021–22</a:t>
            </a:r>
          </a:p>
        </p:txBody>
      </p:sp>
      <p:sp>
        <p:nvSpPr>
          <p:cNvPr id="52" name="TextBox 51"/>
          <p:cNvSpPr txBox="1"/>
          <p:nvPr/>
        </p:nvSpPr>
        <p:spPr>
          <a:xfrm>
            <a:off x="10058400" y="6309360"/>
            <a:ext cx="1097280" cy="329184"/>
          </a:xfrm>
          <a:prstGeom prst="rect">
            <a:avLst/>
          </a:prstGeom>
          <a:noFill/>
        </p:spPr>
        <p:txBody>
          <a:bodyPr wrap="square" lIns="0" rIns="0" tIns="0" bIns="0">
            <a:spAutoFit/>
          </a:bodyPr>
          <a:lstStyle/>
          <a:p>
            <a:pPr algn="l">
              <a:lnSpc>
                <a:spcPts val="1725"/>
              </a:lnSpc>
              <a:spcAft>
                <a:spcPts val="0"/>
              </a:spcAft>
            </a:pPr>
            <a:r>
              <a:rPr sz="1150" b="1" i="0">
                <a:solidFill>
                  <a:srgbClr val="1A2430"/>
                </a:solidFill>
                <a:latin typeface="Garamond"/>
              </a:rPr>
              <a:t>8.0</a:t>
            </a:r>
          </a:p>
        </p:txBody>
      </p:sp>
      <p:cxnSp>
        <p:nvCxnSpPr>
          <p:cNvPr id="53" name="Connector 52"/>
          <p:cNvCxnSpPr/>
          <p:nvPr/>
        </p:nvCxnSpPr>
        <p:spPr>
          <a:xfrm>
            <a:off x="822960" y="6656832"/>
            <a:ext cx="10543032" cy="0"/>
          </a:xfrm>
          <a:prstGeom prst="line">
            <a:avLst/>
          </a:prstGeom>
          <a:ln w="12700">
            <a:solidFill>
              <a:srgbClr val="1A2430"/>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7432"/>
            <a:ext cx="12198096" cy="594360"/>
          </a:xfrm>
          <a:prstGeom prst="rect">
            <a:avLst/>
          </a:prstGeom>
          <a:solidFill>
            <a:srgbClr val="0054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868680"/>
            <a:ext cx="9875520" cy="548640"/>
          </a:xfrm>
          <a:prstGeom prst="rect">
            <a:avLst/>
          </a:prstGeom>
          <a:noFill/>
        </p:spPr>
        <p:txBody>
          <a:bodyPr wrap="square" lIns="0" rIns="0" tIns="0" bIns="0"/>
          <a:lstStyle/>
          <a:p>
            <a:pPr algn="l"/>
            <a:r>
              <a:rPr sz="2800" b="1">
                <a:solidFill>
                  <a:srgbClr val="26456E"/>
                </a:solidFill>
                <a:latin typeface="Garamond"/>
              </a:rPr>
              <a:t>All the series, one axis</a:t>
            </a:r>
          </a:p>
        </p:txBody>
      </p:sp>
      <p:pic>
        <p:nvPicPr>
          <p:cNvPr id="4" name="Picture 3" descr="v_allseries.png"/>
          <p:cNvPicPr>
            <a:picLocks noChangeAspect="1"/>
          </p:cNvPicPr>
          <p:nvPr/>
        </p:nvPicPr>
        <p:blipFill>
          <a:blip r:embed="rId2"/>
          <a:stretch>
            <a:fillRect/>
          </a:stretch>
        </p:blipFill>
        <p:spPr>
          <a:xfrm>
            <a:off x="594360" y="1481328"/>
            <a:ext cx="11018520" cy="5418944"/>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7432"/>
            <a:ext cx="12198096" cy="594360"/>
          </a:xfrm>
          <a:prstGeom prst="rect">
            <a:avLst/>
          </a:prstGeom>
          <a:solidFill>
            <a:srgbClr val="0054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868680"/>
            <a:ext cx="9875520" cy="548640"/>
          </a:xfrm>
          <a:prstGeom prst="rect">
            <a:avLst/>
          </a:prstGeom>
          <a:noFill/>
        </p:spPr>
        <p:txBody>
          <a:bodyPr wrap="square" lIns="0" rIns="0" tIns="0" bIns="0"/>
          <a:lstStyle/>
          <a:p>
            <a:pPr algn="l"/>
            <a:r>
              <a:rPr sz="2800" b="1">
                <a:solidFill>
                  <a:srgbClr val="26456E"/>
                </a:solidFill>
                <a:latin typeface="Garamond"/>
              </a:rPr>
              <a:t>Where this could be done next</a:t>
            </a:r>
          </a:p>
        </p:txBody>
      </p:sp>
      <p:sp>
        <p:nvSpPr>
          <p:cNvPr id="4" name="TextBox 3"/>
          <p:cNvSpPr txBox="1"/>
          <p:nvPr/>
        </p:nvSpPr>
        <p:spPr>
          <a:xfrm>
            <a:off x="777240" y="1481328"/>
            <a:ext cx="10698480" cy="365760"/>
          </a:xfrm>
          <a:prstGeom prst="rect">
            <a:avLst/>
          </a:prstGeom>
          <a:noFill/>
        </p:spPr>
        <p:txBody>
          <a:bodyPr wrap="square" lIns="0" rIns="0" tIns="0" bIns="0">
            <a:spAutoFit/>
          </a:bodyPr>
          <a:lstStyle/>
          <a:p>
            <a:pPr algn="l">
              <a:lnSpc>
                <a:spcPts val="1950"/>
              </a:lnSpc>
              <a:spcAft>
                <a:spcPts val="0"/>
              </a:spcAft>
            </a:pPr>
            <a:r>
              <a:rPr sz="1300" b="0" i="1">
                <a:solidFill>
                  <a:srgbClr val="6B7480"/>
                </a:solidFill>
                <a:latin typeface="Garamond"/>
              </a:rPr>
              <a:t>Labour force surveys with the sample, the access, and a design that sees the same person twelve months apart</a:t>
            </a:r>
          </a:p>
        </p:txBody>
      </p:sp>
      <p:sp>
        <p:nvSpPr>
          <p:cNvPr id="5" name="TextBox 4"/>
          <p:cNvSpPr txBox="1"/>
          <p:nvPr/>
        </p:nvSpPr>
        <p:spPr>
          <a:xfrm>
            <a:off x="822960" y="2011680"/>
            <a:ext cx="1554480" cy="320040"/>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
            </a:r>
          </a:p>
        </p:txBody>
      </p:sp>
      <p:sp>
        <p:nvSpPr>
          <p:cNvPr id="6" name="TextBox 5"/>
          <p:cNvSpPr txBox="1"/>
          <p:nvPr/>
        </p:nvSpPr>
        <p:spPr>
          <a:xfrm>
            <a:off x="2468880" y="2011680"/>
            <a:ext cx="3474720" cy="320040"/>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Instrument</a:t>
            </a:r>
          </a:p>
        </p:txBody>
      </p:sp>
      <p:sp>
        <p:nvSpPr>
          <p:cNvPr id="7" name="TextBox 6"/>
          <p:cNvSpPr txBox="1"/>
          <p:nvPr/>
        </p:nvSpPr>
        <p:spPr>
          <a:xfrm>
            <a:off x="6035040" y="2011680"/>
            <a:ext cx="2468880" cy="320040"/>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Twelve-month design</a:t>
            </a:r>
          </a:p>
        </p:txBody>
      </p:sp>
      <p:sp>
        <p:nvSpPr>
          <p:cNvPr id="8" name="TextBox 7"/>
          <p:cNvSpPr txBox="1"/>
          <p:nvPr/>
        </p:nvSpPr>
        <p:spPr>
          <a:xfrm>
            <a:off x="8595360" y="2011680"/>
            <a:ext cx="2743200" cy="320040"/>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Sample and access</a:t>
            </a:r>
          </a:p>
        </p:txBody>
      </p:sp>
      <p:cxnSp>
        <p:nvCxnSpPr>
          <p:cNvPr id="9" name="Connector 8"/>
          <p:cNvCxnSpPr/>
          <p:nvPr/>
        </p:nvCxnSpPr>
        <p:spPr>
          <a:xfrm>
            <a:off x="822960" y="2377440"/>
            <a:ext cx="10543032" cy="0"/>
          </a:xfrm>
          <a:prstGeom prst="line">
            <a:avLst/>
          </a:prstGeom>
          <a:ln w="7620">
            <a:solidFill>
              <a:srgbClr val="1A243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822960" y="2514600"/>
            <a:ext cx="1554480" cy="457200"/>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Italy</a:t>
            </a:r>
          </a:p>
        </p:txBody>
      </p:sp>
      <p:sp>
        <p:nvSpPr>
          <p:cNvPr id="11" name="TextBox 10"/>
          <p:cNvSpPr txBox="1"/>
          <p:nvPr/>
        </p:nvSpPr>
        <p:spPr>
          <a:xfrm>
            <a:off x="2468880" y="2514600"/>
            <a:ext cx="347472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Rilevazione sulle Forze di Lavoro (Istat)</a:t>
            </a:r>
          </a:p>
        </p:txBody>
      </p:sp>
      <p:sp>
        <p:nvSpPr>
          <p:cNvPr id="12" name="TextBox 11"/>
          <p:cNvSpPr txBox="1"/>
          <p:nvPr/>
        </p:nvSpPr>
        <p:spPr>
          <a:xfrm>
            <a:off x="6035040" y="2514600"/>
            <a:ext cx="246888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official 12-month longitudinal files</a:t>
            </a:r>
          </a:p>
        </p:txBody>
      </p:sp>
      <p:sp>
        <p:nvSpPr>
          <p:cNvPr id="13" name="TextBox 12"/>
          <p:cNvSpPr txBox="1"/>
          <p:nvPr/>
        </p:nvSpPr>
        <p:spPr>
          <a:xfrm>
            <a:off x="8595360" y="2514600"/>
            <a:ext cx="274320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research files, quarterly since 2004</a:t>
            </a:r>
          </a:p>
        </p:txBody>
      </p:sp>
      <p:sp>
        <p:nvSpPr>
          <p:cNvPr id="14" name="TextBox 13"/>
          <p:cNvSpPr txBox="1"/>
          <p:nvPr/>
        </p:nvSpPr>
        <p:spPr>
          <a:xfrm>
            <a:off x="822960" y="2990088"/>
            <a:ext cx="1554480" cy="457200"/>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Germany</a:t>
            </a:r>
          </a:p>
        </p:txBody>
      </p:sp>
      <p:sp>
        <p:nvSpPr>
          <p:cNvPr id="15" name="TextBox 14"/>
          <p:cNvSpPr txBox="1"/>
          <p:nvPr/>
        </p:nvSpPr>
        <p:spPr>
          <a:xfrm>
            <a:off x="2468880" y="2990088"/>
            <a:ext cx="347472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Mikrozensus (Destatis)</a:t>
            </a:r>
          </a:p>
        </p:txBody>
      </p:sp>
      <p:sp>
        <p:nvSpPr>
          <p:cNvPr id="16" name="TextBox 15"/>
          <p:cNvSpPr txBox="1"/>
          <p:nvPr/>
        </p:nvSpPr>
        <p:spPr>
          <a:xfrm>
            <a:off x="6035040" y="2990088"/>
            <a:ext cx="246888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2-(2)-2 scheme since 2020</a:t>
            </a:r>
          </a:p>
        </p:txBody>
      </p:sp>
      <p:sp>
        <p:nvSpPr>
          <p:cNvPr id="17" name="TextBox 16"/>
          <p:cNvSpPr txBox="1"/>
          <p:nvPr/>
        </p:nvSpPr>
        <p:spPr>
          <a:xfrm>
            <a:off x="8595360" y="2990088"/>
            <a:ext cx="274320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810,000 persons a year; RDC files</a:t>
            </a:r>
          </a:p>
        </p:txBody>
      </p:sp>
      <p:sp>
        <p:nvSpPr>
          <p:cNvPr id="18" name="TextBox 17"/>
          <p:cNvSpPr txBox="1"/>
          <p:nvPr/>
        </p:nvSpPr>
        <p:spPr>
          <a:xfrm>
            <a:off x="822960" y="3465576"/>
            <a:ext cx="1554480" cy="457200"/>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United Kingdom</a:t>
            </a:r>
          </a:p>
        </p:txBody>
      </p:sp>
      <p:sp>
        <p:nvSpPr>
          <p:cNvPr id="19" name="TextBox 18"/>
          <p:cNvSpPr txBox="1"/>
          <p:nvPr/>
        </p:nvSpPr>
        <p:spPr>
          <a:xfrm>
            <a:off x="2468880" y="3465576"/>
            <a:ext cx="347472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Labour Force Survey (ONS)</a:t>
            </a:r>
          </a:p>
        </p:txBody>
      </p:sp>
      <p:sp>
        <p:nvSpPr>
          <p:cNvPr id="20" name="TextBox 19"/>
          <p:cNvSpPr txBox="1"/>
          <p:nvPr/>
        </p:nvSpPr>
        <p:spPr>
          <a:xfrm>
            <a:off x="6035040" y="3465576"/>
            <a:ext cx="246888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five waves; first and fifth a year apart</a:t>
            </a:r>
          </a:p>
        </p:txBody>
      </p:sp>
      <p:sp>
        <p:nvSpPr>
          <p:cNvPr id="21" name="TextBox 20"/>
          <p:cNvSpPr txBox="1"/>
          <p:nvPr/>
        </p:nvSpPr>
        <p:spPr>
          <a:xfrm>
            <a:off x="8595360" y="3465576"/>
            <a:ext cx="274320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100,000 persons a quarter; UK Data Service</a:t>
            </a:r>
          </a:p>
        </p:txBody>
      </p:sp>
      <p:sp>
        <p:nvSpPr>
          <p:cNvPr id="22" name="TextBox 21"/>
          <p:cNvSpPr txBox="1"/>
          <p:nvPr/>
        </p:nvSpPr>
        <p:spPr>
          <a:xfrm>
            <a:off x="822960" y="3941064"/>
            <a:ext cx="1554480" cy="457200"/>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France</a:t>
            </a:r>
          </a:p>
        </p:txBody>
      </p:sp>
      <p:sp>
        <p:nvSpPr>
          <p:cNvPr id="23" name="TextBox 22"/>
          <p:cNvSpPr txBox="1"/>
          <p:nvPr/>
        </p:nvSpPr>
        <p:spPr>
          <a:xfrm>
            <a:off x="2468880" y="3941064"/>
            <a:ext cx="347472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Enquête emploi en continu (INSEE)</a:t>
            </a:r>
          </a:p>
        </p:txBody>
      </p:sp>
      <p:sp>
        <p:nvSpPr>
          <p:cNvPr id="24" name="TextBox 23"/>
          <p:cNvSpPr txBox="1"/>
          <p:nvPr/>
        </p:nvSpPr>
        <p:spPr>
          <a:xfrm>
            <a:off x="6035040" y="3941064"/>
            <a:ext cx="246888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six consecutive quarters</a:t>
            </a:r>
          </a:p>
        </p:txBody>
      </p:sp>
      <p:sp>
        <p:nvSpPr>
          <p:cNvPr id="25" name="TextBox 24"/>
          <p:cNvSpPr txBox="1"/>
          <p:nvPr/>
        </p:nvSpPr>
        <p:spPr>
          <a:xfrm>
            <a:off x="8595360" y="3941064"/>
            <a:ext cx="274320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80,000 dwellings a quarter; Progedo, CASD</a:t>
            </a:r>
          </a:p>
        </p:txBody>
      </p:sp>
      <p:sp>
        <p:nvSpPr>
          <p:cNvPr id="26" name="TextBox 25"/>
          <p:cNvSpPr txBox="1"/>
          <p:nvPr/>
        </p:nvSpPr>
        <p:spPr>
          <a:xfrm>
            <a:off x="822960" y="4416552"/>
            <a:ext cx="1554480" cy="457200"/>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Spain</a:t>
            </a:r>
          </a:p>
        </p:txBody>
      </p:sp>
      <p:sp>
        <p:nvSpPr>
          <p:cNvPr id="27" name="TextBox 26"/>
          <p:cNvSpPr txBox="1"/>
          <p:nvPr/>
        </p:nvSpPr>
        <p:spPr>
          <a:xfrm>
            <a:off x="2468880" y="4416552"/>
            <a:ext cx="347472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Encuesta de Población Activa (INE)</a:t>
            </a:r>
          </a:p>
        </p:txBody>
      </p:sp>
      <p:sp>
        <p:nvSpPr>
          <p:cNvPr id="28" name="TextBox 27"/>
          <p:cNvSpPr txBox="1"/>
          <p:nvPr/>
        </p:nvSpPr>
        <p:spPr>
          <a:xfrm>
            <a:off x="6035040" y="4416552"/>
            <a:ext cx="246888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six-quarter rotation; public flow files</a:t>
            </a:r>
          </a:p>
        </p:txBody>
      </p:sp>
      <p:sp>
        <p:nvSpPr>
          <p:cNvPr id="29" name="TextBox 28"/>
          <p:cNvSpPr txBox="1"/>
          <p:nvPr/>
        </p:nvSpPr>
        <p:spPr>
          <a:xfrm>
            <a:off x="8595360" y="4416552"/>
            <a:ext cx="274320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60,000 dwellings a quarter; free download</a:t>
            </a:r>
          </a:p>
        </p:txBody>
      </p:sp>
      <p:sp>
        <p:nvSpPr>
          <p:cNvPr id="30" name="TextBox 29"/>
          <p:cNvSpPr txBox="1"/>
          <p:nvPr/>
        </p:nvSpPr>
        <p:spPr>
          <a:xfrm>
            <a:off x="822960" y="4892040"/>
            <a:ext cx="1554480" cy="457200"/>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Brazil</a:t>
            </a:r>
          </a:p>
        </p:txBody>
      </p:sp>
      <p:sp>
        <p:nvSpPr>
          <p:cNvPr id="31" name="TextBox 30"/>
          <p:cNvSpPr txBox="1"/>
          <p:nvPr/>
        </p:nvSpPr>
        <p:spPr>
          <a:xfrm>
            <a:off x="2468880" y="4892040"/>
            <a:ext cx="347472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PNAD Contínua (IBGE)</a:t>
            </a:r>
          </a:p>
        </p:txBody>
      </p:sp>
      <p:sp>
        <p:nvSpPr>
          <p:cNvPr id="32" name="TextBox 31"/>
          <p:cNvSpPr txBox="1"/>
          <p:nvPr/>
        </p:nvSpPr>
        <p:spPr>
          <a:xfrm>
            <a:off x="6035040" y="4892040"/>
            <a:ext cx="246888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five quarterly visits</a:t>
            </a:r>
          </a:p>
        </p:txBody>
      </p:sp>
      <p:sp>
        <p:nvSpPr>
          <p:cNvPr id="33" name="TextBox 32"/>
          <p:cNvSpPr txBox="1"/>
          <p:nvPr/>
        </p:nvSpPr>
        <p:spPr>
          <a:xfrm>
            <a:off x="8595360" y="4892040"/>
            <a:ext cx="274320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210,000 households a quarter; fully public</a:t>
            </a:r>
          </a:p>
        </p:txBody>
      </p:sp>
      <p:sp>
        <p:nvSpPr>
          <p:cNvPr id="34" name="TextBox 33"/>
          <p:cNvSpPr txBox="1"/>
          <p:nvPr/>
        </p:nvSpPr>
        <p:spPr>
          <a:xfrm>
            <a:off x="822960" y="5367527"/>
            <a:ext cx="1554480" cy="457200"/>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Mexico</a:t>
            </a:r>
          </a:p>
        </p:txBody>
      </p:sp>
      <p:sp>
        <p:nvSpPr>
          <p:cNvPr id="35" name="TextBox 34"/>
          <p:cNvSpPr txBox="1"/>
          <p:nvPr/>
        </p:nvSpPr>
        <p:spPr>
          <a:xfrm>
            <a:off x="2468880" y="5367527"/>
            <a:ext cx="347472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ENOE (INEGI)</a:t>
            </a:r>
          </a:p>
        </p:txBody>
      </p:sp>
      <p:sp>
        <p:nvSpPr>
          <p:cNvPr id="36" name="TextBox 35"/>
          <p:cNvSpPr txBox="1"/>
          <p:nvPr/>
        </p:nvSpPr>
        <p:spPr>
          <a:xfrm>
            <a:off x="6035040" y="5367527"/>
            <a:ext cx="246888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five-quarter rotation</a:t>
            </a:r>
          </a:p>
        </p:txBody>
      </p:sp>
      <p:sp>
        <p:nvSpPr>
          <p:cNvPr id="37" name="TextBox 36"/>
          <p:cNvSpPr txBox="1"/>
          <p:nvPr/>
        </p:nvSpPr>
        <p:spPr>
          <a:xfrm>
            <a:off x="8595360" y="5367527"/>
            <a:ext cx="274320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150,000 dwellings a quarter; fully public</a:t>
            </a:r>
          </a:p>
        </p:txBody>
      </p:sp>
      <p:cxnSp>
        <p:nvCxnSpPr>
          <p:cNvPr id="38" name="Connector 37"/>
          <p:cNvCxnSpPr/>
          <p:nvPr/>
        </p:nvCxnSpPr>
        <p:spPr>
          <a:xfrm>
            <a:off x="822960" y="5897879"/>
            <a:ext cx="10543032" cy="0"/>
          </a:xfrm>
          <a:prstGeom prst="line">
            <a:avLst/>
          </a:prstGeom>
          <a:ln w="15240">
            <a:solidFill>
              <a:srgbClr val="1A243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822960" y="6062471"/>
            <a:ext cx="10515600" cy="365760"/>
          </a:xfrm>
          <a:prstGeom prst="rect">
            <a:avLst/>
          </a:prstGeom>
          <a:noFill/>
        </p:spPr>
        <p:txBody>
          <a:bodyPr wrap="square" lIns="0" rIns="0" tIns="0" bIns="0">
            <a:spAutoFit/>
          </a:bodyPr>
          <a:lstStyle/>
          <a:p>
            <a:pPr algn="l">
              <a:lnSpc>
                <a:spcPts val="1650"/>
              </a:lnSpc>
              <a:spcAft>
                <a:spcPts val="0"/>
              </a:spcAft>
            </a:pPr>
            <a:r>
              <a:rPr sz="1100" b="0" i="1">
                <a:solidFill>
                  <a:srgbClr val="6B7480"/>
                </a:solidFill>
                <a:latin typeface="Garamond"/>
              </a:rPr>
              <a:t>Australia and Canada cannot: eight and six months in sample never show the same person twelve months apart.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8629</TotalTime>
  <Words>2550</Words>
  <Application>Microsoft Office PowerPoint</Application>
  <PresentationFormat>Widescreen</PresentationFormat>
  <Paragraphs>134</Paragraphs>
  <Slides>27</Slides>
  <Notes>17</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27</vt:i4>
      </vt:variant>
    </vt:vector>
  </HeadingPairs>
  <TitlesOfParts>
    <vt:vector size="33" baseType="lpstr">
      <vt:lpstr>Aptos</vt:lpstr>
      <vt:lpstr>Arial</vt:lpstr>
      <vt:lpstr>Arial Narrow</vt:lpstr>
      <vt:lpstr>Calibri</vt:lpstr>
      <vt:lpstr>Garamond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DURÁN ROA José Elías, EDU/IMEP</cp:lastModifiedBy>
  <cp:revision>4</cp:revision>
  <dcterms:created xsi:type="dcterms:W3CDTF">2026-07-21T10:23:55Z</dcterms:created>
  <dcterms:modified xsi:type="dcterms:W3CDTF">2026-09-28T08:51:22Z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FooterLocations">
    <vt:lpwstr>Office Theme:3</vt:lpwstr>
  </property>
  <property fmtid="{D5CDD505-2E9C-101B-9397-08002B2CF9AE}" pid="3" name="ClassificationContentMarkingFooterText">
    <vt:lpwstr>Unclassified - Non classifié</vt:lpwstr>
  </property>
  <property fmtid="{D5CDD505-2E9C-101B-9397-08002B2CF9AE}" pid="4" name="MSIP_Label_0b2d0c28-e13a-4801-bbf0-29bdaa81743b_Enabled">
    <vt:lpwstr>true</vt:lpwstr>
  </property>
  <property fmtid="{D5CDD505-2E9C-101B-9397-08002B2CF9AE}" pid="5" name="MSIP_Label_0b2d0c28-e13a-4801-bbf0-29bdaa81743b_SetDate">
    <vt:lpwstr>2026-09-22T08:56:21Z</vt:lpwstr>
  </property>
  <property fmtid="{D5CDD505-2E9C-101B-9397-08002B2CF9AE}" pid="6" name="MSIP_Label_0b2d0c28-e13a-4801-bbf0-29bdaa81743b_Method">
    <vt:lpwstr>Privileged</vt:lpwstr>
  </property>
  <property fmtid="{D5CDD505-2E9C-101B-9397-08002B2CF9AE}" pid="7" name="MSIP_Label_0b2d0c28-e13a-4801-bbf0-29bdaa81743b_Name">
    <vt:lpwstr>Unclassified</vt:lpwstr>
  </property>
  <property fmtid="{D5CDD505-2E9C-101B-9397-08002B2CF9AE}" pid="8" name="MSIP_Label_0b2d0c28-e13a-4801-bbf0-29bdaa81743b_SiteId">
    <vt:lpwstr>ac41c7d4-1f61-460d-b0f4-fc925a2b471c</vt:lpwstr>
  </property>
  <property fmtid="{D5CDD505-2E9C-101B-9397-08002B2CF9AE}" pid="9" name="MSIP_Label_0b2d0c28-e13a-4801-bbf0-29bdaa81743b_ActionId">
    <vt:lpwstr>4c6bc5a9-1163-462c-af5f-44b70f277276</vt:lpwstr>
  </property>
  <property fmtid="{D5CDD505-2E9C-101B-9397-08002B2CF9AE}" pid="10" name="MSIP_Label_0b2d0c28-e13a-4801-bbf0-29bdaa81743b_ContentBits">
    <vt:lpwstr>0</vt:lpwstr>
  </property>
</Properties>
</file>